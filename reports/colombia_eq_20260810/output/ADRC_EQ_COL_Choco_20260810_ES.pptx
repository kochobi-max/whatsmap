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emsc-csem.org/"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7" Type="http://schemas.openxmlformats.org/officeDocument/2006/relationships/hyperlink" Target="https://glidenumber.net/" TargetMode="External"/><Relationship Id="rId1" Type="http://schemas.openxmlformats.org/officeDocument/2006/relationships/image" Target="../media/image-25-1.png"/><Relationship Id="rId18" Type="http://schemas.openxmlformats.org/officeDocument/2006/relationships/slideLayout" Target="../slideLayouts/slideLayout1.xml"/><Relationship Id="rId1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adrc.asia/" TargetMode="External"/><Relationship Id="rId3" Type="http://schemas.openxmlformats.org/officeDocument/2006/relationships/hyperlink" Target="https://www.democrata.es/en/international/von-der-leyen-expresses-the-eu-s-support-for-colombia-and-activates-copernicus-after-the-earthquake/" TargetMode="External"/><Relationship Id="rId4" Type="http://schemas.openxmlformats.org/officeDocument/2006/relationships/hyperlink" Target="https://www.globalquakemodel.org/proj/treq" TargetMode="External"/><Relationship Id="rId5" Type="http://schemas.openxmlformats.org/officeDocument/2006/relationships/hyperlink" Target="https://cloud-storage.globalquakemodel.org/public/wix-new-website/pdf-collections-wix/publications/TREQ%20deliverables/reports/TREQ_D262_Riesgo_Sismico_Cali_v1.00.pdf" TargetMode="External"/><Relationship Id="rId6" Type="http://schemas.openxmlformats.org/officeDocument/2006/relationships/hyperlink" Target="https://www.sciencedirect.com/science/article/abs/pii/S2212420925003097" TargetMode="External"/><Relationship Id="rId7" Type="http://schemas.openxmlformats.org/officeDocument/2006/relationships/hyperlink" Target="https://satic.cali.gov.co/satic" TargetMode="External"/><Relationship Id="rId8" Type="http://schemas.openxmlformats.org/officeDocument/2006/relationships/hyperlink" Target="https://www.cali.gov.co/gestiondelriesgo/" TargetMode="External"/><Relationship Id="rId9" Type="http://schemas.openxmlformats.org/officeDocument/2006/relationships/hyperlink" Target="https://portal.gestiondelriesgo.gov.co/Paginas/Plan-Nacional-de-Gestion-del-Riesgo.aspx" TargetMode="External"/><Relationship Id="rId10" Type="http://schemas.openxmlformats.org/officeDocument/2006/relationships/hyperlink" Target="https://www.funcionpublica.gov.co/eva/gestornormativo/norma.php?i=191411" TargetMode="External"/><Relationship Id="rId11" Type="http://schemas.openxmlformats.org/officeDocument/2006/relationships/hyperlink" Target="https://www.emsc-csem.org/" TargetMode="External"/><Relationship Id="rId12" Type="http://schemas.openxmlformats.org/officeDocument/2006/relationships/hyperlink" Target="https://catalogosismico.sgc.gov.co/visor/index.html" TargetMode="External"/><Relationship Id="rId1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4" Type="http://schemas.openxmlformats.org/officeDocument/2006/relationships/hyperlink" Target="https://www.elespectador.com/colombia/mas-regiones/temblor-en-colombia-hoy-10-de-agosto-en-vivo-epicentro-y-reporte-de-afectaciones/" TargetMode="External"/><Relationship Id="rId15" Type="http://schemas.openxmlformats.org/officeDocument/2006/relationships/hyperlink" Target="https://www.noticiascaracol.com/colombia/en-vivo-colombia-hoy-tras-terremoto-de-magnitud-7-4-continuan-las-labores-de-rescate-so35" TargetMode="External"/><Relationship Id="rId16" Type="http://schemas.openxmlformats.org/officeDocument/2006/relationships/hyperlink" Target="https://rpp.pe/mundo/colombia/abelardo-de-la-espriella-cifra-en-181-los-muertos-por-el-terremoto-59-menos-que-datos-regionales-noticia-1701022" TargetMode="External"/><Relationship Id="rId1" Type="http://schemas.openxmlformats.org/officeDocument/2006/relationships/image" Target="../media/image-26-1.png"/><Relationship Id="rId17" Type="http://schemas.openxmlformats.org/officeDocument/2006/relationships/slideLayout" Target="../slideLayouts/slideLayout1.xml"/><Relationship Id="rId1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11 de agosto de 2026, 17:00 COT (12 de agosto, 07:00 JST), unas 33 horas después del sismo. El reporte de situación de la UNGRD registra 182 muertos, 2.542 heridos y 189 desaparecidos; el balance del Presidente, 181 muertos; la suma de lo anunciado por departamentos y ciudades llega a 240. Se muestran las tres. Las cifras son preliminares y siguen en aumento.</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(10-11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(10-11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20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El USGS y el SGC coinciden en el tamaño; el primer boletín del SGC dio M6.6 a 79 km antes de la revisión. Las dos localizaciones difieren unos 20 km y sus profundidades unos 11 km, lo normal en un sismo de profundidad intermedia registrado por redes distintas. Las distancias epicentrales de este informe se miden desde la localización del USGS. El evento SGC2026pqqmro fue localizado con 69 estaciones; el SGC advierte que sus boletines están sujetos a cambios mientras avanza la revisión.</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13:18:10 UTC (08:18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mb 5.0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USGS us6000tjm4, revisado: 16 km al O de San José del Palmar, profundidad 98,5 km — 44 minutos después del sismo principal y a la misma profundidad intermedia. Otras entidades reportan 5.0-5.7 para este evento.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15:01 UTC (10:01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Reportada por las entidades regionales IGC (M4.7) e INET (M4.3); no aparece en el catálogo del USGS con umbral M2.5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(SGC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 / 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Las dos réplicas listadas en el boletín del evento del SGC; la de M4.8 fue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22:00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prensa reportó más de 20 réplicas durante el día; no se había publicado un conteo oficial consolidado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Prensa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28416"/>
            <a:ext cx="11430000" cy="822960"/>
          </a:xfrm>
          <a:prstGeom prst="rect">
            <a:avLst/>
          </a:prstGeom>
          <a:noFill/>
          <a:ln/>
        </p:spPr>
        <p:txBody>
          <a:bodyPr wrap="square" lIns="50800" tIns="50800" rIns="50800" bIns="50800" rtlCol="0" anchor="t"/>
          <a:lstStyle/>
          <a:p>
            <a:pPr indent="0" marL="0">
              <a:buNone/>
            </a:pPr>
            <a:r>
              <a:rPr lang="en-US" sz="950" dirty="0">
                <a:solidFill>
                  <a:srgbClr val="222222"/>
                </a:solidFill>
                <a:latin typeface="Calibri" pitchFamily="34" charset="0"/>
                <a:ea typeface="Calibri" pitchFamily="34" charset="-122"/>
                <a:cs typeface="Calibri" pitchFamily="34" charset="-120"/>
              </a:rPr>
              <a:t>Tres catálogos independientes -el servicio FDSN del USGS, el SeismicPortal del EMSC y las consultas públicas del SGC- devuelven los mismos dos eventos para esta región: el sismo principal y una única réplica de mb 5.0 44 minutos después. El boletín del SGC añade M4.8 y M2.8 y la prensa reportó más de 20 eventos durante el día, pero esos sismos menores no se pueden recuperar públicamente: quedan por debajo de la completitud de los catálogos globales aquí, y el catálogo revisado del SGC termina el 28 de febrero de 2018. Una secuencia escasa de réplicas grandes es lo que cabe esperar de una ruptura intraplaca de profundidad intermedia; pero un M5 mientras la búsqueda y el rescate están en curso basta para derribar estructuras que el sismo principal ya debilitó.</a:t>
            </a:r>
            <a:endParaRPr lang="en-US" sz="950" dirty="0"/>
          </a:p>
        </p:txBody>
      </p:sp>
      <p:sp>
        <p:nvSpPr>
          <p:cNvPr id="6" name="Shape 2"/>
          <p:cNvSpPr/>
          <p:nvPr/>
        </p:nvSpPr>
        <p:spPr>
          <a:xfrm>
            <a:off x="365760" y="4169664"/>
            <a:ext cx="11430000" cy="969264"/>
          </a:xfrm>
          <a:prstGeom prst="roundRect">
            <a:avLst>
              <a:gd name="adj" fmla="val 4717"/>
            </a:avLst>
          </a:prstGeom>
          <a:solidFill>
            <a:srgbClr val="FCE9DC"/>
          </a:solidFill>
          <a:ln w="12700">
            <a:solidFill>
              <a:srgbClr val="E8A317"/>
            </a:solidFill>
            <a:prstDash val="solid"/>
          </a:ln>
        </p:spPr>
      </p:sp>
      <p:sp>
        <p:nvSpPr>
          <p:cNvPr id="7" name="Text 3"/>
          <p:cNvSpPr/>
          <p:nvPr/>
        </p:nvSpPr>
        <p:spPr>
          <a:xfrm>
            <a:off x="530352" y="4224528"/>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8" name="Shape 4"/>
          <p:cNvSpPr/>
          <p:nvPr/>
        </p:nvSpPr>
        <p:spPr>
          <a:xfrm>
            <a:off x="365760" y="5212080"/>
            <a:ext cx="11430000" cy="731520"/>
          </a:xfrm>
          <a:prstGeom prst="roundRect">
            <a:avLst>
              <a:gd name="adj" fmla="val 6250"/>
            </a:avLst>
          </a:prstGeom>
          <a:solidFill>
            <a:srgbClr val="FCE9DC"/>
          </a:solidFill>
          <a:ln w="12700">
            <a:solidFill>
              <a:srgbClr val="E8A317"/>
            </a:solidFill>
            <a:prstDash val="solid"/>
          </a:ln>
        </p:spPr>
      </p:sp>
      <p:sp>
        <p:nvSpPr>
          <p:cNvPr id="9" name="Text 5"/>
          <p:cNvSpPr/>
          <p:nvPr/>
        </p:nvSpPr>
        <p:spPr>
          <a:xfrm>
            <a:off x="530352" y="5266944"/>
            <a:ext cx="11100816" cy="62179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Implicación operativa
</a:t>
            </a:r>
            <a:pPr algn="l" indent="0" marL="0">
              <a:buNone/>
            </a:pPr>
            <a:r>
              <a:rPr lang="en-US" sz="950" dirty="0">
                <a:solidFill>
                  <a:srgbClr val="7A2E0E"/>
                </a:solidFill>
                <a:latin typeface="Calibri" pitchFamily="34" charset="0"/>
                <a:ea typeface="Calibri" pitchFamily="34" charset="-122"/>
                <a:cs typeface="Calibri" pitchFamily="34" charset="-120"/>
              </a:rPr>
              <a:t>Las edificaciones que sobrevivieron al sismo principal en estado averiado han perdido capacidad. Incluso réplicas moderadas pueden derribarlas, de modo que la evaluación rápida de habitabilidad antes de volver a ocuparlas —y mantener a la gente fuera de las estructuras visiblemente averiadas— importa tanto como las estadísticas de réplicas.</a:t>
            </a:r>
            <a:endParaRPr lang="en-US" sz="1050" dirty="0"/>
          </a:p>
        </p:txBody>
      </p:sp>
      <p:sp>
        <p:nvSpPr>
          <p:cNvPr id="10" name="Text 6"/>
          <p:cNvSpPr/>
          <p:nvPr/>
        </p:nvSpPr>
        <p:spPr>
          <a:xfrm>
            <a:off x="365760" y="5980176"/>
            <a:ext cx="11430000" cy="25603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Disponibilidad de datos, verificada el 11 de agosto de 2026: el servicio de eventos FDSN del USGS (región 3-7 N / 78-74,5 O, desde la hora de origen; query.csv en este repositorio) y el FDSN del SeismicPortal del EMSC devuelven dos eventos tanto con umbral M2.5+ como M2+; el visor del catálogo del SGC y su formulario de consulta experta solo ofrecen el catálogo histórico revisado (1 jun 1993 - 28 feb 2018) y no devuelven nada para 2026. No se traza una serie temporal porque no existe públicamente: la escasez es, en sí misma, el hallazgo.</a:t>
            </a:r>
            <a:endParaRPr lang="en-US" sz="70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EMSC-CSEM SeismicPortal — boletín y servicio de eventos FDSN</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Viviendas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15.568</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Reporte de situación de la UNGRD, 11 de agosto. El balance del Presidente del mismo día da 181 muertos; la suma de los anuncios departamentales y municipales, 240. Viviendas: 13.067 averiadas y 2.501 destruidas.</a:t>
            </a:r>
            <a:endParaRPr lang="en-US" sz="750" dirty="0"/>
          </a:p>
        </p:txBody>
      </p:sp>
      <p:graphicFrame>
        <p:nvGraphicFramePr>
          <p:cNvPr id="14"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Cuatro menores siguen desaparecidos bajo un colegio colapsado en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7" name="Text 12"/>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El gráfico muestra el desglose del Presidente del 11 de agosto, que suma 181 y sitúa el 97,6 % de los muertos en ciudades capitales. El reporte de situación de la UNGRD del mismo día da 182. Sumar lo que departamentos y ciudades anunciaron por separado da 240 -59 más que la cifra del Presidente- porque esos conteos incluyen municipios fuera de las capitales y se emitieron a horas distintas. El informe conserva las tres en vez de elegir una: la cifra nacional oficial es la que debe citarse; la suma departamental anticipa hacia dónde va.</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182 (reporte de situación de la UNGRD, 11 de agosto) / 181 (Presidente, de los cuales 97,6 % en ciudades capitales) / 240 al sumar lo anunciado por departamentos y ciudades. El balance del Gobierno del 10 de agosto a las 13:00 COT era de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Presidencia; gobernaciones y alcaldías vía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2.542 (UNGRD, 11 de agosto), frente a 700 ese mismo día y 87 en el balance del 10 de agosto. Un conteo parcial regional y de Asocapitales da 1.310.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Presidencia;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189 (UNGRD, 11 de agosto). La búsqueda continúa en Cali, Pereira, Manizales y Quibdó, donde cuatro menores están desaparecidos bajo un colegio colapsado.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 en Chocó, Risaralda, Caldas, Valle del Cauca, Quindío y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15.568 viviendas afectadas: 13.067 averiadas y 2.501 destruidas (UNGRD, 11 de agosto), frente a las 1.612 contabilizadas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13.067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2.501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80 en el país (11 de agosto), frente a 61 el 10 de agosto; en Cali entre 25 y 30 en 12 puntos críticos;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11 de agosto; UNGRD; alcaldías de Cali y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con daños (UNGRD, 11 de agosto), frente a 18 el 10 de agosto;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con daños (UNGRD, 11 de agosto), frente a 52 el 10 de agosto;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con daños (UNGRD, 11 de agosto), frente a 17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vías con daños (UNGRD, 11 de agosto), frente a 18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y operaciones suspendidas en siete;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El balance se multiplicó a medida que la evaluación alcanzó los daños. En 33 horas los muertos pasaron de 111 a 182 en los propios reportes de la UNGRD, los heridos de 87 a 2.542, las viviendas afectadas de 1.612 a 15.568, los establecimientos educativos de 52 a 884 y las vías de 18 a 77. No ocurrió nada nuevo que provocara esos saltos; los equipos simplemente llegaron a donde no habían llegado. Dos lecciones para leer las cifras tempranas: los números del primer día describen el alcance de la evaluación y no el tamaño del desastre, y el total nacional va por detrás de los departamentales -aquí, 59 muertos en un solo día.</a:t>
            </a:r>
            <a:endParaRPr lang="en-US" sz="970" dirty="0"/>
          </a:p>
          <a:p>
            <a:pPr algn="l" marL="342900" indent="-342900">
              <a:buSzPct val="100000"/>
              <a:buChar char="•"/>
            </a:pPr>
            <a:r>
              <a:rPr lang="en-US" sz="97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Riesgo de réplicas para las edificaciones averiadas. Se espera que la secuencia de réplicas intraplaca sea moderada, pero las estructuras averiadas han perdido capacidad; la inspección estructural rápida (evaluación de habitabilidad) antes de volver a ocuparlas es la prioridad inmediata, junto con la búsqueda y el rescate.</a:t>
            </a:r>
            <a:endParaRPr lang="en-US" sz="970" dirty="0"/>
          </a:p>
          <a:p>
            <a:pPr algn="l" marL="342900" indent="-342900">
              <a:buSzPct val="100000"/>
              <a:buChar char="•"/>
            </a:pPr>
            <a:r>
              <a:rPr lang="en-US" sz="97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11 de agosto de 2026, 17:00 COT (12 de agosto, 07:00 JST), unas 33 horas después del sismo. El reporte de situación de la UNGRD registra 182 muertos, 2.542 heridos y 189 desaparecidos; el balance del Presidente, 181 muertos; la suma de lo anunciado por departamentos y ciudades llega a 240. Se muestran las tres. Las cifras son preliminares y siguen en aumento.</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2026-08-11T21:55:09Z</dcterms:created>
  <dcterms:modified xsi:type="dcterms:W3CDTF">2026-08-11T21:55:09Z</dcterms:modified>
</cp:coreProperties>
</file>