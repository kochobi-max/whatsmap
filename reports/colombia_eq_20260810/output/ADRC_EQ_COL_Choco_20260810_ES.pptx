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5-1.png"/><Relationship Id="rId2" Type="http://schemas.openxmlformats.org/officeDocument/2006/relationships/image" Target="../media/image-15-2.jpg"/><Relationship Id="rId4" Type="http://schemas.openxmlformats.org/officeDocument/2006/relationships/image" Target="../media/image-15-3.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8-1.png"/><Relationship Id="rId2" Type="http://schemas.openxmlformats.org/officeDocument/2006/relationships/image" Target="../media/image-18-2.jp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0-1.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3-1.png"/><Relationship Id="rId2" Type="http://schemas.openxmlformats.org/officeDocument/2006/relationships/image" Target="../media/image-23-2.jp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25-1.png"/><Relationship Id="rId15" Type="http://schemas.openxmlformats.org/officeDocument/2006/relationships/slideLayout" Target="../slideLayouts/slideLayout1.xml"/><Relationship Id="rId1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26-1.png"/><Relationship Id="rId15" Type="http://schemas.openxmlformats.org/officeDocument/2006/relationships/slideLayout" Target="../slideLayouts/slideLayout1.xml"/><Relationship Id="rId1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27-1.png"/><Relationship Id="rId15" Type="http://schemas.openxmlformats.org/officeDocument/2006/relationships/slideLayout" Target="../slideLayouts/slideLayout1.xml"/><Relationship Id="rId1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 Type="http://schemas.openxmlformats.org/officeDocument/2006/relationships/image" Target="../media/image-28-1.png"/><Relationship Id="rId13" Type="http://schemas.openxmlformats.org/officeDocument/2006/relationships/slideLayout" Target="../slideLayouts/slideLayout1.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9-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11 de agosto de 2026, 17:00 COT (12 de agosto, 07:00 JST), unas 33 horas después del sismo. El reporte de situación de la UNGRD registra 182 muertos, 2.542 heridos y 189 desaparecidos; el balance del Presidente, 181 muertos; la suma de lo anunciado por departamentos y ciudades llega a 240. Se muestran las tres. Las cifras son preliminares y siguen en aumento.</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(10-12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(10-12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total de réplicas publicado por el SGC llega a 103 a las 15:00 COT -97 de M3,0 o menos, 5 entre M3,0 y M4,0, una por encima de M4,0- y una M3,9 durante el día obliga a evacuar edificios en varias ciudades afectadas. Su catálogo para el mismo periodo contiene 147 eventos localizados, cifra más amplia que incluye la sismicidad de fondo.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revisa su solución del sismo principal a M7.4 a 103 km de profundidad, 4,99 N 76,29 O, localizada con 119 estaciones y 208 fases. Su primer boletín había dado M6.6 a 79 km y el segundo 7.4 a 96 km con 69 estaciones.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Primera Ministra del Japón expresa sus condolencias y el Ministro de Asuntos Exteriores emite un mensaje señalando que el Gobierno del Japón está dispuesto a prestar la asistencia que se requiera.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Japón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Funcionarios de la Alcaldía de Cali reportan 107 edificaciones colapsadas, 643 con daños estructurales y 18 con orden de evacuación; 230 personas atrapadas, 88 rescatadas, 69 fallecidos y 1.008 heridos en la ciudad.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12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revisado 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El USGS y el SGC coinciden en el tamaño. El SGC revisó su solución a las 14:20 UTC del 11 de agosto a 103 km con 119 estaciones y 208 fases; la localización revisada está a 17 km de la del USGS y sus profundidades difieren en 7 km, de modo que ambas han convergido al leerse más estaciones. Las distancias epicentrales de este informe se miden desde la localización del USGS. Los boletines del SGC siguen sujetos a cambios.</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Catálogo del SGC, 34 horas después del sismo principal: 60 por debajo de M2,0, 76 entre M2,0 y 2,9, 10 entre M3,0 y 3,9, uno entre M4,0 y 4,9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El SGC localizó 147 eventos en las 34 horas posteriores al sismo principal. Solo uno superó M4,0 -la M4,8 ocurrida 44 minutos después- y el 92 % estuvo por debajo de M3,0, de modo que ninguna réplica se ha acercado al tamaño del sismo principal. Noventa y seis de los 147 se ubican a 60 km de profundidad o más y a menos de 80 km del epicentro: ese subconjunto es la secuencia intraplaca propiamente dicha, y su curva acumulada sigue de cerca los totales publicados por el SGC. El resto es sismicidad de fondo que el mismo catálogo registra, y por eso un conteo bruto va por delante de la cifra oficial de réplicas. Una secuencia modesta y de decaimiento rápido es lo que cabe esperar de una ruptura de profundidad intermedia.</a:t>
            </a:r>
            <a:endParaRPr lang="en-US" sz="9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7623520" y="3200400"/>
            <a:ext cx="3534736"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La fila del sismo principal en el extracto (103 km en 4,99 N 76,29 O) coincide con la página del evento del SGC revisada el 11 de agosto, lo que sirve de verificación del extracto en su conjunto.</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Viviendas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15.568</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Reporte de situación de la UNGRD, 11 de agosto. El balance del Presidente del mismo día da 181 muertos; la suma de los anuncios departamentales y municipales, 240. Viviendas: 13.067 averiadas y 2.501 destruidas.</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Cuatro menores siguen desaparecidos bajo un colegio colapsado en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El gráfico muestra el desglose del Presidente del 11 de agosto, que suma 181 y sitúa el 97,6 % de los muertos en ciudades capitales. El reporte de situación de la UNGRD del mismo día da 182. Sumar lo que departamentos y ciudades anunciaron por separado da 240 -59 más que la cifra del Presidente- porque esos conteos incluyen municipios fuera de las capitales y se emitieron a horas distintas. El informe conserva las tres en vez de elegir una: la cifra nacional oficial es la que debe citarse; la suma departamental anticipa hacia dónde va. Cali también se reporta de tres maneras: 97 en el desglose del Presidente, 85 por el alcalde el 11 de agosto y 69 en el propio reporte municipal, que no indica hora de corte.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reporte municipal de daños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Funcionarios de la Alcaldía de Santiago de Cali. Son cifras de la ciudad; no son el desglose de ningún corte nacional.</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Fallecidos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Heridos</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atrapadas</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rescatadas</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colapsadas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con daños estructurales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Edificios con orden de evacuación</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atrapadas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rescatadas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Fallecidos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Heridos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estas cifras frente a las otras de Cali
</a:t>
            </a:r>
            <a:pPr algn="l" indent="0" marL="0">
              <a:buNone/>
            </a:pPr>
            <a:r>
              <a:rPr lang="en-US" sz="950" dirty="0">
                <a:solidFill>
                  <a:srgbClr val="7A2E0E"/>
                </a:solidFill>
                <a:latin typeface="Calibri" pitchFamily="34" charset="0"/>
                <a:ea typeface="Calibri" pitchFamily="34" charset="-122"/>
                <a:cs typeface="Calibri" pitchFamily="34" charset="-120"/>
              </a:rPr>
              <a:t>El conteo propio de la ciudad, 69 fallecidos, queda por debajo de los 85 que dio el alcalde el 11 de agosto y de los 97 del desglose presidencial de ese mismo día, mientras que sus 1.008 heridos superan los 885 del alcalde. El reporte municipal no indica hora de corte, de modo que no puede ubicarse en esa secuencia: puede ser una foto anterior o un conteo más estricto de fallecidos confirmados por la propia ciudad. Hasta que la ciudad indique su corte, conviene citar las cifras nacionales para el panorama nacional y usar estas para lo que solo reporta el municipio: edificaciones colapsadas y con daños estructurales, órdenes de evacuación y la relación entre atrapados y rescatados.</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personas atrapadas frente a 88 rescatadas es la cifra que marca las próximas 48 horas en Cali: es la carga de trabajo de búsqueda y rescate, y es mayor que el número de fallecidos de la ciudad.</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Funcionarios de la Alcaldía de Santiago de Cali, recibido el 12 de agosto de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182 (reporte de situación de la UNGRD, 11 de agosto) / 181 (Presidente, de los cuales 97,6 % en ciudades capitales) / 240 al sumar lo anunciado por departamentos y ciudades. El balance del Gobierno del 10 de agosto a las 13:00 COT era de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Presidencia; gobernaciones y alcaldías vía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2.542 (UNGRD, 11 de agosto), frente a 700 ese mismo día y 87 en el balance del 10 de agosto. Un conteo parcial regional y de Asocapitales da 1.310.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Presidencia;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189 en el país (UNGRD, 11 de agosto). Funcionarios de la Alcaldía de Cali reportan 230 personas atrapadas y 88 rescatadas en esa ciudad; cuatro menores están desaparecidos bajo un colegio colapsado en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 de Cali;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 en Chocó, Risaralda, Caldas, Valle del Cauca, Quindío y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15.568 viviendas afectadas: 13.067 averiadas y 2.501 destruidas (UNGRD, 11 de agosto), frente a las 1.612 contabilizadas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13.067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2.501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80 en el país (11 de agosto), frente a 61 el 10 de agosto. Funcionarios de la Alcaldía de Cali reportan 107 colapsadas solo en esa ciudad, 643 más con daños estructurales y 18 con orden de evacuación;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11 de agosto; UNGRD; Alcaldía de Cali; 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con daños (UNGRD, 11 de agosto), frente a 18 el 10 de agosto;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con daños (UNGRD, 11 de agosto), frente a 52 el 10 de agosto;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con daños (UNGRD, 11 de agosto), frente a 17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vías con daños (UNGRD, 11 de agosto), frente a 18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y operaciones suspendidas en siete;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Presidenta de México ofreció «todo el apoyo que se requiera»; varios gobiernos latinoamericanos ofrecieron rescatistas, unidades caninas y ayuda humanitaria, que se canalizarán a través de la Cancillería de Colombia y la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Japón: el 11 de agosto la Primera Ministra, Takaichi Sanae, expresó sus condolencias -«Japón está con Colombia en este momento difícil»- y el Ministro de Asuntos Exteriores emitió un mensaje señalando que el Gobierno del Japón está dispuesto a prestar la asistencia que se requiera. Al momento de redactar no se había anunciado el envío del Equipo Japonés de Socorro en Casos de Desastre ni una cooperación financiera no reembolsable de emergencia.</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Canalización
</a:t>
            </a:r>
            <a:pPr algn="l" indent="0" marL="0">
              <a:buNone/>
            </a:pPr>
            <a:r>
              <a:rPr lang="en-US" sz="950" dirty="0">
                <a:solidFill>
                  <a:srgbClr val="7A2E0E"/>
                </a:solidFill>
                <a:latin typeface="Calibri" pitchFamily="34" charset="0"/>
                <a:ea typeface="Calibri" pitchFamily="34" charset="-122"/>
                <a:cs typeface="Calibri" pitchFamily="34" charset="-120"/>
              </a:rPr>
              <a:t>Los ofrecimientos de ayuda se canalizan a través de la Cancillería de Colombia junto con la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El balance se multiplicó a medida que la evaluación alcanzó los daños. En 33 horas los muertos pasaron de 111 a 182 en los propios reportes de la UNGRD, los heridos de 87 a 2.542, las viviendas afectadas de 1.612 a 15.568, los establecimientos educativos de 52 a 884 y las vías de 18 a 77. No ocurrió nada nuevo que provocara esos saltos; los equipos simplemente llegaron a donde no habían llegado. Dos lecciones para leer las cifras tempranas: los números del primer día describen el alcance de la evaluación y no el tamaño del desastre, y el total nacional va por detrás de los departamentales -aquí, 59 muertos en un solo día.</a:t>
            </a:r>
            <a:endParaRPr lang="en-US" sz="860" dirty="0"/>
          </a:p>
          <a:p>
            <a:pPr algn="l" marL="342900" indent="-342900">
              <a:buSzPct val="100000"/>
              <a:buChar char="•"/>
            </a:pPr>
            <a:r>
              <a:rPr lang="en-US" sz="86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60" dirty="0"/>
          </a:p>
          <a:p>
            <a:pPr algn="l" marL="342900" indent="-342900">
              <a:buSzPct val="100000"/>
              <a:buChar char="•"/>
            </a:pPr>
            <a:r>
              <a:rPr lang="en-US" sz="86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6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 mensaje del Ministro de Asuntos Exteriores sobre el sismo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en X — publicación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11 de agosto de 2026, 17:00 COT (12 de agosto, 07:00 JST), unas 33 horas después del sismo. El reporte de situación de la UNGRD registra 182 muertos, 2.542 heridos y 189 desaparecidos; el balance del Presidente, 181 muertos; la suma de lo anunciado por departamentos y ciudades llega a 240. Se muestran las tres. Las cifras son preliminares y siguen en aumento.</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2026-08-12T00:09:03Z</dcterms:created>
  <dcterms:modified xsi:type="dcterms:W3CDTF">2026-08-12T00:09:03Z</dcterms:modified>
</cp:coreProperties>
</file>