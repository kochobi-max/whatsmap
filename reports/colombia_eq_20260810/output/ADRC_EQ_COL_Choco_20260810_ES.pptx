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Población expuesta por nivel de sacudimiento (millones, PAGER del USGS)</a:t>
            </a:r>
          </a:p>
        </c:rich>
      </c:tx>
      <c:layout/>
      <c:overlay val="0"/>
    </c:title>
    <c:autoTitleDeleted val="0"/>
    <c:plotArea>
      <c:layout/>
      <c:barChart>
        <c:barDir val="col"/>
        <c:grouping val="clustered"/>
        <c:varyColors val="0"/>
        <c:ser>
          <c:idx val="0"/>
          <c:order val="0"/>
          <c:tx>
            <c:strRef>
              <c:f>Sheet1!$B$1</c:f>
              <c:strCache>
                <c:ptCount val="1"/>
                <c:pt idx="0">
                  <c:v>Personas expuestas</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Muertos reportados por departamento (provisional)</a:t>
            </a:r>
          </a:p>
        </c:rich>
      </c:tx>
      <c:layout/>
      <c:overlay val="0"/>
    </c:title>
    <c:autoTitleDeleted val="0"/>
    <c:plotArea>
      <c:layout/>
      <c:barChart>
        <c:barDir val="bar"/>
        <c:grouping val="clustered"/>
        <c:varyColors val="0"/>
        <c:ser>
          <c:idx val="0"/>
          <c:order val="0"/>
          <c:tx>
            <c:strRef>
              <c:f>Sheet1!$B$1</c:f>
              <c:strCache>
                <c:ptCount val="1"/>
                <c:pt idx="0">
                  <c:v>Muertos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Valle del Cauca (Cali)</c:v>
                  </c:pt>
                  <c:pt idx="1">
                    <c:v>Risaralda (Pereira)</c:v>
                  </c:pt>
                  <c:pt idx="2">
                    <c:v>Chocó (Quibdó)</c:v>
                  </c:pt>
                  <c:pt idx="3">
                    <c:v>Caldas (Manizales)</c:v>
                  </c:pt>
                  <c:pt idx="4">
                    <c:v>Antioquia</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2" Type="http://schemas.openxmlformats.org/officeDocument/2006/relationships/image" Target="../media/image-8-2.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9-1.png"/><Relationship Id="rId2" Type="http://schemas.openxmlformats.org/officeDocument/2006/relationships/image" Target="../media/image-9-2.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2" Type="http://schemas.openxmlformats.org/officeDocument/2006/relationships/image" Target="../media/image-10-2.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1-1.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5-1.png"/><Relationship Id="rId2" Type="http://schemas.openxmlformats.org/officeDocument/2006/relationships/image" Target="../media/image-15-2.jpg"/><Relationship Id="rId4" Type="http://schemas.openxmlformats.org/officeDocument/2006/relationships/image" Target="../media/image-15-3.jp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www.eltiempo.com/mundo/mas-regiones/la-comunidad-internacional-se-vuelca-en-ayudas-para-colombia-lista-de-paises-que-han-ofrecido-apoyo-tras-el-terremoto-de-magnitud-7-3577512" TargetMode="External"/><Relationship Id="rId3" Type="http://schemas.openxmlformats.org/officeDocument/2006/relationships/hyperlink" Target="https://colombia.un.org/es/320793-informaci%C3%B3n-y-actualizaciones-sobre-el-terremoto-en-colombia"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reliefweb.int/country/col" TargetMode="External"/><Relationship Id="rId1" Type="http://schemas.openxmlformats.org/officeDocument/2006/relationships/image" Target="../media/image-16-1.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8-1.png"/><Relationship Id="rId2" Type="http://schemas.openxmlformats.org/officeDocument/2006/relationships/image" Target="../media/image-18-2.jp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19-1.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0-1.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1-1.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2-1.png"/><Relationship Id="rId2" Type="http://schemas.openxmlformats.org/officeDocument/2006/relationships/image" Target="../media/image-22-2.jp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3-1.png"/><Relationship Id="rId2" Type="http://schemas.openxmlformats.org/officeDocument/2006/relationships/image" Target="../media/image-23-2.jp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4-1.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 Type="http://schemas.openxmlformats.org/officeDocument/2006/relationships/image" Target="../media/image-25-1.png"/><Relationship Id="rId16" Type="http://schemas.openxmlformats.org/officeDocument/2006/relationships/slideLayout" Target="../slideLayouts/slideLayout1.xml"/><Relationship Id="rId1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www.oecd.org/en/publications/risk-governance-scan-of-colombia_eeb81954-en.html"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france24.com/en/americas/20260810-powerful-quake-rocks-colombia-causing-major-damage" TargetMode="External"/><Relationship Id="rId6" Type="http://schemas.openxmlformats.org/officeDocument/2006/relationships/hyperlink" Target="https://www.aljazeera.com/news/2026/8/10/7-4-magnitude-earthquake-hits-colombia-killing-at-least-20" TargetMode="External"/><Relationship Id="rId7" Type="http://schemas.openxmlformats.org/officeDocument/2006/relationships/hyperlink" Target="https://www.cbsnews.com/news/colombia-earthquake-western-region-evacuations/" TargetMode="External"/><Relationship Id="rId8" Type="http://schemas.openxmlformats.org/officeDocument/2006/relationships/hyperlink" Target="https://www.nbcnews.com/world/latin-america/strong-earthquake-colombia-ecuador-people-evacuating-homes-buildings-rcna591709" TargetMode="External"/><Relationship Id="rId9" Type="http://schemas.openxmlformats.org/officeDocument/2006/relationships/hyperlink" Target="https://colombiaone.com/2026/08/10/earthquake-colombia-official-details/" TargetMode="External"/><Relationship Id="rId10" Type="http://schemas.openxmlformats.org/officeDocument/2006/relationships/hyperlink" Target="https://colombiaone.com/2026/08/10/colombia-national-disaster/" TargetMode="External"/><Relationship Id="rId11" Type="http://schemas.openxmlformats.org/officeDocument/2006/relationships/hyperlink" Target="https://www.infobae.com/colombia/2026/08/10/por-que-el-temblor-en-colombia-de-este-lunes-10-de-agosto-duro-una-eternidad-el-servicio-geologico-explico-que-paso/" TargetMode="External"/><Relationship Id="rId12" Type="http://schemas.openxmlformats.org/officeDocument/2006/relationships/hyperlink" Target="https://www3.nhk.or.jp/news/" TargetMode="External"/><Relationship Id="rId13" Type="http://schemas.openxmlformats.org/officeDocument/2006/relationships/hyperlink" Target="https://www.nikkei.com/article/DGXZQOGN108V30Q6A810C2000000/" TargetMode="External"/><Relationship Id="rId14" Type="http://schemas.openxmlformats.org/officeDocument/2006/relationships/hyperlink" Target="https://www.jiji.com/jc/article?k=2026081000878&amp;g=int" TargetMode="External"/><Relationship Id="rId15" Type="http://schemas.openxmlformats.org/officeDocument/2006/relationships/hyperlink" Target="https://www.savethechildren.org/us/about-us/media-and-news/2026-press-releases/children-at-risk-after-earthquake-strikes-colombia" TargetMode="External"/><Relationship Id="rId1" Type="http://schemas.openxmlformats.org/officeDocument/2006/relationships/image" Target="../media/image-26-1.png"/><Relationship Id="rId16" Type="http://schemas.openxmlformats.org/officeDocument/2006/relationships/slideLayout" Target="../slideLayouts/slideLayout1.xml"/><Relationship Id="rId1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directrelief.org/2026/08/colombia-earthquake-7-4-magnitude-direct-relief-response/" TargetMode="External"/><Relationship Id="rId3" Type="http://schemas.openxmlformats.org/officeDocument/2006/relationships/hyperlink" Target="https://www.americares.org/crisis-alerts/colombia-earthquake-august-2026/" TargetMode="External"/><Relationship Id="rId4" Type="http://schemas.openxmlformats.org/officeDocument/2006/relationships/hyperlink" Target="https://glidenumber.net/" TargetMode="External"/><Relationship Id="rId5" Type="http://schemas.openxmlformats.org/officeDocument/2006/relationships/hyperlink" Target="https://www.adrc.asia/" TargetMode="External"/><Relationship Id="rId6" Type="http://schemas.openxmlformats.org/officeDocument/2006/relationships/hyperlink" Target="https://www.democrata.es/en/international/von-der-leyen-expresses-the-eu-s-support-for-colombia-and-activates-copernicus-after-the-earthquake/" TargetMode="External"/><Relationship Id="rId7" Type="http://schemas.openxmlformats.org/officeDocument/2006/relationships/hyperlink" Target="https://www.globalquakemodel.org/proj/treq" TargetMode="External"/><Relationship Id="rId8" Type="http://schemas.openxmlformats.org/officeDocument/2006/relationships/hyperlink" Target="https://cloud-storage.globalquakemodel.org/public/wix-new-website/pdf-collections-wix/publications/TREQ%20deliverables/reports/TREQ_D262_Riesgo_Sismico_Cali_v1.00.pdf" TargetMode="External"/><Relationship Id="rId9" Type="http://schemas.openxmlformats.org/officeDocument/2006/relationships/hyperlink" Target="https://www.sciencedirect.com/science/article/abs/pii/S2212420925003097" TargetMode="External"/><Relationship Id="rId10" Type="http://schemas.openxmlformats.org/officeDocument/2006/relationships/hyperlink" Target="https://satic.cali.gov.co/satic" TargetMode="External"/><Relationship Id="rId11" Type="http://schemas.openxmlformats.org/officeDocument/2006/relationships/hyperlink" Target="https://www.cali.gov.co/gestiondelriesgo/" TargetMode="External"/><Relationship Id="rId12" Type="http://schemas.openxmlformats.org/officeDocument/2006/relationships/hyperlink" Target="https://portal.gestiondelriesgo.gov.co/Paginas/Plan-Nacional-de-Gestion-del-Riesgo.aspx" TargetMode="External"/><Relationship Id="rId13" Type="http://schemas.openxmlformats.org/officeDocument/2006/relationships/hyperlink" Target="https://www.funcionpublica.gov.co/eva/gestornormativo/norma.php?i=191411" TargetMode="External"/><Relationship Id="rId14" Type="http://schemas.openxmlformats.org/officeDocument/2006/relationships/hyperlink" Target="https://www.emsc-csem.org/" TargetMode="External"/><Relationship Id="rId15" Type="http://schemas.openxmlformats.org/officeDocument/2006/relationships/hyperlink" Target="https://catalogosismico.sgc.gov.co/visor/index.html" TargetMode="External"/><Relationship Id="rId1" Type="http://schemas.openxmlformats.org/officeDocument/2006/relationships/image" Target="../media/image-27-1.png"/><Relationship Id="rId16" Type="http://schemas.openxmlformats.org/officeDocument/2006/relationships/slideLayout" Target="../slideLayouts/slideLayout1.xml"/><Relationship Id="rId1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3" Type="http://schemas.openxmlformats.org/officeDocument/2006/relationships/hyperlink" Target="https://www.elespectador.com/colombia/mas-regiones/temblor-en-colombia-hoy-10-de-agosto-en-vivo-epicentro-y-reporte-de-afectaciones/" TargetMode="External"/><Relationship Id="rId4" Type="http://schemas.openxmlformats.org/officeDocument/2006/relationships/hyperlink" Target="https://www.noticiascaracol.com/colombia/en-vivo-colombia-hoy-tras-terremoto-de-magnitud-7-4-continuan-las-labores-de-rescate-so35" TargetMode="External"/><Relationship Id="rId5" Type="http://schemas.openxmlformats.org/officeDocument/2006/relationships/hyperlink" Target="https://rpp.pe/mundo/colombia/abelardo-de-la-espriella-cifra-en-181-los-muertos-por-el-terremoto-59-menos-que-datos-regionales-noticia-1701022" TargetMode="External"/><Relationship Id="rId6" Type="http://schemas.openxmlformats.org/officeDocument/2006/relationships/hyperlink" Target="https://www.eltiempo.com/colombia/otras-ciudades/cuantas-replicas-se-han-registrado-tras-el-terremoto-de-7-4-en-colombia-estas-son-todas-las-magnitudes-3577711" TargetMode="External"/><Relationship Id="rId7" Type="http://schemas.openxmlformats.org/officeDocument/2006/relationships/hyperlink" Target="https://www.semana.com/tecnologia/articulo/servicio-geologico-revela-el-numero-total-de-replicas-que-ha-habido-en-colombia-tras-fuerte-terremoto-que-estremecio-al-pais/202641/" TargetMode="External"/><Relationship Id="rId8" Type="http://schemas.openxmlformats.org/officeDocument/2006/relationships/hyperlink" Target="https://www.mofa.go.jp/mofaj/la_c/sa/co/pageit_000001_00001.html" TargetMode="External"/><Relationship Id="rId9" Type="http://schemas.openxmlformats.org/officeDocument/2006/relationships/hyperlink" Target="https://x.com/MofaJapan_jp/status/2087155064855261537" TargetMode="External"/><Relationship Id="rId10" Type="http://schemas.openxmlformats.org/officeDocument/2006/relationships/hyperlink" Target="https://www.eltiempo.com/mundo/mas-regiones/la-comunidad-internacional-se-vuelca-en-ayudas-para-colombia-lista-de-paises-que-han-ofrecido-apoyo-tras-el-terremoto-de-magnitud-7-3577512" TargetMode="External"/><Relationship Id="rId11" Type="http://schemas.openxmlformats.org/officeDocument/2006/relationships/hyperlink" Target="https://colombia.un.org/es/320793-informaci%C3%B3n-y-actualizaciones-sobre-el-terremoto-en-colombia" TargetMode="External"/><Relationship Id="rId12" Type="http://schemas.openxmlformats.org/officeDocument/2006/relationships/hyperlink" Target="https://news.un.org/es/story/2026/08/1541792" TargetMode="External"/><Relationship Id="rId1" Type="http://schemas.openxmlformats.org/officeDocument/2006/relationships/image" Target="../media/image-28-1.png"/><Relationship Id="rId13" Type="http://schemas.openxmlformats.org/officeDocument/2006/relationships/slideLayout" Target="../slideLayouts/slideLayout1.xml"/><Relationship Id="rId1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9-1.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Informe de desastre</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Terremoto del Chocó de 2026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departamento del Chocó — 10 de agosto de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profundidad 110 km   ·   MMI VII (muy fuerte) — ShakeMap del USGS; el mapa de intensidades macrosísmicas del SGC coincide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Mundo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Noroeste de Suramérica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Epicentro y ciudades afectadas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Mapas de localización © Google (Google Maps). Las distancias mostradas en páginas posteriores se calculan a partir de las coordenadas publicadas por el USGS.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Resumen   </a:t>
            </a:r>
            <a:pPr algn="l" indent="0" marL="0">
              <a:buNone/>
            </a:pPr>
            <a:r>
              <a:rPr lang="en-US" sz="800" dirty="0">
                <a:solidFill>
                  <a:srgbClr val="FFFFFF"/>
                </a:solidFill>
                <a:latin typeface="Calibri" pitchFamily="34" charset="0"/>
                <a:ea typeface="Calibri" pitchFamily="34" charset="-122"/>
                <a:cs typeface="Calibri" pitchFamily="34" charset="-120"/>
              </a:rPr>
              <a:t>A las 07:34 hora local (12:34 UTC) del 10 de agosto de 2026, un sismo de Mww 7.4 sacudió el occidente de Colombia con epicentro 5 km al este de San José del Palmar (Chocó), a unos 110 km de profundidad (USGS). Fue una ruptura de rumbo a profundidad intermedia dentro de la placa de Nazca en subducción; por esa profundidad, el sacudimiento fuerte (MMI VI-VII) se repartió sobre una amplia zona del Eje Cafetero andino en lugar de concentrarse cerca del epicentro, y unos 10,5 millones de personas quedaron expuestas a él. El SGC lo describe como el sismo de mayor magnitud registrado en Colombia en la última década. El balance creció con fuerza en los dos primeros días: 111 muertos en el corte de las 13:00 COT del 10 de agosto, 132 esa misma tarde, y 182 muertos con 2.542 heridos y 189 desaparecidos en el reporte de situación de la UNGRD del 11 de agosto, frente a 240 muertos al sumar lo anunciado por departamentos y ciudades — más de 1.600 edificaciones afectadas (1.575 viviendas averiadas, 37 destruidas y 61 edificios colapsados), y daños en 18 centros de salud, 52 establecimientos educativos, 18 vías principales y seis aeropuertos regionales. Colapsaron parcialmente la terminal de pasajeros del Aeropuerto Internacional Matecaña (Pereira), una torre de la catedral neogótica de Manizales sobre la nave y cerca del 30 % del Hospital Universitario del Valle, en Cali. El Presidente declaró el desastre nacional, instaló un Puesto de Mando Unificado en el Chocó y desplegó cuatro grupos USAR y las Fuerzas Militares. No hubo tsunami. Todas las cifras son preliminares y variarán conforme avance la evaluación.</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Marco sismotectónico: un sismo intraplaca dentro de la losa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es.png">    </p:cNvPr>
          <p:cNvPicPr>
            <a:picLocks noChangeAspect="1"/>
          </p:cNvPicPr>
          <p:nvPr/>
        </p:nvPicPr>
        <p:blipFill>
          <a:blip r:embed="rId2"/>
          <a:stretch>
            <a:fillRect/>
          </a:stretch>
        </p:blipFill>
        <p:spPr>
          <a:xfrm>
            <a:off x="365760" y="1104265"/>
            <a:ext cx="6858000" cy="2820669"/>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Corte esquemático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se encuentra en la confluencia de las placas de Nazca, del Caribe y Suramericana. Frente a la costa del Pacífico, la placa de Nazca subduce hacia el este bajo Suramérica a unos 50-60 mm/año, y la losa descendente alcanza profundidades intermedias (70-300 km) bajo las cordilleras Occidental y Central. Este sismo rompió dentro de esa losa a unos 110 km de profundidad, razón por la cual se sintió a cientos de kilómetros —hasta Bogotá, Quito y la ciudad de Panamá— sin producir ruptura superficial ni tsunami. Los sismos de profundidad intermedia irradian con eficiencia energía de alta frecuencia y se atenúan lentamente, de modo que los daños tienden a repartirse entre muchas ciudades en vez de concentrarse en una franja epicentral estrecha.</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Mecanismo focal (beachball)
</a:t>
            </a:r>
            <a:pPr algn="ctr" indent="0" marL="0">
              <a:buNone/>
            </a:pPr>
            <a:r>
              <a:rPr lang="en-US" sz="700" dirty="0">
                <a:solidFill>
                  <a:srgbClr val="6A6A6A"/>
                </a:solidFill>
                <a:latin typeface="Calibri" pitchFamily="34" charset="0"/>
                <a:ea typeface="Calibri" pitchFamily="34" charset="-122"/>
                <a:cs typeface="Calibri" pitchFamily="34" charset="-120"/>
              </a:rPr>
              <a:t>Ambas entidades reportan un mecanismo de falla de rumbo.</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Profundidad de unos 110 km (USGS, revisado): es un sismo intraplaca dentro de la losa, no un megasismo de la interfaz entre placas.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Mecanismo de falla de rumbo dentro de la losa de Nazca en subducción (resumen tectónico del USGS).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Sacudimiento máximo MMI VII (muy fuerte); unos 10,5 millones de personas expuestas a MMI VI-VII.</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Alerta naranja del PAGER (v5) del USGS: la banda de mortalidad más probable es 1.000-10.000 y la de pérdidas 100-1.000 millones de dólares — estimaciones de modelo, no observaciones, y muy por encima de las cifras reportadas hasta ahora.</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SGC lo evalúa como el sismo de mayor magnitud registrado en Colombia en la última década.</a:t>
            </a:r>
            <a:endParaRPr lang="en-US" sz="810" dirty="0"/>
          </a:p>
          <a:p>
            <a:pPr algn="l" marL="342900" indent="-342900">
              <a:buSzPct val="100000"/>
              <a:buChar char="•"/>
            </a:pPr>
            <a:r>
              <a:rPr lang="en-US" sz="81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Se reportó una duración del sacudimiento inusualmente larga en ciudades alejadas del epicentro, rasgo propio de los sismos profundos registrados sobre sedimentos blandos de valle.</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Eje Cafetero tiene antecedentes de sismos dañinos tanto profundos como someros: M7.0 a 150 km en 1938, M6.5 a 64 km en 1962 y M6.1 a 15 km en 1999 (modelo nacional de amenaza SGC/GEM).</a:t>
            </a:r>
            <a:endParaRPr lang="en-US" sz="81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Resumen del sismo y medidas de respuesta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ago. 2026, 07:34 COT (12:34 UTC / 21:34 JST)    |    Mww 7.4    |    profundidad 110 km    |    MMI VII (muy fuerte) — ShakeMap del USGS; el mapa de intensidades macrosísmicas del SGC coincide</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Cifras al 11 de agosto de 2026, 17:00 COT (12 de agosto, 07:00 JST), unas 33 horas después del sismo. El reporte de situación de la UNGRD registra 182 muertos, 2.542 heridos y 189 desaparecidos; el balance del Presidente, 181 muertos; la suma de lo anunciado por departamentos y ciudades llega a 240. Se muestran las tres. Las cifras son preliminares y siguen en aumento.</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Gobierno declaró el desastre nacional, lo que permite una movilización y una coordinación extraordinarias de la respuesta.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presidente Abelardo de la Espriella —con tres días en el cargo— ordenó instalar un Puesto de Mando Unificado (PMU) en el Chocó para coordinar la emergencia y se desplazó a Pereira, una de las ciudades más afectadas.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Unidad Nacional para la Gestión del Riesgo de Desastres (UNGRD) activó el sistema nacional, verificó los daños con las autoridades departamentales y municipales y canalizó los ofrecimientos de ayuda junto con la Cancillería.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cuatro grupos USAR (búsqueda y rescate urbano) desde Bogotá, Envigado, Yopal y Medellín para reforzar las labores de búsqueda y rescate.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efectivos militares en los departamentos afectados para búsqueda, rescate y remoción de escombros en las vías.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autoridad de aviación civil suspendió las operaciones en Pereira, Manizales, Quibdó, Armenia, Cartago y Buenaventura mientras se inspeccionaban pistas y terminales.</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Las edificaciones averiadas, los cortes de energía y la interrupción de las comunicaciones retrasan la evaluación en las zonas del Chocó más cercanas al epicentro.</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Número GLIDE asignado a este evento: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(10-12 de agosto)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Sismo de Mww 7.4; epicentro 5 km al S de San José del Palmar (Chocó), profundidad de unos 110 km. Sentido en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SGC emite un primer boletín (inicialmente M6.6, 79 km de profundidad), luego revisado a M7.4 a 96 km y localizado con 69 estaciones (evento SGC2026pqqmro); se activan los protocolos de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UNGRD reporta las primeras afectaciones en 9 municipios del Chocó, 8 de Caldas, 2 del Valle del Cauca y 2 de Risaralda, además de varias localidades del 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reporta estructuras colapsadas en 12 puntos críticos con personas atrapadas; colapsa parte del Hospital Universitario.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Manizales reporta 17 edificios colapsados y 19 con colapso parcial; una torre de la catedral neogótica cae sobre la nave. Se pide a la población permanecer fuera de las edificaciones por las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Colapsa parcialmente la terminal de pasajeros del Aeropuerto Internacional Matecaña (Pereira); se suspenden las operaciones en seis aeropuertos regionales.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declara el desastre nacional; se instala el Puesto de Mando Unificado en el Chocó; se despliegan las Fuerzas Militares.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despliegan cuatro grupos USAR desde Bogotá, Envigado, Yopal y Medellín.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registran más de 20 réplicas; la mayor réplica ampliamente sentida es de M4.8.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Presidente se desplaza a Pereira para dirigir la respuesta en terreno.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activa la cartografía rápida del Copernicus EMS como EMSR916 (17:13 UTC), a solicitud de los Servicios de la CE / DG ECHO, para cartografía de evaluación de daños por el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(10-12 de agosto)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Primer reporte nacional de daños: 111 muertos y 87 heridos; 1.575 viviendas averiadas, 37 destruidas y 61 edificios colapsados; 18 centros de salud, 52 establecimientos educativos, 17 equipamientos comunitarios, 18 vías principales y 6 aeropuertos regionales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Ecuador moviliza un grupo USAR de 47 personas con unidades caninas; México y otros gobiernos ofrecen ayuda, que se canalizará a través de la Cancillería y la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Noche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número de muertos reportado a nivel nacional sube a 132. Cuatro personas han sido rescatadas con vida de los escombros; se reportan más de 20 municipios afectados y continúan las fallas de energía y telecomunicaciones en el 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búsqueda continúa durante la noche. El Presidente reporta 700 heridos en el país y cerca de 5.000 viviendas averiadas o destruidas, declara a los desaparecidos la prioridad del Estado y ordena el traslado de uniformados a Cali para resguardar el orden. El alcalde de Cali reporta 85 muertos, 885 heridos y 188 desaparecidos; los Bomberos de Pereira reportan 66 muertos; cerca de 100 personas están desaparecidas en Manizales. Cinco ciudades capitales -Cali, Pereira, Quibdó, Manizales y Armenia- siguen en alerta roja.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autoridades locales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reporte de situación de la UNGRD registra 182 muertos, 2.542 heridos y 189 desaparecidos, con 13.067 viviendas averiadas y 2.501 destruidas, 93 centros de salud, 884 instituciones educativas, 427 equipamientos comunitarios y 77 vías afectadas. El Presidente cifra el balance en 181 muertos, 97,6 % de ellos en ciudades capitales. Se agradece la ayuda de Ecuador, El Salvador y Rusia.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total de réplicas publicado por el SGC llega a 103 a las 15:00 COT -97 de M3,0 o menos, 5 entre M3,0 y M4,0, una por encima de M4,0- y una M3,9 durante el día obliga a evacuar edificios en varias ciudades afectadas. Su catálogo para el mismo periodo contiene 147 eventos localizados, cifra más amplia que incluye la sismicidad de fondo.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14:20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SGC revisa su solución del sismo principal a M7.4 a 103 km de profundidad, 4,99 N 76,29 O, localizada con 119 estaciones y 208 fases. Su primer boletín había dado M6.6 a 79 km y el segundo 7.4 a 96 km con 69 estaciones.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07:31</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Primera Ministra del Japón expresa sus condolencias (21:31 JST) y el Ministro de Asuntos Exteriores, Motegi, emite un mensaje de condolencias en el que señala que el Gobierno del Japón está asimismo dispuesto a prestar la asistencia necesaria y que Japón se solidariza firmemente con el pueblo colombiano.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Japón (MOFA)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Funcionarios de la Alcaldía de Cali reportan 107 edificaciones colapsadas, 643 con daños estructurales y 18 con orden de evacuación; 230 personas atrapadas, 88 rescatadas, 69 fallecidos y 1.008 heridos en la ciudad.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OCHA señala que el sistema humanitario está listo para apoyar a Colombia y menciona agua potable, kits de higiene y artículos del hogar, salud, alimentos y alojamiento como necesidades prioritarias; no se ha recibido una solicitud formal de asistencia de las autoridades colombianas.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ONU / OCHA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Departamentos y ciudades afectados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es.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Distancias epicentrales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los daños están dispersos
</a:t>
            </a:r>
            <a:pPr algn="l" indent="0" marL="0">
              <a:buNone/>
            </a:pPr>
            <a:r>
              <a:rPr lang="en-US" sz="950" dirty="0">
                <a:solidFill>
                  <a:srgbClr val="7A2E0E"/>
                </a:solidFill>
                <a:latin typeface="Calibri" pitchFamily="34" charset="0"/>
                <a:ea typeface="Calibri" pitchFamily="34" charset="-122"/>
                <a:cs typeface="Calibri" pitchFamily="34" charset="-120"/>
              </a:rPr>
              <a:t>Una fuente a 110 km de profundidad deja a todas las ciudades de la región a una distancia hipocentral parecida (110-205 km), de modo que ninguna queda dentro de una franja estrecha de sacudimiento extremo.</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Ciudades principales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Departamento epicentral; 9 municipios con daños reportados; acceso, energía y comunicaciones limitados.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número de muertos reportado (al menos 40; el gobernador cita al menos 42). Terminal aérea con colapso parcial.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muertos reportados; entre 25 y 30 estructuras colapsadas en 12 puntos críticos de Cali; Hospital Universitario gravemente afectado.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municipios afectados; 17 edificios colapsados y 19 con colapso parcial en Manizales; una torre de la catedral cayó sobre la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y otras localidades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Varias localidades reportadas como afectadas; es el mismo Eje Cafetero devastado por el terremoto de Armenia de 1999.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y alrededores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fallecido reportado (73 años); daños estructurales en inspección.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Ampliamente sentido; edificaciones evacuadas; se reportan daños estructurales en un colegio de Nilo.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Parámetros del sismo y sacudimiento observado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12:34:28 UTC  /  10 de agosto de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al S de San José del Palmar, departamento del Chocó (unos 280 km al O de Bogotá) — SGC: a 12 km de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Coordenadas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4.99 N, 76.29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Profundidad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103 km (SGC, revisado 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Mecanismo focal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Falla de rumbo a profundidad intermedia, dentro de la placa de Nazca en subducción (no en la interfaz somera entre placas)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Sacudimiento máximo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(muy fuerte) — ShakeMap del USGS; el mapa de intensidades macrosísmicas del SGC coincide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Área sentida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Sentido en el occidente y el centro de Colombia, incluidas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tsunami. El sismo fue continental y de profundidad intermedia; no se emitió alerta de tsunami para la costa del Pacífico.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Nivel de alerta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PAGER del USGS: naranja (versión 5). La banda de mortalidad más probable es de 1.000 a 10.000 (35 % de probabilidad); las pérdidas económicas más probables son de 100 a 1.000 millones de dólares (34 %), menos del 1 % del PIB de Colombia. GDACS: naranja.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es.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 frente a la MMI reportada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El USGS y el SGC coinciden en el tamaño. El SGC revisó su solución a las 14:20 UTC del 11 de agosto a 103 km con 119 estaciones y 208 fases; la localización revisada está a 17 km de la del USGS y sus profundidades difieren en 7 km, de modo que ambas han convergido al leerse más estaciones. Las distancias epicentrales de este informe se miden desde la localización del USGS. Los boletines del SGC siguen sujetos a cambios.</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Intensidad macrosísmica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Mapa de intensidades del SGC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ago. 2026 12:34:29 UTC · M7.4 · N5.04 W76.34 · profundidad 96,0 km · ID SGC2026pqqmro · Versión 1, procesado 2026-08-10T13:12:28Z · escala según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El mapa del SGC muestra la banda más fuerte (MMI VII, «Muy Fuerte») sobre el área epicentral del Chocó y a lo largo del corredor interandino que atraviesa Risaralda, Caldas, Quindío y el norte del Valle del Cauca: la franja en la que ocurrieron los colapsos de Pereira, Manizales, Armenia y Cartago. La intensidad decae hacia el oriente: Medellín y Cali quedan en las bandas moderada y fuerte, y Bogotá, a 241 km del epicentro, en una baja. El patrón alargado a lo largo de los valles, en lugar de un círculo compacto alrededor del epicentro, es la firma de una fuente a 96-110 km de profundidad combinada con sedimentos blandos de valle.</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 sentido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Débil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Cuantioso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Escala de Mercalli modificada (Worden et al., 2012), tal como aparece en el mapa del SGC</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mapa de intensidades macrosísmicas (ShakeMap) de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PAGER del USGS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versión 5 (dominio público,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es la estimación rápida de impacto del USGS, emitida en minutos y revisada conforme se precisa el evento; la versión 5 se creó 2 horas y 8 minutos después del sismo. Es una distribución de probabilidad, no el pronóstico de una cifra única: la alerta naranja significa que son probables víctimas y daños significativos y que alertas naranjas previas han requerido una respuesta regional o nacional. Su banda de mortalidad más probable, 1.000-10.000, estaba muy por encima de los 111 muertos reportados nueve horas después del evento; a las 33 horas el balance reportado había subido a 182-240, dentro de la banda de 100-1.000 del PAGER, a la que el modelo asignaba una probabilidad menor pero apreciable. La brecha es normal en esta etapa y se estrecha a medida que la observación reemplaza a las pérdidas modeladas.</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 percibido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Expuestos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Muy 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Sismicidad: réplicas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08:18 COT (13:18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mayor réplica, 44 minutos después del sismo principal: San José del Palmar, profundidad 94 km, a 19 km del epicentro (SGC2026pqryij). El USGS cataloga el mismo evento como mb 5,0 a 98,5 km. Ampliamente sentida.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10:01 COT (15:01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San José del Palmar, profundidad 88 km. Es el evento que dos entidades regionales publicaron como M4,7 en el boletín multiagencia; la solución del SGC es 0,9 unidades menor.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11 Aug 00:12 / 10:43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M3.6 / M3.9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San José del Palmar, profundidades de 96 km y 92 km. El evento de las 10:43 se sintió con fuerza suficiente para evacuar edificios en varias de las ciudades afectadas.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to 11 Aug 17:24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147 located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Catálogo del SGC, 34 horas después del sismo principal: 60 por debajo de M2,0, 76 entre M2,0 y 2,9, 10 entre M3,0 y 3,9, uno entre M4,0 y 4,9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3310128"/>
            <a:ext cx="6675120" cy="1627632"/>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El SGC localizó 147 eventos en las 34 horas posteriores al sismo principal. Solo uno superó M4,0 -la M4,8 ocurrida 44 minutos después- y el 92 % estuvo por debajo de M3,0, de modo que ninguna réplica se ha acercado al tamaño del sismo principal. Noventa y seis de los 147 se ubican a 60 km de profundidad o más y a menos de 80 km del epicentro: ese subconjunto es la secuencia intraplaca propiamente dicha, y su curva acumulada sigue de cerca los totales publicados por el SGC. El resto es sismicidad de fondo que el mismo catálogo registra, y por eso un conteo bruto va por delante de la cifra oficial de réplicas. Una secuencia modesta y de decaimiento rápido es lo que cabe esperar de una ruptura de profundidad intermedia.</a:t>
            </a:r>
            <a:endParaRPr lang="en-US" sz="950" dirty="0"/>
          </a:p>
        </p:txBody>
      </p:sp>
      <p:pic>
        <p:nvPicPr>
          <p:cNvPr id="6" name="Image 1" descr="/home/user/whatsmap/reports/colombia_eq_20260810/images/aftershock_counts_es.png">    </p:cNvPr>
          <p:cNvPicPr>
            <a:picLocks noChangeAspect="1"/>
          </p:cNvPicPr>
          <p:nvPr/>
        </p:nvPicPr>
        <p:blipFill>
          <a:blip r:embed="rId2"/>
          <a:stretch>
            <a:fillRect/>
          </a:stretch>
        </p:blipFill>
        <p:spPr>
          <a:xfrm>
            <a:off x="7623520" y="3200400"/>
            <a:ext cx="3534736" cy="1481328"/>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147 eventos localizados por el SGC tras el sismo principal (ADRC, del catálogo del SGC)</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Cuánto difieren las entidades
</a:t>
            </a:r>
            <a:pPr algn="l" indent="0" marL="0">
              <a:buNone/>
            </a:pPr>
            <a:r>
              <a:rPr lang="en-US" sz="950" dirty="0">
                <a:solidFill>
                  <a:srgbClr val="7A2E0E"/>
                </a:solidFill>
                <a:latin typeface="Calibri" pitchFamily="34" charset="0"/>
                <a:ea typeface="Calibri" pitchFamily="34" charset="-122"/>
                <a:cs typeface="Calibri" pitchFamily="34" charset="-120"/>
              </a:rPr>
              <a:t>Más de 30 entidades publicaron una solución para el sismo principal en cuestión de minutos. Sus magnitudes van de Mw 7.0 a 7.7 y sus profundidades de 74 a 121 km; varias soluciones automáticas usaron el valor por defecto de 10 km antes de ser revisadas. Este informe utiliza la solución del USGS/NEIC (Mw 7.4, 110 km), que coincide con el PAGER v5, y muestra al lado la del SGC. La dispersión es normal en un sismo profundo registrado a distancias telesísmicas, y explica por qué las primeras cifras de prensa sobre profundidad y magnitud no coincidían.</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Datos: extracto del catálogo del SGC para la región, del 10 de agosto 07:34 al 11 de agosto 17:24 COT, 148 filas incluido el sismo principal, cada una con su identificador SGC y estado revisado (“manual”); aportado por el autor y conservado en este repositorio como images/sgc_aftershocks.csv. Ambos paneles se generan a partir de ese archivo, de modo que la figura es reproducible y cada evento puede verificarse en sgc.gov.co por su identificador. La fila del sismo principal en el extracto (103 km en 4,99 N 76,29 O) coincide con la página del evento del SGC revisada el 11 de agosto, lo que sirve de verificación del extracto en su conjunto.</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 total del SGC: 103 réplicas hasta las 15:00 del 11 de agosto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99 réplicas y sus magnitudes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Afectación humana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Muertos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182</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Heridos</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2.542</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Viviendas afectadas</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15.568</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Reporte de situación de la UNGRD, 11 de agosto. El balance del Presidente del mismo día da 181 muertos; la suma de los anuncios departamentales y municipales, 240. Viviendas: 13.067 averiadas y 2.501 destruidas.</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Muertos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Presidente, 11 de agosto. La Gobernación cuenta más: 95 en Cali más 35 en otros municipios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Presidente, 11 de agosto. El departamento reporta alrededor de 90</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 (Quibdó)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Cuatro menores siguen desaparecidos bajo un colegio colapsado en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Reportados 2, luego 4 y luego 5</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 años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las cifras
</a:t>
            </a:r>
            <a:pPr algn="l" indent="0" marL="0">
              <a:buNone/>
            </a:pPr>
            <a:r>
              <a:rPr lang="en-US" sz="950" dirty="0">
                <a:solidFill>
                  <a:srgbClr val="7A2E0E"/>
                </a:solidFill>
                <a:latin typeface="Calibri" pitchFamily="34" charset="0"/>
                <a:ea typeface="Calibri" pitchFamily="34" charset="-122"/>
                <a:cs typeface="Calibri" pitchFamily="34" charset="-120"/>
              </a:rPr>
              <a:t>El gráfico muestra el desglose del Presidente del 11 de agosto, que suma 181 y sitúa el 97,6 % de los muertos en ciudades capitales. El reporte de situación de la UNGRD del mismo día da 182. Sumar lo que departamentos y ciudades anunciaron por separado da 240 -59 más que la cifra del Presidente- porque esos conteos incluyen municipios fuera de las capitales y se emitieron a horas distintas. El informe conserva las tres en vez de elegir una: la cifra nacional oficial es la que debe citarse; la suma departamental anticipa hacia dónde va. Cali también se reporta de tres maneras: 97 en el desglose del Presidente, 85 por el alcalde el 11 de agosto y 69 en el propio reporte municipal, que no indica hora de corte.</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 balance de la UNGRD: 182 muertos, 2.542 heridos, 189 desaparecidos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 los 181 del Presidente son 59 menos que los datos regionales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Balance de Asocapitales — 132 muertos, más de 570 heridos, por ciudades</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Cali: reporte municipal de daños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Funcionarios de la Alcaldía de Santiago de Cali. Son cifras de la ciudad; no son el desglose de ningún corte nacional.</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Fallecidos</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Cambria" pitchFamily="34" charset="0"/>
                <a:ea typeface="Cambria" pitchFamily="34" charset="-122"/>
                <a:cs typeface="Cambria"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Heridos</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Personas atrapadas</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Personas rescatadas</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Cambria" pitchFamily="34" charset="0"/>
                <a:ea typeface="Cambria" pitchFamily="34" charset="-122"/>
                <a:cs typeface="Cambria" pitchFamily="34" charset="-120"/>
              </a:rPr>
              <a:t>88</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Edificaciones colapsadas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Edificaciones con daños estructurales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643</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Edificios con orden de evacuación</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Personas atrapadas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230</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Personas rescatadas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Fallecidos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Heridos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1,008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estas cifras frente a las otras de Cali
</a:t>
            </a:r>
            <a:pPr algn="l" indent="0" marL="0">
              <a:buNone/>
            </a:pPr>
            <a:r>
              <a:rPr lang="en-US" sz="950" dirty="0">
                <a:solidFill>
                  <a:srgbClr val="7A2E0E"/>
                </a:solidFill>
                <a:latin typeface="Calibri" pitchFamily="34" charset="0"/>
                <a:ea typeface="Calibri" pitchFamily="34" charset="-122"/>
                <a:cs typeface="Calibri" pitchFamily="34" charset="-120"/>
              </a:rPr>
              <a:t>El conteo propio de la ciudad, 69 fallecidos, queda por debajo de los 85 que dio el alcalde el 11 de agosto y de los 97 del desglose presidencial de ese mismo día, mientras que sus 1.008 heridos superan los 885 del alcalde. El reporte municipal no indica hora de corte, de modo que no puede ubicarse en esa secuencia: puede ser una foto anterior o un conteo más estricto de fallecidos confirmados por la propia ciudad. Hasta que la ciudad indique su corte, conviene citar las cifras nacionales para el panorama nacional y usar estas para lo que solo reporta el municipio: edificaciones colapsadas y con daños estructurales, órdenes de evacuación y la relación entre atrapados y rescatados.</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230 personas atrapadas frente a 88 rescatadas es la cifra que marca las próximas 48 horas en Cali: es la carga de trabajo de búsqueda y rescate, y es mayor que el número de fallecidos de la ciudad.</a:t>
            </a:r>
            <a:endParaRPr lang="en-US" sz="100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Funcionarios de la Alcaldía de Santiago de Cali, recibido el 12 de agosto de 2026</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182 (reporte de situación de la UNGRD, 11 de agosto) / 181 (Presidente, de los cuales 97,6 % en ciudades capitales) / 240 al sumar lo anunciado por departamentos y ciudades. El balance del Gobierno del 10 de agosto a las 13:00 COT era de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Presidencia; gobernaciones y alcaldías vía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2.542 (UNGRD, 11 de agosto), frente a 700 ese mismo día y 87 en el balance del 10 de agosto. Un conteo parcial regional y de Asocapitales da 1.310.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Presidencia;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Desaparecidos / atrapados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189 en el país (UNGRD, 11 de agosto). Funcionarios de la Alcaldía de Cali reportan 230 personas atrapadas y 88 rescatadas en esa ciudad; cuatro menores están desaparecidos bajo un colegio colapsado en Quibdó.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Alcaldía de Cali; autoridades locales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Municipios afectados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 en Chocó, Risaralda, Caldas, Valle del Cauca, Quindío y 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15.568 viviendas afectadas: 13.067 averiadas y 2.501 destruidas (UNGRD, 11 de agosto), frente a las 1.612 contabilizadas 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 las cuales averiadas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13.067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 las cuales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2.501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Edificios colapsados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80 en el país (11 de agosto), frente a 61 el 10 de agosto. Funcionarios de la Alcaldía de Cali reportan 107 colapsadas solo en esa ciudad, 643 más con daños estructurales y 18 con orden de evacuación; en Manizales 17 colapsados y 19 con colapso parcial.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11 de agosto; UNGRD; Alcaldía de Cali; 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Centros de salud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93 con daños (UNGRD, 11 de agosto), frente a 18 el 10 de agosto; 7 instituciones de salud cerradas; cerca del 30 % del Hospital Universitario del Valle, en Cali, colapsó, incluidos tres pisos (pediatría, medicina interna y parte de la unidad neonatal)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Gobernación del Valle del Cauca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Establecimientos educativos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884 con daños (UNGRD, 11 de agosto), frente a 52 el 10 de agosto; colegios evacuados en los departamentos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Equipamientos comunitarios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427 con daños (UNGRD, 11 de agosto), frente a 17 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Vías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77 vías con daños (UNGRD, 11 de agosto), frente a 18 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Aeropuertos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aeropuertos regionales con daños y operaciones suspendidas en siete; colapso parcial de la terminal de pasajeros del Aeropuerto Internacional Matecaña (Pereira); operaciones suspendidas en Pereira, Manizales, Quibdó, Armenia, Cartago y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autoridad de aviación civil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Patrimonio cultural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 torre de la catedral neogótica de Manizales colapsó sobre la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Servicios públicos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reportan cortes de energía e interrupción de comunicaciones en zonas cercanas al epicentro; aún no se publican cifras sistemáticas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desalojadas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que miles de personas salieron de sus viviendas; aún no se publican cifras de alojamientos temporales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Respuesta 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Declaratoria de desastre nacional, que activa el Sistema Nacional de Gestión del Riesgo de Desastres (SNGRD) creado por la Ley 1523 de 2012.</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Puesto de Mando Unificado (PMU) instalado en el Chocó; la UNGRD coordina con los consejos departamentales y municipales de gestión del riesgo.</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Cuatro grupos USAR (Bogotá, Envigado, Yopal y Medellín) desplegados para búsqueda y rescate en estructuras colapsadas.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Fuerzas Militares desplegadas en los departamentos afectados para búsqueda, rescate, remoción de escombros en vías y seguridad.</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Inspección estructural rápida de hospitales, colegios y aeropuertos; siete instituciones de salud cerradas y seis aeropuertos suspendidos a la espera de la evaluación.</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Traslado de pacientes desde el Hospital Universitario del Valle, en Cali, hacia otras instituciones; la ciudad reportó que las víctimas se concentran en 12 puntos críticos de colapso.</a:t>
            </a:r>
            <a:endParaRPr lang="en-US" sz="120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El presidente Abelardo de la Espriella preside la reunión de respuesta nacional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Bomberos de Cali en una edificación colapsada de la ciudad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Fundamento jurídico
</a:t>
            </a:r>
            <a:pPr algn="l" indent="0" marL="0">
              <a:buNone/>
            </a:pPr>
            <a:r>
              <a:rPr lang="en-US" sz="950" dirty="0">
                <a:solidFill>
                  <a:srgbClr val="7A2E0E"/>
                </a:solidFill>
                <a:latin typeface="Calibri" pitchFamily="34" charset="0"/>
                <a:ea typeface="Calibri" pitchFamily="34" charset="-122"/>
                <a:cs typeface="Calibri" pitchFamily="34" charset="-120"/>
              </a:rPr>
              <a:t>La declaratoria de desastre nacional activa el SNGRD creado por la Ley 1523 de 2012, lo que permite a la UNGRD dirigir recursos y usar el fondo nacional de gestión del riesgo (FNGRD) sin los plazos ordinarios de contratación.</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internacional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Estados Unidos: 15,5 millones de dólares en asistencia de emergencia anunciados el 10 de agosto, para alojamiento de emergencia, alimentos, protección y evaluación de daños.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Unión Europea: se activó el Mecanismo de Protección Civil de la UE y se liberaron 100.000 euros iniciales de financiación humanitaria, canalizados a través de la Cruz Roja Alemana, cuyos equipos ya estaban en el país. Copernicus se puso a disposición de las autoridades colombianas y se activó el mecanismo consular de crisis de la UE para ciudadanos europeos en la zona afectada. La Presidenta de la Comisión y la Alta Representante señalaron que la UE está lista para aportar más si es necesario.</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Japón: el 11 de agosto a las 21:31 JST (07:31 COT) la Primera Ministra, Takaichi Sanae, expresó sus condolencias -«Japón está con Colombia en este momento difícil»-. El Ministro de Asuntos Exteriores, Motegi, emitió el siguiente mensaje: «A raíz del sismo que golpeó a la República de Colombia el 10 de agosto, expreso mis más profundas condolencias a quienes perdieron la vida y hago llegar mi más sentido pésame a todas las personas afectadas. El Gobierno del Japón está asimismo dispuesto a prestar la asistencia necesaria. Japón se solidariza firmemente con el pueblo colombiano.» Al momento de redactar no se había anunciado el envío del Equipo Japonés de Socorro en Casos de Desastre ni una cooperación financiera no reembolsable de emergencia.</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Ecuador movilizó un grupo USAR especializado de 47 personas con unidades caninas y equipamiento autosuficiente.</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También se reportaron ofrecimientos de Chile, Perú, Panamá, Argentina, Brasil, Venezuela, Bolivia, Guatemala, Cuba, El Salvador, España, Italia, Francia, Alemania, Suiza, Israel y Ucrania: equipos USAR, personal médico y paramédico, insumos y observación satelital. El banco de desarrollo CAF anunció una donación de 500.000 dólares.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La cartografía rápida del Copernicus EMS se activó como EMSR916 «Earthquake in Colombia» a las 17:13 UTC del 10 de agosto (12:13 COT), a solicitud de los Servicios de la CE / DG ECHO, para proporcionar cartografía de emergencia de evaluación de daños por el sismo. En curso al momento de redactar, con 3 áreas de interés y 3 productos. La razón de la activación menciona a Quibdó, Pereira, Manizales y Cali como ciudades con daños significativos y edificios colapsados.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Naciones Unidas: la OCHA señaló que el sistema humanitario está listo para apoyar a Colombia, y su análisis preliminar de necesidades menciona agua potable, kits de higiene y artículos del hogar, atención en salud, asistencia alimentaria y alojamiento. Al 11 de agosto la ONU no había recibido una solicitud formal de asistencia de las autoridades colombianas.</a:t>
            </a:r>
            <a:endParaRPr lang="en-US" sz="750" dirty="0"/>
          </a:p>
          <a:p>
            <a:pPr algn="l" marL="342900" indent="-342900">
              <a:buSzPct val="100000"/>
              <a:buChar char="•"/>
            </a:pPr>
            <a:r>
              <a:rPr lang="en-US" sz="75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También se reporta la activación de la Carta Internacional «Espacio y Grandes Catástrofes» para este sismo; el número de activación no estaba confirmado al momento de redactar.</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ONG internacionales movilizadas: Direct Relief y Americares (insumos médicos), Save the Children (protección de la niñez y educación), International Rescue Committee (evaluación cerca del epicentro, en el Chocó) y Convoy of Hope (ayuda humanitaria).</a:t>
            </a:r>
            <a:endParaRPr lang="en-US" sz="75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Hay ofrecimientos; Colombia no ha solicitado
</a:t>
            </a:r>
            <a:pPr algn="l" indent="0" marL="0">
              <a:buNone/>
            </a:pPr>
            <a:r>
              <a:rPr lang="en-US" sz="950" dirty="0">
                <a:solidFill>
                  <a:srgbClr val="7A2E0E"/>
                </a:solidFill>
                <a:latin typeface="Calibri" pitchFamily="34" charset="0"/>
                <a:ea typeface="Calibri" pitchFamily="34" charset="-122"/>
                <a:cs typeface="Calibri" pitchFamily="34" charset="-120"/>
              </a:rPr>
              <a:t>A dos días del sismo, el patrón es un gran volumen de ofrecimientos y un gobierno que no los ha convertido en solicitudes: al 11 de agosto la ONU no tenía una solicitud formal, y la ayuda bilateral que efectivamente se ha movido es dinero (15,5 millones de dólares de Estados Unidos, 100.000 euros de la UE, 500.000 dólares de la CAF) más el grupo USAR del Ecuador y la cartografía satelital. Bajo la Ley 1523 la respuesta la dirige Colombia, y los ofrecimientos se canalizan por la Cancillería junto con la UNGRD; la pregunta para los próximos días es si la carga de búsqueda y rescate -230 atrapados solo en Cali- supera la capacidad nacional lo bastante rápido como para cambiar ese cuadro.</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lista de países que han ofrecido apoyo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Naciones Unidas en Colombia — información y actualizaciones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satelital y analítico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Entidad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Aporte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Estado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activación por el sismo de Colombia; imágenes ópticas y de radar de amplia cobertura para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Reportada / número pendiente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Por confirmar</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cartografía rápida para evaluación de daños; solicitada por los Servicios de la CE / DG ECHO; 3 AOI, 3 productos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En curso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(naranja), modelo de fuente finita y catálogo de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Alerta general naranja; exposición de población y estimaciones de impacto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Red sismológica nacional: hipocentro, revisión de magnitud, boletines de réplicas y registros acelerográficos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aplica: el mecanismo cubre la región de Asia y el Pacífico; a Colombia la atienden la Carta Internacional y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no aplica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Nota sobre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en cuyo equipo conjunto de proyecto participa el ADRC, cubre la región de Asia y el Pacífico. Para un desastre en Colombia, los mecanismos internacionales equivalentes son la Carta Internacional «Espacio y Grandes Catástrofes» y el Servicio de Gestión de Emergencias Copernicus; en América Latina también se emplea con frecuencia la cartografía rápida de UNOSAT/UNITAR.</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Cartografía rápida del Copernicus EMS: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Página de la activación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Tipo de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País afectado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Usuario autorizado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Producto del servicio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Razón de la activación (textual)
</a:t>
            </a:r>
            <a:pPr algn="l" indent="0" marL="0">
              <a:buNone/>
            </a:pPr>
            <a:r>
              <a:rPr lang="en-US" sz="900" i="1" dirty="0">
                <a:solidFill>
                  <a:srgbClr val="222222"/>
                </a:solidFill>
                <a:latin typeface="Calibri" pitchFamily="34" charset="0"/>
                <a:ea typeface="Calibri" pitchFamily="34" charset="-122"/>
                <a:cs typeface="Calibri" pitchFamily="34" charset="-120"/>
              </a:rPr>
              <a:t>«El 10 de agosto de 2026 a las 12:30 UTC, se reporta un sismo mayor de magnitud 7.4 que afectó el occidente y el centro de Colombia, con epicentro cerca de San José del Palmar. El evento ha causado daños significativos en varias ciudades, entre ellas Quibdó, Pereira, Manizales y Cali, con reportes de edificios colapsados. Se solicita a la cartografía rápida del Copernicus EMS proporcionar cartografía de emergencia para la evaluación de daños por el sismo.»</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Qué entrega la cartografía rápida
</a:t>
            </a:r>
            <a:pPr algn="l" indent="0" marL="0">
              <a:buNone/>
            </a:pPr>
            <a:r>
              <a:rPr lang="en-US" sz="950" dirty="0">
                <a:solidFill>
                  <a:srgbClr val="7A2E0E"/>
                </a:solidFill>
                <a:latin typeface="Calibri" pitchFamily="34" charset="0"/>
                <a:ea typeface="Calibri" pitchFamily="34" charset="-122"/>
                <a:cs typeface="Calibri" pitchFamily="34" charset="-120"/>
              </a:rPr>
              <a:t>La cartografía rápida entrega productos de referencia y de gradación sobre áreas de interés seleccionadas, no cobertura nacional. Los productos se publican en la página de la activación a medida que se producen y son de uso libre.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Comisión Europea — apoyo de la UE a Colombia, Copernicus activado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sistema de gestión del riesgo de desastres de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reconstruyó su marco de gestión del riesgo de desastres tras la tragedia volcánica de Armero en 1985 y de nuevo tras el terremoto de Armenia de 1999. La Ley 1523 de 2012 creó el Sistema Nacional de Gestión del Riesgo de Desastres (SNGRD), liderado por la Unidad Nacional para la Gestión del Riesgo de Desastres (UNGRD), adscrita a la Presidencia de la República.</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Ley 1523 de 2012: política nacional de gestión del riesgo de desastres; define el SNGRD y convierte la gestión del riesgo en un deber obligatorio de toda autoridad pública y, en parte, de los actores privados.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UNGRD: entidad coordinadora nacional adscrita a la Presidencia; dirige la respuesta nacional, el fondo de gestión del riesgo (FNGRD) y el sistema nacional de información.</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Los consejos departamentales y municipales de gestión del riesgo (CDGRD / CMGRD) asumen la primera respuesta; la UNGRD refuerza cuando se supera la capacidad local.</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PNGRD 2015-2030 — el plan nacional de gestión del riesgo de desastres, adoptado por el Decreto 308 de 2016 y actualizado por el Decreto 1478 del 3 de agosto de 2022; alineado con el Marco de Sendái y con seguimiento anual de la UNGRD.</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NSR-10: el reglamento nacional de construcción sismo resistente (vigente desde 2010, con anexos técnicos actualizados posteriormente). Las edificaciones anteriores a la aplicación de la norma moderna y la construcción no ingenieril en mampostería y tierra siguen siendo la principal fuente de riesgo.</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Existen estudios de microzonificación sísmica para las principales ciudades, entre ellas Bogotá, Medellín, Cali, Pereira, Manizales y Armenia, herencia directa del terremoto de 1999. En Cali la microzonificación es vinculante para el diseño estructural mediante el Decreto 411.0.20.0158 de 2014.</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El SGC opera la Red Sismológica Nacional y la red nacional de acelerógrafos, y publica boletines en cuestión de minutos.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Las ciudades operan sus propios instrumentos junto al sistema nacional: el sistema de alertas tempranas comunitario y con sensores SATIC de Cali (desde 2018, formalizado por el Decreto Municipal 0858 de 2022), el DAGRD de Medellín y su plan municipal, y los fondos municipales de gestión del riesgo creados al amparo de la Ley 1523.</a:t>
            </a:r>
            <a:endParaRPr lang="en-US" sz="10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la UNGRD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actualización del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Sistema de Alertas Tempranas Inteligentes y Comunitarias de Cali</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terremoto de Armenia (Quindío) de 1999 y la reconstrucción</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El terremoto de Armenia (Quindío) de 1999: el mismo Eje Cafetero
</a:t>
            </a:r>
            <a:pPr algn="l" indent="0" marL="0">
              <a:buNone/>
            </a:pPr>
            <a:r>
              <a:rPr lang="en-US" sz="1050" dirty="0">
                <a:solidFill>
                  <a:srgbClr val="222222"/>
                </a:solidFill>
                <a:latin typeface="Calibri" pitchFamily="34" charset="0"/>
                <a:ea typeface="Calibri" pitchFamily="34" charset="-122"/>
                <a:cs typeface="Calibri" pitchFamily="34" charset="-120"/>
              </a:rPr>
              <a:t>El 25 de enero de 1999, un sismo de M6.1-6.2 a unos 30 km de profundidad golpeó la zona cafetera del Quindío. Dejó cerca de 1.185 muertos, más de 5.000 heridos y unas 50.000 edificaciones averiadas o destruidas; alrededor del 60 % de las construcciones de la ciudad de Armenia colapsaron o resultaron gravemente afectadas, y más de 200.000 personas quedaron sin vivienda. Aunque de magnitud mucho menor que el sismo de 2026, fue mucho más somero y mucho más cercano a las ciudades, y por eso su poder destructivo local fue muy superior.</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en 1999</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Edificaciones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Personas sin vivienda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Sector cafetero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unas 8.000 fincas y 1.200 instalaciones de beneficio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Lo que siguió y las lecciones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importa ahora
</a:t>
            </a:r>
            <a:pPr algn="l" indent="0" marL="0">
              <a:buNone/>
            </a:pPr>
            <a:r>
              <a:rPr lang="en-US" sz="950" dirty="0">
                <a:solidFill>
                  <a:srgbClr val="7A2E0E"/>
                </a:solidFill>
                <a:latin typeface="Calibri" pitchFamily="34" charset="0"/>
                <a:ea typeface="Calibri" pitchFamily="34" charset="-122"/>
                <a:cs typeface="Calibri" pitchFamily="34" charset="-120"/>
              </a:rPr>
              <a:t>Las ciudades más golpeadas en 2026 —Pereira, Manizales y Armenia— son las mismas que se reconstruyeron después de 1999. Cómo se comportó ese parque construido frente a un sacudimiento de período y duración largos, procedente de una fuente a 110 km de profundidad, es la pregunta clave de la evaluación posterior al evento.</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del riesgo previa al evento: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A Cali no le faltaba una evaluación del riesgo. Entre 2020 y 2022 la ciudad construyó un modelo completo de riesgo sísmico urbano con la Fundación GEM en el marco del proyecto TREQ, apoyado por USAID, como una de las tres ciudades piloto junto con Quito y Santiago de los Caballeros. El escenario modelado es local y somero —magnitud 6.5 a 10 km de profundidad en la falla Dagua-Calima— y sus estimaciones superan con mucho lo que la ciudad vivió el 10 de agosto de 2026.</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Escenario modelado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Escenario modelado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 profundidad, falla Dagua-Calima, área urbana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Población expuesta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Muertos estimados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Heridos graves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Desplazados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Edificaciones colapsadas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1.800 de 348.000 (0,5 %)</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Riesgo residual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evaluado en cerca del 40 % tras las medidas existentes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Cifras tomadas de la evaluación de riesgo urbano GEM-TREQ para Santiago de Cali y del plan local de gestión del riesgo de la ciudad, recopiladas por la Alcaldía de Santiago de Cali (Secretaría de Gestión del Riesgo de Emergencias y Desastres) para un curso de formación de JICA.</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Lo que la ciudad ya había priorizado</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Estudios de vulnerabilidad sísmica de edificaciones indispensables —hospitales, colegios, estaciones de bomberos— conforme a la NSR-10 (presupuestado en unos 1,7 millones de dólares, corto plazo).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Reforzamiento estructural de edificaciones indispensables y de la infraestructura de servicios básicos, para mantener los servicios esenciales tras un sismo.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Evaluación de la vulnerabilidad sísmica de las redes de acueducto, alcantarillado y energía de EMCALI y de la red de gas de la ciudad.</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Actualización del modelo de respuesta local del suelo y de la microzonificación sísmica, vigente desde INGEOMINAS/DAGMA (2005) y adoptada por el Decreto 411.0.20.0158 de 2014 para el diseño estructural.</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Mantenimiento y ampliación de la Red de Acelerógrafos de Cali (RAC) y de su interoperabilidad con la red nacional del SGC.</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Aseguramiento de la infraestructura pública ante el riesgo sísmico y reforzamiento de viviendas de bajos ingresos mediante subsidios y programas de autoconstrucción segura.</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Modelo de financiación de las medidas priorizadas: gobierno local 30-50 %, fondo nacional (FNGRD/UNGRD) 30-50 %, socios internacionales —entre ellos JICA, la Fundación GEM y el BID— cerca del 20 %.</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El sismo de 2026 no fue este escenario
</a:t>
            </a:r>
            <a:pPr algn="l" indent="0" marL="0">
              <a:buNone/>
            </a:pPr>
            <a:r>
              <a:rPr lang="en-US" sz="950" dirty="0">
                <a:solidFill>
                  <a:srgbClr val="7A2E0E"/>
                </a:solidFill>
                <a:latin typeface="Calibri" pitchFamily="34" charset="0"/>
                <a:ea typeface="Calibri" pitchFamily="34" charset="-122"/>
                <a:cs typeface="Calibri" pitchFamily="34" charset="-120"/>
              </a:rPr>
              <a:t>El evento del 10 de agosto fue de mayor magnitud (M7.4) pero ocurrió a 110 km de profundidad y a 158 km de Cali, de modo que la ciudad experimentó MMI VI y no el sacudimiento de campo cercano del escenario M6.5 modelado. Cali registró 27 muertos y entre 25 y 30 estructuras colapsadas: dos órdenes de magnitud por debajo del escenario. Lo que sí puso a prueba fue justamente la debilidad que el plan local había señalado: cerca del 30 % del Hospital Universitario del Valle colapsó y siete instituciones de salud cerraron. El peor caso propio de la ciudad sigue por delante, y el argumento para reforzar las edificaciones indispensables es ahora empírico y no teórico.</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Perfil de ciudad GEM-TREQ: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Perfil de ciudad GEM-TREQ para Cali: el escenario M6.5 / 10 km en la falla Dagua-Calima. Están expuestos 2,3 millones de personas y 312.000 edificios residenciales, 22.000 comerciales, 5.300 industriales y 8.000 institucionales, con 220 billones de pesos de capital expuesto. Las barras dan, por comuna, el índice de colapsos, los fallecidos, los heridos graves, los desplazados y las pérdidas económicas; los histogramas dan los totales de la ciudad con sus rangos modelados.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Sismos históricos en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Sismo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y rasgos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Ecuador-Colombia (costa del Pacífico)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Uno de los mayores sismos jamás registrados; tsunami destructivo en la costa del Pacífico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Cali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El evento histórico de referencia para Cali; la ciudad también fue sacudida en 1995 y 2004, este último con daños en clínicas y edificaciones residenciales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Sismo del Eje Cafetero (profundo,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sismo de profundidad intermedia bajo los mismos departamentos cafeteros: el análogo histórico más cercano al sismo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Tumaco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interfaz de subducción con tsunami; varios cientos de muertos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Popayán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250-300 muertos; centro histórico gravemente afectado: un sismo pequeño, pero somero y urbano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Páez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1.100 muertos, en su mayoría por deslizamientos y flujos de escombros desencadenados por el sismo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profundidad intermedia en el mismo departamento que el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Armenia (Quindío)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1.185 muertos; el desastre sísmico más costoso de Colombia; impulsó las reformas actuales de gestión del riesgo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 (este evento)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magnitud registrada en Colombia en la última década (SGC); profundidad intermedia y daños de amplia distribución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modelo nacional de amenaza sísmica SGC / GEM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Amenaza sísmica nacional, periodo de retorno de 475 años</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Patrón
</a:t>
            </a:r>
            <a:pPr algn="l" indent="0" marL="0">
              <a:buNone/>
            </a:pPr>
            <a:r>
              <a:rPr lang="en-US" sz="950" dirty="0">
                <a:solidFill>
                  <a:srgbClr val="7A2E0E"/>
                </a:solidFill>
                <a:latin typeface="Calibri" pitchFamily="34" charset="0"/>
                <a:ea typeface="Calibri" pitchFamily="34" charset="-122"/>
                <a:cs typeface="Calibri" pitchFamily="34" charset="-120"/>
              </a:rPr>
              <a:t>Los sismos más mortales de Colombia no han sido los de mayor magnitud. Popayán 1983 (M5.5), Páez 1994 (M6.8) y Armenia 1999 (M6.1-6.2) fueron someros y cercanos a los cascos urbanos; los eventos mayores, mar adentro en 1906 y 1979, dejaron menos víctimas. Lo que determina el saldo es la profundidad y la cercanía, no la magnitud por sí sola.</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Observaciones y puntos por seguir</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86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60" dirty="0">
                <a:solidFill>
                  <a:srgbClr val="222222"/>
                </a:solidFill>
                <a:latin typeface="Calibri" pitchFamily="34" charset="0"/>
                <a:ea typeface="Calibri" pitchFamily="34" charset="-122"/>
                <a:cs typeface="Calibri" pitchFamily="34" charset="-120"/>
              </a:rPr>
              <a:t>Una fuente profunda con consecuencias de sismo somero. A 110 km de profundidad el sismo no produjo ruptura superficial ni tsunami y, aun así, dañó edificaciones en al menos seis departamentos. Los daños están dispersos y no concentrados, lo que complica la evaluación de necesidades, la logística y la priorización de la búsqueda y el rescate.</a:t>
            </a:r>
            <a:endParaRPr lang="en-US" sz="860" dirty="0"/>
          </a:p>
          <a:p>
            <a:pPr algn="l" marL="342900" indent="-342900">
              <a:buSzPct val="100000"/>
              <a:buChar char="•"/>
            </a:pPr>
            <a:r>
              <a:rPr lang="en-US" sz="86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60" dirty="0">
                <a:solidFill>
                  <a:srgbClr val="222222"/>
                </a:solidFill>
                <a:latin typeface="Calibri" pitchFamily="34" charset="0"/>
                <a:ea typeface="Calibri" pitchFamily="34" charset="-122"/>
                <a:cs typeface="Calibri" pitchFamily="34" charset="-120"/>
              </a:rPr>
              <a:t>Fallaron instalaciones críticas. El colapso de cerca del 30 % del Hospital Universitario del Valle, en Cali, el cierre de siete instituciones de salud, los daños en 52 colegios y el colapso parcial de una terminal aérea internacional reducen la capacidad de respuesta justo donde se necesita. El desempeño sísmico de hospitales, colegios y terminales de transporte es la lección más clara hasta ahora.</a:t>
            </a:r>
            <a:endParaRPr lang="en-US" sz="860" dirty="0"/>
          </a:p>
          <a:p>
            <a:pPr algn="l" marL="342900" indent="-342900">
              <a:buSzPct val="100000"/>
              <a:buChar char="•"/>
            </a:pPr>
            <a:r>
              <a:rPr lang="en-US" sz="86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60" dirty="0">
                <a:solidFill>
                  <a:srgbClr val="222222"/>
                </a:solidFill>
                <a:latin typeface="Calibri" pitchFamily="34" charset="0"/>
                <a:ea typeface="Calibri" pitchFamily="34" charset="-122"/>
                <a:cs typeface="Calibri" pitchFamily="34" charset="-120"/>
              </a:rPr>
              <a:t>El balance se multiplicó a medida que la evaluación alcanzó los daños. En 33 horas los muertos pasaron de 111 a 182 en los propios reportes de la UNGRD, los heridos de 87 a 2.542, las viviendas afectadas de 1.612 a 15.568, los establecimientos educativos de 52 a 884 y las vías de 18 a 77. No ocurrió nada nuevo que provocara esos saltos; los equipos simplemente llegaron a donde no habían llegado. Dos lecciones para leer las cifras tempranas: los números del primer día describen el alcance de la evaluación y no el tamaño del desastre, y el total nacional va por detrás de los departamentales -aquí, 59 muertos en un solo día.</a:t>
            </a:r>
            <a:endParaRPr lang="en-US" sz="860" dirty="0"/>
          </a:p>
          <a:p>
            <a:pPr algn="l" marL="342900" indent="-342900">
              <a:buSzPct val="100000"/>
              <a:buChar char="•"/>
            </a:pPr>
            <a:r>
              <a:rPr lang="en-US" sz="86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60" dirty="0">
                <a:solidFill>
                  <a:srgbClr val="222222"/>
                </a:solidFill>
                <a:latin typeface="Calibri" pitchFamily="34" charset="0"/>
                <a:ea typeface="Calibri" pitchFamily="34" charset="-122"/>
                <a:cs typeface="Calibri" pitchFamily="34" charset="-120"/>
              </a:rPr>
              <a:t>La zona afectada es el Eje Cafetero reconstruido después de 1999. Comparar el comportamiento de las construcciones posteriores a 1999 con el del parque más antiguo, bajo un tipo de sacudimiento muy distinto, será valioso para la región y para otros países con fuentes sísmicas de profundidad intermedia.</a:t>
            </a:r>
            <a:endParaRPr lang="en-US" sz="860" dirty="0"/>
          </a:p>
          <a:p>
            <a:pPr algn="l" marL="342900" indent="-342900">
              <a:buSzPct val="100000"/>
              <a:buChar char="•"/>
            </a:pPr>
            <a:r>
              <a:rPr lang="en-US" sz="86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60" dirty="0">
                <a:solidFill>
                  <a:srgbClr val="222222"/>
                </a:solidFill>
                <a:latin typeface="Calibri" pitchFamily="34" charset="0"/>
                <a:ea typeface="Calibri" pitchFamily="34" charset="-122"/>
                <a:cs typeface="Calibri" pitchFamily="34" charset="-120"/>
              </a:rPr>
              <a:t>Las evaluaciones existían antes del evento. El modelo de riesgo GEM-TREQ de Cali y su plan local ya habían señalado los hospitales y otras edificaciones indispensables como la prioridad de reforzamiento, y el sismo de 2026 —una prueba mucho más débil que el propio escenario modelado de la ciudad— aun así se llevó cerca del 30 % de su principal hospital público. La brecha aquí no es de conocimiento, sino de implementación y financiación.</a:t>
            </a:r>
            <a:endParaRPr lang="en-US" sz="860" dirty="0"/>
          </a:p>
          <a:p>
            <a:pPr algn="l" marL="342900" indent="-342900">
              <a:buSzPct val="100000"/>
              <a:buChar char="•"/>
            </a:pPr>
            <a:r>
              <a:rPr lang="en-US" sz="86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60" dirty="0">
                <a:solidFill>
                  <a:srgbClr val="222222"/>
                </a:solidFill>
                <a:latin typeface="Calibri" pitchFamily="34" charset="0"/>
                <a:ea typeface="Calibri" pitchFamily="34" charset="-122"/>
                <a:cs typeface="Calibri" pitchFamily="34" charset="-120"/>
              </a:rPr>
              <a:t>Riesgo de las réplicas para las edificaciones averiadas. El SGC localizó 147 eventos en 34 horas, el 92 % por debajo de M3,0 y solo uno por encima de M4,0: tan modesto como predice una ruptura intraplaca de profundidad intermedia. El punto operativo no es esa estadística: la M4,8 del 10 de agosto se sintió ampliamente y la M3,9 del 11 volvió a vaciar edificios en varias ciudades. Las estructuras que el sismo principal dejó en pie pero averiadas han perdido capacidad, de modo que la evaluación rápida de habitabilidad antes de volver a ocuparlas importa más que el número de réplicas.</a:t>
            </a:r>
            <a:endParaRPr lang="en-US" sz="860" dirty="0"/>
          </a:p>
          <a:p>
            <a:pPr algn="l" marL="342900" indent="-342900">
              <a:buSzPct val="100000"/>
              <a:buChar char="•"/>
            </a:pPr>
            <a:r>
              <a:rPr lang="en-US" sz="86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960" dirty="0">
                <a:solidFill>
                  <a:srgbClr val="222222"/>
                </a:solidFill>
                <a:latin typeface="Calibri" pitchFamily="34" charset="0"/>
                <a:ea typeface="Calibri" pitchFamily="34" charset="-122"/>
                <a:cs typeface="Calibri" pitchFamily="34" charset="-120"/>
              </a:rPr>
              <a:t>Puntos por seguir: la conciliación de las cifras nacionales de víctimas; las cifras de alojamiento y de personas desalojadas, que aún no se publican; el restablecimiento del agua y la energía en el Chocó; los resultados de la cartografía de daños con satélite; y si el Gobierno solicita asistencia internacional más allá de los ofrecimientos ya recibidos.</a:t>
            </a:r>
            <a:endParaRPr lang="en-US" sz="86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(1/4)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Política de fuentes: </a:t>
            </a:r>
            <a:pPr algn="l" indent="0" marL="0">
              <a:buNone/>
            </a:pPr>
            <a:r>
              <a:rPr lang="en-US" sz="900" dirty="0">
                <a:solidFill>
                  <a:srgbClr val="444444"/>
                </a:solidFill>
                <a:latin typeface="Calibri" pitchFamily="34" charset="0"/>
                <a:ea typeface="Calibri" pitchFamily="34" charset="-122"/>
                <a:cs typeface="Calibri" pitchFamily="34" charset="-120"/>
              </a:rPr>
              <a:t>Jerarquía de fuentes: oficial &gt; prensa &gt; por confirmar. Las cifras del Gobierno y de las entidades científicas se usan como fuente primaria; la información de prensa se emplea únicamente cuando aún no hay cifras oficiales y se identifica como tal. Los elementos en verificación se marcan como «por confirmar». Las cifras preliminares nunca se sustituyen por números mayores sin verificar.</a:t>
            </a:r>
            <a:endParaRPr lang="en-US" sz="9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M 7.4 San José del Palmar, Colombia (página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boletín del evento SGC2026pqqmro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mapa de intensidades macrosísmicas (ShakeMap) de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Unidad Nacional para la Gestión del Riesgo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alerta sísmica naranja, Colombia, 10 ago.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Carta Internacional «Espacio y Grandes Catástrofes»: activaciones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OPS/OMS: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PNGRD 2015-2030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normativa sismo resistente de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en vivo: los muertos ascienden a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heridos y 12 muertos en Chocó (Gobernación)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(2/4)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la UNGRD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OCDE: análisis de gobernanza del riesgo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vivo, al menos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Colombia declara la emergencia nacional;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sismo de M7.4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fuerte sismo en el occidente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muertos, heridos y edificios colapsados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primer balance oficial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el Gobierno declara el desastre nacional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el SGC explica por qué el temblor duró tanto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el Presidente reporta 111 muertos y 87 heridos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sismo de M7.4 en el occidente de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sismo de M7.4 en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niñez en riesgo tras el terremoto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(3/4)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movilización de ayuda médica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terremoto de Colombia, agosto de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(identificador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Centro Asiático para la Reducción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Comisión Europea — apoyo de la UE a Colombia, Copernicus activado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Fundación GEM — proyecto TREQ (riesgo sísmico urbano: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(informe técnico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(revisado por pares,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Sistema de Alertas Tempranas Inteligentes y Comunitarias de Cali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gestión del riesgo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actualización del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boletín y servicio de eventos FDSN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visor del catálogo sísmico (el catálogo revisado termina en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(4/4)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en vivo, 11 de agosto (Cali sube a 85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Asocapitales — 132 muertos, más de 570 heridos, por ciudades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Caracol — balance de la UNGRD: 182 muertos, 2.542 heridos, 189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RPP — los 181 del Presidente son 59 menos que los datos regionales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99 réplicas y sus magnitudes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total del SGC: 103 réplicas hasta las 15:00 del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Japón — mensaje del Ministro Motegi sobre el sismo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Japón en X — publicación del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lista de países que han ofrecido apoyo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Naciones Unidas en Colombia — información y actualizaciones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ONU — la ONU ofrece apoyo a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Centro Asiático para la Reducción de Desastres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Informe multilingüe (EN/JA/ES) para difusión nacional e internacional. Se da prioridad a las fuentes oficiales; los vacíos se completan con información de prensa debidamente identificada.</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Cifras al 11 de agosto de 2026, 17:00 COT (12 de agosto, 07:00 JST), unas 33 horas después del sismo. El reporte de situación de la UNGRD registra 182 muertos, 2.542 heridos y 189 desaparecidos; el balance del Presidente, 181 muertos; la suma de lo anunciado por departamentos y ciudades llega a 240. Se muestran las tres. Las cifras son preliminares y siguen en aumento.</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12/08/2026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2026-08-12T00:26:56Z</dcterms:created>
  <dcterms:modified xsi:type="dcterms:W3CDTF">2026-08-12T00:26:56Z</dcterms:modified>
</cp:coreProperties>
</file>