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3-1.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4-1.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5-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8-1.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29-1.png"/><Relationship Id="rId14" Type="http://schemas.openxmlformats.org/officeDocument/2006/relationships/slideLayout" Target="../slideLayouts/slideLayout1.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30-1.png"/><Relationship Id="rId14" Type="http://schemas.openxmlformats.org/officeDocument/2006/relationships/slideLayout" Target="../slideLayouts/slideLayout1.xml"/><Relationship Id="rId1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31-1.png"/><Relationship Id="rId14" Type="http://schemas.openxmlformats.org/officeDocument/2006/relationships/slideLayout" Target="../slideLayouts/slideLayout1.xml"/><Relationship Id="rId1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3"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32-1.png"/><Relationship Id="rId14" Type="http://schemas.openxmlformats.org/officeDocument/2006/relationships/slideLayout" Target="../slideLayouts/slideLayout1.xml"/><Relationship Id="rId1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mofa.go.jp/mofaj/la_c/sa/co/pageit_000001_00001.html" TargetMode="External"/><Relationship Id="rId3" Type="http://schemas.openxmlformats.org/officeDocument/2006/relationships/hyperlink" Target="https://x.com/MofaJapan_jp/status/2087155064855261537" TargetMode="External"/><Relationship Id="rId4" Type="http://schemas.openxmlformats.org/officeDocument/2006/relationships/hyperlink" Target="https://www.eltiempo.com/mundo/mas-regiones/la-comunidad-internacional-se-vuelca-en-ayudas-para-colombia-lista-de-paises-que-han-ofrecido-apoyo-tras-el-terremoto-de-magnitud-7-3577512" TargetMode="External"/><Relationship Id="rId5" Type="http://schemas.openxmlformats.org/officeDocument/2006/relationships/hyperlink" Target="https://colombia.un.org/es/320793-informaci%C3%B3n-y-actualizaciones-sobre-el-terremoto-en-colombia" TargetMode="External"/><Relationship Id="rId6" Type="http://schemas.openxmlformats.org/officeDocument/2006/relationships/hyperlink" Target="https://news.un.org/es/story/2026/08/1541792" TargetMode="External"/><Relationship Id="rId7" Type="http://schemas.openxmlformats.org/officeDocument/2006/relationships/hyperlink" Target="https://www.colombiatebusca.com/" TargetMode="External"/><Relationship Id="rId8" Type="http://schemas.openxmlformats.org/officeDocument/2006/relationships/hyperlink" Target="https://www.asocapitales.co/terremoto-colombia.html" TargetMode="External"/><Relationship Id="rId9" Type="http://schemas.openxmlformats.org/officeDocument/2006/relationships/hyperlink" Target="https://www.infobae.com/colombia/2026/08/12/de-la-espriella-anuncio-alivios-y-subsidios-tras-emergencia-en-el-eje-cafetero-por-el-terremoto-detallo-plan-de-choque-para-educacion-y-vivienda/" TargetMode="External"/><Relationship Id="rId10" Type="http://schemas.openxmlformats.org/officeDocument/2006/relationships/hyperlink" Target="https://www.pulzo.com/nacion/terremoto-en-colombia-ungrd-reporta-danos-y-victimas-en-valle-del-cauca-y-risaralda-PP5272829A" TargetMode="External"/><Relationship Id="rId11"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2" Type="http://schemas.openxmlformats.org/officeDocument/2006/relationships/hyperlink" Target="https://www.asocapitales.co/actualidad/noticias/ciudades-seguras/terremoto-deja-188-fallecidos-y-1677-heridos-en-ciudades" TargetMode="External"/><Relationship Id="rId13" Type="http://schemas.openxmlformats.org/officeDocument/2006/relationships/hyperlink" Target="https://www.infolibre.es/internacional/terremoto-colombia-deja-254-muertos-continua-busqueda-escombros_1_2235003.html" TargetMode="External"/><Relationship Id="rId1" Type="http://schemas.openxmlformats.org/officeDocument/2006/relationships/image" Target="../media/image-33-1.png"/><Relationship Id="rId14" Type="http://schemas.openxmlformats.org/officeDocument/2006/relationships/slideLayout" Target="../slideLayouts/slideLayout1.xml"/><Relationship Id="rId1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elcolombiano.com/colombia/cifra-muertos-heridos-desaparecidos-por-terremoto-colombia-MK39884181" TargetMode="External"/><Relationship Id="rId3" Type="http://schemas.openxmlformats.org/officeDocument/2006/relationships/hyperlink" Target="https://www.eltiempo.com/colombia/otras-ciudades/balance-oficial-de-la-ungrd-tras-terremoto-de-magnitud-7-4-en-colombia-273-fallecidos-3-824-heridos-y-377-desaparecidos-3578196" TargetMode="External"/><Relationship Id="rId4" Type="http://schemas.openxmlformats.org/officeDocument/2006/relationships/hyperlink" Target="https://www.eltiempo.com/vida/40-753-familias-afectadas-y-273-muertos-ungrd-entrega-nuevo-balance-del-terremoto-en-colombia-3578185" TargetMode="External"/><Relationship Id="rId5" Type="http://schemas.openxmlformats.org/officeDocument/2006/relationships/hyperlink" Target="https://www.eltiempo.com/colombia/otras-ciudades/nuevo-temblor-de-magnitud-4-2-se-registro-en-san-jose-del-palmar-choco-en-la-manana-de-este-jueves-13-de-agosto-3578131" TargetMode="External"/><Relationship Id="rId6" Type="http://schemas.openxmlformats.org/officeDocument/2006/relationships/hyperlink" Target="https://www.infobae.com/colombia/2026/08/13/colombia-recibira-equipos-de-rescate-de-ee-uu-israel-ecuador-y-el-salvador-por-terremoto/" TargetMode="External"/><Relationship Id="rId7" Type="http://schemas.openxmlformats.org/officeDocument/2006/relationships/hyperlink" Target="https://www.eltiempo.com/colombia/otras-ciudades/balance-oficial-de-la-ungrd-tras-terremoto-de-magnitud-7-4-en-colombia-287-fallecidos-3-975-heridos-y-378-desaparecidos-3578445" TargetMode="External"/><Relationship Id="rId8" Type="http://schemas.openxmlformats.org/officeDocument/2006/relationships/hyperlink" Target="https://www.infobae.com/colombia/2026/08/14/temblor-de-74-en-colombia-el-10-de-agosto-se-actualizo-el-numero-de-fallecidos-en-todo-el-pais/" TargetMode="External"/><Relationship Id="rId9" Type="http://schemas.openxmlformats.org/officeDocument/2006/relationships/hyperlink" Target="https://www.infobae.com/colombia/2026/08/14/aumenta-la-ayuda-internacional-a-colombia-tras-el-terremoto-de-74-india-envia-20-toneladas-y-noruega-suecia-y-espana-anuncian-nuevos-recursos/" TargetMode="External"/><Relationship Id="rId10" Type="http://schemas.openxmlformats.org/officeDocument/2006/relationships/hyperlink" Target="https://www.elheraldo.co/colombia/2026/08/14/italia-india-espana-chile-y-banco-mundial-entre-los-paises-y-organismos-que-han-enviado-ayudas-a-colombia-por-el-terremoto/" TargetMode="External"/><Relationship Id="rId11" Type="http://schemas.openxmlformats.org/officeDocument/2006/relationships/hyperlink" Target="https://www.jrc.or.jp/international/news/2026/0812_054987.html" TargetMode="External"/><Relationship Id="rId1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1" Type="http://schemas.openxmlformats.org/officeDocument/2006/relationships/image" Target="../media/image-34-1.png"/><Relationship Id="rId13" Type="http://schemas.openxmlformats.org/officeDocument/2006/relationships/slideLayout" Target="../slideLayouts/slideLayout1.xml"/><Relationship Id="rId1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del balance de la UNGRD del 14-15 de agosto de 2026 (COT), unos cinco días después del sismo: 288 muertos, 4.018 heridos, 202 desaparecidos, 354 rescatados con vida, 45.523 familias (102.263 personas) afectadas en 15 departamentos y 426 municipios, 12.828 viviendas destruidas y 73.455 averiadas, 121 edificios colapsados. Varios conteos se han revisado a la baja a medida que la evaluación de daños depura registros duplicados.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Desde el Palacio de San Carlos el Presidente anuncia el balance actualizado de la UNGRD: 265 muertos, 3.494 heridos, 496 desaparecidos, 25.872 familias (53.816 personas) afectadas, 11.347 viviendas destruidas y 53.526 averiadas, 1.819 centros educativos y 631 equipamientos comunitarios afectados. También anuncia la declaratoria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réplica de M4,2 sacude San José del Palmar a 95 km de profundidad, a unos 20 km del epicentro del sismo principal. Se siente en Pereira, Manizales, Medellín y Bogotá; las labores de búsqueda y rescate se detienen temporalmente. Es la segunda réplica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director de la UNGRD entrega un nuevo balance: 273 muertos, 3.824 heridos, 377 desaparecidos, 40.753 familias (97.515 personas) afectadas, 12.584 viviendas destruidas y 74.873 averiadas, 172 edificios colapsados, 2.198 sedes educativas y 825 comunitarias, 216 sedes de salud, 71 acueductos, 29 entidades bancarias y cinco aeropuertos. Medicina Legal ha recibido 250 cuerpos, 227 reconocidos.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Corte de las 09:00 de la UNGRD: 287 fallecidos, 3.975 heridos, 378 desaparecidos, 354 rescatados con vida; 56.448 familias (135.179 personas) afectadas en 15 departamentos y 437 municipios; 13.077 viviendas destruidas y 79.108 averiadas; 121 edificios colapsados. Continúa la búsqueda en espacios confinados con los equipos internacionales certificados.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envía 20 toneladas de insumos humanitarios; Noruega destina 10 millones de coronas y Suecia 5 millones de coronas suecas a través del ACNUR; España, Italia, Chile, México, Turquía, Brasil y el Banco Mundial también envían o anuncian apoyo. El ministro del Interior señala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donantes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actualizado: 288 fallecidos, 4.018 heridos, 202 desaparecidos, 354 rescatados con vida; 45.523 familias (102.263 personas) afectadas en 15 departamentos y 426 municipios; 12.828 viviendas destruidas y 73.455 averiadas; 121 edificios colapsados; 240 sedes de salud, 2.205 educativas y 1.208 comunitarias; 210 vías, 73 acueductos, 44 puentes vehiculares, 13 peatonales y cinco aeropuertos. Las bajas frente al corte de las 09:00 corresponden a la consolidación de registros duplicados de la evaluación.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95 km, a unos 20 km del epicentro: el mismo volumen sismogénico del sismo principal. Se sintió hasta en Bogotá y detuvo temporalmente las labores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Catálogo del SGC, 34 horas después del sismo principal: 60 por debajo de M2,0, 76 entre M2,0 y 2,9, 10 entre M3,0 y 3,9, uno entre M4,0 y 4,9</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El SGC localizó 147 eventos en las 34 horas posteriores al sismo principal. En esa ventana solo uno superó M4,0 -el M4,8 de 44 minutos después- y el 92 % estuvo por debajo de M3,0; el M4,2 del 13 de agosto es el segundo. Ninguna réplica se ha acercado al tamaño del sismo principal. Noventa y seis de los 147 se ubican a 60 km de profundidad o más y a menos de 80 km del epicentro: ese subconjunto es la secuencia intraplaca, y su curva acumulada sigue los totales publicados por el SGC. El resto es sismicidad de fondo del mismo catálogo, y por eso un conteo bruto va por delante de la cifra oficial. Una secuencia moderada y de decaimiento rápido es lo esperable en una ruptura de profundidad intermedia, pero el evento del 13 de agosto muestra que sigue habiendo sacudidas capaces de detener el rescate.</a:t>
            </a:r>
            <a:endParaRPr lang="en-US" sz="8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288</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4.018</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202</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de la UNGRD del 14-15 de agosto. 45.523 familias (102.263 personas) afectadas en 15 departamentos y 426 municipios; 12.828 viviendas destruidas y 73.455 averiadas; 354 personas rescatadas con vida. Los desaparecidos bajaron de 378 a 202 en una segunda depuración del registro de la Fiscalía; las familias afectadas, las viviendas y los edificios colapsados también se revisaron a la baja al consolidarse registros duplicados de la evaluación.</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 cifra nacional llegó a 288 el 14-15 de agosto, según el balance de la UNGRD; pasó por 287 en el corte de las 09:00 del 14 de agosto, 285 a las 06:30 de esa mañana, 281 al final del 13 y 273 esa mañana. Medicina Legal había recibido 250 cuerpos, con 227 reconocidos, en la lectura del 13 de agosto. Cite 288 como la cifra oficial nacional. El gráfico corresponde al desglose presidencial del 11 de agosto (181) y muestra la forma de la distribución -muertes concentradas en Risaralda (Pereira) y Valle del Cauca (Cali)-, no un conteo actual.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202</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202 y 3.653 no miden lo mismo y ninguna de las dos cifras es errónea. 202 es el registro oficial que maneja la Fiscalía General de la Nación, según lo informado por la UNGRD el 14-15 de agosto; ya ha bajado dos veces -de 496 a 377 el 13 de agosto y de 378 a 202 el 14-15- y ambas bajas corresponden a la depuración de reportes frente al registro, no a personas encontradas. La búsqueda y rescate ha recuperado con vida a 354 personas. 3.653 es el número de personas inscritas por sus familias en la plataforma ciudadana “Colombia te busca” y aún no localizadas: una iniciativa comunitaria, no un registro estatal, que no reemplaza el reporte a la policía o a la Fiscalía y que contendrá duplicados y personas simplemente incomunicadas donde no hay energía ni servicio telefónico. Ambas cifras se moverán a saltos, no de forma continua. Cite 202 como el número de desaparecidos; cite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288 (UNGRD, 14-15 de agosto), tras 287 en el corte de las 09:00 del 14 de agosto, 285 a las 06:30 de esa mañana, 281 al final del 13 y 273 esa mañana.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4.018 (UNGRD, 14-15 de agosto), tras 3.975 en el corte de las 09:00 del 14 de agosto y 3.824 el 13</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202 (UNGRD, 14-15 de agosto), frente a 378 en el corte de las 09:00 del 14 de agosto y 377 el 13. Es la segunda baja consecutiva y, como la primera, corresponde a la depuración del registro de la Fiscalía -reportes resueltos o duplicados-, no a personas localizadas entre los escombros. 354 personas han sido rescatadas con vida.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354 (UNGRD, 14 de agosto), frente a 243 el 11 de agosto. Incluyen a una mujer rescatada en Cali casi 30 horas después del sismo, a otra liberada en Pereira tras 36 horas y a un bebé sacado de un bloque de apartamentos.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426 municipios en 15 departamentos (UNGRD, 14-15 de agosto); el corte de las 09:00 del 14 de agosto daba 437, y el 12 de agosto eran 403 en 14 departamentos.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45.523 familias -102.263 personas- afectadas (UNGRD, 14-15 de agosto). El corte de las 09:00 del 14 de agosto daba 56.448 familias y 135.179 personas; la cifra menor refleja la depuración de registros, no que esas personas hayan dejado de estar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86.283: 12.828 destruidas y 73.455 averiadas (UNGRD, 14-15 de agosto). El corte de las 09:00 del 14 de agosto daba 13.077 destruidas y 79.108 averiadas, y el 13 de agosto el total era 87.457.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73.455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12.828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121 en el país (UNGRD, 14-15 de agosto), revisado a la baja desde 172 el 13 de agosto. Asocapitales cuenta 243 estructuras colapsadas en las ciudades capitales; funcionarios de la Alcaldía de Cali reportan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240 con daños (UNGRD, 14-15 de agosto), frente a 216 el 13 y 18 el 10 de agosto; 7 instituciones de salud cerradas; cerca del 30 % del Hospital Universitario del Valle en Cali colapsó, incluidos tres pisos (pediatría, medicina interna y parte de la unidad neonatal). El ministro del Interior señaló el 14 de agosto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 Ministerio del Interior;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2.205 afectados (UNGRD, 14-15 de agosto), frente a 2.198 el 13 y 52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1.208 con daños (UNGRD, 14-15 de agosto), frente a 825 el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210 vías afectadas (UNGRD, 14-15 de agosto), frente a 77 el 11 y 18 el 10 de agosto; también 44 puentes vehiculares y 13 peatonales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aeropuertos con daños en el balance de la UNGRD del 13 de agosto; las operaciones se habían suspendido en siete. La terminal de pasajeros del aeropuerto internacional Matecaña (Pereira) colapsó parcialmente; vuelos suspendidos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73 acueductos afectados (UNGRD, 14-15 de agosto) y 29 entidades bancarias fuera de servicio; se reportan cortes de energía e interrupción de las comunicaciones en zonas cercanas al 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70" dirty="0"/>
          </a:p>
          <a:p>
            <a:pPr algn="l" marL="342900" indent="-342900">
              <a:buSzPct val="100000"/>
              <a:buChar char="•"/>
            </a:pPr>
            <a:r>
              <a:rPr lang="en-US" sz="77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La tarde del 12 de agosto el Presidente anunció la declaratoria de emergencia económica, mecanismo constitucional destinado a acelerar la respuesta.</a:t>
            </a:r>
            <a:endParaRPr lang="en-US" sz="77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recibe equipos USAR clasificados por INSARAG de solo cuatro países -Estados Unidos, Israel, Ecuador y El Salvador-, con el argumento de que están certificados internacionalmente, actúan con los estándares de INSARAG bajo coordinación de la ONU y son totalmente autónomos, por lo que no demandan recursos adicionales a las administraciones municipales. Su función es apoyar a los equipos USAR colombianos ya desplegados. El Gobierno negó que otros ofrecimientos se hayan rechazado por consideraciones ideológicas; aun así, la selección ha sido cuestionada en la prensa colombiana.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14 de agosto la ayuda se amplió más allá de los cuatro países que envían rescatistas. India despachó 20 toneladas de insumos humanitarios (medicamentos y equipos médicos, alojamiento temporal y artículos de higiene). Noruega destinó 10 millones de coronas (cerca de 1 millón de dólares) para atención de salud de emergencia, suministro de agua, prevención de enfermedades y vivienda temporal, y Suecia 5 millones de coronas suecas (unos 522.000 dólares) canalizados a través del ACNUR. España, Italia, Chile, México, Turquía, Brasil y el Banco Mundial también han enviado o anunciado apoyo; el Gobierno colombiano señala que ha recibido ofrecimientos por cerca de 1.300 millones de dólares en total, y menciona al Japón entre los países que han anunciado asistencia.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Gobierno colombiano menciona al Japón entre los países que han anunciado asistencia, pero al corte de este informe ni el Ministerio de Asuntos Exteriores ni la JICA han publicado el envío de un equipo de socorro (JDR), la entrega de insumos de emergencia ni una donación de emergencia. Del lado japonés lo confirmado es no gubernamental: la Cruz Roja Japonesa apoya la respuesta de la Cruz Roja Colombiana y la Nippon Foundation abrió una colecta para el terremoto de Colombia del 12 de agosto al 30 de septiembre.</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990" dirty="0"/>
          </a:p>
          <a:p>
            <a:pPr algn="l" marL="342900" indent="-342900">
              <a:buSzPct val="100000"/>
              <a:buChar char="•"/>
            </a:pPr>
            <a:r>
              <a:rPr lang="en-US" sz="99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99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Una aceptación filtrada y luego un flujo más amplio
</a:t>
            </a:r>
            <a:pPr algn="l" indent="0" marL="0">
              <a:buNone/>
            </a:pPr>
            <a:r>
              <a:rPr lang="en-US" sz="950" dirty="0">
                <a:solidFill>
                  <a:srgbClr val="7A2E0E"/>
                </a:solidFill>
                <a:latin typeface="Calibri" pitchFamily="34" charset="0"/>
                <a:ea typeface="Calibri" pitchFamily="34" charset="-122"/>
                <a:cs typeface="Calibri" pitchFamily="34" charset="-120"/>
              </a:rPr>
              <a:t>Conviven dos patrones. La búsqueda y rescate se abrió solo a cuatro países -Estados Unidos, Israel, Ecuador y El Salvador- con criterios declarados de clasificación INSARAG, autosuficiencia y rapidez, aunque los ofrecimientos llegaron de al menos diecisiete y varios de los demás tienen la misma clasificación; el Gobierno ha negado que la ideología haya influido y el debate sigue en la prensa colombiana. Los insumos y el dinero, en cambio, se reciben ampliamente: India, Noruega, Suecia, España, Italia, Chile, México, Turquía, Brasil, el Banco Mundial y los aportes previos de Estados Unidos, la UE y la CAF, frente a un total declarado de unos 1.300 millones de dólares en ofrecimientos. La distinción es defendible -los equipos de rescate operan dentro de una estructura de mando nacional y los insumos no- y es la lección que conviene retener: bajo la Ley 1523 la respuesta la dirige Colombia, y un país que restringe tanto el campo operativo debe estar en condiciones de explicar por escrito el criterio aplicado.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(6/6)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muertos, 3.494 heridos, 496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13 de agosto: 273 fallecidos, 3.824 heridos, 377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familias afectadas: nuevo balance de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réplica de M4,2 en San José del Palmar,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recibirá equipos de rescate de EE. UU., Israel, Ecuador y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14 de agosto: 287 fallecidos, 3.975 heridos, 378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en vivo: los muertos aumentan a 288, más de 4.000 heridos y 202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aumenta la ayuda internacional: India, Noruega, Suecia y España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Italia, India, España, Chile y el Banco Mundial, entre quienes han enviado ayudas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Cruz Roja Japonesa — respuesta de la Cruz Roja Colombiana al sismo 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por qué Colombia no necesitó rescatistas extranjeros: 23 equipos 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del balance de la UNGRD del 14-15 de agosto de 2026 (COT), unos cinco días después del sismo: 288 muertos, 4.018 heridos, 202 desaparecidos, 354 rescatados con vida, 45.523 familias (102.263 personas) afectadas en 15 departamentos y 426 municipios, 12.828 viviendas destruidas y 73.455 averiadas, 121 edificios colapsados. Varios conteos se han revisado a la baja a medida que la evaluación de daños depura registros duplicados.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15/08/2026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2026-08-15T00:34:42Z</dcterms:created>
  <dcterms:modified xsi:type="dcterms:W3CDTF">2026-08-15T00:34:42Z</dcterms:modified>
</cp:coreProperties>
</file>