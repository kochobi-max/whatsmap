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Población expuesta por nivel de sacudimiento (millones, PAGER del USGS)</a:t>
            </a:r>
          </a:p>
        </c:rich>
      </c:tx>
      <c:layout/>
      <c:overlay val="0"/>
    </c:title>
    <c:autoTitleDeleted val="0"/>
    <c:plotArea>
      <c:layout/>
      <c:barChart>
        <c:barDir val="col"/>
        <c:grouping val="clustered"/>
        <c:varyColors val="0"/>
        <c:ser>
          <c:idx val="0"/>
          <c:order val="0"/>
          <c:tx>
            <c:strRef>
              <c:f>Sheet1!$B$1</c:f>
              <c:strCache>
                <c:ptCount val="1"/>
                <c:pt idx="0">
                  <c:v>Personas expuestas</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MMI VII</c:v>
                  </c:pt>
                  <c:pt idx="1">
                    <c:v>MMI VI</c:v>
                  </c:pt>
                  <c:pt idx="2">
                    <c:v>MMI V</c:v>
                  </c:pt>
                  <c:pt idx="3">
                    <c:v>MMI IV</c:v>
                  </c:pt>
                </c:lvl>
              </c:multiLvlStrCache>
            </c:multiLvlStrRef>
          </c:cat>
          <c:val>
            <c:numRef>
              <c:f>Sheet1!$B$2:$B$5</c:f>
              <c:numCache>
                <c:formatCode>General</c:formatCode>
                <c:ptCount val="4"/>
                <c:pt idx="0">
                  <c:v>1.6</c:v>
                </c:pt>
                <c:pt idx="1">
                  <c:v>8.9</c:v>
                </c:pt>
                <c:pt idx="2">
                  <c:v>17.1</c:v>
                </c:pt>
                <c:pt idx="3">
                  <c:v>6.5</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Muertos reportados por departamento (provisional)</a:t>
            </a:r>
          </a:p>
        </c:rich>
      </c:tx>
      <c:layout/>
      <c:overlay val="0"/>
    </c:title>
    <c:autoTitleDeleted val="0"/>
    <c:plotArea>
      <c:layout/>
      <c:barChart>
        <c:barDir val="bar"/>
        <c:grouping val="clustered"/>
        <c:varyColors val="0"/>
        <c:ser>
          <c:idx val="0"/>
          <c:order val="0"/>
          <c:tx>
            <c:strRef>
              <c:f>Sheet1!$B$1</c:f>
              <c:strCache>
                <c:ptCount val="1"/>
                <c:pt idx="0">
                  <c:v>Muertos</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Risaralda (Pereira)</c:v>
                  </c:pt>
                  <c:pt idx="1">
                    <c:v>Valle del Cauca (Cali)</c:v>
                  </c:pt>
                  <c:pt idx="2">
                    <c:v>Chocó</c:v>
                  </c:pt>
                  <c:pt idx="3">
                    <c:v>Caldas (Manizales)</c:v>
                  </c:pt>
                  <c:pt idx="4">
                    <c:v>Antioquia</c:v>
                  </c:pt>
                </c:lvl>
              </c:multiLvlStrCache>
            </c:multiLvlStrRef>
          </c:cat>
          <c:val>
            <c:numRef>
              <c:f>Sheet1!$B$2:$B$6</c:f>
              <c:numCache>
                <c:formatCode>General</c:formatCode>
                <c:ptCount val="5"/>
                <c:pt idx="0">
                  <c:v>40</c:v>
                </c:pt>
                <c:pt idx="1">
                  <c:v>27</c:v>
                </c:pt>
                <c:pt idx="2">
                  <c:v>13</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detallesismo/SGC2026pqqmro/" TargetMode="External"/><Relationship Id="rId7" Type="http://schemas.openxmlformats.org/officeDocument/2006/relationships/hyperlink" Target="https://portal.gestiondelriesgo.gov.co/" TargetMode="External"/><Relationship Id="rId8" Type="http://schemas.openxmlformats.org/officeDocument/2006/relationships/hyperlink" Target="https://www.google.com/maps/"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9" Type="http://schemas.openxmlformats.org/officeDocument/2006/relationships/slideLayout" Target="../slideLayouts/slideLayout1.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earthquake.usgs.gov/earthquakes/eventpage/us6000tjl2/pager"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gdacs.org/report.aspx?eventid=1557236&amp;eventtype=EQ" TargetMode="External"/><Relationship Id="rId1" Type="http://schemas.openxmlformats.org/officeDocument/2006/relationships/image" Target="../media/image-9-1.png"/><Relationship Id="rId2" Type="http://schemas.openxmlformats.org/officeDocument/2006/relationships/image" Target="../media/image-9-2.jp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10-1.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1-1.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5" Type="http://schemas.openxmlformats.org/officeDocument/2006/relationships/hyperlink" Target="https://www.cali.gov.co/gestiondelriesgo/" TargetMode="External"/><Relationship Id="rId6" Type="http://schemas.openxmlformats.org/officeDocument/2006/relationships/hyperlink" Target="https://portal.gestiondelriesgo.gov.co/"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4-1.png"/><Relationship Id="rId2" Type="http://schemas.openxmlformats.org/officeDocument/2006/relationships/image" Target="../media/image-14-2.jpg"/><Relationship Id="rId4" Type="http://schemas.openxmlformats.org/officeDocument/2006/relationships/image" Target="../media/image-14-3.jp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6-1.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7-1.png"/><Relationship Id="rId2" Type="http://schemas.openxmlformats.org/officeDocument/2006/relationships/image" Target="../media/image-17-2.jp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portal.gestiondelriesgo.gov.co/Paginas/Plan-Nacional-de-Gestion-del-Riesgo.aspx" TargetMode="External"/><Relationship Id="rId4" Type="http://schemas.openxmlformats.org/officeDocument/2006/relationships/hyperlink" Target="https://www.funcionpublica.gov.co/eva/gestornormativo/norma.php?i=191411" TargetMode="External"/><Relationship Id="rId5" Type="http://schemas.openxmlformats.org/officeDocument/2006/relationships/hyperlink" Target="https://satic.cali.gov.co/satic" TargetMode="External"/><Relationship Id="rId1" Type="http://schemas.openxmlformats.org/officeDocument/2006/relationships/image" Target="../media/image-18-1.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9-1.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www.globalquakemodel.org/proj/treq" TargetMode="External"/><Relationship Id="rId3" Type="http://schemas.openxmlformats.org/officeDocument/2006/relationships/hyperlink" Target="https://cloud-storage.globalquakemodel.org/public/wix-new-website/pdf-collections-wix/publications/TREQ%20deliverables/reports/TREQ_D262_Riesgo_Sismico_Cali_v1.00.pdf" TargetMode="External"/><Relationship Id="rId4" Type="http://schemas.openxmlformats.org/officeDocument/2006/relationships/hyperlink" Target="https://www.cali.gov.co/gestiondelriesgo/"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3" Type="http://schemas.openxmlformats.org/officeDocument/2006/relationships/hyperlink" Target="https://github.com/gem/treq-riesgo-urbano" TargetMode="External"/><Relationship Id="rId4" Type="http://schemas.openxmlformats.org/officeDocument/2006/relationships/hyperlink" Target="https://cloud-storage.globalquakemodel.org/public/wix-new-website/pdf-collections-wix/publications/TREQ%20deliverables/reports/TREQ_D262_Riesgo_Sismico_Cali_v1.00.pdf" TargetMode="External"/><Relationship Id="rId5" Type="http://schemas.openxmlformats.org/officeDocument/2006/relationships/hyperlink" Target="https://www.globalquakemodel.org/proj/treq" TargetMode="External"/><Relationship Id="rId1" Type="http://schemas.openxmlformats.org/officeDocument/2006/relationships/image" Target="../media/image-21-1.png"/><Relationship Id="rId2" Type="http://schemas.openxmlformats.org/officeDocument/2006/relationships/image" Target="../media/image-21-2.jp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3" Type="http://schemas.openxmlformats.org/officeDocument/2006/relationships/hyperlink" Target="https://amenazasismica.sgc.gov.co/" TargetMode="External"/><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 TargetMode="External"/><Relationship Id="rId6" Type="http://schemas.openxmlformats.org/officeDocument/2006/relationships/hyperlink" Target="https://www.globalquakemodel.org/proj/treq" TargetMode="External"/><Relationship Id="rId1" Type="http://schemas.openxmlformats.org/officeDocument/2006/relationships/image" Target="../media/image-22-1.png"/><Relationship Id="rId2" Type="http://schemas.openxmlformats.org/officeDocument/2006/relationships/image" Target="../media/image-22-2.jp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3-1.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www.cnn.com/2026/08/10/world/live-news/colombia-earthquake-san-jose-del-palmar" TargetMode="External"/><Relationship Id="rId15" Type="http://schemas.openxmlformats.org/officeDocument/2006/relationships/hyperlink" Target="https://www.elcolombiano.com/colombia/terremoto-temblor-hoy-colombia-choco-heridos-FL39761141" TargetMode="External"/><Relationship Id="rId16" Type="http://schemas.openxmlformats.org/officeDocument/2006/relationships/hyperlink" Target="https://un-spider.org/national-unit-disaster-risk-management-ungrd-colombia" TargetMode="External"/><Relationship Id="rId1" Type="http://schemas.openxmlformats.org/officeDocument/2006/relationships/image" Target="../media/image-24-1.png"/><Relationship Id="rId17" Type="http://schemas.openxmlformats.org/officeDocument/2006/relationships/slideLayout" Target="../slideLayouts/slideLayout1.xml"/><Relationship Id="rId1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www.oecd.org/en/publications/risk-governance-scan-of-colombia_eeb81954-en.html" TargetMode="External"/><Relationship Id="rId3" Type="http://schemas.openxmlformats.org/officeDocument/2006/relationships/hyperlink" Target="https://www.cnn.com/2026/08/10/world/live-news/colombia-earthquake-san-jose-del-palmar" TargetMode="External"/><Relationship Id="rId4" Type="http://schemas.openxmlformats.org/officeDocument/2006/relationships/hyperlink" Target="https://www.france24.com/en/americas/20260810-powerful-quake-rocks-colombia-causing-major-damage" TargetMode="External"/><Relationship Id="rId5" Type="http://schemas.openxmlformats.org/officeDocument/2006/relationships/hyperlink" Target="https://www.aljazeera.com/news/2026/8/10/7-4-magnitude-earthquake-hits-colombia-killing-at-least-20" TargetMode="External"/><Relationship Id="rId6" Type="http://schemas.openxmlformats.org/officeDocument/2006/relationships/hyperlink" Target="https://www.cbsnews.com/news/colombia-earthquake-western-region-evacuations/" TargetMode="External"/><Relationship Id="rId7" Type="http://schemas.openxmlformats.org/officeDocument/2006/relationships/hyperlink" Target="https://www.nbcnews.com/world/latin-america/strong-earthquake-colombia-ecuador-people-evacuating-homes-buildings-rcna591709" TargetMode="External"/><Relationship Id="rId8" Type="http://schemas.openxmlformats.org/officeDocument/2006/relationships/hyperlink" Target="https://colombiaone.com/2026/08/10/earthquake-colombia-official-details/" TargetMode="External"/><Relationship Id="rId9" Type="http://schemas.openxmlformats.org/officeDocument/2006/relationships/hyperlink" Target="https://colombiaone.com/2026/08/10/colombia-national-disaster/" TargetMode="External"/><Relationship Id="rId10" Type="http://schemas.openxmlformats.org/officeDocument/2006/relationships/hyperlink" Target="https://www.infobae.com/colombia/2026/08/10/por-que-el-temblor-en-colombia-de-este-lunes-10-de-agosto-duro-una-eternidad-el-servicio-geologico-explico-que-paso/" TargetMode="External"/><Relationship Id="rId11" Type="http://schemas.openxmlformats.org/officeDocument/2006/relationships/hyperlink" Target="https://www3.nhk.or.jp/news/" TargetMode="External"/><Relationship Id="rId12" Type="http://schemas.openxmlformats.org/officeDocument/2006/relationships/hyperlink" Target="https://www.nikkei.com/article/DGXZQOGN108V30Q6A810C2000000/" TargetMode="External"/><Relationship Id="rId13" Type="http://schemas.openxmlformats.org/officeDocument/2006/relationships/hyperlink" Target="https://www.jiji.com/jc/article?k=2026081000878&amp;g=int" TargetMode="External"/><Relationship Id="rId14" Type="http://schemas.openxmlformats.org/officeDocument/2006/relationships/hyperlink" Target="https://www.savethechildren.org/us/about-us/media-and-news/2026-press-releases/children-at-risk-after-earthquake-strikes-colombia" TargetMode="External"/><Relationship Id="rId15" Type="http://schemas.openxmlformats.org/officeDocument/2006/relationships/hyperlink" Target="https://www.directrelief.org/2026/08/colombia-earthquake-7-4-magnitude-direct-relief-response/" TargetMode="External"/><Relationship Id="rId16" Type="http://schemas.openxmlformats.org/officeDocument/2006/relationships/hyperlink" Target="https://www.americares.org/crisis-alerts/colombia-earthquake-august-2026/" TargetMode="External"/><Relationship Id="rId1" Type="http://schemas.openxmlformats.org/officeDocument/2006/relationships/image" Target="../media/image-25-1.png"/><Relationship Id="rId17" Type="http://schemas.openxmlformats.org/officeDocument/2006/relationships/slideLayout" Target="../slideLayouts/slideLayout1.xml"/><Relationship Id="rId1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glidenumber.net/" TargetMode="External"/><Relationship Id="rId3" Type="http://schemas.openxmlformats.org/officeDocument/2006/relationships/hyperlink" Target="https://www.adrc.asia/" TargetMode="External"/><Relationship Id="rId4" Type="http://schemas.openxmlformats.org/officeDocument/2006/relationships/hyperlink" Target="https://www.democrata.es/en/international/von-der-leyen-expresses-the-eu-s-support-for-colombia-and-activates-copernicus-after-the-earthquake/" TargetMode="External"/><Relationship Id="rId5" Type="http://schemas.openxmlformats.org/officeDocument/2006/relationships/hyperlink" Target="https://www.globalquakemodel.org/proj/treq" TargetMode="External"/><Relationship Id="rId6" Type="http://schemas.openxmlformats.org/officeDocument/2006/relationships/hyperlink" Target="https://cloud-storage.globalquakemodel.org/public/wix-new-website/pdf-collections-wix/publications/TREQ%20deliverables/reports/TREQ_D262_Riesgo_Sismico_Cali_v1.00.pdf" TargetMode="External"/><Relationship Id="rId7" Type="http://schemas.openxmlformats.org/officeDocument/2006/relationships/hyperlink" Target="https://www.sciencedirect.com/science/article/abs/pii/S2212420925003097" TargetMode="External"/><Relationship Id="rId8" Type="http://schemas.openxmlformats.org/officeDocument/2006/relationships/hyperlink" Target="https://satic.cali.gov.co/satic" TargetMode="External"/><Relationship Id="rId9" Type="http://schemas.openxmlformats.org/officeDocument/2006/relationships/hyperlink" Target="https://www.cali.gov.co/gestiondelriesgo/" TargetMode="External"/><Relationship Id="rId10" Type="http://schemas.openxmlformats.org/officeDocument/2006/relationships/hyperlink" Target="https://portal.gestiondelriesgo.gov.co/Paginas/Plan-Nacional-de-Gestion-del-Riesgo.aspx" TargetMode="External"/><Relationship Id="rId11" Type="http://schemas.openxmlformats.org/officeDocument/2006/relationships/hyperlink" Target="https://www.funcionpublica.gov.co/eva/gestornormativo/norma.php?i=191411" TargetMode="External"/><Relationship Id="rId1" Type="http://schemas.openxmlformats.org/officeDocument/2006/relationships/image" Target="../media/image-26-1.png"/><Relationship Id="rId12" Type="http://schemas.openxmlformats.org/officeDocument/2006/relationships/slideLayout" Target="../slideLayouts/slideLayout1.xml"/><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7-1.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Calibri" pitchFamily="34" charset="0"/>
                <a:ea typeface="Calibri" pitchFamily="34" charset="-122"/>
                <a:cs typeface="Calibri" pitchFamily="34" charset="-120"/>
              </a:rPr>
              <a:t>Informe de desastre</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600" b="1" dirty="0">
                <a:solidFill>
                  <a:srgbClr val="111111"/>
                </a:solidFill>
                <a:latin typeface="Cambria" pitchFamily="34" charset="0"/>
                <a:ea typeface="Cambria" pitchFamily="34" charset="-122"/>
                <a:cs typeface="Cambria" pitchFamily="34" charset="-120"/>
              </a:rPr>
              <a:t>Terremoto del Chocó de 2026 (Colombia)</a:t>
            </a:r>
            <a:endParaRPr lang="en-US" sz="26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Calibri" pitchFamily="34" charset="0"/>
                <a:ea typeface="Calibri" pitchFamily="34" charset="-122"/>
                <a:cs typeface="Calibri" pitchFamily="34" charset="-120"/>
              </a:rPr>
              <a:t>M7.4, San José del Palmar, departamento del Chocó — 10 de agosto de 2026</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Calibri" pitchFamily="34" charset="0"/>
                <a:ea typeface="Calibri" pitchFamily="34" charset="-122"/>
                <a:cs typeface="Calibri" pitchFamily="34" charset="-120"/>
              </a:rPr>
              <a:t>Mww 7.4   ·   profundidad 110 km   ·   MMI VII (muy fuerte) — ShakeMap del USGS; el mapa de intensidades macrosísmicas del SGC coincide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(1) Mundo / Colombia</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manual.jpg">    </p:cNvPr>
          <p:cNvPicPr>
            <a:picLocks noChangeAspect="1"/>
          </p:cNvPicPr>
          <p:nvPr/>
        </p:nvPicPr>
        <p:blipFill>
          <a:blip r:embed="rId2"/>
          <a:stretch>
            <a:fillRect/>
          </a:stretch>
        </p:blipFill>
        <p:spPr>
          <a:xfrm>
            <a:off x="723410" y="1975104"/>
            <a:ext cx="2997165" cy="2414016"/>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(2) Noroeste de Suramérica</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manual.jpg">    </p:cNvPr>
          <p:cNvPicPr>
            <a:picLocks noChangeAspect="1"/>
          </p:cNvPicPr>
          <p:nvPr/>
        </p:nvPicPr>
        <p:blipFill>
          <a:blip r:embed="rId3"/>
          <a:stretch>
            <a:fillRect/>
          </a:stretch>
        </p:blipFill>
        <p:spPr>
          <a:xfrm>
            <a:off x="5119058" y="1975104"/>
            <a:ext cx="2142859"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Calibri" pitchFamily="34" charset="0"/>
                <a:ea typeface="Calibri" pitchFamily="34" charset="-122"/>
                <a:cs typeface="Calibri" pitchFamily="34" charset="-120"/>
              </a:rPr>
              <a:t>(3) Epicentro y ciudades afectadas</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manual.jpg">    </p:cNvPr>
          <p:cNvPicPr>
            <a:picLocks noChangeAspect="1"/>
          </p:cNvPicPr>
          <p:nvPr/>
        </p:nvPicPr>
        <p:blipFill>
          <a:blip r:embed="rId4"/>
          <a:stretch>
            <a:fillRect/>
          </a:stretch>
        </p:blipFill>
        <p:spPr>
          <a:xfrm>
            <a:off x="8339328" y="2121025"/>
            <a:ext cx="3639312" cy="2122174"/>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Calibri" pitchFamily="34" charset="0"/>
                <a:ea typeface="Calibri" pitchFamily="34" charset="-122"/>
                <a:cs typeface="Calibri" pitchFamily="34" charset="-120"/>
              </a:rPr>
              <a:t>Mapas de localización © Google (Google Maps). Las distancias mostradas en páginas posteriores se calculan a partir de las coordenadas publicadas por el USGS.</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Calibri" pitchFamily="34" charset="0"/>
                <a:ea typeface="Calibri" pitchFamily="34" charset="-122"/>
                <a:cs typeface="Calibri" pitchFamily="34" charset="-120"/>
              </a:rPr>
              <a:t>Resumen   </a:t>
            </a:r>
            <a:pPr algn="l" indent="0" marL="0">
              <a:buNone/>
            </a:pPr>
            <a:r>
              <a:rPr lang="en-US" sz="870" dirty="0">
                <a:solidFill>
                  <a:srgbClr val="FFFFFF"/>
                </a:solidFill>
                <a:latin typeface="Calibri" pitchFamily="34" charset="0"/>
                <a:ea typeface="Calibri" pitchFamily="34" charset="-122"/>
                <a:cs typeface="Calibri" pitchFamily="34" charset="-120"/>
              </a:rPr>
              <a:t>A las 07:34 hora local (12:34 UTC) del 10 de agosto de 2026, un sismo de Mww 7.4 sacudió el occidente de Colombia con epicentro 5 km al este de San José del Palmar (Chocó), a unos 110 km de profundidad (USGS). Fue una ruptura de rumbo a profundidad intermedia dentro de la placa de Nazca en subducción; por esa profundidad, el sacudimiento fuerte (MMI VI-VII) se repartió sobre una amplia zona del Eje Cafetero andino en lugar de concentrarse cerca del epicentro, y unos 10,5 millones de personas quedaron expuestas a él. El SGC lo describe como el sismo de mayor magnitud registrado en Colombia en la última década. En su balance de las 13:00 COT del 10 de agosto el Gobierno reportó 111 muertos y 87 heridos —cifra que la prensa elevó a 132 al caer la tarde—, más de 1.600 edificaciones afectadas (1.575 viviendas averiadas, 37 destruidas y 61 edificios colapsados), y daños en 18 centros de salud, 52 establecimientos educativos, 18 vías principales y seis aeropuertos regionales. Colapsaron parcialmente la terminal de pasajeros del Aeropuerto Internacional Matecaña (Pereira), una torre de la catedral neogótica de Manizales sobre la nave y cerca del 30 % del Hospital Universitario del Valle, en Cali. El Presidente declaró el desastre nacional, instaló un Puesto de Mando Unificado en el Chocó y desplegó cuatro grupos USAR y las Fuerzas Militares. No hubo tsunami. Todas las cifras son preliminares y variarán conforme avance la evaluación.</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Google Maps</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Marco sismotectónico: un sismo intraplaca dentro de la losa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es.png">    </p:cNvPr>
          <p:cNvPicPr>
            <a:picLocks noChangeAspect="1"/>
          </p:cNvPicPr>
          <p:nvPr/>
        </p:nvPicPr>
        <p:blipFill>
          <a:blip r:embed="rId2"/>
          <a:stretch>
            <a:fillRect/>
          </a:stretch>
        </p:blipFill>
        <p:spPr>
          <a:xfrm>
            <a:off x="365760" y="1104265"/>
            <a:ext cx="6858000" cy="2820669"/>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Corte esquemático (ADRC)</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Colombia se encuentra en la confluencia de las placas de Nazca, del Caribe y Suramericana. Frente a la costa del Pacífico, la placa de Nazca subduce hacia el este bajo Suramérica a unos 50-60 mm/año, y la losa descendente alcanza profundidades intermedias (70-300 km) bajo las cordilleras Occidental y Central. Este sismo rompió dentro de esa losa a unos 110 km de profundidad, razón por la cual se sintió a cientos de kilómetros —hasta Bogotá, Quito y la ciudad de Panamá— sin producir ruptura superficial ni tsunami. Los sismos de profundidad intermedia irradian con eficiencia energía de alta frecuencia y se atenúan lentamente, de modo que los daños tienden a repartirse entre muchas ciudades en vez de concentrarse en una franja epicentral estrecha.</a:t>
            </a:r>
            <a:endParaRPr lang="en-US" sz="100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Calibri" pitchFamily="34" charset="0"/>
                <a:ea typeface="Calibri" pitchFamily="34" charset="-122"/>
                <a:cs typeface="Calibri" pitchFamily="34" charset="-120"/>
              </a:rPr>
              <a:t>Mecanismo focal (beachball)
</a:t>
            </a:r>
            <a:pPr algn="ctr" indent="0" marL="0">
              <a:buNone/>
            </a:pPr>
            <a:r>
              <a:rPr lang="en-US" sz="700" dirty="0">
                <a:solidFill>
                  <a:srgbClr val="6A6A6A"/>
                </a:solidFill>
                <a:latin typeface="Calibri" pitchFamily="34" charset="0"/>
                <a:ea typeface="Calibri" pitchFamily="34" charset="-122"/>
                <a:cs typeface="Calibri" pitchFamily="34" charset="-120"/>
              </a:rPr>
              <a:t>Ambas entidades reportan un mecanismo de falla de rumbo.</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Profundidad de unos 110 km (USGS, revisado): es un sismo intraplaca dentro de la losa, no un megasismo de la interfaz entre placas.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Mecanismo de falla de rumbo dentro de la losa de Nazca en subducción (resumen tectónico del USGS).</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Sacudimiento máximo MMI VII (muy fuerte); unos 10,5 millones de personas expuestas a MMI VI-VII.</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Alerta naranja del PAGER (v5) del USGS: la banda de mortalidad más probable es 1.000-10.000 y la de pérdidas 100-1.000 millones de dólares — estimaciones de modelo, no observaciones, y muy por encima de las cifras reportadas hasta ahora.</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SGC lo evalúa como el sismo de mayor magnitud registrado en Colombia en la última década.</a:t>
            </a:r>
            <a:endParaRPr lang="en-US" sz="810" dirty="0"/>
          </a:p>
          <a:p>
            <a:pPr algn="l" marL="342900" indent="-342900">
              <a:buSzPct val="100000"/>
              <a:buChar char="•"/>
            </a:pPr>
            <a:r>
              <a:rPr lang="en-US" sz="81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Se reportó una duración del sacudimiento inusualmente larga en ciudades alejadas del epicentro, rasgo propio de los sismos profundos registrados sobre sedimentos blandos de valle.</a:t>
            </a:r>
            <a:endParaRPr lang="en-US" sz="810" dirty="0"/>
          </a:p>
          <a:p>
            <a:pPr algn="l" marL="342900" indent="-342900">
              <a:buSzPct val="100000"/>
              <a:buChar char="•"/>
            </a:pPr>
            <a:r>
              <a:rPr lang="en-US" sz="81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910" dirty="0">
                <a:solidFill>
                  <a:srgbClr val="222222"/>
                </a:solidFill>
                <a:latin typeface="Calibri" pitchFamily="34" charset="0"/>
                <a:ea typeface="Calibri" pitchFamily="34" charset="-122"/>
                <a:cs typeface="Calibri" pitchFamily="34" charset="-120"/>
              </a:rPr>
              <a:t>El Eje Cafetero tiene antecedentes de sismos dañinos tanto profundos como someros: M7.0 a 150 km en 1938, M6.5 a 64 km en 1962 y M6.1 a 15 km en 1999 (modelo nacional de amenaza SGC/GEM).</a:t>
            </a:r>
            <a:endParaRPr lang="en-US" sz="81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Resumen del sismo y medidas de respuesta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Calibri" pitchFamily="34" charset="0"/>
                <a:ea typeface="Calibri" pitchFamily="34" charset="-122"/>
                <a:cs typeface="Calibri" pitchFamily="34" charset="-120"/>
              </a:rPr>
              <a:t>10 ago. 2026, 07:34 COT (12:34 UTC / 21:34 JST)    |    Mww 7.4    |    profundidad 110 km    |    MMI VII (muy fuerte) — ShakeMap del USGS; el mapa de intensidades macrosísmicas del SGC coincide</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Gobierno declaró el desastre nacional, lo que permite una movilización y una coordinación extraordinarias de la respuesta.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El presidente Abelardo de la Espriella —con tres días en el cargo— ordenó instalar un Puesto de Mando Unificado (PMU) en el Chocó para coordinar la emergencia y se desplazó a Pereira, una de las ciudades más afectadas.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Unidad Nacional para la Gestión del Riesgo de Desastres (UNGRD) activó el sistema nacional, verificó los daños con las autoridades departamentales y municipales y canalizó los ofrecimientos de ayuda junto con la Cancillería.</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cuatro grupos USAR (búsqueda y rescate urbano) desde Bogotá, Envigado, Yopal y Medellín para reforzar las labores de búsqueda y rescate.</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Se desplegaron efectivos militares en los departamentos afectados para búsqueda, rescate y remoción de escombros en las vías.</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 autoridad de aviación civil suspendió las operaciones en Pereira, Manizales, Quibdó, Armenia, Cartago y Buenaventura mientras se inspeccionaban pistas y terminales.</a:t>
            </a:r>
            <a:endParaRPr lang="en-US" sz="1250" dirty="0"/>
          </a:p>
          <a:p>
            <a:pPr algn="l" marL="342900" indent="-342900">
              <a:buSzPct val="100000"/>
              <a:buChar char="•"/>
            </a:pPr>
            <a:r>
              <a:rPr lang="en-US" sz="12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Las edificaciones averiadas, los cortes de energía y la interrupción de las comunicaciones retrasan la evaluación en las zonas del Chocó más cercanas al epicentro.</a:t>
            </a:r>
            <a:endParaRPr lang="en-US" sz="1250" dirty="0"/>
          </a:p>
          <a:p>
            <a:pPr algn="l" marL="342900" indent="-342900">
              <a:buSzPct val="100000"/>
              <a:buChar char="•"/>
            </a:pPr>
            <a:r>
              <a:rPr lang="en-US" sz="12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50" dirty="0">
                <a:solidFill>
                  <a:srgbClr val="222222"/>
                </a:solidFill>
                <a:latin typeface="Calibri" pitchFamily="34" charset="0"/>
                <a:ea typeface="Calibri" pitchFamily="34" charset="-122"/>
                <a:cs typeface="Calibri" pitchFamily="34" charset="-120"/>
              </a:rPr>
              <a:t>Número GLIDE asignado a este evento: 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Sismo de Mww 7.4; epicentro 5 km al S de San José del Palmar (Chocó), profundidad de unos 110 km. Sentido en Bogotá, Cali y Medellín, y también en Ecuador, Panamá y Venezuela.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USGS / 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07:40s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SGC emite un primer boletín (inicialmente M6.6, 79 km de profundidad), luego revisado a M7.4 a 96 km y localizado con 69 estaciones (evento SGC2026pqqmro); se activan los protocolos de evaluación de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UNGRD reporta las primeras afectaciones en 9 municipios del Chocó, 8 de Caldas, 2 del Valle del Cauca y 2 de Risaralda, además de varias localidades del Quindío.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Cali reporta estructuras colapsadas en 12 puntos críticos con personas atrapadas; colapsa parte del Hospital Universitario.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Cali</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Manizales reporta 17 edificios colapsados y 19 con colapso parcial; una torre de la catedral neogótica cae sobre la nave. Se pide a la población permanecer fuera de las edificaciones por las réplicas.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Mañana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Colapsa parcialmente la terminal de pasajeros del Aeropuerto Internacional Matecaña (Pereira); se suspenden las operaciones en seis aeropuertos regionales.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Aerocivil /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declara el desastre nacional; se instala el Puesto de Mando Unificado en el Chocó; se despliegan las Fuerzas Militares.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Gobierno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Cronología de la respuesta (10 de agosto)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Las horas están en hora de Colombia (COT, UTC-5). El sismo ocurrió a las 07:34 COT = 21:34 JST del 10 de agosto.</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Hecho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despliegan cuatro grupos USAR desde Bogotá, Envigado, Yopal y Medellín.</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registran más de 20 réplicas; la mayor réplica ampliamente sentida es de M4.8.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SGC</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Durante el día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Presidente se desplaza a Pereira para dirigir la respuesta en terreno.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12:13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 activa la cartografía rápida del Copernicus EMS como EMSR916 (17:13 UTC), a solicitud de los Servicios de la CE / DG ECHO, para cartografía de evaluación de daños por el sismo.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Copernicus EMS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Primer reporte nacional de daños: 111 muertos y 87 heridos; 1.575 viviendas averiadas, 37 destruidas y 61 edificios colapsados; 18 centros de salud, 52 establecimientos educativos, 17 equipamientos comunitarios, 18 vías principales y 6 aeropuertos regionales con daños.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Presidencia / UNGRD</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Tarde</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Ecuador moviliza un grupo USAR de 47 personas con unidades caninas; México y otros gobiernos ofrecen ayuda, que se canalizará a través de la Cancillería y la UNGRD.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Evening</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El número de muertos reportado a nivel nacional sube a 132. Cuatro personas han sido rescatadas con vida de los escombros; se reportan más de 20 municipios afectados y continúan las fallas de energía y telecomunicaciones en el 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 internacional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Departamentos y ciudades afectados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distance_map_es.png">    </p:cNvPr>
          <p:cNvPicPr>
            <a:picLocks noChangeAspect="1"/>
          </p:cNvPicPr>
          <p:nvPr/>
        </p:nvPicPr>
        <p:blipFill>
          <a:blip r:embed="rId2"/>
          <a:stretch>
            <a:fillRect/>
          </a:stretch>
        </p:blipFill>
        <p:spPr>
          <a:xfrm>
            <a:off x="601085" y="1024128"/>
            <a:ext cx="4558549"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Distancias epicentrales (ADRC)</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los daños están dispersos
</a:t>
            </a:r>
            <a:pPr algn="l" indent="0" marL="0">
              <a:buNone/>
            </a:pPr>
            <a:r>
              <a:rPr lang="en-US" sz="950" dirty="0">
                <a:solidFill>
                  <a:srgbClr val="7A2E0E"/>
                </a:solidFill>
                <a:latin typeface="Calibri" pitchFamily="34" charset="0"/>
                <a:ea typeface="Calibri" pitchFamily="34" charset="-122"/>
                <a:cs typeface="Calibri" pitchFamily="34" charset="-120"/>
              </a:rPr>
              <a:t>Una fuente a 110 km de profundidad deja a todas las ciudades de la región a una distancia hipocentral parecida (110-205 km), de modo que ninguna queda dentro de una franja estrecha de sacudimiento extremo.</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Ciudades principales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Dist.</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Situación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Chocó</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San José del Palmar / Quibdó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 / 105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 / 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Departamento epicentral; 9 municipios con daños reportados; acceso, energía y comunicaciones limitados.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Risaralda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Pereira, Dosquebradas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número de muertos reportado (al menos 40; el gobernador cita al menos 42). Terminal aérea con colapso parcial.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Valle del Cauca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Cali, Cartago, Buenaventura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158 / 38 / 138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27 muertos reportados; entre 25 y 30 estructuras colapsadas en 12 puntos críticos de Cali; Hospital Universitario gravemente afectado.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Caldas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Manizales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84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8 municipios afectados; 17 edificios colapsados y 19 con colapso parcial en Manizales; una torre de la catedral cayó sobre la nave.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Quindío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Armenia y otras localidades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Varias localidades reportadas como afectadas; es el mismo Eje Cafetero devastado por el terremoto de Armenia de 1999.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Medellín y alrededores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172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V-VI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fallecido reportado (73 años); daños estructurales en inspección.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Cundinamarca / Bogotá</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Bogotá, Nilo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241 km</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Calibri" pitchFamily="34" charset="0"/>
                          <a:ea typeface="Calibri" pitchFamily="34" charset="-122"/>
                          <a:cs typeface="Calibri" pitchFamily="34" charset="-120"/>
                        </a:rPr>
                        <a:t>IV-V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Ampliamente sentido; edificaciones evacuadas; se reportan daños estructurales en un colegio de Nilo.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Parámetros del sismo y sacudimiento observado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(local)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07:34:28 COT (UTC-5)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origen (UTC /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 de agosto de 2026, 12:34:28 UTC  /  10 de agosto de 2026, 21:34 JST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Epicentro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5 km al S de San José del Palmar, departamento del Chocó (unos 280 km al O de Bogotá) — SGC: a 20 km de San José del Palmar</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Coordenadas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4.8436 N, 76.2422 W   ·   SGC 5.04 N, 76.34 W</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Magnitud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Mww 7,4 (USGS)   ·   7,4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Profundidad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110,3 km (USGS, PAGER v5) / 96 km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Mecanismo focal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Falla de rumbo a profundidad intermedia, dentro de la placa de Nazca en subducción (no en la interfaz somera entre placas)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Sacudimiento máximo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MMI VII (muy fuerte) — ShakeMap del USGS; el mapa de intensidades macrosísmicas del SGC coincide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Área sentida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Sentido en el occidente y el centro de Colombia, incluidas Bogotá, Cali y Medellín, y también en Ecuador, Panamá y Venezuela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Tsunami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tsunami. El sismo fue continental y de profundidad intermedia; no se emitió alerta de tsunami para la costa del Pacífico.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Nivel de alerta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PAGER del USGS: naranja (versión 5). La banda de mortalidad más probable es de 1.000 a 10.000 (35 % de probabilidad); las pérdidas económicas más probables son de 100 a 1.000 millones de dólares (34 %), menos del 1 % del PIB de Colombia. GDACS: naranja.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GLIDE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EQ-2026-000146-COL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es.png">    </p:cNvPr>
          <p:cNvPicPr>
            <a:picLocks noChangeAspect="1"/>
          </p:cNvPicPr>
          <p:nvPr/>
        </p:nvPicPr>
        <p:blipFill>
          <a:blip r:embed="rId2"/>
          <a:stretch>
            <a:fillRect/>
          </a:stretch>
        </p:blipFill>
        <p:spPr>
          <a:xfrm>
            <a:off x="7418059" y="1024128"/>
            <a:ext cx="4183403"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Distancia frente a la MMI reportada (ADRC)</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Calibri" pitchFamily="34" charset="0"/>
                <a:ea typeface="Calibri" pitchFamily="34" charset="-122"/>
                <a:cs typeface="Calibri" pitchFamily="34" charset="-120"/>
              </a:rPr>
              <a:t>El USGS y el SGC coinciden en el tamaño; el primer boletín del SGC dio M6.6 a 79 km antes de la revisión. Las dos localizaciones difieren unos 20 km y sus profundidades unos 11 km, lo normal en un sismo de profundidad intermedia registrado por redes distintas. Las distancias epicentrales de este informe se miden desde la localización del USGS. El evento SGC2026pqqmro fue localizado con 69 estaciones; el SGC advierte que sus boletines están sujetos a cambios mientras avanza la revisión.</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Intensidad macrosísmica (SGC)</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Mapa de intensidades del SGC  (© SGC)</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Calibri" pitchFamily="34" charset="0"/>
                <a:ea typeface="Calibri" pitchFamily="34" charset="-122"/>
                <a:cs typeface="Calibri" pitchFamily="34" charset="-120"/>
              </a:rPr>
              <a:t>ShakeMap: San José del Palmar - Chocó, Colombia · 10 ago. 2026 12:34:29 UTC · M7.4 · N5.04 W76.34 · profundidad 96,0 km · ID SGC2026pqqmro · Versión 1, procesado 2026-08-10T13:12:28Z · escala según 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El mapa del SGC muestra la banda más fuerte (MMI VII, «Muy Fuerte») sobre el área epicentral del Chocó y a lo largo del corredor interandino que atraviesa Risaralda, Caldas, Quindío y el norte del Valle del Cauca: la franja en la que ocurrieron los colapsos de Pereira, Manizales, Armenia y Cartago. La intensidad decae hacia el oriente: Medellín y Cali quedan en las bandas moderada y fuerte, y Bogotá, a 241 km del epicentro, en una baja. El patrón alargado a lo largo de los valles, en lugar de un círculo compacto alrededor del epicentro, es la firma de una fuente a 96-110 km de profundidad combinada con sedimentos blandos de valle.</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PGA (%g)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PGV (cm/s)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No sentido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&lt;0.0464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&lt;0.0215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II-III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Débil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0.297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0.135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Ligero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Ninguno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2.76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1.41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4.65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Poco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11.5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9.64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Muy fuerte</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21.5</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20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VIII</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Severo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Moderado/mucho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40.1</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41.4</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IX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Violento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Mucho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74.7</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85.8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Calibri" pitchFamily="34" charset="0"/>
                          <a:ea typeface="Calibri" pitchFamily="34" charset="-122"/>
                          <a:cs typeface="Calibri" pitchFamily="34" charset="-120"/>
                        </a:rPr>
                        <a:t>X+</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Extremo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Cuantioso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&gt;139</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Calibri" pitchFamily="34" charset="0"/>
                          <a:ea typeface="Calibri" pitchFamily="34" charset="-122"/>
                          <a:cs typeface="Calibri" pitchFamily="34" charset="-120"/>
                        </a:rPr>
                        <a:t>&gt;178</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Calibri" pitchFamily="34" charset="0"/>
                <a:ea typeface="Calibri" pitchFamily="34" charset="-122"/>
                <a:cs typeface="Calibri" pitchFamily="34" charset="-120"/>
              </a:rPr>
              <a:t>Escala de Mercalli modificada (Worden et al., 2012), tal como aparece en el mapa del SGC</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 mapa de intensidades macrosísmicas (ShakeMap) de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 boletín del evento SGC2026pqqmro (este sismo)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PAGER del USGS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usgs_pager_manual.jpg">    </p:cNvPr>
          <p:cNvPicPr>
            <a:picLocks noChangeAspect="1"/>
          </p:cNvPicPr>
          <p:nvPr/>
        </p:nvPicPr>
        <p:blipFill>
          <a:blip r:embed="rId2"/>
          <a:stretch>
            <a:fillRect/>
          </a:stretch>
        </p:blipFill>
        <p:spPr>
          <a:xfrm>
            <a:off x="1092708" y="1024128"/>
            <a:ext cx="3575304" cy="4626864"/>
          </a:xfrm>
          <a:prstGeom prst="rect">
            <a:avLst/>
          </a:prstGeom>
        </p:spPr>
      </p:pic>
      <p:sp>
        <p:nvSpPr>
          <p:cNvPr id="5" name="Text 1"/>
          <p:cNvSpPr/>
          <p:nvPr/>
        </p:nvSpPr>
        <p:spPr>
          <a:xfrm>
            <a:off x="365760" y="566928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onePAGER, versión 5 (dominio público,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https://earthquake.usgs.gov/earthquakes/eventpage/us6000tjl2/pager</a:t>
            </a:r>
            <a:endParaRPr lang="en-US" sz="800" dirty="0"/>
          </a:p>
        </p:txBody>
      </p:sp>
      <p:sp>
        <p:nvSpPr>
          <p:cNvPr id="6" name="Text 2"/>
          <p:cNvSpPr/>
          <p:nvPr/>
        </p:nvSpPr>
        <p:spPr>
          <a:xfrm>
            <a:off x="5669280" y="1024128"/>
            <a:ext cx="6126480" cy="19659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PAGER es la estimación rápida de impacto del USGS, emitida en minutos y revisada conforme se precisa el evento; la versión 5 se creó 2 horas y 8 minutos después del sismo. Es una distribución de probabilidad, no el pronóstico de una cifra única: la alerta naranja significa que son probables víctimas y daños significativos y que alertas naranjas previas han requerido una respuesta regional o nacional. Su banda de mortalidad más probable, 1.000-10.000, está muy por encima de los 111 muertos reportados nueve horas después del evento; la brecha es normal en esta etapa y se estrecha a medida que la observación reemplaza a las pérdidas modeladas.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0" y="3127248"/>
          <a:ext cx="6126480" cy="914400"/>
        </p:xfrm>
        <a:graphic>
          <a:graphicData uri="http://schemas.openxmlformats.org/drawingml/2006/table">
            <a:tbl>
              <a:tblPr/>
              <a:tblGrid>
                <a:gridCol w="914400"/>
                <a:gridCol w="3017520"/>
                <a:gridCol w="2194560"/>
              </a:tblGrid>
              <a:tr h="3108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MMI</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Movimiento percibido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Expuestos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Severo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Muy 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1,564k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Fuerte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8,888k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Moderado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17,076k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0896">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IV</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Ligero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r" indent="0" marL="0">
                        <a:buNone/>
                      </a:pPr>
                      <a:r>
                        <a:rPr lang="en-US" sz="950" dirty="0">
                          <a:solidFill>
                            <a:srgbClr val="222222"/>
                          </a:solidFill>
                          <a:latin typeface="Calibri" pitchFamily="34" charset="0"/>
                          <a:ea typeface="Calibri" pitchFamily="34" charset="-122"/>
                          <a:cs typeface="Calibri" pitchFamily="34" charset="-120"/>
                        </a:rPr>
                        <a:t>6,465k</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8" name="Text 3"/>
          <p:cNvSpPr/>
          <p:nvPr/>
        </p:nvSpPr>
        <p:spPr>
          <a:xfrm>
            <a:off x="5669280" y="5084064"/>
            <a:ext cx="6126480" cy="548640"/>
          </a:xfrm>
          <a:prstGeom prst="rect">
            <a:avLst/>
          </a:prstGeom>
          <a:noFill/>
          <a:ln/>
        </p:spPr>
        <p:txBody>
          <a:bodyPr wrap="square" lIns="0" tIns="0" rIns="0" bIns="0" rtlCol="0" anchor="t"/>
          <a:lstStyle/>
          <a:p>
            <a:pPr indent="0" marL="0">
              <a:buNone/>
            </a:pPr>
            <a:r>
              <a:rPr lang="en-US" sz="750" dirty="0">
                <a:solidFill>
                  <a:srgbClr val="6A6A6A"/>
                </a:solidFill>
                <a:latin typeface="Calibri" pitchFamily="34" charset="0"/>
                <a:ea typeface="Calibri" pitchFamily="34" charset="-122"/>
                <a:cs typeface="Calibri" pitchFamily="34" charset="-120"/>
              </a:rPr>
              <a:t>Estimaciones de exposición del PAGER (versión 5) del USGS. Unos 10,5 millones de personas quedaron expuestas a sacudimiento fuerte o muy fuerte (MMI VI-VII) y unos 34 millones a MMI IV o superior en cuatro países. Son estimaciones de modelo.</a:t>
            </a:r>
            <a:endParaRPr lang="en-US" sz="750" dirty="0"/>
          </a:p>
        </p:txBody>
      </p:sp>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Sismicidad: réplicas</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Hora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Magnitud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M4.8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Mayor réplica en el boletín del SGC; ampliamente sentida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after 07:34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M2.8</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segunda réplica listada en el boletín del 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Calibri" pitchFamily="34" charset="0"/>
                          <a:ea typeface="Calibri" pitchFamily="34" charset="-122"/>
                          <a:cs typeface="Calibri" pitchFamily="34" charset="-120"/>
                        </a:rPr>
                        <a:t>Oficial</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10 Aug (to 17:00)</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20+ reported</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 prensa reportó más de 20 réplicas durante el día; el boletín del SGC listaba dos al momento de redactar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Calibri" pitchFamily="34" charset="0"/>
                          <a:ea typeface="Calibri" pitchFamily="34" charset="-122"/>
                          <a:cs typeface="Calibri" pitchFamily="34" charset="-120"/>
                        </a:rPr>
                        <a:t>Prensa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100" dirty="0">
                <a:solidFill>
                  <a:srgbClr val="222222"/>
                </a:solidFill>
                <a:latin typeface="Calibri" pitchFamily="34" charset="0"/>
                <a:ea typeface="Calibri" pitchFamily="34" charset="-122"/>
                <a:cs typeface="Calibri" pitchFamily="34" charset="-120"/>
              </a:rPr>
              <a:t>El boletín del evento SGC2026pqqmro listó dos réplicas, de M2.8 y M4.8, esta última ampliamente sentida; la prensa reportó más de 20 durante el día. Las secuencias de réplicas de los sismos intraplaca de profundidad intermedia suelen ser menos productivas que las de los sismos corticales someros, pero siguen siendo posibles réplicas fuertes y las edificaciones ya averiadas son especialmente vulnerables a ellas.</a:t>
            </a:r>
            <a:endParaRPr lang="en-US" sz="110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Implicación operativa
</a:t>
            </a:r>
            <a:pPr algn="l" indent="0" marL="0">
              <a:buNone/>
            </a:pPr>
            <a:r>
              <a:rPr lang="en-US" sz="950" dirty="0">
                <a:solidFill>
                  <a:srgbClr val="7A2E0E"/>
                </a:solidFill>
                <a:latin typeface="Calibri" pitchFamily="34" charset="0"/>
                <a:ea typeface="Calibri" pitchFamily="34" charset="-122"/>
                <a:cs typeface="Calibri" pitchFamily="34" charset="-120"/>
              </a:rPr>
              <a:t>Las edificaciones que sobrevivieron al sismo principal en estado averiado han perdido capacidad. Incluso réplicas moderadas pueden derribarlas, de modo que la evaluación rápida de habitabilidad antes de volver a ocuparlas —y mantener a la gente fuera de las estructuras visiblemente averiadas— importa tanto como las estadísticas de réplicas.</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Afectación humana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Muertos</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Cambria" pitchFamily="34" charset="0"/>
                <a:ea typeface="Cambria" pitchFamily="34" charset="-122"/>
                <a:cs typeface="Cambria" pitchFamily="34" charset="-120"/>
              </a:rPr>
              <a:t>132</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Heridos</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Cambria" pitchFamily="34" charset="0"/>
                <a:ea typeface="Cambria" pitchFamily="34" charset="-122"/>
                <a:cs typeface="Cambria"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Calibri" pitchFamily="34" charset="0"/>
                <a:ea typeface="Calibri" pitchFamily="34" charset="-122"/>
                <a:cs typeface="Calibri" pitchFamily="34" charset="-120"/>
              </a:rPr>
              <a:t>Edificaciones afectadas</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Cambria" pitchFamily="34" charset="0"/>
                <a:ea typeface="Cambria" pitchFamily="34" charset="-122"/>
                <a:cs typeface="Cambria" pitchFamily="34" charset="-120"/>
              </a:rPr>
              <a:t>más de 1.600</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Departamento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Muertos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Observación</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Risaralda (Pereira)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40</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El gobernador cita al menos 42</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Valle del Cauca (Cali)</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27</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Chocó</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Cifra del Presidente; la Gobernación había reportado 12 muertos y 84 heridos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Caldas (Manizales)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Reportados 2 y luego 4</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Antioquia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Calibri" pitchFamily="34" charset="0"/>
                          <a:ea typeface="Calibri" pitchFamily="34" charset="-122"/>
                          <a:cs typeface="Calibri" pitchFamily="34" charset="-120"/>
                        </a:rPr>
                        <a:t>73 años</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Cómo leer las cifras
</a:t>
            </a:r>
            <a:pPr algn="l" indent="0" marL="0">
              <a:buNone/>
            </a:pPr>
            <a:r>
              <a:rPr lang="en-US" sz="950" dirty="0">
                <a:solidFill>
                  <a:srgbClr val="7A2E0E"/>
                </a:solidFill>
                <a:latin typeface="Calibri" pitchFamily="34" charset="0"/>
                <a:ea typeface="Calibri" pitchFamily="34" charset="-122"/>
                <a:cs typeface="Calibri" pitchFamily="34" charset="-120"/>
              </a:rPr>
              <a:t>Las cifras departamentales provienen de autoridades locales y de la Presidencia en momentos distintos y no suman el total nacional; el propio total pasó de 111 a las 13:00 COT a 132 al caer la tarde del 10 de agosto. Se conciliarán a medida que avance la verificación.</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Colombia declara la emergencia nacional; 111 muertos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News: fuerte sismo en el occidente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News: muertos, heridos y edificios colapsados</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(1/2)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 (prensa, tarde del 10 de agosto). El balance del Gobierno a las 13:00 COT era de 111.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(CNN, en vivo); Presidencia / UNGRD para la cifra de las 13:00</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87 en el país (Gobierno, 13:00 COT). Solo en Chocó el Presidente reportó después 119 heridos.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 UNGRD; Presidencia (cifra del Chocó)</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Desaparecidos / atrapados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Sin cuantificar. Cuatro personas habían sido rescatadas con vida de los escombros al caer la tarde del 10 de agosto; las búsquedas continuaban en Cali, Pereira y Manizales.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Autoridades locales (prensa)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Municipios afectados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 en Chocó, Risaralda, Caldas, Valle del Cauca, Quindío y Antioquia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Edificaciones afectadas (total)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1.600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Presidencia,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averiadas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1.575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Viviendas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37</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Edificios colapsados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61 en el país; en Cali entre 25 y 30 en 12 puntos críticos; en Manizales 17 colapsados y 19 con colapso parcial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alcaldías de Cali y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Daños: edificaciones, servicios y líneas vitales (2/2)</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Calibri" pitchFamily="34" charset="0"/>
                <a:ea typeface="Calibri" pitchFamily="34" charset="-122"/>
                <a:cs typeface="Calibri" pitchFamily="34" charset="-120"/>
              </a:rPr>
              <a:t>Todas las cifras son preliminares. Las cifras oficiales (del Gobierno) son la fuente primaria; los datos de prensa están identificados.</a:t>
            </a:r>
            <a:endParaRPr lang="en-US" sz="9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 reportada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Centros de salud</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con daños; 7 instituciones de salud cerradas; cerca del 30 % del Hospital Universitario del Valle, en Cali, colapsó, incluidos tres pisos (pediatría, medicina interna y parte de la unidad neonatal)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Gobernación del Valle del Cauca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Establecimientos educativos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52 con daños; colegios evacuados en los departamentos afectados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Equipamientos comunitarios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17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Vías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18 vías y carreteras principales con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10 de agosto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Aeropuertos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6 aeropuertos regionales con daños; colapso parcial de la terminal de pasajeros del Aeropuerto Internacional Matecaña (Pereira); operaciones suspendidas en Pereira, Manizales, Quibdó, Armenia, Cartago y Buenaventura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UNGRD; autoridad de aviación civil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Patrimonio cultural</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 torre de la catedral neogótica de Manizales colapsó sobre la nave</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Alcaldía de Manizales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Servicios públicos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reportan cortes de energía e interrupción de comunicaciones en zonas cercanas al epicentro; aún no se publican cifras sistemáticas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Personas desalojadas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que miles de personas salieron de sus viviendas; aún no se publican cifras de alojamientos temporales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Calibri" pitchFamily="34" charset="0"/>
                          <a:ea typeface="Calibri" pitchFamily="34" charset="-122"/>
                          <a:cs typeface="Calibri" pitchFamily="34" charset="-120"/>
                        </a:rPr>
                        <a:t>Prensa / agencias humanitarias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primer balance oficial de daños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 en vivo: los muertos ascienden a 132</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Respuesta 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6858000" cy="402336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Declaratoria de desastre nacional, que activa el Sistema Nacional de Gestión del Riesgo de Desastres (SNGRD) creado por la Ley 1523 de 2012.</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Puesto de Mando Unificado (PMU) instalado en el Chocó; la UNGRD coordina con los consejos departamentales y municipales de gestión del riesgo.</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Cuatro grupos USAR (Bogotá, Envigado, Yopal y Medellín) desplegados para búsqueda y rescate en estructuras colapsadas.</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Fuerzas Militares desplegadas en los departamentos afectados para búsqueda, rescate, remoción de escombros en vías y seguridad.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Inspección estructural rápida de hospitales, colegios y aeropuertos; siete instituciones de salud cerradas y seis aeropuertos suspendidos a la espera de la evaluación.</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Traslado de pacientes desde el Hospital Universitario del Valle, en Cali, hacia otras instituciones; la ciudad reportó que las víctimas se concentran en 12 puntos críticos de colapso.</a:t>
            </a:r>
            <a:endParaRPr lang="en-US" sz="1200" dirty="0"/>
          </a:p>
        </p:txBody>
      </p:sp>
      <p:pic>
        <p:nvPicPr>
          <p:cNvPr id="5" name="Image 1" descr="/home/user/whatsmap/reports/colombia_eq_20260810/images/photo_ungrd.jpg">    </p:cNvPr>
          <p:cNvPicPr>
            <a:picLocks noChangeAspect="1"/>
          </p:cNvPicPr>
          <p:nvPr/>
        </p:nvPicPr>
        <p:blipFill>
          <a:blip r:embed="rId2"/>
          <a:stretch>
            <a:fillRect/>
          </a:stretch>
        </p:blipFill>
        <p:spPr>
          <a:xfrm>
            <a:off x="8028756" y="1024128"/>
            <a:ext cx="3190607" cy="1792224"/>
          </a:xfrm>
          <a:prstGeom prst="rect">
            <a:avLst/>
          </a:prstGeom>
        </p:spPr>
      </p:pic>
      <p:sp>
        <p:nvSpPr>
          <p:cNvPr id="6" name="Text 2"/>
          <p:cNvSpPr/>
          <p:nvPr/>
        </p:nvSpPr>
        <p:spPr>
          <a:xfrm>
            <a:off x="7452360" y="283464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El presidente Abelardo de la Espriella preside la reunión de respuesta nacional   © UNGRD</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https://portal.gestiondelriesgo.gov.co/</a:t>
            </a:r>
            <a:endParaRPr lang="en-US" sz="800" dirty="0"/>
          </a:p>
        </p:txBody>
      </p:sp>
      <p:pic>
        <p:nvPicPr>
          <p:cNvPr id="7" name="Image 2" descr="/home/user/whatsmap/reports/colombia_eq_20260810/images/photo_bomberos_cali.jpg">    </p:cNvPr>
          <p:cNvPicPr>
            <a:picLocks noChangeAspect="1"/>
          </p:cNvPicPr>
          <p:nvPr/>
        </p:nvPicPr>
        <p:blipFill>
          <a:blip r:embed="rId4"/>
          <a:stretch>
            <a:fillRect/>
          </a:stretch>
        </p:blipFill>
        <p:spPr>
          <a:xfrm>
            <a:off x="8145475" y="3172968"/>
            <a:ext cx="2957170" cy="1792224"/>
          </a:xfrm>
          <a:prstGeom prst="rect">
            <a:avLst/>
          </a:prstGeom>
        </p:spPr>
      </p:pic>
      <p:sp>
        <p:nvSpPr>
          <p:cNvPr id="8" name="Text 3"/>
          <p:cNvSpPr/>
          <p:nvPr/>
        </p:nvSpPr>
        <p:spPr>
          <a:xfrm>
            <a:off x="7452360" y="4983480"/>
            <a:ext cx="4343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Bomberos de Cali en una edificación colapsada de la ciudad   © Alcaldía de Santiago de Cali</a:t>
            </a:r>
            <a:pPr algn="ctr" indent="0" marL="0">
              <a:buNone/>
            </a:pPr>
            <a:r>
              <a:rPr lang="en-US" sz="7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  —  https://www.cali.gov.co/gestiondelriesgo/</a:t>
            </a:r>
            <a:endParaRPr lang="en-US" sz="800" dirty="0"/>
          </a:p>
        </p:txBody>
      </p:sp>
      <p:sp>
        <p:nvSpPr>
          <p:cNvPr id="9" name="Shape 4"/>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10" name="Text 5"/>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Fundamento jurídico
</a:t>
            </a:r>
            <a:pPr algn="l" indent="0" marL="0">
              <a:buNone/>
            </a:pPr>
            <a:r>
              <a:rPr lang="en-US" sz="950" dirty="0">
                <a:solidFill>
                  <a:srgbClr val="7A2E0E"/>
                </a:solidFill>
                <a:latin typeface="Calibri" pitchFamily="34" charset="0"/>
                <a:ea typeface="Calibri" pitchFamily="34" charset="-122"/>
                <a:cs typeface="Calibri" pitchFamily="34" charset="-120"/>
              </a:rPr>
              <a:t>La declaratoria de desastre nacional activa el SNGRD creado por la Ley 1523 de 2012, lo que permite a la UNGRD dirigir recursos y usar el fondo nacional de gestión del riesgo (FNGRD) sin los plazos ordinarios de contratación.</a:t>
            </a:r>
            <a:endParaRPr lang="en-US" sz="1050" dirty="0"/>
          </a:p>
        </p:txBody>
      </p:sp>
      <p:sp>
        <p:nvSpPr>
          <p:cNvPr id="11"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Colombia One: el Gobierno declara el desastre nacional</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2"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internacional</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Ecuador movilizó un grupo USAR especializado de 47 personas con unidades caninas y equipamiento autosuficiente.</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Presidenta de México ofreció «todo el apoyo que se requiera»; varios gobiernos latinoamericanos ofrecieron rescatistas, unidades caninas y ayuda humanitaria, que se canalizarán a través de la Cancillería de Colombia y la UNGRD.</a:t>
            </a:r>
            <a:endParaRPr lang="en-US" sz="1200" dirty="0"/>
          </a:p>
          <a:p>
            <a:pPr algn="l" marL="342900" indent="-342900">
              <a:buSzPct val="100000"/>
              <a:buChar char="•"/>
            </a:pPr>
            <a:r>
              <a:rPr lang="en-US" sz="120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La cartografía rápida del Copernicus EMS se activó como EMSR916 «Earthquake in Colombia» a las 17:13 UTC del 10 de agosto (12:13 COT), a solicitud de los Servicios de la CE / DG ECHO, para proporcionar cartografía de emergencia de evaluación de daños por el sismo. En curso al momento de redactar, con 3 áreas de interés y 3 productos. La razón de la activación menciona a Quibdó, Pereira, Manizales y Cali como ciudades con daños significativos y edificios colapsados.</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También se reporta la activación de la Carta Internacional «Espacio y Grandes Catástrofes» para este sismo; el número de activación no estaba confirmado al momento de redactar.</a:t>
            </a:r>
            <a:endParaRPr lang="en-US" sz="1200" dirty="0"/>
          </a:p>
          <a:p>
            <a:pPr algn="l" marL="342900" indent="-342900">
              <a:buSzPct val="100000"/>
              <a:buChar char="•"/>
            </a:pPr>
            <a:r>
              <a:rPr lang="en-US" sz="120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ONG internacionales movilizadas: Direct Relief y Americares (insumos médicos), Save the Children (protección de la niñez y educación), International Rescue Committee (evaluación cerca del epicentro, en el Chocó) y Convoy of Hope (ayuda humanitaria).</a:t>
            </a:r>
            <a:endParaRPr lang="en-US" sz="1200" dirty="0"/>
          </a:p>
          <a:p>
            <a:pPr algn="l" marL="342900" indent="-342900">
              <a:buSzPct val="100000"/>
              <a:buChar char="•"/>
            </a:pPr>
            <a:r>
              <a:rPr lang="en-US" sz="120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300" dirty="0">
                <a:solidFill>
                  <a:srgbClr val="222222"/>
                </a:solidFill>
                <a:latin typeface="Calibri" pitchFamily="34" charset="0"/>
                <a:ea typeface="Calibri" pitchFamily="34" charset="-122"/>
                <a:cs typeface="Calibri" pitchFamily="34" charset="-120"/>
              </a:rPr>
              <a:t>Al momento de redactar este informe no se identificó ningún anuncio del Gobierno de Japón (mensaje de condolencias, cooperación financiera no reembolsable de emergencia o envío del Equipo Japonés de Socorro en Casos de Desastre).</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Canalización
</a:t>
            </a:r>
            <a:pPr algn="l" indent="0" marL="0">
              <a:buNone/>
            </a:pPr>
            <a:r>
              <a:rPr lang="en-US" sz="950" dirty="0">
                <a:solidFill>
                  <a:srgbClr val="7A2E0E"/>
                </a:solidFill>
                <a:latin typeface="Calibri" pitchFamily="34" charset="0"/>
                <a:ea typeface="Calibri" pitchFamily="34" charset="-122"/>
                <a:cs typeface="Calibri" pitchFamily="34" charset="-120"/>
              </a:rPr>
              <a:t>Los ofrecimientos de ayuda se canalizan a través de la Cancillería de Colombia junto con la UNGRD.</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Apoyo satelital y analítico</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Entidad</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Aporte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Estado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International Charter</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 reporta activación por el sismo de Colombia; imágenes ópticas y de radar de amplia cobertura para evaluación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Reportada / número pendiente</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Calibri" pitchFamily="34" charset="0"/>
                          <a:ea typeface="Calibri" pitchFamily="34" charset="-122"/>
                          <a:cs typeface="Calibri" pitchFamily="34" charset="-120"/>
                        </a:rPr>
                        <a:t>Por confirmar</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Copernicus EMS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«Earthquake in Colombia» — cartografía rápida para evaluación de daños; solicitada por los Servicios de la CE / DG ECHO; 3 AOI, 3 productos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En curso (EMSR916)</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USGS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ShakeMap, PAGER (naranja), modelo de fuente finita y catálogo de réplicas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GDACS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Alerta general naranja; exposición de población y estimaciones de impacto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SGC</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Red sismológica nacional: hipocentro, revisión de magnitud, boletines de réplicas y registros acelerográficos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Publicado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Calibri" pitchFamily="34" charset="0"/>
                          <a:ea typeface="Calibri" pitchFamily="34" charset="-122"/>
                          <a:cs typeface="Calibri" pitchFamily="34" charset="-120"/>
                        </a:rPr>
                        <a:t>Sentinel Asia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 aplica: el mecanismo cubre la región de Asia y el Pacífico; a Colombia la atienden la Carta Internacional y Copernicus EMS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Calibri" pitchFamily="34" charset="0"/>
                          <a:ea typeface="Calibri" pitchFamily="34" charset="-122"/>
                          <a:cs typeface="Calibri" pitchFamily="34" charset="-120"/>
                        </a:rPr>
                        <a:t>no aplica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Nota sobre Sentinel Asia
</a:t>
            </a:r>
            <a:pPr algn="l" indent="0" marL="0">
              <a:buNone/>
            </a:pPr>
            <a:r>
              <a:rPr lang="en-US" sz="950" dirty="0">
                <a:solidFill>
                  <a:srgbClr val="7A2E0E"/>
                </a:solidFill>
                <a:latin typeface="Calibri" pitchFamily="34" charset="0"/>
                <a:ea typeface="Calibri" pitchFamily="34" charset="-122"/>
                <a:cs typeface="Calibri" pitchFamily="34" charset="-120"/>
              </a:rPr>
              <a:t>Sentinel Asia, en cuyo equipo conjunto de proyecto participa el ADRC, cubre la región de Asia y el Pacífico. Para un desastre en Colombia, los mecanismos internacionales equivalentes son la Carta Internacional «Espacio y Grandes Catástrofes» y el Servicio de Gestión de Emergencias Copernicus; en América Latina también se emplea con frecuencia la cartografía rápida de UNOSAT/UNITAR.</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Carta Internacional «Espacio y Grandes Catástrofes»: activaciones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alerta sísmica naranja, Colombia, 10 ago. 2026</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Cartografía rápida del Copernicus EMS: EMSR916</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Página de la activación (© Copernicus EMS)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Ítem</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EMSR916 — Earthquake in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afternoon (UTC)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Hora de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10/08/2026, 17:13 (UTC) = 12:13 COT</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Tipo de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Earthquake / Ground shaking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País afectado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Usuario autorizado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EC Services | DG ECHO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Producto del servicio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 AOIs · 3 products · 0 maps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Estado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ONGOING</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Razón de la activación (textual)
</a:t>
            </a:r>
            <a:pPr algn="l" indent="0" marL="0">
              <a:buNone/>
            </a:pPr>
            <a:r>
              <a:rPr lang="en-US" sz="900" i="1" dirty="0">
                <a:solidFill>
                  <a:srgbClr val="222222"/>
                </a:solidFill>
                <a:latin typeface="Calibri" pitchFamily="34" charset="0"/>
                <a:ea typeface="Calibri" pitchFamily="34" charset="-122"/>
                <a:cs typeface="Calibri" pitchFamily="34" charset="-120"/>
              </a:rPr>
              <a:t>«El 10 de agosto de 2026 a las 12:30 UTC, se reporta un sismo mayor de magnitud 7.4 que afectó el occidente y el centro de Colombia, con epicentro cerca de San José del Palmar. El evento ha causado daños significativos en varias ciudades, entre ellas Quibdó, Pereira, Manizales y Cali, con reportes de edificios colapsados. Se solicita a la cartografía rápida del Copernicus EMS proporcionar cartografía de emergencia para la evaluación de daños por el sismo.»</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Qué entrega la cartografía rápida
</a:t>
            </a:r>
            <a:pPr algn="l" indent="0" marL="0">
              <a:buNone/>
            </a:pPr>
            <a:r>
              <a:rPr lang="en-US" sz="950" dirty="0">
                <a:solidFill>
                  <a:srgbClr val="7A2E0E"/>
                </a:solidFill>
                <a:latin typeface="Calibri" pitchFamily="34" charset="0"/>
                <a:ea typeface="Calibri" pitchFamily="34" charset="-122"/>
                <a:cs typeface="Calibri" pitchFamily="34" charset="-120"/>
              </a:rPr>
              <a:t>La cartografía rápida entrega productos de referencia y de gradación sobre áreas de interés seleccionadas, no cobertura nacional. Los productos se publican en la página de la activación a medida que se producen y son de uso libre.</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Copernicus EMS — EMSR916 «Earthquake in Colombia» (activación)</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Comisión Europea — apoyo de la UE a Colombia, Copernicus activado</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sistema de gestión del riesgo de desastres de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150" dirty="0">
                <a:solidFill>
                  <a:srgbClr val="222222"/>
                </a:solidFill>
                <a:latin typeface="Calibri" pitchFamily="34" charset="0"/>
                <a:ea typeface="Calibri" pitchFamily="34" charset="-122"/>
                <a:cs typeface="Calibri" pitchFamily="34" charset="-120"/>
              </a:rPr>
              <a:t>Colombia reconstruyó su marco de gestión del riesgo de desastres tras la tragedia volcánica de Armero en 1985 y de nuevo tras el terremoto de Armenia de 1999. La Ley 1523 de 2012 creó el Sistema Nacional de Gestión del Riesgo de Desastres (SNGRD), liderado por la Unidad Nacional para la Gestión del Riesgo de Desastres (UNGRD), adscrita a la Presidencia de la República.</a:t>
            </a:r>
            <a:endParaRPr lang="en-US" sz="11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Ley 1523 de 2012: política nacional de gestión del riesgo de desastres; define el SNGRD y convierte la gestión del riesgo en un deber obligatorio de toda autoridad pública y, en parte, de los actores privados.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UNGRD: entidad coordinadora nacional adscrita a la Presidencia; dirige la respuesta nacional, el fondo de gestión del riesgo (FNGRD) y el sistema nacional de información.</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Los consejos departamentales y municipales de gestión del riesgo (CDGRD / CMGRD) asumen la primera respuesta; la UNGRD refuerza cuando se supera la capacidad local.</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PNGRD 2015-2030 — el plan nacional de gestión del riesgo de desastres, adoptado por el Decreto 308 de 2016 y actualizado por el Decreto 1478 del 3 de agosto de 2022; alineado con el Marco de Sendái y con seguimiento anual de la UNGRD.</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NSR-10: el reglamento nacional de construcción sismo resistente (vigente desde 2010, con anexos técnicos actualizados posteriormente). Las edificaciones anteriores a la aplicación de la norma moderna y la construcción no ingenieril en mampostería y tierra siguen siendo la principal fuente de riesgo.</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Existen estudios de microzonificación sísmica para las principales ciudades, entre ellas Bogotá, Medellín, Cali, Pereira, Manizales y Armenia, herencia directa del terremoto de 1999. En Cali la microzonificación es vinculante para el diseño estructural mediante el Decreto 411.0.20.0158 de 2014.</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El SGC opera la Red Sismológica Nacional y la red nacional de acelerógrafos, y publica boletines en cuestión de minutos.</a:t>
            </a:r>
            <a:endParaRPr lang="en-US" sz="1040" dirty="0"/>
          </a:p>
          <a:p>
            <a:pPr algn="l" marL="342900" indent="-342900">
              <a:spcAft>
                <a:spcPts val="500"/>
              </a:spcAft>
              <a:buSzPct val="100000"/>
              <a:buChar char="•"/>
            </a:pPr>
            <a:r>
              <a:rPr lang="en-US" sz="1040" dirty="0">
                <a:solidFill>
                  <a:srgbClr val="222222"/>
                </a:solidFill>
                <a:latin typeface="Calibri" pitchFamily="34" charset="0"/>
                <a:ea typeface="Calibri" pitchFamily="34" charset="-122"/>
                <a:cs typeface="Calibri" pitchFamily="34" charset="-120"/>
              </a:rPr>
              <a:t>Las ciudades operan sus propios instrumentos junto al sistema nacional: el sistema de alertas tempranas comunitario y con sensores SATIC de Cali (desde 2018, formalizado por el Decreto Municipal 0858 de 2022), el DAGRD de Medellín y su plan municipal, y los fondos municipales de gestión del riesgo creados al amparo de la Ley 1523.</a:t>
            </a:r>
            <a:endParaRPr lang="en-US" sz="104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la UNGRD de Colombia</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UNGRD — Plan Nacional de Gestión del Riesgo de Desastres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Decreto 1478 de 2022 — actualización del PNGRD</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SATIC — Sistema de Alertas Tempranas Inteligentes y Comunitarias de Cali</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El terremoto de Armenia (Quindío) de 1999 y la reconstrucción</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Calibri" pitchFamily="34" charset="0"/>
                <a:ea typeface="Calibri" pitchFamily="34" charset="-122"/>
                <a:cs typeface="Calibri" pitchFamily="34" charset="-120"/>
              </a:rPr>
              <a:t>El terremoto de Armenia (Quindío) de 1999: el mismo Eje Cafetero
</a:t>
            </a:r>
            <a:pPr algn="l" indent="0" marL="0">
              <a:buNone/>
            </a:pPr>
            <a:r>
              <a:rPr lang="en-US" sz="1050" dirty="0">
                <a:solidFill>
                  <a:srgbClr val="222222"/>
                </a:solidFill>
                <a:latin typeface="Calibri" pitchFamily="34" charset="0"/>
                <a:ea typeface="Calibri" pitchFamily="34" charset="-122"/>
                <a:cs typeface="Calibri" pitchFamily="34" charset="-120"/>
              </a:rPr>
              <a:t>El 25 de enero de 1999, un sismo de M6.1-6.2 a unos 30 km de profundidad golpeó la zona cafetera del Quindío. Dejó cerca de 1.185 muertos, más de 5.000 heridos y unas 50.000 edificaciones averiadas o destruidas; alrededor del 60 % de las construcciones de la ciudad de Armenia colapsaron o resultaron gravemente afectadas, y más de 200.000 personas quedaron sin vivienda. Aunque de magnitud mucho menor que el sismo de 2026, fue mucho más somero y mucho más cercano a las ciudades, y por eso su poder destructivo local fue muy superior.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en 1999</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Cifra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Muertos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1.185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Heridos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5.000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Edificaciones averiadas o destruidas</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50.000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Personas sin vivienda</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más de 200.000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Sector cafetero</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unas 8.000 fincas y 1.200 instalaciones de beneficio afectadas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Calibri" pitchFamily="34" charset="0"/>
                <a:ea typeface="Calibri" pitchFamily="34" charset="-122"/>
                <a:cs typeface="Calibri" pitchFamily="34" charset="-120"/>
              </a:rPr>
              <a:t>Lo que siguió y las lecciones</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Reconstruction was managed through a dedicated temporary body for the Coffee Region, an early example in Latin America of a purpose-built reconstruction agency.</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disaster drove enforcement of the national seismic code and the seismic microzonation studies that now cover Pereira, Manizales and Armenia.</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Recovery of the coffee economy took roughly a decade - the economic tail of the disaster far outlasted the emergency phase.</a:t>
            </a:r>
            <a:endParaRPr lang="en-US" sz="1100" dirty="0"/>
          </a:p>
          <a:p>
            <a:pPr algn="l" marL="342900" indent="-342900">
              <a:spcAft>
                <a:spcPts val="500"/>
              </a:spcAft>
              <a:buSzPct val="100000"/>
              <a:buChar char="•"/>
            </a:pPr>
            <a:r>
              <a:rPr lang="en-US" sz="1100" dirty="0">
                <a:solidFill>
                  <a:srgbClr val="222222"/>
                </a:solidFill>
                <a:latin typeface="Calibri" pitchFamily="34" charset="0"/>
                <a:ea typeface="Calibri" pitchFamily="34" charset="-122"/>
                <a:cs typeface="Calibri" pitchFamily="34" charset="-120"/>
              </a:rPr>
              <a:t>The 2026 earthquake shook the same cities, but as a deep, distant source rather than a shallow local one: a different loading of the same building stock.</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Por qué importa ahora
</a:t>
            </a:r>
            <a:pPr algn="l" indent="0" marL="0">
              <a:buNone/>
            </a:pPr>
            <a:r>
              <a:rPr lang="en-US" sz="950" dirty="0">
                <a:solidFill>
                  <a:srgbClr val="7A2E0E"/>
                </a:solidFill>
                <a:latin typeface="Calibri" pitchFamily="34" charset="0"/>
                <a:ea typeface="Calibri" pitchFamily="34" charset="-122"/>
                <a:cs typeface="Calibri" pitchFamily="34" charset="-120"/>
              </a:rPr>
              <a:t>Las ciudades más golpeadas en 2026 —Pereira, Manizales y Armenia— son las mismas que se reconstruyeron después de 1999. Cómo se comportó ese parque construido frente a un sacudimiento de período y duración largos, procedente de una fuente a 110 km de profundidad, es la pregunta clave de la evaluación posterior al evento.</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normativa sismo resistente de Colombia (NSR-10)</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PNGRD 2015-2030 de Colombia</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Evaluación del riesgo previa al evento: Santiago de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87552"/>
            <a:ext cx="5760720" cy="1051560"/>
          </a:xfrm>
          <a:prstGeom prst="rect">
            <a:avLst/>
          </a:prstGeom>
          <a:noFill/>
          <a:ln/>
        </p:spPr>
        <p:txBody>
          <a:bodyPr wrap="square" lIns="0" tIns="0" rIns="0" bIns="0" rtlCol="0" anchor="t"/>
          <a:lstStyle/>
          <a:p>
            <a:pPr indent="0" marL="0">
              <a:buNone/>
            </a:pPr>
            <a:r>
              <a:rPr lang="en-US" sz="1000" dirty="0">
                <a:solidFill>
                  <a:srgbClr val="222222"/>
                </a:solidFill>
                <a:latin typeface="Calibri" pitchFamily="34" charset="0"/>
                <a:ea typeface="Calibri" pitchFamily="34" charset="-122"/>
                <a:cs typeface="Calibri" pitchFamily="34" charset="-120"/>
              </a:rPr>
              <a:t>A Cali no le faltaba una evaluación del riesgo. Entre 2020 y 2022 la ciudad construyó un modelo completo de riesgo sísmico urbano con la Fundación GEM en el marco del proyecto TREQ, apoyado por USAID, como una de las tres ciudades piloto junto con Quito y Santiago de los Caballeros. El escenario modelado es local y somero —magnitud 6.5 a 10 km de profundidad en la falla Dagua-Calima— y sus estimaciones superan con mucho lo que la ciudad vivió el 10 de agosto de 2026.</a:t>
            </a:r>
            <a:endParaRPr lang="en-US" sz="1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2139696"/>
          <a:ext cx="5760720" cy="914400"/>
        </p:xfrm>
        <a:graphic>
          <a:graphicData uri="http://schemas.openxmlformats.org/drawingml/2006/table">
            <a:tbl>
              <a:tblPr/>
              <a:tblGrid>
                <a:gridCol w="2103120"/>
                <a:gridCol w="3657600"/>
              </a:tblGrid>
              <a:tr h="301752">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Escenario modelado (GEM-TREQ, 2022)</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Valor</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Escenario modelado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M6.5, 10 km de profundidad, falla Dagua-Calima, área urbana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Población expuesta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2.300.000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Muertos estimados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1.200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Heridos graves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36.300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Desplazados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181.000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Edificaciones colapsadas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aprox. 1.800 de 348.000 (0,5 %)</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01752">
                <a:tc>
                  <a:txBody>
                    <a:bodyPr/>
                    <a:lstStyle/>
                    <a:p>
                      <a:pPr algn="l" indent="0" marL="0">
                        <a:buNone/>
                      </a:pPr>
                      <a:r>
                        <a:rPr lang="en-US" sz="950" b="1" dirty="0">
                          <a:solidFill>
                            <a:srgbClr val="1F3864"/>
                          </a:solidFill>
                          <a:latin typeface="Calibri" pitchFamily="34" charset="0"/>
                          <a:ea typeface="Calibri" pitchFamily="34" charset="-122"/>
                          <a:cs typeface="Calibri" pitchFamily="34" charset="-120"/>
                        </a:rPr>
                        <a:t>Riesgo residual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evaluado en cerca del 40 % tras las medidas existentes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4864608"/>
            <a:ext cx="5760720" cy="347472"/>
          </a:xfrm>
          <a:prstGeom prst="rect">
            <a:avLst/>
          </a:prstGeom>
          <a:noFill/>
          <a:ln/>
        </p:spPr>
        <p:txBody>
          <a:bodyPr wrap="square" lIns="0" tIns="0" rIns="0" bIns="0" rtlCol="0" anchor="t"/>
          <a:lstStyle/>
          <a:p>
            <a:pPr indent="0" marL="0">
              <a:buNone/>
            </a:pPr>
            <a:r>
              <a:rPr lang="en-US" sz="680" i="1" dirty="0">
                <a:solidFill>
                  <a:srgbClr val="6A6A6A"/>
                </a:solidFill>
                <a:latin typeface="Calibri" pitchFamily="34" charset="0"/>
                <a:ea typeface="Calibri" pitchFamily="34" charset="-122"/>
                <a:cs typeface="Calibri" pitchFamily="34" charset="-120"/>
              </a:rPr>
              <a:t>Cifras tomadas de la evaluación de riesgo urbano GEM-TREQ para Santiago de Cali y del plan local de gestión del riesgo de la ciudad, recopiladas por la Alcaldía de Santiago de Cali (Secretaría de Gestión del Riesgo de Emergencias y Desastres) para un curso de formación de JICA.</a:t>
            </a:r>
            <a:endParaRPr lang="en-US" sz="680" dirty="0"/>
          </a:p>
        </p:txBody>
      </p:sp>
      <p:sp>
        <p:nvSpPr>
          <p:cNvPr id="7" name="Text 3"/>
          <p:cNvSpPr/>
          <p:nvPr/>
        </p:nvSpPr>
        <p:spPr>
          <a:xfrm>
            <a:off x="6309360" y="987552"/>
            <a:ext cx="5486400" cy="256032"/>
          </a:xfrm>
          <a:prstGeom prst="rect">
            <a:avLst/>
          </a:prstGeom>
          <a:noFill/>
          <a:ln/>
        </p:spPr>
        <p:txBody>
          <a:bodyPr wrap="square" lIns="0" tIns="0" rIns="0" bIns="0" rtlCol="0" anchor="ctr"/>
          <a:lstStyle/>
          <a:p>
            <a:pPr indent="0" marL="0">
              <a:buNone/>
            </a:pPr>
            <a:r>
              <a:rPr lang="en-US" sz="1150" b="1" dirty="0">
                <a:solidFill>
                  <a:srgbClr val="1F3864"/>
                </a:solidFill>
                <a:latin typeface="Calibri" pitchFamily="34" charset="0"/>
                <a:ea typeface="Calibri" pitchFamily="34" charset="-122"/>
                <a:cs typeface="Calibri" pitchFamily="34" charset="-120"/>
              </a:rPr>
              <a:t>Lo que la ciudad ya había priorizado</a:t>
            </a:r>
            <a:endParaRPr lang="en-US" sz="1150" dirty="0"/>
          </a:p>
        </p:txBody>
      </p:sp>
      <p:sp>
        <p:nvSpPr>
          <p:cNvPr id="8" name="Text 4"/>
          <p:cNvSpPr/>
          <p:nvPr/>
        </p:nvSpPr>
        <p:spPr>
          <a:xfrm>
            <a:off x="6309360" y="1280160"/>
            <a:ext cx="5486400" cy="3877056"/>
          </a:xfrm>
          <a:prstGeom prst="rect">
            <a:avLst/>
          </a:prstGeom>
          <a:noFill/>
          <a:ln/>
        </p:spPr>
        <p:txBody>
          <a:bodyPr wrap="square" lIns="50800" tIns="50800" rIns="50800" bIns="50800" rtlCol="0" anchor="t"/>
          <a:lstStyle/>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Estudios de vulnerabilidad sísmica de edificaciones indispensables —hospitales, colegios, estaciones de bomberos— conforme a la NSR-10 (presupuestado en unos 1,7 millones de dólares, corto plazo).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Reforzamiento estructural de edificaciones indispensables y de la infraestructura de servicios básicos, para mantener los servicios esenciales tras un sismo.</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Evaluación de la vulnerabilidad sísmica de las redes de acueducto, alcantarillado y energía de EMCALI y de la red de gas de la ciudad.</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Actualización del modelo de respuesta local del suelo y de la microzonificación sísmica, vigente desde INGEOMINAS/DAGMA (2005) y adoptada por el Decreto 411.0.20.0158 de 2014 para el diseño estructural.</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Mantenimiento y ampliación de la Red de Acelerógrafos de Cali (RAC) y de su interoperabilidad con la red nacional del SGC.</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Aseguramiento de la infraestructura pública ante el riesgo sísmico y reforzamiento de viviendas de bajos ingresos mediante subsidios y programas de autoconstrucción segura.</a:t>
            </a:r>
            <a:endParaRPr lang="en-US" sz="850" dirty="0"/>
          </a:p>
          <a:p>
            <a:pPr algn="l" marL="342900" indent="-342900">
              <a:spcAft>
                <a:spcPts val="500"/>
              </a:spcAft>
              <a:buSzPct val="100000"/>
              <a:buChar char="•"/>
            </a:pPr>
            <a:r>
              <a:rPr lang="en-US" sz="850" dirty="0">
                <a:solidFill>
                  <a:srgbClr val="222222"/>
                </a:solidFill>
                <a:latin typeface="Calibri" pitchFamily="34" charset="0"/>
                <a:ea typeface="Calibri" pitchFamily="34" charset="-122"/>
                <a:cs typeface="Calibri" pitchFamily="34" charset="-120"/>
              </a:rPr>
              <a:t>Modelo de financiación de las medidas priorizadas: gobierno local 30-50 %, fondo nacional (FNGRD/UNGRD) 30-50 %, socios internacionales —entre ellos JICA, la Fundación GEM y el BID— cerca del 20 %.</a:t>
            </a:r>
            <a:endParaRPr lang="en-US" sz="850" dirty="0"/>
          </a:p>
        </p:txBody>
      </p:sp>
      <p:sp>
        <p:nvSpPr>
          <p:cNvPr id="9" name="Shape 5"/>
          <p:cNvSpPr/>
          <p:nvPr/>
        </p:nvSpPr>
        <p:spPr>
          <a:xfrm>
            <a:off x="365760" y="5248656"/>
            <a:ext cx="11430000" cy="859536"/>
          </a:xfrm>
          <a:prstGeom prst="roundRect">
            <a:avLst>
              <a:gd name="adj" fmla="val 5319"/>
            </a:avLst>
          </a:prstGeom>
          <a:solidFill>
            <a:srgbClr val="FCE9DC"/>
          </a:solidFill>
          <a:ln w="12700">
            <a:solidFill>
              <a:srgbClr val="E8A317"/>
            </a:solidFill>
            <a:prstDash val="solid"/>
          </a:ln>
        </p:spPr>
      </p:sp>
      <p:sp>
        <p:nvSpPr>
          <p:cNvPr id="10" name="Text 6"/>
          <p:cNvSpPr/>
          <p:nvPr/>
        </p:nvSpPr>
        <p:spPr>
          <a:xfrm>
            <a:off x="530352" y="5303520"/>
            <a:ext cx="11100816" cy="74980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El sismo de 2026 no fue este escenario
</a:t>
            </a:r>
            <a:pPr algn="l" indent="0" marL="0">
              <a:buNone/>
            </a:pPr>
            <a:r>
              <a:rPr lang="en-US" sz="950" dirty="0">
                <a:solidFill>
                  <a:srgbClr val="7A2E0E"/>
                </a:solidFill>
                <a:latin typeface="Calibri" pitchFamily="34" charset="0"/>
                <a:ea typeface="Calibri" pitchFamily="34" charset="-122"/>
                <a:cs typeface="Calibri" pitchFamily="34" charset="-120"/>
              </a:rPr>
              <a:t>El evento del 10 de agosto fue de mayor magnitud (M7.4) pero ocurrió a 110 km de profundidad y a 158 km de Cali, de modo que la ciudad experimentó MMI VI y no el sacudimiento de campo cercano del escenario M6.5 modelado. Cali registró 27 muertos y entre 25 y 30 estructuras colapsadas: dos órdenes de magnitud por debajo del escenario. Lo que sí puso a prueba fue justamente la debilidad que el plan local había señalado: cerca del 30 % del Hospital Universitario del Valle colapsó y siete instituciones de salud cerraron. El peor caso propio de la ciudad sigue por delante, y el argumento para reforzar las edificaciones indispensables es ahora empírico y no teórico.</a:t>
            </a:r>
            <a:endParaRPr lang="en-US" sz="1050" dirty="0"/>
          </a:p>
        </p:txBody>
      </p:sp>
      <p:sp>
        <p:nvSpPr>
          <p:cNvPr id="11" name="Text 7"/>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Alcaldía de Santiago de Cali — gestión del riesgo</a:t>
            </a:r>
            <a:endParaRPr lang="en-US" sz="850" dirty="0"/>
          </a:p>
        </p:txBody>
      </p:sp>
      <p:sp>
        <p:nvSpPr>
          <p:cNvPr id="12" name="Shape 8"/>
          <p:cNvSpPr/>
          <p:nvPr/>
        </p:nvSpPr>
        <p:spPr>
          <a:xfrm>
            <a:off x="10268712" y="6510528"/>
            <a:ext cx="1554480" cy="274320"/>
          </a:xfrm>
          <a:prstGeom prst="rect">
            <a:avLst/>
          </a:prstGeom>
          <a:solidFill>
            <a:srgbClr val="E8A317"/>
          </a:solidFill>
          <a:ln w="12700">
            <a:solidFill>
              <a:srgbClr val="E8A317"/>
            </a:solidFill>
            <a:prstDash val="solid"/>
          </a:ln>
        </p:spPr>
      </p:sp>
      <p:sp>
        <p:nvSpPr>
          <p:cNvPr id="13" name="Text 9"/>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4" name="Text 10"/>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Perfil de ciudad GEM-TREQ: Cali</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gem_treq_cali_manual.jpg">    </p:cNvPr>
          <p:cNvPicPr>
            <a:picLocks noChangeAspect="1"/>
          </p:cNvPicPr>
          <p:nvPr/>
        </p:nvPicPr>
        <p:blipFill>
          <a:blip r:embed="rId2"/>
          <a:stretch>
            <a:fillRect/>
          </a:stretch>
        </p:blipFill>
        <p:spPr>
          <a:xfrm>
            <a:off x="3006914" y="969264"/>
            <a:ext cx="6147692" cy="4352544"/>
          </a:xfrm>
          <a:prstGeom prst="rect">
            <a:avLst/>
          </a:prstGeom>
        </p:spPr>
      </p:pic>
      <p:sp>
        <p:nvSpPr>
          <p:cNvPr id="5" name="Text 1"/>
          <p:cNvSpPr/>
          <p:nvPr/>
        </p:nvSpPr>
        <p:spPr>
          <a:xfrm>
            <a:off x="1051560" y="5340096"/>
            <a:ext cx="100584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 GEM Foundation / USAID / Alcaldía de Santiago de Cali / USGS</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https://github.com/gem/treq-riesgo-urbano</a:t>
            </a:r>
            <a:endParaRPr lang="en-US" sz="800" dirty="0"/>
          </a:p>
        </p:txBody>
      </p:sp>
      <p:sp>
        <p:nvSpPr>
          <p:cNvPr id="6" name="Text 2"/>
          <p:cNvSpPr/>
          <p:nvPr/>
        </p:nvSpPr>
        <p:spPr>
          <a:xfrm>
            <a:off x="1051560" y="5596128"/>
            <a:ext cx="10058400" cy="54864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Perfil de ciudad GEM-TREQ para Cali: el escenario M6.5 / 10 km en la falla Dagua-Calima. Están expuestos 2,3 millones de personas y 312.000 edificios residenciales, 22.000 comerciales, 5.300 industriales y 8.000 institucionales, con 220 billones de pesos de capital expuesto. Las barras dan, por comuna, el índice de colapsos, los fallecidos, los heridos graves, los desplazados y las pérdidas económicas; los histogramas dan los totales de la ciudad con sus rangos modelados.</a:t>
            </a:r>
            <a:endParaRPr lang="en-US" sz="90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GEM-TREQ — Evaluación de riesgo sísmico para Santiago de Cali (informe técnico D2.6.2)</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Sismos históricos en Colombia</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7863840" cy="914400"/>
        </p:xfrm>
        <a:graphic>
          <a:graphicData uri="http://schemas.openxmlformats.org/drawingml/2006/table">
            <a:tbl>
              <a:tblPr/>
              <a:tblGrid>
                <a:gridCol w="731520"/>
                <a:gridCol w="2286000"/>
                <a:gridCol w="731520"/>
                <a:gridCol w="4114800"/>
              </a:tblGrid>
              <a:tr h="365760">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Año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Sismo</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Mag.</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Impacto y rasgos</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1906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Ecuador-Colombia (costa del Pacífico)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Uno de los mayores sismos jamás registrados; tsunami destructivo en la costa del Pacífico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1925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Cali (Valle del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El evento histórico de referencia para Cali; la ciudad también fue sacudida en 1995 y 2004, este último con daños en clínicas y edificaciones residenciales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1938</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Sismo del Eje Cafetero (profundo, 150 km)</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Un sismo de profundidad intermedia bajo los mismos departamentos cafeteros: el análogo histórico más cercano al sismo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1979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Tumaco (Nariño)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M8.1</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interfaz de subducción con tsunami; varios cientos de muertos</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1983</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Popayán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M5.5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250-300 muertos; centro histórico gravemente afectado: un sismo pequeño, pero somero y urbano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1994</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Páez (Cauca)</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M6.8</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1.100 muertos, en su mayoría por deslizamientos y flujos de escombros desencadenados por el sismo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1995</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Sismo de profundidad intermedia en el mismo departamento que el de 2026</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 Armenia (Quindío)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M6.1-6.2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Cerca de 1.185 muertos; el desastre sísmico más costoso de Colombia; impulsó las reformas actuales de gestión del riesgo</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ctr" indent="0" marL="0">
                        <a:buNone/>
                      </a:pPr>
                      <a:r>
                        <a:rPr lang="en-US" sz="1000" b="1" dirty="0">
                          <a:solidFill>
                            <a:srgbClr val="1F3864"/>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Terremoto del Chocó (este evento)</a:t>
                      </a:r>
                      <a:endParaRPr lang="en-US" sz="9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C00000"/>
                          </a:solidFill>
                          <a:latin typeface="Calibri" pitchFamily="34" charset="0"/>
                          <a:ea typeface="Calibri" pitchFamily="34" charset="-122"/>
                          <a:cs typeface="Calibri" pitchFamily="34" charset="-120"/>
                        </a:rPr>
                        <a:t>M7.4</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Calibri" pitchFamily="34" charset="0"/>
                          <a:ea typeface="Calibri" pitchFamily="34" charset="-122"/>
                          <a:cs typeface="Calibri" pitchFamily="34" charset="-120"/>
                        </a:rPr>
                        <a:t>Mayor magnitud registrada en Colombia en la última década (SGC); profundidad intermedia y daños de amplia distribución</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pic>
        <p:nvPicPr>
          <p:cNvPr id="5" name="Image 1" descr="/home/user/whatsmap/reports/colombia_eq_20260810/images/sgc_hazard_manual.jpg">    </p:cNvPr>
          <p:cNvPicPr>
            <a:picLocks noChangeAspect="1"/>
          </p:cNvPicPr>
          <p:nvPr/>
        </p:nvPicPr>
        <p:blipFill>
          <a:blip r:embed="rId2"/>
          <a:stretch>
            <a:fillRect/>
          </a:stretch>
        </p:blipFill>
        <p:spPr>
          <a:xfrm>
            <a:off x="8412480" y="1048131"/>
            <a:ext cx="3383280" cy="3298698"/>
          </a:xfrm>
          <a:prstGeom prst="rect">
            <a:avLst/>
          </a:prstGeom>
        </p:spPr>
      </p:pic>
      <p:sp>
        <p:nvSpPr>
          <p:cNvPr id="6" name="Text 1"/>
          <p:cNvSpPr/>
          <p:nvPr/>
        </p:nvSpPr>
        <p:spPr>
          <a:xfrm>
            <a:off x="8412480" y="4389120"/>
            <a:ext cx="33832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Calibri" pitchFamily="34" charset="0"/>
                <a:ea typeface="Calibri" pitchFamily="34" charset="-122"/>
                <a:cs typeface="Calibri" pitchFamily="34" charset="-120"/>
              </a:rPr>
              <a:t>PGA (g), modelo nacional de amenaza sísmica SGC / GEM (2020)</a:t>
            </a:r>
            <a:pPr algn="ctr" indent="0" marL="0">
              <a:buNone/>
            </a:pPr>
            <a:r>
              <a:rPr lang="en-US" sz="7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https://amenazasismica.sgc.gov.co/</a:t>
            </a:r>
            <a:endParaRPr lang="en-US" sz="800" dirty="0"/>
          </a:p>
        </p:txBody>
      </p:sp>
      <p:sp>
        <p:nvSpPr>
          <p:cNvPr id="7" name="Text 2"/>
          <p:cNvSpPr/>
          <p:nvPr/>
        </p:nvSpPr>
        <p:spPr>
          <a:xfrm>
            <a:off x="8412480" y="4645152"/>
            <a:ext cx="3383280" cy="457200"/>
          </a:xfrm>
          <a:prstGeom prst="rect">
            <a:avLst/>
          </a:prstGeom>
          <a:noFill/>
          <a:ln/>
        </p:spPr>
        <p:txBody>
          <a:bodyPr wrap="square" lIns="0" tIns="0" rIns="0" bIns="0" rtlCol="0" anchor="t"/>
          <a:lstStyle/>
          <a:p>
            <a:pPr algn="ctr" indent="0" marL="0">
              <a:buNone/>
            </a:pPr>
            <a:r>
              <a:rPr lang="en-US" sz="850" b="1" dirty="0">
                <a:solidFill>
                  <a:srgbClr val="1F3864"/>
                </a:solidFill>
                <a:latin typeface="Calibri" pitchFamily="34" charset="0"/>
                <a:ea typeface="Calibri" pitchFamily="34" charset="-122"/>
                <a:cs typeface="Calibri" pitchFamily="34" charset="-120"/>
              </a:rPr>
              <a:t>Amenaza sísmica nacional, periodo de retorno de 475 años</a:t>
            </a:r>
            <a:endParaRPr lang="en-US" sz="850" dirty="0"/>
          </a:p>
        </p:txBody>
      </p:sp>
      <p:sp>
        <p:nvSpPr>
          <p:cNvPr id="8" name="Shape 3"/>
          <p:cNvSpPr/>
          <p:nvPr/>
        </p:nvSpPr>
        <p:spPr>
          <a:xfrm>
            <a:off x="365760" y="5230368"/>
            <a:ext cx="7863840" cy="877824"/>
          </a:xfrm>
          <a:prstGeom prst="roundRect">
            <a:avLst>
              <a:gd name="adj" fmla="val 5208"/>
            </a:avLst>
          </a:prstGeom>
          <a:solidFill>
            <a:srgbClr val="FCE9DC"/>
          </a:solidFill>
          <a:ln w="12700">
            <a:solidFill>
              <a:srgbClr val="E8A317"/>
            </a:solidFill>
            <a:prstDash val="solid"/>
          </a:ln>
        </p:spPr>
      </p:sp>
      <p:sp>
        <p:nvSpPr>
          <p:cNvPr id="9" name="Text 4"/>
          <p:cNvSpPr/>
          <p:nvPr/>
        </p:nvSpPr>
        <p:spPr>
          <a:xfrm>
            <a:off x="530352" y="5285232"/>
            <a:ext cx="753465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Calibri" pitchFamily="34" charset="0"/>
                <a:ea typeface="Calibri" pitchFamily="34" charset="-122"/>
                <a:cs typeface="Calibri" pitchFamily="34" charset="-120"/>
              </a:rPr>
              <a:t>Patrón
</a:t>
            </a:r>
            <a:pPr algn="l" indent="0" marL="0">
              <a:buNone/>
            </a:pPr>
            <a:r>
              <a:rPr lang="en-US" sz="950" dirty="0">
                <a:solidFill>
                  <a:srgbClr val="7A2E0E"/>
                </a:solidFill>
                <a:latin typeface="Calibri" pitchFamily="34" charset="0"/>
                <a:ea typeface="Calibri" pitchFamily="34" charset="-122"/>
                <a:cs typeface="Calibri" pitchFamily="34" charset="-120"/>
              </a:rPr>
              <a:t>Los sismos más mortales de Colombia no han sido los de mayor magnitud. Popayán 1983 (M5.5), Páez 1994 (M6.8) y Armenia 1999 (M6.1-6.2) fueron someros y cercanos a los cascos urbanos; los eventos mayores, mar adentro en 1906 y 1979, dejaron menos víctimas. Lo que determina el saldo es la profundidad y la cercanía, no la magnitud por sí sola.</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Servicio Geológico Colombiano (SGC)</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Fundación GEM — proyecto TREQ (riesgo sísmico urbano: Quito / Cali / Santiago de los Caballeros)</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Observaciones y puntos por seguir</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Una fuente profunda con consecuencias de sismo somero. A 110 km de profundidad el sismo no produjo ruptura superficial ni tsunami y, aun así, dañó edificaciones en al menos seis departamentos. Los daños están dispersos y no concentrados, lo que complica la evaluación de necesidades, la logística y la priorización de la búsqueda y el rescate.</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Fallaron instalaciones críticas. El colapso de cerca del 30 % del Hospital Universitario del Valle, en Cali, el cierre de siete instituciones de salud, los daños en 52 colegios y el colapso parcial de una terminal aérea internacional reducen la capacidad de respuesta justo donde se necesita. El desempeño sísmico de hospitales, colegios y terminales de transporte es la lección más clara hasta ahora.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cifras se mueven como cabía esperar. El total nacional pasó de 111 en el balance del Gobierno de las 13:00 COT a 132 al caer la tarde, y el Chocó de 12 a 13 muertos, con los heridos revisados de 84 a 119, mientras los conteos de daños en edificaciones siguen en sus valores de primera mirada. Los aumentos rápidos de los próximos días deben leerse como avance de la evaluación y no necesariamente como agravamiento.</a:t>
            </a:r>
            <a:endParaRPr lang="en-US" sz="1050" dirty="0"/>
          </a:p>
          <a:p>
            <a:pPr algn="l" marL="342900" indent="-342900">
              <a:buSzPct val="100000"/>
              <a:buChar char="•"/>
            </a:pPr>
            <a:r>
              <a:rPr lang="en-US" sz="1050" b="1" dirty="0">
                <a:solidFill>
                  <a:srgbClr val="B8860B"/>
                </a:solidFill>
                <a:latin typeface="Calibri" pitchFamily="34" charset="0"/>
                <a:ea typeface="Calibri" pitchFamily="34" charset="-122"/>
                <a:cs typeface="Calibri" pitchFamily="34" charset="-120"/>
              </a:rPr>
              <a:t>[Prensa]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 zona afectada es el Eje Cafetero reconstruido después de 1999. Comparar el comportamiento de las construcciones posteriores a 1999 con el del parque más antiguo, bajo un tipo de sacudimiento muy distinto, será valioso para la región y para otros países con fuentes sísmicas de profundidad intermedia.</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Las evaluaciones existían antes del evento. El modelo de riesgo GEM-TREQ de Cali y su plan local ya habían señalado los hospitales y otras edificaciones indispensables como la prioridad de reforzamiento, y el sismo de 2026 —una prueba mucho más débil que el propio escenario modelado de la ciudad— aun así se llevó cerca del 30 % de su principal hospital público. La brecha aquí no es de conocimiento, sino de implementación y financiación.</a:t>
            </a:r>
            <a:endParaRPr lang="en-US" sz="1050" dirty="0"/>
          </a:p>
          <a:p>
            <a:pPr algn="l" marL="342900" indent="-342900">
              <a:buSzPct val="100000"/>
              <a:buChar char="•"/>
            </a:pPr>
            <a:r>
              <a:rPr lang="en-US" sz="1050" b="1" dirty="0">
                <a:solidFill>
                  <a:srgbClr val="1E7A34"/>
                </a:solidFill>
                <a:latin typeface="Calibri" pitchFamily="34" charset="0"/>
                <a:ea typeface="Calibri" pitchFamily="34" charset="-122"/>
                <a:cs typeface="Calibri" pitchFamily="34" charset="-120"/>
              </a:rPr>
              <a:t>[Oficial]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Riesgo de réplicas para las edificaciones averiadas. Se espera que la secuencia de réplicas intraplaca sea moderada, pero las estructuras averiadas han perdido capacidad; la inspección estructural rápida (evaluación de habitabilidad) antes de volver a ocuparlas es la prioridad inmediata, junto con la búsqueda y el rescate.</a:t>
            </a:r>
            <a:endParaRPr lang="en-US" sz="1050" dirty="0"/>
          </a:p>
          <a:p>
            <a:pPr algn="l" marL="342900" indent="-342900">
              <a:buSzPct val="100000"/>
              <a:buChar char="•"/>
            </a:pPr>
            <a:r>
              <a:rPr lang="en-US" sz="1050" b="1" dirty="0">
                <a:solidFill>
                  <a:srgbClr val="888888"/>
                </a:solidFill>
                <a:latin typeface="Calibri" pitchFamily="34" charset="0"/>
                <a:ea typeface="Calibri" pitchFamily="34" charset="-122"/>
                <a:cs typeface="Calibri" pitchFamily="34" charset="-120"/>
              </a:rPr>
              <a:t>[Por confirmar] </a:t>
            </a:r>
            <a:pPr algn="l" indent="0" marL="0">
              <a:spcAft>
                <a:spcPts val="500"/>
              </a:spcAft>
              <a:buNone/>
            </a:pPr>
            <a:r>
              <a:rPr lang="en-US" sz="1150" dirty="0">
                <a:solidFill>
                  <a:srgbClr val="222222"/>
                </a:solidFill>
                <a:latin typeface="Calibri" pitchFamily="34" charset="0"/>
                <a:ea typeface="Calibri" pitchFamily="34" charset="-122"/>
                <a:cs typeface="Calibri" pitchFamily="34" charset="-120"/>
              </a:rPr>
              <a:t>Puntos por seguir: la conciliación de las cifras nacionales de víctimas; las cifras de alojamiento y de personas desalojadas, que aún no se publican; el restablecimiento del agua y la energía en el Chocó; los resultados de la cartografía de daños con satélite; y si el Gobierno solicita asistencia internacional más allá de los ofrecimientos ya recibidos.</a:t>
            </a:r>
            <a:endParaRPr lang="en-US" sz="105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Calibri" pitchFamily="34" charset="0"/>
                <a:ea typeface="Calibri" pitchFamily="34" charset="-122"/>
                <a:cs typeface="Calibri" pitchFamily="34" charset="-120"/>
              </a:rPr>
              <a:t>Fuentes: </a:t>
            </a:r>
            <a:pPr algn="l" indent="0" marL="0">
              <a:buNone/>
            </a:pPr>
            <a:r>
              <a:rPr lang="en-US" sz="85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UNGRD: Unidad Nacional para la Gestión del Riesgo de Desastres</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M 7.4 San José del Palmar, Colombia (página del evento)</a:t>
            </a:r>
            <a:pPr algn="l" indent="0" marL="0">
              <a:buNone/>
            </a:pPr>
            <a:r>
              <a:rPr lang="en-US" sz="850" dirty="0">
                <a:solidFill>
                  <a:srgbClr val="6A6A6A"/>
                </a:solidFill>
                <a:latin typeface="Calibri" pitchFamily="34" charset="0"/>
                <a:ea typeface="Calibri" pitchFamily="34" charset="-122"/>
                <a:cs typeface="Calibri" pitchFamily="34" charset="-120"/>
              </a:rPr>
              <a:t>   ·   </a:t>
            </a:r>
            <a:pPr algn="l" indent="0" marL="0">
              <a:buNone/>
            </a:pPr>
            <a:r>
              <a:rPr lang="en-US" sz="85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Colombia</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(1/3)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Calibri" pitchFamily="34" charset="0"/>
                <a:ea typeface="Calibri" pitchFamily="34" charset="-122"/>
                <a:cs typeface="Calibri" pitchFamily="34" charset="-120"/>
              </a:rPr>
              <a:t>Política de fuentes: </a:t>
            </a:r>
            <a:pPr algn="l" indent="0" marL="0">
              <a:buNone/>
            </a:pPr>
            <a:r>
              <a:rPr lang="en-US" sz="900" dirty="0">
                <a:solidFill>
                  <a:srgbClr val="444444"/>
                </a:solidFill>
                <a:latin typeface="Calibri" pitchFamily="34" charset="0"/>
                <a:ea typeface="Calibri" pitchFamily="34" charset="-122"/>
                <a:cs typeface="Calibri" pitchFamily="34" charset="-120"/>
              </a:rPr>
              <a:t>Jerarquía de fuentes: oficial &gt; prensa &gt; por confirmar. Las cifras del Gobierno y de las entidades científicas se usan como fuente primaria; la información de prensa se emplea únicamente cuando aún no hay cifras oficiales y se identifica como tal. Los elementos en verificación se marcan como «por confirmar». Las cifras preliminares nunca se sustituyen por números mayores sin verificar.</a:t>
            </a:r>
            <a:endParaRPr lang="en-US" sz="9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USGS: M 7.4 San José del Palmar, Colombia (página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Servicio Geológico Colombiano (SGC)</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boletín del evento SGC2026pqqmro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SGC — mapa de intensidades macrosísmicas (ShakeMap) de este sismo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Unidad Nacional para la Gestión del Riesgo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GDACS: alerta sísmica naranja, Colombia, 10 ago.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Carta Internacional «Espacio y Grandes Catástrofes»: activaciones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Copernicus EMS — EMSR916 «Earthquake in Colombia» (activación)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ReliefWeb: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OPS/OMS: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PreventionWeb: PNGRD 2015-2030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 normativa sismo resistente de Colombia (NSR-10)</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 en vivo: los muertos ascienden a 132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El Colombiano — 84 heridos y 12 muertos en Chocó (Gobernación)</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https://www.elcolombiano.com/colombia/terremoto-temblor-hoy-colombia-choco-heridos-FL39761141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UN-SPIDER: la UNGRD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(2/3)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OCDE: análisis de gobernanza del riesgo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CNN: en vivo, al menos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France 24: Colombia declara la emergencia nacional; 111 muertos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 Jazeera: sismo de M7.4 en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CBS News: fuerte sismo en el occidente de Colombia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NBC News: muertos, heridos y edificios colapsados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primer balance oficial de daños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Colombia One: el Gobierno declara el desastre nacional</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Infobae: el SGC explica por qué el temblor duró tanto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NHK: el Presidente reporta 111 muertos y 87 heridos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Nikkei: sismo de M7.4 en el occidente de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Jiji Press: sismo de M7.4 en Colombia (en japonés)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Save the Children: niñez en riesgo tras el terremoto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Direct Relief: movilización de ayuda médica</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Americares: terremoto de Colombia, agosto de 2026</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Cambria" pitchFamily="34" charset="0"/>
                <a:ea typeface="Cambria" pitchFamily="34" charset="-122"/>
                <a:cs typeface="Cambria" pitchFamily="34" charset="-120"/>
              </a:rPr>
              <a:t>Enlaces útiles y fuentes (3/3)</a:t>
            </a:r>
            <a:endParaRPr lang="en-US" sz="21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Fuente</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Categoría</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Calibri" pitchFamily="34" charset="0"/>
                          <a:ea typeface="Calibri" pitchFamily="34" charset="-122"/>
                          <a:cs typeface="Calibri" pitchFamily="34" charset="-120"/>
                        </a:rPr>
                        <a:t>URL</a:t>
                      </a:r>
                      <a:endParaRPr lang="en-US" sz="11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GLIDEnumber — EQ-2026-000146-COL (identificador del evento)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ADRC: Centro Asiático para la Reducción de Desastres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Comisión Europea — apoyo de la UE a Colombia, Copernicus activado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Calibri" pitchFamily="34" charset="0"/>
                          <a:ea typeface="Calibri" pitchFamily="34" charset="-122"/>
                          <a:cs typeface="Calibri" pitchFamily="34" charset="-120"/>
                        </a:rPr>
                        <a:t>Prensa</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Fundación GEM — proyecto TREQ (riesgo sísmico urbano: Quito / Cali / Santiago de los Caballeros)</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https://www.globalquakemodel.org/proj/treq</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GEM-TREQ — Evaluación de riesgo sísmico para Santiago de Cali (informe técnico D2.6.2)</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https://cloud-storage.globalquakemodel.org/public/wix-new-website/pdf-collections-wix/publications/TREQ%20deliverables/reports/TREQ_D262_Riesgo_Sismico_Cali_v1.00.pdf</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Understanding seismic risk in Santiago de Cali for its application in risk management (revisado por pares, 2025)</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https://www.sciencedirect.com/science/article/abs/pii/S2212420925003097</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SATIC — Sistema de Alertas Tempranas Inteligentes y Comunitarias de Cali</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https://satic.cali.gov.co/satic</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Alcaldía de Santiago de Cali — gestión del riesgo</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https://www.cali.gov.co/gestiondelriesgo/</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UNGRD — Plan Nacional de Gestión del Riesgo de Desastres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https://portal.gestiondelriesgo.gov.co/Paginas/Plan-Nacional-de-Gestion-del-Riesgo.aspx</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Decreto 1478 de 2022 — actualización del PNGRD</a:t>
                      </a:r>
                      <a:endParaRPr lang="en-US" sz="9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Calibri" pitchFamily="34" charset="0"/>
                          <a:ea typeface="Calibri" pitchFamily="34" charset="-122"/>
                          <a:cs typeface="Calibri" pitchFamily="34" charset="-120"/>
                        </a:rPr>
                        <a:t>Oficial</a:t>
                      </a:r>
                      <a:endParaRPr lang="en-US" sz="85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https://www.funcionpublica.gov.co/eva/gestornormativo/norma.php?i=191411</a:t>
                      </a:r>
                      <a:endParaRPr lang="en-US" sz="800" dirty="0">
                        <a:latin typeface="Calibri" charset="0"/>
                        <a:ea typeface="Calibri" charset="0"/>
                        <a:cs typeface="Calibri"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Cambria" pitchFamily="34" charset="0"/>
                <a:ea typeface="Cambria" pitchFamily="34" charset="-122"/>
                <a:cs typeface="Cambria" pitchFamily="34" charset="-120"/>
              </a:rPr>
              <a:t>Centro Asiático para la Reducción de Desastres (ADRC)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Calibri" pitchFamily="34" charset="0"/>
                <a:ea typeface="Calibri" pitchFamily="34" charset="-122"/>
                <a:cs typeface="Calibri" pitchFamily="34" charset="-120"/>
              </a:rPr>
              <a:t>Informe multilingüe (EN/JA/ES) para difusión nacional e internacional. Se da prioridad a las fuentes oficiales; los vacíos se completan con información de prensa debidamente identificada.</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Calibri" pitchFamily="34" charset="0"/>
                <a:ea typeface="Calibri" pitchFamily="34" charset="-122"/>
                <a:cs typeface="Calibri" pitchFamily="34" charset="-120"/>
              </a:rPr>
              <a:t>Cifras al 10 de agosto de 2026, 22:00 COT (11 de agosto, 12:00 JST), unas 14 horas después del sismo. El balance consolidado del Gobierno (111 muertos, 87 heridos) corresponde a su corte de las 13:00 COT; la cifra posterior de 132 proviene de la prensa. Todas las cifras son preliminares.</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Calibri" pitchFamily="34" charset="0"/>
                <a:ea typeface="Calibri" pitchFamily="34" charset="-122"/>
                <a:cs typeface="Calibri"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2026-08-11T02:48:59Z</dcterms:created>
  <dcterms:modified xsi:type="dcterms:W3CDTF">2026-08-11T02:48:59Z</dcterms:modified>
</cp:coreProperties>
</file>