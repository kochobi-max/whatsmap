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13</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emsc-csem.org/"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 Type="http://schemas.openxmlformats.org/officeDocument/2006/relationships/image" Target="../media/image-25-1.png"/><Relationship Id="rId17" Type="http://schemas.openxmlformats.org/officeDocument/2006/relationships/slideLayout" Target="../slideLayouts/slideLayout1.xml"/><Relationship Id="rId1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glidenumber.net/" TargetMode="External"/><Relationship Id="rId3" Type="http://schemas.openxmlformats.org/officeDocument/2006/relationships/hyperlink" Target="https://www.adrc.asia/" TargetMode="External"/><Relationship Id="rId4" Type="http://schemas.openxmlformats.org/officeDocument/2006/relationships/hyperlink" Target="https://www.democrata.es/en/international/von-der-leyen-expresses-the-eu-s-support-for-colombia-and-activates-copernicus-after-the-earthquake/" TargetMode="External"/><Relationship Id="rId5" Type="http://schemas.openxmlformats.org/officeDocument/2006/relationships/hyperlink" Target="https://www.globalquakemodel.org/proj/treq" TargetMode="External"/><Relationship Id="rId6" Type="http://schemas.openxmlformats.org/officeDocument/2006/relationships/hyperlink" Target="https://cloud-storage.globalquakemodel.org/public/wix-new-website/pdf-collections-wix/publications/TREQ%20deliverables/reports/TREQ_D262_Riesgo_Sismico_Cali_v1.00.pdf" TargetMode="External"/><Relationship Id="rId7" Type="http://schemas.openxmlformats.org/officeDocument/2006/relationships/hyperlink" Target="https://www.sciencedirect.com/science/article/abs/pii/S2212420925003097" TargetMode="External"/><Relationship Id="rId8" Type="http://schemas.openxmlformats.org/officeDocument/2006/relationships/hyperlink" Target="https://satic.cali.gov.co/satic" TargetMode="External"/><Relationship Id="rId9" Type="http://schemas.openxmlformats.org/officeDocument/2006/relationships/hyperlink" Target="https://www.cali.gov.co/gestiondelriesgo/" TargetMode="External"/><Relationship Id="rId10" Type="http://schemas.openxmlformats.org/officeDocument/2006/relationships/hyperlink" Target="https://portal.gestiondelriesgo.gov.co/Paginas/Plan-Nacional-de-Gestion-del-Riesgo.aspx" TargetMode="External"/><Relationship Id="rId11" Type="http://schemas.openxmlformats.org/officeDocument/2006/relationships/hyperlink" Target="https://www.funcionpublica.gov.co/eva/gestornormativo/norma.php?i=191411" TargetMode="External"/><Relationship Id="rId12" Type="http://schemas.openxmlformats.org/officeDocument/2006/relationships/hyperlink" Target="https://www.emsc-csem.org/" TargetMode="External"/><Relationship Id="rId1" Type="http://schemas.openxmlformats.org/officeDocument/2006/relationships/image" Target="../media/image-26-1.png"/><Relationship Id="rId13" Type="http://schemas.openxmlformats.org/officeDocument/2006/relationships/slideLayout" Target="../slideLayouts/slideLayout1.xml"/><Relationship Id="rId1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7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En su balance de las 13:00 COT del 10 de agosto el Gobierno reportó 111 muertos y 87 heridos —cifra que la prensa elevó a 132 al caer la tarde—,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10 de agosto de 2026, 22:00 COT (11 de agosto, 12:00 JST), unas 14 horas después del sismo. El balance consolidado del Gobierno (111 muertos, 87 heridos) corresponde a su corte de las 13:00 COT; la cifra posterior de 132 proviene de la prensa. Todas las cifras son preliminares.</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20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El USGS y el SGC coinciden en el tamaño; el primer boletín del SGC dio M6.6 a 79 km antes de la revisión. Las dos localizaciones difieren unos 20 km y sus profundidades unos 11 km, lo normal en un sismo de profundidad intermedia registrado por redes distintas. Las distancias epicentrales de este informe se miden desde la localización del USGS. El evento SGC2026pqqmro fue localizado con 69 estaciones; el SGC advierte que sus boletines están sujetos a cambios mientras avanza la revisión.</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está muy por encima de los 111 muertos reportados nueve horas después del evento; la brecha es normal en esta etapa y se estrecha a medida que la observación reemplaza a las pérdidas modeladas.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13:18:10 UTC (08:18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mb 5.0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USGS us6000tjm4, revisado: 16 km al O de San José del Palmar, profundidad 98,5 km — 44 minutos después del sismo principal y a la misma profundidad intermedia. Otras entidades reportan 5.0-5.7 para este evento.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15:01 UTC (10:01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Reportada por las entidades regionales IGC (M4.7) e INET (M4.3); no aparece en el catálogo del USGS con umbral M2.5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(SGC bulletin)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 / 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Las dos réplicas listadas en el boletín del evento del SGC; la de M4.8 fue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22:00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prensa reportó más de 20 réplicas durante el día; no se había publicado un conteo oficial consolidado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Prensa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639312"/>
            <a:ext cx="11430000" cy="566928"/>
          </a:xfrm>
          <a:prstGeom prst="rect">
            <a:avLst/>
          </a:prstGeom>
          <a:noFill/>
          <a:ln/>
        </p:spPr>
        <p:txBody>
          <a:bodyPr wrap="square" lIns="50800" tIns="50800" rIns="50800" bIns="50800" rtlCol="0" anchor="t"/>
          <a:lstStyle/>
          <a:p>
            <a:pPr indent="0" marL="0">
              <a:buNone/>
            </a:pPr>
            <a:r>
              <a:rPr lang="en-US" sz="950" dirty="0">
                <a:solidFill>
                  <a:srgbClr val="222222"/>
                </a:solidFill>
                <a:latin typeface="Calibri" pitchFamily="34" charset="0"/>
                <a:ea typeface="Calibri" pitchFamily="34" charset="-122"/>
                <a:cs typeface="Calibri" pitchFamily="34" charset="-120"/>
              </a:rPr>
              <a:t>Una consulta al catálogo del USGS para la región con umbral M2.5 devuelve solo dos eventos: el sismo principal y una única réplica de mb 5.0 44 minutos después, ambos revisados. El boletín del SGC añade M4.8 y M2.8, y la prensa reportó más de 20 eventos durante el día: esos sismos menores quedan por debajo de la completitud del catálogo global aquí y solo están en los datos de la red nacional. Una secuencia escasa de réplicas grandes es lo que cabe esperar de una ruptura intraplaca de profundidad intermedia; pero un M5 mientras la búsqueda y el rescate están en curso basta para derribar estructuras que el sismo principal ya debilitó.</a:t>
            </a:r>
            <a:endParaRPr lang="en-US" sz="950" dirty="0"/>
          </a:p>
        </p:txBody>
      </p:sp>
      <p:sp>
        <p:nvSpPr>
          <p:cNvPr id="6" name="Shape 2"/>
          <p:cNvSpPr/>
          <p:nvPr/>
        </p:nvSpPr>
        <p:spPr>
          <a:xfrm>
            <a:off x="365760" y="4261104"/>
            <a:ext cx="11430000" cy="1005840"/>
          </a:xfrm>
          <a:prstGeom prst="roundRect">
            <a:avLst>
              <a:gd name="adj" fmla="val 4545"/>
            </a:avLst>
          </a:prstGeom>
          <a:solidFill>
            <a:srgbClr val="FCE9DC"/>
          </a:solidFill>
          <a:ln w="12700">
            <a:solidFill>
              <a:srgbClr val="E8A317"/>
            </a:solidFill>
            <a:prstDash val="solid"/>
          </a:ln>
        </p:spPr>
      </p:sp>
      <p:sp>
        <p:nvSpPr>
          <p:cNvPr id="7" name="Text 3"/>
          <p:cNvSpPr/>
          <p:nvPr/>
        </p:nvSpPr>
        <p:spPr>
          <a:xfrm>
            <a:off x="530352" y="4315968"/>
            <a:ext cx="11100816" cy="8961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8" name="Shape 4"/>
          <p:cNvSpPr/>
          <p:nvPr/>
        </p:nvSpPr>
        <p:spPr>
          <a:xfrm>
            <a:off x="365760" y="5358384"/>
            <a:ext cx="11430000" cy="768096"/>
          </a:xfrm>
          <a:prstGeom prst="roundRect">
            <a:avLst>
              <a:gd name="adj" fmla="val 5952"/>
            </a:avLst>
          </a:prstGeom>
          <a:solidFill>
            <a:srgbClr val="FCE9DC"/>
          </a:solidFill>
          <a:ln w="12700">
            <a:solidFill>
              <a:srgbClr val="E8A317"/>
            </a:solidFill>
            <a:prstDash val="solid"/>
          </a:ln>
        </p:spPr>
      </p:sp>
      <p:sp>
        <p:nvSpPr>
          <p:cNvPr id="9" name="Text 5"/>
          <p:cNvSpPr/>
          <p:nvPr/>
        </p:nvSpPr>
        <p:spPr>
          <a:xfrm>
            <a:off x="530352" y="5413248"/>
            <a:ext cx="11100816" cy="65836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Implicación operativa
</a:t>
            </a:r>
            <a:pPr algn="l" indent="0" marL="0">
              <a:buNone/>
            </a:pPr>
            <a:r>
              <a:rPr lang="en-US" sz="950" dirty="0">
                <a:solidFill>
                  <a:srgbClr val="7A2E0E"/>
                </a:solidFill>
                <a:latin typeface="Calibri" pitchFamily="34" charset="0"/>
                <a:ea typeface="Calibri" pitchFamily="34" charset="-122"/>
                <a:cs typeface="Calibri" pitchFamily="34" charset="-120"/>
              </a:rPr>
              <a:t>Las edificaciones que sobrevivieron al sismo principal en estado averiado han perdido capacidad. Incluso réplicas moderadas pueden derribarlas, de modo que la evaluación rápida de habitabilidad antes de volver a ocuparlas —y mantener a la gente fuera de las estructuras visiblemente averiadas— importa tanto como las estadísticas de réplicas.</a:t>
            </a:r>
            <a:endParaRPr lang="en-US" sz="1050" dirty="0"/>
          </a:p>
        </p:txBody>
      </p:sp>
      <p:sp>
        <p:nvSpPr>
          <p:cNvPr id="10" name="Text 6"/>
          <p:cNvSpPr/>
          <p:nvPr/>
        </p:nvSpPr>
        <p:spPr>
          <a:xfrm>
            <a:off x="365760" y="6144768"/>
            <a:ext cx="11430000" cy="182880"/>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Datos: servicio de eventos FDSN del USGS, región 3-7 N / 78-74,5 O, M2.5+, desde la hora de origen (query.csv en este repositorio). Reproducible en earthquake.usgs.gov/fdsnws/event/1/.</a:t>
            </a:r>
            <a:endParaRPr lang="en-US" sz="70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EMSC-CSEM — boletín sísmico (soluciones de varias entidades)</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132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Edificaciones afectadas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más de 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El gobernador cita al menos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Cifra del Presidente; la Gobernación había reportado 12 muertos y 84 heridos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y luego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Las cifras departamentales provienen de autoridades locales y de la Presidencia en momentos distintos y no suman el total nacional; el propio total pasó de 111 a las 13:00 COT a 132 al caer la tarde del 10 de agosto. Se conciliarán a medida que avance la verificación.</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muertos, heridos y edificios colapsados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132 (prensa, tarde del 10 de agosto). El balance del Gobierno a las 13:00 COT era de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(CNN, en vivo); Presidencia / UNGRD para la cifra de las 13:00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 en el país (Gobierno, 13:00 COT). Solo en Chocó el Presidente reportó después 119 heridos.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 UNGRD; Presidencia (cifra del Chocó)</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 atrapados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cuantificar. Cuatro personas habían sido rescatadas con vida de los escombros al caer la tarde del 10 de agosto; las búsquedas continuaban en Cali, Pereira y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Autoridades locales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 en Chocó, Risaralda, Caldas, Valle del Cauca, Quindío y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Edificaciones afectadas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en el país; en Cali entre 25 y 30 en 12 puntos críticos; en Manizales 17 colapsados y 19 con colapso parcial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alcaldías de Cali y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con daños;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con daños;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vías y carreteras principales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Presidenta de México ofreció «todo el apoyo que se requiera»; varios gobiernos latinoamericanos ofrecieron rescatistas, unidades caninas y ayuda humanitaria, que se canalizarán a través de la Cancillería de Colombia y la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Al momento de redactar este informe no se identificó ningún anuncio del Gobierno de Japón (mensaje de condolencias, cooperación financiera no reembolsable de emergencia o envío del Equipo Japonés de Socorro en Casos de Desastre).</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Canalización
</a:t>
            </a:r>
            <a:pPr algn="l" indent="0" marL="0">
              <a:buNone/>
            </a:pPr>
            <a:r>
              <a:rPr lang="en-US" sz="950" dirty="0">
                <a:solidFill>
                  <a:srgbClr val="7A2E0E"/>
                </a:solidFill>
                <a:latin typeface="Calibri" pitchFamily="34" charset="0"/>
                <a:ea typeface="Calibri" pitchFamily="34" charset="-122"/>
                <a:cs typeface="Calibri" pitchFamily="34" charset="-120"/>
              </a:rPr>
              <a:t>Los ofrecimientos de ayuda se canalizan a través de la Cancillería de Colombia junto con la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Las cifras se mueven como cabía esperar. El total nacional pasó de 111 en el balance del Gobierno de las 13:00 COT a 132 al caer la tarde, y el Chocó de 12 a 13 muertos, con los heridos revisados de 84 a 119, mientras los conteos de daños en edificaciones siguen en sus valores de primera mirada. Los aumentos rápidos de los próximos días deben leerse como avance de la evaluación y no necesariamente como agravamiento.</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Riesgo de réplicas para las edificaciones averiadas. Se espera que la secuencia de réplicas intraplaca sea moderada, pero las estructuras averiadas han perdido capacidad; la inspección estructural rápida (evaluación de habitabilidad) antes de volver a ocuparlas es la prioridad inmediata, junto con la búsqueda y el rescate.</a:t>
            </a:r>
            <a:endParaRPr lang="en-US" sz="1050" dirty="0"/>
          </a:p>
          <a:p>
            <a:pPr algn="l" marL="342900" indent="-342900">
              <a:buSzPct val="100000"/>
              <a:buChar char="•"/>
            </a:pPr>
            <a:r>
              <a:rPr lang="en-US" sz="105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10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 boletín sísmico (soluciones de varias entidades)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10 de agosto de 2026, 22:00 COT (11 de agosto, 12:00 JST), unas 14 horas después del sismo. El balance consolidado del Gobierno (111 muertos, 87 heridos) corresponde a su corte de las 13:00 COT; la cifra posterior de 132 proviene de la prensa. Todas las cifras son preliminares.</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2026-08-11T03:26:00Z</dcterms:created>
  <dcterms:modified xsi:type="dcterms:W3CDTF">2026-08-11T03:26:00Z</dcterms:modified>
</cp:coreProperties>
</file>