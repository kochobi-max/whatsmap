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Población expuesta por nivel de sacudimiento (millones, PAGER del USGS)</a:t>
            </a:r>
          </a:p>
        </c:rich>
      </c:tx>
      <c:layout/>
      <c:overlay val="0"/>
    </c:title>
    <c:autoTitleDeleted val="0"/>
    <c:plotArea>
      <c:layout/>
      <c:barChart>
        <c:barDir val="col"/>
        <c:grouping val="clustered"/>
        <c:varyColors val="0"/>
        <c:ser>
          <c:idx val="0"/>
          <c:order val="0"/>
          <c:tx>
            <c:strRef>
              <c:f>Sheet1!$B$1</c:f>
              <c:strCache>
                <c:ptCount val="1"/>
                <c:pt idx="0">
                  <c:v>Personas expuestas</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Muertos reportados por departamento (provisional)</a:t>
            </a:r>
          </a:p>
        </c:rich>
      </c:tx>
      <c:layout/>
      <c:overlay val="0"/>
    </c:title>
    <c:autoTitleDeleted val="0"/>
    <c:plotArea>
      <c:layout/>
      <c:barChart>
        <c:barDir val="bar"/>
        <c:grouping val="clustered"/>
        <c:varyColors val="0"/>
        <c:ser>
          <c:idx val="0"/>
          <c:order val="0"/>
          <c:tx>
            <c:strRef>
              <c:f>Sheet1!$B$1</c:f>
              <c:strCache>
                <c:ptCount val="1"/>
                <c:pt idx="0">
                  <c:v>Muertos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Valle del Cauca (Cali)</c:v>
                  </c:pt>
                  <c:pt idx="1">
                    <c:v>Risaralda (Pereira)</c:v>
                  </c:pt>
                  <c:pt idx="2">
                    <c:v>Chocó (Quibdó)</c:v>
                  </c:pt>
                  <c:pt idx="3">
                    <c:v>Caldas (Manizales)</c:v>
                  </c:pt>
                  <c:pt idx="4">
                    <c:v>Antioquia</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6-1.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7-1.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8-1.png"/><Relationship Id="rId2" Type="http://schemas.openxmlformats.org/officeDocument/2006/relationships/image" Target="../media/image-8-2.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9-1.png"/><Relationship Id="rId2" Type="http://schemas.openxmlformats.org/officeDocument/2006/relationships/image" Target="../media/image-9-2.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0-1.png"/><Relationship Id="rId2" Type="http://schemas.openxmlformats.org/officeDocument/2006/relationships/image" Target="../media/image-10-2.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11-1.png"/><Relationship Id="rId2" Type="http://schemas.openxmlformats.org/officeDocument/2006/relationships/image" Target="../media/image-11-2.jp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2-1.png"/><Relationship Id="rId2" Type="http://schemas.openxmlformats.org/officeDocument/2006/relationships/image" Target="../media/image-12-2.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3-1.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www.colombiatebusca.com/" TargetMode="External"/><Relationship Id="rId3" Type="http://schemas.openxmlformats.org/officeDocument/2006/relationships/hyperlink" Target="https://www.asocapitales.co/terremoto-colombia.html" TargetMode="External"/><Relationship Id="rId4"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www.cali.gov.co/gestiondelriesgo/" TargetMode="External"/><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portal.gestiondelriesgo.gov.co/"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8-1.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9-1.png"/><Relationship Id="rId2" Type="http://schemas.openxmlformats.org/officeDocument/2006/relationships/image" Target="../media/image-19-2.jpg"/><Relationship Id="rId4" Type="http://schemas.openxmlformats.org/officeDocument/2006/relationships/image" Target="../media/image-19-3.jpg"/><Relationship Id="rId9" Type="http://schemas.openxmlformats.org/officeDocument/2006/relationships/slideLayout" Target="../slideLayouts/slideLayout1.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20-1.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21-1.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22-1.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23-1.png"/><Relationship Id="rId2" Type="http://schemas.openxmlformats.org/officeDocument/2006/relationships/image" Target="../media/image-23-2.jp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24-1.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25-1.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6-1.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7-1.png"/><Relationship Id="rId2" Type="http://schemas.openxmlformats.org/officeDocument/2006/relationships/image" Target="../media/image-27-2.jp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8-1.png"/><Relationship Id="rId2" Type="http://schemas.openxmlformats.org/officeDocument/2006/relationships/image" Target="../media/image-28-2.jpg"/><Relationship Id="rId7" Type="http://schemas.openxmlformats.org/officeDocument/2006/relationships/slideLayout" Target="../slideLayouts/slideLayout1.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9-1.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5" Type="http://schemas.openxmlformats.org/officeDocument/2006/relationships/hyperlink" Target="https://www.elcolombiano.com/colombia/terremoto-temblor-hoy-colombia-choco-heridos-FL39761141" TargetMode="External"/><Relationship Id="rId1" Type="http://schemas.openxmlformats.org/officeDocument/2006/relationships/image" Target="../media/image-30-1.png"/><Relationship Id="rId16" Type="http://schemas.openxmlformats.org/officeDocument/2006/relationships/slideLayout" Target="../slideLayouts/slideLayout1.xml"/><Relationship Id="rId1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www.oecd.org/en/publications/risk-governance-scan-of-colombia_eeb81954-en.html"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france24.com/en/americas/20260810-powerful-quake-rocks-colombia-causing-major-damage" TargetMode="External"/><Relationship Id="rId6" Type="http://schemas.openxmlformats.org/officeDocument/2006/relationships/hyperlink" Target="https://www.aljazeera.com/news/2026/8/10/7-4-magnitude-earthquake-hits-colombia-killing-at-least-20" TargetMode="External"/><Relationship Id="rId7" Type="http://schemas.openxmlformats.org/officeDocument/2006/relationships/hyperlink" Target="https://www.cbsnews.com/news/colombia-earthquake-western-region-evacuations/" TargetMode="External"/><Relationship Id="rId8" Type="http://schemas.openxmlformats.org/officeDocument/2006/relationships/hyperlink" Target="https://www.nbcnews.com/world/latin-america/strong-earthquake-colombia-ecuador-people-evacuating-homes-buildings-rcna591709" TargetMode="External"/><Relationship Id="rId9" Type="http://schemas.openxmlformats.org/officeDocument/2006/relationships/hyperlink" Target="https://colombiaone.com/2026/08/10/earthquake-colombia-official-details/" TargetMode="External"/><Relationship Id="rId10" Type="http://schemas.openxmlformats.org/officeDocument/2006/relationships/hyperlink" Target="https://colombiaone.com/2026/08/10/colombia-national-disaster/" TargetMode="External"/><Relationship Id="rId11" Type="http://schemas.openxmlformats.org/officeDocument/2006/relationships/hyperlink" Target="https://www.infobae.com/colombia/2026/08/10/por-que-el-temblor-en-colombia-de-este-lunes-10-de-agosto-duro-una-eternidad-el-servicio-geologico-explico-que-paso/" TargetMode="External"/><Relationship Id="rId12" Type="http://schemas.openxmlformats.org/officeDocument/2006/relationships/hyperlink" Target="https://www3.nhk.or.jp/news/" TargetMode="External"/><Relationship Id="rId13" Type="http://schemas.openxmlformats.org/officeDocument/2006/relationships/hyperlink" Target="https://www.nikkei.com/article/DGXZQOGN108V30Q6A810C2000000/" TargetMode="External"/><Relationship Id="rId14" Type="http://schemas.openxmlformats.org/officeDocument/2006/relationships/hyperlink" Target="https://www.jiji.com/jc/article?k=2026081000878&amp;g=int" TargetMode="External"/><Relationship Id="rId15" Type="http://schemas.openxmlformats.org/officeDocument/2006/relationships/hyperlink" Target="https://www.savethechildren.org/us/about-us/media-and-news/2026-press-releases/children-at-risk-after-earthquake-strikes-colombia" TargetMode="External"/><Relationship Id="rId1" Type="http://schemas.openxmlformats.org/officeDocument/2006/relationships/image" Target="../media/image-31-1.png"/><Relationship Id="rId16" Type="http://schemas.openxmlformats.org/officeDocument/2006/relationships/slideLayout" Target="../slideLayouts/slideLayout1.xml"/><Relationship Id="rId1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www.directrelief.org/2026/08/colombia-earthquake-7-4-magnitude-direct-relief-response/" TargetMode="External"/><Relationship Id="rId3" Type="http://schemas.openxmlformats.org/officeDocument/2006/relationships/hyperlink" Target="https://www.americares.org/crisis-alerts/colombia-earthquake-august-2026/" TargetMode="External"/><Relationship Id="rId4" Type="http://schemas.openxmlformats.org/officeDocument/2006/relationships/hyperlink" Target="https://glidenumber.net/" TargetMode="External"/><Relationship Id="rId5" Type="http://schemas.openxmlformats.org/officeDocument/2006/relationships/hyperlink" Target="https://www.adrc.asia/" TargetMode="External"/><Relationship Id="rId6" Type="http://schemas.openxmlformats.org/officeDocument/2006/relationships/hyperlink" Target="https://www.democrata.es/en/international/von-der-leyen-expresses-the-eu-s-support-for-colombia-and-activates-copernicus-after-the-earthquake/" TargetMode="External"/><Relationship Id="rId7" Type="http://schemas.openxmlformats.org/officeDocument/2006/relationships/hyperlink" Target="https://www.globalquakemodel.org/proj/treq" TargetMode="External"/><Relationship Id="rId8" Type="http://schemas.openxmlformats.org/officeDocument/2006/relationships/hyperlink" Target="https://cloud-storage.globalquakemodel.org/public/wix-new-website/pdf-collections-wix/publications/TREQ%20deliverables/reports/TREQ_D262_Riesgo_Sismico_Cali_v1.00.pdf" TargetMode="External"/><Relationship Id="rId9" Type="http://schemas.openxmlformats.org/officeDocument/2006/relationships/hyperlink" Target="https://www.sciencedirect.com/science/article/abs/pii/S2212420925003097" TargetMode="External"/><Relationship Id="rId10" Type="http://schemas.openxmlformats.org/officeDocument/2006/relationships/hyperlink" Target="https://satic.cali.gov.co/satic" TargetMode="External"/><Relationship Id="rId11" Type="http://schemas.openxmlformats.org/officeDocument/2006/relationships/hyperlink" Target="https://www.cali.gov.co/gestiondelriesgo/" TargetMode="External"/><Relationship Id="rId12" Type="http://schemas.openxmlformats.org/officeDocument/2006/relationships/hyperlink" Target="https://portal.gestiondelriesgo.gov.co/Paginas/Plan-Nacional-de-Gestion-del-Riesgo.aspx" TargetMode="External"/><Relationship Id="rId13" Type="http://schemas.openxmlformats.org/officeDocument/2006/relationships/hyperlink" Target="https://www.funcionpublica.gov.co/eva/gestornormativo/norma.php?i=191411" TargetMode="External"/><Relationship Id="rId14" Type="http://schemas.openxmlformats.org/officeDocument/2006/relationships/hyperlink" Target="https://www.emsc-csem.org/" TargetMode="External"/><Relationship Id="rId15" Type="http://schemas.openxmlformats.org/officeDocument/2006/relationships/hyperlink" Target="https://catalogosismico.sgc.gov.co/visor/index.html" TargetMode="External"/><Relationship Id="rId1" Type="http://schemas.openxmlformats.org/officeDocument/2006/relationships/image" Target="../media/image-32-1.png"/><Relationship Id="rId16" Type="http://schemas.openxmlformats.org/officeDocument/2006/relationships/slideLayout" Target="../slideLayouts/slideLayout1.xml"/><Relationship Id="rId1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3" Type="http://schemas.openxmlformats.org/officeDocument/2006/relationships/hyperlink" Target="https://www.elespectador.com/colombia/mas-regiones/temblor-en-colombia-hoy-10-de-agosto-en-vivo-epicentro-y-reporte-de-afectaciones/" TargetMode="External"/><Relationship Id="rId4" Type="http://schemas.openxmlformats.org/officeDocument/2006/relationships/hyperlink" Target="https://www.noticiascaracol.com/colombia/en-vivo-colombia-hoy-tras-terremoto-de-magnitud-7-4-continuan-las-labores-de-rescate-so35" TargetMode="External"/><Relationship Id="rId5" Type="http://schemas.openxmlformats.org/officeDocument/2006/relationships/hyperlink" Target="https://rpp.pe/mundo/colombia/abelardo-de-la-espriella-cifra-en-181-los-muertos-por-el-terremoto-59-menos-que-datos-regionales-noticia-1701022" TargetMode="External"/><Relationship Id="rId6" Type="http://schemas.openxmlformats.org/officeDocument/2006/relationships/hyperlink" Target="https://www.eltiempo.com/colombia/otras-ciudades/cuantas-replicas-se-han-registrado-tras-el-terremoto-de-7-4-en-colombia-estas-son-todas-las-magnitudes-3577711" TargetMode="External"/><Relationship Id="rId7" Type="http://schemas.openxmlformats.org/officeDocument/2006/relationships/hyperlink" Target="https://www.semana.com/tecnologia/articulo/servicio-geologico-revela-el-numero-total-de-replicas-que-ha-habido-en-colombia-tras-fuerte-terremoto-que-estremecio-al-pais/202641/" TargetMode="External"/><Relationship Id="rId8" Type="http://schemas.openxmlformats.org/officeDocument/2006/relationships/hyperlink" Target="https://www.mofa.go.jp/mofaj/la_c/sa/co/pageit_000001_00001.html" TargetMode="External"/><Relationship Id="rId9" Type="http://schemas.openxmlformats.org/officeDocument/2006/relationships/hyperlink" Target="https://x.com/MofaJapan_jp/status/2087155064855261537" TargetMode="External"/><Relationship Id="rId10" Type="http://schemas.openxmlformats.org/officeDocument/2006/relationships/hyperlink" Target="https://www.eltiempo.com/mundo/mas-regiones/la-comunidad-internacional-se-vuelca-en-ayudas-para-colombia-lista-de-paises-que-han-ofrecido-apoyo-tras-el-terremoto-de-magnitud-7-3577512" TargetMode="External"/><Relationship Id="rId11" Type="http://schemas.openxmlformats.org/officeDocument/2006/relationships/hyperlink" Target="https://colombia.un.org/es/320793-informaci%C3%B3n-y-actualizaciones-sobre-el-terremoto-en-colombia" TargetMode="External"/><Relationship Id="rId12" Type="http://schemas.openxmlformats.org/officeDocument/2006/relationships/hyperlink" Target="https://news.un.org/es/story/2026/08/1541792" TargetMode="External"/><Relationship Id="rId13" Type="http://schemas.openxmlformats.org/officeDocument/2006/relationships/hyperlink" Target="https://www.colombiatebusca.com/" TargetMode="External"/><Relationship Id="rId14" Type="http://schemas.openxmlformats.org/officeDocument/2006/relationships/hyperlink" Target="https://www.asocapitales.co/terremoto-colombia.html" TargetMode="External"/><Relationship Id="rId15" Type="http://schemas.openxmlformats.org/officeDocument/2006/relationships/hyperlink" Target="https://www.infobae.com/colombia/2026/08/12/de-la-espriella-anuncio-alivios-y-subsidios-tras-emergencia-en-el-eje-cafetero-por-el-terremoto-detallo-plan-de-choque-para-educacion-y-vivienda/" TargetMode="External"/><Relationship Id="rId1" Type="http://schemas.openxmlformats.org/officeDocument/2006/relationships/image" Target="../media/image-33-1.png"/><Relationship Id="rId16" Type="http://schemas.openxmlformats.org/officeDocument/2006/relationships/slideLayout" Target="../slideLayouts/slideLayout1.xml"/><Relationship Id="rId1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hyperlink" Target="https://www.pulzo.com/nacion/terremoto-en-colombia-ungrd-reporta-danos-y-victimas-en-valle-del-cauca-y-risaralda-PP5272829A" TargetMode="External"/><Relationship Id="rId3"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4" Type="http://schemas.openxmlformats.org/officeDocument/2006/relationships/hyperlink" Target="https://www.asocapitales.co/actualidad/noticias/ciudades-seguras/terremoto-deja-188-fallecidos-y-1677-heridos-en-ciudades" TargetMode="External"/><Relationship Id="rId5" Type="http://schemas.openxmlformats.org/officeDocument/2006/relationships/hyperlink" Target="https://www.infolibre.es/internacional/terremoto-colombia-deja-254-muertos-continua-busqueda-escombros_1_2235003.html" TargetMode="External"/><Relationship Id="rId6" Type="http://schemas.openxmlformats.org/officeDocument/2006/relationships/hyperlink" Target="https://www.elcolombiano.com/colombia/cifra-muertos-heridos-desaparecidos-por-terremoto-colombia-MK39884181" TargetMode="External"/><Relationship Id="rId7" Type="http://schemas.openxmlformats.org/officeDocument/2006/relationships/hyperlink" Target="https://www.eltiempo.com/colombia/otras-ciudades/balance-oficial-de-la-ungrd-tras-terremoto-de-magnitud-7-4-en-colombia-273-fallecidos-3-824-heridos-y-377-desaparecidos-3578196" TargetMode="External"/><Relationship Id="rId8" Type="http://schemas.openxmlformats.org/officeDocument/2006/relationships/hyperlink" Target="https://www.eltiempo.com/vida/40-753-familias-afectadas-y-273-muertos-ungrd-entrega-nuevo-balance-del-terremoto-en-colombia-3578185" TargetMode="External"/><Relationship Id="rId9" Type="http://schemas.openxmlformats.org/officeDocument/2006/relationships/hyperlink" Target="https://www.eltiempo.com/colombia/otras-ciudades/nuevo-temblor-de-magnitud-4-2-se-registro-en-san-jose-del-palmar-choco-en-la-manana-de-este-jueves-13-de-agosto-3578131" TargetMode="External"/><Relationship Id="rId10" Type="http://schemas.openxmlformats.org/officeDocument/2006/relationships/hyperlink" Target="https://www.infobae.com/colombia/2026/08/13/colombia-recibira-equipos-de-rescate-de-ee-uu-israel-ecuador-y-el-salvador-por-terremoto/" TargetMode="External"/><Relationship Id="rId11" Type="http://schemas.openxmlformats.org/officeDocument/2006/relationships/hyperlink" Target="https://www.eltiempo.com/colombia/otras-ciudades/balance-oficial-de-la-ungrd-tras-terremoto-de-magnitud-7-4-en-colombia-287-fallecidos-3-975-heridos-y-378-desaparecidos-3578445" TargetMode="External"/><Relationship Id="rId12" Type="http://schemas.openxmlformats.org/officeDocument/2006/relationships/hyperlink" Target="https://www.infobae.com/colombia/2026/08/14/temblor-de-74-en-colombia-el-10-de-agosto-se-actualizo-el-numero-de-fallecidos-en-todo-el-pais/" TargetMode="External"/><Relationship Id="rId13" Type="http://schemas.openxmlformats.org/officeDocument/2006/relationships/hyperlink" Target="https://www.infobae.com/colombia/2026/08/14/aumenta-la-ayuda-internacional-a-colombia-tras-el-terremoto-de-74-india-envia-20-toneladas-y-noruega-suecia-y-espana-anuncian-nuevos-recursos/" TargetMode="External"/><Relationship Id="rId14" Type="http://schemas.openxmlformats.org/officeDocument/2006/relationships/hyperlink" Target="https://www.elheraldo.co/colombia/2026/08/14/italia-india-espana-chile-y-banco-mundial-entre-los-paises-y-organismos-que-han-enviado-ayudas-a-colombia-por-el-terremoto/" TargetMode="External"/><Relationship Id="rId15" Type="http://schemas.openxmlformats.org/officeDocument/2006/relationships/hyperlink" Target="https://www.jrc.or.jp/international/news/2026/0812_054987.html" TargetMode="External"/><Relationship Id="rId1" Type="http://schemas.openxmlformats.org/officeDocument/2006/relationships/image" Target="../media/image-34-1.png"/><Relationship Id="rId16" Type="http://schemas.openxmlformats.org/officeDocument/2006/relationships/slideLayout" Target="../slideLayouts/slideLayout1.xml"/><Relationship Id="rId1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2" Type="http://schemas.openxmlformats.org/officeDocument/2006/relationships/hyperlink" Target="https://www.eltiempo.com/vida/medio-ambiente/por-que-colombia-no-necesito-rescatistas-extranjeros-tras-el-terremoto-el-pais-cuenta-con-23-equipos-con-personal-que-hace-parte-de-la-elite-global-3577677" TargetMode="External"/><Relationship Id="rId3" Type="http://schemas.openxmlformats.org/officeDocument/2006/relationships/hyperlink" Target="https://www.eltiempo.com/amp/vida/medio-ambiente/terremoto-en-colombia-desde-el-sismo-del-10-de-agosto-se-han-registrado-184-replicas-reporta-este-viernes-14-el-servicio-geologico-colombiano-3578360" TargetMode="External"/><Relationship Id="rId4" Type="http://schemas.openxmlformats.org/officeDocument/2006/relationships/hyperlink" Target="https://cnnespanol.cnn.com/2026/08/12/colombia/live-news/terremoto-en-vivo-muertos-videos-rescates-orix" TargetMode="External"/><Relationship Id="rId5" Type="http://schemas.openxmlformats.org/officeDocument/2006/relationships/hyperlink" Target="https://www.eltiempo.com/colombia/otras-ciudades/balance-oficial-de-la-ungrd-este-15-de-agosto-tras-terremoto-de-7-4-en-colombia-294-fallecidos-3-935-heridos-320-desaparecidos-y-353-rescatados-3578602" TargetMode="External"/><Relationship Id="rId6" Type="http://schemas.openxmlformats.org/officeDocument/2006/relationships/hyperlink" Target="https://www.semana.com/nacion/articulo/ascienden-a-294-los-fallecidos-del-terremoto-del-10-de-agosto-y-van-81506-viviendas-averiadas-segun-cifras-oficiales/202627/" TargetMode="External"/><Relationship Id="rId7" Type="http://schemas.openxmlformats.org/officeDocument/2006/relationships/hyperlink" Target="https://www.elheraldo.co/colombia/2026/08/12/presidente-de-la-espriella-decreta-tres-dias-de-duelo-nacional-por-victimas-del-terremoto/" TargetMode="External"/><Relationship Id="rId8" Type="http://schemas.openxmlformats.org/officeDocument/2006/relationships/hyperlink" Target="https://www.eltiempo.com/colombia/otras-ciudades/gobernadora-del-choco-dio-por-finalizada-la-fase-de-busqueda-y-rescate-en-el-departamento-tras-terremoto-de-7-4-en-colombia-ya-no-buscamos-a-nadie-3578022" TargetMode="External"/><Relationship Id="rId9" Type="http://schemas.openxmlformats.org/officeDocument/2006/relationships/hyperlink" Target="https://www.eltiempo.com/colombia/otras-ciudades/balance-oficial-de-la-ungrd-este-16-de-agosto-tras-terremoto-de-7-4-en-colombia-289-fallecidos-4-187-heridos-y-143-desaparecidos-3578742" TargetMode="External"/><Relationship Id="rId10" Type="http://schemas.openxmlformats.org/officeDocument/2006/relationships/hyperlink" Target="https://www.rtvcnoticias.com/actualidad/terremoto-deja-289-fallecidos-143-desaparecidos-y-mas-de-185000-afectados-en-colombia" TargetMode="External"/><Relationship Id="rId11" Type="http://schemas.openxmlformats.org/officeDocument/2006/relationships/hyperlink" Target="https://www.radiosantafe.com/2026/08/16/ungrd-reduce-a-289-cifra-de-fallecidos-y-a-143-la-de-personas-desaparecidas-por-el-terremoto/" TargetMode="External"/><Relationship Id="rId12" Type="http://schemas.openxmlformats.org/officeDocument/2006/relationships/hyperlink" Target="https://www.semana.com/nacion/articulo/terremoto-en-colombia-reportan-287-muertos-y-4147-heridos-en-nuevo-balance-de-la-ungrd/202615/" TargetMode="External"/><Relationship Id="rId13" Type="http://schemas.openxmlformats.org/officeDocument/2006/relationships/hyperlink" Target="https://www.latercera.com/mundo/noticia/colombia-rebaja-a-casi-287-los-muertos-y-eleva-a-cerca-de-4150-los-heridos-por-el-terremoto/" TargetMode="External"/><Relationship Id="rId14" Type="http://schemas.openxmlformats.org/officeDocument/2006/relationships/hyperlink" Target="https://www.infobae.com/colombia/2026/08/17/terremoto-en-colombia-ungrd-explica-la-reduccion-en-el-registro-de-fallecidos-y-desaparecidos/" TargetMode="External"/><Relationship Id="rId15" Type="http://schemas.openxmlformats.org/officeDocument/2006/relationships/hyperlink" Target="https://www.eltiempo.com/politica/gobierno/colombia-ha-recibido-mas-de-220-toneladas-de-ayuda-humanitaria-y-144-integrantes-de-equipos-internacionales-tras-el-terremoto-informo-la-cancilleria-3578924" TargetMode="External"/><Relationship Id="rId1" Type="http://schemas.openxmlformats.org/officeDocument/2006/relationships/image" Target="../media/image-35-1.png"/><Relationship Id="rId16" Type="http://schemas.openxmlformats.org/officeDocument/2006/relationships/slideLayout" Target="../slideLayouts/slideLayout1.xml"/><Relationship Id="rId1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2" Type="http://schemas.openxmlformats.org/officeDocument/2006/relationships/hyperlink" Target="https://www.infobae.com/colombia/2026/08/17/china-envia-80-toneladas-de-ayuda-a-colombia-tras-el-terremoto-asi-es-el-cargamento-que-llegara-a-bogota/" TargetMode="External"/><Relationship Id="rId3" Type="http://schemas.openxmlformats.org/officeDocument/2006/relationships/hyperlink" Target="https://www.semana.com/nacion/articulo/se-cumple-una-semana-del-fuerte-terremoto-que-estremecio-a-colombia-sgc-aclaro-todo-sobre-las-replicas/202600/" TargetMode="External"/><Relationship Id="rId4" Type="http://schemas.openxmlformats.org/officeDocument/2006/relationships/hyperlink" Target="https://bogota.gov.co/mi-ciudad/gobierno/ya-van-1174-toneladas-de-ayudas-y-donaciones-de-bogota-por-terremoto" TargetMode="External"/><Relationship Id="rId5" Type="http://schemas.openxmlformats.org/officeDocument/2006/relationships/hyperlink" Target="https://laopinion.co/colombia/terremoto-en-colombia-deja-304-muertos-4548-heridos-y-426-desaparecidos" TargetMode="External"/><Relationship Id="rId6" Type="http://schemas.openxmlformats.org/officeDocument/2006/relationships/hyperlink" Target="https://www.eluniversal.com.co/colombia/2026/08/18/terremoto-en-colombia-desaparecidos-aumentan-drasticamente-segun-ultimo-balance/" TargetMode="External"/><Relationship Id="rId7" Type="http://schemas.openxmlformats.org/officeDocument/2006/relationships/hyperlink" Target="https://www.infobae.com/colombia/2026/08/18/terremoto-en-colombia-perdidas-por-danos-llegarian-a-30-billones-segun-estimacion-preliminar/" TargetMode="External"/><Relationship Id="rId8" Type="http://schemas.openxmlformats.org/officeDocument/2006/relationships/hyperlink" Target="https://www.eltiempo.com/politica/gobierno/cinco-departamentos-concentran-perdidas-estimadas-en-30-billones-por-terremoto-segun-estimacion-revelada-por-el-presidente-abelardo-de-la-espriella-3578962" TargetMode="External"/><Relationship Id="rId9" Type="http://schemas.openxmlformats.org/officeDocument/2006/relationships/hyperlink" Target="https://www.elcolombiano.com/inicio/calculo-perdidas-terremoto-colombia-plan-milagro-JA40049330" TargetMode="External"/><Relationship Id="rId10" Type="http://schemas.openxmlformats.org/officeDocument/2006/relationships/hyperlink" Target="https://www.lafm.com.co/actualidad/terremoto-colombia-van-312-muertos-290-desaparecidos-emergencia-rescate-408294" TargetMode="External"/><Relationship Id="rId1" Type="http://schemas.openxmlformats.org/officeDocument/2006/relationships/image" Target="../media/image-36-1.png"/><Relationship Id="rId11" Type="http://schemas.openxmlformats.org/officeDocument/2006/relationships/slideLayout" Target="../slideLayouts/slideLayout1.xml"/><Relationship Id="rId1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7-1.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Informe de desastre</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Terremoto del Chocó de 2026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departamento del Chocó — 10 de agosto de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profundidad 110 km   ·   MMI VII (muy fuerte) — ShakeMap del USGS; el mapa de intensidades macrosísmicas del SGC coincide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Mundo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Noroeste de Suramérica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Epicentro y ciudades afectadas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Mapas de localización © Google (Google Maps). Las distancias mostradas en páginas posteriores se calculan a partir de las coordenadas publicadas por el USGS.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Resumen   </a:t>
            </a:r>
            <a:pPr algn="l" indent="0" marL="0">
              <a:buNone/>
            </a:pPr>
            <a:r>
              <a:rPr lang="en-US" sz="800" dirty="0">
                <a:solidFill>
                  <a:srgbClr val="FFFFFF"/>
                </a:solidFill>
                <a:latin typeface="Calibri" pitchFamily="34" charset="0"/>
                <a:ea typeface="Calibri" pitchFamily="34" charset="-122"/>
                <a:cs typeface="Calibri" pitchFamily="34" charset="-120"/>
              </a:rPr>
              <a:t>A las 07:34 hora local (12:34 UTC) del 10 de agosto de 2026, un sismo de Mww 7.4 sacudió el occidente de Colombia con epicentro 5 km al este de San José del Palmar (Chocó), a unos 110 km de profundidad (USGS). Fue una ruptura de rumbo a profundidad intermedia dentro de la placa de Nazca en subducción; por esa profundidad, el sacudimiento fuerte (MMI VI-VII) se repartió sobre una amplia zona del Eje Cafetero andino en lugar de concentrarse cerca del epicentro, y unos 10,5 millones de personas quedaron expuestas a él. El SGC lo describe como el sismo de mayor magnitud registrado en Colombia en la última década. El balance creció con fuerza en los dos primeros días: 111 muertos en el corte de las 13:00 COT del 10 de agosto, 132 esa misma tarde, y 182 muertos con 2.542 heridos y 189 desaparecidos en el reporte de situación de la UNGRD del 11 de agosto, frente a 240 muertos al sumar lo anunciado por departamentos y ciudades — más de 1.600 edificaciones afectadas (1.575 viviendas averiadas, 37 destruidas y 61 edificios colapsados), y daños en 18 centros de salud, 52 establecimientos educativos, 18 vías principales y seis aeropuertos regionales. Colapsaron parcialmente la terminal de pasajeros del Aeropuerto Internacional Matecaña (Pereira), una torre de la catedral neogótica de Manizales sobre la nave y cerca del 30 % del Hospital Universitario del Valle, en Cali. El Presidente declaró el desastre nacional, instaló un Puesto de Mando Unificado en el Chocó y desplegó cuatro grupos USAR y las Fuerzas Militares. No hubo tsunami. Todas las cifras son preliminares y variarán conforme avance la evaluación.</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Marco sismotectónico: un sismo intraplaca dentro de la losa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es.png">    </p:cNvPr>
          <p:cNvPicPr>
            <a:picLocks noChangeAspect="1"/>
          </p:cNvPicPr>
          <p:nvPr/>
        </p:nvPicPr>
        <p:blipFill>
          <a:blip r:embed="rId2"/>
          <a:stretch>
            <a:fillRect/>
          </a:stretch>
        </p:blipFill>
        <p:spPr>
          <a:xfrm>
            <a:off x="365760" y="1104265"/>
            <a:ext cx="6858000" cy="2820669"/>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Corte esquemático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se encuentra en la confluencia de las placas de Nazca, del Caribe y Suramericana. Frente a la costa del Pacífico, la placa de Nazca subduce hacia el este bajo Suramérica a unos 50-60 mm/año, y la losa descendente alcanza profundidades intermedias (70-300 km) bajo las cordilleras Occidental y Central. Este sismo rompió dentro de esa losa a unos 110 km de profundidad, razón por la cual se sintió a cientos de kilómetros —hasta Bogotá, Quito y la ciudad de Panamá— sin producir ruptura superficial ni tsunami. Los sismos de profundidad intermedia irradian con eficiencia energía de alta frecuencia y se atenúan lentamente, de modo que los daños tienden a repartirse entre muchas ciudades en vez de concentrarse en una franja epicentral estrecha.</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Mecanismo focal (beachball)
</a:t>
            </a:r>
            <a:pPr algn="ctr" indent="0" marL="0">
              <a:buNone/>
            </a:pPr>
            <a:r>
              <a:rPr lang="en-US" sz="700" dirty="0">
                <a:solidFill>
                  <a:srgbClr val="6A6A6A"/>
                </a:solidFill>
                <a:latin typeface="Calibri" pitchFamily="34" charset="0"/>
                <a:ea typeface="Calibri" pitchFamily="34" charset="-122"/>
                <a:cs typeface="Calibri" pitchFamily="34" charset="-120"/>
              </a:rPr>
              <a:t>Ambas entidades reportan un mecanismo de falla de rumbo.</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Profundidad de unos 110 km (USGS, revisado): es un sismo intraplaca dentro de la losa, no un megasismo de la interfaz entre placas.</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Mecanismo de falla de rumbo dentro de la losa de Nazca en subducción (resumen tectónico del USGS).</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Sacudimiento máximo MMI VII (muy fuerte); unos 10,5 millones de personas expuestas a MMI VI-VII.</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Alerta naranja del PAGER (v5) del USGS: la banda de mortalidad más probable es 1.000-10.000 y la de pérdidas 100-1.000 millones de dólares — estimaciones de modelo, no observaciones, y muy por encima de las cifras reportadas hasta ahora.</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El SGC lo evalúa como el sismo de mayor magnitud registrado en Colombia en la última década.</a:t>
            </a:r>
            <a:endParaRPr lang="en-US" sz="810" dirty="0"/>
          </a:p>
          <a:p>
            <a:pPr algn="l" marL="342900" indent="-342900">
              <a:buSzPct val="100000"/>
              <a:buChar char="•"/>
            </a:pPr>
            <a:r>
              <a:rPr lang="en-US" sz="81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Se reportó una duración del sacudimiento inusualmente larga en ciudades alejadas del epicentro, rasgo propio de los sismos profundos registrados sobre sedimentos blandos de valle.</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El Eje Cafetero tiene antecedentes de sismos dañinos tanto profundos como someros: M7.0 a 150 km en 1938, M6.5 a 64 km en 1962 y M6.1 a 15 km en 1999 (modelo nacional de amenaza SGC/GEM).</a:t>
            </a:r>
            <a:endParaRPr lang="en-US" sz="81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Resumen del sismo y medidas de respuesta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ago. 2026, 07:34 COT (12:34 UTC / 21:34 JST)    |    Mww 7.4    |    profundidad 110 km    |    MMI VII (muy fuerte) — ShakeMap del USGS; el mapa de intensidades macrosísmicas del SGC coincide</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Cifras del balance de la UNGRD con corte a las 06:30 COT del 19 de agosto de 2026: 312 muertos, 4.611 heridos, 290 desaparecidos, 358 rescatados con vida, 143.533 familias (294.503 personas) afectadas en 470 municipios de 15 departamentos, 29.548 viviendas destruidas y 134.124 averiadas, 267 edificios colapsados. El Presidente estimó de manera preliminar las pérdidas físicas directas en unos 30 billones de pesos (9.600 millones de dólares) en cinco departamentos. El SGC había localizado 325 réplicas hasta el 17 de agosto. Todas las cifras son preliminares; cite la hora de corte junto con el número.</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Gobierno declaró el desastre nacional, lo que permite una movilización y una coordinación extraordinarias de la respuesta.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presidente Abelardo de la Espriella —con tres días en el cargo— ordenó instalar un Puesto de Mando Unificado (PMU) en el Chocó para coordinar la emergencia y se desplazó a Pereira, una de las ciudades más afectadas.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Unidad Nacional para la Gestión del Riesgo de Desastres (UNGRD) activó el sistema nacional, verificó los daños con las autoridades departamentales y municipales y canalizó los ofrecimientos de ayuda junto con la Cancillería.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cuatro grupos USAR (búsqueda y rescate urbano) desde Bogotá, Envigado, Yopal y Medellín para reforzar las labores de búsqueda y rescate.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efectivos militares en los departamentos afectados para búsqueda, rescate y remoción de escombros en las vías.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autoridad de aviación civil suspendió las operaciones en Pereira, Manizales, Quibdó, Armenia, Cartago y Buenaventura mientras se inspeccionaban pistas y terminales.</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Las edificaciones averiadas, los cortes de energía y la interrupción de las comunicaciones retrasan la evaluación en las zonas del Chocó más cercanas al epicentro.</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Número GLIDE asignado a este evento: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Colombia declara la emergencia nacional; 111 muertos</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(10-19 de agosto) (1/4)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Sismo de Mww 7.4; epicentro 5 km al S de San José del Palmar (Chocó), profundidad de unos 110 km. Sentido en Bogotá, Cali y Medellín, y también en Ecuador, Panamá y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SGC emite un primer boletín (inicialmente M6.6, 79 km de profundidad), luego revisado a M7.4 a 96 km y localizado con 69 estaciones (evento SGC2026pqqmro); se activan los protocolos de evaluación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UNGRD reporta las primeras afectaciones en 9 municipios del Chocó, 8 de Caldas, 2 del Valle del Cauca y 2 de Risaralda, además de varias localidades del 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 reporta estructuras colapsadas en 12 puntos críticos con personas atrapadas; colapsa parte del Hospital Universitario.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Manizales reporta 17 edificios colapsados y 19 con colapso parcial; una torre de la catedral neogótica cae sobre la nave. Se pide a la población permanecer fuera de las edificaciones por las réplicas.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Colapsa parcialmente la terminal de pasajeros del Aeropuerto Internacional Matecaña (Pereira); se suspenden las operaciones en seis aeropuertos regionales.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declara el desastre nacional; se instala el Puesto de Mando Unificado en el Chocó; se despliegan las Fuerzas Militares.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Gobierno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despliegan cuatro grupos USAR desde Bogotá, Envigado, Yopal y Medellín.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registran más de 20 réplicas; la mayor réplica ampliamente sentida es de M4.8.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Presidente se desplaza a Pereira para dirigir la respuesta en terreno.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activa la cartografía rápida del Copernicus EMS como EMSR916 (17:13 UTC), a solicitud de los Servicios de la CE / DG ECHO, para cartografía de evaluación de daños por el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(10-19 de agosto) (2/4)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Primer reporte nacional de daños: 111 muertos y 87 heridos; 1.575 viviendas averiadas, 37 destruidas y 61 edificios colapsados; 18 centros de salud, 52 establecimientos educativos, 17 equipamientos comunitarios, 18 vías principales y 6 aeropuertos regionales con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Ecuador moviliza un grupo USAR de 47 personas con unidades caninas; México y otros gobiernos ofrecen ayuda, que se canalizará a través de la Cancillería y la UNGRD.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Noche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número de muertos reportado a nivel nacional sube a 132. Cuatro personas han sido rescatadas con vida de los escombros; se reportan más de 20 municipios afectados y continúan las fallas de energía y telecomunicaciones en el 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búsqueda continúa durante la noche. El Presidente reporta 700 heridos en el país y cerca de 5.000 viviendas averiadas o destruidas, declara a los desaparecidos la prioridad del Estado y ordena el traslado de uniformados a Cali para resguardar el orden. El alcalde de Cali reporta 85 muertos, 885 heridos y 188 desaparecidos; los Bomberos de Pereira reportan 66 muertos; cerca de 100 personas están desaparecidas en Manizales. Cinco ciudades capitales -Cali, Pereira, Quibdó, Manizales y Armenia- siguen en alerta roja.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autoridades locales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reporte de situación de la UNGRD registra 182 muertos, 2.542 heridos y 189 desaparecidos, con 13.067 viviendas averiadas y 2.501 destruidas, 93 centros de salud, 884 instituciones educativas, 427 equipamientos comunitarios y 77 vías afectadas. El Presidente cifra el balance en 181 muertos, 97,6 % de ellos en ciudades capitales. Se agradece la ayuda de Ecuador, El Salvador y Rusia.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 / 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total de réplicas publicado por el SGC llega a 103 a las 15:00 COT -97 de M3,0 o menos, 5 entre M3,0 y M4,0, una por encima de M4,0- y una M3,9 durante el día obliga a evacuar edificios en varias ciudades afectadas. Su catálogo para el mismo periodo contiene 147 eventos localizados, cifra más amplia que incluye la sismicidad de fondo.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14:20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SGC revisa su solución del sismo principal a M7.4 a 103 km de profundidad, 4,99 N 76,29 O, localizada con 119 estaciones y 208 fases. Su primer boletín había dado M6.6 a 79 km y el segundo 7.4 a 96 km con 69 estaciones.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07:31</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Primera Ministra del Japón expresa sus condolencias (21:31 JST) y el Ministro de Asuntos Exteriores, Motegi, emite un mensaje de condolencias en el que señala que el Gobierno del Japón está asimismo dispuesto a prestar la asistencia necesaria y que Japón se solidariza firmemente con el pueblo colombiano.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Japón (MOFA)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Funcionarios de la Alcaldía de Cali reportan 107 edificaciones colapsadas, 643 con daños estructurales y 18 con orden de evacuación; 230 personas atrapadas, 88 rescatadas, 69 fallecidos y 1.008 heridos en la ciudad.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OCHA señala que el sistema humanitario está listo para apoyar a Colombia y menciona agua potable, kits de higiene y artículos del hogar, salud, alimentos y alojamiento como necesidades prioritarias; no se ha recibido una solicitud formal de asistencia de las autoridades colombianas.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ONU / OCHA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balance nacional provisional supera los 224 muertos y más de 2.500 heridos, con 279 trasladados a hospitales y 243 personas rescatadas con vida; hay 195 desaparecidos reportados a las autoridades. La plataforma ciudadana «Colombia te busca» acumula 4.084 registros, 3.653 de ellos sin resolver. La búsqueda continúa en Pereira con unos 300 rescatistas, y buena parte del Chocó sigue siendo accesible solo por vía fluvial o aérea.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Gobierno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(10-19 de agosto) (3/4)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Presidente recorre Pereira, Dosquebradas, Manizales y Armenia tras Quibdó y Cali, y anuncia tres meses de alivio en servicios públicos para los hogares afectados, subsidios de arriendo para quienes perdieron su vivienda y un plan de choque para educación y vivienda; se prepara un decreto de emergencia económica.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reporte consolidado de la UNGRD cubre 14 departamentos y 403 municipios: 239 muertos, 3.755 heridos, 287 desaparecidos, 140 edificios colapsados, 24.324 familias (49.214 personas) afectadas, 9.215 viviendas destruidas y 45.457 con daños graves. Colombia acepta equipos USAR con clasificación INSARAG de Israel, Ecuador, El Salvador y Estados Unidos; El Salvador envía 100 toneladas de ayuda. Una mujer es rescatada en Pereira tras 36 horas bajo los escombros.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suma de los anuncios departamentales y municipales da 254 muertos -Pereira 101, Cali 95-, por delante de la consolidación nacional, lo que la prensa atribuye a que el gobierno central actualiza más lento.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 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Desde el Palacio de San Carlos el Presidente anuncia el balance actualizado de la UNGRD: 265 muertos, 3.494 heridos, 496 desaparecidos, 25.872 familias (53.816 personas) afectadas, 11.347 viviendas destruidas y 53.526 averiadas, 1.819 centros educativos y 631 equipamientos comunitarios afectados. También anuncia la declaratoria de emergencia económica.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13 ago. 09:42</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 réplica de M4,2 sacude San José del Palmar a 95 km de profundidad, a unos 20 km del epicentro del sismo principal. Se siente en Pereira, Manizales, Medellín y Bogotá; las labores de búsqueda y rescate se detienen temporalmente. Es la segunda réplica por encima de M4,0.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13 ago. 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director de la UNGRD entrega un nuevo balance: 273 muertos, 3.824 heridos, 377 desaparecidos, 40.753 familias (97.515 personas) afectadas, 12.584 viviendas destruidas y 74.873 averiadas, 172 edificios colapsados, 2.198 sedes educativas y 825 comunitarias, 216 sedes de salud, 71 acueductos, 29 entidades bancarias y cinco aeropuertos. Medicina Legal ha recibido 250 cuerpos, 227 reconocidos. Continúa la alerta roja en Cali, Pereira, Quibdó, Manizales y Armenia.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ago. 09:00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Corte de las 09:00 de la UNGRD: 287 fallecidos, 3.975 heridos, 378 desaparecidos, 354 rescatados con vida; 56.448 familias (135.179 personas) afectadas en 15 departamentos y 437 municipios; 13.077 viviendas destruidas y 79.108 averiadas; 121 edificios colapsados. Continúa la búsqueda en espacios confinados con los equipos internacionales certificados.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India envía 20 toneladas de insumos humanitarios; Noruega destina 10 millones de coronas y Suecia 5 millones de coronas suecas a través del ACNUR; España, Italia, Chile, México, Turquía, Brasil y el Banco Mundial también envían o anuncian apoyo. El ministro del Interior señala que la red hospitalaria de Buenaventura está desbordada.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Cancillería / donantes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14-15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actualizado: 288 fallecidos, 4.018 heridos, 202 desaparecidos, 354 rescatados con vida; 45.523 familias (102.263 personas) afectadas en 15 departamentos y 426 municipios; 12.828 viviendas destruidas y 73.455 averiadas; 121 edificios colapsados; 240 sedes de salud, 2.205 educativas y 1.208 comunitarias; 210 vías, 73 acueductos, 44 puentes vehiculares, 13 peatonales y cinco aeropuertos. Las bajas frente al corte de las 09:00 corresponden a la consolidación de registros duplicados de la evaluación.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ago. 07:00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SGC reporta 184 réplicas localizadas desde el sismo principal, 15 de ellas por encima de M3,0 y 2 por encima de M4,0.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15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Continúa la búsqueda de los desaparecidos mientras más de 100.000 damnificados esperan asistencia; en El Cairo (Valle del Cauca) se reporta el 80 % de las casas afectadas.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(10-19 de agosto) (4/4)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15 ago. 06:30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de la UNGRD con corte a las 06:30: 294 fallecidos, 3.935 heridos, 320 desaparecidos, 353 personas y 188 animales rescatados con vida; 54.008 familias (115.461 personas) afectadas; 448 municipios con reporte de daños; 14.493 viviendas destruidas y 81.506 averiadas; 66 edificios colapsados. Chocó, Risaralda y Valle del Cauca son los más afectados.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Decreto 1172 declara tres días de duelo nacional desde el 12 de agosto, con banderas a media asta en el país y en las misiones colombianas en el exterior. Esa misma noche la gobernadora del Chocó da por finalizada la fase de búsqueda y rescate del departamento tras hallar con vida a la última familia buscada en Quibdó, cuatro personas.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Gobernación del Chocó</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16 ago. 07:30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de la UNGRD con corte a las 07:30: 289 fallecidos, 4.187 heridos, 143 desaparecidos, 354 personas y 510 animales rescatados con vida; 120.238 familias (185.016 personas) afectadas en 450 municipios de 15 departamentos; 26.945 viviendas destruidas y 127.557 averiadas; 66 edificios colapsados. La UNGRD señala que las variaciones provienen de verificar y consolidar las cifras reportadas por los territorios, algunas enviadas sin verificar.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16 ago. 18:30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de la UNGRD con corte a las 18:30: 287 fallecidos, 4.147 heridos, 194 desaparecidos, 355 personas y 496 animales rescatados con vida; 120.671 familias (185.996 personas) afectadas en 472 municipios de 15 departamentos; 26.392 viviendas destruidas y 127.608 averiadas; 197 edificios colapsados; 304 sedes de salud, 3.207 educativas y 4.059 comunitarias; 410 vías, 95 acueductos, 48 puentes vehiculares, 13 peatonales y cinco aeropuertos.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17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UNGRD explica las reducciones en sus registros: cinco nombres salieron del listado de fallecidos y 177 del consolidado de desaparecidos porque una misma persona podía aparecer en varios reportes territoriales y contarse más de una vez durante la verificación; el cambio no corresponde necesariamente a nuevos hallazgos. La Cancillería reporta 222,5 toneladas de ayuda humanitaria y 144 integrantes de equipos internacionales recibidos, y afirma que no se ha excluido a ningún país; China anuncia 80 toneladas.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 / Cancillería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17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 una semana, el SGC reporta 325 réplicas localizadas: San José del Palmar 111, El Litoral del San Juan 67, Sipí 61, a una profundidad media cercana a 100 km. La mayor sigue siendo el M4,8 del 10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18 ago. 06:30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de la UNGRD con corte a las 06:30: 304 fallecidos, 4.548 heridos, 426 desaparecidos, 356 rescatados con vida; 123.789 familias (292.043 personas) afectadas en 472 municipios de 15 departamentos; 29.554 viviendas destruidas y 134.342 averiadas; 267 edificios colapsados y 5.808 con daños; 303 sedes de salud, 3.443 educativas y 3.905 comunitarias. Fallecidos y desaparecidos suben tras varios días a la baja.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18 ago. 19:00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de la UNGRD con corte a las 19:00: 312 fallecidos, 4.611 heridos, 290 desaparecidos, 356 rescatados con vida; 29.548 viviendas destruidas y 134.124 averiadas. En su primera alocución sobre el desastre el Presidente estima de forma preliminar las pérdidas físicas directas en unos 30 billones de pesos (9.600 millones de dólares) en cinco departamentos -24,5 billones en edificaciones y 5,5 en infraestructura-, y señala que es una evaluación inicial que se ajustará.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 / 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 ago. 06:30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de la UNGRD con corte a las 06:30: 312 fallecidos, 4.611 heridos, 290 desaparecidos, 358 rescatados con vida; 143.533 familias (294.503 personas) afectadas en 470 municipios de 15 departamentos. Fallecidos y desaparecidos se mantienen en las cifras de la víspera.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Departamentos y ciudades afectados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es.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Distancias epicentrales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los daños están dispersos
</a:t>
            </a:r>
            <a:pPr algn="l" indent="0" marL="0">
              <a:buNone/>
            </a:pPr>
            <a:r>
              <a:rPr lang="en-US" sz="950" dirty="0">
                <a:solidFill>
                  <a:srgbClr val="7A2E0E"/>
                </a:solidFill>
                <a:latin typeface="Calibri" pitchFamily="34" charset="0"/>
                <a:ea typeface="Calibri" pitchFamily="34" charset="-122"/>
                <a:cs typeface="Calibri" pitchFamily="34" charset="-120"/>
              </a:rPr>
              <a:t>Una fuente a 110 km de profundidad deja a todas las ciudades de la región a una distancia hipocentral parecida (110-205 km), de modo que ninguna queda dentro de una franja estrecha de sacudimiento extremo.</a:t>
            </a:r>
            <a:endParaRPr lang="en-US" sz="10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Ciudades principales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 / 105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Departamento epicentral; 9 municipios con daños reportados; acceso, energía y comunicaciones limitados.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número de muertos reportado (al menos 40; el gobernador cita al menos 42). Terminal aérea con colapso parcial.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158 / 38 / 138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muertos reportados; entre 25 y 30 estructuras colapsadas en 12 puntos críticos de Cali; Hospital Universitario gravemente afectado.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municipios afectados; 17 edificios colapsados y 19 con colapso parcial en Manizales; una torre de la catedral cayó sobre la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y otras localidades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Varias localidades reportadas como afectadas; es el mismo Eje Cafetero devastado por el terremoto de Armenia de 1999.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y alrededores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172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fallecido reportado (73 años); daños estructurales en inspección.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241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Ampliamente sentido; edificaciones evacuadas; se reportan daños estructurales en un colegio de Nilo.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fuerte sismo en el occidente de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Parámetros del sismo y sacudimiento observado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07:34:28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12:34:28 UTC  /  10 de agosto de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al S de San José del Palmar, departamento del Chocó (unos 280 km al O de Bogotá) — SGC: a 12 km de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Coordenadas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4.8436 N, 76.2422 W   ·   SGC 4.99 N, 76.29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Profundidad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110,3 km (USGS, PAGER v5) / 103 km (SGC, revisado 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Mecanismo focal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Falla de rumbo a profundidad intermedia, dentro de la placa de Nazca en subducción (no en la interfaz somera entre placas)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Sacudimiento máximo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(muy fuerte) — ShakeMap del USGS; el mapa de intensidades macrosísmicas del SGC coincide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Área sentida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Sentido en el occidente y el centro de Colombia, incluidas Bogotá, Cali y Medellín, y también en Ecuador, Panamá y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Sin tsunami. El sismo fue continental y de profundidad intermedia; no se emitió alerta de tsunami para la costa del Pacífico.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Nivel de alerta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PAGER del USGS: naranja (versión 5). La banda de mortalidad más probable es de 1.000 a 10.000 (35 % de probabilidad); las pérdidas económicas más probables son de 100 a 1.000 millones de dólares (34 %), menos del 1 % del PIB de Colombia. GDACS: naranja.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es.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 frente a la MMI reportada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(versión 5) del USGS. Unos 10,5 millones de personas quedaron expuestas a sacudimiento fuerte o muy fuerte (MMI VI-VII) y unos 34 millones a MMI IV o superior en cuatro países. Son estimaciones de modelo.</a:t>
            </a:r>
            <a:endParaRPr lang="en-US" sz="750" dirty="0"/>
          </a:p>
        </p:txBody>
      </p:sp>
      <p:sp>
        <p:nvSpPr>
          <p:cNvPr id="9" name="Text 3"/>
          <p:cNvSpPr/>
          <p:nvPr/>
        </p:nvSpPr>
        <p:spPr>
          <a:xfrm>
            <a:off x="365760" y="5943600"/>
            <a:ext cx="6675120" cy="310896"/>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El USGS y el SGC coinciden en el tamaño. El SGC revisó su solución a las 14:20 UTC del 11 de agosto a 103 km con 119 estaciones y 208 fases; la localización revisada está a 17 km de la del USGS y sus profundidades difieren en 7 km, de modo que ambas han convergido al leerse más estaciones. Las distancias epicentrales de este informe se miden desde la localización del USGS. Los boletines del SGC siguen sujetos a cambios.</a:t>
            </a:r>
            <a:endParaRPr lang="en-US" sz="68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Intensidad macrosísmica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Mapa de intensidades del SGC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ago. 2026 12:34:29 UTC · M7.4 · N5.04 W76.34 · profundidad 96,0 km · ID SGC2026pqqmro · Versión 1, procesado 2026-08-10T13:12:28Z · escala según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El mapa del SGC muestra la banda más fuerte (MMI VII, «Muy Fuerte») sobre el área epicentral del Chocó y a lo largo del corredor interandino que atraviesa Risaralda, Caldas, Quindío y el norte del Valle del Cauca: la franja en la que ocurrieron los colapsos de Pereira, Manizales, Armenia y Cartago. La intensidad decae hacia el oriente: Medellín y Cali quedan en las bandas moderada y fuerte, y Bogotá, a 241 km del epicentro, en una baja. El patrón alargado a lo largo de los valles, en lugar de un círculo compacto alrededor del epicentro, es la firma de una fuente a 96-110 km de profundidad combinada con sedimentos blandos de valle.</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 sentido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Débil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Cuantioso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Escala de Mercalli modificada (Worden et al., 2012), tal como aparece en el mapa del SGC</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mapa de intensidades macrosísmicas (ShakeMap) de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Evaluación PAGER del USGS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onePAGER, versión 5 (dominio público,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PAGER es la estimación rápida de impacto del USGS, emitida en minutos y revisada conforme se precisa el evento; la versión 5 se creó 2 horas y 8 minutos después del sismo. Es una distribución de probabilidad, no el pronóstico de una cifra única: la alerta naranja significa que son probables víctimas y daños significativos y que alertas naranjas previas han requerido una respuesta regional o nacional. Su banda de mortalidad más probable, 1.000-10.000, estaba muy por encima de los 111 muertos reportados nueve horas después del evento; a las 33 horas el balance reportado había subido a 182-240, dentro de la banda de 100-1.000 del PAGER, a la que el modelo asignaba una probabilidad menor pero apreciable. La brecha es normal en esta etapa y se estrecha a medida que la observación reemplaza a las pérdidas modeladas.</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 percibido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Expuestos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Severo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Muy fuerte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1,564k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Fuerte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8,888k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Moderado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17,076k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IV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Ligero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6,465k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(versión 5) del USGS. Unos 10,5 millones de personas quedaron expuestas a sacudimiento fuerte o muy fuerte (MMI VI-VII) y unos 34 millones a MMI IV o superior en cuatro países. Son estimaciones de modelo.</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Sismicidad: réplicas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34747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08:18 COT (13:18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mayor réplica, 44 minutos después del sismo principal: San José del Palmar, profundidad 94 km, a 19 km del epicentro (SGC2026pqryij). El USGS cataloga el mismo evento como mb 5,0 a 98,5 km. Ampliamente sentida.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10:01 COT (15:01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profundidad 88 km. Es el evento que dos entidades regionales publicaron como M4,7 en el boletín multiagencia; la solución del SGC es 0,9 unidades menor.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11 Aug 00:12 / 10:43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M3.6 / M3.9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profundidades de 96 km y 92 km. El evento de las 10:43 se sintió con fuerza suficiente para evacuar edificios en varias de las ciudades afectadas.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13 Aug 09:42 COT (14:42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M4.2</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profundidad 95 km, a unos 20 km del epicentro: el mismo volumen sismogénico del sismo principal. Se sintió hasta en Bogotá y detuvo temporalmente las labores de búsqueda y rescate.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to 17 Aug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325 located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Total acumulado del SGC a una semana: 325 réplicas, frente a 184 hasta las 07:00 del 14 de agosto y 103 a las 15:00 del 11. Por municipio: San José del Palmar 111, El Litoral del San Juan (Docordó) 67, Sipí 61. Profundidad media cercana a 100 km, y la mayor sigue siendo el M4,8 del 10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675888"/>
            <a:ext cx="6675120" cy="1225296"/>
          </a:xfrm>
          <a:prstGeom prst="rect">
            <a:avLst/>
          </a:prstGeom>
          <a:noFill/>
          <a:ln/>
        </p:spPr>
        <p:txBody>
          <a:bodyPr wrap="square" lIns="0" tIns="0" rIns="0" bIns="0" rtlCol="0" anchor="t"/>
          <a:lstStyle/>
          <a:p>
            <a:pPr indent="0" marL="0">
              <a:buNone/>
            </a:pPr>
            <a:r>
              <a:rPr lang="en-US" sz="850" dirty="0">
                <a:solidFill>
                  <a:srgbClr val="222222"/>
                </a:solidFill>
                <a:latin typeface="Calibri" pitchFamily="34" charset="0"/>
                <a:ea typeface="Calibri" pitchFamily="34" charset="-122"/>
                <a:cs typeface="Calibri" pitchFamily="34" charset="-120"/>
              </a:rPr>
              <a:t>El SGC localizó 147 eventos en las 34 horas posteriores al sismo principal. En esa ventana solo uno superó M4,0 -el M4,8 de 44 minutos después- y el 92 % estuvo por debajo de M3,0; el M4,2 del 13 de agosto es el segundo. Ninguna réplica se ha acercado al tamaño del sismo principal. Noventa y seis de los 147 se ubican a 60 km de profundidad o más y a menos de 80 km del epicentro: ese subconjunto es la secuencia intraplaca, y su curva acumulada sigue los totales publicados por el SGC. Una secuencia moderada y de decaimiento rápido es lo esperable en una ruptura de profundidad intermedia, pero el evento del 13 de agosto muestra que sigue habiendo sacudidas capaces de detener el rescate. El total publicado por el SGC llegó a 184 hasta las 07:00 del 14 de agosto -15 por encima de M3,0 y 2 por encima de M4,0- y a 325 en el corte del 17 de agosto, un ritmo coherente con el extracto del catálogo y con un decaimiento normal. Se concentran alrededor del epicentro a una profundidad media cercana a 100 km: la losa, no la corteza.</a:t>
            </a:r>
            <a:endParaRPr lang="en-US" sz="850" dirty="0"/>
          </a:p>
        </p:txBody>
      </p:sp>
      <p:pic>
        <p:nvPicPr>
          <p:cNvPr id="6" name="Image 1" descr="/home/user/whatsmap/reports/colombia_eq_20260810/images/aftershock_counts_es.png">    </p:cNvPr>
          <p:cNvPicPr>
            <a:picLocks noChangeAspect="1"/>
          </p:cNvPicPr>
          <p:nvPr/>
        </p:nvPicPr>
        <p:blipFill>
          <a:blip r:embed="rId2"/>
          <a:stretch>
            <a:fillRect/>
          </a:stretch>
        </p:blipFill>
        <p:spPr>
          <a:xfrm>
            <a:off x="8081727" y="3584448"/>
            <a:ext cx="2618323" cy="1097280"/>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147 eventos localizados por el SGC tras el sismo principal (ADRC, del catálogo del SGC)</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Cuánto difieren las entidades
</a:t>
            </a:r>
            <a:pPr algn="l" indent="0" marL="0">
              <a:buNone/>
            </a:pPr>
            <a:r>
              <a:rPr lang="en-US" sz="950" dirty="0">
                <a:solidFill>
                  <a:srgbClr val="7A2E0E"/>
                </a:solidFill>
                <a:latin typeface="Calibri" pitchFamily="34" charset="0"/>
                <a:ea typeface="Calibri" pitchFamily="34" charset="-122"/>
                <a:cs typeface="Calibri" pitchFamily="34" charset="-120"/>
              </a:rPr>
              <a:t>Más de 30 entidades publicaron una solución para el sismo principal en cuestión de minutos. Sus magnitudes van de Mw 7.0 a 7.7 y sus profundidades de 74 a 121 km; varias soluciones automáticas usaron el valor por defecto de 10 km antes de ser revisadas. Este informe utiliza la solución del USGS/NEIC (Mw 7.4, 110 km), que coincide con el PAGER v5, y muestra al lado la del SGC. La dispersión es normal en un sismo profundo registrado a distancias telesísmicas, y explica por qué las primeras cifras de prensa sobre profundidad y magnitud no coincidían.</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Datos: extracto del catálogo del SGC para la región, del 10 de agosto 07:34 al 11 de agosto 17:24 COT, 148 filas incluido el sismo principal, cada una con su identificador SGC y estado revisado (“manual”); aportado por el autor y conservado en este repositorio como images/sgc_aftershocks.csv. Ambos paneles se generan a partir de ese archivo, de modo que la figura es reproducible y cada evento puede verificarse en sgc.gov.co por su identificador. La fila del sismo principal en el extracto (103 km en 4,99 N 76,29 O) coincide con la página del evento del SGC revisada el 11 de agosto, lo que sirve de verificación del extracto en su conjunto.</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 total del SGC: 103 réplicas hasta las 15:00 del 11 de agosto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99 réplicas y sus magnitudes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Afectación humana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Muertos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312</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Heridos</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4.611</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Desaparecidos</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290</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Balance de la UNGRD con corte a las 06:30 COT del 19 de agosto. 143.533 familias (294.503 personas) afectadas en 470 municipios de 15 departamentos; 29.548 viviendas destruidas y 134.124 averiadas; 267 edificios colapsados; 358 rescatados con vida. Fallecidos y desaparecidos sin cambio frente al corte de las 19:00 de la víspera. Cite la hora de corte junto con el número: el 18 de agosto el mismo día registró 304 fallecidos y 426 desaparecidos en la mañana frente a 312 y 290 en la tarde.</a:t>
            </a:r>
            <a:endParaRPr lang="en-US" sz="750" dirty="0"/>
          </a:p>
        </p:txBody>
      </p:sp>
      <p:graphicFrame>
        <p:nvGraphicFramePr>
          <p:cNvPr id="14" name="Chart 0" descr=""/>
          <p:cNvGraphicFramePr/>
          <p:nvPr/>
        </p:nvGraphicFramePr>
        <p:xfrm>
          <a:off x="365760" y="2377440"/>
          <a:ext cx="6035040" cy="2615184"/>
        </p:xfrm>
        <a:graphic xmlns:a="http://schemas.openxmlformats.org/drawingml/2006/main">
          <a:graphicData uri="http://schemas.openxmlformats.org/drawingml/2006/chart">
            <c:chart xmlns:c="http://schemas.openxmlformats.org/drawingml/2006/chart" r:id="rId2"/>
          </a:graphicData>
        </a:graphic>
      </p:graphicFrame>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0233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Muertos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Presidente, 11 de agosto. La Gobernación cuenta más: 95 en Cali más 35 en otros municipios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Presidente, 11 de agosto. El departamento reporta alrededor de 90</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 (Quibdó)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El Chocó cerró su fase de búsqueda el 12 de agosto; reporta 14 fallecidos y 138 heridos.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Reportados 2, luego 4 y luego 5</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 años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230368"/>
            <a:ext cx="11430000" cy="969264"/>
          </a:xfrm>
          <a:prstGeom prst="roundRect">
            <a:avLst>
              <a:gd name="adj" fmla="val 4717"/>
            </a:avLst>
          </a:prstGeom>
          <a:solidFill>
            <a:srgbClr val="FCE9DC"/>
          </a:solidFill>
          <a:ln w="12700">
            <a:solidFill>
              <a:srgbClr val="E8A317"/>
            </a:solidFill>
            <a:prstDash val="solid"/>
          </a:ln>
        </p:spPr>
      </p:sp>
      <p:sp>
        <p:nvSpPr>
          <p:cNvPr id="17" name="Text 12"/>
          <p:cNvSpPr/>
          <p:nvPr/>
        </p:nvSpPr>
        <p:spPr>
          <a:xfrm>
            <a:off x="530352" y="5285232"/>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Cómo leer las cifras
</a:t>
            </a:r>
            <a:pPr algn="l" indent="0" marL="0">
              <a:buNone/>
            </a:pPr>
            <a:r>
              <a:rPr lang="en-US" sz="950" dirty="0">
                <a:solidFill>
                  <a:srgbClr val="7A2E0E"/>
                </a:solidFill>
                <a:latin typeface="Calibri" pitchFamily="34" charset="0"/>
                <a:ea typeface="Calibri" pitchFamily="34" charset="-122"/>
                <a:cs typeface="Calibri" pitchFamily="34" charset="-120"/>
              </a:rPr>
              <a:t>La cifra nacional es 312 en el corte de las 19:00 del 18 de agosto, tras 304 en el corte de las 06:30 de esa mañana y 287 la tarde del 16. La serie fue 273 (13 de agosto), 281, 285, 287, 288, 294, 289, 287, 304 y ahora 312, y la UNGRD atribuye el movimiento en cualquier dirección a la verificación y consolidación de las cifras reportadas desde los territorios. Medicina Legal había recibido 250 cuerpos, con 227 reconocidos, en la lectura del 13 de agosto. Cite 312 con su hora de corte como la cifra oficial nacional. El gráfico corresponde al desglose presidencial del 11 de agosto (181) y muestra la forma de la distribución -muertes concentradas en Risaralda (Pereira) y Valle del Cauca (Cali)-, no un conteo actual. Cali también se reporta de tres maneras: 97 en el desglose del Presidente, 85 por el alcalde el 11 de agosto y 69 en el propio reporte municipal, que no indica hora de corte.</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 balance de la UNGRD: 182 muertos, 2.542 heridos, 189 desaparecidos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 los 181 del Presidente son 59 menos que los datos regionales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en vivo, 11 de agosto (Cali sube a 85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Balance de Asocapitales — 132 muertos, más de 570 heridos, por ciudades</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Personas desaparecidas: dos conteos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24128"/>
            <a:ext cx="3611880" cy="1234440"/>
          </a:xfrm>
          <a:prstGeom prst="roundRect">
            <a:avLst>
              <a:gd name="adj" fmla="val 4444"/>
            </a:avLst>
          </a:prstGeom>
          <a:solidFill>
            <a:srgbClr val="EAF2F8"/>
          </a:solidFill>
          <a:ln w="12700">
            <a:solidFill>
              <a:srgbClr val="D9D9D9"/>
            </a:solidFill>
            <a:prstDash val="solid"/>
          </a:ln>
        </p:spPr>
      </p:sp>
      <p:sp>
        <p:nvSpPr>
          <p:cNvPr id="5" name="Text 2"/>
          <p:cNvSpPr/>
          <p:nvPr/>
        </p:nvSpPr>
        <p:spPr>
          <a:xfrm>
            <a:off x="50292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Reportados a las autoridades</a:t>
            </a:r>
            <a:endParaRPr lang="en-US" sz="1050" dirty="0"/>
          </a:p>
        </p:txBody>
      </p:sp>
      <p:sp>
        <p:nvSpPr>
          <p:cNvPr id="6" name="Text 3"/>
          <p:cNvSpPr/>
          <p:nvPr/>
        </p:nvSpPr>
        <p:spPr>
          <a:xfrm>
            <a:off x="502920" y="1481328"/>
            <a:ext cx="3337560" cy="713232"/>
          </a:xfrm>
          <a:prstGeom prst="rect">
            <a:avLst/>
          </a:prstGeom>
          <a:noFill/>
          <a:ln/>
        </p:spPr>
        <p:txBody>
          <a:bodyPr wrap="square" lIns="0" tIns="0" rIns="0" bIns="0" rtlCol="0" anchor="ctr"/>
          <a:lstStyle/>
          <a:p>
            <a:pPr indent="0" marL="0">
              <a:buNone/>
            </a:pPr>
            <a:r>
              <a:rPr lang="en-US" sz="3200" b="1" dirty="0">
                <a:solidFill>
                  <a:srgbClr val="C00000"/>
                </a:solidFill>
                <a:latin typeface="Cambria" pitchFamily="34" charset="0"/>
                <a:ea typeface="Cambria" pitchFamily="34" charset="-122"/>
                <a:cs typeface="Cambria" pitchFamily="34" charset="-120"/>
              </a:rPr>
              <a:t>290</a:t>
            </a:r>
            <a:endParaRPr lang="en-US" sz="3200" dirty="0"/>
          </a:p>
        </p:txBody>
      </p:sp>
      <p:sp>
        <p:nvSpPr>
          <p:cNvPr id="7" name="Shape 4"/>
          <p:cNvSpPr/>
          <p:nvPr/>
        </p:nvSpPr>
        <p:spPr>
          <a:xfrm>
            <a:off x="4206240" y="1024128"/>
            <a:ext cx="3611880" cy="1234440"/>
          </a:xfrm>
          <a:prstGeom prst="roundRect">
            <a:avLst>
              <a:gd name="adj" fmla="val 4444"/>
            </a:avLst>
          </a:prstGeom>
          <a:solidFill>
            <a:srgbClr val="EAF2F8"/>
          </a:solidFill>
          <a:ln w="12700">
            <a:solidFill>
              <a:srgbClr val="D9D9D9"/>
            </a:solidFill>
            <a:prstDash val="solid"/>
          </a:ln>
        </p:spPr>
      </p:sp>
      <p:sp>
        <p:nvSpPr>
          <p:cNvPr id="8" name="Text 5"/>
          <p:cNvSpPr/>
          <p:nvPr/>
        </p:nvSpPr>
        <p:spPr>
          <a:xfrm>
            <a:off x="434340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Sin resolver en la plataforma ciudadana</a:t>
            </a:r>
            <a:endParaRPr lang="en-US" sz="1050" dirty="0"/>
          </a:p>
        </p:txBody>
      </p:sp>
      <p:sp>
        <p:nvSpPr>
          <p:cNvPr id="9" name="Text 6"/>
          <p:cNvSpPr/>
          <p:nvPr/>
        </p:nvSpPr>
        <p:spPr>
          <a:xfrm>
            <a:off x="4343400" y="1481328"/>
            <a:ext cx="3337560" cy="713232"/>
          </a:xfrm>
          <a:prstGeom prst="rect">
            <a:avLst/>
          </a:prstGeom>
          <a:noFill/>
          <a:ln/>
        </p:spPr>
        <p:txBody>
          <a:bodyPr wrap="square" lIns="0" tIns="0" rIns="0" bIns="0" rtlCol="0" anchor="ctr"/>
          <a:lstStyle/>
          <a:p>
            <a:pPr indent="0" marL="0">
              <a:buNone/>
            </a:pPr>
            <a:r>
              <a:rPr lang="en-US" sz="3200" b="1" dirty="0">
                <a:solidFill>
                  <a:srgbClr val="9A3B12"/>
                </a:solidFill>
                <a:latin typeface="Cambria" pitchFamily="34" charset="0"/>
                <a:ea typeface="Cambria" pitchFamily="34" charset="-122"/>
                <a:cs typeface="Cambria" pitchFamily="34" charset="-120"/>
              </a:rPr>
              <a:t>3.653</a:t>
            </a:r>
            <a:endParaRPr lang="en-US" sz="3200" dirty="0"/>
          </a:p>
        </p:txBody>
      </p:sp>
      <p:sp>
        <p:nvSpPr>
          <p:cNvPr id="10" name="Shape 7"/>
          <p:cNvSpPr/>
          <p:nvPr/>
        </p:nvSpPr>
        <p:spPr>
          <a:xfrm>
            <a:off x="8046720" y="1024128"/>
            <a:ext cx="3611880" cy="1234440"/>
          </a:xfrm>
          <a:prstGeom prst="roundRect">
            <a:avLst>
              <a:gd name="adj" fmla="val 4444"/>
            </a:avLst>
          </a:prstGeom>
          <a:solidFill>
            <a:srgbClr val="EAF2F8"/>
          </a:solidFill>
          <a:ln w="12700">
            <a:solidFill>
              <a:srgbClr val="D9D9D9"/>
            </a:solidFill>
            <a:prstDash val="solid"/>
          </a:ln>
        </p:spPr>
      </p:sp>
      <p:sp>
        <p:nvSpPr>
          <p:cNvPr id="11" name="Text 8"/>
          <p:cNvSpPr/>
          <p:nvPr/>
        </p:nvSpPr>
        <p:spPr>
          <a:xfrm>
            <a:off x="818388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Localizados a través de la plataforma</a:t>
            </a:r>
            <a:endParaRPr lang="en-US" sz="1050" dirty="0"/>
          </a:p>
        </p:txBody>
      </p:sp>
      <p:sp>
        <p:nvSpPr>
          <p:cNvPr id="12" name="Text 9"/>
          <p:cNvSpPr/>
          <p:nvPr/>
        </p:nvSpPr>
        <p:spPr>
          <a:xfrm>
            <a:off x="8183880" y="1481328"/>
            <a:ext cx="3337560" cy="713232"/>
          </a:xfrm>
          <a:prstGeom prst="rect">
            <a:avLst/>
          </a:prstGeom>
          <a:noFill/>
          <a:ln/>
        </p:spPr>
        <p:txBody>
          <a:bodyPr wrap="square" lIns="0" tIns="0" rIns="0" bIns="0" rtlCol="0" anchor="ctr"/>
          <a:lstStyle/>
          <a:p>
            <a:pPr indent="0" marL="0">
              <a:buNone/>
            </a:pPr>
            <a:r>
              <a:rPr lang="en-US" sz="3200" b="1" dirty="0">
                <a:solidFill>
                  <a:srgbClr val="1F3864"/>
                </a:solidFill>
                <a:latin typeface="Cambria" pitchFamily="34" charset="0"/>
                <a:ea typeface="Cambria" pitchFamily="34" charset="-122"/>
                <a:cs typeface="Cambria" pitchFamily="34" charset="-120"/>
              </a:rPr>
              <a:t>429</a:t>
            </a:r>
            <a:endParaRPr lang="en-US" sz="3200" dirty="0"/>
          </a:p>
        </p:txBody>
      </p:sp>
      <p:sp>
        <p:nvSpPr>
          <p:cNvPr id="13" name="Shape 10"/>
          <p:cNvSpPr/>
          <p:nvPr/>
        </p:nvSpPr>
        <p:spPr>
          <a:xfrm>
            <a:off x="365760" y="2432304"/>
            <a:ext cx="11430000" cy="1481328"/>
          </a:xfrm>
          <a:prstGeom prst="roundRect">
            <a:avLst>
              <a:gd name="adj" fmla="val 3086"/>
            </a:avLst>
          </a:prstGeom>
          <a:solidFill>
            <a:srgbClr val="FCE9DC"/>
          </a:solidFill>
          <a:ln w="12700">
            <a:solidFill>
              <a:srgbClr val="E8A317"/>
            </a:solidFill>
            <a:prstDash val="solid"/>
          </a:ln>
        </p:spPr>
      </p:sp>
      <p:sp>
        <p:nvSpPr>
          <p:cNvPr id="14" name="Text 11"/>
          <p:cNvSpPr/>
          <p:nvPr/>
        </p:nvSpPr>
        <p:spPr>
          <a:xfrm>
            <a:off x="530352" y="2487168"/>
            <a:ext cx="11100816" cy="13716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Dos cifras distintas de «desaparecidos»
</a:t>
            </a:r>
            <a:pPr algn="l" indent="0" marL="0">
              <a:buNone/>
            </a:pPr>
            <a:r>
              <a:rPr lang="en-US" sz="950" dirty="0">
                <a:solidFill>
                  <a:srgbClr val="7A2E0E"/>
                </a:solidFill>
                <a:latin typeface="Calibri" pitchFamily="34" charset="0"/>
                <a:ea typeface="Calibri" pitchFamily="34" charset="-122"/>
                <a:cs typeface="Calibri" pitchFamily="34" charset="-120"/>
              </a:rPr>
              <a:t>290 y 3.653 no miden lo mismo y ninguna de las dos cifras es errónea. 290 es el conteo oficial informado por la UNGRD con corte a las 06:30 del 19 de agosto, sin cambio frente al corte de las 19:00 de la víspera y tomado del registro de la Fiscalía; doce horas antes de ese corte era 426. La serie ha sido 496, 377, 378, 202, 320, 143, 194, 426 y ahora 290, y se mueve en ambos sentidos porque al mismo tiempo se presentan, resuelven y depuran reportes; la UNGRD lo atribuye a la verificación y consolidación de las cifras enviadas desde los territorios. Ni un alza ni una baja dicen cuántas personas siguen bajo los escombros: la cifra que mide hallazgos es la de rescatados con vida, 358, y el Chocó cerró su fase de búsqueda el 12 de agosto. 3.653 es el número de personas inscritas por sus familias en la plataforma ciudadana “Colombia te busca” y aún no localizadas: una iniciativa comunitaria, no un registro estatal, que no reemplaza el reporte a la policía o a la Fiscalía y que contendrá duplicados y personas simplemente incomunicadas donde no hay energía ni servicio telefónico. Cite 290 con su hora de corte como el número de desaparecidos; cite 3.653 como el volumen de consultas familiares, que mide mejor cuántos hogares aún no saben.</a:t>
            </a:r>
            <a:endParaRPr lang="en-US" sz="1050" dirty="0"/>
          </a:p>
        </p:txBody>
      </p:sp>
      <p:sp>
        <p:nvSpPr>
          <p:cNvPr id="15" name="Text 12"/>
          <p:cNvSpPr/>
          <p:nvPr/>
        </p:nvSpPr>
        <p:spPr>
          <a:xfrm>
            <a:off x="365760" y="4114800"/>
            <a:ext cx="11430000" cy="73152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Los registros se concentran en Valle del Cauca, Risaralda, Caldas y Chocó, los mismos cuatro departamentos donde están los fallecidos. Asocapitales, la asociación de ciudades capitales, ha lanzado una segunda plataforma, de modo que el volumen de consultas está ahora repartido entre dos registros y sus totales no deben sumarse.</a:t>
            </a:r>
            <a:endParaRPr lang="en-US" sz="1050" dirty="0"/>
          </a:p>
        </p:txBody>
      </p:sp>
      <p:sp>
        <p:nvSpPr>
          <p:cNvPr id="16"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«Colombia te busca» — plataforma ciudadana de personas desaparecidas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Asocapitales — herramienta de personas desaparecidas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El Tiempo — en vivo, 11 de agosto (Cali sube a 85 muertos)</a:t>
            </a:r>
            <a:endParaRPr lang="en-US" sz="850" dirty="0"/>
          </a:p>
        </p:txBody>
      </p:sp>
      <p:sp>
        <p:nvSpPr>
          <p:cNvPr id="17"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18"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19"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Cali: reporte municipal de daños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Funcionarios de la Alcaldía de Santiago de Cali. Son cifras de la ciudad; no son el desglose de ningún corte nacional.</a:t>
            </a:r>
            <a:endParaRPr lang="en-US" sz="950" dirty="0"/>
          </a:p>
        </p:txBody>
      </p:sp>
      <p:sp>
        <p:nvSpPr>
          <p:cNvPr id="5" name="Shape 2"/>
          <p:cNvSpPr/>
          <p:nvPr/>
        </p:nvSpPr>
        <p:spPr>
          <a:xfrm>
            <a:off x="365760" y="1225296"/>
            <a:ext cx="2697480" cy="1060704"/>
          </a:xfrm>
          <a:prstGeom prst="roundRect">
            <a:avLst>
              <a:gd name="adj" fmla="val 5172"/>
            </a:avLst>
          </a:prstGeom>
          <a:solidFill>
            <a:srgbClr val="EAF2F8"/>
          </a:solidFill>
          <a:ln w="12700">
            <a:solidFill>
              <a:srgbClr val="D9D9D9"/>
            </a:solidFill>
            <a:prstDash val="solid"/>
          </a:ln>
        </p:spPr>
      </p:sp>
      <p:sp>
        <p:nvSpPr>
          <p:cNvPr id="6" name="Text 3"/>
          <p:cNvSpPr/>
          <p:nvPr/>
        </p:nvSpPr>
        <p:spPr>
          <a:xfrm>
            <a:off x="493776"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Fallecidos</a:t>
            </a:r>
            <a:endParaRPr lang="en-US" sz="1050" dirty="0"/>
          </a:p>
        </p:txBody>
      </p:sp>
      <p:sp>
        <p:nvSpPr>
          <p:cNvPr id="7" name="Text 4"/>
          <p:cNvSpPr/>
          <p:nvPr/>
        </p:nvSpPr>
        <p:spPr>
          <a:xfrm>
            <a:off x="493776" y="1517904"/>
            <a:ext cx="2441448" cy="694944"/>
          </a:xfrm>
          <a:prstGeom prst="rect">
            <a:avLst/>
          </a:prstGeom>
          <a:noFill/>
          <a:ln/>
        </p:spPr>
        <p:txBody>
          <a:bodyPr wrap="square" lIns="0" tIns="0" rIns="0" bIns="0" rtlCol="0" anchor="ctr"/>
          <a:lstStyle/>
          <a:p>
            <a:pPr indent="0" marL="0">
              <a:buNone/>
            </a:pPr>
            <a:r>
              <a:rPr lang="en-US" sz="3000" b="1" dirty="0">
                <a:solidFill>
                  <a:srgbClr val="C00000"/>
                </a:solidFill>
                <a:latin typeface="Cambria" pitchFamily="34" charset="0"/>
                <a:ea typeface="Cambria" pitchFamily="34" charset="-122"/>
                <a:cs typeface="Cambria" pitchFamily="34" charset="-120"/>
              </a:rPr>
              <a:t>69</a:t>
            </a:r>
            <a:endParaRPr lang="en-US" sz="3000" dirty="0"/>
          </a:p>
        </p:txBody>
      </p:sp>
      <p:sp>
        <p:nvSpPr>
          <p:cNvPr id="8" name="Shape 5"/>
          <p:cNvSpPr/>
          <p:nvPr/>
        </p:nvSpPr>
        <p:spPr>
          <a:xfrm>
            <a:off x="3255264" y="1225296"/>
            <a:ext cx="2697480" cy="1060704"/>
          </a:xfrm>
          <a:prstGeom prst="roundRect">
            <a:avLst>
              <a:gd name="adj" fmla="val 5172"/>
            </a:avLst>
          </a:prstGeom>
          <a:solidFill>
            <a:srgbClr val="EAF2F8"/>
          </a:solidFill>
          <a:ln w="12700">
            <a:solidFill>
              <a:srgbClr val="D9D9D9"/>
            </a:solidFill>
            <a:prstDash val="solid"/>
          </a:ln>
        </p:spPr>
      </p:sp>
      <p:sp>
        <p:nvSpPr>
          <p:cNvPr id="9" name="Text 6"/>
          <p:cNvSpPr/>
          <p:nvPr/>
        </p:nvSpPr>
        <p:spPr>
          <a:xfrm>
            <a:off x="3383280"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Heridos</a:t>
            </a:r>
            <a:endParaRPr lang="en-US" sz="1050" dirty="0"/>
          </a:p>
        </p:txBody>
      </p:sp>
      <p:sp>
        <p:nvSpPr>
          <p:cNvPr id="10" name="Text 7"/>
          <p:cNvSpPr/>
          <p:nvPr/>
        </p:nvSpPr>
        <p:spPr>
          <a:xfrm>
            <a:off x="3383280"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1,008</a:t>
            </a:r>
            <a:endParaRPr lang="en-US" sz="3000" dirty="0"/>
          </a:p>
        </p:txBody>
      </p:sp>
      <p:sp>
        <p:nvSpPr>
          <p:cNvPr id="11" name="Shape 8"/>
          <p:cNvSpPr/>
          <p:nvPr/>
        </p:nvSpPr>
        <p:spPr>
          <a:xfrm>
            <a:off x="6144768" y="1225296"/>
            <a:ext cx="2697480" cy="1060704"/>
          </a:xfrm>
          <a:prstGeom prst="roundRect">
            <a:avLst>
              <a:gd name="adj" fmla="val 5172"/>
            </a:avLst>
          </a:prstGeom>
          <a:solidFill>
            <a:srgbClr val="EAF2F8"/>
          </a:solidFill>
          <a:ln w="12700">
            <a:solidFill>
              <a:srgbClr val="D9D9D9"/>
            </a:solidFill>
            <a:prstDash val="solid"/>
          </a:ln>
        </p:spPr>
      </p:sp>
      <p:sp>
        <p:nvSpPr>
          <p:cNvPr id="12" name="Text 9"/>
          <p:cNvSpPr/>
          <p:nvPr/>
        </p:nvSpPr>
        <p:spPr>
          <a:xfrm>
            <a:off x="6272784"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Personas atrapadas</a:t>
            </a:r>
            <a:endParaRPr lang="en-US" sz="1050" dirty="0"/>
          </a:p>
        </p:txBody>
      </p:sp>
      <p:sp>
        <p:nvSpPr>
          <p:cNvPr id="13" name="Text 10"/>
          <p:cNvSpPr/>
          <p:nvPr/>
        </p:nvSpPr>
        <p:spPr>
          <a:xfrm>
            <a:off x="6272784"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230</a:t>
            </a:r>
            <a:endParaRPr lang="en-US" sz="3000" dirty="0"/>
          </a:p>
        </p:txBody>
      </p:sp>
      <p:sp>
        <p:nvSpPr>
          <p:cNvPr id="14" name="Shape 11"/>
          <p:cNvSpPr/>
          <p:nvPr/>
        </p:nvSpPr>
        <p:spPr>
          <a:xfrm>
            <a:off x="9034272" y="1225296"/>
            <a:ext cx="2697480" cy="1060704"/>
          </a:xfrm>
          <a:prstGeom prst="roundRect">
            <a:avLst>
              <a:gd name="adj" fmla="val 5172"/>
            </a:avLst>
          </a:prstGeom>
          <a:solidFill>
            <a:srgbClr val="EAF2F8"/>
          </a:solidFill>
          <a:ln w="12700">
            <a:solidFill>
              <a:srgbClr val="D9D9D9"/>
            </a:solidFill>
            <a:prstDash val="solid"/>
          </a:ln>
        </p:spPr>
      </p:sp>
      <p:sp>
        <p:nvSpPr>
          <p:cNvPr id="15" name="Text 12"/>
          <p:cNvSpPr/>
          <p:nvPr/>
        </p:nvSpPr>
        <p:spPr>
          <a:xfrm>
            <a:off x="9162288"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Personas rescatadas</a:t>
            </a:r>
            <a:endParaRPr lang="en-US" sz="1050" dirty="0"/>
          </a:p>
        </p:txBody>
      </p:sp>
      <p:sp>
        <p:nvSpPr>
          <p:cNvPr id="16" name="Text 13"/>
          <p:cNvSpPr/>
          <p:nvPr/>
        </p:nvSpPr>
        <p:spPr>
          <a:xfrm>
            <a:off x="9162288" y="1517904"/>
            <a:ext cx="2441448" cy="694944"/>
          </a:xfrm>
          <a:prstGeom prst="rect">
            <a:avLst/>
          </a:prstGeom>
          <a:noFill/>
          <a:ln/>
        </p:spPr>
        <p:txBody>
          <a:bodyPr wrap="square" lIns="0" tIns="0" rIns="0" bIns="0" rtlCol="0" anchor="ctr"/>
          <a:lstStyle/>
          <a:p>
            <a:pPr indent="0" marL="0">
              <a:buNone/>
            </a:pPr>
            <a:r>
              <a:rPr lang="en-US" sz="3000" b="1" dirty="0">
                <a:solidFill>
                  <a:srgbClr val="1F3864"/>
                </a:solidFill>
                <a:latin typeface="Cambria" pitchFamily="34" charset="0"/>
                <a:ea typeface="Cambria" pitchFamily="34" charset="-122"/>
                <a:cs typeface="Cambria" pitchFamily="34" charset="-120"/>
              </a:rPr>
              <a:t>88</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2450592"/>
          <a:ext cx="5760720" cy="914400"/>
        </p:xfrm>
        <a:graphic>
          <a:graphicData uri="http://schemas.openxmlformats.org/drawingml/2006/table">
            <a:tbl>
              <a:tblPr/>
              <a:tblGrid>
                <a:gridCol w="4297680"/>
                <a:gridCol w="1463040"/>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Edificaciones colapsadas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107</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Edificaciones con daños estructurales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643</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Edificios con orden de evacuación</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Personas atrapadas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230</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Personas rescatadas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Fallecidos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Heridos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1,008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8" name="Shape 14"/>
          <p:cNvSpPr/>
          <p:nvPr/>
        </p:nvSpPr>
        <p:spPr>
          <a:xfrm>
            <a:off x="6400800" y="2450592"/>
            <a:ext cx="5394960" cy="1975104"/>
          </a:xfrm>
          <a:prstGeom prst="roundRect">
            <a:avLst>
              <a:gd name="adj" fmla="val 2315"/>
            </a:avLst>
          </a:prstGeom>
          <a:solidFill>
            <a:srgbClr val="FCE9DC"/>
          </a:solidFill>
          <a:ln w="12700">
            <a:solidFill>
              <a:srgbClr val="E8A317"/>
            </a:solidFill>
            <a:prstDash val="solid"/>
          </a:ln>
        </p:spPr>
      </p:sp>
      <p:sp>
        <p:nvSpPr>
          <p:cNvPr id="19" name="Text 15"/>
          <p:cNvSpPr/>
          <p:nvPr/>
        </p:nvSpPr>
        <p:spPr>
          <a:xfrm>
            <a:off x="6565392" y="2505456"/>
            <a:ext cx="5065776" cy="186537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Cómo leer estas cifras frente a las otras de Cali
</a:t>
            </a:r>
            <a:pPr algn="l" indent="0" marL="0">
              <a:buNone/>
            </a:pPr>
            <a:r>
              <a:rPr lang="en-US" sz="950" dirty="0">
                <a:solidFill>
                  <a:srgbClr val="7A2E0E"/>
                </a:solidFill>
                <a:latin typeface="Calibri" pitchFamily="34" charset="0"/>
                <a:ea typeface="Calibri" pitchFamily="34" charset="-122"/>
                <a:cs typeface="Calibri" pitchFamily="34" charset="-120"/>
              </a:rPr>
              <a:t>El conteo propio de la ciudad, 69 fallecidos, queda por debajo de los 85 que dio el alcalde el 11 de agosto y de los 97 del desglose presidencial de ese mismo día, mientras que sus 1.008 heridos superan los 885 del alcalde. El reporte municipal no indica hora de corte, de modo que no puede ubicarse en esa secuencia: puede ser una foto anterior o un conteo más estricto de fallecidos confirmados por la propia ciudad. Hasta que la ciudad indique su corte, conviene citar las cifras nacionales para el panorama nacional y usar estas para lo que solo reporta el municipio: edificaciones colapsadas y con daños estructurales, órdenes de evacuación y la relación entre atrapados y rescatados.</a:t>
            </a:r>
            <a:endParaRPr lang="en-US" sz="1050" dirty="0"/>
          </a:p>
        </p:txBody>
      </p:sp>
      <p:sp>
        <p:nvSpPr>
          <p:cNvPr id="20" name="Text 16"/>
          <p:cNvSpPr/>
          <p:nvPr/>
        </p:nvSpPr>
        <p:spPr>
          <a:xfrm>
            <a:off x="6400800" y="4572000"/>
            <a:ext cx="5394960" cy="100584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230 personas atrapadas frente a 88 rescatadas es la cifra que marca las próximas 48 horas en Cali: es la carga de trabajo de búsqueda y rescate, y es mayor que el número de fallecidos de la ciudad.</a:t>
            </a:r>
            <a:endParaRPr lang="en-US" sz="1000" dirty="0"/>
          </a:p>
        </p:txBody>
      </p:sp>
      <p:sp>
        <p:nvSpPr>
          <p:cNvPr id="21" name="Text 17"/>
          <p:cNvSpPr/>
          <p:nvPr/>
        </p:nvSpPr>
        <p:spPr>
          <a:xfrm>
            <a:off x="365760" y="5943600"/>
            <a:ext cx="11430000" cy="237744"/>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Funcionarios de la Alcaldía de Santiago de Cali, recibido el 12 de agosto de 2026</a:t>
            </a:r>
            <a:endParaRPr lang="en-US" sz="750" dirty="0"/>
          </a:p>
        </p:txBody>
      </p:sp>
      <p:sp>
        <p:nvSpPr>
          <p:cNvPr id="22" name="Text 18"/>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Alcaldía de Santiago de Cali — gestión del riesgo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en vivo, 11 de agosto (Cali sube a 85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endParaRPr lang="en-US" sz="850" dirty="0"/>
          </a:p>
        </p:txBody>
      </p:sp>
      <p:sp>
        <p:nvSpPr>
          <p:cNvPr id="23"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4"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25" name="Text 21"/>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312 (UNGRD, corte de las 06:30 del 19 de agosto), sin cambio frente al corte de las 19:00 de la víspera, tras 304 a las 06:30 del 18 y 287 el 16. La serie fue 273, 281, 285, 287, 288, 294, 289, 287, 304 y ahora 312. Chocó, Risaralda y Valle del Cauca siguen siendo los más afectados.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19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4.611 (UNGRD, corte de las 06:30 del 19 de agosto), sin cambio frente a la víspera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19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Desaparecidos (reportados a las autoridades)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290 (UNGRD, corte de las 06:30 del 19 de agosto), sin cambio frente al corte de las 19:00 de la víspera, que había bajado desde 426 esa mañana. La serie ha sido 496, 377, 378, 202, 320, 143, 194, 426 y ahora 290: al mismo tiempo se presentan, resuelven y depuran reportes, y la UNGRD atribuye el movimiento a la verificación de los reportes territoriales. No mide cuántas personas siguen bajo los escombros; 358 han sido rescatadas con vida y el Chocó cerró su fase de búsqueda el 12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 Fiscalía General de la Nación, 19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Reportes sin resolver en plataformas ciudadanas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4.084 personas registradas en «Colombia te busca», de las cuales 3.653 están por localizar y 429 han sido encontradas, concentradas en Valle del Cauca, Risaralda, Caldas y Chocó. Asocapitales ha lanzado una segunda plataforma.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«Colombia te busca» (iniciativa ciudadana); Asocapitales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Rescatados con vida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358 (UNGRD, corte de las 06:30 del 19 de agosto), frente a 356 el día anterior. Incluyen a una mujer rescatada en Cali casi 30 horas después del sismo, a otra liberada en Pereira tras 36 horas, a un bebé sacado de un bloque de apartamentos y a la familia de cuatro hallada con vida en Quibdó.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19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Municipios afectados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470 municipios en 15 departamentos (UNGRD, corte de las 06:30 del 19 de agosto), frente a 472 en el corte de las 06:30 del 18 y 403 el 12 de agosto. Continúa la alerta roja en Cali, Pereira, Quibdó, Manizales y Armenia.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19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Personas afectadas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143.533 familias -294.503 personas- afectadas (UNGRD, corte de las 06:30 del 19 de agosto), frente a 143.470 familias (294.278 personas) en el corte de las 19:00 de la víspera. Entre los dos cortes del 18 de agosto las familias subieron unas 20.000 mientras las personas apenas se movieron, de modo que ambas cifras no se mantienen sobre la misma base y no conviene dividir una entre otra.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19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Viviendas averiadas o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163.672: 29.548 destruidas y 134.124 averiadas (UNGRD, corte de las 19:00 del 18 de agosto), prácticamente sin cambio desde esa mañana. El aumento desde 154.000 el 16 de agosto correspondió al avance de la evaluación, no a daño nuevo. En El Cairo, pueblo cafetero en las montañas del Valle del Cauca, el 80 % de las casas resultó afectado.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de agosto 19:00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 las cuales con daños graves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134.124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de agosto 19:00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 las cuales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29.548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de agosto 19:00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Edificios colapsados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267 colapsados y 5.808 con daños (UNGRD, corte de las 06:30 del 18 de agosto), frente a 197 colapsados el 16; el conteo de colapsos ha pasado por 172, 121, 66, 197 y ahora 267 a medida que se inspeccionan y reclasifican las estructuras. Asocapitales cuenta 243 colapsadas en las ciudades capitales; funcionarios de la Alcaldía de Cali reportan 107 colapsadas y 643 con daños estructurales.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de agosto; Asocapitales; 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Centros de salud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303 con daños (UNGRD, corte de las 06:30 del 18 de agosto), frente a 304 el 16 y 18 el 10 de agosto; 7 instituciones de salud cerradas; cerca del 30 % del Hospital Universitario del Valle en Cali colapsó, incluidos tres pisos (pediatría, medicina interna y parte de la unidad neonatal). El ministro del Interior señaló el 14 de agosto que la red hospitalaria de Buenaventura está desbordada.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de agosto; Ministerio del Interior; Gobernación del Valle del Cauca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Establecimientos educativos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3.443 afectados (UNGRD, corte de las 06:30 del 18 de agosto), frente a 3.207 el 16 y 52 el 10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Equipamientos comunitarios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3.905 con daños (UNGRD, corte de las 06:30 del 18 de agosto), frente a 4.059 el 16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Vías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410 vías afectadas (UNGRD, corte de las 18:30 del 16 de agosto), frente a 210 esa mañana y 18 el 10 de agosto; también 48 puentes vehiculares y 13 peatonales con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de agosto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Aeropuertos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 aeropuertos con daños en el balance de la UNGRD del 13 de agosto; las operaciones se habían suspendido en siete. La terminal de pasajeros del aeropuerto internacional Matecaña (Pereira) colapsó parcialmente; vuelos suspendidos en Pereira, Manizales, Quibdó, Armenia, Cartago y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13 de agosto; autoridad de aviación civil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Patrimonio cultural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 torre de la catedral neogótica de Manizales colapsó sobre la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Servicios públicos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95 acueductos afectados (UNGRD, corte de las 18:30 del 16 de agosto), frente a 73 esa mañana, y 29 entidades bancarias fuera de servicio; se reportan cortes de energía e interrupción de las comunicaciones en zonas cercanas al epicentro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de agosto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Personas desalojadas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que miles de personas salieron de sus viviendas; aún no se publican cifras de alojamientos temporales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Pérdidas económicas (preliminar)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Unos 30 billones de pesos (9.600 millones de dólares) en pérdidas físicas directas en Chocó, Valle del Cauca, Risaralda, Quindío y Caldas, anunciados por el Presidente en su primera alocución sobre el desastre: 24,5 billones en edificaciones y 5,5 billones en infraestructura, calculados por una firma privada. El Presidente señaló que es una evaluación inicial que se ajustará a medida que llegue información más detallada de las zonas afectadas. El BBVA estima por su parte los daños materiales directos entre 20 y 30 billones de pesos (6.400 a 9.600 millones de dólares).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Presidencia, 18 de agosto; BBVA Research</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Respuesta 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Declaratoria de desastre nacional, que activa el Sistema Nacional de Gestión del Riesgo de Desastres (SNGRD) creado por la Ley 1523 de 2012.</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Tres días de duelo nacional decretados mediante el Decreto 1172 desde el 12 de agosto, con la bandera a media asta en todos los edificios públicos y en las embajadas y consulados de Colombia en el exterior.</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Puesto de Mando Unificado (PMU) instalado en el Chocó; la UNGRD coordina con los consejos departamentales y municipales de gestión del riesgo.</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Cuatro grupos USAR (Bogotá, Envigado, Yopal y Medellín) desplegados para búsqueda y rescate en estructuras colapsadas.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El Chocó dio por finalizada su fase de búsqueda y rescate la noche del 12 de agosto; la gobernadora señaló que ya no quedaba nadie reportado bajo los escombros tras hallar con vida a la última familia buscada en Quibdó, y el departamento pasó a la atención de los afectados y la recuperación. Reporta 14 fallecidos, 138 heridos y 2.791 afectaciones materiales.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Fuerzas Militares desplegadas en los departamentos afectados para búsqueda, rescate, remoción de escombros en vías y seguridad.</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Inspección estructural rápida de hospitales, colegios y aeropuertos; siete instituciones de salud cerradas y seis aeropuertos suspendidos a la espera de la evaluación.</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Traslado de pacientes desde el Hospital Universitario del Valle, en Cali, hacia otras instituciones; la ciudad reportó que las víctimas se concentran en 12 puntos críticos de colapso.</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El Presidente recorrió las regiones afectadas los días 11 y 12 de agosto -Quibdó, luego Cali, después Pereira, Dosquebradas, Manizales y Armenia- y señaló que dirigiría la respuesta desde el terreno y no desde Bogotá.</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Medidas anunciadas durante el recorrido: tres meses de alivio en el pago de servicios públicos para los hogares censados como afectados, un subsidio de arriendo para quienes perdieron su vivienda, un censo y caracterización de las viviendas averiadas antes de repararlas, y un plan de choque para educación y vivienda. La tarde del 12 de agosto el Presidente anunció la declaratoria de emergencia económica, mecanismo constitucional destinado a acelerar la respuesta.</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La recolección de Bogotá había trasladado 1.174 toneladas de alimentos, aseo y kits de hábitat a cinco departamentos al 16 de agosto, con 900 unidades de sangre, 45 ingenieros, 18 funcionarios del acueducto y 10 vehículos para escombros. Solidaridad nacional, contada aparte de la ayuda internacional.</a:t>
            </a:r>
            <a:endParaRPr lang="en-US" sz="75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El presidente Abelardo de la Espriella preside la reunión de respuesta nacional   © UNGRD</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Bomberos de Cali en una edificación colapsada de la ciudad   © Alcaldía de Santiago de Cali</a:t>
            </a:r>
            <a:pPr algn="ctr" indent="0" marL="0">
              <a:buNone/>
            </a:pPr>
            <a:r>
              <a:rPr lang="en-US" sz="7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Fundamento jurídico
</a:t>
            </a:r>
            <a:pPr algn="l" indent="0" marL="0">
              <a:buNone/>
            </a:pPr>
            <a:r>
              <a:rPr lang="en-US" sz="950" dirty="0">
                <a:solidFill>
                  <a:srgbClr val="7A2E0E"/>
                </a:solidFill>
                <a:latin typeface="Calibri" pitchFamily="34" charset="0"/>
                <a:ea typeface="Calibri" pitchFamily="34" charset="-122"/>
                <a:cs typeface="Calibri" pitchFamily="34" charset="-120"/>
              </a:rPr>
              <a:t>La declaratoria de desastre nacional activa el SNGRD creado por la Ley 1523 de 2012, lo que permite a la UNGRD dirigir recursos y usar el fondo nacional de gestión del riesgo (FNGRD) sin los plazos ordinarios de contratación.</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internacional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21208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Colombia recibe equipos USAR clasificados por INSARAG de solo cuatro países -Estados Unidos, Israel, Ecuador y El Salvador-, con el argumento de que están certificados internacionalmente, actúan con los estándares de INSARAG bajo coordinación de la ONU y son totalmente autónomos, por lo que no demandan recursos adicionales a las administraciones municipales. Su función es apoyar a los equipos USAR colombianos ya desplegados. El Gobierno negó que otros ofrecimientos se hayan rechazado por consideraciones ideológicas; aun así, la selección ha sido cuestionada en la prensa colombiana.</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Al 17 de agosto la Cancillería reportó 222,5 toneladas de ayuda humanitaria y 144 integrantes de equipos internacionales recibidos, y señaló que la asistencia llegó de manera ágil y sin restricciones al Chocó, el Valle del Cauca y el Eje Cafetero. Entregado hasta ahora: El Salvador 100 t, México 58,5 t, Chile 50 t, Perú 14 t. En preparación: Paraguay unas 52 t, India 20 t, Guatemala 1.600 kits de alimentos y 3.000 de aseo (unas 30 t), Luxemburgo 75 carpas familiares y cuatro multipropósito, Alemania 2.500 filtros de agua y 3.000 kits de cocina, Suecia 150 carpas familiares y 360 cobijas. China anunció 80 toneladas el 17 de agosto. El canciller afirmó que no se ha excluido a ningún país.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El 14 de agosto la ayuda se amplió más allá de los cuatro países que envían rescatistas. India despachó 20 toneladas de insumos humanitarios (medicamentos y equipos médicos, alojamiento temporal y artículos de higiene). Noruega destinó 10 millones de coronas (cerca de 1 millón de dólares) para atención de salud de emergencia, suministro de agua, prevención de enfermedades y vivienda temporal, y Suecia 5 millones de coronas suecas (unos 522.000 dólares) canalizados a través del ACNUR. España, Italia, Chile, México, Turquía, Brasil y el Banco Mundial también han enviado o anunciado apoyo; el Gobierno colombiano señala que ha recibido ofrecimientos por cerca de 1.300 millones de dólares en total, y menciona al Japón entre los países que han anunciado asistencia.</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El 12 de agosto Colombia aceptó asistencia internacional de búsqueda y rescate, de países cuyos equipos cumplen la clasificación INSARAG: Israel, Ecuador, El Salvador y Estados Unidos. A solicitud de Colombia, el Departamento de Estado de EE. UU. movilizó los grupos USAR del condado de Fairfax (Virginia) y del condado de Los Ángeles (California). El Salvador envió 100 toneladas de ayuda y ha llegado un vuelo humanitario de México.</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Estados Unidos: 15,5 millones de dólares en asistencia de emergencia anunciados el 10 de agosto, para alojamiento de emergencia, alimentos, protección y evaluación de daños.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Unión Europea: se activó el Mecanismo de Protección Civil de la UE y se liberaron 100.000 euros iniciales de financiación humanitaria, canalizados a través de la Cruz Roja Alemana, cuyos equipos ya estaban en el país. Copernicus se puso a disposición de las autoridades colombianas y se activó el mecanismo consular de crisis de la UE para ciudadanos europeos en la zona afectada. La Presidenta de la Comisión y la Alta Representante señalaron que la UE está lista para aportar más si es necesario.</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Japón: el 11 de agosto a las 21:31 JST (07:31 COT) la Primera Ministra, Takaichi Sanae, expresó sus condolencias -«Japón está con Colombia en este momento difícil»-. El Ministro de Asuntos Exteriores, Motegi, emitió el siguiente mensaje: «A raíz del sismo que golpeó a la República de Colombia el 10 de agosto, expreso mis más profundas condolencias a quienes perdieron la vida y hago llegar mi más sentido pésame a todas las personas afectadas. El Gobierno del Japón está asimismo dispuesto a prestar la asistencia necesaria. Japón se solidariza firmemente con el pueblo colombiano.» Al momento de redactar no se había anunciado el envío del Equipo Japonés de Socorro en Casos de Desastre ni una cooperación financiera no reembolsable de emergencia.</a:t>
            </a:r>
            <a:endParaRPr lang="en-US" sz="75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 equipos de búsqueda y rescate de Israel, Ecuador, El Salvador y EE. UU.</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lista de países que han ofrecido apoyo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Naciones Unidas en Colombia — información y actualizaciones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internacional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384048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Japón: el Gobierno colombiano menciona al Japón entre los países que han anunciado asistencia, pero al corte de este informe ni el Ministerio de Asuntos Exteriores ni la JICA han publicado el envío de un equipo de socorro (JDR), la entrega de insumos de emergencia ni una donación de emergencia. Del lado japonés lo confirmado es no gubernamental: la Cruz Roja Japonesa apoya la respuesta de la Cruz Roja Colombiana y la Nippon Foundation abrió una colecta para el terremoto de Colombia del 12 de agosto al 30 de septiembre.</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Ecuador movilizó un grupo USAR especializado de 47 personas con unidades caninas y equipamiento autosuficiente.</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También se reportaron ofrecimientos de Chile, Perú, Panamá, Argentina, Brasil, Venezuela, Bolivia, Guatemala, Cuba, El Salvador, España, Italia, Francia, Alemania, Suiza, Israel y Ucrania: equipos USAR, personal médico y paramédico, insumos y observación satelital. El banco de desarrollo CAF anunció una donación de 500.000 dólares.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La cartografía rápida del Copernicus EMS se activó como EMSR916 «Earthquake in Colombia» a las 17:13 UTC del 10 de agosto (12:13 COT), a solicitud de los Servicios de la CE / DG ECHO, para proporcionar cartografía de emergencia de evaluación de daños por el sismo. En curso al momento de redactar, con 3 áreas de interés y 3 productos. La razón de la activación menciona a Quibdó, Pereira, Manizales y Cali como ciudades con daños significativos y edificios colapsados.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Naciones Unidas: la OCHA señaló que el sistema humanitario está listo para apoyar a Colombia, y su análisis preliminar de necesidades menciona agua potable, kits de higiene y artículos del hogar, atención en salud, asistencia alimentaria y alojamiento. Al 11 de agosto no se había hecho una solicitud formal; el 12 de agosto el Gobierno aceptó asistencia internacional de búsqueda y rescate.</a:t>
            </a:r>
            <a:endParaRPr lang="en-US" sz="750" dirty="0"/>
          </a:p>
          <a:p>
            <a:pPr algn="l" marL="342900" indent="-342900">
              <a:buSzPct val="100000"/>
              <a:buChar char="•"/>
            </a:pPr>
            <a:r>
              <a:rPr lang="en-US" sz="75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También se reporta la activación de la Carta Internacional «Espacio y Grandes Catástrofes» para este sismo; el número de activación no estaba confirmado al momento de redactar.</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ONG internacionales movilizadas: Direct Relief y Americares (insumos médicos), Save the Children (protección de la niñez y educación), International Rescue Committee (evaluación cerca del epicentro, en el Chocó) y Convoy of Hope (ayuda humanitaria).</a:t>
            </a:r>
            <a:endParaRPr lang="en-US" sz="750" dirty="0"/>
          </a:p>
        </p:txBody>
      </p:sp>
      <p:sp>
        <p:nvSpPr>
          <p:cNvPr id="5" name="Shape 2"/>
          <p:cNvSpPr/>
          <p:nvPr/>
        </p:nvSpPr>
        <p:spPr>
          <a:xfrm>
            <a:off x="365760" y="4956048"/>
            <a:ext cx="11430000" cy="1261872"/>
          </a:xfrm>
          <a:prstGeom prst="roundRect">
            <a:avLst>
              <a:gd name="adj" fmla="val 3623"/>
            </a:avLst>
          </a:prstGeom>
          <a:solidFill>
            <a:srgbClr val="FCE9DC"/>
          </a:solidFill>
          <a:ln w="12700">
            <a:solidFill>
              <a:srgbClr val="E8A317"/>
            </a:solidFill>
            <a:prstDash val="solid"/>
          </a:ln>
        </p:spPr>
      </p:sp>
      <p:sp>
        <p:nvSpPr>
          <p:cNvPr id="6" name="Text 3"/>
          <p:cNvSpPr/>
          <p:nvPr/>
        </p:nvSpPr>
        <p:spPr>
          <a:xfrm>
            <a:off x="530352" y="5010912"/>
            <a:ext cx="11100816" cy="115214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Se filtró el rescate, no la ayuda
</a:t>
            </a:r>
            <a:pPr algn="l" indent="0" marL="0">
              <a:buNone/>
            </a:pPr>
            <a:r>
              <a:rPr lang="en-US" sz="950" dirty="0">
                <a:solidFill>
                  <a:srgbClr val="7A2E0E"/>
                </a:solidFill>
                <a:latin typeface="Calibri" pitchFamily="34" charset="0"/>
                <a:ea typeface="Calibri" pitchFamily="34" charset="-122"/>
                <a:cs typeface="Calibri" pitchFamily="34" charset="-120"/>
              </a:rPr>
              <a:t>Los dos canales ya pueden cuantificarse por separado, y ese es el hallazgo. La búsqueda y rescate se abrió solo a cuatro países -Estados Unidos, Israel, Ecuador y El Salvador- con criterios declarados de clasificación INSARAG, autosuficiencia y rapidez, aunque los ofrecimientos llegaron de al menos diecisiete y varios de los demás tienen la misma clasificación. La ayuda no se filtró: al 17 de agosto la Cancillería contaba 222,5 toneladas entregadas y 144 integrantes de equipos internacionales recibidos, de El Salvador, México, Chile y Perú, con Paraguay, India, Guatemala, Luxemburgo, Alemania, Suecia y China en camino y unos 1.300 millones de dólares en ofrecimientos sobre la mesa. El canciller afirma que no se ha excluido a ningún país. Ambas afirmaciones se sostienen a la vez porque describen cosas distintas, y esa es la distinción que conviene retener: los equipos de rescate operan dentro de una estructura de mando nacional y deben estar certificados y ser autosuficientes para servir; los insumos no. Bajo la Ley 1523 la respuesta la dirige Colombia y, aun así, un país que restringe tanto el campo operativo debe estar en condiciones de explicar por escrito el criterio aplicado.</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 equipos de búsqueda y rescate de Israel, Ecuador, El Salvador y EE. UU.</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lista de países que han ofrecido apoyo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Naciones Unidas en Colombia — información y actualizaciones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satelital y analítico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Entidad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Aporte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Estado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activación por el sismo de Colombia; imágenes ópticas y de radar de amplia cobertura para evaluación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Reportada / número pendiente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Por confirmar</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cartografía rápida para evaluación de daños; solicitada por los Servicios de la CE / DG ECHO; 3 AOI, 3 productos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En curso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(naranja), modelo de fuente finita y catálogo de réplicas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Alerta general naranja; exposición de población y estimaciones de impacto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Red sismológica nacional: hipocentro, revisión de magnitud, boletines de réplicas y registros acelerográficos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aplica: el mecanismo cubre la región de Asia y el Pacífico; a Colombia la atienden la Carta Internacional y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no aplica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Nota sobre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en cuyo equipo conjunto de proyecto participa el ADRC, cubre la región de Asia y el Pacífico. Para un desastre en Colombia, los mecanismos internacionales equivalentes son la Carta Internacional «Espacio y Grandes Catástrofes» y el Servicio de Gestión de Emergencias Copernicus; en América Latina también se emplea con frecuencia la cartografía rápida de UNOSAT/UNITAR.</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Carta Internacional «Espacio y Grandes Catástrofes»: activaciones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Cartografía rápida del Copernicus EMS: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Página de la activación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Tipo de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País afectado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Usuario autorizado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Producto del servicio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Razón de la activación (textual)
</a:t>
            </a:r>
            <a:pPr algn="l" indent="0" marL="0">
              <a:buNone/>
            </a:pPr>
            <a:r>
              <a:rPr lang="en-US" sz="900" i="1" dirty="0">
                <a:solidFill>
                  <a:srgbClr val="222222"/>
                </a:solidFill>
                <a:latin typeface="Calibri" pitchFamily="34" charset="0"/>
                <a:ea typeface="Calibri" pitchFamily="34" charset="-122"/>
                <a:cs typeface="Calibri" pitchFamily="34" charset="-120"/>
              </a:rPr>
              <a:t>«El 10 de agosto de 2026 a las 12:30 UTC, se reporta un sismo mayor de magnitud 7.4 que afectó el occidente y el centro de Colombia, con epicentro cerca de San José del Palmar. El evento ha causado daños significativos en varias ciudades, entre ellas Quibdó, Pereira, Manizales y Cali, con reportes de edificios colapsados. Se solicita a la cartografía rápida del Copernicus EMS proporcionar cartografía de emergencia para la evaluación de daños por el sismo.»</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Qué entrega la cartografía rápida
</a:t>
            </a:r>
            <a:pPr algn="l" indent="0" marL="0">
              <a:buNone/>
            </a:pPr>
            <a:r>
              <a:rPr lang="en-US" sz="950" dirty="0">
                <a:solidFill>
                  <a:srgbClr val="7A2E0E"/>
                </a:solidFill>
                <a:latin typeface="Calibri" pitchFamily="34" charset="0"/>
                <a:ea typeface="Calibri" pitchFamily="34" charset="-122"/>
                <a:cs typeface="Calibri" pitchFamily="34" charset="-120"/>
              </a:rPr>
              <a:t>La cartografía rápida entrega productos de referencia y de gradación sobre áreas de interés seleccionadas, no cobertura nacional. Los productos se publican en la página de la activación a medida que se producen y son de uso libre.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Comisión Europea — apoyo de la UE a Colombia, Copernicus activado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sistema de gestión del riesgo de desastres de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reconstruyó su marco de gestión del riesgo de desastres tras la tragedia volcánica de Armero en 1985 y de nuevo tras el terremoto de Armenia de 1999. La Ley 1523 de 2012 creó el Sistema Nacional de Gestión del Riesgo de Desastres (SNGRD), liderado por la Unidad Nacional para la Gestión del Riesgo de Desastres (UNGRD), adscrita a la Presidencia de la República.</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Ley 1523 de 2012: política nacional de gestión del riesgo de desastres; define el SNGRD y convierte la gestión del riesgo en un deber obligatorio de toda autoridad pública y, en parte, de los actores privados.</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UNGRD: entidad coordinadora nacional adscrita a la Presidencia; dirige la respuesta nacional, el fondo de gestión del riesgo (FNGRD) y el sistema nacional de información.</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Los consejos departamentales y municipales de gestión del riesgo (CDGRD / CMGRD) asumen la primera respuesta; la UNGRD refuerza cuando se supera la capacidad local.</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PNGRD 2015-2030 — el plan nacional de gestión del riesgo de desastres, adoptado por el Decreto 308 de 2016 y actualizado por el Decreto 1478 del 3 de agosto de 2022; alineado con el Marco de Sendái y con seguimiento anual de la UNGRD.</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NSR-10: el reglamento nacional de construcción sismo resistente (vigente desde 2010, con anexos técnicos actualizados posteriormente). Las edificaciones anteriores a la aplicación de la norma moderna y la construcción no ingenieril en mampostería y tierra siguen siendo la principal fuente de riesgo.</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Existen estudios de microzonificación sísmica para las principales ciudades, entre ellas Bogotá, Medellín, Cali, Pereira, Manizales y Armenia, herencia directa del terremoto de 1999. En Cali la microzonificación es vinculante para el diseño estructural mediante el Decreto 411.0.20.0158 de 2014.</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El SGC opera la Red Sismológica Nacional y la red nacional de acelerógrafos, y publica boletines en cuestión de minutos.</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Las ciudades operan sus propios instrumentos junto al sistema nacional: el sistema de alertas tempranas comunitario y con sensores SATIC de Cali (desde 2018, formalizado por el Decreto Municipal 0858 de 2022), el DAGRD de Medellín y su plan municipal, y los fondos municipales de gestión del riesgo creados al amparo de la Ley 1523.</a:t>
            </a:r>
            <a:endParaRPr lang="en-US" sz="104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la UNGRD de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Plan Nacional de Gestión del Riesgo de Desastres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Decreto 1478 de 2022 — actualización del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 Sistema de Alertas Tempranas Inteligentes y Comunitarias de Cali</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terremoto de Armenia (Quindío) de 1999 y la reconstrucción</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El terremoto de Armenia (Quindío) de 1999: el mismo Eje Cafetero
</a:t>
            </a:r>
            <a:pPr algn="l" indent="0" marL="0">
              <a:buNone/>
            </a:pPr>
            <a:r>
              <a:rPr lang="en-US" sz="1050" dirty="0">
                <a:solidFill>
                  <a:srgbClr val="222222"/>
                </a:solidFill>
                <a:latin typeface="Calibri" pitchFamily="34" charset="0"/>
                <a:ea typeface="Calibri" pitchFamily="34" charset="-122"/>
                <a:cs typeface="Calibri" pitchFamily="34" charset="-120"/>
              </a:rPr>
              <a:t>El 25 de enero de 1999, un sismo de M6.1-6.2 a unos 30 km de profundidad golpeó la zona cafetera del Quindío. Dejó cerca de 1.185 muertos, más de 5.000 heridos y unas 50.000 edificaciones averiadas o destruidas; alrededor del 60 % de las construcciones de la ciudad de Armenia colapsaron o resultaron gravemente afectadas, y más de 200.000 personas quedaron sin vivienda. Aunque de magnitud mucho menor que el sismo de 2026, fue mucho más somero y mucho más cercano a las ciudades, y por eso su poder destructivo local fue muy superior.</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en 1999</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Edificaciones averiadas o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Personas sin vivienda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Sector cafetero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unas 8.000 fincas y 1.200 instalaciones de beneficio afectadas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Lo que siguió y las lecciones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importa ahora
</a:t>
            </a:r>
            <a:pPr algn="l" indent="0" marL="0">
              <a:buNone/>
            </a:pPr>
            <a:r>
              <a:rPr lang="en-US" sz="950" dirty="0">
                <a:solidFill>
                  <a:srgbClr val="7A2E0E"/>
                </a:solidFill>
                <a:latin typeface="Calibri" pitchFamily="34" charset="0"/>
                <a:ea typeface="Calibri" pitchFamily="34" charset="-122"/>
                <a:cs typeface="Calibri" pitchFamily="34" charset="-120"/>
              </a:rPr>
              <a:t>Las ciudades más golpeadas en 2026 —Pereira, Manizales y Armenia— son las mismas que se reconstruyeron después de 1999. Cómo se comportó ese parque construido frente a un sacudimiento de período y duración largos, procedente de una fuente a 110 km de profundidad, es la pregunta clave de la evaluación posterior al evento.</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normativa sismo resistente de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Evaluación del riesgo previa al evento: Santiago de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A Cali no le faltaba una evaluación del riesgo. Entre 2020 y 2022 la ciudad construyó un modelo completo de riesgo sísmico urbano con la Fundación GEM en el marco del proyecto TREQ, apoyado por USAID, como una de las tres ciudades piloto junto con Quito y Santiago de los Caballeros. El escenario modelado es local y somero —magnitud 6.5 a 10 km de profundidad en la falla Dagua-Calima— y sus estimaciones superan con mucho lo que la ciudad vivió el 10 de agosto de 2026.</a:t>
            </a:r>
            <a:endParaRPr lang="en-US" sz="1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Escenario modelado (GEM-TREQ, 2022)</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Escenario modelado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M6.5, 10 km de profundidad, falla Dagua-Calima, área urbana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Población expuesta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2.300.000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Muertos estimados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1.200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Heridos graves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36.300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Desplazados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181.000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Edificaciones colapsadas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1.800 de 348.000 (0,5 %)</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Riesgo residual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evaluado en cerca del 40 % tras las medidas existentes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Cifras tomadas de la evaluación de riesgo urbano GEM-TREQ para Santiago de Cali y del plan local de gestión del riesgo de la ciudad, recopiladas por la Alcaldía de Santiago de Cali (Secretaría de Gestión del Riesgo de Emergencias y Desastres) para un curso de formación de JICA.</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Lo que la ciudad ya había priorizado</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Estudios de vulnerabilidad sísmica de edificaciones indispensables —hospitales, colegios, estaciones de bomberos— conforme a la NSR-10 (presupuestado en unos 1,7 millones de dólares, corto plazo).</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Reforzamiento estructural de edificaciones indispensables y de la infraestructura de servicios básicos, para mantener los servicios esenciales tras un sismo.</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Evaluación de la vulnerabilidad sísmica de las redes de acueducto, alcantarillado y energía de EMCALI y de la red de gas de la ciudad.</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Actualización del modelo de respuesta local del suelo y de la microzonificación sísmica, vigente desde INGEOMINAS/DAGMA (2005) y adoptada por el Decreto 411.0.20.0158 de 2014 para el diseño estructural.</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Mantenimiento y ampliación de la Red de Acelerógrafos de Cali (RAC) y de su interoperabilidad con la red nacional del SGC.</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Aseguramiento de la infraestructura pública ante el riesgo sísmico y reforzamiento de viviendas de bajos ingresos mediante subsidios y programas de autoconstrucción segura.</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Modelo de financiación de las medidas priorizadas: gobierno local 30-50 %, fondo nacional (FNGRD/UNGRD) 30-50 %, socios internacionales —entre ellos JICA, la Fundación GEM y el BID— cerca del 20 %.</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El sismo de 2026 no fue este escenario
</a:t>
            </a:r>
            <a:pPr algn="l" indent="0" marL="0">
              <a:buNone/>
            </a:pPr>
            <a:r>
              <a:rPr lang="en-US" sz="950" dirty="0">
                <a:solidFill>
                  <a:srgbClr val="7A2E0E"/>
                </a:solidFill>
                <a:latin typeface="Calibri" pitchFamily="34" charset="0"/>
                <a:ea typeface="Calibri" pitchFamily="34" charset="-122"/>
                <a:cs typeface="Calibri" pitchFamily="34" charset="-120"/>
              </a:rPr>
              <a:t>El evento del 10 de agosto fue de mayor magnitud (M7.4) pero ocurrió a 110 km de profundidad y a 158 km de Cali, de modo que la ciudad experimentó MMI VI y no el sacudimiento de campo cercano del escenario M6.5 modelado. Cali registró 27 muertos y entre 25 y 30 estructuras colapsadas: dos órdenes de magnitud por debajo del escenario. Lo que sí puso a prueba fue justamente la debilidad que el plan local había señalado: cerca del 30 % del Hospital Universitario del Valle colapsó y siete instituciones de salud cerraron. El peor caso propio de la ciudad sigue por delante, y el argumento para reforzar las edificaciones indispensables es ahora empírico y no teórico.</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(informe técnico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Alcaldía de Santiago de Cali — gestión del riesgo</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Perfil de ciudad GEM-TREQ: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 GEM Foundation / USAID / Alcaldía de Santiago de Cali /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Perfil de ciudad GEM-TREQ para Cali: el escenario M6.5 / 10 km en la falla Dagua-Calima. Están expuestos 2,3 millones de personas y 312.000 edificios residenciales, 22.000 comerciales, 5.300 industriales y 8.000 institucionales, con 220 billones de pesos de capital expuesto. Las barras dan, por comuna, el índice de colapsos, los fallecidos, los heridos graves, los desplazados y las pérdidas económicas; los histogramas dan los totales de la ciudad con sus rangos modelados.</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(informe técnico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Sismos históricos en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Sismo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y rasgos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Ecuador-Colombia (costa del Pacífico)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Uno de los mayores sismos jamás registrados; tsunami destructivo en la costa del Pacífico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Cali (Valle del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El evento histórico de referencia para Cali; la ciudad también fue sacudida en 1995 y 2004, este último con daños en clínicas y edificaciones residenciales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1938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Sismo del Eje Cafetero (profundo, 150 km)</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sismo de profundidad intermedia bajo los mismos departamentos cafeteros: el análogo histórico más cercano al sismo de 2026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1979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Tumaco (Nariño)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Sismo de interfaz de subducción con tsunami; varios cientos de muertos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1983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Popayán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250-300 muertos; centro histórico gravemente afectado: un sismo pequeño, pero somero y urbano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Páez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1.100 muertos, en su mayoría por deslizamientos y flujos de escombros desencadenados por el sismo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del Chocó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Sismo de profundidad intermedia en el mismo departamento que el de 2026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Armenia (Quindío)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M6.1-6.2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1.185 muertos; el desastre sísmico más costoso de Colombia; impulsó las reformas actuales de gestión del riesgo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del Chocó (este evento)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magnitud registrada en Colombia en la última década (SGC); profundidad intermedia y daños de amplia distribución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PGA (g), modelo nacional de amenaza sísmica SGC / GEM (2020)</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Calibri" pitchFamily="34" charset="0"/>
                <a:ea typeface="Calibri" pitchFamily="34" charset="-122"/>
                <a:cs typeface="Calibri" pitchFamily="34" charset="-120"/>
              </a:rPr>
              <a:t>Amenaza sísmica nacional, periodo de retorno de 475 años</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Patrón
</a:t>
            </a:r>
            <a:pPr algn="l" indent="0" marL="0">
              <a:buNone/>
            </a:pPr>
            <a:r>
              <a:rPr lang="en-US" sz="950" dirty="0">
                <a:solidFill>
                  <a:srgbClr val="7A2E0E"/>
                </a:solidFill>
                <a:latin typeface="Calibri" pitchFamily="34" charset="0"/>
                <a:ea typeface="Calibri" pitchFamily="34" charset="-122"/>
                <a:cs typeface="Calibri" pitchFamily="34" charset="-120"/>
              </a:rPr>
              <a:t>Los sismos más mortales de Colombia no han sido los de mayor magnitud. Popayán 1983 (M5.5), Páez 1994 (M6.8) y Armenia 1999 (M6.1-6.2) fueron someros y cercanos a los cascos urbanos; los eventos mayores, mar adentro en 1906 y 1979, dejaron menos víctimas. Lo que determina el saldo es la profundidad y la cercanía, no la magnitud por sí sola.</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Observaciones y puntos por seguir</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Una fuente profunda con consecuencias de sismo somero. A 110 km de profundidad el sismo no produjo ruptura superficial ni tsunami y, aun así, dañó edificaciones en al menos seis departamentos. Los daños están dispersos y no concentrados, lo que complica la evaluación de necesidades, la logística y la priorización de la búsqueda y el rescate.</a:t>
            </a:r>
            <a:endParaRPr lang="en-US" sz="830" dirty="0"/>
          </a:p>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Fallaron instalaciones críticas. El colapso de cerca del 30 % del Hospital Universitario del Valle, en Cali, el cierre de siete instituciones de salud, los daños en 52 colegios y el colapso parcial de una terminal aérea internacional reducen la capacidad de respuesta justo donde se necesita. El desempeño sísmico de hospitales, colegios y terminales de transporte es la lección más clara hasta ahora.</a:t>
            </a:r>
            <a:endParaRPr lang="en-US" sz="830" dirty="0"/>
          </a:p>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El balance se multiplicó a medida que la evaluación alcanzó los daños. En 56 horas los muertos pasaron de 111 a 239, los heridos de 87 a 3.755, los desaparecidos de ninguno contabilizado a 287, las viviendas afectadas de 1.612 a cerca de 54.000 y el área afectada de «más de 20 municipios» a 403 en 14 departamentos. No ocurrió nada nuevo que provocara esos saltos; la evaluación llegó a donde no había llegado, y buena parte del Chocó sigue siendo accesible solo por vía fluvial o aérea. Dos lecciones para leer las cifras tempranas: los números del primer día describen el alcance de la evaluación y no el tamaño del desastre; y cuando existen dos conteos de lo mismo, conviene revisar qué mide cada uno antes de compararlos.</a:t>
            </a:r>
            <a:endParaRPr lang="en-US" sz="830" dirty="0"/>
          </a:p>
          <a:p>
            <a:pPr algn="l" marL="342900" indent="-342900">
              <a:buSzPct val="100000"/>
              <a:buChar char="•"/>
            </a:pPr>
            <a:r>
              <a:rPr lang="en-US" sz="83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La zona afectada es el Eje Cafetero reconstruido después de 1999. Comparar el comportamiento de las construcciones posteriores a 1999 con el del parque más antiguo, bajo un tipo de sacudimiento muy distinto, será valioso para la región y para otros países con fuentes sísmicas de profundidad intermedia.</a:t>
            </a:r>
            <a:endParaRPr lang="en-US" sz="830" dirty="0"/>
          </a:p>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Las evaluaciones existían antes del evento. El modelo de riesgo GEM-TREQ de Cali y su plan local ya habían señalado los hospitales y otras edificaciones indispensables como la prioridad de reforzamiento, y el sismo de 2026 —una prueba mucho más débil que el propio escenario modelado de la ciudad— aun así se llevó cerca del 30 % de su principal hospital público. La brecha aquí no es de conocimiento, sino de implementación y financiación.</a:t>
            </a:r>
            <a:endParaRPr lang="en-US" sz="830" dirty="0"/>
          </a:p>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Riesgo de las réplicas para las edificaciones averiadas. El SGC localizó 147 eventos en 34 horas, el 92 % por debajo de M3,0 y solo uno por encima de M4,0: tan modesto como predice una ruptura intraplaca de profundidad intermedia. El punto operativo no es esa estadística: la M4,8 del 10 de agosto se sintió ampliamente y la M3,9 del 11 volvió a vaciar edificios en varias ciudades. Las estructuras que el sismo principal dejó en pie pero averiadas han perdido capacidad, de modo que la evaluación rápida de habitabilidad antes de volver a ocuparlas importa más que el número de réplicas.</a:t>
            </a:r>
            <a:endParaRPr lang="en-US" sz="830" dirty="0"/>
          </a:p>
          <a:p>
            <a:pPr algn="l" marL="342900" indent="-342900">
              <a:buSzPct val="100000"/>
              <a:buChar char="•"/>
            </a:pPr>
            <a:r>
              <a:rPr lang="en-US" sz="83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Puntos por seguir: la conciliación de las cifras nacionales de víctimas; las cifras de alojamiento y de personas desalojadas, que aún no se publican; el restablecimiento del agua y la energía en el Chocó; los resultados de la cartografía de daños con satélite; y si el Gobierno solicita asistencia internacional más allá de los ofrecimientos ya recibidos.</a:t>
            </a:r>
            <a:endParaRPr lang="en-US" sz="83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(1/7)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Política de fuentes: </a:t>
            </a:r>
            <a:pPr algn="l" indent="0" marL="0">
              <a:buNone/>
            </a:pPr>
            <a:r>
              <a:rPr lang="en-US" sz="900" dirty="0">
                <a:solidFill>
                  <a:srgbClr val="444444"/>
                </a:solidFill>
                <a:latin typeface="Calibri" pitchFamily="34" charset="0"/>
                <a:ea typeface="Calibri" pitchFamily="34" charset="-122"/>
                <a:cs typeface="Calibri" pitchFamily="34" charset="-120"/>
              </a:rPr>
              <a:t>Jerarquía de fuentes: oficial &gt; prensa &gt; por confirmar. Las cifras del Gobierno y de las entidades científicas se usan como fuente primaria; la información de prensa se emplea únicamente cuando aún no hay cifras oficiales y se identifica como tal. Los elementos en verificación se marcan como «por confirmar». Las cifras preliminares nunca se sustituyen por números mayores sin verificar.</a:t>
            </a:r>
            <a:endParaRPr lang="en-US" sz="9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M 7.4 San José del Palmar, Colombia (página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boletín del evento SGC2026pqqmro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mapa de intensidades macrosísmicas (ShakeMap) de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Unidad Nacional para la Gestión del Riesgo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alerta sísmica naranja, Colombia, 10 ago.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Carta Internacional «Espacio y Grandes Catástrofes»: activaciones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OPS/OMS: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PNGRD 2015-2030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normativa sismo resistente de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en vivo: los muertos ascienden a 132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84 heridos y 12 muertos en Chocó (Gobernación)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(2/7)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la UNGRD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OCDE: análisis de gobernanza del riesgo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en vivo, al menos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Colombia declara la emergencia nacional;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sismo de M7.4 en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fuerte sismo en el occidente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muertos, heridos y edificios colapsados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primer balance oficial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el Gobierno declara el desastre nacional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el SGC explica por qué el temblor duró tanto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el Presidente reporta 111 muertos y 87 heridos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sismo de M7.4 en el occidente de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sismo de M7.4 en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niñez en riesgo tras el terremoto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(3/7)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movilización de ayuda médica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terremoto de Colombia, agosto de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(identificador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Centro Asiático para la Reducción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Comisión Europea — apoyo de la UE a Colombia, Copernicus activado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Fundación GEM — proyecto TREQ (riesgo sísmico urbano: Quito / Cali / Santiago de los Caballeros)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GEM-TREQ — Evaluación de riesgo sísmico para Santiago de Cali (informe técnico D2.6.2)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Understanding seismic risk in Santiago de Cali for its application in risk management (revisado por pares, 2025)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SATIC — Sistema de Alertas Tempranas Inteligentes y Comunitarias de Cali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Santiago de Cali — gestión del riesgo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Plan Nacional de Gestión del Riesgo de Desastres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Decreto 1478 de 2022 — actualización del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EMSC-CSEM SeismicPortal — boletín y servicio de eventos FDSN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visor del catálogo sísmico (el catálogo revisado termina en feb 2018)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(4/7)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en vivo, 11 de agosto (Cali sube a 85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de Asocapitales — 132 muertos, más de 570 heridos, por ciudades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Caracol — balance de la UNGRD: 182 muertos, 2.542 heridos, 189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RPP — los 181 del Presidente son 59 menos que los datos regionales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99 réplicas y sus magnitudes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total del SGC: 103 réplicas hasta las 15:00 del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Japón — mensaje del Ministro Motegi sobre el sismo en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Japón en X — publicación del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lista de países que han ofrecido apoyo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Naciones Unidas en Colombia — información y actualizaciones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ONU — la ONU ofrece apoyo a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te busca» — plataforma ciudadana de personas desaparecidas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herramienta de personas desaparecidas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alivios y subsidios anunciados en el recorrido por el Eje Cafetero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(5/7)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Pulzo — reporte de daños y víctimas de la UNGRD en 14 departamentos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https://www.pulzo.com/nacion/terremoto-en-colombia-ungrd-reporta-danos-y-victimas-en-valle-del-cauca-y-risaralda-PP5272829A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equipos de búsqueda y rescate de Israel, Ecuador, El Salvador y EE. UU.</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https://www.eltiempo.com/colombia/otras-ciudades/terremoto-en-colombia-hoy-12-de-agosto-ultimas-noticias-presidente-de-la-espriella-celebro-rescate-de-daniela-largo-tras-36-horas-bajo-los-escombros-3577781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188 fallecidos y 1.677 heridos en ciudades capitales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https://www.asocapitales.co/actualidad/noticias/ciudades-seguras/terremoto-deja-188-fallecidos-y-1677-heridos-en-ciudades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infolibre — al menos 254 muertos mientras continúa la búsqueda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https://www.infolibre.es/internacional/terremoto-colombia-deja-254-muertos-continua-busqueda-escombros_1_2235003.html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265 muertos, 3.494 heridos, 496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https://www.elcolombiano.com/colombia/cifra-muertos-heridos-desaparecidos-por-terremoto-colombia-MK39884181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balance de la UNGRD del 13 de agosto: 273 fallecidos, 3.824 heridos, 377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https://www.eltiempo.com/colombia/otras-ciudades/balance-oficial-de-la-ungrd-tras-terremoto-de-magnitud-7-4-en-colombia-273-fallecidos-3-824-heridos-y-377-desaparecidos-3578196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40.753 familias afectadas: nuevo balance de la UNGRD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https://www.eltiempo.com/vida/40-753-familias-afectadas-y-273-muertos-ungrd-entrega-nuevo-balance-del-terremoto-en-colombia-3578185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réplica de M4,2 en San José del Palmar, 13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https://www.eltiempo.com/colombia/otras-ciudades/nuevo-temblor-de-magnitud-4-2-se-registro-en-san-jose-del-palmar-choco-en-la-manana-de-este-jueves-13-de-agosto-3578131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Colombia recibirá equipos de rescate de EE. UU., Israel, Ecuador y El Salvador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https://www.infobae.com/colombia/2026/08/13/colombia-recibira-equipos-de-rescate-de-ee-uu-israel-ecuador-y-el-salvador-por-terremoto/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balance de la UNGRD del 14 de agosto: 287 fallecidos, 3.975 heridos, 378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https://www.eltiempo.com/colombia/otras-ciudades/balance-oficial-de-la-ungrd-tras-terremoto-de-magnitud-7-4-en-colombia-287-fallecidos-3-975-heridos-y-378-desaparecidos-3578445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en vivo: los muertos aumentan a 288, más de 4.000 heridos y 202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https://www.infobae.com/colombia/2026/08/14/temblor-de-74-en-colombia-el-10-de-agosto-se-actualizo-el-numero-de-fallecidos-en-todo-el-pais/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aumenta la ayuda internacional: India, Noruega, Suecia y España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https://www.infobae.com/colombia/2026/08/14/aumenta-la-ayuda-internacional-a-colombia-tras-el-terremoto-de-74-india-envia-20-toneladas-y-noruega-suecia-y-espana-anuncian-nuevos-recursos/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Heraldo — Italia, India, España, Chile y el Banco Mundial, entre quienes han enviado ayudas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https://www.elheraldo.co/colombia/2026/08/14/italia-india-espana-chile-y-banco-mundial-entre-los-paises-y-organismos-que-han-enviado-ayudas-a-colombia-por-el-terremoto/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Cruz Roja Japonesa — respuesta de la Cruz Roja Colombiana al sismo 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https://www.jrc.or.jp/international/news/2026/0812_054987.html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(6/7)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por qué Colombia no necesitó rescatistas extranjeros: 23 equipos nacionales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https://www.eltiempo.com/vida/medio-ambiente/por-que-colombia-no-necesito-rescatistas-extranjeros-tras-el-terremoto-el-pais-cuenta-con-23-equipos-con-personal-que-hace-parte-de-la-elite-global-3577677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SGC: 184 réplicas desde el 10 de agosto (14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https://www.eltiempo.com/amp/vida/medio-ambiente/terremoto-en-colombia-desde-el-sismo-del-10-de-agosto-se-han-registrado-184-replicas-reporta-este-viernes-14-el-servicio-geologico-colombiano-3578360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en Español — cobertura en vivo de rescates y recuperación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https://cnnespanol.cnn.com/2026/08/12/colombia/live-news/terremoto-en-vivo-muertos-videos-rescates-orix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balance de la UNGRD del 15 de agosto: 294 fallecidos, 3.935 heridos, 320 desaparecidos y 353 rescatados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https://www.eltiempo.com/colombia/otras-ciudades/balance-oficial-de-la-ungrd-este-15-de-agosto-tras-terremoto-de-7-4-en-colombia-294-fallecidos-3-935-heridos-320-desaparecidos-y-353-rescatados-3578602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294 fallecidos y 81.506 viviendas averiadas, cifras oficiales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https://www.semana.com/nacion/articulo/ascienden-a-294-los-fallecidos-del-terremoto-del-10-de-agosto-y-van-81506-viviendas-averiadas-segun-cifras-oficiales/202627/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Heraldo — Decreto 1172: tres días de duelo nacional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https://www.elheraldo.co/colombia/2026/08/12/presidente-de-la-espriella-decreta-tres-dias-de-duelo-nacional-por-victimas-del-terremoto/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la gobernadora del Chocó da por finalizada la fase de búsqueda y rescate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https://www.eltiempo.com/colombia/otras-ciudades/gobernadora-del-choco-dio-por-finalizada-la-fase-de-busqueda-y-rescate-en-el-departamento-tras-terremoto-de-7-4-en-colombia-ya-no-buscamos-a-nadie-3578022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balance de la UNGRD del 16 de agosto: 289 fallecidos, 4.187 heridos y 143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https://www.eltiempo.com/colombia/otras-ciudades/balance-oficial-de-la-ungrd-este-16-de-agosto-tras-terremoto-de-7-4-en-colombia-289-fallecidos-4-187-heridos-y-143-desaparecidos-3578742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RTVC Noticias — 289 fallecidos, 143 desaparecidos y más de 185.000 afectados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https://www.rtvcnoticias.com/actualidad/terremoto-deja-289-fallecidos-143-desaparecidos-y-mas-de-185000-afectados-en-colombia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Radio Santa Fe — la UNGRD reduce las cifras de fallecidos y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https://www.radiosantafe.com/2026/08/16/ungrd-reduce-a-289-cifra-de-fallecidos-y-a-143-la-de-personas-desaparecidas-por-el-terremoto/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balance de la UNGRD del 16 de agosto por la tarde: 287 muertos, 4.147 heridos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https://www.semana.com/nacion/articulo/terremoto-en-colombia-reportan-287-muertos-y-4147-heridos-en-nuevo-balance-de-la-ungrd/202615/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Tercera — Colombia rebaja los muertos y eleva los heridos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https://www.latercera.com/mundo/noticia/colombia-rebaja-a-casi-287-los-muertos-y-eleva-a-cerca-de-4150-los-heridos-por-el-terremoto/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la UNGRD explica la reducción en el registro de fallecidos y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https://www.infobae.com/colombia/2026/08/17/terremoto-en-colombia-ungrd-explica-la-reduccion-en-el-registro-de-fallecidos-y-desaparecidos/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Cancillería: más de 220 toneladas de ayuda y 144 integrantes de equipos internacionales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https://www.eltiempo.com/politica/gobierno/colombia-ha-recibido-mas-de-220-toneladas-de-ayuda-humanitaria-y-144-integrantes-de-equipos-internacionales-tras-el-terremoto-informo-la-cancilleria-3578924</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(7/7)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China envía 80 toneladas de ayuda a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https://www.infobae.com/colombia/2026/08/17/china-envia-80-toneladas-de-ayuda-a-colombia-tras-el-terremoto-asi-es-el-cargamento-que-llegara-a-bogota/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a una semana, el SGC aclara todo sobre las réplicas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https://www.semana.com/nacion/articulo/se-cumple-una-semana-del-fuerte-terremoto-que-estremecio-a-colombia-sgc-aclaro-todo-sobre-las-replicas/202600/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Bogotá — 1.174 toneladas de ayudas recaudadas para los municipios afectados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https://bogota.gov.co/mi-ciudad/gobierno/ya-van-1174-toneladas-de-ayudas-y-donaciones-de-bogota-por-terremoto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Opinión — balance de la UNGRD del 18 de agosto: 304 muertos, 4.548 heridos, 426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https://laopinion.co/colombia/terremoto-en-colombia-deja-304-muertos-4548-heridos-y-426-desaparecidos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Universal — los desaparecidos aumentan drásticamente en el último balance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https://www.eluniversal.com.co/colombia/2026/08/18/terremoto-en-colombia-desaparecidos-aumentan-drasticamente-segun-ultimo-balance/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nuevo balance: 312 fallecidos, 4.611 heridos y 290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https://www.infobae.com/colombia/2026/08/18/terremoto-en-colombia-perdidas-por-danos-llegarian-a-30-billones-segun-estimacion-preliminar/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cinco departamentos concentran pérdidas estimadas en $30 billones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https://www.eltiempo.com/politica/gobierno/cinco-departamentos-concentran-perdidas-estimadas-en-30-billones-por-terremoto-segun-estimacion-revelada-por-el-presidente-abelardo-de-la-espriella-3578962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así se calcularon los $30 billones en pérdidas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https://www.elcolombiano.com/inicio/calculo-perdidas-terremoto-colombia-plan-milagro-JA40049330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FM — balance de la UNGRD del 19 de agosto: 312 muertos, 290 desaparecidos, 358 rescatados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https://www.lafm.com.co/actualidad/terremoto-colombia-van-312-muertos-290-desaparecidos-emergencia-rescate-408294</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Centro Asiático para la Reducción de Desastres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Informe multilingüe (EN/JA/ES) para difusión nacional e internacional. Se da prioridad a las fuentes oficiales; los vacíos se completan con información de prensa debidamente identificada.</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Cifras del balance de la UNGRD con corte a las 06:30 COT del 19 de agosto de 2026: 312 muertos, 4.611 heridos, 290 desaparecidos, 358 rescatados con vida, 143.533 familias (294.503 personas) afectadas en 470 municipios de 15 departamentos, 29.548 viviendas destruidas y 134.124 averiadas, 267 edificios colapsados. El Presidente estimó de manera preliminar las pérdidas físicas directas en unos 30 billones de pesos (9.600 millones de dólares) en cinco departamentos. El SGC había localizado 325 réplicas hasta el 17 de agosto. Todas las cifras son preliminares; cite la hora de corte junto con el número.</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20/08/2026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2026-08-19T23:10:54Z</dcterms:created>
  <dcterms:modified xsi:type="dcterms:W3CDTF">2026-08-19T23:10:54Z</dcterms:modified>
</cp:coreProperties>
</file>