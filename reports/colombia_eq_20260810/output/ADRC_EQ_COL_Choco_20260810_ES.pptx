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85</c:v>
                </c:pt>
                <c:pt idx="1">
                  <c:v>66</c:v>
                </c:pt>
                <c:pt idx="2">
                  <c:v>13</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emsc-csem.org/"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www.elespectador.com/colombia/mas-regiones/temblor-en-colombia-hoy-10-de-agosto-en-vivo-epicentro-y-reporte-de-afectaciones/"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 Type="http://schemas.openxmlformats.org/officeDocument/2006/relationships/image" Target="../media/image-25-1.png"/><Relationship Id="rId17" Type="http://schemas.openxmlformats.org/officeDocument/2006/relationships/slideLayout" Target="../slideLayouts/slideLayout1.xml"/><Relationship Id="rId1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lidenumber.net/" TargetMode="External"/><Relationship Id="rId3" Type="http://schemas.openxmlformats.org/officeDocument/2006/relationships/hyperlink" Target="https://www.adrc.asia/" TargetMode="External"/><Relationship Id="rId4" Type="http://schemas.openxmlformats.org/officeDocument/2006/relationships/hyperlink" Target="https://www.democrata.es/en/international/von-der-leyen-expresses-the-eu-s-support-for-colombia-and-activates-copernicus-after-the-earthquake/" TargetMode="External"/><Relationship Id="rId5" Type="http://schemas.openxmlformats.org/officeDocument/2006/relationships/hyperlink" Target="https://www.globalquakemodel.org/proj/treq" TargetMode="External"/><Relationship Id="rId6" Type="http://schemas.openxmlformats.org/officeDocument/2006/relationships/hyperlink" Target="https://cloud-storage.globalquakemodel.org/public/wix-new-website/pdf-collections-wix/publications/TREQ%20deliverables/reports/TREQ_D262_Riesgo_Sismico_Cali_v1.00.pdf" TargetMode="External"/><Relationship Id="rId7" Type="http://schemas.openxmlformats.org/officeDocument/2006/relationships/hyperlink" Target="https://www.sciencedirect.com/science/article/abs/pii/S2212420925003097" TargetMode="External"/><Relationship Id="rId8" Type="http://schemas.openxmlformats.org/officeDocument/2006/relationships/hyperlink" Target="https://satic.cali.gov.co/satic" TargetMode="External"/><Relationship Id="rId9" Type="http://schemas.openxmlformats.org/officeDocument/2006/relationships/hyperlink" Target="https://www.cali.gov.co/gestiondelriesgo/" TargetMode="External"/><Relationship Id="rId10" Type="http://schemas.openxmlformats.org/officeDocument/2006/relationships/hyperlink" Target="https://portal.gestiondelriesgo.gov.co/Paginas/Plan-Nacional-de-Gestion-del-Riesgo.aspx" TargetMode="External"/><Relationship Id="rId11" Type="http://schemas.openxmlformats.org/officeDocument/2006/relationships/hyperlink" Target="https://www.funcionpublica.gov.co/eva/gestornormativo/norma.php?i=191411" TargetMode="External"/><Relationship Id="rId12" Type="http://schemas.openxmlformats.org/officeDocument/2006/relationships/hyperlink" Target="https://www.emsc-csem.org/" TargetMode="External"/><Relationship Id="rId13" Type="http://schemas.openxmlformats.org/officeDocument/2006/relationships/hyperlink" Target="https://catalogosismico.sgc.gov.co/visor/index.html" TargetMode="External"/><Relationship Id="rId1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5" Type="http://schemas.openxmlformats.org/officeDocument/2006/relationships/hyperlink" Target="https://www.elespectador.com/colombia/mas-regiones/temblor-en-colombia-hoy-10-de-agosto-en-vivo-epicentro-y-reporte-de-afectaciones/" TargetMode="External"/><Relationship Id="rId1" Type="http://schemas.openxmlformats.org/officeDocument/2006/relationships/image" Target="../media/image-26-1.png"/><Relationship Id="rId16" Type="http://schemas.openxmlformats.org/officeDocument/2006/relationships/slideLayout" Target="../slideLayouts/slideLayout1.xml"/><Relationship Id="rId1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En su balance de las 13:00 COT del 10 de agosto el Gobierno reportó 111 muertos y 87 heridos; al caer la tarde Asocapitales situó el total nacional en 132 muertos y más de 570 heridos, y el 11 de agosto el Presidente reportó 700 heridos mientras que solo el alcalde de Cali reportaba 85 muertos y 885 heridos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11 de agosto de 2026, 03:00 COT (17:00 JST), unas 20 horas después del sismo. El último balance nacional consolidado es de 132 muertos (Asocapitales, tarde del 10 de agosto), pero los reportes por ciudad del 11 de agosto ya lo superan: solo Cali reporta 85 muertos y Pereira 66. Todas las cifras son preliminares y van en aumento.</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(10-11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(10-11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5303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035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20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El USGS y el SGC coinciden en el tamaño; el primer boletín del SGC dio M6.6 a 79 km antes de la revisión. Las dos localizaciones difieren unos 20 km y sus profundidades unos 11 km, lo normal en un sismo de profundidad intermedia registrado por redes distintas. Las distancias epicentrales de este informe se miden desde la localización del USGS. El evento SGC2026pqqmro fue localizado con 69 estaciones; el SGC advierte que sus boletines están sujetos a cambios mientras avanza la revisión.</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está muy por encima de los 111 muertos reportados nueve horas después del evento; la brecha es normal en esta etapa y se estrecha a medida que la observación reemplaza a las pérdidas modeladas.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13:18:10 UTC (08:18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mb 5.0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USGS us6000tjm4, revisado: 16 km al O de San José del Palmar, profundidad 98,5 km — 44 minutos después del sismo principal y a la misma profundidad intermedia. Otras entidades reportan 5.0-5.7 para este evento.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15:01 UTC (10:01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Reportada por las entidades regionales IGC (M4.7) e INET (M4.3); no aparece en el catálogo del USGS con umbral M2.5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(SGC bulletin)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 / 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Las dos réplicas listadas en el boletín del evento del SGC; la de M4.8 fue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22:00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prensa reportó más de 20 réplicas durante el día; no se había publicado un conteo oficial consolidado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Prensa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28416"/>
            <a:ext cx="11430000" cy="822960"/>
          </a:xfrm>
          <a:prstGeom prst="rect">
            <a:avLst/>
          </a:prstGeom>
          <a:noFill/>
          <a:ln/>
        </p:spPr>
        <p:txBody>
          <a:bodyPr wrap="square" lIns="50800" tIns="50800" rIns="50800" bIns="50800" rtlCol="0" anchor="t"/>
          <a:lstStyle/>
          <a:p>
            <a:pPr indent="0" marL="0">
              <a:buNone/>
            </a:pPr>
            <a:r>
              <a:rPr lang="en-US" sz="950" dirty="0">
                <a:solidFill>
                  <a:srgbClr val="222222"/>
                </a:solidFill>
                <a:latin typeface="Calibri" pitchFamily="34" charset="0"/>
                <a:ea typeface="Calibri" pitchFamily="34" charset="-122"/>
                <a:cs typeface="Calibri" pitchFamily="34" charset="-120"/>
              </a:rPr>
              <a:t>Tres catálogos independientes -el servicio FDSN del USGS, el SeismicPortal del EMSC y las consultas públicas del SGC- devuelven los mismos dos eventos para esta región: el sismo principal y una única réplica de mb 5.0 44 minutos después. El boletín del SGC añade M4.8 y M2.8 y la prensa reportó más de 20 eventos durante el día, pero esos sismos menores no se pueden recuperar públicamente: quedan por debajo de la completitud de los catálogos globales aquí, y el catálogo revisado del SGC termina el 28 de febrero de 2018. Una secuencia escasa de réplicas grandes es lo que cabe esperar de una ruptura intraplaca de profundidad intermedia; pero un M5 mientras la búsqueda y el rescate están en curso basta para derribar estructuras que el sismo principal ya debilitó.</a:t>
            </a:r>
            <a:endParaRPr lang="en-US" sz="950" dirty="0"/>
          </a:p>
        </p:txBody>
      </p:sp>
      <p:sp>
        <p:nvSpPr>
          <p:cNvPr id="6" name="Shape 2"/>
          <p:cNvSpPr/>
          <p:nvPr/>
        </p:nvSpPr>
        <p:spPr>
          <a:xfrm>
            <a:off x="365760" y="4169664"/>
            <a:ext cx="11430000" cy="969264"/>
          </a:xfrm>
          <a:prstGeom prst="roundRect">
            <a:avLst>
              <a:gd name="adj" fmla="val 4717"/>
            </a:avLst>
          </a:prstGeom>
          <a:solidFill>
            <a:srgbClr val="FCE9DC"/>
          </a:solidFill>
          <a:ln w="12700">
            <a:solidFill>
              <a:srgbClr val="E8A317"/>
            </a:solidFill>
            <a:prstDash val="solid"/>
          </a:ln>
        </p:spPr>
      </p:sp>
      <p:sp>
        <p:nvSpPr>
          <p:cNvPr id="7" name="Text 3"/>
          <p:cNvSpPr/>
          <p:nvPr/>
        </p:nvSpPr>
        <p:spPr>
          <a:xfrm>
            <a:off x="530352" y="4224528"/>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8" name="Shape 4"/>
          <p:cNvSpPr/>
          <p:nvPr/>
        </p:nvSpPr>
        <p:spPr>
          <a:xfrm>
            <a:off x="365760" y="5212080"/>
            <a:ext cx="11430000" cy="731520"/>
          </a:xfrm>
          <a:prstGeom prst="roundRect">
            <a:avLst>
              <a:gd name="adj" fmla="val 6250"/>
            </a:avLst>
          </a:prstGeom>
          <a:solidFill>
            <a:srgbClr val="FCE9DC"/>
          </a:solidFill>
          <a:ln w="12700">
            <a:solidFill>
              <a:srgbClr val="E8A317"/>
            </a:solidFill>
            <a:prstDash val="solid"/>
          </a:ln>
        </p:spPr>
      </p:sp>
      <p:sp>
        <p:nvSpPr>
          <p:cNvPr id="9" name="Text 5"/>
          <p:cNvSpPr/>
          <p:nvPr/>
        </p:nvSpPr>
        <p:spPr>
          <a:xfrm>
            <a:off x="530352" y="5266944"/>
            <a:ext cx="11100816" cy="62179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Implicación operativa
</a:t>
            </a:r>
            <a:pPr algn="l" indent="0" marL="0">
              <a:buNone/>
            </a:pPr>
            <a:r>
              <a:rPr lang="en-US" sz="950" dirty="0">
                <a:solidFill>
                  <a:srgbClr val="7A2E0E"/>
                </a:solidFill>
                <a:latin typeface="Calibri" pitchFamily="34" charset="0"/>
                <a:ea typeface="Calibri" pitchFamily="34" charset="-122"/>
                <a:cs typeface="Calibri" pitchFamily="34" charset="-120"/>
              </a:rPr>
              <a:t>Las edificaciones que sobrevivieron al sismo principal en estado averiado han perdido capacidad. Incluso réplicas moderadas pueden derribarlas, de modo que la evaluación rápida de habitabilidad antes de volver a ocuparlas —y mantener a la gente fuera de las estructuras visiblemente averiadas— importa tanto como las estadísticas de réplicas.</a:t>
            </a:r>
            <a:endParaRPr lang="en-US" sz="1050" dirty="0"/>
          </a:p>
        </p:txBody>
      </p:sp>
      <p:sp>
        <p:nvSpPr>
          <p:cNvPr id="10" name="Text 6"/>
          <p:cNvSpPr/>
          <p:nvPr/>
        </p:nvSpPr>
        <p:spPr>
          <a:xfrm>
            <a:off x="365760" y="5980176"/>
            <a:ext cx="11430000" cy="25603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Disponibilidad de datos, verificada el 11 de agosto de 2026: el servicio de eventos FDSN del USGS (región 3-7 N / 78-74,5 O, desde la hora de origen; query.csv en este repositorio) y el FDSN del SeismicPortal del EMSC devuelven dos eventos tanto con umbral M2.5+ como M2+; el visor del catálogo del SGC y su formulario de consulta experta solo ofrecen el catálogo histórico revisado (1 jun 1993 - 28 feb 2018) y no devuelven nada para 2026. No se traza una serie temporal porque no existe públicamente: la escasez es, en sí misma, el hallazgo.</a:t>
            </a:r>
            <a:endParaRPr lang="en-US" sz="70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EMSC-CSEM SeismicPortal — boletín y servicio de eventos FDSN</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132+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700</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Viviendas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~5.000</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Muertos: último balance nacional consolidado (Asocapitales, tarde del 10 de agosto). Heridos: Presidente, 11 de agosto. Viviendas: cerca de 5.000 averiadas o destruidas, Presidente, 11 de agosto. Los reportes por ciudad del 11 de agosto ya sitúan los muertos por encima del total nacional.</a:t>
            </a:r>
            <a:endParaRPr lang="en-US" sz="750" dirty="0"/>
          </a:p>
        </p:txBody>
      </p:sp>
      <p:graphicFrame>
        <p:nvGraphicFramePr>
          <p:cNvPr id="14"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Alcaldía de Cali, 11 de agosto; 885 heridos y 188 desaparecidos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Bomberos de Pereira, 11 de agosto; 60 el 10 de agosto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Cifra del Presidente; 8 en Quibdó, donde cuatro menores están desaparecidos bajo un colegio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Se reportan cerca de 100 desaparecidos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7" name="Text 12"/>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Son cifras por ciudad y departamento divulgadas por autoridades locales y la Presidencia en distintos momentos del 11 de agosto. Suman 169, por encima del último balance nacional consolidado de 132 (Asocapitales, tarde del 10 de agosto), porque esa cifra nacional no se ha vuelto a emitir. Conviene leer las filas departamentales como el dato más reciente y el total nacional como el último auditado; la brecha se cerrará a medida que avance la verificación.</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132 en el país (Asocapitales, tarde del 10 de agosto; 87 de ellos en ciudades capitales). Los reportes por ciudad del 11 de agosto ya superan ese total: Cali 85, Pereira 66. El balance del Gobierno del 10 de agosto a las 13:00 COT era de 111. No se había publicado una cifra nacional reconsolidada.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Asocapitales; Alcaldía de Cali; Bomberos de Pereira; Presidencia / UNGRD para la cifra de las 13:00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700 en el país (Presidente, 11 de agosto), frente a más de 570 (Asocapitales, 10 de agosto) y 87 en el balance del Gobierno de las 13:00 COT. Solo Cali reporta 885 heridos.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188 desaparecidos en Cali y cerca de 100 en Manizales; cuatro menores desaparecidos bajo un colegio colapsado en Quibdó. El Presidente señaló que la prioridad del Estado son los desaparecidos. La búsqueda continuó durante la noche; en Cali trabajaban 228 rescatistas y perros de búsqueda.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Autoridades locales y Presidencia (prensa,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 en Chocó, Risaralda, Caldas, Valle del Cauca, Quindío y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Cerca de 5.000 viviendas averiadas o destruidas (Presidente, 11 de agosto), revisado al alza desde las 1.612 contabilizadas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averiadas (conteo del 10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 (conteo del 10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80 en el país (11 de agosto), frente a 61 el 10 de agosto; en Cali entre 25 y 30 en 12 puntos críticos;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11 de agosto; UNGRD; alcaldías de Cali y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con daños;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con daños;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vías y carreteras principales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y operaciones suspendidas en siete;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Al momento de redactar este informe no se identificó ningún anuncio del Gobierno de Japón (mensaje de condolencias, cooperación financiera no reembolsable de emergencia o envío del Equipo Japonés de Socorro en Casos de Desastre).</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3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930" dirty="0"/>
          </a:p>
          <a:p>
            <a:pPr algn="l" marL="342900" indent="-342900">
              <a:buSzPct val="100000"/>
              <a:buChar char="•"/>
            </a:pPr>
            <a:r>
              <a:rPr lang="en-US" sz="9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3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930" dirty="0"/>
          </a:p>
          <a:p>
            <a:pPr algn="l" marL="342900" indent="-342900">
              <a:buSzPct val="100000"/>
              <a:buChar char="•"/>
            </a:pPr>
            <a:r>
              <a:rPr lang="en-US" sz="9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30" dirty="0">
                <a:solidFill>
                  <a:srgbClr val="222222"/>
                </a:solidFill>
                <a:latin typeface="Calibri" pitchFamily="34" charset="0"/>
                <a:ea typeface="Calibri" pitchFamily="34" charset="-122"/>
                <a:cs typeface="Calibri" pitchFamily="34" charset="-120"/>
              </a:rPr>
              <a:t>Las cifras se mueven como cabía esperar y el total nacional es ahora el dato más lento del informe. Entre el balance del Gobierno de las 13:00 COT del 10 de agosto y la mañana del 11, los muertos pasaron de 111 a un consolidado de 132 mientras los reportes por ciudad lo superaban (Cali 85, Pereira 66, suma de 169); los heridos pasaron de 87 a más de 570 y luego a 700, con 885 solo en Cali; las viviendas averiadas pasaron de 1.612 a cerca de 5.000. Los aumentos rápidos de los próximos días deben leerse como la evaluación llegando a donde aún no había llegado, y no necesariamente como agravamiento; cabe esperar que la cifra nacional consolidada vaya medio día por detrás de las municipales.</a:t>
            </a:r>
            <a:endParaRPr lang="en-US" sz="930" dirty="0"/>
          </a:p>
          <a:p>
            <a:pPr algn="l" marL="342900" indent="-342900">
              <a:buSzPct val="100000"/>
              <a:buChar char="•"/>
            </a:pPr>
            <a:r>
              <a:rPr lang="en-US" sz="93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03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930" dirty="0"/>
          </a:p>
          <a:p>
            <a:pPr algn="l" marL="342900" indent="-342900">
              <a:buSzPct val="100000"/>
              <a:buChar char="•"/>
            </a:pPr>
            <a:r>
              <a:rPr lang="en-US" sz="9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3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930" dirty="0"/>
          </a:p>
          <a:p>
            <a:pPr algn="l" marL="342900" indent="-342900">
              <a:buSzPct val="100000"/>
              <a:buChar char="•"/>
            </a:pPr>
            <a:r>
              <a:rPr lang="en-US" sz="9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30" dirty="0">
                <a:solidFill>
                  <a:srgbClr val="222222"/>
                </a:solidFill>
                <a:latin typeface="Calibri" pitchFamily="34" charset="0"/>
                <a:ea typeface="Calibri" pitchFamily="34" charset="-122"/>
                <a:cs typeface="Calibri" pitchFamily="34" charset="-120"/>
              </a:rPr>
              <a:t>Riesgo de réplicas para las edificaciones averiadas. Se espera que la secuencia de réplicas intraplaca sea moderada, pero las estructuras averiadas han perdido capacidad; la inspección estructural rápida (evaluación de habitabilidad) antes de volver a ocuparlas es la prioridad inmediata, junto con la búsqueda y el rescate.</a:t>
            </a:r>
            <a:endParaRPr lang="en-US" sz="930" dirty="0"/>
          </a:p>
          <a:p>
            <a:pPr algn="l" marL="342900" indent="-342900">
              <a:buSzPct val="100000"/>
              <a:buChar char="•"/>
            </a:pPr>
            <a:r>
              <a:rPr lang="en-US" sz="93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03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93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11 de agosto de 2026, 03:00 COT (17:00 JST), unas 20 horas después del sismo. El último balance nacional consolidado es de 132 muertos (Asocapitales, tarde del 10 de agosto), pero los reportes por ciudad del 11 de agosto ya lo superan: solo Cali reporta 85 muertos y Pereira 66. Todas las cifras son preliminares y van en aumento.</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2026-08-11T08:49:22Z</dcterms:created>
  <dcterms:modified xsi:type="dcterms:W3CDTF">2026-08-11T08:49:22Z</dcterms:modified>
</cp:coreProperties>
</file>