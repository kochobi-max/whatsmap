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Población expuesta por nivel de sacudimiento (millones, PAGER del USGS)</a:t>
            </a:r>
          </a:p>
        </c:rich>
      </c:tx>
      <c:layout/>
      <c:overlay val="0"/>
    </c:title>
    <c:autoTitleDeleted val="0"/>
    <c:plotArea>
      <c:layout/>
      <c:barChart>
        <c:barDir val="col"/>
        <c:grouping val="clustered"/>
        <c:varyColors val="0"/>
        <c:ser>
          <c:idx val="0"/>
          <c:order val="0"/>
          <c:tx>
            <c:strRef>
              <c:f>Sheet1!$B$1</c:f>
              <c:strCache>
                <c:ptCount val="1"/>
                <c:pt idx="0">
                  <c:v>Personas expuestas</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MMI VII</c:v>
                  </c:pt>
                  <c:pt idx="1">
                    <c:v>MMI VI</c:v>
                  </c:pt>
                  <c:pt idx="2">
                    <c:v>MMI V</c:v>
                  </c:pt>
                </c:lvl>
              </c:multiLvlStrCache>
            </c:multiLvlStrRef>
          </c:cat>
          <c:val>
            <c:numRef>
              <c:f>Sheet1!$B$2:$B$4</c:f>
              <c:numCache>
                <c:formatCode>General</c:formatCode>
                <c:ptCount val="3"/>
                <c:pt idx="0">
                  <c:v>1.3</c:v>
                </c:pt>
                <c:pt idx="1">
                  <c:v>9.2</c:v>
                </c:pt>
                <c:pt idx="2">
                  <c:v>24</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Muertos reportados por departamento (provisional)</a:t>
            </a:r>
          </a:p>
        </c:rich>
      </c:tx>
      <c:layout/>
      <c:overlay val="0"/>
    </c:title>
    <c:autoTitleDeleted val="0"/>
    <c:plotArea>
      <c:layout/>
      <c:barChart>
        <c:barDir val="bar"/>
        <c:grouping val="clustered"/>
        <c:varyColors val="0"/>
        <c:ser>
          <c:idx val="0"/>
          <c:order val="0"/>
          <c:tx>
            <c:strRef>
              <c:f>Sheet1!$B$1</c:f>
              <c:strCache>
                <c:ptCount val="1"/>
                <c:pt idx="0">
                  <c:v>Muertos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Risaralda (Pereira)</c:v>
                  </c:pt>
                  <c:pt idx="1">
                    <c:v>Valle del Cauca (Cali)</c:v>
                  </c:pt>
                  <c:pt idx="2">
                    <c:v>Chocó</c:v>
                  </c:pt>
                  <c:pt idx="3">
                    <c:v>Caldas (Manizales)</c:v>
                  </c:pt>
                  <c:pt idx="4">
                    <c:v>Antioquia</c:v>
                  </c:pt>
                </c:lvl>
              </c:multiLvlStrCache>
            </c:multiLvlStrRef>
          </c:cat>
          <c:val>
            <c:numRef>
              <c:f>Sheet1!$B$2:$B$6</c:f>
              <c:numCache>
                <c:formatCode>General</c:formatCode>
                <c:ptCount val="5"/>
                <c:pt idx="0">
                  <c:v>40</c:v>
                </c:pt>
                <c:pt idx="1">
                  <c:v>27</c:v>
                </c:pt>
                <c:pt idx="2">
                  <c:v>9</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 TargetMode="External"/><Relationship Id="rId7" Type="http://schemas.openxmlformats.org/officeDocument/2006/relationships/hyperlink" Target="https://portal.gestiondelriesgo.gov.co/"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www.sgc.gov.co/"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sgc.gov.co/detallesismo/SGC2026pqqmro/mmi" TargetMode="External"/><Relationship Id="rId3" Type="http://schemas.openxmlformats.org/officeDocument/2006/relationships/hyperlink" Target="https://www.sgc.gov.co/detallesismo/SGC2026pqqmro/" TargetMode="External"/><Relationship Id="rId4"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10-1.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preventionweb.net/publication/colombia-plan-nacional-de-gestion-del-riesgo-de-desastres-pngrd-2015-2030" TargetMode="External"/><Relationship Id="rId4" Type="http://schemas.openxmlformats.org/officeDocument/2006/relationships/hyperlink" Target="https://www.globalquakemodel.org/seismic-regulations/colombia" TargetMode="External"/><Relationship Id="rId5" Type="http://schemas.openxmlformats.org/officeDocument/2006/relationships/hyperlink" Target="https://www.oecd.org/en/publications/risk-governance-scan-of-colombia_eeb81954-en.html" TargetMode="External"/><Relationship Id="rId1" Type="http://schemas.openxmlformats.org/officeDocument/2006/relationships/image" Target="../media/image-16-1.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7-1.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globalquakemodel.org/seismic-regulations/colombia"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19-1.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un-spider.org/national-unit-disaster-risk-management-ungrd-colombia" TargetMode="External"/><Relationship Id="rId15" Type="http://schemas.openxmlformats.org/officeDocument/2006/relationships/hyperlink" Target="https://www.oecd.org/en/publications/risk-governance-scan-of-colombia_eeb81954-en.html" TargetMode="External"/><Relationship Id="rId16" Type="http://schemas.openxmlformats.org/officeDocument/2006/relationships/hyperlink" Target="https://www.cnn.com/2026/08/10/world/live-news/colombia-earthquake-san-jose-del-palmar" TargetMode="External"/><Relationship Id="rId1" Type="http://schemas.openxmlformats.org/officeDocument/2006/relationships/image" Target="../media/image-20-1.png"/><Relationship Id="rId17" Type="http://schemas.openxmlformats.org/officeDocument/2006/relationships/slideLayout" Target="../slideLayouts/slideLayout1.xml"/><Relationship Id="rId1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france24.com/en/americas/20260810-powerful-quake-rocks-colombia-causing-major-damage" TargetMode="External"/><Relationship Id="rId3" Type="http://schemas.openxmlformats.org/officeDocument/2006/relationships/hyperlink" Target="https://www.aljazeera.com/news/2026/8/10/7-4-magnitude-earthquake-hits-colombia-killing-at-least-20" TargetMode="External"/><Relationship Id="rId4" Type="http://schemas.openxmlformats.org/officeDocument/2006/relationships/hyperlink" Target="https://www.cbsnews.com/news/colombia-earthquake-western-region-evacuations/" TargetMode="External"/><Relationship Id="rId5" Type="http://schemas.openxmlformats.org/officeDocument/2006/relationships/hyperlink" Target="https://www.nbcnews.com/world/latin-america/strong-earthquake-colombia-ecuador-people-evacuating-homes-buildings-rcna591709" TargetMode="External"/><Relationship Id="rId6" Type="http://schemas.openxmlformats.org/officeDocument/2006/relationships/hyperlink" Target="https://colombiaone.com/2026/08/10/earthquake-colombia-official-details/"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infobae.com/colombia/2026/08/10/por-que-el-temblor-en-colombia-de-este-lunes-10-de-agosto-duro-una-eternidad-el-servicio-geologico-explico-que-paso/" TargetMode="External"/><Relationship Id="rId9" Type="http://schemas.openxmlformats.org/officeDocument/2006/relationships/hyperlink" Target="https://www3.nhk.or.jp/news/" TargetMode="External"/><Relationship Id="rId10" Type="http://schemas.openxmlformats.org/officeDocument/2006/relationships/hyperlink" Target="https://www.nikkei.com/article/DGXZQOGN108V30Q6A810C2000000/" TargetMode="External"/><Relationship Id="rId11" Type="http://schemas.openxmlformats.org/officeDocument/2006/relationships/hyperlink" Target="https://www.jiji.com/jc/article?k=2026081000878&amp;g=int" TargetMode="External"/><Relationship Id="rId12" Type="http://schemas.openxmlformats.org/officeDocument/2006/relationships/hyperlink" Target="https://www.savethechildren.org/us/about-us/media-and-news/2026-press-releases/children-at-risk-after-earthquake-strikes-colombia" TargetMode="External"/><Relationship Id="rId13" Type="http://schemas.openxmlformats.org/officeDocument/2006/relationships/hyperlink" Target="https://www.directrelief.org/2026/08/colombia-earthquake-7-4-magnitude-direct-relief-response/" TargetMode="External"/><Relationship Id="rId14" Type="http://schemas.openxmlformats.org/officeDocument/2006/relationships/hyperlink" Target="https://www.americares.org/crisis-alerts/colombia-earthquake-august-2026/" TargetMode="External"/><Relationship Id="rId15" Type="http://schemas.openxmlformats.org/officeDocument/2006/relationships/hyperlink" Target="https://glidenumber.net/" TargetMode="External"/><Relationship Id="rId16" Type="http://schemas.openxmlformats.org/officeDocument/2006/relationships/hyperlink" Target="https://www.adrc.asia/" TargetMode="External"/><Relationship Id="rId1" Type="http://schemas.openxmlformats.org/officeDocument/2006/relationships/image" Target="../media/image-21-1.png"/><Relationship Id="rId17" Type="http://schemas.openxmlformats.org/officeDocument/2006/relationships/slideLayout" Target="../slideLayouts/slideLayout1.xml"/><Relationship Id="rId1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2-1.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3-1.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Informe de desastre</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Terremoto del Chocó de 2026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departamento del Chocó — 10 de agosto de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profundidad 107 km   ·   MMI VII (muy fuerte) — ShakeMap del USGS; el mapa de intensidades macrosísmicas del SGC coincide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Mundo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es.png">    </p:cNvPr>
          <p:cNvPicPr>
            <a:picLocks noChangeAspect="1"/>
          </p:cNvPicPr>
          <p:nvPr/>
        </p:nvPicPr>
        <p:blipFill>
          <a:blip r:embed="rId2"/>
          <a:stretch>
            <a:fillRect/>
          </a:stretch>
        </p:blipFill>
        <p:spPr>
          <a:xfrm>
            <a:off x="402336" y="2327988"/>
            <a:ext cx="3639312" cy="1708248"/>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Noroeste de Suramérica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es.png">    </p:cNvPr>
          <p:cNvPicPr>
            <a:picLocks noChangeAspect="1"/>
          </p:cNvPicPr>
          <p:nvPr/>
        </p:nvPicPr>
        <p:blipFill>
          <a:blip r:embed="rId3"/>
          <a:stretch>
            <a:fillRect/>
          </a:stretch>
        </p:blipFill>
        <p:spPr>
          <a:xfrm>
            <a:off x="4842049" y="1975104"/>
            <a:ext cx="2696878"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Epicentro y ciudades afectadas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es.png">    </p:cNvPr>
          <p:cNvPicPr>
            <a:picLocks noChangeAspect="1"/>
          </p:cNvPicPr>
          <p:nvPr/>
        </p:nvPicPr>
        <p:blipFill>
          <a:blip r:embed="rId4"/>
          <a:stretch>
            <a:fillRect/>
          </a:stretch>
        </p:blipFill>
        <p:spPr>
          <a:xfrm>
            <a:off x="8712521" y="1975104"/>
            <a:ext cx="2892926" cy="2414016"/>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Mapa base: Natural Earth (110 m). Distancias calculadas a partir de coordenadas publicadas; las figuras son esquemáticas y no son mapas oficiales de amenaza.</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Resumen   </a:t>
            </a:r>
            <a:pPr algn="l" indent="0" marL="0">
              <a:buNone/>
            </a:pPr>
            <a:r>
              <a:rPr lang="en-US" sz="980" dirty="0">
                <a:solidFill>
                  <a:srgbClr val="FFFFFF"/>
                </a:solidFill>
                <a:latin typeface="Calibri" pitchFamily="34" charset="0"/>
                <a:ea typeface="Calibri" pitchFamily="34" charset="-122"/>
                <a:cs typeface="Calibri" pitchFamily="34" charset="-120"/>
              </a:rPr>
              <a:t>A las 07:34 hora local (12:34 UTC) del 10 de agosto de 2026, un sismo de Mww 7.4 sacudió el occidente de Colombia con epicentro 5 km al este de San José del Palmar (Chocó), a unos 107 km de profundidad (USGS). Fue una ruptura de rumbo a profundidad intermedia dentro de la placa de Nazca en subducción; por esa profundidad, el sacudimiento fuerte (MMI VI-VII) se repartió sobre una amplia zona del Eje Cafetero andino en lugar de concentrarse cerca del epicentro, y unos 10,5 millones de personas quedaron expuestas a él. El SGC lo describe como el sismo de mayor magnitud registrado en Colombia en la última década. Al corte de las 17:00 COT del 10 de agosto, el Gobierno reportó 111 muertos y 87 heridos, más de 1.600 edificaciones afectadas (1.575 viviendas averiadas, 37 destruidas y 61 edificios colapsados), y daños en 18 centros de salud, 52 establecimientos educativos, 18 vías principales y seis aeropuertos regionales. Colapsaron parcialmente la terminal de pasajeros del Aeropuerto Internacional Matecaña (Pereira), una torre de la catedral neogótica de Manizales sobre la nave y cerca del 30 % del Hospital Universitario del Valle, en Cali. El Presidente declaró el desastre nacional, instaló un Puesto de Mando Unificado en el Chocó y desplegó cuatro grupos USAR y las Fuerzas Militares. No hubo tsunami. Todas las cifras son preliminares y variarán conforme avance la evaluación.</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Marco sismotectónico: un sismo intraplaca dentro de la losa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es.png">    </p:cNvPr>
          <p:cNvPicPr>
            <a:picLocks noChangeAspect="1"/>
          </p:cNvPicPr>
          <p:nvPr/>
        </p:nvPicPr>
        <p:blipFill>
          <a:blip r:embed="rId2"/>
          <a:stretch>
            <a:fillRect/>
          </a:stretch>
        </p:blipFill>
        <p:spPr>
          <a:xfrm>
            <a:off x="365760" y="1104265"/>
            <a:ext cx="6858000" cy="2820669"/>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Corte esquemático (ADRC)</a:t>
            </a:r>
            <a:endParaRPr lang="en-US" sz="800" dirty="0"/>
          </a:p>
        </p:txBody>
      </p:sp>
      <p:sp>
        <p:nvSpPr>
          <p:cNvPr id="6" name="Text 2"/>
          <p:cNvSpPr/>
          <p:nvPr/>
        </p:nvSpPr>
        <p:spPr>
          <a:xfrm>
            <a:off x="365760" y="4315968"/>
            <a:ext cx="6858000" cy="1828800"/>
          </a:xfrm>
          <a:prstGeom prst="rect">
            <a:avLst/>
          </a:prstGeom>
          <a:noFill/>
          <a:ln/>
        </p:spPr>
        <p:txBody>
          <a:bodyPr wrap="square" lIns="50800" tIns="50800" rIns="50800" bIns="5080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Colombia se encuentra en la confluencia de las placas de Nazca, del Caribe y Suramericana. Frente a la costa del Pacífico, la placa de Nazca subduce hacia el este bajo Suramérica a unos 50-60 mm/año, y la losa descendente alcanza profundidades intermedias (70-300 km) bajo las cordilleras Occidental y Central. Este sismo rompió dentro de esa losa a unos 107 km de profundidad, razón por la cual se sintió a cientos de kilómetros —hasta Bogotá, Quito y la ciudad de Panamá— sin producir ruptura superficial ni tsunami. Los sismos de profundidad intermedia irradian con eficiencia energía de alta frecuencia y se atenúan lentamente, de modo que los daños tienden a repartirse entre muchas ciudades en vez de concentrarse en una franja epicentral estrecha.</a:t>
            </a:r>
            <a:endParaRPr lang="en-US" sz="1050" dirty="0"/>
          </a:p>
        </p:txBody>
      </p:sp>
      <p:sp>
        <p:nvSpPr>
          <p:cNvPr id="7" name="Text 3"/>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Profundidad de unos 107 km (USGS): es un sismo intraplaca dentro de la losa, no un megasismo de la interfaz entre placas.</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Mecanismo de falla de rumbo dentro de la losa de Nazca en subducción (resumen tectónico del USGS).</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Sacudimiento máximo MMI VII (muy fuerte); unos 10,5 millones de personas expuestas a MMI VI-VII.</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Alerta naranja del PAGER (USGS): mortalidad estimada del orden de 300 personas y pérdidas económicas estimadas del orden de 880 millones de dólares (estimaciones de modelo, no observaciones).</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El SGC lo evalúa como el sismo de mayor magnitud registrado en Colombia en la última década.</a:t>
            </a:r>
            <a:endParaRPr lang="en-US" sz="1050" dirty="0"/>
          </a:p>
          <a:p>
            <a:pPr algn="l" marL="342900" indent="-342900">
              <a:buSzPct val="100000"/>
              <a:buChar char="•"/>
            </a:pPr>
            <a:r>
              <a:rPr lang="en-US" sz="10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Se reportó una duración del sacudimiento inusualmente larga en ciudades alejadas del epicentro, rasgo propio de los sismos profundos registrados sobre sedimentos blandos de valle.</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Resumen del sismo y medidas de respuesta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ago. 2026, 07:34 COT (12:34 UTC / 21:34 JST)    |    Mww 7.4    |    profundidad 107 km    |    MMI VII (muy fuerte) — ShakeMap del USGS; el mapa de intensidades macrosísmicas del SGC coincide</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Cifras al 10 de agosto de 2026, 17:00 COT (11 de agosto, 07:00 JST), unas 9,5 horas después del sismo. Todas las cifras son preliminares.</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Gobierno declaró el desastre nacional, lo que permite una movilización y una coordinación extraordinarias de la respuesta.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presidente Abelardo de la Espriella —con tres días en el cargo— ordenó instalar un Puesto de Mando Unificado (PMU) en el Chocó para coordinar la emergencia y se desplazó a Pereira, una de las ciudades más afectadas.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Unidad Nacional para la Gestión del Riesgo de Desastres (UNGRD) activó el sistema nacional, verificó los daños con las autoridades departamentales y municipales y canalizó los ofrecimientos de ayuda junto con la Cancillería.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cuatro grupos USAR (búsqueda y rescate urbano) desde Bogotá, Envigado, Yopal y Medellín para reforzar las labores de búsqueda y rescate.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efectivos militares en los departamentos afectados para búsqueda, rescate y remoción de escombros en las vías.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autoridad de aviación civil suspendió las operaciones en Pereira, Manizales, Quibdó, Armenia, Cartago y Buenaventura mientras se inspeccionaban pistas y terminales.</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Las edificaciones averiadas, los cortes de energía y la interrupción de las comunicaciones retrasan la evaluación en las zonas del Chocó más cercanas al epicentro.</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Número GLIDE asignado a este evento: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 de agosto)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Sismo de Mww 7.4; epicentro 5 km al E de San José del Palmar (Chocó), profundidad de unos 107 km. Sentido en Bogotá, Cali y Medellín, y también en Ecuador, Panamá y Venezuela.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SGC emite un primer boletín (inicialmente M6.6, 79 km de profundidad), luego revisado a M7.4 a 96 km y localizado con 69 estaciones (evento SGC2026pqqmro); se activan los protocolos de evaluación de daños.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UNGRD reporta las primeras afectaciones en 9 municipios del Chocó, 8 de Caldas, 2 del Valle del Cauca y 2 de Risaralda, además de varias localidades del Quindío.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Cali reporta estructuras colapsadas en 12 puntos críticos con personas atrapadas; colapsa parte del Hospital Universitario.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Manizales reporta 17 edificios colapsados y 19 con colapso parcial; una torre de la catedral neogótica cae sobre la nave. Se pide a la población permanecer fuera de las edificaciones por las réplicas.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Colapsa parcialmente la terminal de pasajeros del Aeropuerto Internacional Matecaña (Pereira); se suspenden las operaciones en seis aeropuertos regionales.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declara el desastre nacional; se instala el Puesto de Mando Unificado en el Chocó; se despliegan las Fuerzas Militares.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 de agosto)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despliegan cuatro grupos USAR desde Bogotá, Envigado, Yopal y Medellín.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registran más de 20 réplicas; la mayor réplica ampliamente sentida es de M4.8.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Presidente se desplaza a Pereira para dirigir la respuesta en terreno.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activa la cartografía rápida del Copernicus EMS como EMSR916 (17:13 UTC), a solicitud de los Servicios de la CE / DG ECHO, para cartografía de evaluación de daños por el sismo.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Primer reporte nacional de daños: 111 muertos y 87 heridos; 1.575 viviendas averiadas, 37 destruidas y 61 edificios colapsados; 18 centros de salud, 52 establecimientos educativos, 17 equipamientos comunitarios, 18 vías principales y 6 aeropuertos regionales con daños.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Ecuador moviliza un grupo USAR de 47 personas con unidades caninas; México y otros gobiernos ofrecen ayuda, que se canalizará a través de la Cancillería y la UNGRD.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Departamentos y ciudades afectados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locator_epicentre_es.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Distancias epicentrales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los daños están dispersos
</a:t>
            </a:r>
            <a:pPr algn="l" indent="0" marL="0">
              <a:buNone/>
            </a:pPr>
            <a:r>
              <a:rPr lang="en-US" sz="950" dirty="0">
                <a:solidFill>
                  <a:srgbClr val="7A2E0E"/>
                </a:solidFill>
                <a:latin typeface="Calibri" pitchFamily="34" charset="0"/>
                <a:ea typeface="Calibri" pitchFamily="34" charset="-122"/>
                <a:cs typeface="Calibri" pitchFamily="34" charset="-120"/>
              </a:rPr>
              <a:t>Una fuente a 107 km de profundidad deja a todas las ciudades de la región a una distancia hipocentral parecida (108-200 km), de modo que ninguna queda dentro de una franja estrecha de sacudimiento extremo.</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Ciudades principales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 / 102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Departamento epicentral; 9 municipios con daños reportados; acceso, energía y comunicaciones limitados.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55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número de muertos reportado (al menos 40; el gobernador cita al menos 42). Terminal aérea con colapso parcial.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166 / 35 / 147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muertos reportados; entre 25 y 30 estructuras colapsadas en 12 puntos críticos de Cali; Hospital Universitario gravemente afectado.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77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municipios afectados; 17 edificios colapsados y 19 con colapso parcial en Manizales; una torre de la catedral cayó sobre la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y otras localidades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70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Varias localidades reportadas como afectadas; es el mismo Eje Cafetero devastado por el terremoto de Armenia de 1999.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y alrededores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164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fallecido reportado (73 años); daños estructurales en inspección.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235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Ampliamente sentido; edificaciones evacuadas; se reportan daños estructurales en un colegio de Nilo.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Parámetros del sismo y sacudimiento observado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07:34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12:34 UTC  /  10 de agosto de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al E de San José del Palmar, departamento del Chocó (unos 280 km al O de Bogotá) — SGC: a 20 km de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Coordenadas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4.9031 N, 76.1885 W   ·   SGC 5.04 N, 76.34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Profundidad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107 km (USGS) / 96 km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Mecanismo focal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Falla de rumbo a profundidad intermedia, dentro de la placa de Nazca en subducción (no en la interfaz somera entre placas)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Sacudimiento máximo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(muy fuerte) — ShakeMap del USGS; el mapa de intensidades macrosísmicas del SGC coincide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Área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Sentido en el occidente y el centro de Colombia, incluidas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tsunami. El sismo fue continental y de profundidad intermedia; no se emitió alerta de tsunami para la costa del Pacífico.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Nivel de alerta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PAGER del USGS: naranja (probables víctimas y daños significativos). GDACS: naranja.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es.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 frente a la MMI reportada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(USGS). Unos 10,5 millones de personas experimentaron un sacudimiento fuerte o muy fuerte (MMI VI-VII) y se estima que 34 millones de personas en cuatro países sintieron el sismo. Son estimaciones de modelo.</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El USGS y el SGC coinciden en el tamaño; el primer boletín del SGC dio M6.6 a 79 km antes de la revisión. Las dos localizaciones difieren unos 20 km y sus profundidades unos 11 km, lo normal en un sismo de profundidad intermedia registrado por redes distintas. Las distancias epicentrales de este informe se miden desde la localización del USGS. El evento SGC2026pqqmro fue localizado con 69 estaciones; el SGC advierte que sus boletines están sujetos a cambios mientras avanza la revisión.</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Intensidad macrosísmica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5212080" cy="4846320"/>
          </a:xfrm>
          <a:prstGeom prst="roundRect">
            <a:avLst>
              <a:gd name="adj" fmla="val 1132"/>
            </a:avLst>
          </a:prstGeom>
          <a:solidFill>
            <a:srgbClr val="EAF2F8"/>
          </a:solidFill>
          <a:ln w="12700">
            <a:solidFill>
              <a:srgbClr val="2E5496"/>
            </a:solidFill>
            <a:prstDash val="dash"/>
          </a:ln>
        </p:spPr>
      </p:sp>
      <p:sp>
        <p:nvSpPr>
          <p:cNvPr id="5" name="Text 2"/>
          <p:cNvSpPr/>
          <p:nvPr/>
        </p:nvSpPr>
        <p:spPr>
          <a:xfrm>
            <a:off x="502920" y="1161288"/>
            <a:ext cx="4937760" cy="4572000"/>
          </a:xfrm>
          <a:prstGeom prst="rect">
            <a:avLst/>
          </a:prstGeom>
          <a:noFill/>
          <a:ln/>
        </p:spPr>
        <p:txBody>
          <a:bodyPr wrap="square" rtlCol="0" anchor="ctr"/>
          <a:lstStyle/>
          <a:p>
            <a:pPr algn="ctr" indent="0" marL="0">
              <a:buNone/>
            </a:pPr>
            <a:r>
              <a:rPr lang="en-US" sz="1000" i="1" dirty="0">
                <a:solidFill>
                  <a:srgbClr val="6A6A6A"/>
                </a:solidFill>
                <a:latin typeface="Calibri" pitchFamily="34" charset="0"/>
                <a:ea typeface="Calibri" pitchFamily="34" charset="-122"/>
                <a:cs typeface="Calibri" pitchFamily="34" charset="-120"/>
              </a:rPr>
              <a:t>Insertar la imagen antes de la publicación.</a:t>
            </a:r>
            <a:endParaRPr lang="en-US" sz="1000" dirty="0"/>
          </a:p>
        </p:txBody>
      </p:sp>
      <p:sp>
        <p:nvSpPr>
          <p:cNvPr id="6" name="Text 3"/>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ago. 2026 12:34:29 UTC · M7.4 · N5.04 W76.34 · profundidad 96,0 km · ID SGC2026pqqmro · Versión 1, procesado 2026-08-10T13:12:28Z · escala según Worden et al. (2012)</a:t>
            </a:r>
            <a:endParaRPr lang="en-US" sz="800" dirty="0"/>
          </a:p>
        </p:txBody>
      </p:sp>
      <p:sp>
        <p:nvSpPr>
          <p:cNvPr id="7" name="Text 4"/>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El mapa del SGC muestra la banda más fuerte (MMI VII, «Muy Fuerte») sobre el área epicentral del Chocó y a lo largo del corredor interandino que atraviesa Risaralda, Caldas, Quindío y el norte del Valle del Cauca: la franja en la que ocurrieron los colapsos de Pereira, Manizales, Armenia y Cartago. La intensidad decae hacia el oriente: Medellín y Cali quedan en las bandas moderada y fuerte, y Bogotá, a 235 km del epicentro, en una baja. El patrón alargado a lo largo de los valles, en lugar de un círculo compacto alrededor del epicentro, es la firma de una fuente a 96-107 km de profundidad combinada con sedimentos blandos de valle.</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 sentido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Débil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Cuantioso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5"/>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Escala de Mercalli modificada (Worden et al., 2012), tal como aparece en el mapa del SGC</a:t>
            </a:r>
            <a:endParaRPr lang="en-US" sz="7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SGC — mapa de intensidades macrosísmicas (ShakeMap) de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Sismicidad: réplicas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Mayor réplica en el boletín del SGC; ampliamente sentida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M2.8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segunda réplica listada en el boletín del 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(to 17:00)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20+ reported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prensa reportó más de 20 réplicas durante el día; el boletín del SGC listaba dos al momento de redactar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Calibri" pitchFamily="34" charset="0"/>
                          <a:ea typeface="Calibri" pitchFamily="34" charset="-122"/>
                          <a:cs typeface="Calibri" pitchFamily="34" charset="-120"/>
                        </a:rPr>
                        <a:t>Prensa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017520"/>
            <a:ext cx="11430000" cy="1371600"/>
          </a:xfrm>
          <a:prstGeom prst="rect">
            <a:avLst/>
          </a:prstGeom>
          <a:noFill/>
          <a:ln/>
        </p:spPr>
        <p:txBody>
          <a:bodyPr wrap="square" lIns="50800" tIns="50800" rIns="50800" bIns="50800" rtlCol="0" anchor="t"/>
          <a:lstStyle/>
          <a:p>
            <a:pPr indent="0" marL="0">
              <a:buNone/>
            </a:pPr>
            <a:r>
              <a:rPr lang="en-US" sz="1100" dirty="0">
                <a:solidFill>
                  <a:srgbClr val="222222"/>
                </a:solidFill>
                <a:latin typeface="Calibri" pitchFamily="34" charset="0"/>
                <a:ea typeface="Calibri" pitchFamily="34" charset="-122"/>
                <a:cs typeface="Calibri" pitchFamily="34" charset="-120"/>
              </a:rPr>
              <a:t>El boletín del evento SGC2026pqqmro listó dos réplicas, de M2.8 y M4.8, esta última ampliamente sentida; la prensa reportó más de 20 durante el día. Las secuencias de réplicas de los sismos intraplaca de profundidad intermedia suelen ser menos productivas que las de los sismos corticales someros, pero siguen siendo posibles réplicas fuertes y las edificaciones ya averiadas son especialmente vulnerables a ellas.</a:t>
            </a:r>
            <a:endParaRPr lang="en-US" sz="1100" dirty="0"/>
          </a:p>
        </p:txBody>
      </p:sp>
      <p:sp>
        <p:nvSpPr>
          <p:cNvPr id="6" name="Shape 2"/>
          <p:cNvSpPr/>
          <p:nvPr/>
        </p:nvSpPr>
        <p:spPr>
          <a:xfrm>
            <a:off x="365760" y="4572000"/>
            <a:ext cx="11430000" cy="1463040"/>
          </a:xfrm>
          <a:prstGeom prst="roundRect">
            <a:avLst>
              <a:gd name="adj" fmla="val 3125"/>
            </a:avLst>
          </a:prstGeom>
          <a:solidFill>
            <a:srgbClr val="FCE9DC"/>
          </a:solidFill>
          <a:ln w="12700">
            <a:solidFill>
              <a:srgbClr val="E8A317"/>
            </a:solidFill>
            <a:prstDash val="solid"/>
          </a:ln>
        </p:spPr>
      </p:sp>
      <p:sp>
        <p:nvSpPr>
          <p:cNvPr id="7" name="Text 3"/>
          <p:cNvSpPr/>
          <p:nvPr/>
        </p:nvSpPr>
        <p:spPr>
          <a:xfrm>
            <a:off x="530352" y="4626864"/>
            <a:ext cx="11100816" cy="13533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Implicación operativa
</a:t>
            </a:r>
            <a:pPr algn="l" indent="0" marL="0">
              <a:buNone/>
            </a:pPr>
            <a:r>
              <a:rPr lang="en-US" sz="950" dirty="0">
                <a:solidFill>
                  <a:srgbClr val="7A2E0E"/>
                </a:solidFill>
                <a:latin typeface="Calibri" pitchFamily="34" charset="0"/>
                <a:ea typeface="Calibri" pitchFamily="34" charset="-122"/>
                <a:cs typeface="Calibri" pitchFamily="34" charset="-120"/>
              </a:rPr>
              <a:t>Las edificaciones que sobrevivieron al sismo principal en estado averiado han perdido capacidad. Incluso réplicas moderadas pueden derribarlas, de modo que la evaluación rápida de habitabilidad antes de volver a ocuparlas —y mantener a la gente fuera de las estructuras visiblemente averiadas— importa tanto como las estadísticas de réplicas.</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Afectación humana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Muertos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111</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Heridos</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Edificaciones afectadas</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más de 1.600</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Muertos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El gobernador cita al menos 42</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Departamento epicentral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Reportados 2 y luego 4</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 años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las cifras
</a:t>
            </a:r>
            <a:pPr algn="l" indent="0" marL="0">
              <a:buNone/>
            </a:pPr>
            <a:r>
              <a:rPr lang="en-US" sz="950" dirty="0">
                <a:solidFill>
                  <a:srgbClr val="7A2E0E"/>
                </a:solidFill>
                <a:latin typeface="Calibri" pitchFamily="34" charset="0"/>
                <a:ea typeface="Calibri" pitchFamily="34" charset="-122"/>
                <a:cs typeface="Calibri" pitchFamily="34" charset="-120"/>
              </a:rPr>
              <a:t>Las cifras departamentales provienen de autoridades locales y se reportan en momentos distintos; todavía no suman el total nacional de 111 y se conciliarán a medida que avance la verificación.</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News: muertos, heridos y edificios colapsados</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 UNGRD, tarde del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 UNGRD, tarde del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Desaparecidos / atrapados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cuantificar; se reportaron personas atrapadas entre escombros en Cali, Pereira y Manizales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Autoridades locales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Edificaciones afectadas (total)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1.600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averiadas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1.575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Edificios colapsados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61 en el país; en Cali entre 25 y 30 en 12 puntos críticos; en Manizales 17 colapsados y 19 con colapso parcial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alcaldías de Cali y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Centros de salud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con daños; 7 instituciones de salud cerradas; cerca del 30 % del Hospital Universitario del Valle, en Cali, colapsó, incluidos tres pisos (pediatría, medicina interna y parte de la unidad neonatal)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Gobernación del Valle del Cauca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Establecimientos educativos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52 con daños; colegios evacuados en los departamentos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Equipamientos comunitarios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17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Vías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vías y carreteras principales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Aeropuertos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aeropuertos regionales con daños; colapso parcial de la terminal de pasajeros del Aeropuerto Internacional Matecaña (Pereira); operaciones suspendidas en Pereira, Manizales, Quibdó, Armenia, Cartago y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autoridad de aviación civil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Patrimonio cultural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torre de la catedral neogótica de Manizales colapsó sobre la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Servicios públicos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reportan cortes de energía e interrupción de comunicaciones en zonas cercanas al epicentro; aún no se publican cifras sistemáticas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desalojadas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que miles de personas salieron de sus viviendas; aún no se publican cifras de alojamientos temporales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Respuesta 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Declaratoria de desastre nacional, que activa el Sistema Nacional de Gestión del Riesgo de Desastres (SNGRD) creado por la Ley 1523 de 2012.</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Puesto de Mando Unificado (PMU) instalado en el Chocó; la UNGRD coordina con los consejos departamentales y municipales de gestión del riesgo.</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Cuatro grupos USAR (Bogotá, Envigado, Yopal y Medellín) desplegados para búsqueda y rescate en estructuras colapsadas.</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Fuerzas Militares desplegadas en los departamentos afectados para búsqueda, rescate, remoción de escombros en vías y seguridad.</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Inspección estructural rápida de hospitales, colegios y aeropuertos; siete instituciones de salud cerradas y seis aeropuertos suspendidos a la espera de la evaluación.</a:t>
            </a:r>
            <a:endParaRPr lang="en-US" sz="1300" dirty="0"/>
          </a:p>
          <a:p>
            <a:pPr algn="l" marL="342900" indent="-342900">
              <a:buSzPct val="100000"/>
              <a:buChar char="•"/>
            </a:pPr>
            <a:r>
              <a:rPr lang="en-US" sz="13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Traslado de pacientes desde el Hospital Universitario del Valle, en Cali, hacia otras instituciones; la ciudad reportó que las víctimas se concentran en 12 puntos críticos de colapso.</a:t>
            </a:r>
            <a:endParaRPr lang="en-US" sz="1300" dirty="0"/>
          </a:p>
        </p:txBody>
      </p:sp>
      <p:sp>
        <p:nvSpPr>
          <p:cNvPr id="5" name="Shape 2"/>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6" name="Text 3"/>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Fundamento jurídico
</a:t>
            </a:r>
            <a:pPr algn="l" indent="0" marL="0">
              <a:buNone/>
            </a:pPr>
            <a:r>
              <a:rPr lang="en-US" sz="950" dirty="0">
                <a:solidFill>
                  <a:srgbClr val="7A2E0E"/>
                </a:solidFill>
                <a:latin typeface="Calibri" pitchFamily="34" charset="0"/>
                <a:ea typeface="Calibri" pitchFamily="34" charset="-122"/>
                <a:cs typeface="Calibri" pitchFamily="34" charset="-120"/>
              </a:rPr>
              <a:t>La declaratoria de desastre nacional activa el SNGRD creado por la Ley 1523 de 2012, lo que permite a la UNGRD dirigir recursos y usar el fondo nacional de gestión del riesgo (FNGRD) sin los plazos ordinarios de contratación.</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movilizó un grupo USAR especializado de 47 personas con unidades caninas y equipamiento autosuficiente.</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Presidenta de México ofreció «todo el apoyo que se requiera»; varios gobiernos latinoamericanos ofrecieron rescatistas, unidades caninas y ayuda humanitaria, que se canalizarán a través de la Cancillería de Colombia y la UNGRD.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cartografía rápida del Copernicus EMS se activó como EMSR916 «Earthquake in Colombia» a las 17:13 UTC del 10 de agosto (12:13 COT), a solicitud de los Servicios de la CE / DG ECHO, para proporcionar cartografía de emergencia de evaluación de daños por el sismo. En curso al momento de redactar, con 3 áreas de interés y 3 productos. La razón de la activación menciona a Quibdó, Pereira, Manizales y Cali como ciudades con daños significativos y edificios colapsados.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También se reporta la activación de la Carta Internacional «Espacio y Grandes Catástrofes» para este sismo; el número de activación no estaba confirmado al momento de redactar.</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ONG internacionales movilizadas: Direct Relief y Americares (insumos médicos), Save the Children (protección de la niñez y educación), International Rescue Committee (evaluación cerca del epicentro, en el Chocó) y Convoy of Hope (ayuda humanitaria).</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Al momento de redactar este informe no se identificó ningún anuncio del Gobierno de Japón (mensaje de condolencias, cooperación financiera no reembolsable de emergencia o envío del Equipo Japonés de Socorro en Casos de Desastre).</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Canalización
</a:t>
            </a:r>
            <a:pPr algn="l" indent="0" marL="0">
              <a:buNone/>
            </a:pPr>
            <a:r>
              <a:rPr lang="en-US" sz="950" dirty="0">
                <a:solidFill>
                  <a:srgbClr val="7A2E0E"/>
                </a:solidFill>
                <a:latin typeface="Calibri" pitchFamily="34" charset="0"/>
                <a:ea typeface="Calibri" pitchFamily="34" charset="-122"/>
                <a:cs typeface="Calibri" pitchFamily="34" charset="-120"/>
              </a:rPr>
              <a:t>Los ofrecimientos de ayuda se canalizan a través de la Cancillería de Colombia junto con la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satelital y analítico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Entidad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Aporte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activación por el sismo de Colombia; imágenes ópticas y de radar de amplia cobertura para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Reportada / número pendiente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cartografía rápida para evaluación de daños; solicitada por los Servicios de la CE / DG ECHO; 3 AOI, 3 productos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En curso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(naranja), modelo de fuente finita y catálogo de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Alerta general naranja; exposición de población y estimaciones de impacto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Red sismológica nacional: hipocentro, revisión de magnitud, boletines de réplicas y registros acelerográficos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aplica: el mecanismo cubre la región de Asia y el Pacífico; a Colombia la atienden la Carta Internacional y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no aplica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Nota sobre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en cuyo equipo conjunto de proyecto participa el ADRC, cubre la región de Asia y el Pacífico. Para un desastre en Colombia, los mecanismos internacionales equivalentes son la Carta Internacional «Espacio y Grandes Catástrofes» y el Servicio de Gestión de Emergencias Copernicus; en América Latina también se emplea con frecuencia la cartografía rápida de UNOSAT/UNITAR.</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sistema de gestión del riesgo de desastres de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reconstruyó su marco de gestión del riesgo de desastres tras la tragedia volcánica de Armero en 1985 y de nuevo tras el terremoto de Armenia de 1999. La Ley 1523 de 2012 creó el Sistema Nacional de Gestión del Riesgo de Desastres (SNGRD), liderado por la Unidad Nacional para la Gestión del Riesgo de Desastres (UNGRD), adscrita a la Presidencia de la República.</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Ley 1523 de 2012: política nacional de gestión del riesgo de desastres; define el SNGRD y convierte la gestión del riesgo en un deber obligatorio de toda autoridad pública y, en parte, de los actores privados.</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UNGRD: entidad coordinadora nacional adscrita a la Presidencia; dirige la respuesta nacional, el fondo de gestión del riesgo (FNGRD) y el sistema nacional de información.</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Los consejos departamentales y municipales de gestión del riesgo (CDGRD / CMGRD) asumen la primera respuesta; la UNGRD refuerza cuando se supera la capacidad local.</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PNGRD 2015-2030: el plan nacional de gestión del riesgo de desastres, alineado con el Marco de Sendái.</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NSR-10: el reglamento nacional de construcción sismo resistente (vigente desde 2010, con anexos técnicos actualizados posteriormente). Las edificaciones anteriores a la aplicación de la norma moderna y la construcción no ingenieril en mampostería y tierra siguen siendo la principal fuente de riesgo.</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Existen estudios de microzonificación sísmica para las principales ciudades, entre ellas Bogotá, Medellín, Cali, Pereira, Manizales y Armenia, herencia directa del terremoto de 1999.</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El SGC opera la Red Sismológica Nacional y la red nacional de acelerógrafos, y publica boletines en cuestión de minutos.</a:t>
            </a:r>
            <a:endParaRPr lang="en-US" sz="115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la UNGRD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OCDE: análisis de gobernanza del riesgo de Colombia</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terremoto de Armenia (Quindío) de 1999 y la reconstrucción</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El terremoto de Armenia (Quindío) de 1999: el mismo Eje Cafetero
</a:t>
            </a:r>
            <a:pPr algn="l" indent="0" marL="0">
              <a:buNone/>
            </a:pPr>
            <a:r>
              <a:rPr lang="en-US" sz="1050" dirty="0">
                <a:solidFill>
                  <a:srgbClr val="222222"/>
                </a:solidFill>
                <a:latin typeface="Calibri" pitchFamily="34" charset="0"/>
                <a:ea typeface="Calibri" pitchFamily="34" charset="-122"/>
                <a:cs typeface="Calibri" pitchFamily="34" charset="-120"/>
              </a:rPr>
              <a:t>El 25 de enero de 1999, un sismo de M6.1-6.2 a unos 30 km de profundidad golpeó la zona cafetera del Quindío. Dejó cerca de 1.185 muertos, más de 5.000 heridos y unas 50.000 edificaciones averiadas o destruidas; alrededor del 60 % de las construcciones de la ciudad de Armenia colapsaron o resultaron gravemente afectadas, y más de 200.000 personas quedaron sin vivienda. Aunque de magnitud mucho menor que el sismo de 2026, fue mucho más somero y mucho más cercano a las ciudades, y por eso su poder destructivo local fue muy superior.</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en 1999</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Edificaciones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Personas sin vivienda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Sector cafetero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unas 8.000 fincas y 1.200 instalaciones de beneficio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Lo que siguió y las lecciones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importa ahora
</a:t>
            </a:r>
            <a:pPr algn="l" indent="0" marL="0">
              <a:buNone/>
            </a:pPr>
            <a:r>
              <a:rPr lang="en-US" sz="950" dirty="0">
                <a:solidFill>
                  <a:srgbClr val="7A2E0E"/>
                </a:solidFill>
                <a:latin typeface="Calibri" pitchFamily="34" charset="0"/>
                <a:ea typeface="Calibri" pitchFamily="34" charset="-122"/>
                <a:cs typeface="Calibri" pitchFamily="34" charset="-120"/>
              </a:rPr>
              <a:t>Las ciudades más golpeadas en 2026 —Pereira, Manizales y Armenia— son las mismas que se reconstruyeron después de 1999. Cómo se comportó ese parque construido frente a un sacudimiento de período y duración largos, procedente de una fuente a 107 km de profundidad, es la pregunta clave de la evaluación posterior al evento.</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Sismos históricos en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822960"/>
                <a:gridCol w="3108960"/>
                <a:gridCol w="914400"/>
                <a:gridCol w="65836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Sismo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y rasgos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1906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Ecuador-Colombia (costa del Pacífico)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M8.8</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Uno de los mayores sismos jamás registrados; tsunami destructivo en la costa del Pacífico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1979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Tumaco (Nariño)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M8.1</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Sismo de interfaz de subducción con tsunami; varios cientos de 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1983</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Popayán (Cauca)</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M5.5</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Cerca de 250-300 muertos; centro histórico gravemente afectado: un sismo pequeño, pero somero y urbano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Páez (Cauca)</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M6.8</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Cerca de 1.100 muertos, en su mayoría por deslizamientos y flujos de escombros desencadenados por el sismo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del Chocó</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M6.6</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Sismo de profundidad intermedia en el mismo departamento que el de 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Armenia (Quindío)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M6.1-6.2</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Cerca de 1.185 muertos; el desastre sísmico más costoso de Colombia; impulsó las reformas actuales de gestión del riesgo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2026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del Chocó (este evento)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M7.4</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Mayor magnitud registrada en Colombia en la última década (SGC); profundidad intermedia y daños de amplia distribución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365760" y="5230368"/>
            <a:ext cx="11430000" cy="877824"/>
          </a:xfrm>
          <a:prstGeom prst="roundRect">
            <a:avLst>
              <a:gd name="adj" fmla="val 5208"/>
            </a:avLst>
          </a:prstGeom>
          <a:solidFill>
            <a:srgbClr val="FCE9DC"/>
          </a:solidFill>
          <a:ln w="12700">
            <a:solidFill>
              <a:srgbClr val="E8A317"/>
            </a:solidFill>
            <a:prstDash val="solid"/>
          </a:ln>
        </p:spPr>
      </p:sp>
      <p:sp>
        <p:nvSpPr>
          <p:cNvPr id="6" name="Text 2"/>
          <p:cNvSpPr/>
          <p:nvPr/>
        </p:nvSpPr>
        <p:spPr>
          <a:xfrm>
            <a:off x="530352" y="5285232"/>
            <a:ext cx="1110081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Patrón
</a:t>
            </a:r>
            <a:pPr algn="l" indent="0" marL="0">
              <a:buNone/>
            </a:pPr>
            <a:r>
              <a:rPr lang="en-US" sz="950" dirty="0">
                <a:solidFill>
                  <a:srgbClr val="7A2E0E"/>
                </a:solidFill>
                <a:latin typeface="Calibri" pitchFamily="34" charset="0"/>
                <a:ea typeface="Calibri" pitchFamily="34" charset="-122"/>
                <a:cs typeface="Calibri" pitchFamily="34" charset="-120"/>
              </a:rPr>
              <a:t>Los sismos más mortales de Colombia no han sido los de mayor magnitud. Popayán 1983 (M5.5), Páez 1994 (M6.8) y Armenia 1999 (M6.1-6.2) fueron someros y cercanos a los cascos urbanos; los eventos mayores, mar adentro en 1906 y 1979, dejaron menos víctimas. Lo que determina el saldo es la profundidad y la cercanía, no la magnitud por sí sola.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Observaciones y puntos por seguir</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Una fuente profunda con consecuencias de sismo somero. A 107 km de profundidad el sismo no produjo ruptura superficial ni tsunami y, aun así, dañó edificaciones en al menos seis departamentos. Los daños están dispersos y no concentrados, lo que complica la evaluación de necesidades, la logística y la priorización de la búsqueda y el rescate.</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Fallaron instalaciones críticas. El colapso de cerca del 30 % del Hospital Universitario del Valle, en Cali, el cierre de siete instituciones de salud, los daños en 52 colegios y el colapso parcial de una terminal aérea internacional reducen la capacidad de respuesta justo donde se necesita. El desempeño sísmico de hospitales, colegios y terminales de transporte es la lección más clara hasta ahora.</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Las cifras aumentarán y no serán coherentes entre sí durante algún tiempo. Los muertos por departamento anunciados por gobernadores y alcaldes todavía no suman el total nacional, y los conteos de daños en edificaciones reflejan reportes de primera mirada, no evaluaciones de daños. Los aumentos rápidos de los próximos días deben leerse como avance de la evaluación y no necesariamente como agravamiento de la situación.</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zona afectada es el Eje Cafetero reconstruido después de 1999. Comparar el comportamiento de las construcciones posteriores a 1999 con el del parque más antiguo, bajo un tipo de sacudimiento muy distinto, será valioso para la región y para otros países con fuentes sísmicas de profundidad intermedia.</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Riesgo de réplicas para las edificaciones averiadas. Se espera que la secuencia de réplicas intraplaca sea moderada, pero las estructuras averiadas han perdido capacidad; la inspección estructural rápida (evaluación de habitabilidad) antes de volver a ocuparlas es la prioridad inmediata, junto con la búsqueda y el rescate.</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Puntos por seguir: la conciliación de las cifras nacionales de víctimas; las cifras de alojamiento y de personas desalojadas, que aún no se publican; el restablecimiento del agua y la energía en el Chocó; los resultados de la cartografía de daños con satélite; y si el Gobierno solicita asistencia internacional más allá de los ofrecimientos ya recibidos.</a:t>
            </a:r>
            <a:endParaRPr lang="en-US" sz="12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Política de fuentes: </a:t>
            </a:r>
            <a:pPr algn="l" indent="0" marL="0">
              <a:buNone/>
            </a:pPr>
            <a:r>
              <a:rPr lang="en-US" sz="900" dirty="0">
                <a:solidFill>
                  <a:srgbClr val="444444"/>
                </a:solidFill>
                <a:latin typeface="Calibri" pitchFamily="34" charset="0"/>
                <a:ea typeface="Calibri" pitchFamily="34" charset="-122"/>
                <a:cs typeface="Calibri" pitchFamily="34" charset="-120"/>
              </a:rPr>
              <a:t>Jerarquía de fuentes: oficial &gt; prensa &gt; por confirmar. Las cifras del Gobierno y de las entidades científicas se usan como fuente primaria; la información de prensa se emplea únicamente cuando aún no hay cifras oficiales y se identifica como tal. Los elementos en verificación se marcan como «por confirmar». Las cifras preliminares nunca se sustituyen por números mayores sin verificar.</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M 7.4 San José del Palmar, Colombia (página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boletín del evento SGC2026pqqmro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mapa de intensidades macrosísmicas (ShakeMap) de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Unidad Nacional para la Gestión del Riesgo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alerta sísmica naranja, Colombia, 10 ago.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Carta Internacional «Espacio y Grandes Catástrofes»: activaciones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OPS/OMS: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PNGRD 2015-2030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normativa sismo resistente de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la UNGRD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OCDE: análisis de gobernanza del riesgo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vivo, al menos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Colombia declara la emergencia nacional;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sismo de M7.4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fuerte sismo en el occidente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muertos, heridos y edificios colapsados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primer balance oficial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el Gobierno declara el desastre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el SGC explica por qué el temblor duró tanto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el Presidente reporta 111 muertos y 87 heridos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sismo de M7.4 en el occidente de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sismo de M7.4 en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niñez en riesgo tras el terremoto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movilización de ayuda médica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terremoto de Colombia, agosto de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(identificador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Centro Asiático para la Reducción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Comisión Europea — apoyo de la UE a Colombia, Copernicus activado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Centro Asiático para la Reducción de Desastres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Informe multilingüe (EN/JA/ES) para difusión nacional e internacional. Se da prioridad a las fuentes oficiales; los vacíos se completan con información de prensa debidamente identificada.</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Cifras al 10 de agosto de 2026, 17:00 COT (11 de agosto, 07:00 JST), unas 9,5 horas después del sismo. Todas las cifras son preliminares.</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2026-08-11T00:09:31Z</dcterms:created>
  <dcterms:modified xsi:type="dcterms:W3CDTF">2026-08-11T00:09:31Z</dcterms:modified>
</cp:coreProperties>
</file>