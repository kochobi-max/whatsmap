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7-1.png"/><Relationship Id="rId2" Type="http://schemas.openxmlformats.org/officeDocument/2006/relationships/image" Target="../media/image-7-2.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8-1.png"/><Relationship Id="rId2" Type="http://schemas.openxmlformats.org/officeDocument/2006/relationships/image" Target="../media/image-8-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2" Type="http://schemas.openxmlformats.org/officeDocument/2006/relationships/image" Target="../media/image-9-2.jp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2-1.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2" Type="http://schemas.openxmlformats.org/officeDocument/2006/relationships/image" Target="../media/image-18-2.jpg"/><Relationship Id="rId4" Type="http://schemas.openxmlformats.org/officeDocument/2006/relationships/image" Target="../media/image-18-3.jp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19-1.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2-1.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3-1.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4-1.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5-1.png"/><Relationship Id="rId2" Type="http://schemas.openxmlformats.org/officeDocument/2006/relationships/image" Target="../media/image-25-2.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6-1.png"/><Relationship Id="rId2" Type="http://schemas.openxmlformats.org/officeDocument/2006/relationships/image" Target="../media/image-26-2.jp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7-1.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 Type="http://schemas.openxmlformats.org/officeDocument/2006/relationships/image" Target="../media/image-28-1.png"/><Relationship Id="rId14" Type="http://schemas.openxmlformats.org/officeDocument/2006/relationships/slideLayout" Target="../slideLayouts/slideLayout1.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cnn.com/2026/08/10/world/live-news/colombia-earthquake-san-jose-del-palmar" TargetMode="External"/><Relationship Id="rId3" Type="http://schemas.openxmlformats.org/officeDocument/2006/relationships/hyperlink" Target="https://www.elcolombiano.com/colombia/terremoto-temblor-hoy-colombia-choco-heridos-FL39761141" TargetMode="External"/><Relationship Id="rId4" Type="http://schemas.openxmlformats.org/officeDocument/2006/relationships/hyperlink" Target="https://un-spider.org/national-unit-disaster-risk-management-ungrd-colombia" TargetMode="External"/><Relationship Id="rId5" Type="http://schemas.openxmlformats.org/officeDocument/2006/relationships/hyperlink" Target="https://www.oecd.org/en/publications/risk-governance-scan-of-colombia_eeb81954-en.html" TargetMode="External"/><Relationship Id="rId6" Type="http://schemas.openxmlformats.org/officeDocument/2006/relationships/hyperlink" Target="https://www.cnn.com/2026/08/10/world/live-news/colombia-earthquake-san-jose-del-palmar" TargetMode="External"/><Relationship Id="rId7" Type="http://schemas.openxmlformats.org/officeDocument/2006/relationships/hyperlink" Target="https://www.france24.com/en/americas/20260810-powerful-quake-rocks-colombia-causing-major-damage" TargetMode="External"/><Relationship Id="rId8" Type="http://schemas.openxmlformats.org/officeDocument/2006/relationships/hyperlink" Target="https://www.aljazeera.com/news/2026/8/10/7-4-magnitude-earthquake-hits-colombia-killing-at-least-20" TargetMode="External"/><Relationship Id="rId9" Type="http://schemas.openxmlformats.org/officeDocument/2006/relationships/hyperlink" Target="https://www.cbsnews.com/news/colombia-earthquake-western-region-evacuations/" TargetMode="External"/><Relationship Id="rId10" Type="http://schemas.openxmlformats.org/officeDocument/2006/relationships/hyperlink" Target="https://www.nbcnews.com/world/latin-america/strong-earthquake-colombia-ecuador-people-evacuating-homes-buildings-rcna591709" TargetMode="External"/><Relationship Id="rId11" Type="http://schemas.openxmlformats.org/officeDocument/2006/relationships/hyperlink" Target="https://colombiaone.com/2026/08/10/earthquake-colombia-official-details/" TargetMode="External"/><Relationship Id="rId12" Type="http://schemas.openxmlformats.org/officeDocument/2006/relationships/hyperlink" Target="https://colombiaone.com/2026/08/10/colombia-national-disaster/" TargetMode="External"/><Relationship Id="rId13" Type="http://schemas.openxmlformats.org/officeDocument/2006/relationships/hyperlink" Target="https://www.infobae.com/colombia/2026/08/10/por-que-el-temblor-en-colombia-de-este-lunes-10-de-agosto-duro-una-eternidad-el-servicio-geologico-explico-que-paso/" TargetMode="External"/><Relationship Id="rId1" Type="http://schemas.openxmlformats.org/officeDocument/2006/relationships/image" Target="../media/image-29-1.png"/><Relationship Id="rId14" Type="http://schemas.openxmlformats.org/officeDocument/2006/relationships/slideLayout" Target="../slideLayouts/slideLayout1.xml"/><Relationship Id="rId1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3.nhk.or.jp/news/" TargetMode="External"/><Relationship Id="rId3" Type="http://schemas.openxmlformats.org/officeDocument/2006/relationships/hyperlink" Target="https://www.nikkei.com/article/DGXZQOGN108V30Q6A810C2000000/" TargetMode="External"/><Relationship Id="rId4" Type="http://schemas.openxmlformats.org/officeDocument/2006/relationships/hyperlink" Target="https://www.jiji.com/jc/article?k=2026081000878&amp;g=int" TargetMode="External"/><Relationship Id="rId5" Type="http://schemas.openxmlformats.org/officeDocument/2006/relationships/hyperlink" Target="https://www.savethechildren.org/us/about-us/media-and-news/2026-press-releases/children-at-risk-after-earthquake-strikes-colombia" TargetMode="External"/><Relationship Id="rId6" Type="http://schemas.openxmlformats.org/officeDocument/2006/relationships/hyperlink" Target="https://www.directrelief.org/2026/08/colombia-earthquake-7-4-magnitude-direct-relief-response/" TargetMode="External"/><Relationship Id="rId7" Type="http://schemas.openxmlformats.org/officeDocument/2006/relationships/hyperlink" Target="https://www.americares.org/crisis-alerts/colombia-earthquake-august-2026/" TargetMode="External"/><Relationship Id="rId8" Type="http://schemas.openxmlformats.org/officeDocument/2006/relationships/hyperlink" Target="https://glidenumber.net/" TargetMode="External"/><Relationship Id="rId9" Type="http://schemas.openxmlformats.org/officeDocument/2006/relationships/hyperlink" Target="https://www.adrc.asia/" TargetMode="External"/><Relationship Id="rId10" Type="http://schemas.openxmlformats.org/officeDocument/2006/relationships/hyperlink" Target="https://www.democrata.es/en/international/von-der-leyen-expresses-the-eu-s-support-for-colombia-and-activates-copernicus-after-the-earthquake/" TargetMode="External"/><Relationship Id="rId11" Type="http://schemas.openxmlformats.org/officeDocument/2006/relationships/hyperlink" Target="https://www.globalquakemodel.org/proj/treq" TargetMode="External"/><Relationship Id="rId12" Type="http://schemas.openxmlformats.org/officeDocument/2006/relationships/hyperlink" Target="https://cloud-storage.globalquakemodel.org/public/wix-new-website/pdf-collections-wix/publications/TREQ%20deliverables/reports/TREQ_D262_Riesgo_Sismico_Cali_v1.00.pdf" TargetMode="External"/><Relationship Id="rId13" Type="http://schemas.openxmlformats.org/officeDocument/2006/relationships/hyperlink" Target="https://www.sciencedirect.com/science/article/abs/pii/S2212420925003097" TargetMode="External"/><Relationship Id="rId1" Type="http://schemas.openxmlformats.org/officeDocument/2006/relationships/image" Target="../media/image-30-1.png"/><Relationship Id="rId14" Type="http://schemas.openxmlformats.org/officeDocument/2006/relationships/slideLayout" Target="../slideLayouts/slideLayout1.xml"/><Relationship Id="rId1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satic.cali.gov.co/satic" TargetMode="External"/><Relationship Id="rId3" Type="http://schemas.openxmlformats.org/officeDocument/2006/relationships/hyperlink" Target="https://www.cali.gov.co/gestiondelriesgo/" TargetMode="External"/><Relationship Id="rId4" Type="http://schemas.openxmlformats.org/officeDocument/2006/relationships/hyperlink" Target="https://portal.gestiondelriesgo.gov.co/Paginas/Plan-Nacional-de-Gestion-del-Riesgo.aspx" TargetMode="External"/><Relationship Id="rId5" Type="http://schemas.openxmlformats.org/officeDocument/2006/relationships/hyperlink" Target="https://www.funcionpublica.gov.co/eva/gestornormativo/norma.php?i=191411" TargetMode="External"/><Relationship Id="rId6" Type="http://schemas.openxmlformats.org/officeDocument/2006/relationships/hyperlink" Target="https://www.emsc-csem.org/" TargetMode="External"/><Relationship Id="rId7" Type="http://schemas.openxmlformats.org/officeDocument/2006/relationships/hyperlink" Target="https://catalogosismico.sgc.gov.co/visor/index.html" TargetMode="External"/><Relationship Id="rId8"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9" Type="http://schemas.openxmlformats.org/officeDocument/2006/relationships/hyperlink" Target="https://www.elespectador.com/colombia/mas-regiones/temblor-en-colombia-hoy-10-de-agosto-en-vivo-epicentro-y-reporte-de-afectaciones/" TargetMode="External"/><Relationship Id="rId10" Type="http://schemas.openxmlformats.org/officeDocument/2006/relationships/hyperlink" Target="https://www.noticiascaracol.com/colombia/en-vivo-colombia-hoy-tras-terremoto-de-magnitud-7-4-continuan-las-labores-de-rescate-so35" TargetMode="External"/><Relationship Id="rId11" Type="http://schemas.openxmlformats.org/officeDocument/2006/relationships/hyperlink" Target="https://rpp.pe/mundo/colombia/abelardo-de-la-espriella-cifra-en-181-los-muertos-por-el-terremoto-59-menos-que-datos-regionales-noticia-1701022" TargetMode="External"/><Relationship Id="rId12" Type="http://schemas.openxmlformats.org/officeDocument/2006/relationships/hyperlink" Target="https://www.eltiempo.com/colombia/otras-ciudades/cuantas-replicas-se-han-registrado-tras-el-terremoto-de-7-4-en-colombia-estas-son-todas-las-magnitudes-3577711" TargetMode="External"/><Relationship Id="rId13" Type="http://schemas.openxmlformats.org/officeDocument/2006/relationships/hyperlink" Target="https://www.semana.com/tecnologia/articulo/servicio-geologico-revela-el-numero-total-de-replicas-que-ha-habido-en-colombia-tras-fuerte-terremoto-que-estremecio-al-pais/202641/" TargetMode="External"/><Relationship Id="rId1" Type="http://schemas.openxmlformats.org/officeDocument/2006/relationships/image" Target="../media/image-31-1.png"/><Relationship Id="rId14" Type="http://schemas.openxmlformats.org/officeDocument/2006/relationships/slideLayout" Target="../slideLayouts/slideLayout1.xml"/><Relationship Id="rId1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mofa.go.jp/mofaj/la_c/sa/co/pageit_000001_00001.html" TargetMode="External"/><Relationship Id="rId3" Type="http://schemas.openxmlformats.org/officeDocument/2006/relationships/hyperlink" Target="https://x.com/MofaJapan_jp/status/2087155064855261537" TargetMode="External"/><Relationship Id="rId4" Type="http://schemas.openxmlformats.org/officeDocument/2006/relationships/hyperlink" Target="https://www.eltiempo.com/mundo/mas-regiones/la-comunidad-internacional-se-vuelca-en-ayudas-para-colombia-lista-de-paises-que-han-ofrecido-apoyo-tras-el-terremoto-de-magnitud-7-3577512" TargetMode="External"/><Relationship Id="rId5" Type="http://schemas.openxmlformats.org/officeDocument/2006/relationships/hyperlink" Target="https://colombia.un.org/es/320793-informaci%C3%B3n-y-actualizaciones-sobre-el-terremoto-en-colombia" TargetMode="External"/><Relationship Id="rId6" Type="http://schemas.openxmlformats.org/officeDocument/2006/relationships/hyperlink" Target="https://news.un.org/es/story/2026/08/1541792" TargetMode="External"/><Relationship Id="rId7" Type="http://schemas.openxmlformats.org/officeDocument/2006/relationships/hyperlink" Target="https://www.colombiatebusca.com/" TargetMode="External"/><Relationship Id="rId8" Type="http://schemas.openxmlformats.org/officeDocument/2006/relationships/hyperlink" Target="https://www.asocapitales.co/terremoto-colombia.html" TargetMode="External"/><Relationship Id="rId9" Type="http://schemas.openxmlformats.org/officeDocument/2006/relationships/hyperlink" Target="https://www.infobae.com/colombia/2026/08/12/de-la-espriella-anuncio-alivios-y-subsidios-tras-emergencia-en-el-eje-cafetero-por-el-terremoto-detallo-plan-de-choque-para-educacion-y-vivienda/" TargetMode="External"/><Relationship Id="rId10" Type="http://schemas.openxmlformats.org/officeDocument/2006/relationships/hyperlink" Target="https://www.pulzo.com/nacion/terremoto-en-colombia-ungrd-reporta-danos-y-victimas-en-valle-del-cauca-y-risaralda-PP5272829A" TargetMode="External"/><Relationship Id="rId11"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12" Type="http://schemas.openxmlformats.org/officeDocument/2006/relationships/hyperlink" Target="https://www.asocapitales.co/actualidad/noticias/ciudades-seguras/terremoto-deja-188-fallecidos-y-1677-heridos-en-ciudades" TargetMode="External"/><Relationship Id="rId1" Type="http://schemas.openxmlformats.org/officeDocument/2006/relationships/image" Target="../media/image-32-1.png"/><Relationship Id="rId13" Type="http://schemas.openxmlformats.org/officeDocument/2006/relationships/slideLayout" Target="../slideLayouts/slideLayout1.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3-1.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12 de agosto de 2026, 16:00 COT (13 de agosto, 06:00 JST), unas 56 horas después del sismo. El reporte consolidado de la UNGRD cubre 14 departamentos y 403 municipios: 239 muertos, 3.755 heridos, 287 desaparecidos, 140 edificios colapsados, 24.324 familias (49.214 personas) afectadas y cerca de 54.000 viviendas averiadas o destruidas. Todas las cifras son preliminares; la Evaluación de Daños y Análisis de Necesidades (EDAN) sigue en curso.</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(10-12 de agosto)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(21:31 JST) y el Ministro de Asuntos Exteriores, Motegi, emite un mensaje de condolencias en el que señala que el Gobierno del Japón está asimismo dispuesto a prestar la asistencia necesaria y que Japón se solidariza firmemente con el pueblo colombiano.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OCHA señala que el sistema humanitario está listo para apoyar a Colombia y menciona agua potable, kits de higiene y artículos del hogar, salud, alimentos y alojamiento como necesidades prioritarias; no se ha recibido una solicitud formal de asistencia de las autoridades colombianas.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ONU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balance nacional provisional supera los 224 muertos y más de 2.500 heridos, con 279 trasladados a hospitales y 243 personas rescatadas con vida; hay 195 desaparecidos reportados a las autoridades. La plataforma ciudadana «Colombia te busca» acumula 4.084 registros, 3.653 de ellos sin resolver. La búsqueda continúa en Pereira con unos 300 rescatistas, y buena parte del Chocó sigue siendo accesible solo por vía fluvial o aérea.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recorre Pereira, Dosquebradas, Manizales y Armenia tras Quibdó y Cali, y anuncia tres meses de alivio en servicios públicos para los hogares afectados, subsidios de arriendo para quienes perdieron su vivienda y un plan de choque para educación y vivienda; se prepara un decreto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consolidado de la UNGRD cubre 14 departamentos y 403 municipios: 239 muertos, 3.755 heridos, 287 desaparecidos, 140 edificios colapsados, 24.324 familias (49.214 personas) afectadas, 9.215 viviendas destruidas y 45.457 con daños graves. Colombia acepta equipos USAR con clasificación INSARAG de Israel, Ecuador, El Salvador y Estados Unidos; El Salvador envía 100 toneladas de ayuda. Una mujer es rescatada en Pereira tras 36 horas bajo los escombros.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11 Aug 17:24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147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Catálogo del SGC, 34 horas después del sismo principal: 60 por debajo de M2,0, 76 entre M2,0 y 2,9, 10 entre M3,0 y 3,9, uno entre M4,0 y 4,9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Text 1"/>
          <p:cNvSpPr/>
          <p:nvPr/>
        </p:nvSpPr>
        <p:spPr>
          <a:xfrm>
            <a:off x="365760" y="3310128"/>
            <a:ext cx="6675120" cy="1627632"/>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El SGC localizó 147 eventos en las 34 horas posteriores al sismo principal. Solo uno superó M4,0 -la M4,8 ocurrida 44 minutos después- y el 92 % estuvo por debajo de M3,0, de modo que ninguna réplica se ha acercado al tamaño del sismo principal. Noventa y seis de los 147 se ubican a 60 km de profundidad o más y a menos de 80 km del epicentro: ese subconjunto es la secuencia intraplaca propiamente dicha, y su curva acumulada sigue de cerca los totales publicados por el SGC. El resto es sismicidad de fondo que el mismo catálogo registra, y por eso un conteo bruto va por delante de la cifra oficial de réplicas. Una secuencia modesta y de decaimiento rápido es lo que cabe esperar de una ruptura de profundidad intermedia.</a:t>
            </a:r>
            <a:endParaRPr lang="en-US" sz="9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7623520" y="3200400"/>
            <a:ext cx="3534736" cy="1481328"/>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239</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3.755</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Desaparecidos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287</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Reporte consolidado de la UNGRD, 12 de agosto, sobre 14 departamentos y 403 municipios. Medicina Legal había recibido 202 cuerpos a las 07:00 de ese día, 121 identificados. Viviendas: 9.215 destruidas y 45.457 con daños graves.</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Cuatro menores siguen desaparecidos bajo un colegio colapsado en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El gráfico es el desglose del Presidente del 11 de agosto, que suma 181 y no se ha vuelto a emitir; la cifra consolidada de la UNGRD llegó a 239 el 12 de agosto en 14 departamentos y 403 municipios, de modo que conviene leerlo como la forma de la distribución y no como un conteo actual. Los muertos se concentran en Risaralda (Pereira) y Valle del Cauca (Cali). Junto a él corren dos conteos más estrechos: Medicina Legal había recibido 202 cuerpos a las 07:00 del 12 de agosto, 121 identificados, y Asocapitales cuenta 188 solo en las ciudades capitales.</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Personas desaparecidas: dos conteos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Reportados a las autoridades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287</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Sin resolver en la plataforma ciudadana</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Localizados a través de la plataforma</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Dos cifras distintas de «desaparecidos»
</a:t>
            </a:r>
            <a:pPr algn="l" indent="0" marL="0">
              <a:buNone/>
            </a:pPr>
            <a:r>
              <a:rPr lang="en-US" sz="950" dirty="0">
                <a:solidFill>
                  <a:srgbClr val="7A2E0E"/>
                </a:solidFill>
                <a:latin typeface="Calibri" pitchFamily="34" charset="0"/>
                <a:ea typeface="Calibri" pitchFamily="34" charset="-122"/>
                <a:cs typeface="Calibri" pitchFamily="34" charset="-120"/>
              </a:rPr>
              <a:t>287 y 3.653 no son la misma medida y ninguna es errónea. 287 es lo que la UNGRD registra como desaparecidos reportados el 12 de agosto, frente a 195 el día anterior; está ligado a los sitios de búsqueda y a los reportes oficiales. 3.653 es el número de personas registradas por sus familias en la plataforma ciudadana «Colombia te busca» y aún no localizadas: una iniciativa comunitaria, no un registro estatal, que no reemplaza el reporte a la Policía ni a la Fiscalía y que contendrá duplicados y personas simplemente incomunicadas donde no hay energía ni telefonía. Cabe esperar que la cifra de la plataforma caiga al restablecerse las comunicaciones y que la oficial siga subiendo a medida que se verifiquen los reportes. Cítese 287 como el conteo de desaparecidos; cítese 3.653 como el volumen de consultas familiares, que mide mejor cuántos hogares aún no saben.</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Los registros se concentran en Valle del Cauca, Risaralda, Caldas y Chocó, los mismos cuatro departamentos donde están los fallecidos. Asocapitales, la asociación de ciudades capitales, ha lanzado una segunda plataforma, de modo que el volumen de consultas está ahora repartido entre dos registros y sus totales no deben sumarse.</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plataforma ciudadana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herramienta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239 (reporte consolidado de la UNGRD, 12 de agosto). Medicina Legal había recibido 202 cuerpos a las 07:00 COT de ese día, de los cuales 121 identificados, incluidos cinco menores. Asocapitales cuenta 188 solo en las ciudades capitales.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 Medicina Legal;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3.755 (UNGRD, 12 de agosto), frente a 2.542 el día anterior. La mayoría son atendidos en Valle del Cauca, Risaralda, Quindío y Chocó. Asocapitales cuenta 1.677 en las ciudades capitales.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(reportados a las autoridades)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287 (UNGRD, 12 de agosto), frente a 195 el día anterior. Cuatro menores siguen desaparecidos bajo un colegio colapsado en Quibdó.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Reportes sin resolver en plataformas ciudadanas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personas registradas en «Colombia te busca», de las cuales 3.653 están por localizar y 429 han sido encontradas, concentradas en Valle del Cauca, Risaralda, Caldas y Chocó. Asocapitales ha lanzado una segunda plataforma.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(iniciativa ciudadana);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Rescatados con vida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 (a las 20:00 COT del 11 de agosto), incluida una mujer rescatada en Cali casi 30 horas después del sismo y un bebé sacado de un edificio de apartamentos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Balance nacional provisional,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403 municipios en 14 departamentos (UNGRD, 12 de agosto), frente a «más de 20»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24.324 familias -49.214 personas- directamente afectadas (UNGRD, 12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Cerca de 54.000: 9.215 destruidas y 45.457 con daños graves (UNGRD, 12 de agosto), frente a 15.568 el día anterior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con daños graves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45.457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9.215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140 en el país (UNGRD, 12 de agosto), frente a más de 80 el 11 de agosto y 61 el 10. Asocapitales cuenta 243 estructuras colapsadas en las ciudades capitales; la Alcaldía de Cali reporta 107 colapsadas y 643 con daños estructurales.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12 de agosto;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93 con daños (UNGRD, 11 de agosto), frente a 18 el 10 de agosto;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884 con daños (UNGRD, 11 de agosto), frente a 52 el 10 de agosto;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427 con daños (UNGRD, 11 de agosto), frente a 17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77 vías con daños (UNGRD, 11 de agosto), frente a 18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11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y operaciones suspendidas en siete;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770" dirty="0"/>
          </a:p>
          <a:p>
            <a:pPr algn="l" marL="342900" indent="-342900">
              <a:buSzPct val="100000"/>
              <a:buChar char="•"/>
            </a:pPr>
            <a:r>
              <a:rPr lang="en-US" sz="77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El Presidente recorrió las regiones afectadas los días 11 y 12 de agosto -Quibdó, luego Cali, después Pereira, Dosquebradas, Manizales y Armenia- y señaló que dirigiría la respuesta desde el terreno y no desde Bogotá.</a:t>
            </a:r>
            <a:endParaRPr lang="en-US" sz="770" dirty="0"/>
          </a:p>
          <a:p>
            <a:pPr algn="l" marL="342900" indent="-342900">
              <a:buSzPct val="100000"/>
              <a:buChar char="•"/>
            </a:pPr>
            <a:r>
              <a:rPr lang="en-US" sz="77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70" dirty="0">
                <a:solidFill>
                  <a:srgbClr val="222222"/>
                </a:solidFill>
                <a:latin typeface="Calibri" pitchFamily="34" charset="0"/>
                <a:ea typeface="Calibri" pitchFamily="34" charset="-122"/>
                <a:cs typeface="Calibri" pitchFamily="34" charset="-120"/>
              </a:rPr>
              <a:t>Medidas anunciadas durante el recorrido: tres meses de alivio en el pago de servicios públicos para los hogares censados como afectados, un subsidio de arriendo para quienes perdieron su vivienda, un censo y caracterización de las viviendas averiadas antes de repararlas, y un plan de choque para educación y vivienda. Se prepara un decreto de emergencia económica, con crédito internacional y alivios tributarios en estudio.</a:t>
            </a:r>
            <a:endParaRPr lang="en-US" sz="77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12 de agosto Colombia aceptó asistencia internacional de búsqueda y rescate, de países cuyos equipos cumplen la clasificación INSARAG: Israel, Ecuador, El Salvador y Estados Unidos. A solicitud de Colombia, el Departamento de Estado de EE. UU. movilizó los grupos USAR del condado de Fairfax (Virginia) y del condado de Los Ángeles (California). El Salvador envió 100 toneladas de ayuda y ha llegado un vuelo humanitario de México.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Estados Unidos: 15,5 millones de dólares en asistencia de emergencia anunciados el 10 de agosto, para alojamiento de emergencia, alimentos, protección y evaluación de daños.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Unión Europea: se activó el Mecanismo de Protección Civil de la UE y se liberaron 100.000 euros iniciales de financiación humanitaria, canalizados a través de la Cruz Roja Alemana, cuyos equipos ya estaban en el país. Copernicus se puso a disposición de las autoridades colombianas y se activó el mecanismo consular de crisis de la UE para ciudadanos europeos en la zona afectada. La Presidenta de la Comisión y la Alta Representante señalaron que la UE está lista para aportar más si es necesario.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11 de agosto a las 21:31 JST (07:31 COT) la Primera Ministra, Takaichi Sanae, expresó sus condolencias -«Japón está con Colombia en este momento difícil»-. El Ministro de Asuntos Exteriores, Motegi, emitió el siguiente mensaje: «A raíz del sismo que golpeó a la República de Colombia el 10 de agosto, expreso mis más profundas condolencias a quienes perdieron la vida y hago llegar mi más sentido pésame a todas las personas afectadas. El Gobierno del Japón está asimismo dispuesto a prestar la asistencia necesaria. Japón se solidariza firmemente con el pueblo colombiano.» Al momento de redactar no se había anunciado el envío del Equipo Japonés de Socorro en Casos de Desastre ni una cooperación financiera no reembolsable de emergencia.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reportaron ofrecimientos de Chile, Perú, Panamá, Argentina, Brasil, Venezuela, Bolivia, Guatemala, Cuba, El Salvador, España, Italia, Francia, Alemania, Suiza, Israel y Ucrania: equipos USAR, personal médico y paramédico, insumos y observación satelital. El banco de desarrollo CAF anunció una donación de 500.000 dólares.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Naciones Unidas: la OCHA señaló que el sistema humanitario está listo para apoyar a Colombia, y su análisis preliminar de necesidades menciona agua potable, kits de higiene y artículos del hogar, atención en salud, asistencia alimentaria y alojamiento. Al 11 de agosto no se había hecho una solicitud formal; el 12 de agosto el Gobierno aceptó asistencia internacional de búsqueda y rescate.</a:t>
            </a:r>
            <a:endParaRPr lang="en-US" sz="750" dirty="0"/>
          </a:p>
          <a:p>
            <a:pPr algn="l" marL="342900" indent="-342900">
              <a:buSzPct val="100000"/>
              <a:buChar char="•"/>
            </a:pPr>
            <a:r>
              <a:rPr lang="en-US" sz="7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75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De los ofrecimientos a la aceptación
</a:t>
            </a:r>
            <a:pPr algn="l" indent="0" marL="0">
              <a:buNone/>
            </a:pPr>
            <a:r>
              <a:rPr lang="en-US" sz="950" dirty="0">
                <a:solidFill>
                  <a:srgbClr val="7A2E0E"/>
                </a:solidFill>
                <a:latin typeface="Calibri" pitchFamily="34" charset="0"/>
                <a:ea typeface="Calibri" pitchFamily="34" charset="-122"/>
                <a:cs typeface="Calibri" pitchFamily="34" charset="-120"/>
              </a:rPr>
              <a:t>Durante dos días Colombia aceptó dinero y cartografía satelital, pero no rescatistas extranjeros, y la ONU no tenía una solicitud formal. Eso cambió el 12 de agosto: con 287 desaparecidos y cerca de 54.000 viviendas afectadas, el Gobierno aceptó equipos USAR de Israel, Ecuador, El Salvador y Estados Unidos, y puso como condición la clasificación INSARAG, el filtro adecuado para equipos que deben ser autosuficientes e interoperables. La lección no es que la demora fuera un error, sino que el umbral es la capacidad nacional: bajo la Ley 1523 la respuesta la dirige Colombia, y la solicitud llegó cuando la carga de búsqueda superó a los equipos disponibles.</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El balance se multiplicó a medida que la evaluación alcanzó los daños. En 56 horas los muertos pasaron de 111 a 239, los heridos de 87 a 3.755, los desaparecidos de ninguno contabilizado a 287, las viviendas afectadas de 1.612 a cerca de 54.000 y el área afectada de «más de 20 municipios» a 403 en 14 departamentos. No ocurrió nada nuevo que provocara esos saltos; la evaluación llegó a donde no había llegado, y buena parte del Chocó sigue siendo accesible solo por vía fluvial o aérea. Dos lecciones para leer las cifras tempranas: los números del primer día describen el alcance de la evaluación y no el tamaño del desastre; y cuando existen dos conteos de lo mismo, conviene revisar qué mide cada uno antes de compararlos.</a:t>
            </a:r>
            <a:endParaRPr lang="en-US" sz="830" dirty="0"/>
          </a:p>
          <a:p>
            <a:pPr algn="l" marL="342900" indent="-342900">
              <a:buSzPct val="100000"/>
              <a:buChar char="•"/>
            </a:pPr>
            <a:r>
              <a:rPr lang="en-US" sz="83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30" dirty="0"/>
          </a:p>
          <a:p>
            <a:pPr algn="l" marL="342900" indent="-342900">
              <a:buSzPct val="100000"/>
              <a:buChar char="•"/>
            </a:pPr>
            <a:r>
              <a:rPr lang="en-US" sz="83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3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(5/5)</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Motegi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lista de países que han ofrecido apoyo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Naciones Unidas en Colombia — información y actualizaciones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ONU — la ONU ofrece apoyo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plataforma ciudadana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herramienta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alivios y subsidios anunciados en el recorrido por el Eje Cafetero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reporte de daños y víctimas de la UNGRD en 14 departamentos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equipos de búsqueda y rescate de Israel, Ecuador, El Salvador y EE. UU.</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fallecidos y 1.677 heridos en ciudades capitales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12 de agosto de 2026, 16:00 COT (13 de agosto, 06:00 JST), unas 56 horas después del sismo. El reporte consolidado de la UNGRD cubre 14 departamentos y 403 municipios: 239 muertos, 3.755 heridos, 287 desaparecidos, 140 edificios colapsados, 24.324 familias (49.214 personas) afectadas y cerca de 54.000 viviendas averiadas o destruidas. Todas las cifras son preliminares; la Evaluación de Daños y Análisis de Necesidades (EDAN) sigue en curso.</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13/08/2026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2026-08-12T20:39:14Z</dcterms:created>
  <dcterms:modified xsi:type="dcterms:W3CDTF">2026-08-12T20:39:14Z</dcterms:modified>
</cp:coreProperties>
</file>