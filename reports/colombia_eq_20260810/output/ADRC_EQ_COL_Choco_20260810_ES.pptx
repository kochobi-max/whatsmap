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0-1.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6-1.png"/><Relationship Id="rId2" Type="http://schemas.openxmlformats.org/officeDocument/2006/relationships/image" Target="../media/image-16-2.jp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preventionweb.net/publication/colombia-plan-nacional-de-gestion-del-riesgo-de-desastres-pngrd-2015-2030" TargetMode="External"/><Relationship Id="rId4" Type="http://schemas.openxmlformats.org/officeDocument/2006/relationships/hyperlink" Target="https://www.globalquakemodel.org/seismic-regulations/colombia" TargetMode="External"/><Relationship Id="rId5" Type="http://schemas.openxmlformats.org/officeDocument/2006/relationships/hyperlink" Target="https://www.oecd.org/en/publications/risk-governance-scan-of-colombia_eeb81954-en.html" TargetMode="External"/><Relationship Id="rId1" Type="http://schemas.openxmlformats.org/officeDocument/2006/relationships/image" Target="../media/image-17-1.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19-1.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un-spider.org/national-unit-disaster-risk-management-ungrd-colombia" TargetMode="External"/><Relationship Id="rId15" Type="http://schemas.openxmlformats.org/officeDocument/2006/relationships/hyperlink" Target="https://www.oecd.org/en/publications/risk-governance-scan-of-colombia_eeb81954-en.html" TargetMode="External"/><Relationship Id="rId16" Type="http://schemas.openxmlformats.org/officeDocument/2006/relationships/hyperlink" Target="https://www.cnn.com/2026/08/10/world/live-news/colombia-earthquake-san-jose-del-palmar" TargetMode="External"/><Relationship Id="rId1" Type="http://schemas.openxmlformats.org/officeDocument/2006/relationships/image" Target="../media/image-21-1.png"/><Relationship Id="rId17" Type="http://schemas.openxmlformats.org/officeDocument/2006/relationships/slideLayout" Target="../slideLayouts/slideLayout1.xml"/><Relationship Id="rId1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www.france24.com/en/americas/20260810-powerful-quake-rocks-colombia-causing-major-damage" TargetMode="External"/><Relationship Id="rId3" Type="http://schemas.openxmlformats.org/officeDocument/2006/relationships/hyperlink" Target="https://www.aljazeera.com/news/2026/8/10/7-4-magnitude-earthquake-hits-colombia-killing-at-least-20" TargetMode="External"/><Relationship Id="rId4" Type="http://schemas.openxmlformats.org/officeDocument/2006/relationships/hyperlink" Target="https://www.cbsnews.com/news/colombia-earthquake-western-region-evacuations/" TargetMode="External"/><Relationship Id="rId5" Type="http://schemas.openxmlformats.org/officeDocument/2006/relationships/hyperlink" Target="https://www.nbcnews.com/world/latin-america/strong-earthquake-colombia-ecuador-people-evacuating-homes-buildings-rcna591709" TargetMode="External"/><Relationship Id="rId6" Type="http://schemas.openxmlformats.org/officeDocument/2006/relationships/hyperlink" Target="https://colombiaone.com/2026/08/10/earthquake-colombia-official-details/"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infobae.com/colombia/2026/08/10/por-que-el-temblor-en-colombia-de-este-lunes-10-de-agosto-duro-una-eternidad-el-servicio-geologico-explico-que-paso/" TargetMode="External"/><Relationship Id="rId9" Type="http://schemas.openxmlformats.org/officeDocument/2006/relationships/hyperlink" Target="https://www3.nhk.or.jp/news/" TargetMode="External"/><Relationship Id="rId10" Type="http://schemas.openxmlformats.org/officeDocument/2006/relationships/hyperlink" Target="https://www.nikkei.com/article/DGXZQOGN108V30Q6A810C2000000/" TargetMode="External"/><Relationship Id="rId11" Type="http://schemas.openxmlformats.org/officeDocument/2006/relationships/hyperlink" Target="https://www.jiji.com/jc/article?k=2026081000878&amp;g=int" TargetMode="External"/><Relationship Id="rId12" Type="http://schemas.openxmlformats.org/officeDocument/2006/relationships/hyperlink" Target="https://www.savethechildren.org/us/about-us/media-and-news/2026-press-releases/children-at-risk-after-earthquake-strikes-colombia" TargetMode="External"/><Relationship Id="rId13" Type="http://schemas.openxmlformats.org/officeDocument/2006/relationships/hyperlink" Target="https://www.directrelief.org/2026/08/colombia-earthquake-7-4-magnitude-direct-relief-response/" TargetMode="External"/><Relationship Id="rId14" Type="http://schemas.openxmlformats.org/officeDocument/2006/relationships/hyperlink" Target="https://www.americares.org/crisis-alerts/colombia-earthquake-august-2026/" TargetMode="External"/><Relationship Id="rId15" Type="http://schemas.openxmlformats.org/officeDocument/2006/relationships/hyperlink" Target="https://glidenumber.net/" TargetMode="External"/><Relationship Id="rId16" Type="http://schemas.openxmlformats.org/officeDocument/2006/relationships/hyperlink" Target="https://www.adrc.asia/" TargetMode="External"/><Relationship Id="rId1" Type="http://schemas.openxmlformats.org/officeDocument/2006/relationships/image" Target="../media/image-22-1.png"/><Relationship Id="rId17" Type="http://schemas.openxmlformats.org/officeDocument/2006/relationships/slideLayout" Target="../slideLayouts/slideLayout1.xml"/><Relationship Id="rId1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107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98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107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Al corte de las 17:00 COT del 10 de agosto, el Gobierno reportó 111 muertos y 87 heridos,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107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Profundidad de unos 107 km (USGS): es un sismo intraplaca dentro de la losa, no un megasismo de la interfaz entre placas.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Alerta naranja del PAGER (USGS): mortalidad estimada del orden de 300 personas y pérdidas económicas estimadas del orden de 880 millones de dólares (estimaciones de modelo, no observaciones).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1050" dirty="0"/>
          </a:p>
          <a:p>
            <a:pPr algn="l" marL="342900" indent="-342900">
              <a:buSzPct val="100000"/>
              <a:buChar char="•"/>
            </a:pPr>
            <a:r>
              <a:rPr lang="en-US" sz="10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107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10 de agosto de 2026, 17:00 COT (11 de agosto, 07:00 JST), unas 9,5 horas después del sismo. Todas las cifras son preliminares.</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Mww 7.4; epicentro 5 km al E de San José del Palmar (Chocó), profundidad de unos 107 km. Sentido en Bogotá, Cali y Medellín, y también en Ecuador, Panamá y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107 km de profundidad deja a todas las ciudades de la región a una distancia hipocentral parecida (108-200 km), de modo que ninguna queda dentro de una franja estrecha de sacudimiento extremo.</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 / 102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55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166 / 35 / 147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70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235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E de San José del Palmar, departamento del Chocó (unos 280 km al O de Bogotá) — SGC: a 20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4.9031 N, 76.1885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107 km (USGS)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(probables víctimas y daños significativos).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(USGS). Unos 10,5 millones de personas experimentaron un sacudimiento fuerte o muy fuerte (MMI VI-VII) y se estima que 34 millones de personas en cuatro países sintieron el sismo. Son estimaciones de modelo.</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El USGS y el SGC coinciden en el tamaño; el primer boletín del SGC dio M6.6 a 79 km antes de la revisión. Las dos localizaciones difieren unos 20 km y sus profundidades unos 11 km, lo normal en un sismo de profundidad intermedia registrado por redes distintas. Las distancias epicentrales de este informe se miden desde la localización del USGS. El evento SGC2026pqqmro fue localizado con 69 estaciones; el SGC advierte que sus boletines están sujetos a cambios mientras avanza la revisión.</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235 km del epicentro, en una baja. El patrón alargado a lo largo de los valles, en lugar de un círculo compacto alrededor del epicentro, es la firma de una fuente a 96-107 km de profundidad combinada con sedimentos blandos de valle.</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Mayor réplica en el boletín del SGC;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segunda réplica listada en el boletín del 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17:00)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prensa reportó más de 20 réplicas durante el día; el boletín del SGC listaba dos al momento de redactar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Prensa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100" dirty="0">
                <a:solidFill>
                  <a:srgbClr val="222222"/>
                </a:solidFill>
                <a:latin typeface="Calibri" pitchFamily="34" charset="0"/>
                <a:ea typeface="Calibri" pitchFamily="34" charset="-122"/>
                <a:cs typeface="Calibri" pitchFamily="34" charset="-120"/>
              </a:rPr>
              <a:t>El boletín del evento SGC2026pqqmro listó dos réplicas, de M2.8 y M4.8, esta última ampliamente sentida; la prensa reportó más de 20 durante el día. Las secuencias de réplicas de los sismos intraplaca de profundidad intermedia suelen ser menos productivas que las de los sismos corticales someros, pero siguen siendo posibles réplicas fuertes y las edificaciones ya averiadas son especialmente vulnerables a ellas.</a:t>
            </a:r>
            <a:endParaRPr lang="en-US" sz="110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Implicación operativa
</a:t>
            </a:r>
            <a:pPr algn="l" indent="0" marL="0">
              <a:buNone/>
            </a:pPr>
            <a:r>
              <a:rPr lang="en-US" sz="950" dirty="0">
                <a:solidFill>
                  <a:srgbClr val="7A2E0E"/>
                </a:solidFill>
                <a:latin typeface="Calibri" pitchFamily="34" charset="0"/>
                <a:ea typeface="Calibri" pitchFamily="34" charset="-122"/>
                <a:cs typeface="Calibri" pitchFamily="34" charset="-120"/>
              </a:rPr>
              <a:t>Las edificaciones que sobrevivieron al sismo principal en estado averiado han perdido capacidad. Incluso réplicas moderadas pueden derribarlas, de modo que la evaluación rápida de habitabilidad antes de volver a ocuparlas —y mantener a la gente fuera de las estructuras visiblemente averiadas— importa tanto como las estadísticas de réplicas.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Edificaciones afectadas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más de 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El gobernador cita al menos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Departamento epicentral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y luego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Las cifras departamentales provienen de autoridades locales y se reportan en momentos distintos; todavía no suman el total nacional de 111 y se conciliarán a medida que avance la verificación.</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muertos, heridos y edificios colapsados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 UNGRD, tarde del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 UNGRD, tarde del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 atrapados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cuantificar; se reportaron personas atrapadas entre escombros en Cali, Pereira y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Autoridades locales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Edificaciones afectadas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en el país; en Cali entre 25 y 30 en 12 puntos críticos; en Manizales 17 colapsados y 19 con colapso parcial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alcaldías de Cali y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con daños;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con daños; colegios evacuados en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vías y carreteras principales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1300" dirty="0"/>
          </a:p>
          <a:p>
            <a:pPr algn="l" marL="342900" indent="-342900">
              <a:buSzPct val="100000"/>
              <a:buChar char="•"/>
            </a:pPr>
            <a:r>
              <a:rPr lang="en-US" sz="13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Presidenta de México ofreció «todo el apoyo que se requiera»; varios gobiernos latinoamericanos ofrecieron rescatistas, unidades caninas y ayuda humanitaria, que se canalizarán a través de la Cancillería de Colombia y la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Al momento de redactar este informe no se identificó ningún anuncio del Gobierno de Japón (mensaje de condolencias, cooperación financiera no reembolsable de emergencia o envío del Equipo Japonés de Socorro en Casos de Desastre).</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Canalización
</a:t>
            </a:r>
            <a:pPr algn="l" indent="0" marL="0">
              <a:buNone/>
            </a:pPr>
            <a:r>
              <a:rPr lang="en-US" sz="950" dirty="0">
                <a:solidFill>
                  <a:srgbClr val="7A2E0E"/>
                </a:solidFill>
                <a:latin typeface="Calibri" pitchFamily="34" charset="0"/>
                <a:ea typeface="Calibri" pitchFamily="34" charset="-122"/>
                <a:cs typeface="Calibri" pitchFamily="34" charset="-120"/>
              </a:rPr>
              <a:t>Los ofrecimientos de ayuda se canalizan a través de la Cancillería de Colombia junto con la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PNGRD 2015-2030: el plan nacional de gestión del riesgo de desastres, alineado con el Marco de Sendái.</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15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OCDE: análisis de gobernanza del riesgo de Colombia</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107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1906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Ecuador-Colombia (costa del Pacífico)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1979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Tumaco (Nariño)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M8.1</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1983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Popayán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M5.5</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Páez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del Chocó</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M6.6</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Armenia (Quindío)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M6.1-6.2</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2026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del Chocó (este evento)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M7.4</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Una fuente profunda con consecuencias de sismo somero. A 107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Las cifras aumentarán y no serán coherentes entre sí durante algún tiempo. Los muertos por departamento anunciados por gobernadores y alcaldes todavía no suman el total nacional, y los conteos de daños en edificaciones reflejan reportes de primera mirada, no evaluaciones de daños. Los aumentos rápidos de los próximos días deben leerse como avance de la evaluación y no necesariamente como agravamiento de la situación.</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Riesgo de réplicas para las edificaciones averiadas. Se espera que la secuencia de réplicas intraplaca sea moderada, pero las estructuras averiadas han perdido capacidad; la inspección estructural rápida (evaluación de habitabilidad) antes de volver a ocuparlas es la prioridad inmediata, junto con la búsqueda y el rescate.</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12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10 de agosto de 2026, 17:00 COT (11 de agosto, 07:00 JST), unas 9,5 horas después del sismo. Todas las cifras son preliminares.</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2026-08-11T00:27:33Z</dcterms:created>
  <dcterms:modified xsi:type="dcterms:W3CDTF">2026-08-11T00:27:33Z</dcterms:modified>
</cp:coreProperties>
</file>