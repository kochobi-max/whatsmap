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85</c:v>
                </c:pt>
                <c:pt idx="1">
                  <c:v>66</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www.elespectador.com/colombia/mas-regiones/temblor-en-colombia-hoy-10-de-agosto-en-vivo-epicentro-y-reporte-de-afectaciones/"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3" Type="http://schemas.openxmlformats.org/officeDocument/2006/relationships/hyperlink" Target="https://catalogosismico.sgc.gov.co/visor/index.html" TargetMode="External"/><Relationship Id="rId1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5" Type="http://schemas.openxmlformats.org/officeDocument/2006/relationships/hyperlink" Target="https://www.elespectador.com/colombia/mas-regiones/temblor-en-colombia-hoy-10-de-agosto-en-vivo-epicentro-y-reporte-de-afectaciones/" TargetMode="External"/><Relationship Id="rId1" Type="http://schemas.openxmlformats.org/officeDocument/2006/relationships/image" Target="../media/image-26-1.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13:00（現地）の政府集計は死者111人・負傷者87人。同日夕方にAsocapitalesが全国で死者132人・負傷者570人超と発表し、11日には大統領が負傷者700人、カリ市長は同市だけで死者85人・負傷者885人と報告した。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11日03:00（コロンビア時間、日本時間17:00）現在、発災から約20時間後。全国の集計値は死者132人（Asocapitales、8月10日夕方）が最新だが、8月11日の都市別報告はすでにこれを上回っており、カリだけで85人、ペレイラで66人となっている。すべて速報値であり、なお増加中であ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対応の時系列（8月10〜11日）（1/2）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対応の時系列（8月10〜11日）（2/2）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るが、この段階で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13:18:10 UTC (08:18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mb 5.0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us6000tjm4（精査済み）：サンホセ・デル・パルマルの西16km、深さ98.5km。本震の44分後で、深さも本震とほぼ同じ。他機関は同一地震について5.0〜5.7を報告。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15:01 UTC (10:01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地域機関のIGC（M4.7）とINET（M4.3）が報告。USGSのM2.5以上のカタログには含まれていない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(SGC bulletin)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 / 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SGCの速報に掲載された2回の余震。M4.8は広く有感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22:00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報道は日中に20回以上の余震があったと伝えている。公式の集計値は未公表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28416"/>
            <a:ext cx="11430000" cy="822960"/>
          </a:xfrm>
          <a:prstGeom prst="rect">
            <a:avLst/>
          </a:prstGeom>
          <a:noFill/>
          <a:ln/>
        </p:spPr>
        <p:txBody>
          <a:bodyPr wrap="square" lIns="50800" tIns="50800" rIns="50800" bIns="50800" rtlCol="0" anchor="t"/>
          <a:lstStyle/>
          <a:p>
            <a:pPr indent="0" marL="0">
              <a:buNone/>
            </a:pPr>
            <a:r>
              <a:rPr lang="en-US" sz="900" dirty="0">
                <a:solidFill>
                  <a:srgbClr val="222222"/>
                </a:solidFill>
                <a:latin typeface="Meiryo" pitchFamily="34" charset="0"/>
                <a:ea typeface="Meiryo" pitchFamily="34" charset="-122"/>
                <a:cs typeface="Meiryo" pitchFamily="34" charset="-120"/>
              </a:rPr>
              <a:t>USGSのFDSNサービス、EMSCのSeismicPortal、SGCの公開照会ツールという三つの独立したカタログのいずれも、当該地域について同じ2件——本震と、その44分後のmb5.0の余震——しか返さない。SGCの速報はM4.8とM2.8を加え、報道は日中に20回以上と伝えているが、これら小規模の地震は公開データからは取得できない。世界カタログの検知下限を下回るうえ、SGCの精査済みカタログは2018年2月28日で終わっているためである。大きな余震が少ない経過は、やや深発のスラブ内地震として想定される挙動である。ただし捜索救助の最中のM5級は、本震で既に弱った構造物を倒壊させるには十分である。</a:t>
            </a:r>
            <a:endParaRPr lang="en-US" sz="900" dirty="0"/>
          </a:p>
        </p:txBody>
      </p:sp>
      <p:sp>
        <p:nvSpPr>
          <p:cNvPr id="6" name="Shape 2"/>
          <p:cNvSpPr/>
          <p:nvPr/>
        </p:nvSpPr>
        <p:spPr>
          <a:xfrm>
            <a:off x="365760" y="4169664"/>
            <a:ext cx="11430000" cy="969264"/>
          </a:xfrm>
          <a:prstGeom prst="roundRect">
            <a:avLst>
              <a:gd name="adj" fmla="val 4717"/>
            </a:avLst>
          </a:prstGeom>
          <a:solidFill>
            <a:srgbClr val="FCE9DC"/>
          </a:solidFill>
          <a:ln w="12700">
            <a:solidFill>
              <a:srgbClr val="E8A317"/>
            </a:solidFill>
            <a:prstDash val="solid"/>
          </a:ln>
        </p:spPr>
      </p:sp>
      <p:sp>
        <p:nvSpPr>
          <p:cNvPr id="7" name="Text 3"/>
          <p:cNvSpPr/>
          <p:nvPr/>
        </p:nvSpPr>
        <p:spPr>
          <a:xfrm>
            <a:off x="530352" y="4224528"/>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8" name="Shape 4"/>
          <p:cNvSpPr/>
          <p:nvPr/>
        </p:nvSpPr>
        <p:spPr>
          <a:xfrm>
            <a:off x="365760" y="5212080"/>
            <a:ext cx="11430000" cy="731520"/>
          </a:xfrm>
          <a:prstGeom prst="roundRect">
            <a:avLst>
              <a:gd name="adj" fmla="val 6250"/>
            </a:avLst>
          </a:prstGeom>
          <a:solidFill>
            <a:srgbClr val="FCE9DC"/>
          </a:solidFill>
          <a:ln w="12700">
            <a:solidFill>
              <a:srgbClr val="E8A317"/>
            </a:solidFill>
            <a:prstDash val="solid"/>
          </a:ln>
        </p:spPr>
      </p:sp>
      <p:sp>
        <p:nvSpPr>
          <p:cNvPr id="9" name="Text 5"/>
          <p:cNvSpPr/>
          <p:nvPr/>
        </p:nvSpPr>
        <p:spPr>
          <a:xfrm>
            <a:off x="530352" y="5266944"/>
            <a:ext cx="11100816" cy="62179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10" name="Text 6"/>
          <p:cNvSpPr/>
          <p:nvPr/>
        </p:nvSpPr>
        <p:spPr>
          <a:xfrm>
            <a:off x="365760" y="5980176"/>
            <a:ext cx="11430000" cy="25603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データの入手状況（2026年8月11日確認）：USGSのFDSNイベントサービス（範囲 北緯3〜7度・西経78〜74.5度、発震時刻以降。本リポジトリのquery.csv）とEMSCのSeismicPortal FDSNは、M2.5以上でもM2以上でも同じ2件しか返さない。SGCのカタログ閲覧画面と専門家向け照会フォームは精査済みの歴史カタログ（1993年6月1日〜2018年2月28日）のみを提供しており、2026年については何も返さない。公開された時系列が存在しないため時系列図は作成していない。この「疎さ」自体が知見である。</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SeismicPortal 地震速報・FDSNイベントサービス</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700</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住宅被害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約5,000棟</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死者は全国の最新集計値（Asocapitales、8月10日夕方）。負傷者は大統領（8月11日）。住宅は損壊・全壊 約5,000棟（大統領、8月11日）。8月11日の都市別報告では、死者はすでに全国値を上回っている。</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85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カリ市長（8月11日）。負傷885人、行方不明188人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ペレイラ消防（8月11日）。8月10日は60人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大統領の発表値。うちキブド8人、同市では学校の下に子ども4人が不明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行方不明は約100人と報告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これらは8月11日に地元当局と大統領府が異なる時点で公表した都市・県別の数値である。合計は169人となり、全国の最新集計値132人（Asocapitales、8月10日夕方）を上回る。全国値がその後更新されていないためである。県別の値をより新しい数値、全国値を最後に検証された数値として読むべきであり、確認の進展に伴い差は解消される見込み。</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全国で132人（Asocapitales、8月10日夕方。うち87人は県都）。8月11日の都市別報告はすでにこの合計を超えており、カリ85人、ペレイラ66人。政府の8月10日13:00の集計は111人。全国値の再集計は未公表。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Asocapitales、カリ市長、ペレイラ消防、13:00の値は大統領府／UNGRD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全国で700人（大統領、8月11日）。8月10日は570人超（Asocapitales）、政府13:00の集計では87人だった。カリだけで885人。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大統領府、Asocapitales、カリ市長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カリで188人、マニサレスで約100人が行方不明。キブドでは倒壊した学校の下に子ども4人。大統領は行方不明者の捜索を国の最優先と表明。捜索は夜通し継続し、カリでは228人の救助隊と救助犬が活動。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地元当局・大統領府（報道、8月11日）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住宅約5,000棟が損壊または全壊（大統領、8月11日）。8月10日の1,612棟から上方修正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うち損壊（8月10日集計）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うち全壊（8月10日集計）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全国で80棟超（8月11日）。8月10日の61棟から増加。カリは12か所の重要地点で25〜30棟、マニサレスは倒壊17棟・部分倒壊19棟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報道（8月11日）、UNGRD、カリ市長・マニサレス市長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6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860" dirty="0"/>
          </a:p>
          <a:p>
            <a:pPr algn="l" marL="342900" indent="-342900">
              <a:buSzPct val="100000"/>
              <a:buChar char="•"/>
            </a:pPr>
            <a:r>
              <a:rPr lang="en-US" sz="86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860" dirty="0"/>
          </a:p>
          <a:p>
            <a:pPr algn="l" marL="342900" indent="-342900">
              <a:buSzPct val="100000"/>
              <a:buChar char="•"/>
            </a:pPr>
            <a:r>
              <a:rPr lang="en-US" sz="86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数値は想定どおり動いており、いまや全国値が本報告で最も更新の遅い数字になっている。政府の8月10日13:00の集計から11日朝までに、死者は111人から集計値132人へ、一方で都市別報告はそれを追い越した（カリ85人、ペレイラ66人、合計169人）。負傷者は87人から570人超、さらに700人へ増え、カリだけで885人。住宅被害は1,612棟から約5,000棟になった。今後数日の急増は、事態の悪化というより調査が未到達地域に届いた結果として読むべきである。全国の集計値は都市別の値に半日程度遅れると見込まれる。</a:t>
            </a:r>
            <a:endParaRPr lang="en-US" sz="860" dirty="0"/>
          </a:p>
          <a:p>
            <a:pPr algn="l" marL="342900" indent="-342900">
              <a:buSzPct val="100000"/>
              <a:buChar char="•"/>
            </a:pPr>
            <a:r>
              <a:rPr lang="en-US" sz="86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860" dirty="0"/>
          </a:p>
          <a:p>
            <a:pPr algn="l" marL="342900" indent="-342900">
              <a:buSzPct val="100000"/>
              <a:buChar char="•"/>
            </a:pPr>
            <a:r>
              <a:rPr lang="en-US" sz="86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860" dirty="0"/>
          </a:p>
          <a:p>
            <a:pPr algn="l" marL="342900" indent="-342900">
              <a:buSzPct val="100000"/>
              <a:buChar char="•"/>
            </a:pPr>
            <a:r>
              <a:rPr lang="en-US" sz="86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860" dirty="0"/>
          </a:p>
          <a:p>
            <a:pPr algn="l" marL="342900" indent="-342900">
              <a:buSzPct val="100000"/>
              <a:buChar char="•"/>
            </a:pPr>
            <a:r>
              <a:rPr lang="en-US" sz="86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96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86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11日03:00（コロンビア時間、日本時間17:00）現在、発災から約20時間後。全国の集計値は死者132人（Asocapitales、8月10日夕方）が最新だが、8月11日の都市別報告はすでにこれを上回っており、カリだけで85人、ペレイラで66人となっている。すべて速報値であり、なお増加中であ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2026-08-11T08:49:22Z</dcterms:created>
  <dcterms:modified xsi:type="dcterms:W3CDTF">2026-08-11T08:49:22Z</dcterms:modified>
</cp:coreProperties>
</file>