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MMI VII</c:v>
                  </c:pt>
                  <c:pt idx="1">
                    <c:v>MMI VI</c:v>
                  </c:pt>
                  <c:pt idx="2">
                    <c:v>MMI V</c:v>
                  </c:pt>
                </c:lvl>
              </c:multiLvlStrCache>
            </c:multiLvlStrRef>
          </c:cat>
          <c:val>
            <c:numRef>
              <c:f>Sheet1!$B$2:$B$4</c:f>
              <c:numCache>
                <c:formatCode>General</c:formatCode>
                <c:ptCount val="3"/>
                <c:pt idx="0">
                  <c:v>1.3</c:v>
                </c:pt>
                <c:pt idx="1">
                  <c:v>9.2</c:v>
                </c:pt>
                <c:pt idx="2">
                  <c:v>24</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リサラルダ県（ペレイラ）</c:v>
                  </c:pt>
                  <c:pt idx="1">
                    <c:v>バジェ・デル・カウカ県（カリ）</c:v>
                  </c:pt>
                  <c:pt idx="2">
                    <c:v>チョコ県</c:v>
                  </c:pt>
                  <c:pt idx="3">
                    <c:v>カルダス県（マニサレス）</c:v>
                  </c:pt>
                  <c:pt idx="4">
                    <c:v>アンティオキア県</c:v>
                  </c:pt>
                </c:lvl>
              </c:multiLvlStrCache>
            </c:multiLvlStrRef>
          </c:cat>
          <c:val>
            <c:numRef>
              <c:f>Sheet1!$B$2:$B$6</c:f>
              <c:numCache>
                <c:formatCode>General</c:formatCode>
                <c:ptCount val="5"/>
                <c:pt idx="0">
                  <c:v>40</c:v>
                </c:pt>
                <c:pt idx="1">
                  <c:v>27</c:v>
                </c:pt>
                <c:pt idx="2">
                  <c:v>9</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 TargetMode="External"/><Relationship Id="rId7" Type="http://schemas.openxmlformats.org/officeDocument/2006/relationships/hyperlink" Target="https://portal.gestiondelriesgo.gov.co/"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www.sgc.gov.co/"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6" Type="http://schemas.openxmlformats.org/officeDocument/2006/relationships/hyperlink" Target="https://www.infobae.com/colombia/2026/08/10/por-que-el-temblor-en-colombia-de-este-lunes-10-de-agosto-duro-una-eternidad-el-servicio-geologico-explico-que-paso/"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9-1.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1-1.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emergency.copernicus.eu/mapping/list-of-activations-rapid" TargetMode="External"/><Relationship Id="rId4" Type="http://schemas.openxmlformats.org/officeDocument/2006/relationships/hyperlink" Target="https://reliefweb.int/country/col"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emergency.copernicus.eu/mapping/list-of-activations-rapid"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preventionweb.net/publication/colombia-plan-nacional-de-gestion-del-riesgo-de-desastres-pngrd-2015-2030" TargetMode="External"/><Relationship Id="rId4" Type="http://schemas.openxmlformats.org/officeDocument/2006/relationships/hyperlink" Target="https://www.globalquakemodel.org/seismic-regulations/colombia" TargetMode="External"/><Relationship Id="rId5" Type="http://schemas.openxmlformats.org/officeDocument/2006/relationships/hyperlink" Target="https://www.oecd.org/en/publications/risk-governance-scan-of-colombia_eeb81954-en.html" TargetMode="External"/><Relationship Id="rId1" Type="http://schemas.openxmlformats.org/officeDocument/2006/relationships/image" Target="../media/image-15-1.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6-1.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globalquakemodel.org/seismic-regulations/colombia"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portal.gestiondelriesgo.gov.co/" TargetMode="External"/><Relationship Id="rId5" Type="http://schemas.openxmlformats.org/officeDocument/2006/relationships/hyperlink" Target="https://gdacs.org/report.aspx?eventid=1557236&amp;eventtype=EQ" TargetMode="External"/><Relationship Id="rId6" Type="http://schemas.openxmlformats.org/officeDocument/2006/relationships/hyperlink" Target="https://disasterscharter.org/activations" TargetMode="External"/><Relationship Id="rId7" Type="http://schemas.openxmlformats.org/officeDocument/2006/relationships/hyperlink" Target="https://emergency.copernicus.eu/mapping/list-of-activations-rapid" TargetMode="External"/><Relationship Id="rId8" Type="http://schemas.openxmlformats.org/officeDocument/2006/relationships/hyperlink" Target="https://reliefweb.int/country/col" TargetMode="External"/><Relationship Id="rId9" Type="http://schemas.openxmlformats.org/officeDocument/2006/relationships/hyperlink" Target="https://www.paho.org/en/colombia" TargetMode="External"/><Relationship Id="rId10" Type="http://schemas.openxmlformats.org/officeDocument/2006/relationships/hyperlink" Target="https://www.preventionweb.net/publication/colombia-plan-nacional-de-gestion-del-riesgo-de-desastres-pngrd-2015-2030" TargetMode="External"/><Relationship Id="rId11" Type="http://schemas.openxmlformats.org/officeDocument/2006/relationships/hyperlink" Target="https://www.globalquakemodel.org/seismic-regulations/colombia" TargetMode="External"/><Relationship Id="rId12" Type="http://schemas.openxmlformats.org/officeDocument/2006/relationships/hyperlink" Target="https://un-spider.org/national-unit-disaster-risk-management-ungrd-colombia" TargetMode="External"/><Relationship Id="rId13" Type="http://schemas.openxmlformats.org/officeDocument/2006/relationships/hyperlink" Target="https://www.oecd.org/en/publications/risk-governance-scan-of-colombia_eeb81954-en.html"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france24.com/en/americas/20260810-powerful-quake-rocks-colombia-causing-major-damage" TargetMode="External"/><Relationship Id="rId16" Type="http://schemas.openxmlformats.org/officeDocument/2006/relationships/hyperlink" Target="https://www.aljazeera.com/news/2026/8/10/7-4-magnitude-earthquake-hits-colombia-killing-at-least-20" TargetMode="External"/><Relationship Id="rId1" Type="http://schemas.openxmlformats.org/officeDocument/2006/relationships/image" Target="../media/image-19-1.png"/><Relationship Id="rId17" Type="http://schemas.openxmlformats.org/officeDocument/2006/relationships/slideLayout" Target="../slideLayouts/slideLayout1.xml"/><Relationship Id="rId1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cbsnews.com/news/colombia-earthquake-western-region-evacuations/" TargetMode="External"/><Relationship Id="rId3" Type="http://schemas.openxmlformats.org/officeDocument/2006/relationships/hyperlink" Target="https://www.nbcnews.com/world/latin-america/strong-earthquake-colombia-ecuador-people-evacuating-homes-buildings-rcna591709"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colombiaone.com/2026/08/10/colombia-national-disaster/" TargetMode="External"/><Relationship Id="rId6" Type="http://schemas.openxmlformats.org/officeDocument/2006/relationships/hyperlink" Target="https://www.infobae.com/colombia/2026/08/10/por-que-el-temblor-en-colombia-de-este-lunes-10-de-agosto-duro-una-eternidad-el-servicio-geologico-explico-que-paso/" TargetMode="External"/><Relationship Id="rId7" Type="http://schemas.openxmlformats.org/officeDocument/2006/relationships/hyperlink" Target="https://www3.nhk.or.jp/news/" TargetMode="External"/><Relationship Id="rId8" Type="http://schemas.openxmlformats.org/officeDocument/2006/relationships/hyperlink" Target="https://www.nikkei.com/article/DGXZQOGN108V30Q6A810C2000000/" TargetMode="External"/><Relationship Id="rId9" Type="http://schemas.openxmlformats.org/officeDocument/2006/relationships/hyperlink" Target="https://www.jiji.com/jc/article?k=2026081000878&amp;g=int" TargetMode="External"/><Relationship Id="rId10" Type="http://schemas.openxmlformats.org/officeDocument/2006/relationships/hyperlink" Target="https://www.savethechildren.org/us/about-us/media-and-news/2026-press-releases/children-at-risk-after-earthquake-strikes-colombia" TargetMode="External"/><Relationship Id="rId11" Type="http://schemas.openxmlformats.org/officeDocument/2006/relationships/hyperlink" Target="https://www.directrelief.org/2026/08/colombia-earthquake-7-4-magnitude-direct-relief-response/" TargetMode="External"/><Relationship Id="rId12" Type="http://schemas.openxmlformats.org/officeDocument/2006/relationships/hyperlink" Target="https://www.americares.org/crisis-alerts/colombia-earthquake-august-2026/" TargetMode="External"/><Relationship Id="rId13" Type="http://schemas.openxmlformats.org/officeDocument/2006/relationships/hyperlink" Target="https://glidenumber.net/" TargetMode="External"/><Relationship Id="rId14" Type="http://schemas.openxmlformats.org/officeDocument/2006/relationships/hyperlink" Target="https://www.adrc.asia/" TargetMode="External"/><Relationship Id="rId1" Type="http://schemas.openxmlformats.org/officeDocument/2006/relationships/image" Target="../media/image-20-1.png"/><Relationship Id="rId15" Type="http://schemas.openxmlformats.org/officeDocument/2006/relationships/slideLayout" Target="../slideLayouts/slideLayout1.xml"/><Relationship Id="rId1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1-1.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107 km   ·   改正メルカリ震度 MMI VII（非常に強い）／USGS ShakeMap   ·   GLIDE EQ-2026-XXXXXX-COL (TBC)</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ja.png">    </p:cNvPr>
          <p:cNvPicPr>
            <a:picLocks noChangeAspect="1"/>
          </p:cNvPicPr>
          <p:nvPr/>
        </p:nvPicPr>
        <p:blipFill>
          <a:blip r:embed="rId2"/>
          <a:stretch>
            <a:fillRect/>
          </a:stretch>
        </p:blipFill>
        <p:spPr>
          <a:xfrm>
            <a:off x="402336" y="2321025"/>
            <a:ext cx="3639312" cy="1722174"/>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ja.png">    </p:cNvPr>
          <p:cNvPicPr>
            <a:picLocks noChangeAspect="1"/>
          </p:cNvPicPr>
          <p:nvPr/>
        </p:nvPicPr>
        <p:blipFill>
          <a:blip r:embed="rId3"/>
          <a:stretch>
            <a:fillRect/>
          </a:stretch>
        </p:blipFill>
        <p:spPr>
          <a:xfrm>
            <a:off x="4819327" y="1975104"/>
            <a:ext cx="2742322"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ja.png">    </p:cNvPr>
          <p:cNvPicPr>
            <a:picLocks noChangeAspect="1"/>
          </p:cNvPicPr>
          <p:nvPr/>
        </p:nvPicPr>
        <p:blipFill>
          <a:blip r:embed="rId4"/>
          <a:stretch>
            <a:fillRect/>
          </a:stretch>
        </p:blipFill>
        <p:spPr>
          <a:xfrm>
            <a:off x="8576552" y="1975104"/>
            <a:ext cx="3164864" cy="2414016"/>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ベースマップ：Natural Earth（110m）。距離は公表座標から計算。図は模式図であり公式のハザードマップではない。</a:t>
            </a:r>
            <a:endParaRPr lang="en-US" sz="750" dirty="0"/>
          </a:p>
        </p:txBody>
      </p:sp>
      <p:sp>
        <p:nvSpPr>
          <p:cNvPr id="18" name="Shape 12"/>
          <p:cNvSpPr/>
          <p:nvPr/>
        </p:nvSpPr>
        <p:spPr>
          <a:xfrm>
            <a:off x="0" y="4791456"/>
            <a:ext cx="12188952" cy="1371600"/>
          </a:xfrm>
          <a:prstGeom prst="rect">
            <a:avLst/>
          </a:prstGeom>
          <a:solidFill>
            <a:srgbClr val="262626"/>
          </a:solidFill>
          <a:ln w="12700">
            <a:solidFill>
              <a:srgbClr val="333333"/>
            </a:solidFill>
            <a:prstDash val="solid"/>
          </a:ln>
        </p:spPr>
      </p:sp>
      <p:sp>
        <p:nvSpPr>
          <p:cNvPr id="19" name="Text 13"/>
          <p:cNvSpPr/>
          <p:nvPr/>
        </p:nvSpPr>
        <p:spPr>
          <a:xfrm>
            <a:off x="457200" y="4873752"/>
            <a:ext cx="11274552" cy="1207008"/>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UTC）、コロンビア西部チョコ県サンホセ・デル・パルマルの東5kmを震源とするMww7.4の地震が発生した。深さは約107km（USGS）で、沈み込むナスカプレート内部のやや深発・横ずれ型。深いために強い揺れ（MMI VI〜VII）はコーヒー地帯を含む広範囲に及び、約1,050万人が強い揺れにさらされた。SGCは過去10年でコロンビア最大規模の地震としている。8月10日17:00（現地）時点で政府は死者111人・負傷者87人、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685800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107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1000" dirty="0"/>
          </a:p>
        </p:txBody>
      </p:sp>
      <p:sp>
        <p:nvSpPr>
          <p:cNvPr id="7" name="Text 3"/>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深さ約107km（USGS）。プレート境界の巨大地震ではなくスラブ内地震。</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USGS PAGERはオレンジ警報。推定死者は300人規模、推定経済損失は約8.8億米ドル（いずれもモデル推計であり実測値ではない）。</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1050" dirty="0"/>
          </a:p>
          <a:p>
            <a:pPr algn="l" marL="342900" indent="-342900">
              <a:buSzPct val="100000"/>
              <a:buChar char="•"/>
            </a:pPr>
            <a:r>
              <a:rPr lang="en-US" sz="10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69264"/>
            <a:ext cx="11430000" cy="329184"/>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10 Aug 2026, 07:34 COT (UTC-5)  (10 Aug 2026, 12:34 UTC / 10 Aug 2026, 21:34 JST)    |    Mww 7.4    |    深さ 107 km    |    改正メルカリ震度 MMI VII（非常に強い）／USGS ShakeMap</a:t>
            </a:r>
            <a:endParaRPr lang="en-US" sz="1150" dirty="0"/>
          </a:p>
        </p:txBody>
      </p:sp>
      <p:sp>
        <p:nvSpPr>
          <p:cNvPr id="5" name="Text 2"/>
          <p:cNvSpPr/>
          <p:nvPr/>
        </p:nvSpPr>
        <p:spPr>
          <a:xfrm>
            <a:off x="365760" y="1280160"/>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数値は2026年8月10日17:00（コロンビア時間、日本時間8月11日07:00）現在、発災から約9時間半後。すべて速報値。</a:t>
            </a:r>
            <a:endParaRPr lang="en-US" sz="950" dirty="0"/>
          </a:p>
        </p:txBody>
      </p:sp>
      <p:sp>
        <p:nvSpPr>
          <p:cNvPr id="6" name="Text 3"/>
          <p:cNvSpPr/>
          <p:nvPr/>
        </p:nvSpPr>
        <p:spPr>
          <a:xfrm>
            <a:off x="365760" y="1627632"/>
            <a:ext cx="11430000" cy="4480560"/>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本稿執筆時点でGLIDE番号は確認できていない。付番され次第記載する。</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対応の時系列（8月10日）（1/2）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Mww7.4の地震発生。震央はチョコ県サンホセ・デル・パルマルの東5km、深さ約107km。ボゴタ、カリ、メデジンのほかエクアドル、パナマ、ベネズエラでも有感。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 / 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SGCが第1報を発表（当初M6.6・深さ79km、のちM7.4に修正）。被害評価のプロトコルを起動。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Morning</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Morning</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Mayor of Cali</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Morning</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Mayor of Manizales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Morning</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Aerocivil / media</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Daytime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Government</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対応の時系列（8月10日）（2/2）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Daytime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Daytime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Daytime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Presidency</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Afternoon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Presidency / 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Afternoon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International media</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Same day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国際災害チャーター（Space and Major Disasters）の発動およびコペルニクス緊急管理サービスの動員が報じられている。詳細は確認中。</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Charter / Copernicus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locator_epicentre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震源が深さ107kmであるため、域内の都市はいずれも震源距離108〜200kmとほぼ同程度になり、極端に強い揺れが特定の都市に集中しない。</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143000"/>
                <a:gridCol w="1234440"/>
                <a:gridCol w="658368"/>
                <a:gridCol w="457200"/>
                <a:gridCol w="2724912"/>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 / 102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55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166 / 35 / 147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77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70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164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235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40233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 Aug 2026, 07:34 COT (UTC-5)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 Aug 2026, 12:34 UTC  /  10 Aug 2026, 21:34 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チョコ県サンホセ・デル・パルマルの東5km（ボゴタの西約280km）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4.9031 N, 76.1885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 — USGSはMww7.4。コロンビア地質調査所（SGC）は当初M6.6・深さ79kmと発表し、その後M7.4に修正。SGCの深さは約96〜103kmとされる。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107km（USGS）、約96〜103km（SGC）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PAGER：オレンジ（相当数の人的被害・経済被害の可能性）。GDACS：オレンジ。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EQ-2026-XXXXXX-COL (TBC)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PAGERによる曝露推計。約1,050万人がMMI VI〜VII（強い〜非常に強い）の揺れを経験し、4か国で推計3,400万人が有感とされる。いずれもモデル推計値。</a:t>
            </a:r>
            <a:endParaRPr lang="en-US" sz="750" dirty="0"/>
          </a:p>
        </p:txBody>
      </p:sp>
      <p:sp>
        <p:nvSpPr>
          <p:cNvPr id="9"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Infobae SGCによる長い揺れの解説</a:t>
            </a:r>
            <a:endParaRPr lang="en-US" sz="850" dirty="0"/>
          </a:p>
        </p:txBody>
      </p:sp>
      <p:sp>
        <p:nvSpPr>
          <p:cNvPr id="10"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2"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after 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報告された最大余震。広く有感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after 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M2.8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初期の発表でM4.8とともに報告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(to 17:00)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20+ events</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SGCが記録した余震の累計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017520"/>
            <a:ext cx="11430000" cy="137160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SGCは本震後の数時間で20回以上の余震を観測したと発表。最大の有感余震はM4.8で、M2.8も報告されている。やや深発のスラブ内地震の余震活動は浅い内陸地震に比べて一般に低調だが、強い余震の可能性は残り、既に損傷した建物は特に脆弱である。</a:t>
            </a:r>
            <a:endParaRPr lang="en-US" sz="1050" dirty="0"/>
          </a:p>
        </p:txBody>
      </p:sp>
      <p:sp>
        <p:nvSpPr>
          <p:cNvPr id="6" name="Shape 2"/>
          <p:cNvSpPr/>
          <p:nvPr/>
        </p:nvSpPr>
        <p:spPr>
          <a:xfrm>
            <a:off x="365760" y="4572000"/>
            <a:ext cx="11430000" cy="1463040"/>
          </a:xfrm>
          <a:prstGeom prst="roundRect">
            <a:avLst>
              <a:gd name="adj" fmla="val 3125"/>
            </a:avLst>
          </a:prstGeom>
          <a:solidFill>
            <a:srgbClr val="FCE9DC"/>
          </a:solidFill>
          <a:ln w="12700">
            <a:solidFill>
              <a:srgbClr val="E8A317"/>
            </a:solidFill>
            <a:prstDash val="solid"/>
          </a:ln>
        </p:spPr>
      </p:sp>
      <p:sp>
        <p:nvSpPr>
          <p:cNvPr id="7" name="Text 3"/>
          <p:cNvSpPr/>
          <p:nvPr/>
        </p:nvSpPr>
        <p:spPr>
          <a:xfrm>
            <a:off x="530352" y="4626864"/>
            <a:ext cx="11100816" cy="13533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運用上の含意
</a:t>
            </a:r>
            <a:pPr algn="l" indent="0" marL="0">
              <a:buNone/>
            </a:pPr>
            <a:r>
              <a:rPr lang="en-US" sz="950" dirty="0">
                <a:solidFill>
                  <a:srgbClr val="7A2E0E"/>
                </a:solidFill>
                <a:latin typeface="Meiryo" pitchFamily="34" charset="0"/>
                <a:ea typeface="Meiryo" pitchFamily="34" charset="-122"/>
                <a:cs typeface="Meiryo" pitchFamily="34" charset="-120"/>
              </a:rPr>
              <a:t>本震で損傷したまま倒壊を免れた建物は耐力を失っている。中規模の余震でも倒壊しうるため、余震の統計そのものと同じくらい、再入居前の応急危険度判定と、損傷が明らかな建物への立入り制限が重要である。</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111</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建物被害</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1,600棟超</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40</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県知事は42人以上と発言</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27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震央のある県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当初2人、のち4人と報告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県別の数値は地元当局が異なる時点で発表したもので、現時点では国全体の111人と一致しない。確認の進展に伴い整合される見込み。</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国家非常事態宣言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ニュース</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111人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大統領府／UNGRD（8月10日午後）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87人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大統領府／UNGRD（8月10日午後）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行方不明・生き埋め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未集計。カリ、ペレイラ、マニサレスで生き埋めの報告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地元当局（報道）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1,600棟超</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1,575棟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住宅（全壊）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37棟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全国で61棟。カリは12か所の重要地点で25〜30棟、マニサレスは倒壊17棟・部分倒壊19棟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UNGRD、カリ市長・マニサレス市長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18か所が被害、7施設が閉鎖。カリの大学病院は約30%が崩落し、小児科・内科・新生児室の一部を含む3フロアが被害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UNGRD、バジェ・デル・カウカ県政府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52か所が被害。被災各県で学校から避難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17か所が被害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幹線道路18路線が被害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地方6空港が被害。ペレイラのマテカニャ国際空港旅客ターミナルが一部倒壊。ペレイラ、マニサレス、キブド、アルメニア、カルタゴ、ブエナベントゥーラで運航停止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震央周辺で停電・通信途絶の報告。体系的な数値は未公表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1300" dirty="0"/>
          </a:p>
        </p:txBody>
      </p:sp>
      <p:sp>
        <p:nvSpPr>
          <p:cNvPr id="5" name="Shape 2"/>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6" name="Text 3"/>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メキシコ大統領は「必要なすべての支援」を表明。中南米各国が救助隊・救助犬・人道支援を申し出ており、コロンビア外務省とUNGRDを通じて受け入れる。</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本地震について国際災害チャーター（Space and Major Disasters）が発動され、コペルニクス緊急管理サービスが動員されたと報じられている。被害把握用の衛星画像が提供される見込み。発動番号や成果物は確認中。</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本稿執筆時点で、日本政府による対応（お見舞い、緊急無償資金協力、国際緊急援助隊の派遣等）の発表は確認できていない。</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受け入れ窓口
</a:t>
            </a:r>
            <a:pPr algn="l" indent="0" marL="0">
              <a:buNone/>
            </a:pPr>
            <a:r>
              <a:rPr lang="en-US" sz="950" dirty="0">
                <a:solidFill>
                  <a:srgbClr val="7A2E0E"/>
                </a:solidFill>
                <a:latin typeface="Meiryo" pitchFamily="34" charset="0"/>
                <a:ea typeface="Meiryo" pitchFamily="34" charset="-122"/>
                <a:cs typeface="Meiryo" pitchFamily="34" charset="-120"/>
              </a:rPr>
              <a:t>支援の申し出は、コロンビア外務省とUNGRDを通じて受け入れることとされている。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ラピッドマッピング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Reported / confirming</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被災各県を対象にラピッドマッピングを動員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Reported / confirming</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Published</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Published</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Published</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n/a</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ラピッドマッピング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PNGRD 2015-2030 — 仙台防災枠組に整合した国家災害リスク管理計画。</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ボゴタ、メデジン、カリ、ペレイラ、マニサレス、アルメニアなど主要都市で地震動微地形区分（マイクロゾーニング）が整備されている。1999年地震の直接の教訓による。</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115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OECD コロンビアのリスクガバナンス評価</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107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822960"/>
                <a:gridCol w="3108960"/>
                <a:gridCol w="914400"/>
                <a:gridCol w="6583680"/>
              </a:tblGrid>
              <a:tr h="51206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1906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エクアドル・コロンビア地震（太平洋岸）</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M8.8</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観測史上最大級。太平洋岸に破壊的な津波</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1979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トゥマコ地震（ナリーニョ県）</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M8.1</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プレート境界型で津波を伴う。数百人が死亡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1983</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ポパヤン地震（カウカ県）</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M5.5</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1994</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パエス地震（カウカ県）</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M6.8</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1995</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チョコ地震</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M6.6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2026年と同じ県で発生したやや深発地震</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1999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アルメニア（キンディオ）地震</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M6.1-6.2</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2026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チョコ地震（本地震）</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M7.4</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365760" y="5230368"/>
            <a:ext cx="11430000" cy="877824"/>
          </a:xfrm>
          <a:prstGeom prst="roundRect">
            <a:avLst>
              <a:gd name="adj" fmla="val 5208"/>
            </a:avLst>
          </a:prstGeom>
          <a:solidFill>
            <a:srgbClr val="FCE9DC"/>
          </a:solidFill>
          <a:ln w="12700">
            <a:solidFill>
              <a:srgbClr val="E8A317"/>
            </a:solidFill>
            <a:prstDash val="solid"/>
          </a:ln>
        </p:spPr>
      </p:sp>
      <p:sp>
        <p:nvSpPr>
          <p:cNvPr id="6" name="Text 2"/>
          <p:cNvSpPr/>
          <p:nvPr/>
        </p:nvSpPr>
        <p:spPr>
          <a:xfrm>
            <a:off x="530352" y="5285232"/>
            <a:ext cx="1110081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コロンビアの耐震規定（NSR-10）</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深い震源でありながら被害は浅発地震型。深さ107kmで地表地震断層も津波も生じなかったが、少なくとも6県で建物被害が出た。被害が集中せず分散するため、ニーズ把握・ロジスティクス・捜索救助の重点配分が難しくな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数値は今後増加し、当面は相互に整合しない。県知事・市長が発表する県別死者数は国全体の値と一致しておらず、建物被害数も被害認定調査ではなく第一報の積み上げである。今後数日の急増は、事態の悪化というより調査の進展として読むべきである。</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損傷建物に対する余震リスク。スラブ内地震の余震活動は限定的とみられるが、損傷した建物は耐力を失っている。捜索救助と並行し、再入居前の応急危険度判定が当面の優先課題である。</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12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ラピッドマッピング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https://emergency.copernicus.eu/mapping/list-of-activations-rapid</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GLIDE番号（付番後に参照）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数値は2026年8月10日17:00（コロンビア時間、日本時間8月11日07:00）現在、発災から約9時間半後。すべて速報値。</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2026-08-10T22:59:09Z</dcterms:created>
  <dcterms:modified xsi:type="dcterms:W3CDTF">2026-08-10T22:59:09Z</dcterms:modified>
</cp:coreProperties>
</file>