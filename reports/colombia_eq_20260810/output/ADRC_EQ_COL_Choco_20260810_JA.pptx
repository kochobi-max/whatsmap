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5-1.png"/><Relationship Id="rId2" Type="http://schemas.openxmlformats.org/officeDocument/2006/relationships/image" Target="../media/image-15-2.jpg"/><Relationship Id="rId4" Type="http://schemas.openxmlformats.org/officeDocument/2006/relationships/image" Target="../media/image-15-3.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8-1.png"/><Relationship Id="rId2" Type="http://schemas.openxmlformats.org/officeDocument/2006/relationships/image" Target="../media/image-18-2.jp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0-1.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3-1.png"/><Relationship Id="rId2" Type="http://schemas.openxmlformats.org/officeDocument/2006/relationships/image" Target="../media/image-23-2.jp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25-1.png"/><Relationship Id="rId15" Type="http://schemas.openxmlformats.org/officeDocument/2006/relationships/slideLayout" Target="../slideLayouts/slideLayout1.xml"/><Relationship Id="rId1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26-1.png"/><Relationship Id="rId15" Type="http://schemas.openxmlformats.org/officeDocument/2006/relationships/slideLayout" Target="../slideLayouts/slideLayout1.xml"/><Relationship Id="rId1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27-1.png"/><Relationship Id="rId15" Type="http://schemas.openxmlformats.org/officeDocument/2006/relationships/slideLayout" Target="../slideLayouts/slideLayout1.xml"/><Relationship Id="rId1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 Type="http://schemas.openxmlformats.org/officeDocument/2006/relationships/image" Target="../media/image-28-1.png"/><Relationship Id="rId13" Type="http://schemas.openxmlformats.org/officeDocument/2006/relationships/slideLayout" Target="../slideLayouts/slideLayout1.xml"/><Relationship Id="rId1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9-1.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11日17:00（コロンビア時間、日本時間8月12日07:00）現在、発災から約33時間後。UNGRDの状況報告は死者182人・負傷2,542人・行方不明189人、大統領の集計は死者181人、県・市の発表を積み上げると240人となる。本報告は3つとも併記する。すべて速報値であり、なお増加中である。</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対応の時系列（8月10〜12日）（1/2）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対応の時系列（8月10〜12日）（2/2）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日本の内閣総理大臣が哀悼とお見舞いを投稿し、外務大臣メッセージが、必要とされる支援を提供する用意がある旨を表明。</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日本（外務省）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4.99 N, 76.29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110.3km（USGS、PAGER第5版）／103km（SGC、8月11日改訂）</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規模はUSGSとSGCで一致。SGCは8月11日14:20 UTCに解を改訂し、深さ103km・119観測点・208フェーズとした。改訂後の位置はUSGSと17km、深さは7kmの差であり、観測点数の増加に伴い両解は近づいた。本報告の震央距離はUSGSの震源位置から計算している。SGCの速報値は今後も変更されうる。</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っていたが、33時間後には報告値が182〜240人となり、PAGERが低いながらも相応の確率を与えていた100〜1,000人の階級に入った。この段階での乖離は通常のことであり、実測が推計に置き換わるにつれて差は縮まる。</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08:18 COT (13:18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10:01 COT (15:01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11 Aug 00:12 / 10:43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M3.6 / M3.9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to 11 Aug 17:24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147 located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SGCカタログ、本震の34時間後まで。M2.0未満60回、M2.0〜2.9が76回、M3.0〜3.9が10回、M4.0〜4.9が1回</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00" dirty="0">
                <a:solidFill>
                  <a:srgbClr val="222222"/>
                </a:solidFill>
                <a:latin typeface="Meiryo" pitchFamily="34" charset="0"/>
                <a:ea typeface="Meiryo" pitchFamily="34" charset="-122"/>
                <a:cs typeface="Meiryo" pitchFamily="34" charset="-120"/>
              </a:rPr>
              <a:t>SGCは本震後34時間で147回の地震を決定した。M4.0を超えたのは44分後のM4.8の1回のみで、92%はM3.0未満である。本震に迫る規模の余震は発生していない。147回のうち96回は深さ60km以上かつ震央から80km以内にあり、この部分がスラブ内地震の余震活動そのものである。その累積曲線はSGC公表の余震回数とよく一致する。残りは同じカタログが記録する背景地震活動であり、カタログの総数が公式の余震回数を上回るのはこのためである。規模が小さく減衰の速い余震活動は、やや深発の地震に想定される経過である。</a:t>
            </a:r>
            <a:endParaRPr lang="en-US" sz="900" dirty="0"/>
          </a:p>
        </p:txBody>
      </p:sp>
      <p:pic>
        <p:nvPicPr>
          <p:cNvPr id="6" name="Image 1" descr="/home/user/whatsmap/reports/colombia_eq_20260810/images/aftershock_counts_ja.png">    </p:cNvPr>
          <p:cNvPicPr>
            <a:picLocks noChangeAspect="1"/>
          </p:cNvPicPr>
          <p:nvPr/>
        </p:nvPicPr>
        <p:blipFill>
          <a:blip r:embed="rId2"/>
          <a:stretch>
            <a:fillRect/>
          </a:stretch>
        </p:blipFill>
        <p:spPr>
          <a:xfrm>
            <a:off x="7636974" y="3200400"/>
            <a:ext cx="3507829"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本震後にSGCが決定した147地震（ADRC作成、SGCカタログによる）</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SGCの地域カタログ抽出（2026年8月10日07:34〜11日17:24、コロンビア時間）。本震を含む148行で、各行にSGCのイベントIDと精査済み（manual）の状態が付されている。本レポート作成者から提供され、本リポジトリに images/sgc_aftershocks.csv として保持している。両パネルはこのファイルから生成しており、図は再現可能で、各地震はIDによりsgc.gov.coで確認できる。この抽出の本震の行（深さ103km、北緯4.99度・西経76.29度）は、8月11日に改訂されたSGCのイベントページと一致しており、抽出全体の妥当性の裏づけとなっている。</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SGC集計：8月11日15:00時点で余震103回</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余震99回とその規模（SGC）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182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2,542</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住宅被害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15,568棟</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UNGRD状況報告（8月11日）。同日の大統領集計は死者181人、県・市の発表を積み上げると240人。住宅は損壊13,067棟・全壊2,501棟。</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大統領（8月11日）。県は約90人と報告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キブドでは倒壊した学校の下に子ども4人が行方不明のまま</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2人、4人、5人と推移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グラフは大統領による8月11日の内訳（合計181人、うち97.6%が県都）である。同日のUNGRD状況報告は182人。県・市が個別に発表した数値を積み上げると240人となり、大統領の値より59人多い。県都以外の市町村を含み、発表時刻も異なるためである。本報告はいずれか一つを選ばず3つとも残している。引用すべきは公式の全国値、今後の推移を先取りするのが県別の積み上げ値である。　カリについても3通りの数値がある。大統領の内訳では97人、8月11日の市長発表は85人、市当局の被害報告では69人であり、この報告には集計時点が付されていない。</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UNGRD集計：死者182人・負傷2,542人・行方不明189人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大統領の181人は地方集計より59人少ない</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カリ市：市当局の被害報告</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サンティアゴ・デ・カリ市職員による。市単位の数値であり、全国集計のある時点の内訳ではない。</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死者</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Meiryo" pitchFamily="34" charset="0"/>
                <a:ea typeface="Meiryo" pitchFamily="34" charset="-122"/>
                <a:cs typeface="Meiryo"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負傷者</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生き埋め</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救出者</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Meiryo" pitchFamily="34" charset="0"/>
                <a:ea typeface="Meiryo" pitchFamily="34" charset="-122"/>
                <a:cs typeface="Meiryo" pitchFamily="34" charset="-120"/>
              </a:rPr>
              <a:t>88</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建物倒壊</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107</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構造的被害のある建物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643</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避難命令の出た建物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生き埋め</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230</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救出された人</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88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死者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負傷者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1,008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カリの他の数値との関係
</a:t>
            </a:r>
            <a:pPr algn="l" indent="0" marL="0">
              <a:buNone/>
            </a:pPr>
            <a:r>
              <a:rPr lang="en-US" sz="950" dirty="0">
                <a:solidFill>
                  <a:srgbClr val="7A2E0E"/>
                </a:solidFill>
                <a:latin typeface="Meiryo" pitchFamily="34" charset="0"/>
                <a:ea typeface="Meiryo" pitchFamily="34" charset="-122"/>
                <a:cs typeface="Meiryo" pitchFamily="34" charset="-120"/>
              </a:rPr>
              <a:t>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a:t>
            </a:r>
            <a:endParaRPr lang="en-US" sz="95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サンティアゴ・デ・カリ市職員より受領（2026年8月12日）</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182人（UNGRD状況報告、8月11日）／181人（大統領。うち97.6%が県都）／県・市の発表を積み上げると240人。政府の8月10日13:00の集計は111人。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UNGRD、大統領府、県・市政府（報道経由）</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2,542人（UNGRD、8月11日）。同日の700人、8月10日集計の87人から増加。県・Asocapitalesの部分集計では1,310人。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UNGRD、大統領府、Asocapitales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全国で189人（UNGRD、8月11日）。カリ市当局は同市で生き埋め230人・救出88人と報告。キブドでは倒壊した学校の下に子ども4人。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UNGRD、カリ市、地元当局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チョコ、リサラルダ、カルダス、バジェ・デル・カウカ、キンディオ、アンティオキアの各県で20市町村超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住宅15,568棟が被害。内訳は損壊13,067棟、全壊2,501棟（UNGRD、8月11日）。8月10日の1,612棟から増加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13,067棟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2,501棟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全国で80棟超（8月11日）。8月10日の61棟から増加。カリ市当局は同市だけで倒壊107棟、構造的被害643棟、避難命令18棟と報告。マニサレスは倒壊17棟・部分倒壊19棟。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報道（8月11日）、UNGRD、カリ市、マニサレス市</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93か所が被害（UNGRD、8月11日）。8月10日の18か所から増加。7施設が閉鎖。カリの大学病院は約30%が崩落し、小児科・内科・新生児室の一部を含む3フロアが被害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884か所が被害（UNGRD、8月11日）。8月10日の52か所から増加。被災各県で学校から避難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427か所が被害（UNGRD、8月11日）。8月10日の17か所から増加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道路77路線が被害（UNGRD、8月11日）。8月10日の18路線から増加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UNGRD（8月11日）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地方6空港が被害、7空港で運航停止。ペレイラのマテカニャ国際空港旅客ターミナルが一部倒壊。ペレイラ、マニサレス、キブド、アルメニア、カルタゴ、ブエナベントゥーラで運航停止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0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8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080" dirty="0"/>
          </a:p>
          <a:p>
            <a:pPr algn="l" marL="342900" indent="-342900">
              <a:buSzPct val="100000"/>
              <a:buChar char="•"/>
            </a:pPr>
            <a:r>
              <a:rPr lang="en-US" sz="108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180" dirty="0">
                <a:solidFill>
                  <a:srgbClr val="222222"/>
                </a:solidFill>
                <a:latin typeface="Meiryo" pitchFamily="34" charset="0"/>
                <a:ea typeface="Meiryo" pitchFamily="34" charset="-122"/>
                <a:cs typeface="Meiryo" pitchFamily="34" charset="-120"/>
              </a:rPr>
              <a:t>メキシコ大統領は「必要なすべての支援」を表明。中南米各国が救助隊・救助犬・人道支援を申し出ており、コロンビア外務省とUNGRDを通じて受け入れる。</a:t>
            </a:r>
            <a:endParaRPr lang="en-US" sz="1080" dirty="0"/>
          </a:p>
          <a:p>
            <a:pPr algn="l" marL="342900" indent="-342900">
              <a:buSzPct val="100000"/>
              <a:buChar char="•"/>
            </a:pPr>
            <a:r>
              <a:rPr lang="en-US" sz="10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80" dirty="0">
                <a:solidFill>
                  <a:srgbClr val="222222"/>
                </a:solidFill>
                <a:latin typeface="Meiryo" pitchFamily="34" charset="0"/>
                <a:ea typeface="Meiryo" pitchFamily="34" charset="-122"/>
                <a:cs typeface="Meiryo" pitchFamily="34" charset="-120"/>
              </a:rPr>
              <a:t>日本：8月11日、高市早苗内閣総理大臣が「亡くなられた方々に哀悼の誠をささげる」「この困難な時に日本はコロンビアとともにある」と投稿。外務大臣メッセージは、日本政府として必要とされる支援を提供する用意がある旨を表明した。本稿執筆時点で、国際緊急援助隊の派遣や緊急無償資金協力の決定は公表されていない。</a:t>
            </a:r>
            <a:endParaRPr lang="en-US" sz="1080" dirty="0"/>
          </a:p>
          <a:p>
            <a:pPr algn="l" marL="342900" indent="-342900">
              <a:buSzPct val="100000"/>
              <a:buChar char="•"/>
            </a:pPr>
            <a:r>
              <a:rPr lang="en-US" sz="10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8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1080" dirty="0"/>
          </a:p>
          <a:p>
            <a:pPr algn="l" marL="342900" indent="-342900">
              <a:buSzPct val="100000"/>
              <a:buChar char="•"/>
            </a:pPr>
            <a:r>
              <a:rPr lang="en-US" sz="108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18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1080" dirty="0"/>
          </a:p>
          <a:p>
            <a:pPr algn="l" marL="342900" indent="-342900">
              <a:buSzPct val="100000"/>
              <a:buChar char="•"/>
            </a:pPr>
            <a:r>
              <a:rPr lang="en-US" sz="108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18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08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受け入れ窓口
</a:t>
            </a:r>
            <a:pPr algn="l" indent="0" marL="0">
              <a:buNone/>
            </a:pPr>
            <a:r>
              <a:rPr lang="en-US" sz="950" dirty="0">
                <a:solidFill>
                  <a:srgbClr val="7A2E0E"/>
                </a:solidFill>
                <a:latin typeface="Meiryo" pitchFamily="34" charset="0"/>
                <a:ea typeface="Meiryo" pitchFamily="34" charset="-122"/>
                <a:cs typeface="Meiryo" pitchFamily="34" charset="-120"/>
              </a:rPr>
              <a:t>支援の申し出は、コロンビア外務省とUNGRDを通じて受け入れることとされている。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調査が被害に追いついた分だけ数値は膨れ上がった。33時間で、UNGRDの発表ベースでも死者は111人から182人、負傷者は87人から2,542人、住宅被害は1,612棟から15,568棟、学校被害は52か所から884か所、道路被害は18路線から77路線に増えた。この急増を引き起こす新たな出来事があったわけではなく、調査隊がそれまで到達していなかった場所に入っただけである。初期値の読み方として二つ。初日の数値は災害の規模ではなく調査の到達範囲を表すこと、そして全国値は県別値に遅れること（本件では1日で死者59人分）である。</a:t>
            </a:r>
            <a:endParaRPr lang="en-US" sz="780" dirty="0"/>
          </a:p>
          <a:p>
            <a:pPr algn="l" marL="342900" indent="-342900">
              <a:buSzPct val="100000"/>
              <a:buChar char="•"/>
            </a:pPr>
            <a:r>
              <a:rPr lang="en-US" sz="78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780" dirty="0"/>
          </a:p>
          <a:p>
            <a:pPr algn="l" marL="342900" indent="-342900">
              <a:buSzPct val="100000"/>
              <a:buChar char="•"/>
            </a:pPr>
            <a:r>
              <a:rPr lang="en-US" sz="78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780" dirty="0"/>
          </a:p>
          <a:p>
            <a:pPr algn="l" marL="342900" indent="-342900">
              <a:buSzPct val="100000"/>
              <a:buChar char="•"/>
            </a:pPr>
            <a:r>
              <a:rPr lang="en-US" sz="78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8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78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有用リンク・出典（4/4）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RPP 大統領の181人は地方集計より59人少ない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余震99回とその規模（SGC）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SGC集計：8月11日15:00時点で余震103回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 コロンビア共和国における地震について（外務大臣メッセージ）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外務省（X）8月11日の投稿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11日17:00（コロンビア時間、日本時間8月12日07:00）現在、発災から約33時間後。UNGRDの状況報告は死者182人・負傷2,542人・行方不明189人、大統領の集計は死者181人、県・市の発表を積み上げると240人となる。本報告は3つとも併記する。すべて速報値であり、なお増加中である。</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2026-08-12T00:09:03Z</dcterms:created>
  <dcterms:modified xsi:type="dcterms:W3CDTF">2026-08-12T00:09:03Z</dcterms:modified>
</cp:coreProperties>
</file>