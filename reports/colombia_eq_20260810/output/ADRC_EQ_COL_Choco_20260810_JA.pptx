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detallesismo/SGC2026pqqmro/mmi" TargetMode="External"/><Relationship Id="rId3" Type="http://schemas.openxmlformats.org/officeDocument/2006/relationships/hyperlink" Target="https://www.sgc.gov.co/detallesismo/SGC2026pqqmro/" TargetMode="External"/><Relationship Id="rId4"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7-1.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emergency.copernicus.eu/mapping/list-of-activations-rapid"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0-1.png"/><Relationship Id="rId17" Type="http://schemas.openxmlformats.org/officeDocument/2006/relationships/slideLayout" Target="../slideLayouts/slideLayout1.xml"/><Relationship Id="rId1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2-1.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107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ja.png">    </p:cNvPr>
          <p:cNvPicPr>
            <a:picLocks noChangeAspect="1"/>
          </p:cNvPicPr>
          <p:nvPr/>
        </p:nvPicPr>
        <p:blipFill>
          <a:blip r:embed="rId2"/>
          <a:stretch>
            <a:fillRect/>
          </a:stretch>
        </p:blipFill>
        <p:spPr>
          <a:xfrm>
            <a:off x="402336" y="2321025"/>
            <a:ext cx="3639312" cy="1722174"/>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ja.png">    </p:cNvPr>
          <p:cNvPicPr>
            <a:picLocks noChangeAspect="1"/>
          </p:cNvPicPr>
          <p:nvPr/>
        </p:nvPicPr>
        <p:blipFill>
          <a:blip r:embed="rId3"/>
          <a:stretch>
            <a:fillRect/>
          </a:stretch>
        </p:blipFill>
        <p:spPr>
          <a:xfrm>
            <a:off x="4819327" y="1975104"/>
            <a:ext cx="2742322"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ja.png">    </p:cNvPr>
          <p:cNvPicPr>
            <a:picLocks noChangeAspect="1"/>
          </p:cNvPicPr>
          <p:nvPr/>
        </p:nvPicPr>
        <p:blipFill>
          <a:blip r:embed="rId4"/>
          <a:stretch>
            <a:fillRect/>
          </a:stretch>
        </p:blipFill>
        <p:spPr>
          <a:xfrm>
            <a:off x="8576552" y="1975104"/>
            <a:ext cx="3164864"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ベースマップ：Natural Earth（110m）。距離は公表座標から計算。図は模式図であり公式のハザードマップではない。</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UTC）、コロンビア西部チョコ県サンホセ・デル・パルマルの東5kmを震源とするMww7.4の地震が発生した。深さは約107km（USGS）で、沈み込むナスカプレート内部のやや深発・横ずれ型。深いために強い揺れ（MMI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17:00（現地）時点で政府は死者111人・負傷者87人、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107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100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深さ約107km（USGS）。プレート境界の巨大地震ではなくスラブ内地震。</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USGS PAGERはオレンジ警報。推定死者は300人規模、推定経済損失は約8.8億米ドル（いずれもモデル推計であり実測値ではない）。</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050" dirty="0"/>
          </a:p>
          <a:p>
            <a:pPr algn="l" marL="342900" indent="-342900">
              <a:buSzPct val="100000"/>
              <a:buChar char="•"/>
            </a:pPr>
            <a:r>
              <a:rPr lang="en-US" sz="10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107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Mww7.4の地震発生。震央はチョコ県サンホセ・デル・パルマルの東5km、深さ約107km。ボゴタ、カリ、メデジンのほかエクアドル、パナマ、ベネズエラでも有感。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同日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国際災害チャーター（Space and Major Disasters）の発動およびコペルニクス緊急管理サービスの動員が報じられている。詳細は確認中。</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チャーター／コペルニクス</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震源が深さ107kmであるため、域内の都市はいずれも震源距離108〜200kmとほぼ同程度になり、極端に強い揺れが特定の都市に集中しない。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 / 102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55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166 / 35 / 147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70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235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USGS：チョコ県サンホセ・デル・パルマルの東5km（ボゴタの西約280km）／SGC：同町から20km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4.9031 N, 76.1885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107km（USGS）／96km（SGC）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PAGER：オレンジ（相当数の人的被害・経済被害の可能性）。GDACS：オレンジ。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PAGERによる曝露推計。約1,050万人がMMI VI〜VII（強い〜非常に強い）の揺れを経験し、4か国で推計3,400万人が有感とされる。いずれもモデル推計値。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5212080" cy="4846320"/>
          </a:xfrm>
          <a:prstGeom prst="roundRect">
            <a:avLst>
              <a:gd name="adj" fmla="val 1132"/>
            </a:avLst>
          </a:prstGeom>
          <a:solidFill>
            <a:srgbClr val="EAF2F8"/>
          </a:solidFill>
          <a:ln w="12700">
            <a:solidFill>
              <a:srgbClr val="2E5496"/>
            </a:solidFill>
            <a:prstDash val="dash"/>
          </a:ln>
        </p:spPr>
      </p:sp>
      <p:sp>
        <p:nvSpPr>
          <p:cNvPr id="5" name="Text 2"/>
          <p:cNvSpPr/>
          <p:nvPr/>
        </p:nvSpPr>
        <p:spPr>
          <a:xfrm>
            <a:off x="502920" y="1161288"/>
            <a:ext cx="4937760" cy="4572000"/>
          </a:xfrm>
          <a:prstGeom prst="rect">
            <a:avLst/>
          </a:prstGeom>
          <a:noFill/>
          <a:ln/>
        </p:spPr>
        <p:txBody>
          <a:bodyPr wrap="square" rtlCol="0" anchor="ctr"/>
          <a:lstStyle/>
          <a:p>
            <a:pPr algn="ctr" indent="0" marL="0">
              <a:buNone/>
            </a:pPr>
            <a:r>
              <a:rPr lang="en-US" sz="1000" i="1" dirty="0">
                <a:solidFill>
                  <a:srgbClr val="6A6A6A"/>
                </a:solidFill>
                <a:latin typeface="Meiryo" pitchFamily="34" charset="0"/>
                <a:ea typeface="Meiryo" pitchFamily="34" charset="-122"/>
                <a:cs typeface="Meiryo" pitchFamily="34" charset="-120"/>
              </a:rPr>
              <a:t>公開前に画像を挿入。</a:t>
            </a:r>
            <a:endParaRPr lang="en-US" sz="1000" dirty="0"/>
          </a:p>
        </p:txBody>
      </p:sp>
      <p:sp>
        <p:nvSpPr>
          <p:cNvPr id="6" name="Text 3"/>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4"/>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235kmのボゴタは弱い帯に位置する。震央を中心とする同心円ではなく谷筋に沿って伸びる分布は、深さ96〜107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5"/>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SGCの速報に掲載された最大の余震。広く有感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SGCの速報に掲載されたもう1つの余震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17:00)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reported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報道は日中に20回以上の余震があったと伝えている。SGCの速報に掲載されていたのは執筆時点で2回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SGCの速報（SGC2026pqqmro）に掲載された余震はM2.8とM4.8の2回で、後者は広く有感。報道は日中に20回以上と伝えている。やや深発のスラブ内地震の余震活動は浅い内陸地震に比べて一般に低調だが、強い余震の可能性は残り、既に損傷した建物は特に脆弱である。</a:t>
            </a:r>
            <a:endParaRPr lang="en-US" sz="105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震央のある県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県別の数値は地元当局が異なる時点で発表したもので、現時点では国全体の111人と一致しない。確認の進展に伴い整合される見込み。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87人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未集計。カリ、ペレイラ、マニサレスで生き埋めの報告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欧州委員会は本地震に対するコペルニクスの発動を発表した（フォンデアライエン委員長がコロンビアへの支援を表明）。国際災害チャーターも発動されたと報じられている。本稿執筆時点でコペルニクスのEMSR発動番号もチャーターの発動番号も特定できていない。なお EMSR915 はアルバニアの森林火災の発動であり、本地震のものではない。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ラピッドマッピング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欧州委員会がラピッドマッピングの発動を発表。EMSR発動番号は未特定</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発表済み・番号未特定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ラピッドマッピング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PNGRD 2015-2030 — 仙台防災枠組に整合した国家災害リスク管理計画。</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ボゴタ、メデジン、カリ、ペレイラ、マニサレス、アルメニアなど主要都市で地震動微地形区分（マイクロゾーニング）が整備されている。1999年地震の直接の教訓による。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コロンビアのリスクガバナンス評価</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107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1906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エクアドル・コロンビア地震（太平洋岸）</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観測史上最大級。太平洋岸に破壊的な津波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1979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トゥマコ地震（ナリーニョ県）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M8.1</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プレート境界型で津波を伴う。数百人が死亡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1983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ポパヤン地震（カウカ県）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M5.5</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パエス地震（カウカ県）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2026年と同じ県で発生したやや深発地震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アルメニア（キンディオ）地震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M6.1-6.2</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2026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チョコ地震（本地震）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M7.4</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深い震源でありながら被害は浅発地震型。深さ107kmで地表地震断層も津波も生じなかったが、少なくとも6県で建物被害が出た。被害が集中せず分散するため、ニーズ把握・ロジスティクス・捜索救助の重点配分が難しく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数値は今後増加し、当面は相互に整合しない。県知事・市長が発表する県別死者数は国全体の値と一致しておらず、建物被害数も被害認定調査ではなく第一報の積み上げである。今後数日の急増は、事態の悪化というより調査の進展として読むべきであ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ラピッドマッピング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2026-08-11T00:03:50Z</dcterms:created>
  <dcterms:modified xsi:type="dcterms:W3CDTF">2026-08-11T00:03:50Z</dcterms:modified>
</cp:coreProperties>
</file>