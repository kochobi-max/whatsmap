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detallesismo/SGC2026pqqmro/mmi" TargetMode="External"/><Relationship Id="rId3" Type="http://schemas.openxmlformats.org/officeDocument/2006/relationships/hyperlink" Target="https://www.sgc.gov.co/detallesismo/SGC2026pqqmro/" TargetMode="External"/><Relationship Id="rId4"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7-1.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emergency.copernicus.eu/mapping/list-of-activations-rapid"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0-1.png"/><Relationship Id="rId17" Type="http://schemas.openxmlformats.org/officeDocument/2006/relationships/slideLayout" Target="../slideLayouts/slideLayout1.xml"/><Relationship Id="rId1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107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ja.png">    </p:cNvPr>
          <p:cNvPicPr>
            <a:picLocks noChangeAspect="1"/>
          </p:cNvPicPr>
          <p:nvPr/>
        </p:nvPicPr>
        <p:blipFill>
          <a:blip r:embed="rId2"/>
          <a:stretch>
            <a:fillRect/>
          </a:stretch>
        </p:blipFill>
        <p:spPr>
          <a:xfrm>
            <a:off x="402336" y="2321025"/>
            <a:ext cx="3639312" cy="1722174"/>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ja.png">    </p:cNvPr>
          <p:cNvPicPr>
            <a:picLocks noChangeAspect="1"/>
          </p:cNvPicPr>
          <p:nvPr/>
        </p:nvPicPr>
        <p:blipFill>
          <a:blip r:embed="rId3"/>
          <a:stretch>
            <a:fillRect/>
          </a:stretch>
        </p:blipFill>
        <p:spPr>
          <a:xfrm>
            <a:off x="4819327" y="1975104"/>
            <a:ext cx="2742322"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ja.png">    </p:cNvPr>
          <p:cNvPicPr>
            <a:picLocks noChangeAspect="1"/>
          </p:cNvPicPr>
          <p:nvPr/>
        </p:nvPicPr>
        <p:blipFill>
          <a:blip r:embed="rId4"/>
          <a:stretch>
            <a:fillRect/>
          </a:stretch>
        </p:blipFill>
        <p:spPr>
          <a:xfrm>
            <a:off x="8576552" y="1975104"/>
            <a:ext cx="3164864"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ベースマップ：Natural Earth（110m）。距離は公表座標から計算。図は模式図であり公式のハザードマップではない。</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UTC）、コロンビア西部チョコ県サンホセ・デル・パルマルの東5kmを震源とするMww7.4の地震が発生した。深さは約107km（USGS）で、沈み込むナスカプレート内部のやや深発・横ずれ型。深いために強い揺れ（MMI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107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00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深さ約107km（USGS）。プレート境界の巨大地震ではなくスラブ内地震。</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USGS PAGERはオレンジ警報。推定死者は300人規模、推定経済損失は約8.8億米ドル（いずれもモデル推計であり実測値ではない）。</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050" dirty="0"/>
          </a:p>
          <a:p>
            <a:pPr algn="l" marL="342900" indent="-342900">
              <a:buSzPct val="100000"/>
              <a:buChar char="•"/>
            </a:pPr>
            <a:r>
              <a:rPr lang="en-US" sz="10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107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Mww7.4の地震発生。震央はチョコ県サンホセ・デル・パルマルの東5km、深さ約107km。ボゴタ、カリ、メデジンのほかエクアドル、パナマ、ベネズエラでも有感。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同日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国際災害チャーター（Space and Major Disasters）の発動およびコペルニクス緊急管理サービスの動員が報じられている。詳細は確認中。</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チャーター／コペルニクス</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震源が深さ107kmであるため、域内の都市はいずれも震源距離108〜200kmとほぼ同程度になり、極端に強い揺れが特定の都市に集中しない。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 / 102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55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166 / 35 / 147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70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235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USGS：チョコ県サンホセ・デル・パルマルの東5km（ボゴタの西約280km）／SGC：同町から20km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4.9031 N, 76.1885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107km（USGS）／96km（SGC）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PAGER：オレンジ（相当数の人的被害・経済被害の可能性）。GDACS：オレンジ。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PAGERによる曝露推計。約1,050万人がMMI VI〜VII（強い〜非常に強い）の揺れを経験し、4か国で推計3,400万人が有感とされる。いずれもモデル推計値。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5212080" cy="4846320"/>
          </a:xfrm>
          <a:prstGeom prst="roundRect">
            <a:avLst>
              <a:gd name="adj" fmla="val 1132"/>
            </a:avLst>
          </a:prstGeom>
          <a:solidFill>
            <a:srgbClr val="EAF2F8"/>
          </a:solidFill>
          <a:ln w="12700">
            <a:solidFill>
              <a:srgbClr val="2E5496"/>
            </a:solidFill>
            <a:prstDash val="dash"/>
          </a:ln>
        </p:spPr>
      </p:sp>
      <p:sp>
        <p:nvSpPr>
          <p:cNvPr id="5" name="Text 2"/>
          <p:cNvSpPr/>
          <p:nvPr/>
        </p:nvSpPr>
        <p:spPr>
          <a:xfrm>
            <a:off x="502920" y="1161288"/>
            <a:ext cx="4937760" cy="4572000"/>
          </a:xfrm>
          <a:prstGeom prst="rect">
            <a:avLst/>
          </a:prstGeom>
          <a:noFill/>
          <a:ln/>
        </p:spPr>
        <p:txBody>
          <a:bodyPr wrap="square" rtlCol="0" anchor="ctr"/>
          <a:lstStyle/>
          <a:p>
            <a:pPr algn="ctr" indent="0" marL="0">
              <a:buNone/>
            </a:pPr>
            <a:r>
              <a:rPr lang="en-US" sz="1000" i="1" dirty="0">
                <a:solidFill>
                  <a:srgbClr val="6A6A6A"/>
                </a:solidFill>
                <a:latin typeface="Meiryo" pitchFamily="34" charset="0"/>
                <a:ea typeface="Meiryo" pitchFamily="34" charset="-122"/>
                <a:cs typeface="Meiryo" pitchFamily="34" charset="-120"/>
              </a:rPr>
              <a:t>公開前に画像を挿入。</a:t>
            </a:r>
            <a:endParaRPr lang="en-US" sz="1000" dirty="0"/>
          </a:p>
        </p:txBody>
      </p:sp>
      <p:sp>
        <p:nvSpPr>
          <p:cNvPr id="6" name="Text 3"/>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4"/>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235kmのボゴタは弱い帯に位置する。震央を中心とする同心円ではなく谷筋に沿って伸びる分布は、深さ96〜107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5"/>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SGCの速報に掲載された最大の余震。広く有感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SGCの速報に掲載されたもう1つの余震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報道は日中に20回以上の余震があったと伝えている。SGCの速報に掲載されていたのは執筆時点で2回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の速報（SGC2026pqqmro）に掲載された余震はM2.8とM4.8の2回で、後者は広く有感。報道は日中に20回以上と伝え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本地震について国際災害チャーター（Space and Major Disasters）が発動され、コペルニクス緊急管理サービスが動員されたと報じられている。被害把握用の衛星画像が提供される見込み。発動番号や成果物は確認中。</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報道あり・確認中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被災各県を対象にラピッドマッピングを動員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報道あり・確認中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PNGRD 2015-2030 — 仙台防災枠組に整合した国家災害リスク管理計画。</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ボゴタ、メデジン、カリ、ペレイラ、マニサレス、アルメニアなど主要都市で地震動微地形区分（マイクロゾーニング）が整備されている。1999年地震の直接の教訓による。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コロンビアのリスクガバナンス評価</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107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1906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エクアドル・コロンビア地震（太平洋岸）</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観測史上最大級。太平洋岸に破壊的な津波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1979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トゥマコ地震（ナリーニョ県）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M8.1</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プレート境界型で津波を伴う。数百人が死亡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1983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ポパヤン地震（カウカ県）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M5.5</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パエス地震（カウカ県）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2026年と同じ県で発生したやや深発地震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アルメニア（キンディオ）地震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M6.1-6.2</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2026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チョコ地震（本地震）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M7.4</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深い震源でありながら被害は浅発地震型。深さ107kmで地表地震断層も津波も生じなかったが、少なくとも6県で建物被害が出た。被害が集中せず分散するため、ニーズ把握・ロジスティクス・捜索救助の重点配分が難しく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ラピッドマッピング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2026-08-10T23:42:28Z</dcterms:created>
  <dcterms:modified xsi:type="dcterms:W3CDTF">2026-08-10T23:42:28Z</dcterms:modified>
</cp:coreProperties>
</file>