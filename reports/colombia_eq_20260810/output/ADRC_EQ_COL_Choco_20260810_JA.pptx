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リサラルダ県（ペレイラ）</c:v>
                  </c:pt>
                  <c:pt idx="1">
                    <c:v>バジェ・デル・カウカ県（カリ）</c:v>
                  </c:pt>
                  <c:pt idx="2">
                    <c:v>チョコ県</c:v>
                  </c:pt>
                  <c:pt idx="3">
                    <c:v>カルダス県（マニサレス）</c:v>
                  </c:pt>
                  <c:pt idx="4">
                    <c:v>アンティオキア県</c:v>
                  </c:pt>
                </c:lvl>
              </c:multiLvlStrCache>
            </c:multiLvlStrRef>
          </c:cat>
          <c:val>
            <c:numRef>
              <c:f>Sheet1!$B$2:$B$6</c:f>
              <c:numCache>
                <c:formatCode>General</c:formatCode>
                <c:ptCount val="5"/>
                <c:pt idx="0">
                  <c:v>40</c:v>
                </c:pt>
                <c:pt idx="1">
                  <c:v>27</c:v>
                </c:pt>
                <c:pt idx="2">
                  <c:v>13</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 Type="http://schemas.openxmlformats.org/officeDocument/2006/relationships/image" Target="../media/image-25-1.png"/><Relationship Id="rId17" Type="http://schemas.openxmlformats.org/officeDocument/2006/relationships/slideLayout" Target="../slideLayouts/slideLayout1.xml"/><Relationship Id="rId1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glidenumber.net/" TargetMode="External"/><Relationship Id="rId3" Type="http://schemas.openxmlformats.org/officeDocument/2006/relationships/hyperlink" Target="https://www.adrc.asia/" TargetMode="External"/><Relationship Id="rId4" Type="http://schemas.openxmlformats.org/officeDocument/2006/relationships/hyperlink" Target="https://www.democrata.es/en/international/von-der-leyen-expresses-the-eu-s-support-for-colombia-and-activates-copernicus-after-the-earthquake/" TargetMode="External"/><Relationship Id="rId5" Type="http://schemas.openxmlformats.org/officeDocument/2006/relationships/hyperlink" Target="https://www.globalquakemodel.org/proj/treq" TargetMode="External"/><Relationship Id="rId6" Type="http://schemas.openxmlformats.org/officeDocument/2006/relationships/hyperlink" Target="https://cloud-storage.globalquakemodel.org/public/wix-new-website/pdf-collections-wix/publications/TREQ%20deliverables/reports/TREQ_D262_Riesgo_Sismico_Cali_v1.00.pdf" TargetMode="External"/><Relationship Id="rId7" Type="http://schemas.openxmlformats.org/officeDocument/2006/relationships/hyperlink" Target="https://www.sciencedirect.com/science/article/abs/pii/S2212420925003097" TargetMode="External"/><Relationship Id="rId8" Type="http://schemas.openxmlformats.org/officeDocument/2006/relationships/hyperlink" Target="https://satic.cali.gov.co/satic" TargetMode="External"/><Relationship Id="rId9" Type="http://schemas.openxmlformats.org/officeDocument/2006/relationships/hyperlink" Target="https://www.cali.gov.co/gestiondelriesgo/" TargetMode="External"/><Relationship Id="rId10" Type="http://schemas.openxmlformats.org/officeDocument/2006/relationships/hyperlink" Target="https://portal.gestiondelriesgo.gov.co/Paginas/Plan-Nacional-de-Gestion-del-Riesgo.aspx" TargetMode="External"/><Relationship Id="rId11" Type="http://schemas.openxmlformats.org/officeDocument/2006/relationships/hyperlink" Target="https://www.funcionpublica.gov.co/eva/gestornormativo/norma.php?i=191411" TargetMode="External"/><Relationship Id="rId12" Type="http://schemas.openxmlformats.org/officeDocument/2006/relationships/hyperlink" Target="https://www.emsc-csem.org/" TargetMode="External"/><Relationship Id="rId1" Type="http://schemas.openxmlformats.org/officeDocument/2006/relationships/image" Target="../media/image-26-1.png"/><Relationship Id="rId13" Type="http://schemas.openxmlformats.org/officeDocument/2006/relationships/slideLayout" Target="../slideLayouts/slideLayout1.xml"/><Relationship Id="rId1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8月10日13:00（現地）の政府集計は死者111人・負傷者87人で、夕方には報道で132人に増えた。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数値は2026年8月10日22:00（コロンビア時間、日本時間8月11日12:00）現在、発災から約14時間後。政府の集計値（死者111人・負傷者87人）は13:00時点のもので、その後の132人は報道による。すべて速報値。</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Evening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USGS：チョコ県サンホセ・デル・パルマルの南5km（ボゴタの西約280km）／SGC：同町から20km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5.04 N, 76.34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110.3km（USGS、PAGER第5版）／96km（SGC）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規模はUSGSとSGCで一致。SGCの第1報はM6.6・深さ79kmで、のちに修正された。両機関の震源位置は約20km、深さは約11km異なるが、観測網の異なるやや深発地震では通常の範囲である。本報告の震央距離はUSGSの震源位置から計算している。SGCのイベントSGC2026pqqmroは69観測点で決定されており、SGCは精査の進展に伴い速報値が変更されうるとしている。</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るが、この段階では通常のことであり、実測が推計に置き換わるにつれて差は縮まる。</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13:18 UTC (08:18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M5.0</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本震の44分後。深さ約100kmと震央はほぼ本震と同じ。USGS/NEICはmb 5.0、他機関は同一地震について5.0〜5.7を報告。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15:01 UTC (10:01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本震の2時間27分後。震央付近のやや深い震源（IGC M4.7、INET M4.3）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(SGC bulletin)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 / M2.8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SGCの速報に掲載された2回の余震。M4.8は広く有感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(to 22:00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20+ reported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報道は日中に20回以上の余震があったと伝えている。公式の集計値は未公表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639312"/>
            <a:ext cx="11430000" cy="566928"/>
          </a:xfrm>
          <a:prstGeom prst="rect">
            <a:avLst/>
          </a:prstGeom>
          <a:noFill/>
          <a:ln/>
        </p:spPr>
        <p:txBody>
          <a:bodyPr wrap="square" lIns="50800" tIns="50800" rIns="50800" bIns="50800" rtlCol="0" anchor="t"/>
          <a:lstStyle/>
          <a:p>
            <a:pPr indent="0" marL="0">
              <a:buNone/>
            </a:pPr>
            <a:r>
              <a:rPr lang="en-US" sz="900" dirty="0">
                <a:solidFill>
                  <a:srgbClr val="222222"/>
                </a:solidFill>
                <a:latin typeface="Meiryo" pitchFamily="34" charset="0"/>
                <a:ea typeface="Meiryo" pitchFamily="34" charset="-122"/>
                <a:cs typeface="Meiryo" pitchFamily="34" charset="-120"/>
              </a:rPr>
              <a:t>国際的な観測報には、M4.5を超える余震が2回記録されている。本震の44分後にあたる13:18 UTCのM5.0と、15:01 UTCのM4.7である。いずれも本震に近いやや深い震源で、スラブ内地震の余震活動として想定される範囲にある。SGCの速報にはM4.8とM2.8が掲載され、報道は日中に20回以上と伝えている。やや深発のスラブ内地震の余震活動は浅い内陸地震に比べて一般に低調だが、捜索救助の最中のM5級は、本震で既に弱った構造物を倒壊させるには十分である。</a:t>
            </a:r>
            <a:endParaRPr lang="en-US" sz="900" dirty="0"/>
          </a:p>
        </p:txBody>
      </p:sp>
      <p:sp>
        <p:nvSpPr>
          <p:cNvPr id="6" name="Shape 2"/>
          <p:cNvSpPr/>
          <p:nvPr/>
        </p:nvSpPr>
        <p:spPr>
          <a:xfrm>
            <a:off x="365760" y="4261104"/>
            <a:ext cx="11430000" cy="1005840"/>
          </a:xfrm>
          <a:prstGeom prst="roundRect">
            <a:avLst>
              <a:gd name="adj" fmla="val 4545"/>
            </a:avLst>
          </a:prstGeom>
          <a:solidFill>
            <a:srgbClr val="FCE9DC"/>
          </a:solidFill>
          <a:ln w="12700">
            <a:solidFill>
              <a:srgbClr val="E8A317"/>
            </a:solidFill>
            <a:prstDash val="solid"/>
          </a:ln>
        </p:spPr>
      </p:sp>
      <p:sp>
        <p:nvSpPr>
          <p:cNvPr id="7" name="Text 3"/>
          <p:cNvSpPr/>
          <p:nvPr/>
        </p:nvSpPr>
        <p:spPr>
          <a:xfrm>
            <a:off x="530352" y="4315968"/>
            <a:ext cx="11100816" cy="8961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8" name="Shape 4"/>
          <p:cNvSpPr/>
          <p:nvPr/>
        </p:nvSpPr>
        <p:spPr>
          <a:xfrm>
            <a:off x="365760" y="5358384"/>
            <a:ext cx="11430000" cy="768096"/>
          </a:xfrm>
          <a:prstGeom prst="roundRect">
            <a:avLst>
              <a:gd name="adj" fmla="val 5952"/>
            </a:avLst>
          </a:prstGeom>
          <a:solidFill>
            <a:srgbClr val="FCE9DC"/>
          </a:solidFill>
          <a:ln w="12700">
            <a:solidFill>
              <a:srgbClr val="E8A317"/>
            </a:solidFill>
            <a:prstDash val="solid"/>
          </a:ln>
        </p:spPr>
      </p:sp>
      <p:sp>
        <p:nvSpPr>
          <p:cNvPr id="9" name="Text 5"/>
          <p:cNvSpPr/>
          <p:nvPr/>
        </p:nvSpPr>
        <p:spPr>
          <a:xfrm>
            <a:off x="530352" y="5413248"/>
            <a:ext cx="11100816" cy="65836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運用上の含意
</a:t>
            </a:r>
            <a:pPr algn="l" indent="0" marL="0">
              <a:buNone/>
            </a:pPr>
            <a:r>
              <a:rPr lang="en-US" sz="950" dirty="0">
                <a:solidFill>
                  <a:srgbClr val="7A2E0E"/>
                </a:solidFill>
                <a:latin typeface="Meiryo" pitchFamily="34" charset="0"/>
                <a:ea typeface="Meiryo" pitchFamily="34" charset="-122"/>
                <a:cs typeface="Meiryo" pitchFamily="34" charset="-120"/>
              </a:rPr>
              <a:t>本震で損傷したまま倒壊を免れた建物は耐力を失っている。中規模の余震でも倒壊しうるため、余震の統計そのものと同じくらい、再入居前の応急危険度判定と、損傷が明らかな建物への立入り制限が重要であ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132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建物被害</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1,600棟超</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40</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県知事は42人以上と発言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13</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大統領の発表値。県政府は死者12人・負傷者84人と発表していた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当初2人、のち4人と報告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県別の数値は地元当局と大統領府が異なる時点で発表したもので、全国値とは一致しない。全国の死者数自体も13:00時点の111人から8月10日夕方には132人に増えている。確認の進展に伴い整合される見込み。</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国家非常事態宣言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ニュース</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132人（報道、8月10日夕方）。政府の13:00時点の集計は111人。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報道（CNN速報）。13:00の値は大統領府／UNGRD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全国で87人（政府、13:00時点）。その後、大統領はチョコ県だけで119人の負傷者を報告。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大統領府／UNGRD、チョコ県の値は大統領</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行方不明・生き埋め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未集計。8月10日夕方までに4人が瓦礫から救出された。カリ、ペレイラ、マニサレスで捜索継続。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地元当局（報道）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チョコ、リサラルダ、カルダス、バジェ・デル・カウカ、キンディオ、アンティオキアの各県で20市町村超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1,600棟超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1,575棟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全国で61棟。カリは12か所の重要地点で25〜30棟、マニサレスは倒壊17棟・部分倒壊19棟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UNGRD、カリ市長・マニサレス市長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18か所が被害、7施設が閉鎖。カリの大学病院は約30%が崩落し、小児科・内科・新生児室の一部を含む3フロアが被害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52か所が被害。被災各県で学校から避難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17か所が被害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幹線道路18路線が被害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メキシコ大統領は「必要なすべての支援」を表明。中南米各国が救助隊・救助犬・人道支援を申し出ており、コロンビア外務省とUNGRDを通じて受け入れる。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本稿執筆時点で、日本政府による対応（お見舞い、緊急無償資金協力、国際緊急援助隊の派遣等）の発表は確認できていない。</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受け入れ窓口
</a:t>
            </a:r>
            <a:pPr algn="l" indent="0" marL="0">
              <a:buNone/>
            </a:pPr>
            <a:r>
              <a:rPr lang="en-US" sz="950" dirty="0">
                <a:solidFill>
                  <a:srgbClr val="7A2E0E"/>
                </a:solidFill>
                <a:latin typeface="Meiryo" pitchFamily="34" charset="0"/>
                <a:ea typeface="Meiryo" pitchFamily="34" charset="-122"/>
                <a:cs typeface="Meiryo" pitchFamily="34" charset="-120"/>
              </a:rPr>
              <a:t>支援の申し出は、コロンビア外務省とUNGRDを通じて受け入れることとされている。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97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970" dirty="0"/>
          </a:p>
          <a:p>
            <a:pPr algn="l" marL="342900" indent="-342900">
              <a:buSzPct val="100000"/>
              <a:buChar char="•"/>
            </a:pPr>
            <a:r>
              <a:rPr lang="en-US" sz="97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970" dirty="0"/>
          </a:p>
          <a:p>
            <a:pPr algn="l" marL="342900" indent="-342900">
              <a:buSzPct val="100000"/>
              <a:buChar char="•"/>
            </a:pPr>
            <a:r>
              <a:rPr lang="en-US" sz="97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数値は想定どおり動いている。全国の死者数は政府13:00時点の111人から夕方には132人に、チョコ県は12人から13人に増え、同県の負傷者は84人から119人へ修正された。一方で建物被害の数値は第一報のまま据え置かれている。今後数日の急増は、事態の悪化というより調査の進展として読むべきである。</a:t>
            </a:r>
            <a:endParaRPr lang="en-US" sz="970" dirty="0"/>
          </a:p>
          <a:p>
            <a:pPr algn="l" marL="342900" indent="-342900">
              <a:buSzPct val="100000"/>
              <a:buChar char="•"/>
            </a:pPr>
            <a:r>
              <a:rPr lang="en-US" sz="97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970" dirty="0"/>
          </a:p>
          <a:p>
            <a:pPr algn="l" marL="342900" indent="-342900">
              <a:buSzPct val="100000"/>
              <a:buChar char="•"/>
            </a:pPr>
            <a:r>
              <a:rPr lang="en-US" sz="97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970" dirty="0"/>
          </a:p>
          <a:p>
            <a:pPr algn="l" marL="342900" indent="-342900">
              <a:buSzPct val="100000"/>
              <a:buChar char="•"/>
            </a:pPr>
            <a:r>
              <a:rPr lang="en-US" sz="97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損傷建物に対する余震リスク。スラブ内地震の余震活動は限定的とみられるが、損傷した建物は耐力を失っている。捜索救助と並行し、再入居前の応急危険度判定が当面の優先課題である。</a:t>
            </a:r>
            <a:endParaRPr lang="en-US" sz="970" dirty="0"/>
          </a:p>
          <a:p>
            <a:pPr algn="l" marL="342900" indent="-342900">
              <a:buSzPct val="100000"/>
              <a:buChar char="•"/>
            </a:pPr>
            <a:r>
              <a:rPr lang="en-US" sz="97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07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97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地震速報（多機関の解）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数値は2026年8月10日22:00（コロンビア時間、日本時間8月11日12:00）現在、発災から約14時間後。政府の集計値（死者111人・負傷者87人）は13:00時点のもので、その後の132人は報道による。すべて速報値。</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2026-08-11T03:24:34Z</dcterms:created>
  <dcterms:modified xsi:type="dcterms:W3CDTF">2026-08-11T03:24:34Z</dcterms:modified>
</cp:coreProperties>
</file>