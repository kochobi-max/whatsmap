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MMI VII</c:v>
                  </c:pt>
                  <c:pt idx="1">
                    <c:v>MMI VI</c:v>
                  </c:pt>
                  <c:pt idx="2">
                    <c:v>MMI V</c:v>
                  </c:pt>
                </c:lvl>
              </c:multiLvlStrCache>
            </c:multiLvlStrRef>
          </c:cat>
          <c:val>
            <c:numRef>
              <c:f>Sheet1!$B$2:$B$4</c:f>
              <c:numCache>
                <c:formatCode>General</c:formatCode>
                <c:ptCount val="3"/>
                <c:pt idx="0">
                  <c:v>1.3</c:v>
                </c:pt>
                <c:pt idx="1">
                  <c:v>9.2</c:v>
                </c:pt>
                <c:pt idx="2">
                  <c:v>24</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リサラルダ県（ペレイラ）</c:v>
                  </c:pt>
                  <c:pt idx="1">
                    <c:v>バジェ・デル・カウカ県（カリ）</c:v>
                  </c:pt>
                  <c:pt idx="2">
                    <c:v>チョコ県</c:v>
                  </c:pt>
                  <c:pt idx="3">
                    <c:v>カルダス県（マニサレス）</c:v>
                  </c:pt>
                  <c:pt idx="4">
                    <c:v>アンティオキア県</c:v>
                  </c:pt>
                </c:lvl>
              </c:multiLvlStrCache>
            </c:multiLvlStrRef>
          </c:cat>
          <c:val>
            <c:numRef>
              <c:f>Sheet1!$B$2:$B$6</c:f>
              <c:numCache>
                <c:formatCode>General</c:formatCode>
                <c:ptCount val="5"/>
                <c:pt idx="0">
                  <c:v>40</c:v>
                </c:pt>
                <c:pt idx="1">
                  <c:v>27</c:v>
                </c:pt>
                <c:pt idx="2">
                  <c:v>9</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10-1.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6-1.png"/><Relationship Id="rId2" Type="http://schemas.openxmlformats.org/officeDocument/2006/relationships/image" Target="../media/image-16-2.jp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7-1.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8-1.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19-1.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globalquakemodel.org/seismic-regulations/colombia"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1-1.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un-spider.org/national-unit-disaster-risk-management-ungrd-colombia" TargetMode="External"/><Relationship Id="rId15" Type="http://schemas.openxmlformats.org/officeDocument/2006/relationships/hyperlink" Target="https://www.oecd.org/en/publications/risk-governance-scan-of-colombia_eeb81954-en.html" TargetMode="External"/><Relationship Id="rId16" Type="http://schemas.openxmlformats.org/officeDocument/2006/relationships/hyperlink" Target="https://www.cnn.com/2026/08/10/world/live-news/colombia-earthquake-san-jose-del-palmar" TargetMode="External"/><Relationship Id="rId1" Type="http://schemas.openxmlformats.org/officeDocument/2006/relationships/image" Target="../media/image-22-1.png"/><Relationship Id="rId17" Type="http://schemas.openxmlformats.org/officeDocument/2006/relationships/slideLayout" Target="../slideLayouts/slideLayout1.xml"/><Relationship Id="rId1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france24.com/en/americas/20260810-powerful-quake-rocks-colombia-causing-major-damage" TargetMode="External"/><Relationship Id="rId3" Type="http://schemas.openxmlformats.org/officeDocument/2006/relationships/hyperlink" Target="https://www.aljazeera.com/news/2026/8/10/7-4-magnitude-earthquake-hits-colombia-killing-at-least-20" TargetMode="External"/><Relationship Id="rId4" Type="http://schemas.openxmlformats.org/officeDocument/2006/relationships/hyperlink" Target="https://www.cbsnews.com/news/colombia-earthquake-western-region-evacuations/" TargetMode="External"/><Relationship Id="rId5" Type="http://schemas.openxmlformats.org/officeDocument/2006/relationships/hyperlink" Target="https://www.nbcnews.com/world/latin-america/strong-earthquake-colombia-ecuador-people-evacuating-homes-buildings-rcna591709" TargetMode="External"/><Relationship Id="rId6" Type="http://schemas.openxmlformats.org/officeDocument/2006/relationships/hyperlink" Target="https://colombiaone.com/2026/08/10/earthquake-colombia-official-details/"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infobae.com/colombia/2026/08/10/por-que-el-temblor-en-colombia-de-este-lunes-10-de-agosto-duro-una-eternidad-el-servicio-geologico-explico-que-paso/" TargetMode="External"/><Relationship Id="rId9" Type="http://schemas.openxmlformats.org/officeDocument/2006/relationships/hyperlink" Target="https://www3.nhk.or.jp/news/" TargetMode="External"/><Relationship Id="rId10" Type="http://schemas.openxmlformats.org/officeDocument/2006/relationships/hyperlink" Target="https://www.nikkei.com/article/DGXZQOGN108V30Q6A810C2000000/" TargetMode="External"/><Relationship Id="rId11" Type="http://schemas.openxmlformats.org/officeDocument/2006/relationships/hyperlink" Target="https://www.jiji.com/jc/article?k=2026081000878&amp;g=int" TargetMode="External"/><Relationship Id="rId12" Type="http://schemas.openxmlformats.org/officeDocument/2006/relationships/hyperlink" Target="https://www.savethechildren.org/us/about-us/media-and-news/2026-press-releases/children-at-risk-after-earthquake-strikes-colombia" TargetMode="External"/><Relationship Id="rId13" Type="http://schemas.openxmlformats.org/officeDocument/2006/relationships/hyperlink" Target="https://www.directrelief.org/2026/08/colombia-earthquake-7-4-magnitude-direct-relief-response/" TargetMode="External"/><Relationship Id="rId14" Type="http://schemas.openxmlformats.org/officeDocument/2006/relationships/hyperlink" Target="https://www.americares.org/crisis-alerts/colombia-earthquake-august-2026/" TargetMode="External"/><Relationship Id="rId15" Type="http://schemas.openxmlformats.org/officeDocument/2006/relationships/hyperlink" Target="https://glidenumber.net/" TargetMode="External"/><Relationship Id="rId16" Type="http://schemas.openxmlformats.org/officeDocument/2006/relationships/hyperlink" Target="https://www.adrc.asia/" TargetMode="External"/><Relationship Id="rId1" Type="http://schemas.openxmlformats.org/officeDocument/2006/relationships/image" Target="../media/image-23-1.png"/><Relationship Id="rId17" Type="http://schemas.openxmlformats.org/officeDocument/2006/relationships/slideLayout" Target="../slideLayouts/slideLayout1.xml"/><Relationship Id="rId1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democrata.es/en/international/von-der-leyen-expresses-the-eu-s-support-for-colombia-and-activates-copernicus-after-the-earthquake/" TargetMode="External"/><Relationship Id="rId3" Type="http://schemas.openxmlformats.org/officeDocument/2006/relationships/hyperlink" Target="https://www.globalquakemodel.org/proj/treq"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sciencedirect.com/science/article/abs/pii/S2212420925003097" TargetMode="External"/><Relationship Id="rId6" Type="http://schemas.openxmlformats.org/officeDocument/2006/relationships/hyperlink" Target="https://satic.cali.gov.co/satic" TargetMode="External"/><Relationship Id="rId7" Type="http://schemas.openxmlformats.org/officeDocument/2006/relationships/hyperlink" Target="https://www.cali.gov.co/gestiondelriesgo/" TargetMode="External"/><Relationship Id="rId8" Type="http://schemas.openxmlformats.org/officeDocument/2006/relationships/hyperlink" Target="https://portal.gestiondelriesgo.gov.co/Paginas/Plan-Nacional-de-Gestion-del-Riesgo.aspx" TargetMode="External"/><Relationship Id="rId9" Type="http://schemas.openxmlformats.org/officeDocument/2006/relationships/hyperlink" Target="https://www.funcionpublica.gov.co/eva/gestornormativo/norma.php?i=191411" TargetMode="External"/><Relationship Id="rId1" Type="http://schemas.openxmlformats.org/officeDocument/2006/relationships/image" Target="../media/image-24-1.png"/><Relationship Id="rId10" Type="http://schemas.openxmlformats.org/officeDocument/2006/relationships/slideLayout" Target="../slideLayouts/slideLayout1.xml"/><Relationship Id="rId11"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5-1.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107 km   ·   改正メルカリ震度 MMI VII（非常に強い）／USGS ShakeMap。SGCの体感震度図も同等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位置図 © Google（Google マップ）。以降のページに示す距離は、USGS公表座標から計算したもの。</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UTC）、コロンビア西部チョコ県サンホセ・デル・パルマルの東5kmを震源とするMww7.4の地震が発生した。深さは約107km（USGS）で、沈み込むナスカプレート内部のやや深発・横ずれ型。深いために強い揺れ（MMI VI〜VII）はコーヒー地帯を含む広範囲に及び、約1,050万人が強い揺れにさらされた。SGCは過去10年でコロンビア最大規模の地震としている。8月10日17:00（現地）時点で政府は死者111人・負傷者87人、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マップ</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95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107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95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Meiryo" pitchFamily="34" charset="0"/>
                <a:ea typeface="Meiryo" pitchFamily="34" charset="-122"/>
                <a:cs typeface="Meiryo" pitchFamily="34" charset="-120"/>
              </a:rPr>
              <a:t>発震機構解（ビーチボール）
</a:t>
            </a:r>
            <a:pPr algn="ctr" indent="0" marL="0">
              <a:buNone/>
            </a:pPr>
            <a:r>
              <a:rPr lang="en-US" sz="700" dirty="0">
                <a:solidFill>
                  <a:srgbClr val="6A6A6A"/>
                </a:solidFill>
                <a:latin typeface="Meiryo" pitchFamily="34" charset="0"/>
                <a:ea typeface="Meiryo" pitchFamily="34" charset="-122"/>
                <a:cs typeface="Meiryo" pitchFamily="34" charset="-120"/>
              </a:rPr>
              <a:t>両機関とも横ずれ断層型としている。</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深さ約107km（USGS）。プレート境界の巨大地震ではなくスラブ内地震。</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USGS PAGERはオレンジ警報。推定死者は300人規模、推定経済損失は約8.8億米ドル（いずれもモデル推計であり実測値ではない）。</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1050" dirty="0"/>
          </a:p>
          <a:p>
            <a:pPr algn="l" marL="342900" indent="-342900">
              <a:buSzPct val="100000"/>
              <a:buChar char="•"/>
            </a:pPr>
            <a:r>
              <a:rPr lang="en-US" sz="10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107 km    |    改正メルカリ震度 MMI VII（非常に強い）／USGS ShakeMap。SGCの体感震度図も同等</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数値は2026年8月10日17:00（コロンビア時間、日本時間8月11日07:00）現在、発災から約9時間半後。すべて速報値。</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対応の時系列（8月10日）（1/2）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Mww7.4の地震発生。震央はチョコ県サンホセ・デル・パルマルの東5km、深さ約107km。ボゴタ、カリ、メデジンのほかエクアドル、パナマ、ベネズエラでも有感。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対応の時系列（8月10日）（2/2）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12:13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Copernicus EMS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震源が深さ107kmであるため、域内の都市はいずれも震源距離108〜200kmとほぼ同程度になり、極端に強い揺れが特定の都市に集中しない。</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 / 102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55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166 / 35 / 147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77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70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164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235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USGS：チョコ県サンホセ・デル・パルマルの東5km（ボゴタの西約280km）／SGC：同町から20km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4.9031 N, 76.1885 W   ·   SGC 5.04 N, 76.34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7.4（USGS）　・　7.4（SGC）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107km（USGS）／96km（SGC）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PAGER：オレンジ（相当数の人的被害・経済被害の可能性）。GDACS：オレンジ。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PAGERによる曝露推計。約1,050万人がMMI VI〜VII（強い〜非常に強い）の揺れを経験し、4か国で推計3,400万人が有感とされる。いずれもモデル推計値。</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規模はUSGSとSGCで一致。SGCの第1報はM6.6・深さ79kmで、のちに修正された。両機関の震源位置は約20km、深さは約11km異なるが、観測網の異なるやや深発地震では通常の範囲である。本報告の震央距離はUSGSの震源位置から計算している。SGCのイベントSGC2026pqqmroは69観測点で決定されており、SGCは精査の進展に伴い速報値が変更されうるとしている。</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体感震度分布（SGC）</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SGC 公式の震度分布図  (© SGC)</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Meiryo" pitchFamily="34" charset="0"/>
                <a:ea typeface="Meiryo" pitchFamily="34" charset="-122"/>
                <a:cs typeface="Meiryo" pitchFamily="34" charset="-120"/>
              </a:rPr>
              <a:t>ShakeMap：チョコ県サンホセ・デル・パルマル／2026年8月10日 12:34:29 UTC／M7.4／北緯5.04・西経76.34／深さ96.0km／ID SGC2026pqqmro／バージョン1（2026-08-10T13:12:28Z処理）／震度階はWorden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SGCの図では、最も強い帯（MMI VII「Muy Fuerte」）が震央のあるチョコ県から、リサラルダ・カルダス・キンディオ・バジェ北部を貫くアンデス間の回廊に沿って広がる。ペレイラ、マニサレス、アルメニア、カルタゴでの建物倒壊はこの帯の中で起きた。震度は東へ向かって低下し、メデジンとカリは中〜強の帯、震央から235kmのボゴタは弱い帯に位置する。震央を中心とする同心円ではなく谷筋に沿って伸びる分布は、深さ96〜107kmの震源と軟弱な盆地堆積層の組み合わせによる特徴である。</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震度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被害の程度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PGA（%g）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PGV（cm/s）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無感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&lt;0.0464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II-III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0.297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0.135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やや弱い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2.76</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1.41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ごく軽微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4.65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9.64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非常に強い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40.1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41.4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74.7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85.8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極めて激烈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&gt;139</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&gt;178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Meiryo" pitchFamily="34" charset="0"/>
                <a:ea typeface="Meiryo" pitchFamily="34" charset="-122"/>
                <a:cs typeface="Meiryo" pitchFamily="34" charset="-120"/>
              </a:rPr>
              <a:t>改正メルカリ震度階（Worden et al., 2012）。SGCの図に掲載されているもの。</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after 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SGCの速報に掲載された最大の余震。広く有感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after 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M2.8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SGCの速報に掲載されたもう1つの余震</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(to 17:00)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20+ reported</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報道は日中に20回以上の余震があったと伝えている。SGCの速報に掲載されていたのは執筆時点で2回</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017520"/>
            <a:ext cx="11430000" cy="137160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SGCの速報（SGC2026pqqmro）に掲載された余震はM2.8とM4.8の2回で、後者は広く有感。報道は日中に20回以上と伝えている。やや深発のスラブ内地震の余震活動は浅い内陸地震に比べて一般に低調だが、強い余震の可能性は残り、既に損傷した建物は特に脆弱である。</a:t>
            </a:r>
            <a:endParaRPr lang="en-US" sz="1050" dirty="0"/>
          </a:p>
        </p:txBody>
      </p:sp>
      <p:sp>
        <p:nvSpPr>
          <p:cNvPr id="6" name="Shape 2"/>
          <p:cNvSpPr/>
          <p:nvPr/>
        </p:nvSpPr>
        <p:spPr>
          <a:xfrm>
            <a:off x="365760" y="4572000"/>
            <a:ext cx="11430000" cy="1463040"/>
          </a:xfrm>
          <a:prstGeom prst="roundRect">
            <a:avLst>
              <a:gd name="adj" fmla="val 3125"/>
            </a:avLst>
          </a:prstGeom>
          <a:solidFill>
            <a:srgbClr val="FCE9DC"/>
          </a:solidFill>
          <a:ln w="12700">
            <a:solidFill>
              <a:srgbClr val="E8A317"/>
            </a:solidFill>
            <a:prstDash val="solid"/>
          </a:ln>
        </p:spPr>
      </p:sp>
      <p:sp>
        <p:nvSpPr>
          <p:cNvPr id="7" name="Text 3"/>
          <p:cNvSpPr/>
          <p:nvPr/>
        </p:nvSpPr>
        <p:spPr>
          <a:xfrm>
            <a:off x="530352" y="4626864"/>
            <a:ext cx="11100816" cy="13533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運用上の含意
</a:t>
            </a:r>
            <a:pPr algn="l" indent="0" marL="0">
              <a:buNone/>
            </a:pPr>
            <a:r>
              <a:rPr lang="en-US" sz="950" dirty="0">
                <a:solidFill>
                  <a:srgbClr val="7A2E0E"/>
                </a:solidFill>
                <a:latin typeface="Meiryo" pitchFamily="34" charset="0"/>
                <a:ea typeface="Meiryo" pitchFamily="34" charset="-122"/>
                <a:cs typeface="Meiryo" pitchFamily="34" charset="-120"/>
              </a:rPr>
              <a:t>本震で損傷したまま倒壊を免れた建物は耐力を失っている。中規模の余震でも倒壊しうるため、余震の統計そのものと同じくらい、再入居前の応急危険度判定と、損傷が明らかな建物への立入り制限が重要である。</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111</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建物被害</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1,600棟超</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40</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県知事は42人以上と発言</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27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震央のある県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当初2人、のち4人と報告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県別の数値は地元当局が異なる時点で発表したもので、現時点では国全体の111人と一致しない。確認の進展に伴い整合される見込み。</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国家非常事態宣言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ニュース</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111人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大統領府／UNGRD（8月10日午後）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87人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大統領府／UNGRD（8月10日午後）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行方不明・生き埋め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未集計。カリ、ペレイラ、マニサレスで生き埋めの報告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地元当局（報道）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1,600棟超</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1,575棟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37棟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全国で61棟。カリは12か所の重要地点で25〜30棟、マニサレスは倒壊17棟・部分倒壊19棟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UNGRD、カリ市長・マニサレス市長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18か所が被害、7施設が閉鎖。カリの大学病院は約30%が崩落し、小児科・内科・新生児室の一部を含む3フロアが被害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UNGRD、バジェ・デル・カウカ県政府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52か所が被害。被災各県で学校から避難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17か所が被害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幹線道路18路線が被害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地方6空港が被害。ペレイラのマテカニャ国際空港旅客ターミナルが一部倒壊。ペレイラ、マニサレス、キブド、アルメニア、カルタゴ、ブエナベントゥーラで運航停止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震央周辺で停電・通信途絶の報告。体系的な数値は未公表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1300" dirty="0"/>
          </a:p>
        </p:txBody>
      </p:sp>
      <p:sp>
        <p:nvSpPr>
          <p:cNvPr id="5" name="Shape 2"/>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6" name="Text 3"/>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メキシコ大統領は「必要なすべての支援」を表明。中南米各国が救助隊・救助犬・人道支援を申し出ており、コロンビア外務省とUNGRDを通じて受け入れる。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本稿執筆時点で、日本政府による対応（お見舞い、緊急無償資金協力、国際緊急援助隊の派遣等）の発表は確認できていない。</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受け入れ窓口
</a:t>
            </a:r>
            <a:pPr algn="l" indent="0" marL="0">
              <a:buNone/>
            </a:pPr>
            <a:r>
              <a:rPr lang="en-US" sz="950" dirty="0">
                <a:solidFill>
                  <a:srgbClr val="7A2E0E"/>
                </a:solidFill>
                <a:latin typeface="Meiryo" pitchFamily="34" charset="0"/>
                <a:ea typeface="Meiryo" pitchFamily="34" charset="-122"/>
                <a:cs typeface="Meiryo" pitchFamily="34" charset="-120"/>
              </a:rPr>
              <a:t>支援の申し出は、コロンビア外務省とUNGRDを通じて受け入れることとされている。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報道あり・番号未特定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対応中（EMSR916）</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コペルニクスEMS ラピッドマッピング：EMSR916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発動ページ（© Copernicus EMS）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 — Earthquake in 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事象発生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afternoon (UTC)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発動時刻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17:13 (UTC) = 12:13 COT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事象種別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Earthquake / Ground shaking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対象国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要請者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EC Services | DG ECHO</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成果物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 AOIs · 3 products · 0 maps</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状況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ONGOING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発動理由（原文）
</a:t>
            </a:r>
            <a:pPr algn="l" indent="0" marL="0">
              <a:buNone/>
            </a:pPr>
            <a:r>
              <a:rPr lang="en-US" sz="850" i="1"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ラピッドマッピングの内容
</a:t>
            </a:r>
            <a:pPr algn="l" indent="0" marL="0">
              <a:buNone/>
            </a:pPr>
            <a:r>
              <a:rPr lang="en-US" sz="950" dirty="0">
                <a:solidFill>
                  <a:srgbClr val="7A2E0E"/>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欧州委員会 コロンビア支援・コペルニクス発動</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PNGRD 2015-2030 — 国家災害リスク管理計画。2016年大統領令第308号で採択され、2022年8月3日の第1478号で更新。仙台防災枠組に整合し、UNGRDが年次で進捗を監理する。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9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国家災害リスク管理計画（PNGRD）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2022年大統領令第1478号（PNGRD更新）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カリ市の住民参加型早期警戒システム</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107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事前のリスク評価：サンティアゴ・デ・カリ</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断層、M6.5、深さ10km）で、その推計値は2026年8月10日に実際に生じた被害をはるかに上回る。</a:t>
            </a:r>
            <a:endParaRPr lang="en-US" sz="9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想定シナリオ（GEM-TREQ、2022年）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想定シナリオ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M6.5・深さ10km、ダグア・カリ断層、市街地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曝露人口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約230万人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推定死者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約1,200人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重傷者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約36,300人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住まいを失う人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約181,000人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倒壊建物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348,000棟のうち約1,800棟（0.5%）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残余リスク</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既往対策を織り込んで約40%と評価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市が既に優先課題としていたこと</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2026年の地震はこのシナリオではない
</a:t>
            </a:r>
            <a:pPr algn="l" indent="0" marL="0">
              <a:buNone/>
            </a:pPr>
            <a:r>
              <a:rPr lang="en-US" sz="950" dirty="0">
                <a:solidFill>
                  <a:srgbClr val="7A2E0E"/>
                </a:solidFill>
                <a:latin typeface="Meiryo" pitchFamily="34" charset="0"/>
                <a:ea typeface="Meiryo" pitchFamily="34" charset="-122"/>
                <a:cs typeface="Meiryo" pitchFamily="34" charset="-120"/>
              </a:rPr>
              <a:t>8月10日の地震は規模こそ大きい（M7.4）が、深さ107km・カリから166kmであり、市内の揺れは想定M6.5の近距離の揺れではなくMMI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822960"/>
                <a:gridCol w="3108960"/>
                <a:gridCol w="914400"/>
                <a:gridCol w="6583680"/>
              </a:tblGrid>
              <a:tr h="51206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1906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エクアドル・コロンビア地震（太平洋岸）</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M8.8</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観測史上最大級。太平洋岸に破壊的な津波</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1925</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カリ地震（バジェ・デル・カウカ県）</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M7.0</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1979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トゥマコ地震（ナリーニョ県）</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M8.1</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プレート境界型で津波を伴う。数百人が死亡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1983</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ポパヤン地震（カウカ県）</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M5.5</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1994</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パエス地震（カウカ県）</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M6.8</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1995</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チョコ地震</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M6.6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2026年と同じ県で発生したやや深発地震</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1999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アルメニア（キンディオ）地震</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M6.1-6.2</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2026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チョコ地震（本地震）</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M7.4</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230368"/>
            <a:ext cx="11430000" cy="877824"/>
          </a:xfrm>
          <a:prstGeom prst="roundRect">
            <a:avLst>
              <a:gd name="adj" fmla="val 5208"/>
            </a:avLst>
          </a:prstGeom>
          <a:solidFill>
            <a:srgbClr val="FCE9DC"/>
          </a:solidFill>
          <a:ln w="12700">
            <a:solidFill>
              <a:srgbClr val="E8A317"/>
            </a:solidFill>
            <a:prstDash val="solid"/>
          </a:ln>
        </p:spPr>
      </p:sp>
      <p:sp>
        <p:nvSpPr>
          <p:cNvPr id="6" name="Text 2"/>
          <p:cNvSpPr/>
          <p:nvPr/>
        </p:nvSpPr>
        <p:spPr>
          <a:xfrm>
            <a:off x="530352" y="5285232"/>
            <a:ext cx="1110081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コロンビアの耐震規定（NSR-10）</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01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10" dirty="0">
                <a:solidFill>
                  <a:srgbClr val="222222"/>
                </a:solidFill>
                <a:latin typeface="Meiryo" pitchFamily="34" charset="0"/>
                <a:ea typeface="Meiryo" pitchFamily="34" charset="-122"/>
                <a:cs typeface="Meiryo" pitchFamily="34" charset="-120"/>
              </a:rPr>
              <a:t>深い震源でありながら被害は浅発地震型。深さ107kmで地表地震断層も津波も生じなかったが、少なくとも6県で建物被害が出た。被害が集中せず分散するため、ニーズ把握・ロジスティクス・捜索救助の重点配分が難しくなる。</a:t>
            </a:r>
            <a:endParaRPr lang="en-US" sz="1010" dirty="0"/>
          </a:p>
          <a:p>
            <a:pPr algn="l" marL="342900" indent="-342900">
              <a:buSzPct val="100000"/>
              <a:buChar char="•"/>
            </a:pPr>
            <a:r>
              <a:rPr lang="en-US" sz="101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1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1010" dirty="0"/>
          </a:p>
          <a:p>
            <a:pPr algn="l" marL="342900" indent="-342900">
              <a:buSzPct val="100000"/>
              <a:buChar char="•"/>
            </a:pPr>
            <a:r>
              <a:rPr lang="en-US" sz="101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10" dirty="0">
                <a:solidFill>
                  <a:srgbClr val="222222"/>
                </a:solidFill>
                <a:latin typeface="Meiryo" pitchFamily="34" charset="0"/>
                <a:ea typeface="Meiryo" pitchFamily="34" charset="-122"/>
                <a:cs typeface="Meiryo" pitchFamily="34" charset="-120"/>
              </a:rPr>
              <a:t>数値は今後増加し、当面は相互に整合しない。県知事・市長が発表する県別死者数は国全体の値と一致しておらず、建物被害数も被害認定調査ではなく第一報の積み上げである。今後数日の急増は、事態の悪化というより調査の進展として読むべきである。</a:t>
            </a:r>
            <a:endParaRPr lang="en-US" sz="1010" dirty="0"/>
          </a:p>
          <a:p>
            <a:pPr algn="l" marL="342900" indent="-342900">
              <a:buSzPct val="100000"/>
              <a:buChar char="•"/>
            </a:pPr>
            <a:r>
              <a:rPr lang="en-US" sz="101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11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1010" dirty="0"/>
          </a:p>
          <a:p>
            <a:pPr algn="l" marL="342900" indent="-342900">
              <a:buSzPct val="100000"/>
              <a:buChar char="•"/>
            </a:pPr>
            <a:r>
              <a:rPr lang="en-US" sz="101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1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1010" dirty="0"/>
          </a:p>
          <a:p>
            <a:pPr algn="l" marL="342900" indent="-342900">
              <a:buSzPct val="100000"/>
              <a:buChar char="•"/>
            </a:pPr>
            <a:r>
              <a:rPr lang="en-US" sz="101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10" dirty="0">
                <a:solidFill>
                  <a:srgbClr val="222222"/>
                </a:solidFill>
                <a:latin typeface="Meiryo" pitchFamily="34" charset="0"/>
                <a:ea typeface="Meiryo" pitchFamily="34" charset="-122"/>
                <a:cs typeface="Meiryo" pitchFamily="34" charset="-120"/>
              </a:rPr>
              <a:t>損傷建物に対する余震リスク。スラブ内地震の余震活動は限定的とみられるが、損傷した建物は耐力を失っている。捜索救助と並行し、再入居前の応急危険度判定が当面の優先課題である。</a:t>
            </a:r>
            <a:endParaRPr lang="en-US" sz="1010" dirty="0"/>
          </a:p>
          <a:p>
            <a:pPr algn="l" marL="342900" indent="-342900">
              <a:buSzPct val="100000"/>
              <a:buChar char="•"/>
            </a:pPr>
            <a:r>
              <a:rPr lang="en-US" sz="101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11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101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地震速報 SGC2026pqqmro（本地震）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体感震度図（ShakeMap・本地震）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EMSR916「Earthquake in Colombia」（発動）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GEM-TREQ カリ市地震リスク評価（技術報告 D2.6.2）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SATIC カリ市の住民参加型早期警戒システム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サンティアゴ・デ・カリ市 災害リスク管理</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 国家災害リスク管理計画（PNGRD）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2022年大統領令第1478号（PNGRD更新）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数値は2026年8月10日17:00（コロンビア時間、日本時間8月11日07:00）現在、発災から約9時間半後。すべて速報値。</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2026-08-11T00:43:26Z</dcterms:created>
  <dcterms:modified xsi:type="dcterms:W3CDTF">2026-08-11T00:43:26Z</dcterms:modified>
</cp:coreProperties>
</file>