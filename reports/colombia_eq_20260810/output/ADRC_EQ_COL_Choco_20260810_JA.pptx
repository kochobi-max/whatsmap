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5-1.png"/><Relationship Id="rId2" Type="http://schemas.openxmlformats.org/officeDocument/2006/relationships/image" Target="../media/image-15-2.jpg"/><Relationship Id="rId4" Type="http://schemas.openxmlformats.org/officeDocument/2006/relationships/image" Target="../media/image-15-3.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eltiempo.com/mundo/mas-regiones/la-comunidad-internacional-se-vuelca-en-ayudas-para-colombia-lista-de-paises-que-han-ofrecido-apoyo-tras-el-terremoto-de-magnitud-7-3577512" TargetMode="External"/><Relationship Id="rId3" Type="http://schemas.openxmlformats.org/officeDocument/2006/relationships/hyperlink" Target="https://colombia.un.org/es/320793-informaci%C3%B3n-y-actualizaciones-sobre-el-terremoto-en-colombia"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reliefweb.int/country/co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8-1.png"/><Relationship Id="rId2" Type="http://schemas.openxmlformats.org/officeDocument/2006/relationships/image" Target="../media/image-18-2.jp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3-1.png"/><Relationship Id="rId2" Type="http://schemas.openxmlformats.org/officeDocument/2006/relationships/image" Target="../media/image-23-2.jp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25-1.png"/><Relationship Id="rId16" Type="http://schemas.openxmlformats.org/officeDocument/2006/relationships/slideLayout" Target="../slideLayouts/slideLayout1.xml"/><Relationship Id="rId1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26-1.png"/><Relationship Id="rId16" Type="http://schemas.openxmlformats.org/officeDocument/2006/relationships/slideLayout" Target="../slideLayouts/slideLayout1.xm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27-1.png"/><Relationship Id="rId16" Type="http://schemas.openxmlformats.org/officeDocument/2006/relationships/slideLayout" Target="../slideLayouts/slideLayout1.xml"/><Relationship Id="rId1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 Type="http://schemas.openxmlformats.org/officeDocument/2006/relationships/image" Target="../media/image-28-1.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11 Aug 17:24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147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SGCカタログ、本震の34時間後まで。M2.0未満60回、M2.0〜2.9が76回、M3.0〜3.9が10回、M4.0〜4.9が1回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00" dirty="0">
                <a:solidFill>
                  <a:srgbClr val="222222"/>
                </a:solidFill>
                <a:latin typeface="Meiryo" pitchFamily="34" charset="0"/>
                <a:ea typeface="Meiryo" pitchFamily="34" charset="-122"/>
                <a:cs typeface="Meiryo" pitchFamily="34" charset="-120"/>
              </a:rPr>
              <a:t>SGCは本震後34時間で147回の地震を決定した。M4.0を超えたのは44分後のM4.8の1回のみで、92%はM3.0未満である。本震に迫る規模の余震は発生していない。147回のうち96回は深さ60km以上かつ震央から80km以内にあり、この部分がスラブ内地震の余震活動そのものである。その累積曲線はSGC公表の余震回数とよく一致する。残りは同じカタログが記録する背景地震活動であり、カタログの総数が公式の余震回数を上回るのはこのためである。規模が小さく減衰の速い余震活動は、やや深発の地震に想定される経過である。</a:t>
            </a:r>
            <a:endParaRPr lang="en-US" sz="9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7636974" y="3200400"/>
            <a:ext cx="3507829"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住宅被害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15,568棟</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UNGRD状況報告（8月11日）。同日の大統領集計は死者181人、県・市の発表を積み上げると240人。住宅は損壊13,067棟・全壊2,501棟。</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グラフは大統領による8月11日の内訳（合計181人、うち97.6%が県都）である。同日のUNGRD状況報告は182人。県・市が個別に発表した数値を積み上げると240人となり、大統領の値より59人多い。県都以外の市町村を含み、発表時刻も異なるためである。本報告はいずれか一つを選ばず3つとも残している。引用すべきは公式の全国値、今後の推移を先取りするのが県別の積み上げ値である。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182人（UNGRD状況報告、8月11日）／181人（大統領。うち97.6%が県都）／県・市の発表を積み上げると240人。政府の8月10日13:00の集計は111人。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UNGRD、大統領府、県・市政府（報道経由）</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2,542人（UNGRD、8月11日）。同日の700人、8月10日集計の87人から増加。県・Asocapitalesの部分集計では1,310人。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全国で189人（UNGRD、8月11日）。カリ市当局は同市で生き埋め230人・救出88人と報告。キブドでは倒壊した学校の下に子ども4人。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チョコ、リサラルダ、カルダス、バジェ・デル・カウカ、キンディオ、アンティオキアの各県で20市町村超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住宅15,568棟が被害。内訳は損壊13,067棟、全壊2,501棟（UNGRD、8月11日）。8月10日の1,612棟から増加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13,067棟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2,501棟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全国で80棟超（8月11日）。8月10日の61棟から増加。カリ市当局は同市だけで倒壊107棟、構造的被害643棟、避難命令18棟と報告。マニサレスは倒壊17棟・部分倒壊19棟。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報道（8月11日）、UNGRD、カリ市、マニサレス市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93か所が被害（UNGRD、8月11日）。8月10日の18か所から増加。7施設が閉鎖。カリの大学病院は約30%が崩落し、小児科・内科・新生児室の一部を含む3フロアが被害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884か所が被害（UNGRD、8月11日）。8月10日の52か所から増加。被災各県で学校から避難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427か所が被害（UNGRD、8月11日）。8月10日の17か所から増加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道路77路線が被害（UNGRD、8月11日）。8月10日の18路線から増加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地方6空港が被害、7空港で運航停止。ペレイラのマテカニャ国際空港旅客ターミナルが一部倒壊。ペレイラ、マニサレス、キブド、アルメニア、カルタゴ、ブエナベントゥーラで運航停止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コロンビア当局からの正式な支援要請は国連に届いていない。</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申し出はあるが、コロンビアは要請していない
</a:t>
            </a:r>
            <a:pPr algn="l" indent="0" marL="0">
              <a:buNone/>
            </a:pPr>
            <a:r>
              <a:rPr lang="en-US" sz="950" dirty="0">
                <a:solidFill>
                  <a:srgbClr val="7A2E0E"/>
                </a:solidFill>
                <a:latin typeface="Meiryo" pitchFamily="34" charset="0"/>
                <a:ea typeface="Meiryo" pitchFamily="34" charset="-122"/>
                <a:cs typeface="Meiryo" pitchFamily="34" charset="-120"/>
              </a:rPr>
              <a:t>発災2日目の構図は、多数の申し出と、それを要請に転換していない政府である。8月11日時点で国連には正式な要請が届いておらず、実際に動いた二国間支援は資金（米国1,550万米ドル、EU10万ユーロ、CAF50万米ドル）と、エクアドルのUSARチーム、衛星マッピングである。法1523号の下で対応を指揮するのはコロンビア自身であり、申し出は外務省とUNGRDを通じて受け入れられる。今後の焦点は、捜索救助の作業量——カリだけで生き埋め230人——が国内の対応能力を上回り、この構図が変わるかどうかであ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調査が被害に追いついた分だけ数値は膨れ上がった。33時間で、UNGRDの発表ベースでも死者は111人から182人、負傷者は87人から2,542人、住宅被害は1,612棟から15,568棟、学校被害は52か所から884か所、道路被害は18路線から77路線に増えた。この急増を引き起こす新たな出来事があったわけではなく、調査隊がそれまで到達していなかった場所に入っただけである。初期値の読み方として二つ。初日の数値は災害の規模ではなく調査の到達範囲を表すこと、そして全国値は県別値に遅れること（本件では1日で死者59人分）である。</a:t>
            </a:r>
            <a:endParaRPr lang="en-US" sz="780" dirty="0"/>
          </a:p>
          <a:p>
            <a:pPr algn="l" marL="342900" indent="-342900">
              <a:buSzPct val="100000"/>
              <a:buChar char="•"/>
            </a:pPr>
            <a:r>
              <a:rPr lang="en-US" sz="78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80" dirty="0"/>
          </a:p>
          <a:p>
            <a:pPr algn="l" marL="342900" indent="-342900">
              <a:buSzPct val="100000"/>
              <a:buChar char="•"/>
            </a:pPr>
            <a:r>
              <a:rPr lang="en-US" sz="78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8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2026-08-12T00:26:56Z</dcterms:created>
  <dcterms:modified xsi:type="dcterms:W3CDTF">2026-08-12T00:26:56Z</dcterms:modified>
</cp:coreProperties>
</file>