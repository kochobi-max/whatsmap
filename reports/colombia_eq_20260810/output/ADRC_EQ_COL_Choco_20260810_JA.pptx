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F3864"/>
                </a:solidFill>
                <a:latin typeface="Arial"/>
              </a:defRPr>
            </a:pPr>
            <a:r>
              <a:rPr sz="950" b="0" i="0" u="none" strike="noStrike">
                <a:solidFill>
                  <a:srgbClr val="1F3864"/>
                </a:solidFill>
                <a:latin typeface="Arial"/>
              </a:rPr>
              <a:t>揺れの強さ別の曝露人口（百万人、USGS PAGER）</a:t>
            </a:r>
          </a:p>
        </c:rich>
      </c:tx>
      <c:layout/>
      <c:overlay val="0"/>
    </c:title>
    <c:autoTitleDeleted val="0"/>
    <c:plotArea>
      <c:layout/>
      <c:barChart>
        <c:barDir val="col"/>
        <c:grouping val="clustered"/>
        <c:varyColors val="0"/>
        <c:ser>
          <c:idx val="0"/>
          <c:order val="0"/>
          <c:tx>
            <c:strRef>
              <c:f>Sheet1!$B$1</c:f>
              <c:strCache>
                <c:ptCount val="1"/>
                <c:pt idx="0">
                  <c:v>曝露人口</c:v>
                </c:pt>
              </c:strCache>
            </c:strRef>
          </c:tx>
          <c:spPr>
            <a:solidFill>
              <a:srgbClr val="2E5496"/>
            </a:solidFill>
            <a:effectLst/>
          </c:spPr>
          <c:invertIfNegative val="0"/>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MMI VII</c:v>
                  </c:pt>
                  <c:pt idx="1">
                    <c:v>MMI VI</c:v>
                  </c:pt>
                  <c:pt idx="2">
                    <c:v>MMI V</c:v>
                  </c:pt>
                </c:lvl>
              </c:multiLvlStrCache>
            </c:multiLvlStrRef>
          </c:cat>
          <c:val>
            <c:numRef>
              <c:f>Sheet1!$B$2:$B$4</c:f>
              <c:numCache>
                <c:formatCode>General</c:formatCode>
                <c:ptCount val="3"/>
                <c:pt idx="0">
                  <c:v>1.3</c:v>
                </c:pt>
                <c:pt idx="1">
                  <c:v>9.2</c:v>
                </c:pt>
                <c:pt idx="2">
                  <c:v>24</c:v>
                </c:pt>
              </c:numCache>
            </c:numRef>
          </c:val>
        </c:ser>
        <c:dLbls>
          <c:numFmt formatCode="#,##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A6A6A"/>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9D9D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50" b="0" i="0" u="none" strike="noStrike">
                <a:solidFill>
                  <a:srgbClr val="1F3864"/>
                </a:solidFill>
                <a:latin typeface="Arial"/>
              </a:defRPr>
            </a:pPr>
            <a:r>
              <a:rPr sz="1050" b="0" i="0" u="none" strike="noStrike">
                <a:solidFill>
                  <a:srgbClr val="1F3864"/>
                </a:solidFill>
                <a:latin typeface="Arial"/>
              </a:rPr>
              <a:t>県別の死者数（暫定）</a:t>
            </a:r>
          </a:p>
        </c:rich>
      </c:tx>
      <c:layout/>
      <c:overlay val="0"/>
    </c:title>
    <c:autoTitleDeleted val="0"/>
    <c:plotArea>
      <c:layout/>
      <c:barChart>
        <c:barDir val="bar"/>
        <c:grouping val="clustered"/>
        <c:varyColors val="0"/>
        <c:ser>
          <c:idx val="0"/>
          <c:order val="0"/>
          <c:tx>
            <c:strRef>
              <c:f>Sheet1!$B$1</c:f>
              <c:strCache>
                <c:ptCount val="1"/>
                <c:pt idx="0">
                  <c:v>死者</c:v>
                </c:pt>
              </c:strCache>
            </c:strRef>
          </c:tx>
          <c:spPr>
            <a:solidFill>
              <a:srgbClr val="C00000"/>
            </a:solidFill>
            <a:effectLst/>
          </c:spPr>
          <c:invertIfNegative val="0"/>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リサラルダ県（ペレイラ）</c:v>
                  </c:pt>
                  <c:pt idx="1">
                    <c:v>バジェ・デル・カウカ県（カリ）</c:v>
                  </c:pt>
                  <c:pt idx="2">
                    <c:v>チョコ県</c:v>
                  </c:pt>
                  <c:pt idx="3">
                    <c:v>カルダス県（マニサレス）</c:v>
                  </c:pt>
                  <c:pt idx="4">
                    <c:v>アンティオキア県</c:v>
                  </c:pt>
                </c:lvl>
              </c:multiLvlStrCache>
            </c:multiLvlStrRef>
          </c:cat>
          <c:val>
            <c:numRef>
              <c:f>Sheet1!$B$2:$B$6</c:f>
              <c:numCache>
                <c:formatCode>General</c:formatCode>
                <c:ptCount val="5"/>
                <c:pt idx="0">
                  <c:v>40</c:v>
                </c:pt>
                <c:pt idx="1">
                  <c:v>27</c:v>
                </c:pt>
                <c:pt idx="2">
                  <c:v>9</c:v>
                </c:pt>
                <c:pt idx="3">
                  <c:v>4</c:v>
                </c:pt>
                <c:pt idx="4">
                  <c:v>1</c:v>
                </c:pt>
              </c:numCache>
            </c:numRef>
          </c:val>
        </c:ser>
        <c:dLbls>
          <c:numFmt formatCode="#,##0"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222222"/>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9D9D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A6A6A"/>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earthquake.usgs.gov/earthquakes/eventpage/us6000tjl2/executive" TargetMode="External"/><Relationship Id="rId6" Type="http://schemas.openxmlformats.org/officeDocument/2006/relationships/hyperlink" Target="https://www.sgc.gov.co/" TargetMode="External"/><Relationship Id="rId7" Type="http://schemas.openxmlformats.org/officeDocument/2006/relationships/hyperlink" Target="https://portal.gestiondelriesgo.gov.co/" TargetMode="Externa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france24.com/en/americas/20260810-powerful-quake-rocks-colombia-causing-major-damage"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4-1.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portal.gestiondelriesgo.gov.co/"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colombiaone.com/2026/08/10/earthquake-colombia-official-details/" TargetMode="External"/><Relationship Id="rId1" Type="http://schemas.openxmlformats.org/officeDocument/2006/relationships/image" Target="../media/image-5-1.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portal.gestiondelriesgo.gov.co/" TargetMode="External"/><Relationship Id="rId4" Type="http://schemas.openxmlformats.org/officeDocument/2006/relationships/hyperlink" Target="https://colombiaone.com/2026/08/10/earthquake-colombia-official-details/" TargetMode="External"/><Relationship Id="rId5" Type="http://schemas.openxmlformats.org/officeDocument/2006/relationships/hyperlink" Target="https://www.cbsnews.com/news/colombia-earthquake-western-region-evacuations/" TargetMode="External"/><Relationship Id="rId1" Type="http://schemas.openxmlformats.org/officeDocument/2006/relationships/image" Target="../media/image-6-1.png"/><Relationship Id="rId2" Type="http://schemas.openxmlformats.org/officeDocument/2006/relationships/image" Target="../media/image-6-2.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4" Type="http://schemas.openxmlformats.org/officeDocument/2006/relationships/hyperlink" Target="https://earthquake.usgs.gov/earthquakes/eventpage/us6000tjl2/executive"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gdacs.org/report.aspx?eventid=1557236&amp;eventtype=EQ" TargetMode="External"/><Relationship Id="rId3" Type="http://schemas.openxmlformats.org/officeDocument/2006/relationships/chart" Target="/ppt/charts/chart1.xml"/><Relationship Id="rId1" Type="http://schemas.openxmlformats.org/officeDocument/2006/relationships/image" Target="../media/image-7-1.png"/><Relationship Id="rId2" Type="http://schemas.openxmlformats.org/officeDocument/2006/relationships/image" Target="../media/image-7-2.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www.sgc.gov.co/detallesismo/SGC2026pqqmro/mmi" TargetMode="External"/><Relationship Id="rId4" Type="http://schemas.openxmlformats.org/officeDocument/2006/relationships/hyperlink" Target="https://www.sgc.gov.co/detallesismo/SGC2026pqqmro/mmi" TargetMode="External"/><Relationship Id="rId5" Type="http://schemas.openxmlformats.org/officeDocument/2006/relationships/hyperlink" Target="https://www.sgc.gov.co/detallesismo/SGC2026pqqmro/" TargetMode="External"/><Relationship Id="rId6" Type="http://schemas.openxmlformats.org/officeDocument/2006/relationships/hyperlink" Target="https://earthquake.usgs.gov/earthquakes/eventpage/us6000tjl2/executive" TargetMode="External"/><Relationship Id="rId1" Type="http://schemas.openxmlformats.org/officeDocument/2006/relationships/image" Target="../media/image-8-1.png"/><Relationship Id="rId2" Type="http://schemas.openxmlformats.org/officeDocument/2006/relationships/image" Target="../media/image-8-2.jp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www.sgc.gov.co/" TargetMode="External"/><Relationship Id="rId3" Type="http://schemas.openxmlformats.org/officeDocument/2006/relationships/hyperlink" Target="https://earthquake.usgs.gov/earthquakes/eventpage/us6000tjl2/executive" TargetMode="External"/><Relationship Id="rId1" Type="http://schemas.openxmlformats.org/officeDocument/2006/relationships/image" Target="../media/image-9-1.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www.france24.com/en/americas/20260810-powerful-quake-rocks-colombia-causing-major-damage" TargetMode="External"/><Relationship Id="rId4" Type="http://schemas.openxmlformats.org/officeDocument/2006/relationships/hyperlink" Target="https://www.cnn.com/2026/08/10/world/live-news/colombia-earthquake-san-jose-del-palmar" TargetMode="External"/><Relationship Id="rId5" Type="http://schemas.openxmlformats.org/officeDocument/2006/relationships/hyperlink" Target="https://www.cbsnews.com/news/colombia-earthquake-western-region-evacuations/" TargetMode="External"/><Relationship Id="rId6" Type="http://schemas.openxmlformats.org/officeDocument/2006/relationships/hyperlink" Target="https://www.nbcnews.com/world/latin-america/strong-earthquake-colombia-ecuador-people-evacuating-homes-buildings-rcna591709" TargetMode="External"/><Relationship Id="rId2" Type="http://schemas.openxmlformats.org/officeDocument/2006/relationships/chart" Target="/ppt/charts/chart2.xml"/><Relationship Id="rId1" Type="http://schemas.openxmlformats.org/officeDocument/2006/relationships/image" Target="../media/image-10-1.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1-1.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earthquake-colombia-official-details/" TargetMode="External"/><Relationship Id="rId4" Type="http://schemas.openxmlformats.org/officeDocument/2006/relationships/hyperlink" Target="https://www.cnn.com/2026/08/10/world/live-news/colombia-earthquake-san-jose-del-palmar" TargetMode="External"/><Relationship Id="rId1" Type="http://schemas.openxmlformats.org/officeDocument/2006/relationships/image" Target="../media/image-12-1.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colombiaone.com/2026/08/10/colombia-national-disaster/" TargetMode="External"/><Relationship Id="rId4"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3-1.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reliefweb.int/country/col" TargetMode="External"/><Relationship Id="rId1" Type="http://schemas.openxmlformats.org/officeDocument/2006/relationships/image" Target="../media/image-14-1.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isasterscharter.org/activations" TargetMode="External"/><Relationship Id="rId3" Type="http://schemas.openxmlformats.org/officeDocument/2006/relationships/hyperlink" Target="https://mapping.emergency.copernicus.eu/activations/EMSR916/" TargetMode="External"/><Relationship Id="rId4" Type="http://schemas.openxmlformats.org/officeDocument/2006/relationships/hyperlink" Target="https://gdacs.org/report.aspx?eventid=1557236&amp;eventtype=EQ" TargetMode="External"/><Relationship Id="rId1" Type="http://schemas.openxmlformats.org/officeDocument/2006/relationships/image" Target="../media/image-15-1.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mapping.emergency.copernicus.eu/activations/EMSR916/" TargetMode="External"/><Relationship Id="rId4" Type="http://schemas.openxmlformats.org/officeDocument/2006/relationships/hyperlink" Target="https://mapping.emergency.copernicus.eu/activations/EMSR916/" TargetMode="External"/><Relationship Id="rId5"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16-1.png"/><Relationship Id="rId2" Type="http://schemas.openxmlformats.org/officeDocument/2006/relationships/image" Target="../media/image-16-2.jp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un-spider.org/national-unit-disaster-risk-management-ungrd-colombia" TargetMode="External"/><Relationship Id="rId3" Type="http://schemas.openxmlformats.org/officeDocument/2006/relationships/hyperlink" Target="https://www.preventionweb.net/publication/colombia-plan-nacional-de-gestion-del-riesgo-de-desastres-pngrd-2015-2030" TargetMode="External"/><Relationship Id="rId4" Type="http://schemas.openxmlformats.org/officeDocument/2006/relationships/hyperlink" Target="https://www.globalquakemodel.org/seismic-regulations/colombia" TargetMode="External"/><Relationship Id="rId5" Type="http://schemas.openxmlformats.org/officeDocument/2006/relationships/hyperlink" Target="https://www.oecd.org/en/publications/risk-governance-scan-of-colombia_eeb81954-en.html" TargetMode="External"/><Relationship Id="rId1" Type="http://schemas.openxmlformats.org/officeDocument/2006/relationships/image" Target="../media/image-17-1.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www.globalquakemodel.org/seismic-regulations/colombia" TargetMode="External"/><Relationship Id="rId3" Type="http://schemas.openxmlformats.org/officeDocument/2006/relationships/hyperlink" Target="https://www.preventionweb.net/publication/colombia-plan-nacional-de-gestion-del-riesgo-de-desastres-pngrd-2015-2030" TargetMode="External"/><Relationship Id="rId1" Type="http://schemas.openxmlformats.org/officeDocument/2006/relationships/image" Target="../media/image-18-1.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globalquakemodel.org/seismic-regulations/colombia" TargetMode="External"/><Relationship Id="rId1" Type="http://schemas.openxmlformats.org/officeDocument/2006/relationships/image" Target="../media/image-19-1.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portal.gestiondelriesgo.gov.co/" TargetMode="External"/><Relationship Id="rId3" Type="http://schemas.openxmlformats.org/officeDocument/2006/relationships/hyperlink" Target="https://earthquake.usgs.gov/earthquakes/eventpage/us6000tjl2/executive" TargetMode="External"/><Relationship Id="rId4" Type="http://schemas.openxmlformats.org/officeDocument/2006/relationships/hyperlink" Target="https://reliefweb.int/country/col" TargetMode="External"/><Relationship Id="rId1" Type="http://schemas.openxmlformats.org/officeDocument/2006/relationships/image" Target="../media/image-20-1.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earthquake.usgs.gov/earthquakes/eventpage/us6000tjl2/executive" TargetMode="External"/><Relationship Id="rId3" Type="http://schemas.openxmlformats.org/officeDocument/2006/relationships/hyperlink" Target="https://www.sgc.gov.co/" TargetMode="External"/><Relationship Id="rId4" Type="http://schemas.openxmlformats.org/officeDocument/2006/relationships/hyperlink" Target="https://www.sgc.gov.co/detallesismo/SGC2026pqqmro/" TargetMode="External"/><Relationship Id="rId5" Type="http://schemas.openxmlformats.org/officeDocument/2006/relationships/hyperlink" Target="https://www.sgc.gov.co/detallesismo/SGC2026pqqmro/mmi" TargetMode="External"/><Relationship Id="rId6" Type="http://schemas.openxmlformats.org/officeDocument/2006/relationships/hyperlink" Target="https://portal.gestiondelriesgo.gov.co/" TargetMode="External"/><Relationship Id="rId7" Type="http://schemas.openxmlformats.org/officeDocument/2006/relationships/hyperlink" Target="https://gdacs.org/report.aspx?eventid=1557236&amp;eventtype=EQ" TargetMode="External"/><Relationship Id="rId8" Type="http://schemas.openxmlformats.org/officeDocument/2006/relationships/hyperlink" Target="https://disasterscharter.org/activations" TargetMode="External"/><Relationship Id="rId9" Type="http://schemas.openxmlformats.org/officeDocument/2006/relationships/hyperlink" Target="https://mapping.emergency.copernicus.eu/activations/EMSR916/" TargetMode="External"/><Relationship Id="rId10" Type="http://schemas.openxmlformats.org/officeDocument/2006/relationships/hyperlink" Target="https://reliefweb.int/country/col" TargetMode="External"/><Relationship Id="rId11" Type="http://schemas.openxmlformats.org/officeDocument/2006/relationships/hyperlink" Target="https://www.paho.org/en/colombia" TargetMode="External"/><Relationship Id="rId12" Type="http://schemas.openxmlformats.org/officeDocument/2006/relationships/hyperlink" Target="https://www.preventionweb.net/publication/colombia-plan-nacional-de-gestion-del-riesgo-de-desastres-pngrd-2015-2030" TargetMode="External"/><Relationship Id="rId13" Type="http://schemas.openxmlformats.org/officeDocument/2006/relationships/hyperlink" Target="https://www.globalquakemodel.org/seismic-regulations/colombia" TargetMode="External"/><Relationship Id="rId14" Type="http://schemas.openxmlformats.org/officeDocument/2006/relationships/hyperlink" Target="https://un-spider.org/national-unit-disaster-risk-management-ungrd-colombia" TargetMode="External"/><Relationship Id="rId15" Type="http://schemas.openxmlformats.org/officeDocument/2006/relationships/hyperlink" Target="https://www.oecd.org/en/publications/risk-governance-scan-of-colombia_eeb81954-en.html" TargetMode="External"/><Relationship Id="rId16" Type="http://schemas.openxmlformats.org/officeDocument/2006/relationships/hyperlink" Target="https://www.cnn.com/2026/08/10/world/live-news/colombia-earthquake-san-jose-del-palmar" TargetMode="External"/><Relationship Id="rId1" Type="http://schemas.openxmlformats.org/officeDocument/2006/relationships/image" Target="../media/image-21-1.png"/><Relationship Id="rId17" Type="http://schemas.openxmlformats.org/officeDocument/2006/relationships/slideLayout" Target="../slideLayouts/slideLayout1.xml"/><Relationship Id="rId1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www.france24.com/en/americas/20260810-powerful-quake-rocks-colombia-causing-major-damage" TargetMode="External"/><Relationship Id="rId3" Type="http://schemas.openxmlformats.org/officeDocument/2006/relationships/hyperlink" Target="https://www.aljazeera.com/news/2026/8/10/7-4-magnitude-earthquake-hits-colombia-killing-at-least-20" TargetMode="External"/><Relationship Id="rId4" Type="http://schemas.openxmlformats.org/officeDocument/2006/relationships/hyperlink" Target="https://www.cbsnews.com/news/colombia-earthquake-western-region-evacuations/" TargetMode="External"/><Relationship Id="rId5" Type="http://schemas.openxmlformats.org/officeDocument/2006/relationships/hyperlink" Target="https://www.nbcnews.com/world/latin-america/strong-earthquake-colombia-ecuador-people-evacuating-homes-buildings-rcna591709" TargetMode="External"/><Relationship Id="rId6" Type="http://schemas.openxmlformats.org/officeDocument/2006/relationships/hyperlink" Target="https://colombiaone.com/2026/08/10/earthquake-colombia-official-details/" TargetMode="External"/><Relationship Id="rId7" Type="http://schemas.openxmlformats.org/officeDocument/2006/relationships/hyperlink" Target="https://colombiaone.com/2026/08/10/colombia-national-disaster/" TargetMode="External"/><Relationship Id="rId8" Type="http://schemas.openxmlformats.org/officeDocument/2006/relationships/hyperlink" Target="https://www.infobae.com/colombia/2026/08/10/por-que-el-temblor-en-colombia-de-este-lunes-10-de-agosto-duro-una-eternidad-el-servicio-geologico-explico-que-paso/" TargetMode="External"/><Relationship Id="rId9" Type="http://schemas.openxmlformats.org/officeDocument/2006/relationships/hyperlink" Target="https://www3.nhk.or.jp/news/" TargetMode="External"/><Relationship Id="rId10" Type="http://schemas.openxmlformats.org/officeDocument/2006/relationships/hyperlink" Target="https://www.nikkei.com/article/DGXZQOGN108V30Q6A810C2000000/" TargetMode="External"/><Relationship Id="rId11" Type="http://schemas.openxmlformats.org/officeDocument/2006/relationships/hyperlink" Target="https://www.jiji.com/jc/article?k=2026081000878&amp;g=int" TargetMode="External"/><Relationship Id="rId12" Type="http://schemas.openxmlformats.org/officeDocument/2006/relationships/hyperlink" Target="https://www.savethechildren.org/us/about-us/media-and-news/2026-press-releases/children-at-risk-after-earthquake-strikes-colombia" TargetMode="External"/><Relationship Id="rId13" Type="http://schemas.openxmlformats.org/officeDocument/2006/relationships/hyperlink" Target="https://www.directrelief.org/2026/08/colombia-earthquake-7-4-magnitude-direct-relief-response/" TargetMode="External"/><Relationship Id="rId14" Type="http://schemas.openxmlformats.org/officeDocument/2006/relationships/hyperlink" Target="https://www.americares.org/crisis-alerts/colombia-earthquake-august-2026/" TargetMode="External"/><Relationship Id="rId15" Type="http://schemas.openxmlformats.org/officeDocument/2006/relationships/hyperlink" Target="https://glidenumber.net/" TargetMode="External"/><Relationship Id="rId16" Type="http://schemas.openxmlformats.org/officeDocument/2006/relationships/hyperlink" Target="https://www.adrc.asia/" TargetMode="External"/><Relationship Id="rId1" Type="http://schemas.openxmlformats.org/officeDocument/2006/relationships/image" Target="../media/image-22-1.png"/><Relationship Id="rId17" Type="http://schemas.openxmlformats.org/officeDocument/2006/relationships/slideLayout" Target="../slideLayouts/slideLayout1.xml"/><Relationship Id="rId1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www.democrata.es/en/international/von-der-leyen-expresses-the-eu-s-support-for-colombia-and-activates-copernicus-after-the-earthquake/" TargetMode="External"/><Relationship Id="rId1" Type="http://schemas.openxmlformats.org/officeDocument/2006/relationships/image" Target="../media/image-23-1.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www.adrc.asia/"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365760" y="256032"/>
            <a:ext cx="5486400" cy="274320"/>
          </a:xfrm>
          <a:prstGeom prst="rect">
            <a:avLst/>
          </a:prstGeom>
          <a:noFill/>
          <a:ln/>
        </p:spPr>
        <p:txBody>
          <a:bodyPr wrap="square" rtlCol="0" anchor="ctr"/>
          <a:lstStyle/>
          <a:p>
            <a:pPr indent="0" marL="0">
              <a:buNone/>
            </a:pPr>
            <a:r>
              <a:rPr lang="en-US" sz="1100" i="1" dirty="0">
                <a:solidFill>
                  <a:srgbClr val="6A6A6A"/>
                </a:solidFill>
                <a:latin typeface="Meiryo" pitchFamily="34" charset="0"/>
                <a:ea typeface="Meiryo" pitchFamily="34" charset="-122"/>
                <a:cs typeface="Meiryo" pitchFamily="34" charset="-120"/>
              </a:rPr>
              <a:t>災害レポート</a:t>
            </a:r>
            <a:endParaRPr lang="en-US" sz="1100" dirty="0"/>
          </a:p>
        </p:txBody>
      </p:sp>
      <p:sp>
        <p:nvSpPr>
          <p:cNvPr id="4" name="Text 1"/>
          <p:cNvSpPr/>
          <p:nvPr/>
        </p:nvSpPr>
        <p:spPr>
          <a:xfrm>
            <a:off x="457200" y="566928"/>
            <a:ext cx="11274552" cy="566928"/>
          </a:xfrm>
          <a:prstGeom prst="rect">
            <a:avLst/>
          </a:prstGeom>
          <a:noFill/>
          <a:ln/>
        </p:spPr>
        <p:txBody>
          <a:bodyPr wrap="square" rtlCol="0" anchor="ctr"/>
          <a:lstStyle/>
          <a:p>
            <a:pPr algn="ctr" indent="0" marL="0">
              <a:buNone/>
            </a:pPr>
            <a:r>
              <a:rPr lang="en-US" sz="2400" b="1" dirty="0">
                <a:solidFill>
                  <a:srgbClr val="111111"/>
                </a:solidFill>
                <a:latin typeface="Meiryo" pitchFamily="34" charset="0"/>
                <a:ea typeface="Meiryo" pitchFamily="34" charset="-122"/>
                <a:cs typeface="Meiryo" pitchFamily="34" charset="-120"/>
              </a:rPr>
              <a:t>2026年 チョコ地震（コロンビア）</a:t>
            </a:r>
            <a:endParaRPr lang="en-US" sz="2400" dirty="0"/>
          </a:p>
        </p:txBody>
      </p:sp>
      <p:sp>
        <p:nvSpPr>
          <p:cNvPr id="5" name="Text 2"/>
          <p:cNvSpPr/>
          <p:nvPr/>
        </p:nvSpPr>
        <p:spPr>
          <a:xfrm>
            <a:off x="457200" y="1115568"/>
            <a:ext cx="11274552" cy="292608"/>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M7.4、チョコ県サンホセ・デル・パルマル、2026年8月10日</a:t>
            </a:r>
            <a:endParaRPr lang="en-US" sz="1300" dirty="0"/>
          </a:p>
        </p:txBody>
      </p:sp>
      <p:sp>
        <p:nvSpPr>
          <p:cNvPr id="6" name="Text 3"/>
          <p:cNvSpPr/>
          <p:nvPr/>
        </p:nvSpPr>
        <p:spPr>
          <a:xfrm>
            <a:off x="457200" y="1408176"/>
            <a:ext cx="11274552" cy="274320"/>
          </a:xfrm>
          <a:prstGeom prst="rect">
            <a:avLst/>
          </a:prstGeom>
          <a:noFill/>
          <a:ln/>
        </p:spPr>
        <p:txBody>
          <a:bodyPr wrap="square" rtlCol="0" anchor="ctr"/>
          <a:lstStyle/>
          <a:p>
            <a:pPr algn="ctr" indent="0" marL="0">
              <a:buNone/>
            </a:pPr>
            <a:r>
              <a:rPr lang="en-US" sz="1150" dirty="0">
                <a:solidFill>
                  <a:srgbClr val="6A6A6A"/>
                </a:solidFill>
                <a:latin typeface="Meiryo" pitchFamily="34" charset="0"/>
                <a:ea typeface="Meiryo" pitchFamily="34" charset="-122"/>
                <a:cs typeface="Meiryo" pitchFamily="34" charset="-120"/>
              </a:rPr>
              <a:t>Mww 7.4   ·   深さ 107 km   ·   改正メルカリ震度 MMI VII（非常に強い）／USGS ShakeMap。SGCの体感震度図も同等   ·   GLIDE EQ-2026-000146-COL</a:t>
            </a:r>
            <a:endParaRPr lang="en-US" sz="1150" dirty="0"/>
          </a:p>
        </p:txBody>
      </p:sp>
      <p:sp>
        <p:nvSpPr>
          <p:cNvPr id="7" name="Shape 4"/>
          <p:cNvSpPr/>
          <p:nvPr/>
        </p:nvSpPr>
        <p:spPr>
          <a:xfrm>
            <a:off x="365760" y="1755648"/>
            <a:ext cx="11457432" cy="0"/>
          </a:xfrm>
          <a:prstGeom prst="line">
            <a:avLst/>
          </a:prstGeom>
          <a:noFill/>
          <a:ln w="12700">
            <a:solidFill>
              <a:srgbClr val="D9D9D9"/>
            </a:solidFill>
            <a:prstDash val="solid"/>
          </a:ln>
        </p:spPr>
      </p:sp>
      <p:sp>
        <p:nvSpPr>
          <p:cNvPr id="8" name="Text 5"/>
          <p:cNvSpPr/>
          <p:nvPr/>
        </p:nvSpPr>
        <p:spPr>
          <a:xfrm>
            <a:off x="365760"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①　世界とコロンビア</a:t>
            </a:r>
            <a:endParaRPr lang="en-US" sz="1000" dirty="0"/>
          </a:p>
        </p:txBody>
      </p:sp>
      <p:sp>
        <p:nvSpPr>
          <p:cNvPr id="9" name="Shape 6"/>
          <p:cNvSpPr/>
          <p:nvPr/>
        </p:nvSpPr>
        <p:spPr>
          <a:xfrm>
            <a:off x="365760" y="1938528"/>
            <a:ext cx="3712464" cy="2487168"/>
          </a:xfrm>
          <a:prstGeom prst="rect">
            <a:avLst/>
          </a:prstGeom>
          <a:solidFill>
            <a:srgbClr val="F7F7F7"/>
          </a:solidFill>
          <a:ln w="9525">
            <a:solidFill>
              <a:srgbClr val="D9D9D9"/>
            </a:solidFill>
            <a:prstDash val="solid"/>
          </a:ln>
        </p:spPr>
      </p:sp>
      <p:pic>
        <p:nvPicPr>
          <p:cNvPr id="10" name="Image 1" descr="/home/user/whatsmap/reports/colombia_eq_20260810/images/locator_world_ja.png">    </p:cNvPr>
          <p:cNvPicPr>
            <a:picLocks noChangeAspect="1"/>
          </p:cNvPicPr>
          <p:nvPr/>
        </p:nvPicPr>
        <p:blipFill>
          <a:blip r:embed="rId2"/>
          <a:stretch>
            <a:fillRect/>
          </a:stretch>
        </p:blipFill>
        <p:spPr>
          <a:xfrm>
            <a:off x="402336" y="2321025"/>
            <a:ext cx="3639312" cy="1722174"/>
          </a:xfrm>
          <a:prstGeom prst="rect">
            <a:avLst/>
          </a:prstGeom>
        </p:spPr>
      </p:pic>
      <p:sp>
        <p:nvSpPr>
          <p:cNvPr id="11" name="Text 7"/>
          <p:cNvSpPr/>
          <p:nvPr/>
        </p:nvSpPr>
        <p:spPr>
          <a:xfrm>
            <a:off x="4334256"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②　南米北西部</a:t>
            </a:r>
            <a:endParaRPr lang="en-US" sz="1000" dirty="0"/>
          </a:p>
        </p:txBody>
      </p:sp>
      <p:sp>
        <p:nvSpPr>
          <p:cNvPr id="12" name="Shape 8"/>
          <p:cNvSpPr/>
          <p:nvPr/>
        </p:nvSpPr>
        <p:spPr>
          <a:xfrm>
            <a:off x="4334256" y="1938528"/>
            <a:ext cx="3712464" cy="2487168"/>
          </a:xfrm>
          <a:prstGeom prst="rect">
            <a:avLst/>
          </a:prstGeom>
          <a:solidFill>
            <a:srgbClr val="F7F7F7"/>
          </a:solidFill>
          <a:ln w="9525">
            <a:solidFill>
              <a:srgbClr val="D9D9D9"/>
            </a:solidFill>
            <a:prstDash val="solid"/>
          </a:ln>
        </p:spPr>
      </p:sp>
      <p:pic>
        <p:nvPicPr>
          <p:cNvPr id="13" name="Image 2" descr="/home/user/whatsmap/reports/colombia_eq_20260810/images/locator_region_ja.png">    </p:cNvPr>
          <p:cNvPicPr>
            <a:picLocks noChangeAspect="1"/>
          </p:cNvPicPr>
          <p:nvPr/>
        </p:nvPicPr>
        <p:blipFill>
          <a:blip r:embed="rId3"/>
          <a:stretch>
            <a:fillRect/>
          </a:stretch>
        </p:blipFill>
        <p:spPr>
          <a:xfrm>
            <a:off x="4819327" y="1975104"/>
            <a:ext cx="2742322" cy="2414016"/>
          </a:xfrm>
          <a:prstGeom prst="rect">
            <a:avLst/>
          </a:prstGeom>
        </p:spPr>
      </p:pic>
      <p:sp>
        <p:nvSpPr>
          <p:cNvPr id="14" name="Text 9"/>
          <p:cNvSpPr/>
          <p:nvPr/>
        </p:nvSpPr>
        <p:spPr>
          <a:xfrm>
            <a:off x="8302752" y="1700784"/>
            <a:ext cx="3712464" cy="219456"/>
          </a:xfrm>
          <a:prstGeom prst="rect">
            <a:avLst/>
          </a:prstGeom>
          <a:noFill/>
          <a:ln/>
        </p:spPr>
        <p:txBody>
          <a:bodyPr wrap="square" lIns="0" tIns="0" rIns="0" bIns="0" rtlCol="0" anchor="ctr"/>
          <a:lstStyle/>
          <a:p>
            <a:pPr algn="l" indent="0" marL="0">
              <a:buNone/>
            </a:pPr>
            <a:r>
              <a:rPr lang="en-US" sz="1000" b="1" dirty="0">
                <a:solidFill>
                  <a:srgbClr val="1F3864"/>
                </a:solidFill>
                <a:latin typeface="Meiryo" pitchFamily="34" charset="0"/>
                <a:ea typeface="Meiryo" pitchFamily="34" charset="-122"/>
                <a:cs typeface="Meiryo" pitchFamily="34" charset="-120"/>
              </a:rPr>
              <a:t>③　震央と主な被災都市</a:t>
            </a:r>
            <a:endParaRPr lang="en-US" sz="1000" dirty="0"/>
          </a:p>
        </p:txBody>
      </p:sp>
      <p:sp>
        <p:nvSpPr>
          <p:cNvPr id="15" name="Shape 10"/>
          <p:cNvSpPr/>
          <p:nvPr/>
        </p:nvSpPr>
        <p:spPr>
          <a:xfrm>
            <a:off x="8302752" y="1938528"/>
            <a:ext cx="3712464" cy="2487168"/>
          </a:xfrm>
          <a:prstGeom prst="rect">
            <a:avLst/>
          </a:prstGeom>
          <a:solidFill>
            <a:srgbClr val="F7F7F7"/>
          </a:solidFill>
          <a:ln w="9525">
            <a:solidFill>
              <a:srgbClr val="D9D9D9"/>
            </a:solidFill>
            <a:prstDash val="solid"/>
          </a:ln>
        </p:spPr>
      </p:sp>
      <p:pic>
        <p:nvPicPr>
          <p:cNvPr id="16" name="Image 3" descr="/home/user/whatsmap/reports/colombia_eq_20260810/images/locator_epicentre_ja.png">    </p:cNvPr>
          <p:cNvPicPr>
            <a:picLocks noChangeAspect="1"/>
          </p:cNvPicPr>
          <p:nvPr/>
        </p:nvPicPr>
        <p:blipFill>
          <a:blip r:embed="rId4"/>
          <a:stretch>
            <a:fillRect/>
          </a:stretch>
        </p:blipFill>
        <p:spPr>
          <a:xfrm>
            <a:off x="8576552" y="1975104"/>
            <a:ext cx="3164864" cy="2414016"/>
          </a:xfrm>
          <a:prstGeom prst="rect">
            <a:avLst/>
          </a:prstGeom>
        </p:spPr>
      </p:pic>
      <p:sp>
        <p:nvSpPr>
          <p:cNvPr id="17" name="Text 11"/>
          <p:cNvSpPr/>
          <p:nvPr/>
        </p:nvSpPr>
        <p:spPr>
          <a:xfrm>
            <a:off x="365760" y="4462272"/>
            <a:ext cx="11430000" cy="201168"/>
          </a:xfrm>
          <a:prstGeom prst="rect">
            <a:avLst/>
          </a:prstGeom>
          <a:noFill/>
          <a:ln/>
        </p:spPr>
        <p:txBody>
          <a:bodyPr wrap="square" lIns="0" tIns="0" rIns="0" bIns="0" rtlCol="0" anchor="ctr"/>
          <a:lstStyle/>
          <a:p>
            <a:pPr algn="l" indent="0" marL="0">
              <a:buNone/>
            </a:pPr>
            <a:r>
              <a:rPr lang="en-US" sz="750" i="1" dirty="0">
                <a:solidFill>
                  <a:srgbClr val="6A6A6A"/>
                </a:solidFill>
                <a:latin typeface="Meiryo" pitchFamily="34" charset="0"/>
                <a:ea typeface="Meiryo" pitchFamily="34" charset="-122"/>
                <a:cs typeface="Meiryo" pitchFamily="34" charset="-120"/>
              </a:rPr>
              <a:t>ベースマップ：Natural Earth（110m）。距離は公表座標から計算。図は模式図であり公式のハザードマップではない。</a:t>
            </a:r>
            <a:endParaRPr lang="en-US" sz="750" dirty="0"/>
          </a:p>
        </p:txBody>
      </p:sp>
      <p:sp>
        <p:nvSpPr>
          <p:cNvPr id="18" name="Shape 12"/>
          <p:cNvSpPr/>
          <p:nvPr/>
        </p:nvSpPr>
        <p:spPr>
          <a:xfrm>
            <a:off x="0" y="4663440"/>
            <a:ext cx="12188952" cy="1499616"/>
          </a:xfrm>
          <a:prstGeom prst="rect">
            <a:avLst/>
          </a:prstGeom>
          <a:solidFill>
            <a:srgbClr val="262626"/>
          </a:solidFill>
          <a:ln w="12700">
            <a:solidFill>
              <a:srgbClr val="333333"/>
            </a:solidFill>
            <a:prstDash val="solid"/>
          </a:ln>
        </p:spPr>
      </p:sp>
      <p:sp>
        <p:nvSpPr>
          <p:cNvPr id="19" name="Text 13"/>
          <p:cNvSpPr/>
          <p:nvPr/>
        </p:nvSpPr>
        <p:spPr>
          <a:xfrm>
            <a:off x="457200" y="4745736"/>
            <a:ext cx="11274552" cy="1335024"/>
          </a:xfrm>
          <a:prstGeom prst="rect">
            <a:avLst/>
          </a:prstGeom>
          <a:noFill/>
          <a:ln/>
        </p:spPr>
        <p:txBody>
          <a:bodyPr wrap="square" lIns="38100" tIns="38100" rIns="38100" bIns="38100" rtlCol="0" anchor="t"/>
          <a:lstStyle/>
          <a:p>
            <a:pPr algn="l" indent="0" marL="0">
              <a:buNone/>
            </a:pPr>
            <a:r>
              <a:rPr lang="en-US" sz="1150" b="1" dirty="0">
                <a:solidFill>
                  <a:srgbClr val="FFC000"/>
                </a:solidFill>
                <a:latin typeface="Meiryo" pitchFamily="34" charset="0"/>
                <a:ea typeface="Meiryo" pitchFamily="34" charset="-122"/>
                <a:cs typeface="Meiryo" pitchFamily="34" charset="-120"/>
              </a:rPr>
              <a:t>概要　　</a:t>
            </a:r>
            <a:pPr algn="l" indent="0" marL="0">
              <a:buNone/>
            </a:pPr>
            <a:r>
              <a:rPr lang="en-US" sz="950" dirty="0">
                <a:solidFill>
                  <a:srgbClr val="FFFFFF"/>
                </a:solidFill>
                <a:latin typeface="Meiryo" pitchFamily="34" charset="0"/>
                <a:ea typeface="Meiryo" pitchFamily="34" charset="-122"/>
                <a:cs typeface="Meiryo" pitchFamily="34" charset="-120"/>
              </a:rPr>
              <a:t>2026年8月10日07:34（現地時間、12:34 UTC）、コロンビア西部チョコ県サンホセ・デル・パルマルの東5kmを震源とするMww7.4の地震が発生した。深さは約107km（USGS）で、沈み込むナスカプレート内部のやや深発・横ずれ型。深いために強い揺れ（MMI VI〜VII）はコーヒー地帯を含む広範囲に及び、約1,050万人が強い揺れにさらされた。SGCは過去10年でコロンビア最大規模の地震としている。8月10日17:00（現地）時点で政府は死者111人・負傷者87人、建物被害1,600棟超（住宅損壊1,575、全壊37、建物倒壊61）、医療施設18・教育施設52・幹線道路18・地方空港6か所の被害を発表。ペレイラのマテカニャ国際空港旅客ターミナルが一部倒壊、マニサレスの大聖堂の塔が身廊に崩落、カリの大学病院は約30%が損壊した。大統領は国家災害を宣言し、チョコ県に統合指揮所を設置、USAR4隊と軍を投入した。津波はない。数値はすべて速報値であり、被害調査の進展により変動する。</a:t>
            </a:r>
            <a:endParaRPr lang="en-US" sz="1150" dirty="0"/>
          </a:p>
        </p:txBody>
      </p:sp>
      <p:sp>
        <p:nvSpPr>
          <p:cNvPr id="20" name="Text 1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endParaRPr lang="en-US" sz="850" dirty="0"/>
          </a:p>
        </p:txBody>
      </p:sp>
      <p:sp>
        <p:nvSpPr>
          <p:cNvPr id="21" name="Shape 15"/>
          <p:cNvSpPr/>
          <p:nvPr/>
        </p:nvSpPr>
        <p:spPr>
          <a:xfrm>
            <a:off x="10268712" y="6510528"/>
            <a:ext cx="1554480" cy="274320"/>
          </a:xfrm>
          <a:prstGeom prst="rect">
            <a:avLst/>
          </a:prstGeom>
          <a:solidFill>
            <a:srgbClr val="E8A317"/>
          </a:solidFill>
          <a:ln w="12700">
            <a:solidFill>
              <a:srgbClr val="E8A317"/>
            </a:solidFill>
            <a:prstDash val="solid"/>
          </a:ln>
        </p:spPr>
      </p:sp>
      <p:sp>
        <p:nvSpPr>
          <p:cNvPr id="22" name="Text 1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3" name="Text 1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地震テクトニクス：スラブ内地震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lab_section_ja.png">    </p:cNvPr>
          <p:cNvPicPr>
            <a:picLocks noChangeAspect="1"/>
          </p:cNvPicPr>
          <p:nvPr/>
        </p:nvPicPr>
        <p:blipFill>
          <a:blip r:embed="rId2"/>
          <a:stretch>
            <a:fillRect/>
          </a:stretch>
        </p:blipFill>
        <p:spPr>
          <a:xfrm>
            <a:off x="628161" y="1024128"/>
            <a:ext cx="6333199" cy="2980944"/>
          </a:xfrm>
          <a:prstGeom prst="rect">
            <a:avLst/>
          </a:prstGeom>
        </p:spPr>
      </p:pic>
      <p:sp>
        <p:nvSpPr>
          <p:cNvPr id="5" name="Text 1"/>
          <p:cNvSpPr/>
          <p:nvPr/>
        </p:nvSpPr>
        <p:spPr>
          <a:xfrm>
            <a:off x="365760" y="402336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模式断面図（ADRC作成）</a:t>
            </a:r>
            <a:endParaRPr lang="en-US" sz="800" dirty="0"/>
          </a:p>
        </p:txBody>
      </p:sp>
      <p:sp>
        <p:nvSpPr>
          <p:cNvPr id="6" name="Text 2"/>
          <p:cNvSpPr/>
          <p:nvPr/>
        </p:nvSpPr>
        <p:spPr>
          <a:xfrm>
            <a:off x="365760" y="4315968"/>
            <a:ext cx="5669280" cy="1828800"/>
          </a:xfrm>
          <a:prstGeom prst="rect">
            <a:avLst/>
          </a:prstGeom>
          <a:noFill/>
          <a:ln/>
        </p:spPr>
        <p:txBody>
          <a:bodyPr wrap="square" lIns="50800" tIns="50800" rIns="50800" bIns="50800" rtlCol="0" anchor="t"/>
          <a:lstStyle/>
          <a:p>
            <a:pPr algn="l" indent="0" marL="0">
              <a:buNone/>
            </a:pPr>
            <a:r>
              <a:rPr lang="en-US" sz="950" dirty="0">
                <a:solidFill>
                  <a:srgbClr val="222222"/>
                </a:solidFill>
                <a:latin typeface="Meiryo" pitchFamily="34" charset="0"/>
                <a:ea typeface="Meiryo" pitchFamily="34" charset="-122"/>
                <a:cs typeface="Meiryo" pitchFamily="34" charset="-120"/>
              </a:rPr>
              <a:t>コロンビアはナスカ・カリブ・南米の3プレートが会合する地域にある。太平洋岸沖でナスカプレートが年約50〜60mmで南米プレート下に沈み込み、そのスラブは西部・中央山脈の下で深さ70〜300kmに達する。今回はこのスラブ内部の深さ約107kmで破壊が起きた。そのため揺れはボゴタ、キト、パナマシティまで数百km届いた一方、地表地震断層や津波は生じていない。やや深発地震は高周波エネルギーを効率よく放射し減衰が緩やかなため、被害は震央近傍に集中せず多数の都市に分散する傾向がある。</a:t>
            </a:r>
            <a:endParaRPr lang="en-US" sz="950" dirty="0"/>
          </a:p>
        </p:txBody>
      </p:sp>
      <p:pic>
        <p:nvPicPr>
          <p:cNvPr id="7" name="Image 2" descr="/home/user/whatsmap/reports/colombia_eq_20260810/images/beachball_manual.png">    </p:cNvPr>
          <p:cNvPicPr>
            <a:picLocks noChangeAspect="1"/>
          </p:cNvPicPr>
          <p:nvPr/>
        </p:nvPicPr>
        <p:blipFill>
          <a:blip r:embed="rId3"/>
          <a:stretch>
            <a:fillRect/>
          </a:stretch>
        </p:blipFill>
        <p:spPr>
          <a:xfrm>
            <a:off x="6172200" y="4439412"/>
            <a:ext cx="1051560" cy="1051560"/>
          </a:xfrm>
          <a:prstGeom prst="rect">
            <a:avLst/>
          </a:prstGeom>
        </p:spPr>
      </p:pic>
      <p:sp>
        <p:nvSpPr>
          <p:cNvPr id="8" name="Text 3"/>
          <p:cNvSpPr/>
          <p:nvPr/>
        </p:nvSpPr>
        <p:spPr>
          <a:xfrm>
            <a:off x="5943600" y="5614416"/>
            <a:ext cx="1508760" cy="457200"/>
          </a:xfrm>
          <a:prstGeom prst="rect">
            <a:avLst/>
          </a:prstGeom>
          <a:noFill/>
          <a:ln/>
        </p:spPr>
        <p:txBody>
          <a:bodyPr wrap="square" lIns="0" tIns="0" rIns="0" bIns="0" rtlCol="0" anchor="t"/>
          <a:lstStyle/>
          <a:p>
            <a:pPr algn="ctr" indent="0" marL="0">
              <a:buNone/>
            </a:pPr>
            <a:r>
              <a:rPr lang="en-US" sz="750" b="1" dirty="0">
                <a:solidFill>
                  <a:srgbClr val="6A6A6A"/>
                </a:solidFill>
                <a:latin typeface="Meiryo" pitchFamily="34" charset="0"/>
                <a:ea typeface="Meiryo" pitchFamily="34" charset="-122"/>
                <a:cs typeface="Meiryo" pitchFamily="34" charset="-120"/>
              </a:rPr>
              <a:t>発震機構解（ビーチボール）
</a:t>
            </a:r>
            <a:pPr algn="ctr" indent="0" marL="0">
              <a:buNone/>
            </a:pPr>
            <a:r>
              <a:rPr lang="en-US" sz="700" dirty="0">
                <a:solidFill>
                  <a:srgbClr val="6A6A6A"/>
                </a:solidFill>
                <a:latin typeface="Meiryo" pitchFamily="34" charset="0"/>
                <a:ea typeface="Meiryo" pitchFamily="34" charset="-122"/>
                <a:cs typeface="Meiryo" pitchFamily="34" charset="-120"/>
              </a:rPr>
              <a:t>両機関とも横ずれ断層型としている。</a:t>
            </a:r>
            <a:endParaRPr lang="en-US" sz="750" dirty="0"/>
          </a:p>
        </p:txBody>
      </p:sp>
      <p:sp>
        <p:nvSpPr>
          <p:cNvPr id="9" name="Text 4"/>
          <p:cNvSpPr/>
          <p:nvPr/>
        </p:nvSpPr>
        <p:spPr>
          <a:xfrm>
            <a:off x="7406640" y="1024128"/>
            <a:ext cx="4389120" cy="5120640"/>
          </a:xfrm>
          <a:prstGeom prst="rect">
            <a:avLst/>
          </a:prstGeom>
          <a:noFill/>
          <a:ln/>
        </p:spPr>
        <p:txBody>
          <a:bodyPr wrap="square" lIns="50800" tIns="50800" rIns="50800" bIns="50800" rtlCol="0" anchor="t"/>
          <a:lstStyle/>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深さ約107km（USGS）。プレート境界の巨大地震ではなくスラブ内地震。</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発震機構は沈み込むナスカスラブ内の横ずれ型（USGSの地震テクトニクス解説）。</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最大震度はMMI VII（非常に強い）。MMI VI〜VIIの揺れに約1,050万人がさらされた。</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USGS PAGERはオレンジ警報。推定死者は300人規模、推定経済損失は約8.8億米ドル（いずれもモデル推計であり実測値ではない）。</a:t>
            </a:r>
            <a:endParaRPr lang="en-US" sz="1050" dirty="0"/>
          </a:p>
          <a:p>
            <a:pPr algn="l" marL="342900" indent="-342900">
              <a:buSzPct val="100000"/>
              <a:buChar char="•"/>
            </a:pPr>
            <a:r>
              <a:rPr lang="en-US" sz="10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SGCは過去10年でコロンビア最大規模の地震と評価している。</a:t>
            </a:r>
            <a:endParaRPr lang="en-US" sz="1050" dirty="0"/>
          </a:p>
          <a:p>
            <a:pPr algn="l" marL="342900" indent="-342900">
              <a:buSzPct val="100000"/>
              <a:buChar char="•"/>
            </a:pPr>
            <a:r>
              <a:rPr lang="en-US" sz="10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150" dirty="0">
                <a:solidFill>
                  <a:srgbClr val="222222"/>
                </a:solidFill>
                <a:latin typeface="Meiryo" pitchFamily="34" charset="0"/>
                <a:ea typeface="Meiryo" pitchFamily="34" charset="-122"/>
                <a:cs typeface="Meiryo" pitchFamily="34" charset="-120"/>
              </a:rPr>
              <a:t>震央から遠い都市でも揺れが長く続いたと報じられている。軟弱な盆地堆積層で観測される深発地震の特徴。</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地震の概要と対応措置</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50976"/>
            <a:ext cx="11430000" cy="384048"/>
          </a:xfrm>
          <a:prstGeom prst="rect">
            <a:avLst/>
          </a:prstGeom>
          <a:noFill/>
          <a:ln/>
        </p:spPr>
        <p:txBody>
          <a:bodyPr wrap="square" lIns="25400" tIns="25400" rIns="25400" bIns="25400" rtlCol="0" anchor="ctr"/>
          <a:lstStyle/>
          <a:p>
            <a:pPr algn="l" indent="0" marL="0">
              <a:buNone/>
            </a:pPr>
            <a:r>
              <a:rPr lang="en-US" sz="1150" b="1" dirty="0">
                <a:solidFill>
                  <a:srgbClr val="1F3864"/>
                </a:solidFill>
                <a:latin typeface="Meiryo" pitchFamily="34" charset="0"/>
                <a:ea typeface="Meiryo" pitchFamily="34" charset="-122"/>
                <a:cs typeface="Meiryo" pitchFamily="34" charset="-120"/>
              </a:rPr>
              <a:t>2026年8月10日 07:34 COT（12:34 UTC／21:34 JST）    |    Mww 7.4    |    深さ 107 km    |    改正メルカリ震度 MMI VII（非常に強い）／USGS ShakeMap。SGCの体感震度図も同等</a:t>
            </a:r>
            <a:endParaRPr lang="en-US" sz="1150" dirty="0"/>
          </a:p>
        </p:txBody>
      </p:sp>
      <p:sp>
        <p:nvSpPr>
          <p:cNvPr id="5" name="Text 2"/>
          <p:cNvSpPr/>
          <p:nvPr/>
        </p:nvSpPr>
        <p:spPr>
          <a:xfrm>
            <a:off x="365760" y="1335024"/>
            <a:ext cx="11430000" cy="274320"/>
          </a:xfrm>
          <a:prstGeom prst="rect">
            <a:avLst/>
          </a:prstGeom>
          <a:noFill/>
          <a:ln/>
        </p:spPr>
        <p:txBody>
          <a:bodyPr wrap="square" lIns="25400" tIns="25400" rIns="25400" bIns="25400" rtlCol="0" anchor="ctr"/>
          <a:lstStyle/>
          <a:p>
            <a:pP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p:cNvSpPr/>
          <p:nvPr/>
        </p:nvSpPr>
        <p:spPr>
          <a:xfrm>
            <a:off x="365760" y="1664208"/>
            <a:ext cx="11430000" cy="4443984"/>
          </a:xfrm>
          <a:prstGeom prst="rect">
            <a:avLst/>
          </a:prstGeom>
          <a:noFill/>
          <a:ln/>
        </p:spPr>
        <p:txBody>
          <a:bodyPr wrap="square" lIns="50800" tIns="50800" rIns="50800" bIns="50800" rtlCol="0" anchor="t"/>
          <a:lstStyle/>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政府は国家災害（desastre nacional）を宣言し、緊急対応のための特例的な動員と調整を可能にした。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就任3日目のアベラルド・デラエスプリエジャ大統領は、チョコ県に統合指揮所（PMU）を設置して対応を調整するよう指示し、被害の大きいペレイラを訪れた。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国家災害リスク管理ユニット（UNGRD）が国家システムを起動し、県・市町村当局と被害を確認、外務省とともに支援の申し出を一元的に受け付けている。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USAR（都市型捜索救助）4隊をボゴタ、エンビガド、ヨパル、メデジンから派遣し、捜索救助を増強した。</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被災各県に軍を投入し、捜索・救助・道路啓開にあたっている。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民間航空当局は、滑走路・ターミナルの点検のためペレイラ、マニサレス、キブド、アルメニア、カルタゴ、ブエナベントゥーラの各空港で運航を停止した。</a:t>
            </a:r>
            <a:endParaRPr lang="en-US" sz="1250" dirty="0"/>
          </a:p>
          <a:p>
            <a:pPr algn="l" marL="342900" indent="-342900">
              <a:buSzPct val="100000"/>
              <a:buChar char="•"/>
            </a:pPr>
            <a:r>
              <a:rPr lang="en-US" sz="125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震央に近いチョコ県の一部では、建物被害・停電・通信途絶により被害把握が遅れている。</a:t>
            </a:r>
            <a:endParaRPr lang="en-US" sz="1250" dirty="0"/>
          </a:p>
          <a:p>
            <a:pPr algn="l" marL="342900" indent="-342900">
              <a:buSzPct val="100000"/>
              <a:buChar char="•"/>
            </a:pPr>
            <a:r>
              <a:rPr lang="en-US" sz="125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50" dirty="0">
                <a:solidFill>
                  <a:srgbClr val="222222"/>
                </a:solidFill>
                <a:latin typeface="Meiryo" pitchFamily="34" charset="0"/>
                <a:ea typeface="Meiryo" pitchFamily="34" charset="-122"/>
                <a:cs typeface="Meiryo" pitchFamily="34" charset="-120"/>
              </a:rPr>
              <a:t>本災害のGLIDE番号が付番された：EQ-2026-000146-COL。</a:t>
            </a:r>
            <a:endParaRPr lang="en-US" sz="12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France 24 国家非常事態宣言</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Mww7.4の地震発生。震央はチョコ県サンホセ・デル・パルマルの東5km、深さ約107km。ボゴタ、カリ、メデジンのほかエクアドル、パナマ、ベネズエラでも有感。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USGS／SGC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07:40s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SGCが第1報を発表（当初M6.6・深さ79km）。のちM7.4・深さ96kmに修正し、69観測点で決定（イベントSGC2026pqqmro）。被害評価のプロトコルを起動。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UNGRDが、チョコ県9市町村、カルダス県8、バジェ・デル・カウカ県2、リサラルダ県2、およびキンディオ県の複数地区で被害の可能性を報告。</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カリ市長が、12か所の重要地点で建物倒壊と生き埋めの発生を報告。大学病院の一部が崩落。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カリ市長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マニサレス市長が、建物17棟の倒壊・19棟の部分倒壊を報告。ネオゴシック様式の大聖堂の塔が身廊に崩落。余震に備え屋外にとどまるよう呼びかけ。</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午前</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ペレイラのマテカニャ国際空港旅客ターミナルが一部倒壊。地方6空港で運航停止。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民間航空当局／報道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国家災害を宣言。チョコ県に統合指揮所を設置し、軍を投入。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対応の時系列（8月10日）（2/2）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時刻はコロンビア時間（COT、UTC-5）。地震発生は8月10日07:34 COT＝同日21:34 JST。</a:t>
            </a:r>
            <a:endParaRPr lang="en-US" sz="9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188720"/>
                <a:gridCol w="8412480"/>
                <a:gridCol w="1828800"/>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事項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USAR4隊をボゴタ、エンビガド、ヨパル、メデジンから派遣。</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余震20回以上を観測。最大の余震はM4.8で広く有感。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SGC</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日中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大統領が現地対応の指揮のためペレイラに移動。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12:13</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コペルニクスEMSのラピッドマッピングが EMSR916 として発動（17:13 UTC）。要請は欧州委員会サービス／DG ECHO、地震被害評価のマッピングのため。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Copernicus EMS</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政府の第1次被害報告：死者111人、負傷者87人。住宅損壊1,575棟、全壊37棟、建物倒壊61棟。医療施設18、教育施設52、コミュニティ施設17、幹線道路18、地方空港6か所に被害。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大統領府／UNGRD</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ctr" indent="0" marL="0">
                        <a:buNone/>
                      </a:pPr>
                      <a:r>
                        <a:rPr lang="en-US" sz="1000" b="1" dirty="0">
                          <a:solidFill>
                            <a:srgbClr val="1F3864"/>
                          </a:solidFill>
                          <a:latin typeface="Meiryo" pitchFamily="34" charset="0"/>
                          <a:ea typeface="Meiryo" pitchFamily="34" charset="-122"/>
                          <a:cs typeface="Meiryo" pitchFamily="34" charset="-120"/>
                        </a:rPr>
                        <a:t>午後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エクアドルが救助犬を含む47人のUSARチームを動員。メキシコなど各国が支援を表明し、外務省とUNGRDを通じて受け入れる方針。</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国際報道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Colombia One 政府第1次被害評価</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被災した県・都市</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locator_epicentre_ja.png">    </p:cNvPr>
          <p:cNvPicPr>
            <a:picLocks noChangeAspect="1"/>
          </p:cNvPicPr>
          <p:nvPr/>
        </p:nvPicPr>
        <p:blipFill>
          <a:blip r:embed="rId2"/>
          <a:stretch>
            <a:fillRect/>
          </a:stretch>
        </p:blipFill>
        <p:spPr>
          <a:xfrm>
            <a:off x="386831" y="1024128"/>
            <a:ext cx="4987058" cy="3803904"/>
          </a:xfrm>
          <a:prstGeom prst="rect">
            <a:avLst/>
          </a:prstGeom>
        </p:spPr>
      </p:pic>
      <p:sp>
        <p:nvSpPr>
          <p:cNvPr id="5" name="Text 1"/>
          <p:cNvSpPr/>
          <p:nvPr/>
        </p:nvSpPr>
        <p:spPr>
          <a:xfrm>
            <a:off x="365760" y="4846320"/>
            <a:ext cx="50292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震央距離（ADRC作成）</a:t>
            </a:r>
            <a:endParaRPr lang="en-US" sz="800" dirty="0"/>
          </a:p>
        </p:txBody>
      </p:sp>
      <p:sp>
        <p:nvSpPr>
          <p:cNvPr id="6" name="Shape 2"/>
          <p:cNvSpPr/>
          <p:nvPr/>
        </p:nvSpPr>
        <p:spPr>
          <a:xfrm>
            <a:off x="365760" y="5175504"/>
            <a:ext cx="5029200" cy="914400"/>
          </a:xfrm>
          <a:prstGeom prst="roundRect">
            <a:avLst>
              <a:gd name="adj" fmla="val 5000"/>
            </a:avLst>
          </a:prstGeom>
          <a:solidFill>
            <a:srgbClr val="FCE9DC"/>
          </a:solidFill>
          <a:ln w="12700">
            <a:solidFill>
              <a:srgbClr val="E8A317"/>
            </a:solidFill>
            <a:prstDash val="solid"/>
          </a:ln>
        </p:spPr>
      </p:sp>
      <p:sp>
        <p:nvSpPr>
          <p:cNvPr id="7" name="Text 3"/>
          <p:cNvSpPr/>
          <p:nvPr/>
        </p:nvSpPr>
        <p:spPr>
          <a:xfrm>
            <a:off x="530352" y="5230368"/>
            <a:ext cx="47000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被害が分散する理由
</a:t>
            </a:r>
            <a:pPr algn="l" indent="0" marL="0">
              <a:buNone/>
            </a:pPr>
            <a:r>
              <a:rPr lang="en-US" sz="950" dirty="0">
                <a:solidFill>
                  <a:srgbClr val="7A2E0E"/>
                </a:solidFill>
                <a:latin typeface="Meiryo" pitchFamily="34" charset="0"/>
                <a:ea typeface="Meiryo" pitchFamily="34" charset="-122"/>
                <a:cs typeface="Meiryo" pitchFamily="34" charset="-120"/>
              </a:rPr>
              <a:t>震源が深さ107kmであるため、域内の都市はいずれも震源距離108〜200kmとほぼ同程度になり、極端に強い揺れが特定の都市に集中しない。</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577840" y="1024128"/>
          <a:ext cx="6217920" cy="914400"/>
        </p:xfrm>
        <a:graphic>
          <a:graphicData uri="http://schemas.openxmlformats.org/drawingml/2006/table">
            <a:tbl>
              <a:tblPr/>
              <a:tblGrid>
                <a:gridCol w="1298448"/>
                <a:gridCol w="1152144"/>
                <a:gridCol w="621792"/>
                <a:gridCol w="566928"/>
                <a:gridCol w="2578608"/>
              </a:tblGrid>
              <a:tr h="62179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主な都市</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距離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MMI</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チョコ県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サンホセ・デル・パルマル／キブド</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 / 102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 / 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震央のある県。9市町村で被害報告。アクセス・電力・通信に制約。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リサラルダ県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ペレイラ、ドスケブラダス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55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死者数が最も多い（40人以上、県知事は42人以上と発言）。空港ターミナルが一部倒壊。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バジェ・デル・カウカ県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カリ、カルタゴ、ブエナベントゥーラ</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166 / 35 / 147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死者27人と報告。カリでは12か所の重要地点で25〜30棟が倒壊。大学病院が大きく損壊。</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カルダス県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77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8市町村で被害。マニサレスで17棟倒壊・19棟部分倒壊。大聖堂の塔が身廊に崩落。</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キンディオ県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アルメニアほか</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70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VI-VII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複数地区で被害報告。1999年アルメニア地震で壊滅的被害を受けたコーヒー地帯と同じ地域。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アンティオキア県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メデジン周辺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164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V-VI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死者1人（73歳）と報告。建物被害を点検中。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621792">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クンディナマルカ県／ボゴタ</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ボゴタ、ニロ</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235 km</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C00000"/>
                          </a:solidFill>
                          <a:latin typeface="Meiryo" pitchFamily="34" charset="0"/>
                          <a:ea typeface="Meiryo" pitchFamily="34" charset="-122"/>
                          <a:cs typeface="Meiryo" pitchFamily="34" charset="-120"/>
                        </a:rPr>
                        <a:t>IV-V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広く有感。建物から避難。ニロの学校で構造被害が報告されている。</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endParaRPr lang="en-US" sz="850" dirty="0"/>
          </a:p>
        </p:txBody>
      </p:sp>
      <p:sp>
        <p:nvSpPr>
          <p:cNvPr id="10"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1"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2"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地震の諸元と観測された揺れ</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6675120" cy="914400"/>
        </p:xfrm>
        <a:graphic>
          <a:graphicData uri="http://schemas.openxmlformats.org/drawingml/2006/table">
            <a:tbl>
              <a:tblPr/>
              <a:tblGrid>
                <a:gridCol w="1828800"/>
                <a:gridCol w="4846320"/>
              </a:tblGrid>
              <a:tr h="36576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発生時刻（現地）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07:34（コロンビア時間、UTC-5）</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発生時刻（UTC／JST）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2026年8月10日 12:34（UTC）  /  2026年8月10日 21:34（日本時間）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震央</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USGS：チョコ県サンホセ・デル・パルマルの東5km（ボゴタの西約280km）／SGC：同町から20km</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緯度経度</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4.9031 N, 76.1885 W   ·   SGC 5.04 N, 76.34 W</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規模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Mww 7.4（USGS）　・　7.4（SGC）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深さ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107km（USGS）／96km（SGC）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発震機構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沈み込むナスカプレート内部（スラブ内）で発生した、やや深発の横ずれ断層型。プレート境界の浅い地震ではない。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最大の揺れ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改正メルカリ震度 MMI VII（非常に強い）／USGS ShakeMap。SGCの体感震度図も同等</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有感範囲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ボゴタ・カリ・メデジンを含むコロンビア西部〜中部の広域、およびエクアドル・パナマ・ベネズエラで有感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津波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津波なし。震源は内陸かつやや深発で、太平洋岸に津波警報は発表されていない。</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警報レベル</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PAGER：オレンジ（相当数の人的被害・経済被害の可能性）。GDACS：オレンジ。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GLIDE</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EQ-2026-000146-COL</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pic>
        <p:nvPicPr>
          <p:cNvPr id="5" name="Image 1" descr="/home/user/whatsmap/reports/colombia_eq_20260810/images/mmi_distance_ja.png">    </p:cNvPr>
          <p:cNvPicPr>
            <a:picLocks noChangeAspect="1"/>
          </p:cNvPicPr>
          <p:nvPr/>
        </p:nvPicPr>
        <p:blipFill>
          <a:blip r:embed="rId2"/>
          <a:stretch>
            <a:fillRect/>
          </a:stretch>
        </p:blipFill>
        <p:spPr>
          <a:xfrm>
            <a:off x="7350592" y="1024128"/>
            <a:ext cx="4318336" cy="2432304"/>
          </a:xfrm>
          <a:prstGeom prst="rect">
            <a:avLst/>
          </a:prstGeom>
        </p:spPr>
      </p:pic>
      <p:sp>
        <p:nvSpPr>
          <p:cNvPr id="6" name="Text 1"/>
          <p:cNvSpPr/>
          <p:nvPr/>
        </p:nvSpPr>
        <p:spPr>
          <a:xfrm>
            <a:off x="7223760" y="3474720"/>
            <a:ext cx="4572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距離と報告されたMMI（ADRC作成）</a:t>
            </a:r>
            <a:endParaRPr lang="en-US" sz="800" dirty="0"/>
          </a:p>
        </p:txBody>
      </p:sp>
      <p:graphicFrame>
        <p:nvGraphicFramePr>
          <p:cNvPr id="7" name="Chart 0" descr=""/>
          <p:cNvGraphicFramePr/>
          <p:nvPr/>
        </p:nvGraphicFramePr>
        <p:xfrm>
          <a:off x="7223760" y="3767328"/>
          <a:ext cx="4572000" cy="1920240"/>
        </p:xfrm>
        <a:graphic xmlns:a="http://schemas.openxmlformats.org/drawingml/2006/main">
          <a:graphicData uri="http://schemas.openxmlformats.org/drawingml/2006/chart">
            <c:chart xmlns:c="http://schemas.openxmlformats.org/drawingml/2006/chart" r:id="rId3"/>
          </a:graphicData>
        </a:graphic>
      </p:graphicFrame>
      <p:sp>
        <p:nvSpPr>
          <p:cNvPr id="8" name="Text 2"/>
          <p:cNvSpPr/>
          <p:nvPr/>
        </p:nvSpPr>
        <p:spPr>
          <a:xfrm>
            <a:off x="7223760" y="5705856"/>
            <a:ext cx="4572000" cy="512064"/>
          </a:xfrm>
          <a:prstGeom prst="rect">
            <a:avLst/>
          </a:prstGeom>
          <a:noFill/>
          <a:ln/>
        </p:spPr>
        <p:txBody>
          <a:bodyPr wrap="square" lIns="0" tIns="0" rIns="0" bIns="0" rtlCol="0" anchor="t"/>
          <a:lstStyle/>
          <a:p>
            <a:pPr indent="0" marL="0">
              <a:buNone/>
            </a:pPr>
            <a:r>
              <a:rPr lang="en-US" sz="750" dirty="0">
                <a:solidFill>
                  <a:srgbClr val="6A6A6A"/>
                </a:solidFill>
                <a:latin typeface="Meiryo" pitchFamily="34" charset="0"/>
                <a:ea typeface="Meiryo" pitchFamily="34" charset="-122"/>
                <a:cs typeface="Meiryo" pitchFamily="34" charset="-120"/>
              </a:rPr>
              <a:t>USGS PAGERによる曝露推計。約1,050万人がMMI VI〜VII（強い〜非常に強い）の揺れを経験し、4か国で推計3,400万人が有感とされる。いずれもモデル推計値。</a:t>
            </a:r>
            <a:endParaRPr lang="en-US" sz="750" dirty="0"/>
          </a:p>
        </p:txBody>
      </p:sp>
      <p:sp>
        <p:nvSpPr>
          <p:cNvPr id="9" name="Text 3"/>
          <p:cNvSpPr/>
          <p:nvPr/>
        </p:nvSpPr>
        <p:spPr>
          <a:xfrm>
            <a:off x="365760" y="5815584"/>
            <a:ext cx="6675120" cy="420624"/>
          </a:xfrm>
          <a:prstGeom prst="rect">
            <a:avLst/>
          </a:prstGeom>
          <a:noFill/>
          <a:ln/>
        </p:spPr>
        <p:txBody>
          <a:bodyPr wrap="square" lIns="0" tIns="0" rIns="0" bIns="0" rtlCol="0" anchor="t"/>
          <a:lstStyle/>
          <a:p>
            <a:pPr indent="0" marL="0">
              <a:buNone/>
            </a:pPr>
            <a:r>
              <a:rPr lang="en-US" sz="700" i="1" dirty="0">
                <a:solidFill>
                  <a:srgbClr val="6A6A6A"/>
                </a:solidFill>
                <a:latin typeface="Meiryo" pitchFamily="34" charset="0"/>
                <a:ea typeface="Meiryo" pitchFamily="34" charset="-122"/>
                <a:cs typeface="Meiryo" pitchFamily="34" charset="-120"/>
              </a:rPr>
              <a:t>規模はUSGSとSGCで一致。SGCの第1報はM6.6・深さ79kmで、のちに修正された。両機関の震源位置は約20km、深さは約11km異なるが、観測網の異なるやや深発地震では通常の範囲である。本報告の震央距離はUSGSの震源位置から計算している。SGCのイベントSGC2026pqqmroは69観測点で決定されており、SGCは精査の進展に伴い速報値が変更されうるとしている。</a:t>
            </a:r>
            <a:endParaRPr lang="en-US" sz="700" dirty="0"/>
          </a:p>
        </p:txBody>
      </p:sp>
      <p:sp>
        <p:nvSpPr>
          <p:cNvPr id="10"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11"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体感震度分布（SGC）</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sgc_shakemap_manual.jpg">    </p:cNvPr>
          <p:cNvPicPr>
            <a:picLocks noChangeAspect="1"/>
          </p:cNvPicPr>
          <p:nvPr/>
        </p:nvPicPr>
        <p:blipFill>
          <a:blip r:embed="rId2"/>
          <a:stretch>
            <a:fillRect/>
          </a:stretch>
        </p:blipFill>
        <p:spPr>
          <a:xfrm>
            <a:off x="1067167" y="1024128"/>
            <a:ext cx="3809266" cy="4626864"/>
          </a:xfrm>
          <a:prstGeom prst="rect">
            <a:avLst/>
          </a:prstGeom>
        </p:spPr>
      </p:pic>
      <p:sp>
        <p:nvSpPr>
          <p:cNvPr id="5" name="Text 1"/>
          <p:cNvSpPr/>
          <p:nvPr/>
        </p:nvSpPr>
        <p:spPr>
          <a:xfrm>
            <a:off x="365760" y="5669280"/>
            <a:ext cx="521208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SGC 公式の震度分布図  (© SGC)</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https://www.sgc.gov.co/detallesismo/SGC2026pqqmro/mmi</a:t>
            </a:r>
            <a:endParaRPr lang="en-US" sz="800" dirty="0"/>
          </a:p>
        </p:txBody>
      </p:sp>
      <p:sp>
        <p:nvSpPr>
          <p:cNvPr id="6" name="Text 2"/>
          <p:cNvSpPr/>
          <p:nvPr/>
        </p:nvSpPr>
        <p:spPr>
          <a:xfrm>
            <a:off x="5852160" y="1024128"/>
            <a:ext cx="5943600" cy="566928"/>
          </a:xfrm>
          <a:prstGeom prst="rect">
            <a:avLst/>
          </a:prstGeom>
          <a:noFill/>
          <a:ln/>
        </p:spPr>
        <p:txBody>
          <a:bodyPr wrap="square" lIns="0" tIns="0" rIns="0" bIns="0" rtlCol="0" anchor="t"/>
          <a:lstStyle/>
          <a:p>
            <a:pPr indent="0" marL="0">
              <a:buNone/>
            </a:pPr>
            <a:r>
              <a:rPr lang="en-US" sz="800" dirty="0">
                <a:solidFill>
                  <a:srgbClr val="6A6A6A"/>
                </a:solidFill>
                <a:latin typeface="Meiryo" pitchFamily="34" charset="0"/>
                <a:ea typeface="Meiryo" pitchFamily="34" charset="-122"/>
                <a:cs typeface="Meiryo" pitchFamily="34" charset="-120"/>
              </a:rPr>
              <a:t>ShakeMap：チョコ県サンホセ・デル・パルマル／2026年8月10日 12:34:29 UTC／M7.4／北緯5.04・西経76.34／深さ96.0km／ID SGC2026pqqmro／バージョン1（2026-08-10T13:12:28Z処理）／震度階はWorden et al. (2012)</a:t>
            </a:r>
            <a:endParaRPr lang="en-US" sz="800" dirty="0"/>
          </a:p>
        </p:txBody>
      </p:sp>
      <p:sp>
        <p:nvSpPr>
          <p:cNvPr id="7" name="Text 3"/>
          <p:cNvSpPr/>
          <p:nvPr/>
        </p:nvSpPr>
        <p:spPr>
          <a:xfrm>
            <a:off x="5852160" y="1645920"/>
            <a:ext cx="5943600" cy="1536192"/>
          </a:xfrm>
          <a:prstGeom prst="rect">
            <a:avLst/>
          </a:prstGeom>
          <a:noFill/>
          <a:ln/>
        </p:spPr>
        <p:txBody>
          <a:bodyPr wrap="square" lIns="0" tIns="0" rIns="0" bIns="0" rtlCol="0" anchor="t"/>
          <a:lstStyle/>
          <a:p>
            <a:pPr indent="0" marL="0">
              <a:buNone/>
            </a:pPr>
            <a:r>
              <a:rPr lang="en-US" sz="950" dirty="0">
                <a:solidFill>
                  <a:srgbClr val="222222"/>
                </a:solidFill>
                <a:latin typeface="Meiryo" pitchFamily="34" charset="0"/>
                <a:ea typeface="Meiryo" pitchFamily="34" charset="-122"/>
                <a:cs typeface="Meiryo" pitchFamily="34" charset="-120"/>
              </a:rPr>
              <a:t>SGCの図では、最も強い帯（MMI VII「Muy Fuerte」）が震央のあるチョコ県から、リサラルダ・カルダス・キンディオ・バジェ北部を貫くアンデス間の回廊に沿って広がる。ペレイラ、マニサレス、アルメニア、カルタゴでの建物倒壊はこの帯の中で起きた。震度は東へ向かって低下し、メデジンとカリは中〜強の帯、震央から235kmのボゴタは弱い帯に位置する。震央を中心とする同心円ではなく谷筋に沿って伸びる分布は、深さ96〜107kmの震源と軟弱な盆地堆積層の組み合わせによる特徴である。</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3255264"/>
          <a:ext cx="5943600" cy="914400"/>
        </p:xfrm>
        <a:graphic>
          <a:graphicData uri="http://schemas.openxmlformats.org/drawingml/2006/table">
            <a:tbl>
              <a:tblPr/>
              <a:tblGrid>
                <a:gridCol w="658368"/>
                <a:gridCol w="1572768"/>
                <a:gridCol w="1517904"/>
                <a:gridCol w="1097280"/>
                <a:gridCol w="1097280"/>
              </a:tblGrid>
              <a:tr h="256032">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震度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体感</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被害の程度</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PGA（%g）</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PGV（cm/s）</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無感</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&lt;0.0464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&lt;0.0215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II-III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0.297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0.135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やや弱い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なし</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2.76</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1.41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ごく軽微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6.2</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4.65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軽微</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11.5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9.64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非常に強い</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中程度</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21.5</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20</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VIII</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中〜大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40.1</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41.4</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IX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74.7</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85.8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56032">
                <a:tc>
                  <a:txBody>
                    <a:bodyPr/>
                    <a:lstStyle/>
                    <a:p>
                      <a:pPr algn="ctr" indent="0" marL="0">
                        <a:buNone/>
                      </a:pPr>
                      <a:r>
                        <a:rPr lang="en-US" sz="900" b="1" dirty="0">
                          <a:solidFill>
                            <a:srgbClr val="1F3864"/>
                          </a:solidFill>
                          <a:latin typeface="Meiryo" pitchFamily="34" charset="0"/>
                          <a:ea typeface="Meiryo" pitchFamily="34" charset="-122"/>
                          <a:cs typeface="Meiryo" pitchFamily="34" charset="-120"/>
                        </a:rPr>
                        <a:t>X+</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極めて激烈</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222222"/>
                          </a:solidFill>
                          <a:latin typeface="Meiryo" pitchFamily="34" charset="0"/>
                          <a:ea typeface="Meiryo" pitchFamily="34" charset="-122"/>
                          <a:cs typeface="Meiryo" pitchFamily="34" charset="-120"/>
                        </a:rPr>
                        <a:t>甚大</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&gt;139</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dirty="0">
                          <a:solidFill>
                            <a:srgbClr val="222222"/>
                          </a:solidFill>
                          <a:latin typeface="Meiryo" pitchFamily="34" charset="0"/>
                          <a:ea typeface="Meiryo" pitchFamily="34" charset="-122"/>
                          <a:cs typeface="Meiryo" pitchFamily="34" charset="-120"/>
                        </a:rPr>
                        <a:t>&gt;178</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9" name="Text 4"/>
          <p:cNvSpPr/>
          <p:nvPr/>
        </p:nvSpPr>
        <p:spPr>
          <a:xfrm>
            <a:off x="5852160" y="5870448"/>
            <a:ext cx="5943600" cy="201168"/>
          </a:xfrm>
          <a:prstGeom prst="rect">
            <a:avLst/>
          </a:prstGeom>
          <a:noFill/>
          <a:ln/>
        </p:spPr>
        <p:txBody>
          <a:bodyPr wrap="square" lIns="0" tIns="0" rIns="0" bIns="0" rtlCol="0" anchor="ctr"/>
          <a:lstStyle/>
          <a:p>
            <a:pPr indent="0" marL="0">
              <a:buNone/>
            </a:pPr>
            <a:r>
              <a:rPr lang="en-US" sz="750" i="1" dirty="0">
                <a:solidFill>
                  <a:srgbClr val="6A6A6A"/>
                </a:solidFill>
                <a:latin typeface="Meiryo" pitchFamily="34" charset="0"/>
                <a:ea typeface="Meiryo" pitchFamily="34" charset="-122"/>
                <a:cs typeface="Meiryo" pitchFamily="34" charset="-120"/>
              </a:rPr>
              <a:t>改正メルカリ震度階（Worden et al., 2012）。SGCの図に掲載されているもの。</a:t>
            </a:r>
            <a:endParaRPr lang="en-US" sz="7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SGC 体感震度図（ShakeMap・本地震）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SGC 地震速報 SGC2026pqqmro（本地震）</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地震活動：余震</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377440"/>
                <a:gridCol w="1371600"/>
                <a:gridCol w="6583680"/>
                <a:gridCol w="10972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時刻</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M4.8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SGCの速報に掲載された最大の余震。広く有感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after 07:34</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M2.8</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SGCの速報に掲載されたもう1つの余震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10 Aug (to 17:00)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20+ reported</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報道は日中に20回以上の余震があったと伝えている。SGCの速報に掲載されていたのは執筆時点で2回</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B8860B"/>
                          </a:solidFill>
                          <a:latin typeface="Meiryo" pitchFamily="34" charset="0"/>
                          <a:ea typeface="Meiryo" pitchFamily="34" charset="-122"/>
                          <a:cs typeface="Meiryo" pitchFamily="34" charset="-120"/>
                        </a:rPr>
                        <a:t>報道</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Text 1"/>
          <p:cNvSpPr/>
          <p:nvPr/>
        </p:nvSpPr>
        <p:spPr>
          <a:xfrm>
            <a:off x="365760" y="3017520"/>
            <a:ext cx="11430000" cy="137160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SGCの速報（SGC2026pqqmro）に掲載された余震はM2.8とM4.8の2回で、後者は広く有感。報道は日中に20回以上と伝えている。やや深発のスラブ内地震の余震活動は浅い内陸地震に比べて一般に低調だが、強い余震の可能性は残り、既に損傷した建物は特に脆弱である。</a:t>
            </a:r>
            <a:endParaRPr lang="en-US" sz="1050" dirty="0"/>
          </a:p>
        </p:txBody>
      </p:sp>
      <p:sp>
        <p:nvSpPr>
          <p:cNvPr id="6" name="Shape 2"/>
          <p:cNvSpPr/>
          <p:nvPr/>
        </p:nvSpPr>
        <p:spPr>
          <a:xfrm>
            <a:off x="365760" y="4572000"/>
            <a:ext cx="11430000" cy="1463040"/>
          </a:xfrm>
          <a:prstGeom prst="roundRect">
            <a:avLst>
              <a:gd name="adj" fmla="val 3125"/>
            </a:avLst>
          </a:prstGeom>
          <a:solidFill>
            <a:srgbClr val="FCE9DC"/>
          </a:solidFill>
          <a:ln w="12700">
            <a:solidFill>
              <a:srgbClr val="E8A317"/>
            </a:solidFill>
            <a:prstDash val="solid"/>
          </a:ln>
        </p:spPr>
      </p:sp>
      <p:sp>
        <p:nvSpPr>
          <p:cNvPr id="7" name="Text 3"/>
          <p:cNvSpPr/>
          <p:nvPr/>
        </p:nvSpPr>
        <p:spPr>
          <a:xfrm>
            <a:off x="530352" y="4626864"/>
            <a:ext cx="11100816" cy="135331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運用上の含意
</a:t>
            </a:r>
            <a:pPr algn="l" indent="0" marL="0">
              <a:buNone/>
            </a:pPr>
            <a:r>
              <a:rPr lang="en-US" sz="950" dirty="0">
                <a:solidFill>
                  <a:srgbClr val="7A2E0E"/>
                </a:solidFill>
                <a:latin typeface="Meiryo" pitchFamily="34" charset="0"/>
                <a:ea typeface="Meiryo" pitchFamily="34" charset="-122"/>
                <a:cs typeface="Meiryo" pitchFamily="34" charset="-120"/>
              </a:rPr>
              <a:t>本震で損傷したまま倒壊を免れた建物は耐力を失っている。中規模の余震でも倒壊しうるため、余震の統計そのものと同じくらい、再入居前の応急危険度判定と、損傷が明らかな建物への立入り制限が重要である。</a:t>
            </a:r>
            <a:endParaRPr lang="en-US" sz="10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endParaRPr lang="en-US" sz="8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1"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人的被害</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Shape 1"/>
          <p:cNvSpPr/>
          <p:nvPr/>
        </p:nvSpPr>
        <p:spPr>
          <a:xfrm>
            <a:off x="365760" y="1005840"/>
            <a:ext cx="3611880" cy="1143000"/>
          </a:xfrm>
          <a:prstGeom prst="roundRect">
            <a:avLst>
              <a:gd name="adj" fmla="val 4800"/>
            </a:avLst>
          </a:prstGeom>
          <a:solidFill>
            <a:srgbClr val="EAF2F8"/>
          </a:solidFill>
          <a:ln w="12700">
            <a:solidFill>
              <a:srgbClr val="D9D9D9"/>
            </a:solidFill>
            <a:prstDash val="solid"/>
          </a:ln>
        </p:spPr>
      </p:sp>
      <p:sp>
        <p:nvSpPr>
          <p:cNvPr id="5" name="Text 2"/>
          <p:cNvSpPr/>
          <p:nvPr/>
        </p:nvSpPr>
        <p:spPr>
          <a:xfrm>
            <a:off x="50292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死者</a:t>
            </a:r>
            <a:endParaRPr lang="en-US" sz="1100" dirty="0"/>
          </a:p>
        </p:txBody>
      </p:sp>
      <p:sp>
        <p:nvSpPr>
          <p:cNvPr id="6" name="Text 3"/>
          <p:cNvSpPr/>
          <p:nvPr/>
        </p:nvSpPr>
        <p:spPr>
          <a:xfrm>
            <a:off x="502920" y="1335024"/>
            <a:ext cx="3337560" cy="731520"/>
          </a:xfrm>
          <a:prstGeom prst="rect">
            <a:avLst/>
          </a:prstGeom>
          <a:noFill/>
          <a:ln/>
        </p:spPr>
        <p:txBody>
          <a:bodyPr wrap="square" lIns="0" tIns="0" rIns="0" bIns="0" rtlCol="0" anchor="ctr"/>
          <a:lstStyle/>
          <a:p>
            <a:pPr indent="0" marL="0">
              <a:buNone/>
            </a:pPr>
            <a:r>
              <a:rPr lang="en-US" sz="3400" b="1" dirty="0">
                <a:solidFill>
                  <a:srgbClr val="C00000"/>
                </a:solidFill>
                <a:latin typeface="Meiryo" pitchFamily="34" charset="0"/>
                <a:ea typeface="Meiryo" pitchFamily="34" charset="-122"/>
                <a:cs typeface="Meiryo" pitchFamily="34" charset="-120"/>
              </a:rPr>
              <a:t>111</a:t>
            </a:r>
            <a:endParaRPr lang="en-US" sz="3400" dirty="0"/>
          </a:p>
        </p:txBody>
      </p:sp>
      <p:sp>
        <p:nvSpPr>
          <p:cNvPr id="7" name="Shape 4"/>
          <p:cNvSpPr/>
          <p:nvPr/>
        </p:nvSpPr>
        <p:spPr>
          <a:xfrm>
            <a:off x="4206240" y="1005840"/>
            <a:ext cx="3611880" cy="1143000"/>
          </a:xfrm>
          <a:prstGeom prst="roundRect">
            <a:avLst>
              <a:gd name="adj" fmla="val 4800"/>
            </a:avLst>
          </a:prstGeom>
          <a:solidFill>
            <a:srgbClr val="EAF2F8"/>
          </a:solidFill>
          <a:ln w="12700">
            <a:solidFill>
              <a:srgbClr val="D9D9D9"/>
            </a:solidFill>
            <a:prstDash val="solid"/>
          </a:ln>
        </p:spPr>
      </p:sp>
      <p:sp>
        <p:nvSpPr>
          <p:cNvPr id="8" name="Text 5"/>
          <p:cNvSpPr/>
          <p:nvPr/>
        </p:nvSpPr>
        <p:spPr>
          <a:xfrm>
            <a:off x="434340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負傷者</a:t>
            </a:r>
            <a:endParaRPr lang="en-US" sz="1100" dirty="0"/>
          </a:p>
        </p:txBody>
      </p:sp>
      <p:sp>
        <p:nvSpPr>
          <p:cNvPr id="9" name="Text 6"/>
          <p:cNvSpPr/>
          <p:nvPr/>
        </p:nvSpPr>
        <p:spPr>
          <a:xfrm>
            <a:off x="4343400" y="1335024"/>
            <a:ext cx="3337560" cy="731520"/>
          </a:xfrm>
          <a:prstGeom prst="rect">
            <a:avLst/>
          </a:prstGeom>
          <a:noFill/>
          <a:ln/>
        </p:spPr>
        <p:txBody>
          <a:bodyPr wrap="square" lIns="0" tIns="0" rIns="0" bIns="0" rtlCol="0" anchor="ctr"/>
          <a:lstStyle/>
          <a:p>
            <a:pPr indent="0" marL="0">
              <a:buNone/>
            </a:pPr>
            <a:r>
              <a:rPr lang="en-US" sz="3400" b="1" dirty="0">
                <a:solidFill>
                  <a:srgbClr val="9A3B12"/>
                </a:solidFill>
                <a:latin typeface="Meiryo" pitchFamily="34" charset="0"/>
                <a:ea typeface="Meiryo" pitchFamily="34" charset="-122"/>
                <a:cs typeface="Meiryo" pitchFamily="34" charset="-120"/>
              </a:rPr>
              <a:t>87</a:t>
            </a:r>
            <a:endParaRPr lang="en-US" sz="3400" dirty="0"/>
          </a:p>
        </p:txBody>
      </p:sp>
      <p:sp>
        <p:nvSpPr>
          <p:cNvPr id="10" name="Shape 7"/>
          <p:cNvSpPr/>
          <p:nvPr/>
        </p:nvSpPr>
        <p:spPr>
          <a:xfrm>
            <a:off x="8046720" y="1005840"/>
            <a:ext cx="3611880" cy="1143000"/>
          </a:xfrm>
          <a:prstGeom prst="roundRect">
            <a:avLst>
              <a:gd name="adj" fmla="val 4800"/>
            </a:avLst>
          </a:prstGeom>
          <a:solidFill>
            <a:srgbClr val="EAF2F8"/>
          </a:solidFill>
          <a:ln w="12700">
            <a:solidFill>
              <a:srgbClr val="D9D9D9"/>
            </a:solidFill>
            <a:prstDash val="solid"/>
          </a:ln>
        </p:spPr>
      </p:sp>
      <p:sp>
        <p:nvSpPr>
          <p:cNvPr id="11" name="Text 8"/>
          <p:cNvSpPr/>
          <p:nvPr/>
        </p:nvSpPr>
        <p:spPr>
          <a:xfrm>
            <a:off x="8183880" y="1078992"/>
            <a:ext cx="3337560" cy="292608"/>
          </a:xfrm>
          <a:prstGeom prst="rect">
            <a:avLst/>
          </a:prstGeom>
          <a:noFill/>
          <a:ln/>
        </p:spPr>
        <p:txBody>
          <a:bodyPr wrap="square" lIns="0" tIns="0" rIns="0" bIns="0" rtlCol="0" anchor="ctr"/>
          <a:lstStyle/>
          <a:p>
            <a:pPr indent="0" marL="0">
              <a:buNone/>
            </a:pPr>
            <a:r>
              <a:rPr lang="en-US" sz="1100" dirty="0">
                <a:solidFill>
                  <a:srgbClr val="6A6A6A"/>
                </a:solidFill>
                <a:latin typeface="Meiryo" pitchFamily="34" charset="0"/>
                <a:ea typeface="Meiryo" pitchFamily="34" charset="-122"/>
                <a:cs typeface="Meiryo" pitchFamily="34" charset="-120"/>
              </a:rPr>
              <a:t>建物被害</a:t>
            </a:r>
            <a:endParaRPr lang="en-US" sz="1100" dirty="0"/>
          </a:p>
        </p:txBody>
      </p:sp>
      <p:sp>
        <p:nvSpPr>
          <p:cNvPr id="12" name="Text 9"/>
          <p:cNvSpPr/>
          <p:nvPr/>
        </p:nvSpPr>
        <p:spPr>
          <a:xfrm>
            <a:off x="8183880" y="1335024"/>
            <a:ext cx="3337560" cy="731520"/>
          </a:xfrm>
          <a:prstGeom prst="rect">
            <a:avLst/>
          </a:prstGeom>
          <a:noFill/>
          <a:ln/>
        </p:spPr>
        <p:txBody>
          <a:bodyPr wrap="square" lIns="0" tIns="0" rIns="0" bIns="0" rtlCol="0" anchor="ctr"/>
          <a:lstStyle/>
          <a:p>
            <a:pPr indent="0" marL="0">
              <a:buNone/>
            </a:pPr>
            <a:r>
              <a:rPr lang="en-US" sz="3400" b="1" dirty="0">
                <a:solidFill>
                  <a:srgbClr val="1F3864"/>
                </a:solidFill>
                <a:latin typeface="Meiryo" pitchFamily="34" charset="0"/>
                <a:ea typeface="Meiryo" pitchFamily="34" charset="-122"/>
                <a:cs typeface="Meiryo" pitchFamily="34" charset="-120"/>
              </a:rPr>
              <a:t>1,600棟超</a:t>
            </a:r>
            <a:endParaRPr lang="en-US" sz="3400" dirty="0"/>
          </a:p>
        </p:txBody>
      </p:sp>
      <p:graphicFrame>
        <p:nvGraphicFramePr>
          <p:cNvPr id="13" name="Chart 0" descr=""/>
          <p:cNvGraphicFramePr/>
          <p:nvPr/>
        </p:nvGraphicFramePr>
        <p:xfrm>
          <a:off x="365760" y="2377440"/>
          <a:ext cx="6035040" cy="2926080"/>
        </p:xfrm>
        <a:graphic xmlns:a="http://schemas.openxmlformats.org/drawingml/2006/main">
          <a:graphicData uri="http://schemas.openxmlformats.org/drawingml/2006/chart">
            <c:chart xmlns:c="http://schemas.openxmlformats.org/drawingml/2006/chart" r:id="rId2"/>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583680" y="2377440"/>
          <a:ext cx="5212080" cy="914400"/>
        </p:xfrm>
        <a:graphic>
          <a:graphicData uri="http://schemas.openxmlformats.org/drawingml/2006/table">
            <a:tbl>
              <a:tblPr/>
              <a:tblGrid>
                <a:gridCol w="2194560"/>
                <a:gridCol w="731520"/>
                <a:gridCol w="2286000"/>
              </a:tblGrid>
              <a:tr h="457200">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県</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死者</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備考</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リサラルダ県（ペレイラ）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40</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県知事は42人以上と発言</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バジェ・デル・カウカ県（カリ）</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27</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チョコ県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震央のある県</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カルダス県（マニサレス）</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当初2人、のち4人と報告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457200">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アンティオキア県</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b="1" dirty="0">
                          <a:solidFill>
                            <a:srgbClr val="C00000"/>
                          </a:solidFill>
                          <a:latin typeface="Meiryo" pitchFamily="34" charset="0"/>
                          <a:ea typeface="Meiryo" pitchFamily="34" charset="-122"/>
                          <a:cs typeface="Meiryo" pitchFamily="34" charset="-120"/>
                        </a:rPr>
                        <a:t>1</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6A6A6A"/>
                          </a:solidFill>
                          <a:latin typeface="Meiryo" pitchFamily="34" charset="0"/>
                          <a:ea typeface="Meiryo" pitchFamily="34" charset="-122"/>
                          <a:cs typeface="Meiryo" pitchFamily="34" charset="-120"/>
                        </a:rPr>
                        <a:t>73歳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15" name="Shape 10"/>
          <p:cNvSpPr/>
          <p:nvPr/>
        </p:nvSpPr>
        <p:spPr>
          <a:xfrm>
            <a:off x="365760" y="5431536"/>
            <a:ext cx="11430000" cy="713232"/>
          </a:xfrm>
          <a:prstGeom prst="roundRect">
            <a:avLst>
              <a:gd name="adj" fmla="val 6410"/>
            </a:avLst>
          </a:prstGeom>
          <a:solidFill>
            <a:srgbClr val="FCE9DC"/>
          </a:solidFill>
          <a:ln w="12700">
            <a:solidFill>
              <a:srgbClr val="E8A317"/>
            </a:solidFill>
            <a:prstDash val="solid"/>
          </a:ln>
        </p:spPr>
      </p:sp>
      <p:sp>
        <p:nvSpPr>
          <p:cNvPr id="16" name="Text 11"/>
          <p:cNvSpPr/>
          <p:nvPr/>
        </p:nvSpPr>
        <p:spPr>
          <a:xfrm>
            <a:off x="530352" y="5486400"/>
            <a:ext cx="11100816" cy="603504"/>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数値の読み方
</a:t>
            </a:r>
            <a:pPr algn="l" indent="0" marL="0">
              <a:buNone/>
            </a:pPr>
            <a:r>
              <a:rPr lang="en-US" sz="950" dirty="0">
                <a:solidFill>
                  <a:srgbClr val="7A2E0E"/>
                </a:solidFill>
                <a:latin typeface="Meiryo" pitchFamily="34" charset="0"/>
                <a:ea typeface="Meiryo" pitchFamily="34" charset="-122"/>
                <a:cs typeface="Meiryo" pitchFamily="34" charset="-120"/>
              </a:rPr>
              <a:t>県別の数値は地元当局が異なる時点で発表したもので、現時点では国全体の111人と一致しない。確認の進展に伴い整合される見込み。</a:t>
            </a:r>
            <a:endParaRPr lang="en-US" sz="1050" dirty="0"/>
          </a:p>
        </p:txBody>
      </p:sp>
      <p:sp>
        <p:nvSpPr>
          <p:cNvPr id="17" name="Text 1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France 24 国家非常事態宣言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CBS ニュース</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NBC ニュース</a:t>
            </a:r>
            <a:endParaRPr lang="en-US" sz="850" dirty="0"/>
          </a:p>
        </p:txBody>
      </p:sp>
      <p:sp>
        <p:nvSpPr>
          <p:cNvPr id="18" name="Shape 13"/>
          <p:cNvSpPr/>
          <p:nvPr/>
        </p:nvSpPr>
        <p:spPr>
          <a:xfrm>
            <a:off x="10268712" y="6510528"/>
            <a:ext cx="1554480" cy="274320"/>
          </a:xfrm>
          <a:prstGeom prst="rect">
            <a:avLst/>
          </a:prstGeom>
          <a:solidFill>
            <a:srgbClr val="E8A317"/>
          </a:solidFill>
          <a:ln w="12700">
            <a:solidFill>
              <a:srgbClr val="E8A317"/>
            </a:solidFill>
            <a:prstDash val="solid"/>
          </a:ln>
        </p:spPr>
      </p:sp>
      <p:sp>
        <p:nvSpPr>
          <p:cNvPr id="19" name="Text 1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20" name="Text 1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被害状況：建物・公共サービス・ライフライン（1/2）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111人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87人</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大統領府／UNGRD（8月10日午後）</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行方不明・生き埋め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未集計。カリ、ペレイラ、マニサレスで生き埋めの報告</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地元当局（報道）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建物被害（合計）</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1,600棟超</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大統領府（8月10日）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1,575棟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住宅（全壊）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37棟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建物倒壊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全国で61棟。カリは12か所の重要地点で25〜30棟、マニサレスは倒壊17棟・部分倒壊19棟</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UNGRD、カリ市長・マニサレス市長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医療施設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18か所が被害、7施設が閉鎖。カリの大学病院は約30%が崩落し、小児科・内科・新生児室の一部を含む3フロアが被害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UNGRD、バジェ・デル・カウカ県政府</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被害状況：建物・公共サービス・ライフライン（2/2）</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896112"/>
            <a:ext cx="11430000" cy="274320"/>
          </a:xfrm>
          <a:prstGeom prst="rect">
            <a:avLst/>
          </a:prstGeom>
          <a:noFill/>
          <a:ln/>
        </p:spPr>
        <p:txBody>
          <a:bodyPr wrap="square" lIns="0" tIns="0" rIns="0" bIns="0" rtlCol="0" anchor="t"/>
          <a:lstStyle/>
          <a:p>
            <a:pPr indent="0" marL="0">
              <a:buNone/>
            </a:pPr>
            <a:r>
              <a:rPr lang="en-US" sz="950" i="1" dirty="0">
                <a:solidFill>
                  <a:srgbClr val="6A6A6A"/>
                </a:solidFill>
                <a:latin typeface="Meiryo" pitchFamily="34" charset="0"/>
                <a:ea typeface="Meiryo" pitchFamily="34" charset="-122"/>
                <a:cs typeface="Meiryo" pitchFamily="34" charset="-120"/>
              </a:rPr>
              <a:t>すべて速報値。公式（政府）値を主とし、報道由来の項目は区分を明示している。</a:t>
            </a:r>
            <a:endParaRPr lang="en-US" sz="9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25296"/>
          <a:ext cx="11430000" cy="914400"/>
        </p:xfrm>
        <a:graphic>
          <a:graphicData uri="http://schemas.openxmlformats.org/drawingml/2006/table">
            <a:tbl>
              <a:tblPr/>
              <a:tblGrid>
                <a:gridCol w="1920240"/>
                <a:gridCol w="6035040"/>
                <a:gridCol w="2468880"/>
                <a:gridCol w="1005840"/>
              </a:tblGrid>
              <a:tr h="539496">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報告値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出典</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教育施設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52か所が被害。被災各県で学校から避難</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コミュニティ施設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17か所が被害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道路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幹線道路18路線が被害</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UNGRD（8月10日）</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空港</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地方6空港が被害。ペレイラのマテカニャ国際空港旅客ターミナルが一部倒壊。ペレイラ、マニサレス、キブド、アルメニア、カルタゴ、ブエナベントゥーラで運航停止</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UNGRD、民間航空当局</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文化財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マニサレス大聖堂（ネオゴシック様式）の塔が身廊に崩落</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マニサレス市長</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ライフライン</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震央周辺で停電・通信途絶の報告。体系的な数値は未公表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39496">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避難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00" dirty="0">
                          <a:solidFill>
                            <a:srgbClr val="222222"/>
                          </a:solidFill>
                          <a:latin typeface="Meiryo" pitchFamily="34" charset="0"/>
                          <a:ea typeface="Meiryo" pitchFamily="34" charset="-122"/>
                          <a:cs typeface="Meiryo" pitchFamily="34" charset="-120"/>
                        </a:rPr>
                        <a:t>数千人が自宅を離れたと報じられている。避難所の数値は未公表</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dirty="0">
                          <a:solidFill>
                            <a:srgbClr val="6A6A6A"/>
                          </a:solidFill>
                          <a:latin typeface="Meiryo" pitchFamily="34" charset="0"/>
                          <a:ea typeface="Meiryo" pitchFamily="34" charset="-122"/>
                          <a:cs typeface="Meiryo" pitchFamily="34" charset="-120"/>
                        </a:rPr>
                        <a:t>報道・人道機関</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政府第1次被害評価</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CNN 速報（死者111人）</a:t>
            </a:r>
            <a:endParaRPr lang="en-US" sz="8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国内の対応</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023360"/>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国家災害宣言により、2012年法律第1523号に基づく国家災害リスク管理システム（SNGRD）を起動。</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チョコ県に統合指揮所（PMU）を設置。UNGRDが県・市町村のリスク管理協議会と連携して調整。</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USAR4隊（ボゴタ、エンビガド、ヨパル、メデジン）を倒壊建物の捜索救助に投入。</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被災各県に軍を投入し、捜索・救助・道路啓開・治安維持にあたる。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病院・学校・空港の応急危険度判定を実施。医療7施設を閉鎖、空港6か所を点検のため閉鎖。</a:t>
            </a:r>
            <a:endParaRPr lang="en-US" sz="1300" dirty="0"/>
          </a:p>
          <a:p>
            <a:pPr algn="l" marL="342900" indent="-342900">
              <a:buSzPct val="100000"/>
              <a:buChar char="•"/>
            </a:pPr>
            <a:r>
              <a:rPr lang="en-US" sz="13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400" dirty="0">
                <a:solidFill>
                  <a:srgbClr val="222222"/>
                </a:solidFill>
                <a:latin typeface="Meiryo" pitchFamily="34" charset="0"/>
                <a:ea typeface="Meiryo" pitchFamily="34" charset="-122"/>
                <a:cs typeface="Meiryo" pitchFamily="34" charset="-120"/>
              </a:rPr>
              <a:t>カリの損壊した大学病院から他施設へ患者を搬送。市内では12か所の倒壊現場に人的被害が集中していると報告。</a:t>
            </a:r>
            <a:endParaRPr lang="en-US" sz="1300" dirty="0"/>
          </a:p>
        </p:txBody>
      </p:sp>
      <p:sp>
        <p:nvSpPr>
          <p:cNvPr id="5" name="Shape 2"/>
          <p:cNvSpPr/>
          <p:nvPr/>
        </p:nvSpPr>
        <p:spPr>
          <a:xfrm>
            <a:off x="365760" y="5212080"/>
            <a:ext cx="11430000" cy="914400"/>
          </a:xfrm>
          <a:prstGeom prst="roundRect">
            <a:avLst>
              <a:gd name="adj" fmla="val 5000"/>
            </a:avLst>
          </a:prstGeom>
          <a:solidFill>
            <a:srgbClr val="FCE9DC"/>
          </a:solidFill>
          <a:ln w="12700">
            <a:solidFill>
              <a:srgbClr val="E8A317"/>
            </a:solidFill>
            <a:prstDash val="solid"/>
          </a:ln>
        </p:spPr>
      </p:sp>
      <p:sp>
        <p:nvSpPr>
          <p:cNvPr id="6" name="Text 3"/>
          <p:cNvSpPr/>
          <p:nvPr/>
        </p:nvSpPr>
        <p:spPr>
          <a:xfrm>
            <a:off x="530352" y="5266944"/>
            <a:ext cx="11100816" cy="804672"/>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法的根拠
</a:t>
            </a:r>
            <a:pPr algn="l" indent="0" marL="0">
              <a:buNone/>
            </a:pPr>
            <a:r>
              <a:rPr lang="en-US" sz="950" dirty="0">
                <a:solidFill>
                  <a:srgbClr val="7A2E0E"/>
                </a:solidFill>
                <a:latin typeface="Meiryo" pitchFamily="34" charset="0"/>
                <a:ea typeface="Meiryo" pitchFamily="34" charset="-122"/>
                <a:cs typeface="Meiryo" pitchFamily="34" charset="-120"/>
              </a:rPr>
              <a:t>国家災害宣言により、2012年法律第1523号に基づくSNGRDが起動する。これによりUNGRDが資源配分を指揮でき、国家防災基金（FNGRD）を通常の調達手続によらず活用できる。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Colombia One 国家災害宣言</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国際的な支援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457200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エクアドルが、救助犬と自活可能な資機材を備えた専門USARチーム47人を動員。</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メキシコ大統領は「必要なすべての支援」を表明。中南米各国が救助隊・救助犬・人道支援を申し出ており、コロンビア外務省とUNGRDを通じて受け入れる。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コペルニクス緊急管理サービスのラピッドマッピングが、8月10日17:13 UTC（現地12:13）に EMSR916「Earthquake in Colombia」として発動。要請は欧州委員会サービス／DG ECHO、目的は地震被害評価の緊急マッピング。本稿執筆時点で対応中、関心領域3・成果物3。発動理由には、著しい被害と建物倒壊のあった都市としてキブド、ペレイラ、マニサレス、カリが挙げられている。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国際災害チャーター（Space and Major Disasters）も本地震について発動されたと報じられている。発動番号は本稿執筆時点で確認できていない。</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国際NGOが対応を開始：ダイレクト・リリーフとアメリケアズ（医療物資）、セーブ・ザ・チルドレン（子どもの保護・教育）、国際救援委員会（チョコ県の震央付近で調査）、コンボイ・オブ・ホープ（救援物資）。</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本稿執筆時点で、日本政府による対応（お見舞い、緊急無償資金協力、国際緊急援助隊の派遣等）の発表は確認できていない。</a:t>
            </a:r>
            <a:endParaRPr lang="en-US" sz="1200" dirty="0"/>
          </a:p>
        </p:txBody>
      </p:sp>
      <p:sp>
        <p:nvSpPr>
          <p:cNvPr id="5" name="Shape 2"/>
          <p:cNvSpPr/>
          <p:nvPr/>
        </p:nvSpPr>
        <p:spPr>
          <a:xfrm>
            <a:off x="365760" y="5669280"/>
            <a:ext cx="11430000" cy="475488"/>
          </a:xfrm>
          <a:prstGeom prst="roundRect">
            <a:avLst>
              <a:gd name="adj" fmla="val 9615"/>
            </a:avLst>
          </a:prstGeom>
          <a:solidFill>
            <a:srgbClr val="FCE9DC"/>
          </a:solidFill>
          <a:ln w="12700">
            <a:solidFill>
              <a:srgbClr val="E8A317"/>
            </a:solidFill>
            <a:prstDash val="solid"/>
          </a:ln>
        </p:spPr>
      </p:sp>
      <p:sp>
        <p:nvSpPr>
          <p:cNvPr id="6" name="Text 3"/>
          <p:cNvSpPr/>
          <p:nvPr/>
        </p:nvSpPr>
        <p:spPr>
          <a:xfrm>
            <a:off x="530352" y="5724144"/>
            <a:ext cx="11100816" cy="36576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受け入れ窓口
</a:t>
            </a:r>
            <a:pPr algn="l" indent="0" marL="0">
              <a:buNone/>
            </a:pPr>
            <a:r>
              <a:rPr lang="en-US" sz="950" dirty="0">
                <a:solidFill>
                  <a:srgbClr val="7A2E0E"/>
                </a:solidFill>
                <a:latin typeface="Meiryo" pitchFamily="34" charset="0"/>
                <a:ea typeface="Meiryo" pitchFamily="34" charset="-122"/>
                <a:cs typeface="Meiryo" pitchFamily="34" charset="-120"/>
              </a:rPr>
              <a:t>支援の申し出は、コロンビア外務省とUNGRDを通じて受け入れることとされている。</a:t>
            </a:r>
            <a:endParaRPr lang="en-US" sz="1050" dirty="0"/>
          </a:p>
        </p:txBody>
      </p:sp>
      <p:sp>
        <p:nvSpPr>
          <p:cNvPr id="7"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8"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7"/>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衛星・解析による支援</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2011680"/>
                <a:gridCol w="6309360"/>
                <a:gridCol w="2103120"/>
                <a:gridCol w="1005840"/>
              </a:tblGrid>
              <a:tr h="56692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機関</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内容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状況</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International Charter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本地震に対する発動が報じられている。被害把握のための広域の光学・SAR画像</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報道あり・番号未特定</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888888"/>
                          </a:solidFill>
                          <a:latin typeface="Meiryo" pitchFamily="34" charset="0"/>
                          <a:ea typeface="Meiryo" pitchFamily="34" charset="-122"/>
                          <a:cs typeface="Meiryo" pitchFamily="34" charset="-120"/>
                        </a:rPr>
                        <a:t>確認中</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Copernicus EMS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EMSR916「Earthquake in Colombia」— 被害評価のためのラピッドマッピング。要請は欧州委員会サービス／DG ECHO。関心領域3・成果物3</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対応中（EMSR916）</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USGS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ShakeMap、PAGER（オレンジ）、震源過程、余震カタログ</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GDACS</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総合オレンジ警報。人口曝露と影響推計</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SGC</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国内地震観測網：震源、規模の修正、余震情報、強震記録</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公開済み</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66928">
                <a:tc>
                  <a:txBody>
                    <a:bodyPr/>
                    <a:lstStyle/>
                    <a:p>
                      <a:pPr algn="l" indent="0" marL="0">
                        <a:buNone/>
                      </a:pPr>
                      <a:r>
                        <a:rPr lang="en-US" sz="1000" b="1" dirty="0">
                          <a:solidFill>
                            <a:srgbClr val="1F3864"/>
                          </a:solidFill>
                          <a:latin typeface="Meiryo" pitchFamily="34" charset="0"/>
                          <a:ea typeface="Meiryo" pitchFamily="34" charset="-122"/>
                          <a:cs typeface="Meiryo" pitchFamily="34" charset="-120"/>
                        </a:rPr>
                        <a:t>Sentinel Asia</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対象外。同メカニズムはアジア太平洋地域が対象であり、コロンビアは国際災害チャーターとコペルニクスEMSが対応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222222"/>
                          </a:solidFill>
                          <a:latin typeface="Meiryo" pitchFamily="34" charset="0"/>
                          <a:ea typeface="Meiryo" pitchFamily="34" charset="-122"/>
                          <a:cs typeface="Meiryo" pitchFamily="34" charset="-120"/>
                        </a:rPr>
                        <a:t>対象外</a:t>
                      </a:r>
                      <a:endParaRPr lang="en-US" sz="9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365760" y="5175504"/>
            <a:ext cx="11430000" cy="950976"/>
          </a:xfrm>
          <a:prstGeom prst="roundRect">
            <a:avLst>
              <a:gd name="adj" fmla="val 4808"/>
            </a:avLst>
          </a:prstGeom>
          <a:solidFill>
            <a:srgbClr val="FCE9DC"/>
          </a:solidFill>
          <a:ln w="12700">
            <a:solidFill>
              <a:srgbClr val="E8A317"/>
            </a:solidFill>
            <a:prstDash val="solid"/>
          </a:ln>
        </p:spPr>
      </p:sp>
      <p:sp>
        <p:nvSpPr>
          <p:cNvPr id="6" name="Text 2"/>
          <p:cNvSpPr/>
          <p:nvPr/>
        </p:nvSpPr>
        <p:spPr>
          <a:xfrm>
            <a:off x="530352" y="5230368"/>
            <a:ext cx="11100816" cy="841248"/>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センチネルアジアについて
</a:t>
            </a:r>
            <a:pPr algn="l" indent="0" marL="0">
              <a:buNone/>
            </a:pPr>
            <a:r>
              <a:rPr lang="en-US" sz="950" dirty="0">
                <a:solidFill>
                  <a:srgbClr val="7A2E0E"/>
                </a:solidFill>
                <a:latin typeface="Meiryo" pitchFamily="34" charset="0"/>
                <a:ea typeface="Meiryo" pitchFamily="34" charset="-122"/>
                <a:cs typeface="Meiryo" pitchFamily="34" charset="-120"/>
              </a:rPr>
              <a:t>ADRCが共同プロジェクトチームとして参画するセンチネルアジアはアジア太平洋地域を対象としている。コロンビアの災害では、これに相当する国際的枠組みは国際災害チャーター（Space and Major Disasters）とコペルニクス緊急管理サービスであり、中南米ではUNOSAT／UNITARのラピッドマッピングも広く用いられる。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国際災害チャーター 発動一覧</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GDACS オレンジ警報</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コペルニクスEMS ラピッドマッピング：EMSR916</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home/user/whatsmap/reports/colombia_eq_20260810/images/emsr916_manual.jpg">    </p:cNvPr>
          <p:cNvPicPr>
            <a:picLocks noChangeAspect="1"/>
          </p:cNvPicPr>
          <p:nvPr/>
        </p:nvPicPr>
        <p:blipFill>
          <a:blip r:embed="rId2"/>
          <a:stretch>
            <a:fillRect/>
          </a:stretch>
        </p:blipFill>
        <p:spPr>
          <a:xfrm>
            <a:off x="365760" y="1318736"/>
            <a:ext cx="6858000" cy="4037647"/>
          </a:xfrm>
          <a:prstGeom prst="rect">
            <a:avLst/>
          </a:prstGeom>
        </p:spPr>
      </p:pic>
      <p:sp>
        <p:nvSpPr>
          <p:cNvPr id="5" name="Text 1"/>
          <p:cNvSpPr/>
          <p:nvPr/>
        </p:nvSpPr>
        <p:spPr>
          <a:xfrm>
            <a:off x="365760" y="5669280"/>
            <a:ext cx="6858000" cy="201168"/>
          </a:xfrm>
          <a:prstGeom prst="rect">
            <a:avLst/>
          </a:prstGeom>
          <a:noFill/>
          <a:ln/>
        </p:spPr>
        <p:txBody>
          <a:bodyPr wrap="square" lIns="0" tIns="0" rIns="0" bIns="0" rtlCol="0" anchor="ctr"/>
          <a:lstStyle/>
          <a:p>
            <a:pPr algn="ctr" indent="0" marL="0">
              <a:buNone/>
            </a:pPr>
            <a:r>
              <a:rPr lang="en-US" sz="800" dirty="0">
                <a:solidFill>
                  <a:srgbClr val="6A6A6A"/>
                </a:solidFill>
                <a:latin typeface="Meiryo" pitchFamily="34" charset="0"/>
                <a:ea typeface="Meiryo" pitchFamily="34" charset="-122"/>
                <a:cs typeface="Meiryo" pitchFamily="34" charset="-120"/>
              </a:rPr>
              <a:t>発動ページ（© Copernicus EMS）</a:t>
            </a:r>
            <a:pPr algn="ctr" indent="0" marL="0">
              <a:buNone/>
            </a:pPr>
            <a:r>
              <a:rPr lang="en-US" sz="7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  —  https://mapping.emergency.copernicus.eu/activations/EMSR916/</a:t>
            </a:r>
            <a:endParaRPr lang="en-US" sz="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7406640" y="1024128"/>
          <a:ext cx="4389120" cy="914400"/>
        </p:xfrm>
        <a:graphic>
          <a:graphicData uri="http://schemas.openxmlformats.org/drawingml/2006/table">
            <a:tbl>
              <a:tblPr/>
              <a:tblGrid>
                <a:gridCol w="1554480"/>
                <a:gridCol w="2834640"/>
              </a:tblGrid>
              <a:tr h="32918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項目</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EMSR916 — Earthquake in 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事象発生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afternoon (UTC)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発動時刻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10/08/2026, 17:13 (UTC) = 12:13 COT</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事象種別</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Earthquake / Ground shaking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対象国</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要請者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EC Services | DG ECHO</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成果物</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3 AOIs · 3 products · 0 maps</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29184">
                <a:tc>
                  <a:txBody>
                    <a:bodyPr/>
                    <a:lstStyle/>
                    <a:p>
                      <a:pPr algn="l" indent="0" marL="0">
                        <a:buNone/>
                      </a:pPr>
                      <a:r>
                        <a:rPr lang="en-US" sz="950" b="1" dirty="0">
                          <a:solidFill>
                            <a:srgbClr val="1F3864"/>
                          </a:solidFill>
                          <a:latin typeface="Meiryo" pitchFamily="34" charset="0"/>
                          <a:ea typeface="Meiryo" pitchFamily="34" charset="-122"/>
                          <a:cs typeface="Meiryo" pitchFamily="34" charset="-120"/>
                        </a:rPr>
                        <a:t>状況</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ONGOING</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7" name="Text 2"/>
          <p:cNvSpPr/>
          <p:nvPr/>
        </p:nvSpPr>
        <p:spPr>
          <a:xfrm>
            <a:off x="7406640" y="4041648"/>
            <a:ext cx="4389120" cy="1463040"/>
          </a:xfrm>
          <a:prstGeom prst="rect">
            <a:avLst/>
          </a:prstGeom>
          <a:noFill/>
          <a:ln/>
        </p:spPr>
        <p:txBody>
          <a:bodyPr wrap="square" lIns="0" tIns="0" rIns="0" bIns="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発動理由（原文）
</a:t>
            </a:r>
            <a:pPr algn="l" indent="0" marL="0">
              <a:buNone/>
            </a:pPr>
            <a:r>
              <a:rPr lang="en-US" sz="850" i="1" dirty="0">
                <a:solidFill>
                  <a:srgbClr val="222222"/>
                </a:solidFill>
                <a:latin typeface="Meiryo" pitchFamily="34" charset="0"/>
                <a:ea typeface="Meiryo" pitchFamily="34" charset="-122"/>
                <a:cs typeface="Meiryo" pitchFamily="34" charset="-120"/>
              </a:rPr>
              <a:t>「2026年8月10日12:30 UTC、マグニチュード7.4の大地震がコロンビア西部および中部に影響を与えたと報告されている。震央はサンホセ・デル・パルマル付近。キブド、ペレイラ、マニサレス、カリを含む複数の都市で著しい被害が生じ、建物の倒壊が報告されている。コペルニクスEMSのラピッドマッピングに対し、地震被害評価の緊急マッピングの提供が要請された。」</a:t>
            </a:r>
            <a:endParaRPr lang="en-US" sz="950" dirty="0"/>
          </a:p>
        </p:txBody>
      </p:sp>
      <p:sp>
        <p:nvSpPr>
          <p:cNvPr id="8" name="Shape 3"/>
          <p:cNvSpPr/>
          <p:nvPr/>
        </p:nvSpPr>
        <p:spPr>
          <a:xfrm>
            <a:off x="7406640" y="5541264"/>
            <a:ext cx="4389120" cy="566928"/>
          </a:xfrm>
          <a:prstGeom prst="roundRect">
            <a:avLst>
              <a:gd name="adj" fmla="val 8065"/>
            </a:avLst>
          </a:prstGeom>
          <a:solidFill>
            <a:srgbClr val="FCE9DC"/>
          </a:solidFill>
          <a:ln w="12700">
            <a:solidFill>
              <a:srgbClr val="E8A317"/>
            </a:solidFill>
            <a:prstDash val="solid"/>
          </a:ln>
        </p:spPr>
      </p:sp>
      <p:sp>
        <p:nvSpPr>
          <p:cNvPr id="9" name="Text 4"/>
          <p:cNvSpPr/>
          <p:nvPr/>
        </p:nvSpPr>
        <p:spPr>
          <a:xfrm>
            <a:off x="7571232" y="5596128"/>
            <a:ext cx="4059936" cy="45720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ラピッドマッピングの内容
</a:t>
            </a:r>
            <a:pPr algn="l" indent="0" marL="0">
              <a:buNone/>
            </a:pPr>
            <a:r>
              <a:rPr lang="en-US" sz="950" dirty="0">
                <a:solidFill>
                  <a:srgbClr val="7A2E0E"/>
                </a:solidFill>
                <a:latin typeface="Meiryo" pitchFamily="34" charset="0"/>
                <a:ea typeface="Meiryo" pitchFamily="34" charset="-122"/>
                <a:cs typeface="Meiryo" pitchFamily="34" charset="-120"/>
              </a:rPr>
              <a:t>ラピッドマッピングは、全土ではなく選定された関心領域（AOI）について、参照図と被害グレーディング図を提供する。成果物は作成され次第、発動ページで公開され、自由に利用できる。</a:t>
            </a:r>
            <a:endParaRPr lang="en-US" sz="1050" dirty="0"/>
          </a:p>
        </p:txBody>
      </p:sp>
      <p:sp>
        <p:nvSpPr>
          <p:cNvPr id="10" name="Text 5"/>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コペルニクスEMS EMSR916「Earthquake in Colombia」（発動）</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欧州委員会 コロンビア支援・コペルニクス発動</a:t>
            </a:r>
            <a:endParaRPr lang="en-US" sz="850" dirty="0"/>
          </a:p>
        </p:txBody>
      </p:sp>
      <p:sp>
        <p:nvSpPr>
          <p:cNvPr id="11" name="Shape 6"/>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7"/>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8"/>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コロンビアの災害リスク管理体制</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868680"/>
          </a:xfrm>
          <a:prstGeom prst="rect">
            <a:avLst/>
          </a:prstGeom>
          <a:noFill/>
          <a:ln/>
        </p:spPr>
        <p:txBody>
          <a:bodyPr wrap="square" lIns="50800" tIns="50800" rIns="50800" bIns="50800" rtlCol="0" anchor="t"/>
          <a:lstStyle/>
          <a:p>
            <a:pPr indent="0" marL="0">
              <a:buNone/>
            </a:pPr>
            <a:r>
              <a:rPr lang="en-US" sz="1050" dirty="0">
                <a:solidFill>
                  <a:srgbClr val="222222"/>
                </a:solidFill>
                <a:latin typeface="Meiryo" pitchFamily="34" charset="0"/>
                <a:ea typeface="Meiryo" pitchFamily="34" charset="-122"/>
                <a:cs typeface="Meiryo" pitchFamily="34" charset="-120"/>
              </a:rPr>
              <a:t>コロンビアは1985年のアルメロ火山災害後、さらに1999年アルメニア地震を経て防災体制を再構築してきた。2012年法律第1523号により国家災害リスク管理システム（SNGRD）が創設され、大統領府直属の国家災害リスク管理ユニット（UNGRD）が統括している。</a:t>
            </a:r>
            <a:endParaRPr lang="en-US" sz="1050" dirty="0"/>
          </a:p>
        </p:txBody>
      </p:sp>
      <p:sp>
        <p:nvSpPr>
          <p:cNvPr id="5" name="Text 2"/>
          <p:cNvSpPr/>
          <p:nvPr/>
        </p:nvSpPr>
        <p:spPr>
          <a:xfrm>
            <a:off x="365760" y="1956816"/>
            <a:ext cx="11430000" cy="411480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2012年法律第1523号 — 災害リスク管理の国家政策。SNGRDを規定し、リスク管理をすべての公的機関（および一部の民間主体）の責務とした。</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UNGRD — 大統領府直属の調整機関。全国的な応急対応、国家防災基金（FNGRD）、国家情報システムを運用する。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県・市町村のリスク管理協議会（CDGRD／CMGRD）が初動を担い、地方の能力を超える場合にUNGRDが増強する。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PNGRD 2015-2030 — 仙台防災枠組に整合した国家災害リスク管理計画。</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NSR-10 — 国の耐震設計基準（2010年施行、その後も技術付属書を更新）。現行基準以前の建物や、非エンジニアリングの組積造・土造建築が依然としてリスクの主要因である。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ボゴタ、メデジン、カリ、ペレイラ、マニサレス、アルメニアなど主要都市で地震動微地形区分（マイクロゾーニング）が整備されている。1999年地震の直接の教訓による。</a:t>
            </a:r>
            <a:endParaRPr lang="en-US" sz="1150" dirty="0"/>
          </a:p>
          <a:p>
            <a:pPr algn="l" marL="342900" indent="-342900">
              <a:spcAft>
                <a:spcPts val="500"/>
              </a:spcAft>
              <a:buSzPct val="100000"/>
              <a:buChar char="•"/>
            </a:pPr>
            <a:r>
              <a:rPr lang="en-US" sz="1150" dirty="0">
                <a:solidFill>
                  <a:srgbClr val="222222"/>
                </a:solidFill>
                <a:latin typeface="Meiryo" pitchFamily="34" charset="0"/>
                <a:ea typeface="Meiryo" pitchFamily="34" charset="-122"/>
                <a:cs typeface="Meiryo" pitchFamily="34" charset="-120"/>
              </a:rPr>
              <a:t>SGCが国家地震観測網と強震観測網を運用し、数分以内に公表情報を発表している。</a:t>
            </a:r>
            <a:endParaRPr lang="en-US" sz="1150" dirty="0"/>
          </a:p>
        </p:txBody>
      </p:sp>
      <p:sp>
        <p:nvSpPr>
          <p:cNvPr id="6"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UN-SPIDER UNGRD紹介</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OECD コロンビアのリスクガバナンス評価</a:t>
            </a:r>
            <a:endParaRPr lang="en-US" sz="85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1999年アルメニア（キンディオ）地震と復興</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5852160" cy="1783080"/>
          </a:xfrm>
          <a:prstGeom prst="rect">
            <a:avLst/>
          </a:prstGeom>
          <a:noFill/>
          <a:ln/>
        </p:spPr>
        <p:txBody>
          <a:bodyPr wrap="square" lIns="50800" tIns="50800" rIns="50800" bIns="50800" rtlCol="0" anchor="t"/>
          <a:lstStyle/>
          <a:p>
            <a:pPr algn="l" indent="0" marL="0">
              <a:buNone/>
            </a:pPr>
            <a:r>
              <a:rPr lang="en-US" sz="1200" b="1" dirty="0">
                <a:solidFill>
                  <a:srgbClr val="1F3864"/>
                </a:solidFill>
                <a:latin typeface="Meiryo" pitchFamily="34" charset="0"/>
                <a:ea typeface="Meiryo" pitchFamily="34" charset="-122"/>
                <a:cs typeface="Meiryo" pitchFamily="34" charset="-120"/>
              </a:rPr>
              <a:t>1999年アルメニア（キンディオ）地震 — 同じコーヒー地帯
</a:t>
            </a:r>
            <a:pPr algn="l" indent="0" marL="0">
              <a:buNone/>
            </a:pPr>
            <a:r>
              <a:rPr lang="en-US" sz="1000" dirty="0">
                <a:solidFill>
                  <a:srgbClr val="222222"/>
                </a:solidFill>
                <a:latin typeface="Meiryo" pitchFamily="34" charset="0"/>
                <a:ea typeface="Meiryo" pitchFamily="34" charset="-122"/>
                <a:cs typeface="Meiryo" pitchFamily="34" charset="-120"/>
              </a:rPr>
              <a:t>1999年1月25日、深さ約30kmでM6.1〜6.2の地震がキンディオのコーヒー生産地帯を襲った。死者約1,185人、負傷者5,000人超、約5万棟が損壊・全壊し、アルメニア市では建物の約6割が倒壊または大破、20万人以上が住まいを失った。2026年の地震より規模ははるかに小さいが、浅く、都市に近かったため局所的な破壊力は格段に大きかった。</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365760" y="2871216"/>
          <a:ext cx="5852160" cy="914400"/>
        </p:xfrm>
        <a:graphic>
          <a:graphicData uri="http://schemas.openxmlformats.org/drawingml/2006/table">
            <a:tbl>
              <a:tblPr/>
              <a:tblGrid>
                <a:gridCol w="2468880"/>
                <a:gridCol w="3383280"/>
              </a:tblGrid>
              <a:tr h="38404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1999年の被害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数値</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約1,185人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負傷者</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5,000人超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損壊・全壊建物</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約5万棟</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住まいを失った人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20万人超</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84048">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コーヒー産業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農園約8,000、加工施設約1,200が被害</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6400800" y="1024128"/>
            <a:ext cx="5394960" cy="274320"/>
          </a:xfrm>
          <a:prstGeom prst="rect">
            <a:avLst/>
          </a:prstGeom>
          <a:noFill/>
          <a:ln/>
        </p:spPr>
        <p:txBody>
          <a:bodyPr wrap="square" lIns="50800" tIns="50800" rIns="50800" bIns="50800" rtlCol="0" anchor="ctr"/>
          <a:lstStyle/>
          <a:p>
            <a:pPr indent="0" marL="0">
              <a:buNone/>
            </a:pPr>
            <a:r>
              <a:rPr lang="en-US" sz="1200" b="1" dirty="0">
                <a:solidFill>
                  <a:srgbClr val="1F3864"/>
                </a:solidFill>
                <a:latin typeface="Meiryo" pitchFamily="34" charset="0"/>
                <a:ea typeface="Meiryo" pitchFamily="34" charset="-122"/>
                <a:cs typeface="Meiryo" pitchFamily="34" charset="-120"/>
              </a:rPr>
              <a:t>その後と教訓</a:t>
            </a:r>
            <a:endParaRPr lang="en-US" sz="1200" dirty="0"/>
          </a:p>
        </p:txBody>
      </p:sp>
      <p:sp>
        <p:nvSpPr>
          <p:cNvPr id="7" name="Text 3"/>
          <p:cNvSpPr/>
          <p:nvPr/>
        </p:nvSpPr>
        <p:spPr>
          <a:xfrm>
            <a:off x="6400800" y="1316736"/>
            <a:ext cx="5394960" cy="3931920"/>
          </a:xfrm>
          <a:prstGeom prst="rect">
            <a:avLst/>
          </a:prstGeom>
          <a:noFill/>
          <a:ln/>
        </p:spPr>
        <p:txBody>
          <a:bodyPr wrap="square" lIns="50800" tIns="50800" rIns="50800" bIns="50800" rtlCol="0" anchor="t"/>
          <a:lstStyle/>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復興はコーヒー地帯専門の暫定機関が統括した。中南米における復興専従機関の先駆例である。</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この災害を機に耐震基準の運用が強化され、現在ペレイラ・マニサレス・アルメニアを覆うマイクロゾーニング調査が進んだ。</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コーヒー経済の回復には約10年を要した。災害の経済的影響は応急期をはるかに超えて続いた。</a:t>
            </a:r>
            <a:endParaRPr lang="en-US" sz="1100" dirty="0"/>
          </a:p>
          <a:p>
            <a:pPr algn="l" marL="342900" indent="-342900">
              <a:spcAft>
                <a:spcPts val="500"/>
              </a:spcAft>
              <a:buSzPct val="100000"/>
              <a:buChar char="•"/>
            </a:pPr>
            <a:r>
              <a:rPr lang="en-US" sz="1100" dirty="0">
                <a:solidFill>
                  <a:srgbClr val="222222"/>
                </a:solidFill>
                <a:latin typeface="Meiryo" pitchFamily="34" charset="0"/>
                <a:ea typeface="Meiryo" pitchFamily="34" charset="-122"/>
                <a:cs typeface="Meiryo" pitchFamily="34" charset="-120"/>
              </a:rPr>
              <a:t>2026年の地震は同じ都市群を揺らしたが、浅い直下ではなく深く離れた震源によるものであり、同じ建物ストックに異なる形の荷重を与えた。</a:t>
            </a:r>
            <a:endParaRPr lang="en-US" sz="1100" dirty="0"/>
          </a:p>
        </p:txBody>
      </p:sp>
      <p:sp>
        <p:nvSpPr>
          <p:cNvPr id="8" name="Shape 4"/>
          <p:cNvSpPr/>
          <p:nvPr/>
        </p:nvSpPr>
        <p:spPr>
          <a:xfrm>
            <a:off x="365760" y="5358384"/>
            <a:ext cx="11430000" cy="749808"/>
          </a:xfrm>
          <a:prstGeom prst="roundRect">
            <a:avLst>
              <a:gd name="adj" fmla="val 6098"/>
            </a:avLst>
          </a:prstGeom>
          <a:solidFill>
            <a:srgbClr val="FCE9DC"/>
          </a:solidFill>
          <a:ln w="12700">
            <a:solidFill>
              <a:srgbClr val="E8A317"/>
            </a:solidFill>
            <a:prstDash val="solid"/>
          </a:ln>
        </p:spPr>
      </p:sp>
      <p:sp>
        <p:nvSpPr>
          <p:cNvPr id="9" name="Text 5"/>
          <p:cNvSpPr/>
          <p:nvPr/>
        </p:nvSpPr>
        <p:spPr>
          <a:xfrm>
            <a:off x="530352" y="5413248"/>
            <a:ext cx="11100816" cy="640080"/>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現在の意味
</a:t>
            </a:r>
            <a:pPr algn="l" indent="0" marL="0">
              <a:buNone/>
            </a:pPr>
            <a:r>
              <a:rPr lang="en-US" sz="950" dirty="0">
                <a:solidFill>
                  <a:srgbClr val="7A2E0E"/>
                </a:solidFill>
                <a:latin typeface="Meiryo" pitchFamily="34" charset="0"/>
                <a:ea typeface="Meiryo" pitchFamily="34" charset="-122"/>
                <a:cs typeface="Meiryo" pitchFamily="34" charset="-120"/>
              </a:rPr>
              <a:t>2026年に大きな被害を受けたペレイラ・マニサレス・アルメニアは、1999年後に再建された都市そのものである。深さ107kmの震源による長周期・長時間の揺れに対し、再建された建物ストックがどう応答したかが、事後評価の最大の論点となる。</a:t>
            </a:r>
            <a:endParaRPr lang="en-US" sz="1050" dirty="0"/>
          </a:p>
        </p:txBody>
      </p:sp>
      <p:sp>
        <p:nvSpPr>
          <p:cNvPr id="10" name="Text 6"/>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GEM コロンビアの耐震規定（NSR-10）</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PreventionWeb コロンビア国家防災計画</a:t>
            </a:r>
            <a:endParaRPr lang="en-US" sz="850" dirty="0"/>
          </a:p>
        </p:txBody>
      </p:sp>
      <p:sp>
        <p:nvSpPr>
          <p:cNvPr id="11" name="Shape 7"/>
          <p:cNvSpPr/>
          <p:nvPr/>
        </p:nvSpPr>
        <p:spPr>
          <a:xfrm>
            <a:off x="10268712" y="6510528"/>
            <a:ext cx="1554480" cy="274320"/>
          </a:xfrm>
          <a:prstGeom prst="rect">
            <a:avLst/>
          </a:prstGeom>
          <a:solidFill>
            <a:srgbClr val="E8A317"/>
          </a:solidFill>
          <a:ln w="12700">
            <a:solidFill>
              <a:srgbClr val="E8A317"/>
            </a:solidFill>
            <a:prstDash val="solid"/>
          </a:ln>
        </p:spPr>
      </p:sp>
      <p:sp>
        <p:nvSpPr>
          <p:cNvPr id="12" name="Text 8"/>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3" name="Text 9"/>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コロンビアの主な地震（歴史）</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822960"/>
                <a:gridCol w="3108960"/>
                <a:gridCol w="914400"/>
                <a:gridCol w="6583680"/>
              </a:tblGrid>
              <a:tr h="512064">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地震</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規模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被害・特徴</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1906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エクアドル・コロンビア地震（太平洋岸）</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観測史上最大級。太平洋岸に破壊的な津波</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1979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トゥマコ地震（ナリーニョ県）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M8.1</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プレート境界型で津波を伴う。数百人が死亡</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1983</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ポパヤン地震（カウカ県）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M5.5</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死者約250〜300人。歴史的市街地が大きく損壊。小規模だが浅く都市直下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1994</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パエス地震（カウカ県）</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M6.8</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死者約1,100人。大半は地震による地すべり・土石流</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1995</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M6.6</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2026年と同じ県で発生したやや深発地震</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1999</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アルメニア（キンディオ）地震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M6.1-6.2</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死者約1,185人。コロンビア史上最も経済損失の大きい地震災害。現在の防災改革の契機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512064">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2026</a:t>
                      </a:r>
                      <a:endParaRPr lang="en-US" sz="11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チョコ地震（本地震）</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C00000"/>
                          </a:solidFill>
                          <a:latin typeface="Meiryo" pitchFamily="34" charset="0"/>
                          <a:ea typeface="Meiryo" pitchFamily="34" charset="-122"/>
                          <a:cs typeface="Meiryo" pitchFamily="34" charset="-120"/>
                        </a:rPr>
                        <a:t>M7.4</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過去10年でコロンビア最大規模（SGC）。やや深発で被害が広域に分散</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365760" y="5230368"/>
            <a:ext cx="11430000" cy="877824"/>
          </a:xfrm>
          <a:prstGeom prst="roundRect">
            <a:avLst>
              <a:gd name="adj" fmla="val 5208"/>
            </a:avLst>
          </a:prstGeom>
          <a:solidFill>
            <a:srgbClr val="FCE9DC"/>
          </a:solidFill>
          <a:ln w="12700">
            <a:solidFill>
              <a:srgbClr val="E8A317"/>
            </a:solidFill>
            <a:prstDash val="solid"/>
          </a:ln>
        </p:spPr>
      </p:sp>
      <p:sp>
        <p:nvSpPr>
          <p:cNvPr id="6" name="Text 2"/>
          <p:cNvSpPr/>
          <p:nvPr/>
        </p:nvSpPr>
        <p:spPr>
          <a:xfrm>
            <a:off x="530352" y="5285232"/>
            <a:ext cx="11100816" cy="768096"/>
          </a:xfrm>
          <a:prstGeom prst="rect">
            <a:avLst/>
          </a:prstGeom>
          <a:noFill/>
          <a:ln/>
        </p:spPr>
        <p:txBody>
          <a:bodyPr wrap="square" lIns="25400" tIns="25400" rIns="25400" bIns="25400" rtlCol="0" anchor="ctr"/>
          <a:lstStyle/>
          <a:p>
            <a:pPr algn="l" indent="0" marL="0">
              <a:buNone/>
            </a:pPr>
            <a:r>
              <a:rPr lang="en-US" sz="1050" b="1" dirty="0">
                <a:solidFill>
                  <a:srgbClr val="9A3B12"/>
                </a:solidFill>
                <a:latin typeface="Meiryo" pitchFamily="34" charset="0"/>
                <a:ea typeface="Meiryo" pitchFamily="34" charset="-122"/>
                <a:cs typeface="Meiryo" pitchFamily="34" charset="-120"/>
              </a:rPr>
              <a:t>傾向
</a:t>
            </a:r>
            <a:pPr algn="l" indent="0" marL="0">
              <a:buNone/>
            </a:pPr>
            <a:r>
              <a:rPr lang="en-US" sz="950" dirty="0">
                <a:solidFill>
                  <a:srgbClr val="7A2E0E"/>
                </a:solidFill>
                <a:latin typeface="Meiryo" pitchFamily="34" charset="0"/>
                <a:ea typeface="Meiryo" pitchFamily="34" charset="-122"/>
                <a:cs typeface="Meiryo" pitchFamily="34" charset="-120"/>
              </a:rPr>
              <a:t>コロンビアで最も多くの死者を出した地震は、最大規模の地震ではない。1983年ポパヤン（M5.5）、1994年パエス（M6.8）、1999年アルメニア（M6.1〜6.2）はいずれも浅く市街地に近かった。一方、規模の大きい1906年・1979年の海域地震の死者はより少ない。被害を決めるのは規模だけでなく、深さと震源の近さである。</a:t>
            </a:r>
            <a:endParaRPr lang="en-US" sz="10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コロンビア地質調査所（SGC）</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GEM コロンビアの耐震規定（NSR-10）</a:t>
            </a:r>
            <a:endParaRPr lang="en-US" sz="8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10"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所見と今後の注目点</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2064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深い震源でありながら被害は浅発地震型。深さ107kmで地表地震断層も津波も生じなかったが、少なくとも6県で建物被害が出た。被害が集中せず分散するため、ニーズ把握・ロジスティクス・捜索救助の重点配分が難しく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重要施設が被災した。カリの大学病院が約3割崩落、医療7施設が閉鎖、学校52か所が被害、国際空港ターミナルが一部倒壊しており、必要な場所で対応能力そのものが低下している。病院・学校・交通ターミナルの耐震性能が現時点で最も明確な教訓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数値は今後増加し、当面は相互に整合しない。県知事・市長が発表する県別死者数は国全体の値と一致しておらず、建物被害数も被害認定調査ではなく第一報の積み上げである。今後数日の急増は、事態の悪化というより調査の進展として読むべきである。</a:t>
            </a:r>
            <a:endParaRPr lang="en-US" sz="1200" dirty="0"/>
          </a:p>
          <a:p>
            <a:pPr algn="l" marL="342900" indent="-342900">
              <a:buSzPct val="100000"/>
              <a:buChar char="•"/>
            </a:pPr>
            <a:r>
              <a:rPr lang="en-US" sz="1200" b="1" dirty="0">
                <a:solidFill>
                  <a:srgbClr val="B8860B"/>
                </a:solidFill>
                <a:latin typeface="Meiryo" pitchFamily="34" charset="0"/>
                <a:ea typeface="Meiryo" pitchFamily="34" charset="-122"/>
                <a:cs typeface="Meiryo" pitchFamily="34" charset="-120"/>
              </a:rPr>
              <a:t>[報道]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被災地は1999年以後に再建されたコーヒー地帯である。1999年以降の建築物と旧来の建物が、性質の異なる揺れに対してどう応答したかの比較は、同地域にとっても、やや深発地震のリスクを抱える他国にとっても有益であ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損傷建物に対する余震リスク。スラブ内地震の余震活動は限定的とみられるが、損傷した建物は耐力を失っている。捜索救助と並行し、再入居前の応急危険度判定が当面の優先課題である。</a:t>
            </a:r>
            <a:endParaRPr lang="en-US" sz="1200" dirty="0"/>
          </a:p>
          <a:p>
            <a:pPr algn="l" marL="342900" indent="-342900">
              <a:buSzPct val="100000"/>
              <a:buChar char="•"/>
            </a:pPr>
            <a:r>
              <a:rPr lang="en-US" sz="1200" b="1" dirty="0">
                <a:solidFill>
                  <a:srgbClr val="888888"/>
                </a:solidFill>
                <a:latin typeface="Meiryo" pitchFamily="34" charset="0"/>
                <a:ea typeface="Meiryo" pitchFamily="34" charset="-122"/>
                <a:cs typeface="Meiryo" pitchFamily="34" charset="-120"/>
              </a:rPr>
              <a:t>[確認中] </a:t>
            </a:r>
            <a:pPr algn="l" indent="0" marL="0">
              <a:spcAft>
                <a:spcPts val="500"/>
              </a:spcAft>
              <a:buNone/>
            </a:pPr>
            <a:r>
              <a:rPr lang="en-US" sz="1300" dirty="0">
                <a:solidFill>
                  <a:srgbClr val="222222"/>
                </a:solidFill>
                <a:latin typeface="Meiryo" pitchFamily="34" charset="0"/>
                <a:ea typeface="Meiryo" pitchFamily="34" charset="-122"/>
                <a:cs typeface="Meiryo" pitchFamily="34" charset="-120"/>
              </a:rPr>
              <a:t>今後の注目点：整合の取れた全国の人的被害数、未公表の避難者数、チョコ県の水・電力の復旧、衛星による被害マッピングの結果、そして政府が既存の申し出を超えて国際支援を要請するかどうか。</a:t>
            </a:r>
            <a:endParaRPr lang="en-US" sz="12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850" b="1" dirty="0">
                <a:solidFill>
                  <a:srgbClr val="6A6A6A"/>
                </a:solidFill>
                <a:latin typeface="Meiryo" pitchFamily="34" charset="0"/>
                <a:ea typeface="Meiryo" pitchFamily="34" charset="-122"/>
                <a:cs typeface="Meiryo" pitchFamily="34" charset="-120"/>
              </a:rPr>
              <a:t>出典：</a:t>
            </a:r>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国家災害リスク管理ユニット（UNGRD）</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USGS 地震イベントページ</a:t>
            </a:r>
            <a:pPr algn="l" indent="0" marL="0">
              <a:buNone/>
            </a:pPr>
            <a:r>
              <a:rPr lang="en-US" sz="850" dirty="0">
                <a:solidFill>
                  <a:srgbClr val="6A6A6A"/>
                </a:solidFill>
                <a:latin typeface="Meiryo" pitchFamily="34" charset="0"/>
                <a:ea typeface="Meiryo" pitchFamily="34" charset="-122"/>
                <a:cs typeface="Meiryo" pitchFamily="34" charset="-120"/>
              </a:rPr>
              <a:t>   ·   </a:t>
            </a:r>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ReliefWeb コロンビア</a:t>
            </a:r>
            <a:endParaRPr lang="en-US" sz="8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5"/>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有用リンク・出典（1/3）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566928"/>
          </a:xfrm>
          <a:prstGeom prst="rect">
            <a:avLst/>
          </a:prstGeom>
          <a:noFill/>
          <a:ln/>
        </p:spPr>
        <p:txBody>
          <a:bodyPr wrap="square" lIns="25400" tIns="25400" rIns="25400" bIns="25400" rtlCol="0" anchor="t"/>
          <a:lstStyle/>
          <a:p>
            <a:pPr algn="l" indent="0" marL="0">
              <a:buNone/>
            </a:pPr>
            <a:r>
              <a:rPr lang="en-US" sz="950" b="1" dirty="0">
                <a:solidFill>
                  <a:srgbClr val="1F3864"/>
                </a:solidFill>
                <a:latin typeface="Meiryo" pitchFamily="34" charset="0"/>
                <a:ea typeface="Meiryo" pitchFamily="34" charset="-122"/>
                <a:cs typeface="Meiryo" pitchFamily="34" charset="-120"/>
              </a:rPr>
              <a:t>情報源方針：</a:t>
            </a:r>
            <a:pPr algn="l" indent="0" marL="0">
              <a:buNone/>
            </a:pPr>
            <a:r>
              <a:rPr lang="en-US" sz="900" dirty="0">
                <a:solidFill>
                  <a:srgbClr val="444444"/>
                </a:solidFill>
                <a:latin typeface="Meiryo" pitchFamily="34" charset="0"/>
                <a:ea typeface="Meiryo" pitchFamily="34" charset="-122"/>
                <a:cs typeface="Meiryo" pitchFamily="34" charset="-120"/>
              </a:rPr>
              <a:t>情報源の階層は「公式 &gt; 報道 &gt; 確認中」。政府・科学機関の数値を主とし、公式値が未公表の項目に限り報道を出典明示のうえ用いる。確認中の項目はTBCと表示する。速報値を、未確認のより大きな数値で安易に置き換えることはしない。</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536192"/>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USGS 地震イベントページ</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https://earthquake.usgs.gov/earthquakes/eventpage/us6000tjl2/executive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コロンビア地質調査所（SGC）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https://www.sgc.gov.co/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地震速報 SGC2026pqqmro（本地震）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https://www.sgc.gov.co/detallesismo/SGC2026pqqmro/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SGC 体感震度図（ShakeMap・本地震）</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https://www.sgc.gov.co/detallesismo/SGC2026pqqmro/mmi</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国家災害リスク管理ユニット（UNGRD）</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https://portal.gestiondelriesgo.gov.co/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GDACS オレンジ警報</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https://gdacs.org/report.aspx?eventid=1557236&amp;eventtype=EQ</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国際災害チャーター 発動一覧</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https://disasterscharter.org/activations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コペルニクスEMS EMSR916「Earthquake in Colombia」（発動）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https://mapping.emergency.copernicus.eu/activations/EMSR916/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ReliefWeb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https://reliefweb.int/country/col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PAHO/WHO コロンビア</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https://www.paho.org/en/colombia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PreventionWeb コロンビア国家防災計画</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https://www.preventionweb.net/publication/colombia-plan-nacional-de-gestion-del-riesgo-de-desastres-pngrd-2015-2030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GEM コロンビアの耐震規定（NSR-10）</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https://www.globalquakemodel.org/seismic-regulations/colombia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UN-SPIDER UNGRD紹介</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https://un-spider.org/national-unit-disaster-risk-management-ungrd-colombia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OECD コロンビアのリスクガバナンス評価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https://www.oecd.org/en/publications/risk-governance-scan-of-colombia_eeb81954-en.html</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CNN 速報（死者111人）</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https://www.cnn.com/2026/08/10/world/live-news/colombia-earthquake-san-jose-del-palmar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8" name="Text 4"/>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有用リンク・出典（2/3）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France 24 国家非常事態宣言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https://www.france24.com/en/americas/20260810-powerful-quake-rocks-colombia-causing-major-damage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アルジャジーラ 報道</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https://www.aljazeera.com/news/2026/8/10/7-4-magnitude-earthquake-hits-colombia-killing-at-least-20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CBS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https://www.cbsnews.com/news/colombia-earthquake-western-region-evacuations/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NBC ニュース</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https://www.nbcnews.com/world/latin-america/strong-earthquake-colombia-ecuador-people-evacuating-homes-buildings-rcna591709</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政府第1次被害評価</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https://colombiaone.com/2026/08/10/earthquake-colombia-official-details/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Colombia One 国家災害宣言</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https://colombiaone.com/2026/08/10/colombia-national-disaster/</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Infobae SGCによる長い揺れの解説</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https://www.infobae.com/colombia/2026/08/10/por-que-el-temblor-en-colombia-de-este-lunes-10-de-agosto-duro-una-eternidad-el-servicio-geologico-explico-que-paso/</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NHK 大統領「111人死亡・87人けが」</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https://www3.nhk.or.jp/news/</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日本経済新聞 コロンビア西部でM7.4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https://www.nikkei.com/article/DGXZQOGN108V30Q6A810C2000000/</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時事通信 コロンビアでM7.4</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https://www.jiji.com/jc/article?k=2026081000878&amp;g=int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セーブ・ザ・チルドレン 声明</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https://www.savethechildren.org/us/about-us/media-and-news/2026-press-releases/children-at-risk-after-earthquake-strikes-colombia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ダイレクト・リリーフ 医療支援</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3" invalidUrl="" action="" tgtFrame="" tooltip="" history="1" highlightClick="0" endSnd="0">
                            <a:extLst>
                              <a:ext uri="{A12FA001-AC4F-418D-AE19-62706E023703}">
                                <ahyp:hlinkClr xmlns:ahyp="http://schemas.microsoft.com/office/drawing/2018/hyperlinkcolor" val="tx"/>
                              </a:ext>
                            </a:extLst>
                          </a:hlinkClick>
                        </a:rPr>
                        <a:t>https://www.directrelief.org/2026/08/colombia-earthquake-7-4-magnitude-direct-relief-response/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アメリケアズ 対応</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4" invalidUrl="" action="" tgtFrame="" tooltip="" history="1" highlightClick="0" endSnd="0">
                            <a:extLst>
                              <a:ext uri="{A12FA001-AC4F-418D-AE19-62706E023703}">
                                <ahyp:hlinkClr xmlns:ahyp="http://schemas.microsoft.com/office/drawing/2018/hyperlinkcolor" val="tx"/>
                              </a:ext>
                            </a:extLst>
                          </a:hlinkClick>
                        </a:rPr>
                        <a:t>https://www.americares.org/crisis-alerts/colombia-earthquake-august-2026/</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GLIDE番号 — EQ-2026-000146-COL（災害識別番号）</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5" invalidUrl="" action="" tgtFrame="" tooltip="" history="1" highlightClick="0" endSnd="0">
                            <a:extLst>
                              <a:ext uri="{A12FA001-AC4F-418D-AE19-62706E023703}">
                                <ahyp:hlinkClr xmlns:ahyp="http://schemas.microsoft.com/office/drawing/2018/hyperlinkcolor" val="tx"/>
                              </a:ext>
                            </a:extLst>
                          </a:hlinkClick>
                        </a:rPr>
                        <a:t>https://glidenumber.net/</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アジア防災センター（ADRC）</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1E7A34"/>
                          </a:solidFill>
                          <a:latin typeface="Meiryo" pitchFamily="34" charset="0"/>
                          <a:ea typeface="Meiryo" pitchFamily="34" charset="-122"/>
                          <a:cs typeface="Meiryo" pitchFamily="34" charset="-120"/>
                        </a:rPr>
                        <a:t>公式</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16" invalidUrl="" action="" tgtFrame="" tooltip="" history="1" highlightClick="0" endSnd="0">
                            <a:extLst>
                              <a:ext uri="{A12FA001-AC4F-418D-AE19-62706E023703}">
                                <ahyp:hlinkClr xmlns:ahyp="http://schemas.microsoft.com/office/drawing/2018/hyperlinkcolor" val="tx"/>
                              </a:ext>
                            </a:extLst>
                          </a:hlinkClick>
                        </a:rPr>
                        <a:t>https://www.adrc.asia/</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92608"/>
            <a:ext cx="10332720" cy="566928"/>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有用リンク・出典（3/3）</a:t>
            </a:r>
            <a:endParaRPr lang="en-US" sz="1900" dirty="0"/>
          </a:p>
        </p:txBody>
      </p:sp>
      <p:pic>
        <p:nvPicPr>
          <p:cNvPr id="3" name="Image 0" descr="/home/user/whatsmap/reports/colombia_eq_20260810/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365760" y="1024128"/>
          <a:ext cx="11430000" cy="914400"/>
        </p:xfrm>
        <a:graphic>
          <a:graphicData uri="http://schemas.openxmlformats.org/drawingml/2006/table">
            <a:tbl>
              <a:tblPr/>
              <a:tblGrid>
                <a:gridCol w="4206240"/>
                <a:gridCol w="822960"/>
                <a:gridCol w="6400800"/>
              </a:tblGrid>
              <a:tr h="292608">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情報源</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区分</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150" b="1" dirty="0">
                          <a:solidFill>
                            <a:srgbClr val="FFFFFF"/>
                          </a:solidFill>
                          <a:latin typeface="Meiryo" pitchFamily="34" charset="0"/>
                          <a:ea typeface="Meiryo" pitchFamily="34" charset="-122"/>
                          <a:cs typeface="Meiryo" pitchFamily="34" charset="-120"/>
                        </a:rPr>
                        <a:t>URL</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950" dirty="0">
                          <a:solidFill>
                            <a:srgbClr val="222222"/>
                          </a:solidFill>
                          <a:latin typeface="Meiryo" pitchFamily="34" charset="0"/>
                          <a:ea typeface="Meiryo" pitchFamily="34" charset="-122"/>
                          <a:cs typeface="Meiryo" pitchFamily="34" charset="-120"/>
                        </a:rPr>
                        <a:t>欧州委員会 コロンビア支援・コペルニクス発動</a:t>
                      </a:r>
                      <a:endParaRPr lang="en-US" sz="9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850" b="1" dirty="0">
                          <a:solidFill>
                            <a:srgbClr val="B8860B"/>
                          </a:solidFill>
                          <a:latin typeface="Meiryo" pitchFamily="34" charset="0"/>
                          <a:ea typeface="Meiryo" pitchFamily="34" charset="-122"/>
                          <a:cs typeface="Meiryo" pitchFamily="34" charset="-120"/>
                        </a:rPr>
                        <a:t>報道</a:t>
                      </a:r>
                      <a:endParaRPr lang="en-US" sz="8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https://www.democrata.es/en/international/von-der-leyen-expresses-the-eu-s-support-for-colombia-and-activates-copernicus-after-the-earthquake/</a:t>
                      </a:r>
                      <a:endParaRPr lang="en-US" sz="8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7" name="Text 3"/>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home/user/whatsmap/reports/colombia_eq_20260810/images/adrc_logo.png">    </p:cNvPr>
          <p:cNvPicPr>
            <a:picLocks noChangeAspect="1"/>
          </p:cNvPicPr>
          <p:nvPr/>
        </p:nvPicPr>
        <p:blipFill>
          <a:blip r:embed="rId1"/>
          <a:stretch>
            <a:fillRect/>
          </a:stretch>
        </p:blipFill>
        <p:spPr>
          <a:xfrm>
            <a:off x="5454396" y="2194560"/>
            <a:ext cx="1280160" cy="1280160"/>
          </a:xfrm>
          <a:prstGeom prst="rect">
            <a:avLst/>
          </a:prstGeom>
        </p:spPr>
      </p:pic>
      <p:sp>
        <p:nvSpPr>
          <p:cNvPr id="3" name="Text 0"/>
          <p:cNvSpPr/>
          <p:nvPr/>
        </p:nvSpPr>
        <p:spPr>
          <a:xfrm>
            <a:off x="457200" y="3611880"/>
            <a:ext cx="11274552" cy="365760"/>
          </a:xfrm>
          <a:prstGeom prst="rect">
            <a:avLst/>
          </a:prstGeom>
          <a:noFill/>
          <a:ln/>
        </p:spPr>
        <p:txBody>
          <a:bodyPr wrap="square" rtlCol="0" anchor="ctr"/>
          <a:lstStyle/>
          <a:p>
            <a:pPr algn="ctr" indent="0" marL="0">
              <a:buNone/>
            </a:pPr>
            <a:r>
              <a:rPr lang="en-US" sz="1500" b="1" dirty="0">
                <a:solidFill>
                  <a:srgbClr val="1F3864"/>
                </a:solidFill>
                <a:latin typeface="Meiryo" pitchFamily="34" charset="0"/>
                <a:ea typeface="Meiryo" pitchFamily="34" charset="-122"/>
                <a:cs typeface="Meiryo" pitchFamily="34" charset="-120"/>
              </a:rPr>
              <a:t>アジア防災センター（ADRC）</a:t>
            </a:r>
            <a:endParaRPr lang="en-US" sz="1500" dirty="0"/>
          </a:p>
        </p:txBody>
      </p:sp>
      <p:sp>
        <p:nvSpPr>
          <p:cNvPr id="4" name="Text 1"/>
          <p:cNvSpPr/>
          <p:nvPr/>
        </p:nvSpPr>
        <p:spPr>
          <a:xfrm>
            <a:off x="1828800" y="4023360"/>
            <a:ext cx="8531352" cy="731520"/>
          </a:xfrm>
          <a:prstGeom prst="rect">
            <a:avLst/>
          </a:prstGeom>
          <a:noFill/>
          <a:ln/>
        </p:spPr>
        <p:txBody>
          <a:bodyPr wrap="square" rtlCol="0" anchor="ctr"/>
          <a:lstStyle/>
          <a:p>
            <a:pPr algn="ctr" indent="0" marL="0">
              <a:buNone/>
            </a:pPr>
            <a:r>
              <a:rPr lang="en-US" sz="1050" dirty="0">
                <a:solidFill>
                  <a:srgbClr val="6A6A6A"/>
                </a:solidFill>
                <a:latin typeface="Meiryo" pitchFamily="34" charset="0"/>
                <a:ea typeface="Meiryo" pitchFamily="34" charset="-122"/>
                <a:cs typeface="Meiryo" pitchFamily="34" charset="-120"/>
              </a:rPr>
              <a:t>国内外発信用の日英レポート。公的機関の情報を優先し、不足分は出典を明示したうえで報道で補完する。</a:t>
            </a:r>
            <a:endParaRPr lang="en-US" sz="1050" dirty="0"/>
          </a:p>
        </p:txBody>
      </p:sp>
      <p:sp>
        <p:nvSpPr>
          <p:cNvPr id="5" name="Text 2"/>
          <p:cNvSpPr/>
          <p:nvPr/>
        </p:nvSpPr>
        <p:spPr>
          <a:xfrm>
            <a:off x="1828800" y="4754880"/>
            <a:ext cx="8531352" cy="457200"/>
          </a:xfrm>
          <a:prstGeom prst="rect">
            <a:avLst/>
          </a:prstGeom>
          <a:noFill/>
          <a:ln/>
        </p:spPr>
        <p:txBody>
          <a:bodyPr wrap="square" rtlCol="0" anchor="ctr"/>
          <a:lstStyle/>
          <a:p>
            <a:pPr algn="ctr" indent="0" marL="0">
              <a:buNone/>
            </a:pPr>
            <a:r>
              <a:rPr lang="en-US" sz="950" i="1" dirty="0">
                <a:solidFill>
                  <a:srgbClr val="6A6A6A"/>
                </a:solidFill>
                <a:latin typeface="Meiryo" pitchFamily="34" charset="0"/>
                <a:ea typeface="Meiryo" pitchFamily="34" charset="-122"/>
                <a:cs typeface="Meiryo" pitchFamily="34" charset="-120"/>
              </a:rPr>
              <a:t>数値は2026年8月10日17:00（コロンビア時間、日本時間8月11日07:00）現在、発災から約9時間半後。すべて速報値。</a:t>
            </a:r>
            <a:endParaRPr lang="en-US" sz="950" dirty="0"/>
          </a:p>
        </p:txBody>
      </p:sp>
      <p:sp>
        <p:nvSpPr>
          <p:cNvPr id="6" name="Text 3">
            <a:hlinkClick r:id="rId2" tooltip=""/>
          </p:cNvPr>
          <p:cNvSpPr/>
          <p:nvPr/>
        </p:nvSpPr>
        <p:spPr>
          <a:xfrm>
            <a:off x="457200" y="5303520"/>
            <a:ext cx="11274552" cy="274320"/>
          </a:xfrm>
          <a:prstGeom prst="rect">
            <a:avLst/>
          </a:prstGeom>
          <a:noFill/>
          <a:ln/>
        </p:spPr>
        <p:txBody>
          <a:bodyPr wrap="square" rtlCol="0" anchor="ctr"/>
          <a:lstStyle/>
          <a:p>
            <a:pPr algn="ctr"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https://www.adrc.asia/</a:t>
            </a:r>
            <a:endParaRPr lang="en-US" sz="1000" dirty="0"/>
          </a:p>
        </p:txBody>
      </p:sp>
      <p:sp>
        <p:nvSpPr>
          <p:cNvPr id="7"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950" b="1" dirty="0">
                <a:solidFill>
                  <a:srgbClr val="000000"/>
                </a:solidFill>
                <a:latin typeface="Meiryo" pitchFamily="34" charset="0"/>
                <a:ea typeface="Meiryo" pitchFamily="34" charset="-122"/>
                <a:cs typeface="Meiryo" pitchFamily="34" charset="-120"/>
              </a:rPr>
              <a:t>ADRC  11/08/2026</a:t>
            </a:r>
            <a:endParaRPr lang="en-US" sz="950" dirty="0"/>
          </a:p>
        </p:txBody>
      </p:sp>
      <p:sp>
        <p:nvSpPr>
          <p:cNvPr id="9" name="Text 6"/>
          <p:cNvSpPr/>
          <p:nvPr/>
        </p:nvSpPr>
        <p:spPr>
          <a:xfrm>
            <a:off x="365760" y="6547104"/>
            <a:ext cx="548640" cy="219456"/>
          </a:xfrm>
          <a:prstGeom prst="rect">
            <a:avLst/>
          </a:prstGeom>
          <a:noFill/>
          <a:ln/>
        </p:spPr>
        <p:txBody>
          <a:bodyPr wrap="square" lIns="0" tIns="0" rIns="0" bIns="0" rtlCol="0" anchor="ctr"/>
          <a:lstStyle/>
          <a:p>
            <a:pPr algn="l" indent="0" marL="0">
              <a:buNone/>
            </a:pPr>
            <a:r>
              <a:rPr lang="en-US" sz="900" dirty="0">
                <a:solidFill>
                  <a:srgbClr val="6A6A6A"/>
                </a:solidFill>
                <a:latin typeface="Meiryo" pitchFamily="34" charset="0"/>
                <a:ea typeface="Meiryo" pitchFamily="34" charset="-122"/>
                <a:cs typeface="Meiryo" pitchFamily="34" charset="-120"/>
              </a:rPr>
              <a:t>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2026-08-11T00:19:45Z</dcterms:created>
  <dcterms:modified xsi:type="dcterms:W3CDTF">2026-08-11T00:19:45Z</dcterms:modified>
</cp:coreProperties>
</file>