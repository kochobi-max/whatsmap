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バジェ・デル・カウカ県（カリ）</c:v>
                  </c:pt>
                  <c:pt idx="1">
                    <c:v>リサラルダ県（ペレイラ）</c:v>
                  </c:pt>
                  <c:pt idx="2">
                    <c:v>チョコ県（キブド）</c:v>
                  </c:pt>
                  <c:pt idx="3">
                    <c:v>カルダス県（マニサレス）</c:v>
                  </c:pt>
                  <c:pt idx="4">
                    <c:v>アンティオキア県</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7-1.png"/><Relationship Id="rId2" Type="http://schemas.openxmlformats.org/officeDocument/2006/relationships/image" Target="../media/image-7-2.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8-1.png"/><Relationship Id="rId2" Type="http://schemas.openxmlformats.org/officeDocument/2006/relationships/image" Target="../media/image-8-2.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2" Type="http://schemas.openxmlformats.org/officeDocument/2006/relationships/image" Target="../media/image-9-2.jp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0-1.png"/><Relationship Id="rId2" Type="http://schemas.openxmlformats.org/officeDocument/2006/relationships/image" Target="../media/image-10-2.jp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1-1.png"/><Relationship Id="rId2" Type="http://schemas.openxmlformats.org/officeDocument/2006/relationships/image" Target="../media/image-11-2.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2-1.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8-1.png"/><Relationship Id="rId2" Type="http://schemas.openxmlformats.org/officeDocument/2006/relationships/image" Target="../media/image-18-2.jpg"/><Relationship Id="rId4" Type="http://schemas.openxmlformats.org/officeDocument/2006/relationships/image" Target="../media/image-18-3.jp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19-1.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2-1.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3-1.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4-1.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5-1.png"/><Relationship Id="rId2" Type="http://schemas.openxmlformats.org/officeDocument/2006/relationships/image" Target="../media/image-25-2.jp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6-1.png"/><Relationship Id="rId2" Type="http://schemas.openxmlformats.org/officeDocument/2006/relationships/image" Target="../media/image-26-2.jp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7-1.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 Type="http://schemas.openxmlformats.org/officeDocument/2006/relationships/image" Target="../media/image-28-1.png"/><Relationship Id="rId14" Type="http://schemas.openxmlformats.org/officeDocument/2006/relationships/slideLayout" Target="../slideLayouts/slideLayout1.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cnn.com/2026/08/10/world/live-news/colombia-earthquake-san-jose-del-palmar" TargetMode="External"/><Relationship Id="rId3" Type="http://schemas.openxmlformats.org/officeDocument/2006/relationships/hyperlink" Target="https://www.elcolombiano.com/colombia/terremoto-temblor-hoy-colombia-choco-heridos-FL39761141" TargetMode="External"/><Relationship Id="rId4" Type="http://schemas.openxmlformats.org/officeDocument/2006/relationships/hyperlink" Target="https://un-spider.org/national-unit-disaster-risk-management-ungrd-colombia" TargetMode="External"/><Relationship Id="rId5" Type="http://schemas.openxmlformats.org/officeDocument/2006/relationships/hyperlink" Target="https://www.oecd.org/en/publications/risk-governance-scan-of-colombia_eeb81954-en.html" TargetMode="External"/><Relationship Id="rId6" Type="http://schemas.openxmlformats.org/officeDocument/2006/relationships/hyperlink" Target="https://www.cnn.com/2026/08/10/world/live-news/colombia-earthquake-san-jose-del-palmar" TargetMode="External"/><Relationship Id="rId7" Type="http://schemas.openxmlformats.org/officeDocument/2006/relationships/hyperlink" Target="https://www.france24.com/en/americas/20260810-powerful-quake-rocks-colombia-causing-major-damage" TargetMode="External"/><Relationship Id="rId8" Type="http://schemas.openxmlformats.org/officeDocument/2006/relationships/hyperlink" Target="https://www.aljazeera.com/news/2026/8/10/7-4-magnitude-earthquake-hits-colombia-killing-at-least-20" TargetMode="External"/><Relationship Id="rId9" Type="http://schemas.openxmlformats.org/officeDocument/2006/relationships/hyperlink" Target="https://www.cbsnews.com/news/colombia-earthquake-western-region-evacuations/" TargetMode="External"/><Relationship Id="rId10" Type="http://schemas.openxmlformats.org/officeDocument/2006/relationships/hyperlink" Target="https://www.nbcnews.com/world/latin-america/strong-earthquake-colombia-ecuador-people-evacuating-homes-buildings-rcna591709" TargetMode="External"/><Relationship Id="rId11" Type="http://schemas.openxmlformats.org/officeDocument/2006/relationships/hyperlink" Target="https://colombiaone.com/2026/08/10/earthquake-colombia-official-details/" TargetMode="External"/><Relationship Id="rId12" Type="http://schemas.openxmlformats.org/officeDocument/2006/relationships/hyperlink" Target="https://colombiaone.com/2026/08/10/colombia-national-disaster/" TargetMode="External"/><Relationship Id="rId13" Type="http://schemas.openxmlformats.org/officeDocument/2006/relationships/hyperlink" Target="https://www.infobae.com/colombia/2026/08/10/por-que-el-temblor-en-colombia-de-este-lunes-10-de-agosto-duro-una-eternidad-el-servicio-geologico-explico-que-paso/" TargetMode="External"/><Relationship Id="rId1" Type="http://schemas.openxmlformats.org/officeDocument/2006/relationships/image" Target="../media/image-29-1.png"/><Relationship Id="rId14" Type="http://schemas.openxmlformats.org/officeDocument/2006/relationships/slideLayout" Target="../slideLayouts/slideLayout1.xml"/><Relationship Id="rId1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www3.nhk.or.jp/news/" TargetMode="External"/><Relationship Id="rId3" Type="http://schemas.openxmlformats.org/officeDocument/2006/relationships/hyperlink" Target="https://www.nikkei.com/article/DGXZQOGN108V30Q6A810C2000000/" TargetMode="External"/><Relationship Id="rId4" Type="http://schemas.openxmlformats.org/officeDocument/2006/relationships/hyperlink" Target="https://www.jiji.com/jc/article?k=2026081000878&amp;g=int" TargetMode="External"/><Relationship Id="rId5" Type="http://schemas.openxmlformats.org/officeDocument/2006/relationships/hyperlink" Target="https://www.savethechildren.org/us/about-us/media-and-news/2026-press-releases/children-at-risk-after-earthquake-strikes-colombia" TargetMode="External"/><Relationship Id="rId6" Type="http://schemas.openxmlformats.org/officeDocument/2006/relationships/hyperlink" Target="https://www.directrelief.org/2026/08/colombia-earthquake-7-4-magnitude-direct-relief-response/" TargetMode="External"/><Relationship Id="rId7" Type="http://schemas.openxmlformats.org/officeDocument/2006/relationships/hyperlink" Target="https://www.americares.org/crisis-alerts/colombia-earthquake-august-2026/" TargetMode="External"/><Relationship Id="rId8" Type="http://schemas.openxmlformats.org/officeDocument/2006/relationships/hyperlink" Target="https://glidenumber.net/" TargetMode="External"/><Relationship Id="rId9" Type="http://schemas.openxmlformats.org/officeDocument/2006/relationships/hyperlink" Target="https://www.adrc.asia/" TargetMode="External"/><Relationship Id="rId10" Type="http://schemas.openxmlformats.org/officeDocument/2006/relationships/hyperlink" Target="https://www.democrata.es/en/international/von-der-leyen-expresses-the-eu-s-support-for-colombia-and-activates-copernicus-after-the-earthquake/" TargetMode="External"/><Relationship Id="rId11" Type="http://schemas.openxmlformats.org/officeDocument/2006/relationships/hyperlink" Target="https://www.globalquakemodel.org/proj/treq" TargetMode="External"/><Relationship Id="rId12" Type="http://schemas.openxmlformats.org/officeDocument/2006/relationships/hyperlink" Target="https://cloud-storage.globalquakemodel.org/public/wix-new-website/pdf-collections-wix/publications/TREQ%20deliverables/reports/TREQ_D262_Riesgo_Sismico_Cali_v1.00.pdf" TargetMode="External"/><Relationship Id="rId13" Type="http://schemas.openxmlformats.org/officeDocument/2006/relationships/hyperlink" Target="https://www.sciencedirect.com/science/article/abs/pii/S2212420925003097" TargetMode="External"/><Relationship Id="rId1" Type="http://schemas.openxmlformats.org/officeDocument/2006/relationships/image" Target="../media/image-30-1.png"/><Relationship Id="rId14" Type="http://schemas.openxmlformats.org/officeDocument/2006/relationships/slideLayout" Target="../slideLayouts/slideLayout1.xml"/><Relationship Id="rId1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satic.cali.gov.co/satic" TargetMode="External"/><Relationship Id="rId3" Type="http://schemas.openxmlformats.org/officeDocument/2006/relationships/hyperlink" Target="https://www.cali.gov.co/gestiondelriesgo/" TargetMode="External"/><Relationship Id="rId4" Type="http://schemas.openxmlformats.org/officeDocument/2006/relationships/hyperlink" Target="https://portal.gestiondelriesgo.gov.co/Paginas/Plan-Nacional-de-Gestion-del-Riesgo.aspx" TargetMode="External"/><Relationship Id="rId5" Type="http://schemas.openxmlformats.org/officeDocument/2006/relationships/hyperlink" Target="https://www.funcionpublica.gov.co/eva/gestornormativo/norma.php?i=191411" TargetMode="External"/><Relationship Id="rId6" Type="http://schemas.openxmlformats.org/officeDocument/2006/relationships/hyperlink" Target="https://www.emsc-csem.org/" TargetMode="External"/><Relationship Id="rId7" Type="http://schemas.openxmlformats.org/officeDocument/2006/relationships/hyperlink" Target="https://catalogosismico.sgc.gov.co/visor/index.html" TargetMode="External"/><Relationship Id="rId8"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9" Type="http://schemas.openxmlformats.org/officeDocument/2006/relationships/hyperlink" Target="https://www.elespectador.com/colombia/mas-regiones/temblor-en-colombia-hoy-10-de-agosto-en-vivo-epicentro-y-reporte-de-afectaciones/" TargetMode="External"/><Relationship Id="rId10" Type="http://schemas.openxmlformats.org/officeDocument/2006/relationships/hyperlink" Target="https://www.noticiascaracol.com/colombia/en-vivo-colombia-hoy-tras-terremoto-de-magnitud-7-4-continuan-las-labores-de-rescate-so35" TargetMode="External"/><Relationship Id="rId11" Type="http://schemas.openxmlformats.org/officeDocument/2006/relationships/hyperlink" Target="https://rpp.pe/mundo/colombia/abelardo-de-la-espriella-cifra-en-181-los-muertos-por-el-terremoto-59-menos-que-datos-regionales-noticia-1701022" TargetMode="External"/><Relationship Id="rId12" Type="http://schemas.openxmlformats.org/officeDocument/2006/relationships/hyperlink" Target="https://www.eltiempo.com/colombia/otras-ciudades/cuantas-replicas-se-han-registrado-tras-el-terremoto-de-7-4-en-colombia-estas-son-todas-las-magnitudes-3577711" TargetMode="External"/><Relationship Id="rId13" Type="http://schemas.openxmlformats.org/officeDocument/2006/relationships/hyperlink" Target="https://www.semana.com/tecnologia/articulo/servicio-geologico-revela-el-numero-total-de-replicas-que-ha-habido-en-colombia-tras-fuerte-terremoto-que-estremecio-al-pais/202641/" TargetMode="External"/><Relationship Id="rId1" Type="http://schemas.openxmlformats.org/officeDocument/2006/relationships/image" Target="../media/image-31-1.png"/><Relationship Id="rId14" Type="http://schemas.openxmlformats.org/officeDocument/2006/relationships/slideLayout" Target="../slideLayouts/slideLayout1.xml"/><Relationship Id="rId1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mofa.go.jp/mofaj/la_c/sa/co/pageit_000001_00001.html" TargetMode="External"/><Relationship Id="rId3" Type="http://schemas.openxmlformats.org/officeDocument/2006/relationships/hyperlink" Target="https://x.com/MofaJapan_jp/status/2087155064855261537" TargetMode="External"/><Relationship Id="rId4" Type="http://schemas.openxmlformats.org/officeDocument/2006/relationships/hyperlink" Target="https://www.eltiempo.com/mundo/mas-regiones/la-comunidad-internacional-se-vuelca-en-ayudas-para-colombia-lista-de-paises-que-han-ofrecido-apoyo-tras-el-terremoto-de-magnitud-7-3577512" TargetMode="External"/><Relationship Id="rId5" Type="http://schemas.openxmlformats.org/officeDocument/2006/relationships/hyperlink" Target="https://colombia.un.org/es/320793-informaci%C3%B3n-y-actualizaciones-sobre-el-terremoto-en-colombia" TargetMode="External"/><Relationship Id="rId6" Type="http://schemas.openxmlformats.org/officeDocument/2006/relationships/hyperlink" Target="https://news.un.org/es/story/2026/08/1541792" TargetMode="External"/><Relationship Id="rId7" Type="http://schemas.openxmlformats.org/officeDocument/2006/relationships/hyperlink" Target="https://www.colombiatebusca.com/" TargetMode="External"/><Relationship Id="rId8" Type="http://schemas.openxmlformats.org/officeDocument/2006/relationships/hyperlink" Target="https://www.asocapitales.co/terremoto-colombia.html" TargetMode="External"/><Relationship Id="rId9" Type="http://schemas.openxmlformats.org/officeDocument/2006/relationships/hyperlink" Target="https://www.infobae.com/colombia/2026/08/12/de-la-espriella-anuncio-alivios-y-subsidios-tras-emergencia-en-el-eje-cafetero-por-el-terremoto-detallo-plan-de-choque-para-educacion-y-vivienda/" TargetMode="External"/><Relationship Id="rId10" Type="http://schemas.openxmlformats.org/officeDocument/2006/relationships/hyperlink" Target="https://www.pulzo.com/nacion/terremoto-en-colombia-ungrd-reporta-danos-y-victimas-en-valle-del-cauca-y-risaralda-PP5272829A" TargetMode="External"/><Relationship Id="rId11"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12" Type="http://schemas.openxmlformats.org/officeDocument/2006/relationships/hyperlink" Target="https://www.asocapitales.co/actualidad/noticias/ciudades-seguras/terremoto-deja-188-fallecidos-y-1677-heridos-en-ciudades" TargetMode="External"/><Relationship Id="rId1" Type="http://schemas.openxmlformats.org/officeDocument/2006/relationships/image" Target="../media/image-32-1.png"/><Relationship Id="rId13" Type="http://schemas.openxmlformats.org/officeDocument/2006/relationships/slideLayout" Target="../slideLayouts/slideLayout1.xml"/><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3-1.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110 km   ·   改正メルカリ震度 MMI VII（非常に強い）／USGS ShakeMap。SGCの体感震度図も同等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位置図 © Google（Google マップ）。以降のページに示す距離は、USGS公表座標から計算したもの。</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UTC）、コロンビア西部チョコ県サンホセ・デル・パルマルの東5kmを震源とするMww7.4の地震が発生した。深さは約110km（USGS）で、沈み込むナスカプレート内部のやや深発・横ずれ型。深いために強い揺れ（MMI VI〜VII）はコーヒー地帯を含む広範囲に及び、約1,050万人が強い揺れにさらされた。SGCは過去10年でコロンビア最大規模の地震としている。死者数は最初の2日間で急増した。8月10日13:00（現地）の政府集計で111人、同日夕方に132人、11日のUNGRD状況報告では死者182人・負傷2,542人・行方不明189人となり、県・市の発表を積み上げると240人に達する。あわせて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マップ</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95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110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95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Meiryo" pitchFamily="34" charset="0"/>
                <a:ea typeface="Meiryo" pitchFamily="34" charset="-122"/>
                <a:cs typeface="Meiryo" pitchFamily="34" charset="-120"/>
              </a:rPr>
              <a:t>発震機構解（ビーチボール）
</a:t>
            </a:r>
            <a:pPr algn="ctr" indent="0" marL="0">
              <a:buNone/>
            </a:pPr>
            <a:r>
              <a:rPr lang="en-US" sz="700" dirty="0">
                <a:solidFill>
                  <a:srgbClr val="6A6A6A"/>
                </a:solidFill>
                <a:latin typeface="Meiryo" pitchFamily="34" charset="0"/>
                <a:ea typeface="Meiryo" pitchFamily="34" charset="-122"/>
                <a:cs typeface="Meiryo" pitchFamily="34" charset="-120"/>
              </a:rPr>
              <a:t>両機関とも横ずれ断層型としている。</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深さ約110km（USGS・修正値）。プレート境界の巨大地震ではなくスラブ内地震。</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USGS PAGER（第5版）はオレンジ警報。最も確からしい死者数階級は1,000〜10,000人、損失階級は1〜10億米ドル。いずれもモデル推計であり実測値ではなく、現時点の報告値を大きく上回る。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コーヒー地帯には深い地震・浅い地震の双方の被害履歴がある。1938年M7.0（深さ150km）、1962年M6.5（同64km）、1999年M6.1（同15km）（SGC/GEM 国家ハザードモデル）。</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2026年8月10日 07:34 COT（12:34 UTC／21:34 JST）    |    Mww 7.4    |    深さ 110 km    |    改正メルカリ震度 MMI VII（非常に強い）／USGS ShakeMap。SGCの体感震度図も同等</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12日16:00（コロンビア時間、日本時間13日06:00）現在、発災から約56時間後。UNGRDの集計は14県・403市町村を対象とし、死者239人、負傷3,755人、行方不明287人、建物倒壊140棟、被災24,324世帯（49,214人）、住宅の損壊・全壊は約54,000棟。すべて速報値であり、地方自治体による被害・ニーズ評価（EDAN）は継続中である。</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本災害のGLIDE番号が付番された：EQ-2026-000146-COL。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対応の時系列（8月10〜12日）（1/3）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Mww7.4の地震発生。震央はチョコ県サンホセ・デル・パルマルの南5km、深さ約110km。ボゴタ、カリ、メデジンのほかエクアドル、パナマ、ベネズエラでも有感。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民間航空当局／報道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対応の時系列（8月10〜12日）（2/3）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12:13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Copernicus EMS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夕方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報道による全国の死者数が132人に増加。瓦礫から4人が救出。被災市町村は20を超えると報じられ、チョコ県では停電・通信障害が続く。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捜索は夜を徹して継続。大統領は全国の負傷者700人、住宅約5,000棟の損壊・全壊を報告し、行方不明者の捜索を国の最優先と表明、カリへ治安維持の部隊派遣を指示。カリ市長は死者85人・負傷885人・行方不明188人、ペレイラ消防は死者66人を報告。マニサレスでは約100人が行方不明。カリ、ペレイラ、キブド、マニサレス、アルメニアの5県都は赤色警報を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大統領府／地元当局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状況報告は死者182人・負傷2,542人・行方不明189人、住宅は損壊13,067棟・全壊2,501棟、医療93か所・教育884か所・コミュニティ施設427か所・道路77路線が被害と発表。大統領は死者181人、うち97.6%が県都とした。エクアドル、エルサルバドル、ロシアの支援に謝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対応の時系列（8月10〜12日）（3/3）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公表する余震回数は15:00（現地）で103回に達する（M3.0以下97回、M3.0〜4.0が5回、M4.0超1回）。日中のM3.9により被災各都市で建物からの避難が行われた。同期間のSGCカタログには147回の決定解があり、こちらは背景地震活動を含む広い数値であ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14:20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SGCが本震の解をM7.4・深さ103km、北緯4.99度・西経76.29度に改訂。119観測点・208フェーズで決定。第1報はM6.6・深さ79km、第2報は7.4・深さ96km（69観測点）であった。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07:31</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日本の高市内閣総理大臣が哀悼とお見舞いを投稿（日本時間21:31）。茂木外務大臣が、哀悼とお見舞いに加え、日本政府として必要とされる支援を提供する用意がある旨、およびコロンビアの人々との強い連帯を表明するメッセージを発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日本（外務省）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カリ市当局が同市の被害を報告。建物倒壊107棟、構造的被害643棟、避難命令18棟、生き埋め230人、救出88人、死者69人、負傷1,008人。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OCHAが、人道支援システムはコロンビアを支援する用意があるとし、飲料水、衛生・生活用品、保健、食料、避難所を優先ニーズに挙げる。コロンビア当局からの正式な支援要請は受けていない。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国連／OCHA</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暫定の全国集計は死者224人超、負傷2,500人超となり、279人が病院に搬送、243人が生存救出された。当局への行方不明届は195人。市民プラットフォーム「Colombia te busca」の登録は4,084件で、うち3,653件が未解決。ペレイラでは約300人の救助隊が捜索を継続。チョコ県の多くの地域は依然として船か航空機でしか到達できない。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キブド、カリに続きペレイラ、ドスケブラダス、マニサレス、アルメニアを巡回。被災世帯への公共料金3か月減免、住宅喪失者への家賃補助、教育・住宅の緊急対策を発表。経済緊急事態の政令を準備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集計は14県・403市町村を対象に、死者239人、負傷3,755人、行方不明287人、建物倒壊140棟、被災24,324世帯（49,214人）、住宅全壊9,215棟・重大な損壊45,457棟。コロンビアはINSARAG分類のUSARチーム（イスラエル、エクアドル、エルサルバドル、米国）の受け入れを決定。エルサルバドルは救援物資100トンを送付。ペレイラでは瓦礫の下から36時間ぶりに女性が救出され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震源が深さ110kmであるため、域内の都市はいずれも震源距離110〜205kmとほぼ同程度になり、極端に強い揺れが特定の都市に集中しない。</a:t>
            </a:r>
            <a:endParaRPr lang="en-US" sz="10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 / 105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158 / 38 / 138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172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241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07:34:28（コロンビア時間、UTC-5）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12:34:28（UTC）  /  2026年8月10日 21:34（日本時間）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USGS：チョコ県サンホセ・デル・パルマルの南5km（ボゴタの西約280km）／SGC：同町から12km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4.8436 N, 76.2422 W   ·   SGC 4.99 N, 76.29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7.4（USGS）　・　7.4（SGC）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110.3km（USGS、PAGER第5版）／103km（SGC、8月11日改訂）</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PAGER：オレンジ（第5版）。死者数は1,000〜10,000人の階級が最も確からしい（確率35%）。経済損失は1〜10億米ドルが最も確からしく（34%）、コロンビアのGDPの1%未満。GDACS：オレンジ。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EQ-2026-000146-COL</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規模はUSGSとSGCで一致。SGCは8月11日14:20 UTCに解を改訂し、深さ103km・119観測点・208フェーズとした。改訂後の位置はUSGSと17km、深さは7kmの差であり、観測点数の増加に伴い両解は近づいた。本報告の震央距離はUSGSの震源位置から計算している。SGCの速報値は今後も変更されうる。</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体感震度分布（SGC）</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SGC 公式の震度分布図  (© SGC)</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Meiryo" pitchFamily="34" charset="0"/>
                <a:ea typeface="Meiryo" pitchFamily="34" charset="-122"/>
                <a:cs typeface="Meiryo" pitchFamily="34" charset="-120"/>
              </a:rPr>
              <a:t>ShakeMap：チョコ県サンホセ・デル・パルマル／2026年8月10日 12:34:29 UTC／M7.4／北緯5.04・西経76.34／深さ96.0km／ID SGC2026pqqmro／バージョン1（2026-08-10T13:12:28Z処理）／震度階はWorden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SGCの図では、最も強い帯（MMI VII「Muy Fuerte」）が震央のあるチョコ県から、リサラルダ・カルダス・キンディオ・バジェ北部を貫くアンデス間の回廊に沿って広がる。ペレイラ、マニサレス、アルメニア、カルタゴでの建物倒壊はこの帯の中で起きた。震度は東へ向かって低下し、メデジンとカリは中〜強の帯、震央から241kmのボゴタは弱い帯に位置する。震央を中心とする同心円ではなく谷筋に沿って伸びる分布は、深さ96〜110kmの震源と軟弱な盆地堆積層の組み合わせによる特徴である。</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震度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被害の程度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PGA（%g）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PGV（cm/s）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無感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&lt;0.0464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II-III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0.297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0.135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やや弱い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2.76</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1.41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ごく軽微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6.2</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4.65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9.64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非常に強い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40.1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41.4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74.7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85.8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極めて激烈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&gt;139</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&gt;178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Meiryo" pitchFamily="34" charset="0"/>
                <a:ea typeface="Meiryo" pitchFamily="34" charset="-122"/>
                <a:cs typeface="Meiryo" pitchFamily="34" charset="-120"/>
              </a:rPr>
              <a:t>改正メルカリ震度階（Worden et al., 2012）。SGCの図に掲載されているもの。</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USGS PAGERによる影響評価</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onePAGER 第5版（USGS、パブリックドメイン）</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PAGERはUSGSによる迅速影響推計で、発生から数分で発表され、震源要素の精査に伴い改訂される。第5版は発災の2時間8分後に作成された。これは単一の予測値ではなく確率分布であり、オレンジ警報は「相当の人的被害と損害が生じる可能性が高く、過去のオレンジ警報は地域的または国家的な対応を要した」ことを意味する。最も確からしい死者数階級1,000〜10,000人は、発災9時間後の報告値111人を大きく上回っていたが、33時間後には報告値が182〜240人となり、PAGERが低いながらも相応の確率を与えていた100〜1,000人の階級に入った。この段階での乖離は通常のことであり、実測が推計に置き換わるにつれて差は縮まる。</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曝露人口</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甚大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非常に強い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1,564k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8,888k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中程度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17,076k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IV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やや弱い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6,465k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2062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08:18 COT (13:18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最大余震。本震の44分後、サンホセ・デル・パルマル、深さ94km、震央から19km（SGC2026pqryij）。USGSは同一地震をmb5.0・深さ98.5kmとしている。広く有感。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10:01 COT (15:01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サンホセ・デル・パルマル、深さ88km。多機関速報で地域2機関がM4.7としていた地震にあたり、SGC解はそれより0.9小さい。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11 Aug 00:12 / 10:43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M3.6 / M3.9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サンホセ・デル・パルマル、深さ96kmと92km。10:43の地震は被災各都市で建物からの避難を招くほど強く有感となった。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to 11 Aug 17:24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147 located</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SGCカタログ、本震の34時間後まで。M2.0未満60回、M2.0〜2.9が76回、M3.0〜3.9が10回、M4.0〜4.9が1回</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10128"/>
            <a:ext cx="6675120" cy="1627632"/>
          </a:xfrm>
          <a:prstGeom prst="rect">
            <a:avLst/>
          </a:prstGeom>
          <a:noFill/>
          <a:ln/>
        </p:spPr>
        <p:txBody>
          <a:bodyPr wrap="square" lIns="0" tIns="0" rIns="0" bIns="0" rtlCol="0" anchor="t"/>
          <a:lstStyle/>
          <a:p>
            <a:pPr indent="0" marL="0">
              <a:buNone/>
            </a:pPr>
            <a:r>
              <a:rPr lang="en-US" sz="900" dirty="0">
                <a:solidFill>
                  <a:srgbClr val="222222"/>
                </a:solidFill>
                <a:latin typeface="Meiryo" pitchFamily="34" charset="0"/>
                <a:ea typeface="Meiryo" pitchFamily="34" charset="-122"/>
                <a:cs typeface="Meiryo" pitchFamily="34" charset="-120"/>
              </a:rPr>
              <a:t>SGCは本震後34時間で147回の地震を決定した。M4.0を超えたのは44分後のM4.8の1回のみで、92%はM3.0未満である。本震に迫る規模の余震は発生していない。147回のうち96回は深さ60km以上かつ震央から80km以内にあり、この部分がスラブ内地震の余震活動そのものである。その累積曲線はSGC公表の余震回数とよく一致する。残りは同じカタログが記録する背景地震活動であり、カタログの総数が公式の余震回数を上回るのはこのためである。規模が小さく減衰の速い余震活動は、やや深発の地震に想定される経過である。</a:t>
            </a:r>
            <a:endParaRPr lang="en-US" sz="900" dirty="0"/>
          </a:p>
        </p:txBody>
      </p:sp>
      <p:pic>
        <p:nvPicPr>
          <p:cNvPr id="6" name="Image 1" descr="/home/user/whatsmap/reports/colombia_eq_20260810/images/aftershock_counts_ja.png">    </p:cNvPr>
          <p:cNvPicPr>
            <a:picLocks noChangeAspect="1"/>
          </p:cNvPicPr>
          <p:nvPr/>
        </p:nvPicPr>
        <p:blipFill>
          <a:blip r:embed="rId2"/>
          <a:stretch>
            <a:fillRect/>
          </a:stretch>
        </p:blipFill>
        <p:spPr>
          <a:xfrm>
            <a:off x="7636974" y="3200400"/>
            <a:ext cx="3507829" cy="1481328"/>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本震後にSGCが決定した147地震（ADRC作成、SGCカタログによる）</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機関による解のばらつき
</a:t>
            </a:r>
            <a:pPr algn="l" indent="0" marL="0">
              <a:buNone/>
            </a:pPr>
            <a:r>
              <a:rPr lang="en-US" sz="950" dirty="0">
                <a:solidFill>
                  <a:srgbClr val="7A2E0E"/>
                </a:solidFill>
                <a:latin typeface="Meiryo" pitchFamily="34" charset="0"/>
                <a:ea typeface="Meiryo" pitchFamily="34" charset="-122"/>
                <a:cs typeface="Meiryo" pitchFamily="34" charset="-120"/>
              </a:rPr>
              <a:t>本震については30を超える機関が数分以内に解を公表した。規模はMw7.0〜7.7、深さは74〜121kmに分布し、自動解のいくつかは修正前に既定値の10kmを示していた。本報告はPAGER第5版と一致するUSGS/NEIC解（Mw7.4、深さ110km）を用い、SGC解を併記している。遠地観測に基づく深い地震ではこの程度のばらつきは通常であり、初期の報道で深さや規模が食い違った理由でもある。</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データ：SGCの地域カタログ抽出（2026年8月10日07:34〜11日17:24、コロンビア時間）。本震を含む148行で、各行にSGCのイベントIDと精査済み（manual）の状態が付されている。本レポート作成者から提供され、本リポジトリに images/sgc_aftershocks.csv として保持している。両パネルはこのファイルから生成しており、図は再現可能で、各地震はIDによりsgc.gov.coで確認できる。この抽出の本震の行（深さ103km、北緯4.99度・西経76.29度）は、8月11日に改訂されたSGCのイベントページと一致しており、抽出全体の妥当性の裏づけとなっている。</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SGC集計：8月11日15:00時点で余震103回</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余震99回とその規模（SGC）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239</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3,755</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行方不明</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287</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UNGRD集計（8月12日、14県・403市町村）。同日07:00時点で法医学研究所は202遺体を収容し、うち121人の身元が判明。住宅は全壊9,215棟・重大な損壊45,457棟。</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大統領（8月11日）。県政府の集計はより多く、カリ95人＋他市町村35人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66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大統領（8月11日）。県は約90人と報告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チョコ県（キブド）</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キブドでは倒壊した学校の下に子ども4人が行方不明のまま</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2人、4人、5人と推移</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グラフは大統領による8月11日の内訳（合計181人）で、その後更新されていない。UNGRDの集計は8月12日に14県・403市町村で239人に達しており、グラフは現在の集計ではなく分布の形として読むべきである。死者はリサラルダ県（ペレイラ）とバジェ・デル・カウカ県（カリ）に集中している。これと並行して範囲の狭い2つの集計がある。法医学研究所は8月12日07:00時点で202遺体を収容し、うち121人の身元が判明。Asocapitalesは県都のみで188人としている。</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UNGRD集計：死者182人・負傷2,542人・行方不明189人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大統領の181人は地方集計より59人少ない</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集計：死者132人・負傷570人超（都市別）</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行方不明者：2つの集計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当局への届出</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Meiryo" pitchFamily="34" charset="0"/>
                <a:ea typeface="Meiryo" pitchFamily="34" charset="-122"/>
                <a:cs typeface="Meiryo" pitchFamily="34" charset="-120"/>
              </a:rPr>
              <a:t>287</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市民プラットフォームの未解決</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Meiryo" pitchFamily="34" charset="0"/>
                <a:ea typeface="Meiryo" pitchFamily="34" charset="-122"/>
                <a:cs typeface="Meiryo"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同プラットフォームで確認済み</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Meiryo" pitchFamily="34" charset="0"/>
                <a:ea typeface="Meiryo" pitchFamily="34" charset="-122"/>
                <a:cs typeface="Meiryo"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「行方不明」の2つの数字
</a:t>
            </a:r>
            <a:pPr algn="l" indent="0" marL="0">
              <a:buNone/>
            </a:pPr>
            <a:r>
              <a:rPr lang="en-US" sz="950" dirty="0">
                <a:solidFill>
                  <a:srgbClr val="7A2E0E"/>
                </a:solidFill>
                <a:latin typeface="Meiryo" pitchFamily="34" charset="0"/>
                <a:ea typeface="Meiryo" pitchFamily="34" charset="-122"/>
                <a:cs typeface="Meiryo" pitchFamily="34" charset="-120"/>
              </a:rPr>
              <a:t>287人と3,653人は別の指標であり、どちらも誤りではない。287人はUNGRDが8月12日時点で把握する行方不明の届出で、前日の195人から増えている。捜索現場と公式の届出に結び付いた数値である。3,653人は市民運営のプラットフォーム「Colombia te busca」に家族が登録し、まだ所在が確認できていない人数である。これは国家機関ではなく市民の取り組みで、警察や検察への届出に代わるものではなく、重複や、停電・通信途絶の地域で単に連絡が取れないだけの人も含まれる。通信の回復に伴い後者は減り、届出の確認が進むにつれ公式値はさらに増えると見込まれる。行方不明者数として引用すべきは287人であり、3,653人は「まだ安否が分からない世帯の数」を示す指標として読むのが適切である。</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00" dirty="0">
                <a:solidFill>
                  <a:srgbClr val="222222"/>
                </a:solidFill>
                <a:latin typeface="Meiryo" pitchFamily="34" charset="0"/>
                <a:ea typeface="Meiryo" pitchFamily="34" charset="-122"/>
                <a:cs typeface="Meiryo" pitchFamily="34" charset="-120"/>
              </a:rPr>
              <a:t>登録はバジェ・デル・カウカ、リサラルダ、カルダス、チョコの4県に集中しており、死者の分布と同じである。県都市長会Asocapitalesも第2のプラットフォームを開設したため、照会は現在2つの登録簿に分かれている。両者の合計を足し合わせるべきではない。</a:t>
            </a:r>
            <a:endParaRPr lang="en-US" sz="100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busca」市民による行方不明者プラットフォーム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地震の行方不明者検索ツール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カリ市：市当局の被害報告</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サンティアゴ・デ・カリ市職員による。市単位の数値であり、全国集計のある時点の内訳ではない。</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死者</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Meiryo" pitchFamily="34" charset="0"/>
                <a:ea typeface="Meiryo" pitchFamily="34" charset="-122"/>
                <a:cs typeface="Meiryo"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負傷者</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生き埋め</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救出者</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Meiryo" pitchFamily="34" charset="0"/>
                <a:ea typeface="Meiryo" pitchFamily="34" charset="-122"/>
                <a:cs typeface="Meiryo" pitchFamily="34" charset="-120"/>
              </a:rPr>
              <a:t>88</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建物倒壊</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107</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構造的被害のある建物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643</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避難命令の出た建物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生き埋め</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230</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救出された人</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88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死者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69</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負傷者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1,008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カリの他の数値との関係
</a:t>
            </a:r>
            <a:pPr algn="l" indent="0" marL="0">
              <a:buNone/>
            </a:pPr>
            <a:r>
              <a:rPr lang="en-US" sz="950" dirty="0">
                <a:solidFill>
                  <a:srgbClr val="7A2E0E"/>
                </a:solidFill>
                <a:latin typeface="Meiryo" pitchFamily="34" charset="0"/>
                <a:ea typeface="Meiryo" pitchFamily="34" charset="-122"/>
                <a:cs typeface="Meiryo" pitchFamily="34" charset="-120"/>
              </a:rPr>
              <a:t>市の集計による死者69人は、8月11日にカリ市長が示した85人、および同日の大統領の内訳にある97人を下回る。一方で負傷者1,008人は市長の885人を上回る。この市当局報告には集計時点が付されていないため、上記の系列のどこに位置づくか判断できない。より早い時点の値である可能性も、市が自ら確認した死者に限った狭い集計である可能性もある。市が集計時点を示すまでは、全国の状況には全国値を用い、本表は市当局のみが報告している項目——建物の倒壊・構造的被害、避難命令、生き埋めと救出の対比——に用いるのが適切である。</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生き埋め230人に対して救出88人という比は、カリにおける今後48時間を左右する数値である。これは捜索救助の未処理件数であり、市の死者数を上回っている。</a:t>
            </a:r>
            <a:endParaRPr lang="en-US" sz="95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サンティアゴ・デ・カリ市職員より受領（2026年8月12日）</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239人（UNGRD集計、8月12日）。同日07:00時点で法医学研究所（Medicina Legal）は202遺体を収容し、うち121人（子ども5人を含む）の身元が判明。Asocapitalesは県都のみで188人と集計。</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UNGRD（8月12日）、法医学研究所、Asocapitales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3,755人（UNGRD、8月12日）。前日の2,542人から増加。多くはバジェ・デル・カウカ、リサラルダ、キンディオ、チョコで治療を受けている。Asocapitalesは県都で1,677人と集計。</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UNGRD（8月12日）、Asocapitales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行方不明（当局への届出）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287人（UNGRD、8月12日）。前日の195人から増加。キブドでは倒壊した学校の下に子ども4人が不明のまま。</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UNGRD（8月12日）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市民プラットフォーム上の未解決報告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「Colombia te busca」に4,084人が登録され、うち3,653人が未確認、429人が確認済み。バジェ・デル・カウカ、リサラルダ、カルダス、チョコに集中。Asocapitalesも別のプラットフォームを開設。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「Colombia te busca」（市民の取り組み）、Asocapitales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生存救出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243人（8月11日20:00時点）。カリでは発災から約30時間後に女性が、集合住宅からは乳児が救出された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暫定の全国集計（8月12日）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被災市町村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14県・403市町村（UNGRD、8月12日）。8月10日は「20市町村超」であった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UNGRD（8月12日）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24,324世帯・49,214人が直接被災（UNGRD、8月12日）</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UNGRD（8月12日）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約54,000棟。全壊9,215棟、重大な損壊45,457棟（UNGRD、8月12日）。前日は15,568棟であった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UNGRD（8月12日）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うち重大な損壊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45,457棟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UNGRD（8月12日）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9,215棟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UNGRD（8月12日）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全国で140棟（UNGRD、8月12日）。8月11日は80棟超、10日は61棟。Asocapitalesは県都で倒壊243棟、カリ市当局は同市で倒壊107棟・構造的被害643棟と報告。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UNGRD（8月12日）、Asocapitales、カリ市</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93か所が被害（UNGRD、8月11日）。8月10日の18か所から増加。7施設が閉鎖。カリの大学病院は約30%が崩落し、小児科・内科・新生児室の一部を含む3フロアが被害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UNGRD、バジェ・デル・カウカ県政府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884か所が被害（UNGRD、8月11日）。8月10日の52か所から増加。被災各県で学校から避難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427か所が被害（UNGRD、8月11日）。8月10日の17か所から増加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道路77路線が被害（UNGRD、8月11日）。8月10日の18路線から増加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地方6空港が被害、7空港で運航停止。ペレイラのマテカニャ国際空港旅客ターミナルが一部倒壊。ペレイラ、マニサレス、キブド、アルメニア、カルタゴ、ブエナベントゥーラで運航停止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震央周辺で停電・通信途絶の報告。体系的な数値は未公表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大統領は8月11〜12日に被災地を巡回した。キブド、カリ、続いてペレイラ、ドスケブラダス、マニサレス、アルメニア。ボゴタではなく現地から対応を指揮するとしている。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巡回中に発表された救済措置：被災世帯として登録された者に対する公共料金の3か月間の減免、住宅を失った者への家賃補助、修復に先立つ住宅被害の悉皆調査と類型化、教育・住宅の緊急対策。経済緊急事態の政令を準備中で、国際融資と税制上の軽減措置も検討されている。</a:t>
            </a:r>
            <a:endParaRPr lang="en-US" sz="75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国の対応会議を主宰するデラエスプリエジャ大統領   © UNGRD</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市内の倒壊建物で活動するカリ消防   © Alcaldía de Santiago de Cali</a:t>
            </a:r>
            <a:pPr algn="ctr" indent="0" marL="0">
              <a:buNone/>
            </a:pPr>
            <a:r>
              <a:rPr lang="en-US" sz="7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12日、コロンビアは国際的な捜索救助支援の受け入れを決定。対象はINSARAG分類の基準を満たすチームを持つ国で、イスラエル、エクアドル、エルサルバドル、米国。コロンビアの要請を受け、米国務省はフェアファクス郡（バージニア州）とロサンゼルス郡（カリフォルニア州）のUSARタスクフォースを派遣した。エルサルバドルは救援物資100トンを送り、メキシコからの支援便も到着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米国：8月10日に緊急支援1,550万米ドルを表明。緊急避難所、食料、保護、被害評価に充てる。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欧州連合：EU市民保護メカニズムを発動し、人道支援として初期額10万ユーロを拠出。すでに現地で活動していたドイツ赤十字を通じて実施される。コペルニクスをコロンビア当局の利用に供し、被災地のEU市民のための領事危機メカニズムも発動した。欧州委員会委員長と上級代表は、必要に応じて追加支援を行う用意があると表明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日本：8月11日21:31（日本時間、現地07:31）、高市早苗内閣総理大臣が「亡くなられた方々に哀悼の誠をささげる」「この困難な時に日本はコロンビアとともにある」と投稿。茂木外務大臣は次のメッセージを発出した。「8月10日にコロンビア共和国で発生した地震に際し、犠牲となられた方々に哀悼の誠を捧げ、被害に遭われた皆様に心からお見舞いを申し上げます。また、日本政府は必要とされる支援を提供する用意があります。日本は、コロンビアの人々との強い連帯を示します。」本稿執筆時点で、国際緊急援助隊の派遣や緊急無償資金協力の決定は公表されていない。</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支援の申し出は、チリ、ペルー、パナマ、アルゼンチン、ブラジル、ベネズエラ、ボリビア、グアテマラ、キューバ、エルサルバドル、スペイン、イタリア、フランス、ドイツ、スイス、イスラエル、ウクライナからも報じられている。内容はUSARチーム、医師・救急救命士、救援物資、衛星観測など。ラテンアメリカ・カリブ開発銀行（CAF）は50万米ドルの拠出を発表し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連：OCHAは、人道支援システムはコロンビアを支援する用意があると表明。初期のニーズ分析では、飲料水、衛生用品・生活用品、保健医療、食料支援、避難所が挙げられている。8月11日時点で正式な要請はなかったが、12日に政府が国際的な捜索救助支援の受け入れを決めた。</a:t>
            </a:r>
            <a:endParaRPr lang="en-US" sz="750" dirty="0"/>
          </a:p>
          <a:p>
            <a:pPr algn="l" marL="342900" indent="-342900">
              <a:buSzPct val="100000"/>
              <a:buChar char="•"/>
            </a:pPr>
            <a:r>
              <a:rPr lang="en-US" sz="75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申し出から受け入れへ
</a:t>
            </a:r>
            <a:pPr algn="l" indent="0" marL="0">
              <a:buNone/>
            </a:pPr>
            <a:r>
              <a:rPr lang="en-US" sz="950" dirty="0">
                <a:solidFill>
                  <a:srgbClr val="7A2E0E"/>
                </a:solidFill>
                <a:latin typeface="Meiryo" pitchFamily="34" charset="0"/>
                <a:ea typeface="Meiryo" pitchFamily="34" charset="-122"/>
                <a:cs typeface="Meiryo" pitchFamily="34" charset="-120"/>
              </a:rPr>
              <a:t>最初の2日間、コロンビアは資金と衛星マッピングは受け入れたが外国の救助隊は受け入れず、国連にも正式な要請はなかった。8月12日にこれが変わった。行方不明が287人、住宅被害が約54,000棟に達するなか、政府はイスラエル、エクアドル、エルサルバドル、米国のUSARチームの受け入れを決めた。条件としてINSARAG分類を挙げており、自活可能で相互運用性のあるチームを選別する基準として適切である。ここから読み取るべきは、遅延が誤りだったということではなく、判断の閾値が国内の対応能力にあるということである。法1523号の下で対応を指揮するのはコロンビア自身であり、要請は捜索の作業量が手持ちのチームを上回った時点で出された。</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イスラエル・エクアドル・エルサルバドル・米国から救助チーム到着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支援を申し出た国の一覧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国連コロンビア 地震に関する情報と更新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報道あり・番号未特定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対応中（EMSR916）</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対象外</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コペルニクスEMS ラピッドマッピング：EMSR916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発動ページ（© Copernicus EMS）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 — Earthquake in 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事象発生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afternoon (UTC)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発動時刻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17:13 (UTC) = 12:13 COT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事象種別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Earthquake / Ground shaking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対象国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要請者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EC Services | DG ECHO</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成果物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 AOIs · 3 products · 0 maps</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状況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ONGOING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発動理由（原文）
</a:t>
            </a:r>
            <a:pPr algn="l" indent="0" marL="0">
              <a:buNone/>
            </a:pPr>
            <a:r>
              <a:rPr lang="en-US" sz="850" i="1"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ラピッドマッピングの内容
</a:t>
            </a:r>
            <a:pPr algn="l" indent="0" marL="0">
              <a:buNone/>
            </a:pPr>
            <a:r>
              <a:rPr lang="en-US" sz="950" dirty="0">
                <a:solidFill>
                  <a:srgbClr val="7A2E0E"/>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欧州委員会 コロンビア支援・コペルニクス発動</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PNGRD 2015-2030 — 国家災害リスク管理計画。2016年大統領令第308号で採択され、2022年8月3日の第1478号で更新。仙台防災枠組に整合し、UNGRDが年次で進捗を監理する。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である。カリでは2014年市令第411.0.20.0158号により構造設計に対して拘束力を持つ。</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各都市は国の制度と並行して独自の仕組みを運用している。カリの住民参加型早期警戒システムSATIC（2018年〜、2022年市令第0858号で制度化）、メデジンのDAGRDと市防災計画、法律1523号に基づく市町村防災基金などである。</a:t>
            </a:r>
            <a:endParaRPr lang="en-US" sz="9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国家災害リスク管理計画（PNGRD）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2022年大統領令第1478号（PNGRD更新）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カリ市の住民参加型早期警戒システム</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110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事前のリスク評価：サンティアゴ・デ・カリ</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カリにリスク評価がなかったわけではない。同市は2020〜2022年に、USAIDが支援するTREQプロジェクトの下でGEM財団とともに都市の地震リスクモデルを構築した。キト、サンティアゴ・デ・ロス・カバジェロスと並ぶ3つのパイロット都市の一つである。想定シナリオは浅い直下型（ダグア・カリマ断層、M6.5、深さ10km）で、その推計値は2026年8月10日に実際に生じた被害をはるかに上回る。</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想定シナリオ（GEM-TREQ、2022年）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想定シナリオ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M6.5・深さ10km、ダグア・カリマ断層、市街地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曝露人口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約230万人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推定死者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約1,200人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重傷者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約36,300人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住まいを失う人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約181,000人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倒壊建物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348,000棟のうち約1,800棟（0.5%）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残余リスク</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既往対策を織り込んで約40%と評価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市が既に優先課題としていたこと</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重要建築物（病院・学校・消防署）の耐震脆弱性調査を耐震基準NSR-10に沿って実施（約170万米ドル、短期）。</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地震後も基幹サービスを維持するため、重要建築物と基礎的サービス基盤の構造補強。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EMCALIの上下水道・電力網および都市ガス網の耐震脆弱性評価。</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地盤応答モデルと地震動微地形区分の更新。微地形区分はINGEOMINAS/DAGMA（2005年）以来運用され、2014年市令第411.0.20.0158号により構造設計に適用されている。</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カリ強震観測網（RAC）の維持・拡充と、SGCの国家観測網との相互運用性の確保。</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公共インフラの地震保険付保と、補助金・安全な自力建設プログラムによる低所得層住宅の補強。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優先施策の資金構成：地方政府30〜50%、国家防災基金（FNGRD／UNGRD）30〜50%、JICA・GEM財団・米州開発銀行などの国際パートナー約20%。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2026年の地震はこのシナリオではない
</a:t>
            </a:r>
            <a:pPr algn="l" indent="0" marL="0">
              <a:buNone/>
            </a:pPr>
            <a:r>
              <a:rPr lang="en-US" sz="950" dirty="0">
                <a:solidFill>
                  <a:srgbClr val="7A2E0E"/>
                </a:solidFill>
                <a:latin typeface="Meiryo" pitchFamily="34" charset="0"/>
                <a:ea typeface="Meiryo" pitchFamily="34" charset="-122"/>
                <a:cs typeface="Meiryo" pitchFamily="34" charset="-120"/>
              </a:rPr>
              <a:t>8月10日の地震は規模こそ大きい（M7.4）が、深さ110km・カリから158kmであり、市内の揺れは想定M6.5の近距離の揺れではなくMMI VIにとどまった。カリの死者は27人、倒壊は25〜30棟で、シナリオより2桁小さい。一方でこの地震が実際に試したのは、地域計画が指摘していた弱点そのものであった。大学病院の約3割が崩落し、医療7施設が閉鎖された。市にとっての最悪シナリオは依然として将来にあり、重要建築物の耐震補強の必要性は、理論ではなく実証の段階に入った。</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GEM-TREQ カリ市プロファイル</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 GEM Foundation / USAID / Alcaldía de Santiago de Cali / USGS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850" dirty="0">
                <a:solidFill>
                  <a:srgbClr val="222222"/>
                </a:solidFill>
                <a:latin typeface="Meiryo" pitchFamily="34" charset="0"/>
                <a:ea typeface="Meiryo" pitchFamily="34" charset="-122"/>
                <a:cs typeface="Meiryo" pitchFamily="34" charset="-120"/>
              </a:rPr>
              <a:t>GEM-TREQによるカリ市プロファイル（M6.5・深さ10km、ダグア・カリマ断層のシナリオ）。曝露は人口230万人、住宅31.2万棟・商業2.2万棟・工業5,300棟・公共8,000棟、曝露資本220兆コロンビアペソ。棒グラフはコムーナ別の倒壊率・死者・重傷者・住まいを失う人・経済損失、ヒストグラムは市全体の推計値とその変動幅を示す。</a:t>
            </a:r>
            <a:endParaRPr lang="en-US" sz="8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1906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エクアドル・コロンビア地震（太平洋岸）</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観測史上最大級。太平洋岸に破壊的な津波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1925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カリ地震（バジェ・デル・カウカ県）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カリにとって基準となる歴史地震。同市は1995年・2004年にも被災し、2004年は診療所や住宅に被害が出た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1938</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コーヒー地帯の地震（深さ150km）</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同じコーヒー生産県の下で発生したやや深発地震。2026年の地震に最も近い歴史的類例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1979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トゥマコ地震（ナリーニョ県）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M8.1</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プレート境界型で津波を伴う。数百人が死亡</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1983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ポパヤン地震（カウカ県）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M5.5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パエス地震（カウカ県）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M6.6</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2026年と同じ県で発生したやや深発地震</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アルメニア（キンディオ）地震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M6.1-6.2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チョコ地震（本地震）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PGA（g）、SGC／GEM 国家地震ハザードモデル（2020年）</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Meiryo" pitchFamily="34" charset="0"/>
                <a:ea typeface="Meiryo" pitchFamily="34" charset="-122"/>
                <a:cs typeface="Meiryo" pitchFamily="34" charset="-120"/>
              </a:rPr>
              <a:t>全国地震ハザード（再現期間475年）</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い震源でありながら被害は浅発地震型。深さ110kmで地表地震断層も津波も生じなかったが、少なくとも6県で建物被害が出た。被害が集中せず分散するため、ニーズ把握・ロジスティクス・捜索救助の重点配分が難しくな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調査が被害に追いついた分だけ数値は膨れ上がった。56時間で死者は111人から239人、負傷者は87人から3,755人、行方不明は未集計から287人、住宅被害は1,612棟から約54,000棟、被災範囲は「20市町村超」から14県・403市町村になった。この急増を引き起こす新たな出来事があったわけではなく、調査が未到達地域に届いただけである。チョコ県の多くはなお船か航空機でしか到達できない。初期値の読み方として二つ。初日の数値は災害の規模ではなく調査の到達範囲を表すこと。そして同じ事象に二つの集計がある場合は、比較の前にそれぞれが何を数えているかを確認すべきことであ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評価は発災前から存在していた。カリのGEM-TREQリスクモデルと地域防災計画は、病院をはじめとする重要建築物の耐震補強を最優先課題として既に特定していた。2026年の地震は同市の想定シナリオよりはるかに弱い試練であったにもかかわらず、主要公立病院の約3割を失わせた。ここでの不足は知見ではなく、実施と財源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損傷建物に対する余震リスク。SGCは34時間で147回の地震を決定した。うち92%はM3.0未満、M4.0超は1回のみで、やや深発のスラブ内地震として想定される低調な推移である。ただし運用上の要点はこの統計ではない。8月10日のM4.8は広く有感となり、11日のM3.9でも複数の都市で建物からの避難が生じた。本震で損傷したまま倒壊を免れた建物は耐力を失っているため、余震の回数より、再入居前の応急危険度判定が重要である。</a:t>
            </a:r>
            <a:endParaRPr lang="en-US" sz="750" dirty="0"/>
          </a:p>
          <a:p>
            <a:pPr algn="l" marL="342900" indent="-342900">
              <a:buSzPct val="100000"/>
              <a:buChar char="•"/>
            </a:pPr>
            <a:r>
              <a:rPr lang="en-US" sz="75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有用リンク・出典（1/5）</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地震速報 SGC2026pqqmro（本地震）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体感震度図（ShakeMap・本地震）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EMSR916「Earthquake in Colombia」（発動）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有用リンク・出典（2/5）</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速報：死者132人に増加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チョコ県で負傷84人・死者12人（県政府）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有用リンク・出典（3/5）</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 — EQ-2026-000146-COL（災害識別番号）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GEM財団 TREQプロジェクト（都市地震リスク：キト／カリ／サンティアゴ）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GEM-TREQ カリ市地震リスク評価（技術報告 D2.6.2）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査読論文：カリ市の地震リスク理解とリスク管理への応用（2025）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有用リンク・出典（4/5）</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SATIC カリ市の住民参加型早期警戒システム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サンティアゴ・デ・カリ市 災害リスク管理</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 国家災害リスク管理計画（PNGRD）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2022年大統領令第1478号（PNGRD更新）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EMSC-CSEM SeismicPortal 地震速報・FDSNイベントサービス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地震カタログ閲覧（精査済みは2018年2月まで）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速報（8月11日、カリの死者85人に）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集計：死者132人・負傷570人超（都市別）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Noticias Caracol UNGRD集計：死者182人・負傷2,542人・行方不明189人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RPP 大統領の181人は地方集計より59人少ない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余震99回とその規模（SGC）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SGC集計：8月11日15:00時点で余震103回</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有用リンク・出典（5/5）</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外務省 コロンビア共和国における地震について（茂木外務大臣メッセージ）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外務省（X）8月11日の投稿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支援を申し出た国の一覧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国連コロンビア 地震に関する情報と更新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国連ニュース 国連がコロンビアに支援を表明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te busca」市民による行方不明者プラットフォーム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地震の行方不明者検索ツール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コーヒー地帯巡回で発表された救済措置と補助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Pulzo UNGRD による14県の被害・人的被害報告</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イスラエル・エクアドル・エルサルバドル・米国から救助チーム到着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県都で死者188人・負傷1,677人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12日16:00（コロンビア時間、日本時間13日06:00）現在、発災から約56時間後。UNGRDの集計は14県・403市町村を対象とし、死者239人、負傷3,755人、行方不明287人、建物倒壊140棟、被災24,324世帯（49,214人）、住宅の損壊・全壊は約54,000棟。すべて速報値であり、地方自治体による被害・ニーズ評価（EDAN）は継続中である。</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2026-08-12T20:39:13Z</dcterms:created>
  <dcterms:modified xsi:type="dcterms:W3CDTF">2026-08-12T20:39:13Z</dcterms:modified>
</cp:coreProperties>
</file>