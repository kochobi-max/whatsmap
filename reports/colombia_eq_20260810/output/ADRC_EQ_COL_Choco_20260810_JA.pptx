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バジェ・デル・カウカ県（カリ）</c:v>
                  </c:pt>
                  <c:pt idx="1">
                    <c:v>リサラルダ県（ペレイラ）</c:v>
                  </c:pt>
                  <c:pt idx="2">
                    <c:v>チョコ県（キブド）</c:v>
                  </c:pt>
                  <c:pt idx="3">
                    <c:v>カルダス県（マニサレス）</c:v>
                  </c:pt>
                  <c:pt idx="4">
                    <c:v>アンティオキア県</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7-1.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8-1.png"/><Relationship Id="rId2" Type="http://schemas.openxmlformats.org/officeDocument/2006/relationships/image" Target="../media/image-8-2.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1-1.png"/><Relationship Id="rId2" Type="http://schemas.openxmlformats.org/officeDocument/2006/relationships/image" Target="../media/image-11-2.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3-1.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2" Type="http://schemas.openxmlformats.org/officeDocument/2006/relationships/image" Target="../media/image-19-2.jpg"/><Relationship Id="rId4" Type="http://schemas.openxmlformats.org/officeDocument/2006/relationships/image" Target="../media/image-19-3.jp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1-1.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2" Type="http://schemas.openxmlformats.org/officeDocument/2006/relationships/image" Target="../media/image-23-2.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4-1.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5-1.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8-1.png"/><Relationship Id="rId2" Type="http://schemas.openxmlformats.org/officeDocument/2006/relationships/image" Target="../media/image-28-2.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9-1.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 Type="http://schemas.openxmlformats.org/officeDocument/2006/relationships/image" Target="../media/image-30-1.png"/><Relationship Id="rId16" Type="http://schemas.openxmlformats.org/officeDocument/2006/relationships/slideLayout" Target="../slideLayouts/slideLayout1.xml"/><Relationship Id="rId1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oecd.org/en/publications/risk-governance-scan-of-colombia_eeb81954-en.html"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france24.com/en/americas/20260810-powerful-quake-rocks-colombia-causing-major-damage" TargetMode="External"/><Relationship Id="rId6" Type="http://schemas.openxmlformats.org/officeDocument/2006/relationships/hyperlink" Target="https://www.aljazeera.com/news/2026/8/10/7-4-magnitude-earthquake-hits-colombia-killing-at-least-20" TargetMode="External"/><Relationship Id="rId7" Type="http://schemas.openxmlformats.org/officeDocument/2006/relationships/hyperlink" Target="https://www.cbsnews.com/news/colombia-earthquake-western-region-evacuations/" TargetMode="External"/><Relationship Id="rId8" Type="http://schemas.openxmlformats.org/officeDocument/2006/relationships/hyperlink" Target="https://www.nbcnews.com/world/latin-america/strong-earthquake-colombia-ecuador-people-evacuating-homes-buildings-rcna591709" TargetMode="External"/><Relationship Id="rId9" Type="http://schemas.openxmlformats.org/officeDocument/2006/relationships/hyperlink" Target="https://colombiaone.com/2026/08/10/earthquake-colombia-official-details/" TargetMode="External"/><Relationship Id="rId10" Type="http://schemas.openxmlformats.org/officeDocument/2006/relationships/hyperlink" Target="https://colombiaone.com/2026/08/10/colombia-national-disaster/" TargetMode="External"/><Relationship Id="rId11" Type="http://schemas.openxmlformats.org/officeDocument/2006/relationships/hyperlink" Target="https://www.infobae.com/colombia/2026/08/10/por-que-el-temblor-en-colombia-de-este-lunes-10-de-agosto-duro-una-eternidad-el-servicio-geologico-explico-que-paso/" TargetMode="External"/><Relationship Id="rId12" Type="http://schemas.openxmlformats.org/officeDocument/2006/relationships/hyperlink" Target="https://www3.nhk.or.jp/news/" TargetMode="External"/><Relationship Id="rId13" Type="http://schemas.openxmlformats.org/officeDocument/2006/relationships/hyperlink" Target="https://www.nikkei.com/article/DGXZQOGN108V30Q6A810C2000000/" TargetMode="External"/><Relationship Id="rId14" Type="http://schemas.openxmlformats.org/officeDocument/2006/relationships/hyperlink" Target="https://www.jiji.com/jc/article?k=2026081000878&amp;g=int" TargetMode="External"/><Relationship Id="rId15" Type="http://schemas.openxmlformats.org/officeDocument/2006/relationships/hyperlink" Target="https://www.savethechildren.org/us/about-us/media-and-news/2026-press-releases/children-at-risk-after-earthquake-strikes-colombia" TargetMode="External"/><Relationship Id="rId1" Type="http://schemas.openxmlformats.org/officeDocument/2006/relationships/image" Target="../media/image-31-1.png"/><Relationship Id="rId16" Type="http://schemas.openxmlformats.org/officeDocument/2006/relationships/slideLayout" Target="../slideLayouts/slideLayout1.xml"/><Relationship Id="rId1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directrelief.org/2026/08/colombia-earthquake-7-4-magnitude-direct-relief-response/" TargetMode="External"/><Relationship Id="rId3" Type="http://schemas.openxmlformats.org/officeDocument/2006/relationships/hyperlink" Target="https://www.americares.org/crisis-alerts/colombia-earthquake-august-2026/" TargetMode="External"/><Relationship Id="rId4" Type="http://schemas.openxmlformats.org/officeDocument/2006/relationships/hyperlink" Target="https://glidenumber.net/" TargetMode="External"/><Relationship Id="rId5" Type="http://schemas.openxmlformats.org/officeDocument/2006/relationships/hyperlink" Target="https://www.adrc.asia/" TargetMode="External"/><Relationship Id="rId6" Type="http://schemas.openxmlformats.org/officeDocument/2006/relationships/hyperlink" Target="https://www.democrata.es/en/international/von-der-leyen-expresses-the-eu-s-support-for-colombia-and-activates-copernicus-after-the-earthquake/" TargetMode="External"/><Relationship Id="rId7" Type="http://schemas.openxmlformats.org/officeDocument/2006/relationships/hyperlink" Target="https://www.globalquakemodel.org/proj/treq" TargetMode="External"/><Relationship Id="rId8" Type="http://schemas.openxmlformats.org/officeDocument/2006/relationships/hyperlink" Target="https://cloud-storage.globalquakemodel.org/public/wix-new-website/pdf-collections-wix/publications/TREQ%20deliverables/reports/TREQ_D262_Riesgo_Sismico_Cali_v1.00.pdf" TargetMode="External"/><Relationship Id="rId9" Type="http://schemas.openxmlformats.org/officeDocument/2006/relationships/hyperlink" Target="https://www.sciencedirect.com/science/article/abs/pii/S2212420925003097" TargetMode="External"/><Relationship Id="rId10" Type="http://schemas.openxmlformats.org/officeDocument/2006/relationships/hyperlink" Target="https://satic.cali.gov.co/satic" TargetMode="External"/><Relationship Id="rId11" Type="http://schemas.openxmlformats.org/officeDocument/2006/relationships/hyperlink" Target="https://www.cali.gov.co/gestiondelriesgo/" TargetMode="External"/><Relationship Id="rId12" Type="http://schemas.openxmlformats.org/officeDocument/2006/relationships/hyperlink" Target="https://portal.gestiondelriesgo.gov.co/Paginas/Plan-Nacional-de-Gestion-del-Riesgo.aspx" TargetMode="External"/><Relationship Id="rId13" Type="http://schemas.openxmlformats.org/officeDocument/2006/relationships/hyperlink" Target="https://www.funcionpublica.gov.co/eva/gestornormativo/norma.php?i=191411" TargetMode="External"/><Relationship Id="rId14" Type="http://schemas.openxmlformats.org/officeDocument/2006/relationships/hyperlink" Target="https://www.emsc-csem.org/" TargetMode="External"/><Relationship Id="rId15" Type="http://schemas.openxmlformats.org/officeDocument/2006/relationships/hyperlink" Target="https://catalogosismico.sgc.gov.co/visor/index.html" TargetMode="External"/><Relationship Id="rId1" Type="http://schemas.openxmlformats.org/officeDocument/2006/relationships/image" Target="../media/image-32-1.png"/><Relationship Id="rId16" Type="http://schemas.openxmlformats.org/officeDocument/2006/relationships/slideLayout" Target="../slideLayouts/slideLayout1.xml"/><Relationship Id="rId1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3" Type="http://schemas.openxmlformats.org/officeDocument/2006/relationships/hyperlink" Target="https://www.elespectador.com/colombia/mas-regiones/temblor-en-colombia-hoy-10-de-agosto-en-vivo-epicentro-y-reporte-de-afectaciones/" TargetMode="External"/><Relationship Id="rId4" Type="http://schemas.openxmlformats.org/officeDocument/2006/relationships/hyperlink" Target="https://www.noticiascaracol.com/colombia/en-vivo-colombia-hoy-tras-terremoto-de-magnitud-7-4-continuan-las-labores-de-rescate-so35" TargetMode="External"/><Relationship Id="rId5" Type="http://schemas.openxmlformats.org/officeDocument/2006/relationships/hyperlink" Target="https://rpp.pe/mundo/colombia/abelardo-de-la-espriella-cifra-en-181-los-muertos-por-el-terremoto-59-menos-que-datos-regionales-noticia-1701022" TargetMode="External"/><Relationship Id="rId6" Type="http://schemas.openxmlformats.org/officeDocument/2006/relationships/hyperlink" Target="https://www.eltiempo.com/colombia/otras-ciudades/cuantas-replicas-se-han-registrado-tras-el-terremoto-de-7-4-en-colombia-estas-son-todas-las-magnitudes-3577711" TargetMode="External"/><Relationship Id="rId7" Type="http://schemas.openxmlformats.org/officeDocument/2006/relationships/hyperlink" Target="https://www.semana.com/tecnologia/articulo/servicio-geologico-revela-el-numero-total-de-replicas-que-ha-habido-en-colombia-tras-fuerte-terremoto-que-estremecio-al-pais/202641/" TargetMode="External"/><Relationship Id="rId8" Type="http://schemas.openxmlformats.org/officeDocument/2006/relationships/hyperlink" Target="https://www.mofa.go.jp/mofaj/la_c/sa/co/pageit_000001_00001.html" TargetMode="External"/><Relationship Id="rId9" Type="http://schemas.openxmlformats.org/officeDocument/2006/relationships/hyperlink" Target="https://x.com/MofaJapan_jp/status/2087155064855261537" TargetMode="External"/><Relationship Id="rId10" Type="http://schemas.openxmlformats.org/officeDocument/2006/relationships/hyperlink" Target="https://www.eltiempo.com/mundo/mas-regiones/la-comunidad-internacional-se-vuelca-en-ayudas-para-colombia-lista-de-paises-que-han-ofrecido-apoyo-tras-el-terremoto-de-magnitud-7-3577512" TargetMode="External"/><Relationship Id="rId11" Type="http://schemas.openxmlformats.org/officeDocument/2006/relationships/hyperlink" Target="https://colombia.un.org/es/320793-informaci%C3%B3n-y-actualizaciones-sobre-el-terremoto-en-colombia" TargetMode="External"/><Relationship Id="rId12" Type="http://schemas.openxmlformats.org/officeDocument/2006/relationships/hyperlink" Target="https://news.un.org/es/story/2026/08/1541792" TargetMode="External"/><Relationship Id="rId13" Type="http://schemas.openxmlformats.org/officeDocument/2006/relationships/hyperlink" Target="https://www.colombiatebusca.com/" TargetMode="External"/><Relationship Id="rId14" Type="http://schemas.openxmlformats.org/officeDocument/2006/relationships/hyperlink" Target="https://www.asocapitales.co/terremoto-colombia.html" TargetMode="External"/><Relationship Id="rId15" Type="http://schemas.openxmlformats.org/officeDocument/2006/relationships/hyperlink" Target="https://www.infobae.com/colombia/2026/08/12/de-la-espriella-anuncio-alivios-y-subsidios-tras-emergencia-en-el-eje-cafetero-por-el-terremoto-detallo-plan-de-choque-para-educacion-y-vivienda/" TargetMode="External"/><Relationship Id="rId1" Type="http://schemas.openxmlformats.org/officeDocument/2006/relationships/image" Target="../media/image-33-1.png"/><Relationship Id="rId16" Type="http://schemas.openxmlformats.org/officeDocument/2006/relationships/slideLayout" Target="../slideLayouts/slideLayout1.xml"/><Relationship Id="rId1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www.pulzo.com/nacion/terremoto-en-colombia-ungrd-reporta-danos-y-victimas-en-valle-del-cauca-y-risaralda-PP5272829A" TargetMode="External"/><Relationship Id="rId3"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4" Type="http://schemas.openxmlformats.org/officeDocument/2006/relationships/hyperlink" Target="https://www.asocapitales.co/actualidad/noticias/ciudades-seguras/terremoto-deja-188-fallecidos-y-1677-heridos-en-ciudades" TargetMode="External"/><Relationship Id="rId5" Type="http://schemas.openxmlformats.org/officeDocument/2006/relationships/hyperlink" Target="https://www.infolibre.es/internacional/terremoto-colombia-deja-254-muertos-continua-busqueda-escombros_1_2235003.html" TargetMode="External"/><Relationship Id="rId6" Type="http://schemas.openxmlformats.org/officeDocument/2006/relationships/hyperlink" Target="https://www.elcolombiano.com/colombia/cifra-muertos-heridos-desaparecidos-por-terremoto-colombia-MK39884181" TargetMode="External"/><Relationship Id="rId7" Type="http://schemas.openxmlformats.org/officeDocument/2006/relationships/hyperlink" Target="https://www.eltiempo.com/colombia/otras-ciudades/balance-oficial-de-la-ungrd-tras-terremoto-de-magnitud-7-4-en-colombia-273-fallecidos-3-824-heridos-y-377-desaparecidos-3578196" TargetMode="External"/><Relationship Id="rId8" Type="http://schemas.openxmlformats.org/officeDocument/2006/relationships/hyperlink" Target="https://www.eltiempo.com/vida/40-753-familias-afectadas-y-273-muertos-ungrd-entrega-nuevo-balance-del-terremoto-en-colombia-3578185" TargetMode="External"/><Relationship Id="rId9" Type="http://schemas.openxmlformats.org/officeDocument/2006/relationships/hyperlink" Target="https://www.eltiempo.com/colombia/otras-ciudades/nuevo-temblor-de-magnitud-4-2-se-registro-en-san-jose-del-palmar-choco-en-la-manana-de-este-jueves-13-de-agosto-3578131" TargetMode="External"/><Relationship Id="rId10" Type="http://schemas.openxmlformats.org/officeDocument/2006/relationships/hyperlink" Target="https://www.infobae.com/colombia/2026/08/13/colombia-recibira-equipos-de-rescate-de-ee-uu-israel-ecuador-y-el-salvador-por-terremoto/" TargetMode="External"/><Relationship Id="rId11" Type="http://schemas.openxmlformats.org/officeDocument/2006/relationships/hyperlink" Target="https://www.eltiempo.com/colombia/otras-ciudades/balance-oficial-de-la-ungrd-tras-terremoto-de-magnitud-7-4-en-colombia-287-fallecidos-3-975-heridos-y-378-desaparecidos-3578445" TargetMode="External"/><Relationship Id="rId12" Type="http://schemas.openxmlformats.org/officeDocument/2006/relationships/hyperlink" Target="https://www.infobae.com/colombia/2026/08/14/temblor-de-74-en-colombia-el-10-de-agosto-se-actualizo-el-numero-de-fallecidos-en-todo-el-pais/" TargetMode="External"/><Relationship Id="rId13" Type="http://schemas.openxmlformats.org/officeDocument/2006/relationships/hyperlink" Target="https://www.infobae.com/colombia/2026/08/14/aumenta-la-ayuda-internacional-a-colombia-tras-el-terremoto-de-74-india-envia-20-toneladas-y-noruega-suecia-y-espana-anuncian-nuevos-recursos/" TargetMode="External"/><Relationship Id="rId14" Type="http://schemas.openxmlformats.org/officeDocument/2006/relationships/hyperlink" Target="https://www.elheraldo.co/colombia/2026/08/14/italia-india-espana-chile-y-banco-mundial-entre-los-paises-y-organismos-que-han-enviado-ayudas-a-colombia-por-el-terremoto/" TargetMode="External"/><Relationship Id="rId15" Type="http://schemas.openxmlformats.org/officeDocument/2006/relationships/hyperlink" Target="https://www.jrc.or.jp/international/news/2026/0812_054987.html" TargetMode="External"/><Relationship Id="rId1" Type="http://schemas.openxmlformats.org/officeDocument/2006/relationships/image" Target="../media/image-34-1.png"/><Relationship Id="rId16" Type="http://schemas.openxmlformats.org/officeDocument/2006/relationships/slideLayout" Target="../slideLayouts/slideLayout1.xml"/><Relationship Id="rId1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3"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4" Type="http://schemas.openxmlformats.org/officeDocument/2006/relationships/hyperlink" Target="https://cnnespanol.cnn.com/2026/08/12/colombia/live-news/terremoto-en-vivo-muertos-videos-rescates-orix" TargetMode="External"/><Relationship Id="rId5"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6" Type="http://schemas.openxmlformats.org/officeDocument/2006/relationships/hyperlink" Target="https://www.semana.com/nacion/articulo/ascienden-a-294-los-fallecidos-del-terremoto-del-10-de-agosto-y-van-81506-viviendas-averiadas-segun-cifras-oficiales/202627/" TargetMode="External"/><Relationship Id="rId7" Type="http://schemas.openxmlformats.org/officeDocument/2006/relationships/hyperlink" Target="https://www.elheraldo.co/colombia/2026/08/12/presidente-de-la-espriella-decreta-tres-dias-de-duelo-nacional-por-victimas-del-terremoto/" TargetMode="External"/><Relationship Id="rId8"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9" Type="http://schemas.openxmlformats.org/officeDocument/2006/relationships/hyperlink" Target="https://www.eltiempo.com/colombia/otras-ciudades/balance-oficial-de-la-ungrd-este-16-de-agosto-tras-terremoto-de-7-4-en-colombia-289-fallecidos-4-187-heridos-y-143-desaparecidos-3578742" TargetMode="External"/><Relationship Id="rId10" Type="http://schemas.openxmlformats.org/officeDocument/2006/relationships/hyperlink" Target="https://www.rtvcnoticias.com/actualidad/terremoto-deja-289-fallecidos-143-desaparecidos-y-mas-de-185000-afectados-en-colombia" TargetMode="External"/><Relationship Id="rId11" Type="http://schemas.openxmlformats.org/officeDocument/2006/relationships/hyperlink" Target="https://www.radiosantafe.com/2026/08/16/ungrd-reduce-a-289-cifra-de-fallecidos-y-a-143-la-de-personas-desaparecidas-por-el-terremoto/" TargetMode="External"/><Relationship Id="rId1" Type="http://schemas.openxmlformats.org/officeDocument/2006/relationships/image" Target="../media/image-35-1.png"/><Relationship Id="rId12" Type="http://schemas.openxmlformats.org/officeDocument/2006/relationships/slideLayout" Target="../slideLayouts/slideLayout1.xml"/><Relationship Id="rId1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6-1.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110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死者数は最初の2日間で急増した。8月10日13:00（現地）の政府集計で111人、同日夕方に132人、11日のUNGRD状況報告では死者182人・負傷2,542人・行方不明189人となり、県・市の発表を積み上げると240人に達する。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110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16日07:30（コロンビア時間）締めのUNGRD集計現在、発災から6日後。死者289人、負傷4,187人、行方不明143人、生存救出354人・動物510頭、15県・450市町村。住宅全壊26,945棟・損壊127,557棟、建物倒壊66棟。UNGRDは、死者・行方不明が減り負傷・被害が増えるといった変動について、地方から報告された数値の検証と統合によるものであり、一部は未検証のまま送られていたと説明している。すべて速報値。引用の際は集計時点を併記されたい。</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対応の時系列（8月10〜15日）（1/4）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対応の時系列（8月10〜15日）（2/4）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夕方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大統領府／地元当局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状況報告は死者182人・負傷2,542人・行方不明189人、住宅は損壊13,067棟・全壊2,501棟、医療93か所・教育884か所・コミュニティ施設427か所・道路77路線が被害と発表。大統領は死者181人、うち97.6%が県都とした。エクアドル、エルサルバドル、ロシアの支援に謝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公表する余震回数は15:00（現地）で103回に達する（M3.0以下97回、M3.0〜4.0が5回、M4.0超1回）。日中のM3.9により被災各都市で建物からの避難が行われた。同期間のSGCカタログには147回の決定解があり、こちらは背景地震活動を含む広い数値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SGCが本震の解をM7.4・深さ103km、北緯4.99度・西経76.29度に改訂。119観測点・208フェーズで決定。第1報はM6.6・深さ79km、第2報は7.4・深さ96km（69観測点）であった。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対応の時系列（8月10〜15日）（3/4）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07:31</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日本の高市内閣総理大臣が哀悼とお見舞いを投稿（日本時間21:31）。茂木外務大臣が、哀悼とお見舞いに加え、日本政府として必要とされる支援を提供する用意がある旨、およびコロンビアの人々との強い連帯を表明するメッセージを発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日本（外務省）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カリ市当局が同市の被害を報告。建物倒壊107棟、構造的被害643棟、避難命令18棟、生き埋め230人、救出88人、死者69人、負傷1,008人。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OCHAが、人道支援システムはコロンビアを支援する用意があるとし、飲料水、衛生・生活用品、保健、食料、避難所を優先ニーズに挙げる。コロンビア当局からの正式な支援要請は受けていない。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国連／OCHA</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暫定の全国集計は死者224人超、負傷2,500人超となり、279人が病院に搬送、243人が生存救出された。当局への行方不明届は195人。市民プラットフォーム「Colombia te busca」の登録は4,084件で、うち3,653件が未解決。ペレイラでは約300人の救助隊が捜索を継続。チョコ県の多くの地域は依然として船か航空機でしか到達できない。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キブド、カリに続きペレイラ、ドスケブラダス、マニサレス、アルメニアを巡回。被災世帯への公共料金3か月減免、住宅喪失者への家賃補助、教育・住宅の緊急対策を発表。経済緊急事態の政令を準備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集計は14県・403市町村を対象に、死者239人、負傷3,755人、行方不明287人、建物倒壊140棟、被災24,324世帯（49,214人）、住宅全壊9,215棟・重大な損壊45,457棟。コロンビアはINSARAG分類のUSARチーム（イスラエル、エクアドル、エルサルバドル、米国）の受け入れを決定。エルサルバドルは救援物資100トンを送付。ペレイラでは瓦礫の下から36時間ぶりに女性が救出され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県・市の発表を積み上げた死者数が254人（ペレイラ101人、カリ95人）となり、全国集計を上回る。報道は、中央政府の更新が遅いことが理由としている。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サンカルロス宮殿でUNGRDの更新集計を発表。死者265人、負傷3,494人、行方不明496人、被災25,872世帯（53,816人）、住宅全壊11,347棟・損壊53,526棟、教育施設1,819か所・コミュニティ施設631か所が被害。あわせて経済緊急事態の宣言を発表し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8月13日 09:42</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M4.2の余震がサンホセ・デル・パルマルで発生（深さ95km、本震の震央から約20km）。ペレイラ、マニサレス、メデジン、ボゴタで有感となり、捜索救助活動が一時中断。M4.0を超える余震としては2回目。</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対応の時系列（8月10〜15日）（4/4）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8月13日 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長官が新たな集計を発表。死者273人、負傷3,824人、行方不明377人、被災40,753世帯・97,515人、住宅全壊12,584棟・損壊74,873棟、建物倒壊172棟、教育施設2,198か所、コミュニティ施設825か所、医療施設216か所、上水道71系統、金融機関29拠点、空港5か所。法医学研究所には250遺体が搬入され、227体の身元が確認。カリ、ペレイラ、キブド、マニサレス、アルメニアで赤色警報が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8月14日 09:00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09:00時点集計。死者287人、負傷3,975人、行方不明378人、救出354人。被災56,448世帯・135,179人、15県・437市町村。住宅全壊13,077棟・損壊79,108棟、建物倒壊121棟。認証を受けた国際チームとともに狭隘空間での捜索が続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インドが人道支援物資20トンを送付。ノルウェーが1,000万クローネ、スウェーデンが500万クローナをUNHCR経由で拠出。スペイン、イタリア、チリ、メキシコ、トルコ、ブラジル、世界銀行も支援を送付または表明。内務大臣は、ブエナベントゥーラの病院網が対応能力を超えていると述べ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コロンビア外務省／拠出国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8月14〜15日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更新集計。死者288人、負傷4,018人、行方不明202人、救出354人。被災45,523世帯・102,263人、15県・426市町村。住宅全壊12,828棟・損壊73,455棟、建物倒壊121棟。医療240か所、教育2,205か所、コミュニティ1,208か所。道路210路線、上水道73系統、道路橋44橋、歩道橋13橋、空港5か所。09:00時点からの減少は、被害評価の重複記録が整理された結果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8月14日 07:00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SGCが、本震以降に決定した余震は184回、うちM3.0超が15回、M4.0超が2回と報告。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8月15日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行方不明者の捜索が続く一方、10万人を超える被災者が支援を待つ。バジェ・デル・カウカ県エル・カイロでは住宅の80％が被害を受けたと報じられる。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8月15日 06:30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06:30締めのUNGRD集計。死者294人、負傷3,935人、行方不明320人、生存救出353人・動物188頭。被災54,008世帯・115,461人、被害報告のあった市町村448。住宅全壊14,493棟・損壊81,506棟、建物倒壊66棟。被害が最も大きいのはチョコ、リサラルダ、バジェ・デル・カウカ。</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令第1172号により、8月12日から3日間の国家服喪を宣言。国内および在外公館で半旗を掲げる。同じ夜、チョコ県知事が、キブドで最後まで捜索されていた家族4人の生存確認を受けて県の捜索救助段階の終了を表明。</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大統領府／チョコ県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8月16日 07:30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07:30締めのUNGRD集計。死者289人、負傷4,187人、行方不明143人、生存救出354人・動物510頭。15県・450市町村で被災120,238世帯・185,016人。住宅全壊26,945棟・損壊127,557棟、建物倒壊66棟。UNGRDは、数値の変動は地方から報告された数値の検証・統合によるものであり、一部は未検証のまま送られていたと表明。</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震源が深さ110kmであるため、域内の都市はいずれも震源距離110〜205kmとほぼ同程度になり、極端に強い揺れが特定の都市に集中しない。</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 / 105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158 / 38 / 138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172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241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07:34:28（コロンビア時間、UTC-5）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12:34:28（UTC）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USGS：チョコ県サンホセ・デル・パルマルの南5km（ボゴタの西約280km）／SGC：同町から12km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4.8436 N, 76.2422 W   ·   SGC 4.99 N, 76.29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110.3km（USGS、PAGER第5版）／103km（SGC、8月11日改訂）</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PAGER：オレンジ（第5版）。死者数は1,000〜10,000人の階級が最も確からしい（確率35%）。経済損失は1〜10億米ドルが最も確からしく（34%）、コロンビアのGDPの1%未満。GDACS：オレンジ。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規模はUSGSとSGCで一致。SGCは8月11日14:20 UTCに解を改訂し、深さ103km・119観測点・208フェーズとした。改訂後の位置はUSGSと17km、深さは7kmの差であり、観測点数の増加に伴い両解は近づいた。本報告の震央距離はUSGSの震源位置から計算している。SGCの速報値は今後も変更されうる。</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241kmのボゴタは弱い帯に位置する。震央を中心とする同心円ではなく谷筋に沿って伸びる分布は、深さ96〜110kmの震源と軟弱な盆地堆積層の組み合わせによる特徴である。</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USGS PAGERによる影響評価</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onePAGER 第5版（USGS、パブリックドメイン）</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5版は発災の2時間8分後に作成された。これは単一の予測値ではなく確率分布であり、オレンジ警報は「相当の人的被害と損害が生じる可能性が高く、過去のオレンジ警報は地域的または国家的な対応を要した」ことを意味する。最も確からしい死者数階級1,000〜10,000人は、発災9時間後の報告値111人を大きく上回っていたが、33時間後には報告値が182〜240人となり、PAGERが低いながらも相応の確率を与えていた100〜1,000人の階級に入った。この段階での乖離は通常のことであり、実測が推計に置き換わるにつれて差は縮まる。</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曝露人口</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甚大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非常に強い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1,564k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8,888k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中程度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17,076k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IV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やや弱い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6,465k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08:18 COT (13:18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最大余震。本震の44分後、サンホセ・デル・パルマル、深さ94km、震央から19km（SGC2026pqryij）。USGSは同一地震をmb5.0・深さ98.5kmとしている。広く有感。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10:01 COT (15:01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サンホセ・デル・パルマル、深さ88km。多機関速報で地域2機関がM4.7としていた地震にあたり、SGC解はそれより0.9小さい。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11 Aug 00:12 / 10:43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M3.6 / M3.9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サンホセ・デル・パルマル、深さ96kmと92km。10:43の地震は被災各都市で建物からの避難を招くほど強く有感となった。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13 Aug 09:42 COT (14:42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M4.2</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サンホセ・デル・パルマル、深さ95km、震央から約20km。本震と同じ震源域。ボゴタでも有感となり、捜索救助活動が一時中断するほど強く揺れた。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to 14 Aug 07:00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184 located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本震から4日後のSGC累計。余震184回、うちM3.0超15回、M4.0超2回。8月11日15:00時点の公表値は103回。図に用いたカタログ抽出は8月11日17:24までの147回である。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00" dirty="0">
                <a:solidFill>
                  <a:srgbClr val="222222"/>
                </a:solidFill>
                <a:latin typeface="Meiryo" pitchFamily="34" charset="0"/>
                <a:ea typeface="Meiryo" pitchFamily="34" charset="-122"/>
                <a:cs typeface="Meiryo" pitchFamily="34" charset="-120"/>
              </a:rPr>
              <a:t>SGCは本震後34時間に147回の地震を決定した。この期間にM4.0を超えたのは本震44分後のM4.8のみで、92％はM3.0未満であった。8月13日のM4.2が2回目である。本震に匹敵する規模の余震は起きていない。147回のうち96回は深さ60km以上・震央から80km以内にあり、この部分がスラブ内の余震活動そのものである。その累積曲線はSGC公表の回数とよく一致する。残りは同じカタログに含まれる背景的な地震活動であり、生の件数が公式の余震回数を上回るのはこのためである。規模が小さく減衰の速い活動は、やや深発の地震で想定される経過である。ただし8月13日の地震は、捜索救助を止めるほどの揺れがなお続いていることを示す。　8月14日07:00までにSGCの公表値は184回に達し、うちM3.0超が15回、M4.0超が2回である。この推移はカタログ抽出および通常の減衰と整合する。</a:t>
            </a:r>
            <a:endParaRPr lang="en-US" sz="800" dirty="0"/>
          </a:p>
        </p:txBody>
      </p:sp>
      <p:pic>
        <p:nvPicPr>
          <p:cNvPr id="6" name="Image 1" descr="/home/user/whatsmap/reports/colombia_eq_20260810/images/aftershock_counts_ja.png">    </p:cNvPr>
          <p:cNvPicPr>
            <a:picLocks noChangeAspect="1"/>
          </p:cNvPicPr>
          <p:nvPr/>
        </p:nvPicPr>
        <p:blipFill>
          <a:blip r:embed="rId2"/>
          <a:stretch>
            <a:fillRect/>
          </a:stretch>
        </p:blipFill>
        <p:spPr>
          <a:xfrm>
            <a:off x="8091692" y="3584448"/>
            <a:ext cx="2598392"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本震後にSGCが決定した147地震（ADRC作成、SGCカタログによる）</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機関による解のばらつき
</a:t>
            </a:r>
            <a:pPr algn="l" indent="0" marL="0">
              <a:buNone/>
            </a:pPr>
            <a:r>
              <a:rPr lang="en-US" sz="950" dirty="0">
                <a:solidFill>
                  <a:srgbClr val="7A2E0E"/>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データ：SGCの地域カタログ抽出（2026年8月10日07:34〜11日17:24、コロンビア時間）。本震を含む148行で、各行にSGCのイベントIDと精査済み（manual）の状態が付されている。本レポート作成者から提供され、本リポジトリに images/sgc_aftershocks.csv として保持している。両パネルはこのファイルから生成しており、図は再現可能で、各地震はIDによりsgc.gov.coで確認できる。この抽出の本震の行（深さ103km、北緯4.99度・西経76.29度）は、8月11日に改訂されたSGCのイベントページと一致しており、抽出全体の妥当性の裏づけとなっている。</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SGC集計：8月11日15:00時点で余震103回</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余震99回とその規模（SGC）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289</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4,187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行方不明</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143</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8月16日07:30締めのUNGRD集計。15県・450市町村で被災120,238世帯・185,016人。住宅全壊26,945棟・損壊127,557棟、生存救出354人・動物510頭。死者と行方不明は下方修正（294→289人、320→143人）、負傷と被害は増加した。UNGRDはその理由として、地方から報告された数値の検証・統合を進めており、一部の県防災委員会が未検証の暫定値を送っていたことを挙げている。引用の際は数値とあわせて集計時点を示されたい。</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大統領（8月11日）。県政府の集計はより多く、カリ95人＋他市町村35人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66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大統領（8月11日）。県は約90人と報告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チョコ県（キブド）</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チョコ県は8月12日に捜索段階を終了。県の集計は死者14人・負傷138人。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2人、4人、5人と推移</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全国の死者数は8月16日07:30締めで289人であり、前日の294人から下方修正された。推移は273人（8月13日）→281→285→287→288→294人（15日）→289人である。UNGRDはこの変動を、地方から報告された数値の検証・統合によるもので、一部は検証前に送られていたと説明している。法医学研究所には8月13日時点で250遺体が搬入され、うち227体の身元が確認されていた。公式の全国値として引用すべきは289人であり、集計時点を併記する。図は8月11日時点の大統領による内訳（181人）であり、リサラルダ（ペレイラ）とバジェ・デル・カウカ（カリ）に死者が集中するという分布の形を示すものであって、現在の集計ではない。　カリについても3通りの数値がある。大統領の内訳では97人、8月11日の市長発表は85人、市当局の被害報告では69人であり、この報告には集計時点が付されていない。</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UNGRD集計：死者182人・負傷2,542人・行方不明189人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大統領の181人は地方集計より59人少ない</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集計：死者132人・負傷570人超（都市別）</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行方不明者：2つの集計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当局への届出</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Meiryo" pitchFamily="34" charset="0"/>
                <a:ea typeface="Meiryo" pitchFamily="34" charset="-122"/>
                <a:cs typeface="Meiryo" pitchFamily="34" charset="-120"/>
              </a:rPr>
              <a:t>143</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市民プラットフォームの未解決</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Meiryo" pitchFamily="34" charset="0"/>
                <a:ea typeface="Meiryo" pitchFamily="34" charset="-122"/>
                <a:cs typeface="Meiryo"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同プラットフォームで確認済み</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Meiryo" pitchFamily="34" charset="0"/>
                <a:ea typeface="Meiryo" pitchFamily="34" charset="-122"/>
                <a:cs typeface="Meiryo"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「行方不明」の2つの数字
</a:t>
            </a:r>
            <a:pPr algn="l" indent="0" marL="0">
              <a:buNone/>
            </a:pPr>
            <a:r>
              <a:rPr lang="en-US" sz="950" dirty="0">
                <a:solidFill>
                  <a:srgbClr val="7A2E0E"/>
                </a:solidFill>
                <a:latin typeface="Meiryo" pitchFamily="34" charset="0"/>
                <a:ea typeface="Meiryo" pitchFamily="34" charset="-122"/>
                <a:cs typeface="Meiryo" pitchFamily="34" charset="-120"/>
              </a:rPr>
              <a:t>143人と3,653件は同じものを測った数値ではなく、どちらも誤りではない。143人は、8月16日07:30締めでUNGRDが示した公式の数値であり、検察庁の登録簿に基づく。この数値は496→377→378→202→320→143人と両方向に動いてきた。届出の受理、解決、重複整理が同時に進んでいるためであり、UNGRDは、地方から送られた数値の検証・統合によるもので、一部は未検証のまま報告されていたと説明している。減少はいずれも瓦礫からの発見によるものではない。発見を測る数値は生存救出であり、354人である。3,653件は、市民運営のプラットフォーム「Colombia te busca」に家族が登録し、まだ所在が確認されていない人数である。これは地域社会の取り組みであって国家の登録簿ではなく、警察や検察への届出に代わるものでもない。重複や、停電・通信途絶で単に連絡が取れないだけの人も含まれる。行方不明者数として引用すべきは143人であり、その際は集計時点を併記する。3,653件は「まだ所在を把握できていない世帯がどれだけあるか」を示す照会件数として引用するのが適切である。</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00" dirty="0">
                <a:solidFill>
                  <a:srgbClr val="222222"/>
                </a:solidFill>
                <a:latin typeface="Meiryo" pitchFamily="34" charset="0"/>
                <a:ea typeface="Meiryo" pitchFamily="34" charset="-122"/>
                <a:cs typeface="Meiryo" pitchFamily="34" charset="-120"/>
              </a:rPr>
              <a:t>登録はバジェ・デル・カウカ、リサラルダ、カルダス、チョコの4県に集中しており、死者の分布と同じである。県都市長会Asocapitalesも第2のプラットフォームを開設したため、照会は現在2つの登録簿に分かれている。両者の合計を足し合わせるべきではない。</a:t>
            </a:r>
            <a:endParaRPr lang="en-US" sz="100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busca」市民による行方不明者プラットフォーム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地震の行方不明者検索ツール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カリ市：市当局の被害報告</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サンティアゴ・デ・カリ市職員による。市単位の数値であり、全国集計のある時点の内訳ではない。</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死者</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Meiryo" pitchFamily="34" charset="0"/>
                <a:ea typeface="Meiryo" pitchFamily="34" charset="-122"/>
                <a:cs typeface="Meiryo"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負傷者</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生き埋め</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救出者</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Meiryo" pitchFamily="34" charset="0"/>
                <a:ea typeface="Meiryo" pitchFamily="34" charset="-122"/>
                <a:cs typeface="Meiryo" pitchFamily="34" charset="-120"/>
              </a:rPr>
              <a:t>88</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建物倒壊</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107</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構造的被害のある建物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643</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避難命令の出た建物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生き埋め</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230</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救出された人</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88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死者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69</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負傷者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1,008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カリの他の数値との関係
</a:t>
            </a:r>
            <a:pPr algn="l" indent="0" marL="0">
              <a:buNone/>
            </a:pPr>
            <a:r>
              <a:rPr lang="en-US" sz="950" dirty="0">
                <a:solidFill>
                  <a:srgbClr val="7A2E0E"/>
                </a:solidFill>
                <a:latin typeface="Meiryo" pitchFamily="34" charset="0"/>
                <a:ea typeface="Meiryo" pitchFamily="34" charset="-122"/>
                <a:cs typeface="Meiryo" pitchFamily="34" charset="-120"/>
              </a:rPr>
              <a:t>市の集計による死者69人は、8月11日にカリ市長が示した85人、および同日の大統領の内訳にある97人を下回る。一方で負傷者1,008人は市長の885人を上回る。この市当局報告には集計時点が付されていないため、上記の系列のどこに位置づくか判断できない。より早い時点の値である可能性も、市が自ら確認した死者に限った狭い集計である可能性もある。市が集計時点を示すまでは、全国の状況には全国値を用い、本表は市当局のみが報告している項目——建物の倒壊・構造的被害、避難命令、生き埋めと救出の対比——に用いるのが適切である。</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生き埋め230人に対して救出88人という比は、カリにおける今後48時間を左右する数値である。これは捜索救助の未処理件数であり、市の死者数を上回っている。</a:t>
            </a:r>
            <a:endParaRPr lang="en-US" sz="95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サンティアゴ・デ・カリ市職員より受領（2026年8月12日）</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289人（UNGRD、8月16日07:30締め）。前日の294人から下方修正された。推移は273→281→285→287→288→294→289人であり、UNGRDはこの変動を、地方から送られた数値の検証によるものと説明している。被害が最も大きいのはチョコ、リサラルダ、バジェ・デル・カウカの3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4,187人（UNGRD、8月16日07:30締め）。前日の3,935人から増加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行方不明（当局への届出）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143人（UNGRD、8月16日07:30締め）。前日の320人から減少。推移は496→377→378→202→320→143人である。届出の受理、解決、重複整理が同時に進んでおり、UNGRDはこの変動を地方報告の検証によるものと説明している。瓦礫の下に残る人数を示す数値ではない。生存救出は354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UNGRD、検察庁（8月16日）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市民プラットフォーム上の未解決報告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「Colombia te busca」に4,084人が登録され、うち3,653人が未確認、429人が確認済み。バジェ・デル・カウカ、リサラルダ、カルダス、チョコに集中。Asocapitalesも別のプラットフォームを開設。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「Colombia te busca」（市民の取り組み）、Asocapitales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生存救出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354人（UNGRD、8月16日）。ほかに動物510頭を救出。カリで約30時間後に救出された女性、ペレイラで36時間ぶりに救出された女性、集合住宅から救出された乳児、キブドで生存確認された家族4人を含む。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被災市町村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15県・450市町村（UNGRD、8月16日）。前日の448、8月12日の403から増加。カリ、ペレイラ、キブド、マニサレス、アルメニアでは赤色警報が継続。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8月16日の統合集計で120,238世帯・185,016人が被災。前日の54,008世帯・115,461人から増加。同じ07:30締めの要約として57,516世帯・145,601人という数値も流通したが、統合後の値は前者であり、集計時点を添えて引用すべきはこちら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154,502棟。全壊26,945棟、損壊127,557棟（UNGRD、8月16日07:30締め）。前日の95,999棟から増加したが、これは新たな被害の発生ではなく被害評価の進展による。バジェ・デル・カウカ県山間部のコーヒー産地エル・カイロでは、住宅の80％が被害を受け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うち重大な損壊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127,557</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26,945</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66棟（UNGRD、8月16日）。8月13日の172棟、14日の121棟からの下方修正を経て、15日から変わらない。当初倒壊と報告された構造物が点検により分類し直されたためである。Asocapitalesは県都で243棟の倒壊を数える。カリ市当局は倒壊107棟・構造的被害643棟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UNGRD（8月16日）、Asocapitales、カリ市</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240か所が被害（UNGRD、8月14〜15日）。8月13日の216か所、10日の18か所から増加。医療機関7か所が閉鎖。カリの大学病院は約30％が崩壊し、小児科・内科・新生児科の一部を含む3フロアが失われた。内務大臣は8月14日、ブエナベントゥーラの病院網が対応能力を超えていると述べ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UNGRD（8月14〜15日）、内務省、バジェ・デル・カウカ県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2,205か所が被害（UNGRD、8月14〜15日）。8月13日の2,198か所、10日の52か所から増加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1,208か所が被害（UNGRD、8月14〜15日）。8月13日の825か所から増加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道路210路線が被害（UNGRD、8月14〜15日）。8月11日の77路線、10日の18路線から増加。道路橋44橋、歩道橋13橋も被害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8月13日集計では空港5か所が被害。運航停止は7空港に及んでいた。マテカーニャ国際空港（ペレイラ）は旅客ターミナルが部分崩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UNGRD（8月13日）、民間航空当局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上水道73系統が被害（UNGRD、8月14〜15日）、金融機関29拠点が業務停止。震央付近では停電と通信途絶が報告されている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8月12日付大統領令第1172号により、3日間の国家服喪を宣言。すべての公共施設および在外のコロンビア大使館・領事館で半旗を掲げる。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チョコ県は8月12日夜に捜索救助段階を終了。キブドで最後まで捜索されていた家族が生存で発見され、瓦礫の下に届出のある者はいなくなったと知事が表明した。県は被災者支援と復旧に移行。県の集計は死者14人、負傷138人、被害物件2,791件。</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大統領は8月11〜12日に被災地を巡回した。キブド、カリ、続いてペレイラ、ドスケブラダス、マニサレス、アルメニア。ボゴタではなく現地から対応を指揮するとしている。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巡回中に発表された救済措置：被災世帯として登録された者に対する公共料金の3か月間の減免、住宅を失った者への家賃補助、修復に先立つ住宅被害の悉皆調査と類型化、教育・住宅の緊急対策。8月12日夕方、大統領は経済緊急事態の宣言を発表した。対応を迅速化するための憲法上の仕組みである。</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国の対応会議を主宰するデラエスプリエジャ大統領   © UNGRD</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市内の倒壊建物で活動するカリ消防   © Alcaldía de Santiago de Cali</a:t>
            </a:r>
            <a:pPr algn="ctr" indent="0" marL="0">
              <a:buNone/>
            </a:pPr>
            <a:r>
              <a:rPr lang="en-US" sz="7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 (1/2)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ロンビアが受け入れているのは、米国、イスラエル、エクアドル、エルサルバドルの4か国のINSARAG分類USARチームのみである。政府は、これらが国際的に認証され、国連の調整の下でINSARAGの基準に沿って活動し、完全に自己完結型であるため市町村に追加の負担を生じさせないことを理由として挙げている。役割は、すでに展開しているコロンビアのUSARチームの支援である。政府は、他国の申し出をイデオロギー的な理由で断ったとの報道を否定したが、この選定はコロンビア国内の報道で疑問視され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14日、支援は救助チームを送る4か国の枠を超えて広がった。インドは人道支援物資20トン（医薬品・医療機器、仮設シェルター、衛生用品）を送った。ノルウェーは1,000万ノルウェークローネ（約100万米ドル）を緊急医療、給水、疾病予防、仮設住宅に充て、スウェーデンは500万スウェーデンクローナ（約52万2,000米ドル）をUNHCR経由で拠出する。スペイン、イタリア、チリ、メキシコ、トルコ、ブラジル、世界銀行も支援を送付または表明している。コロンビア政府は、申し出の総額は約13億米ドルに達するとし、支援を表明した国として日本も挙げ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12日、コロンビアは国際的な捜索救助支援の受け入れを決定。対象はINSARAG分類の基準を満たすチームを持つ国で、イスラエル、エクアドル、エルサルバドル、米国。コロンビアの要請を受け、米国務省はフェアファクス郡（バージニア州）とロサンゼルス郡（カリフォルニア州）のUSARタスクフォースを派遣した。エルサルバドルは救援物資100トンを送り、メキシコからの支援便も到着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米国：8月10日に緊急支援1,550万米ドルを表明。緊急避難所、食料、保護、被害評価に充てる。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欧州連合：EU市民保護メカニズムを発動し、人道支援として初期額10万ユーロを拠出。すでに現地で活動していたドイツ赤十字を通じて実施される。コペルニクスをコロンビア当局の利用に供し、被災地のEU市民のための領事危機メカニズムも発動した。欧州委員会委員長と上級代表は、必要に応じて追加支援を行う用意があると表明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日本：8月11日21:31（日本時間、現地07:31）、高市早苗内閣総理大臣が「亡くなられた方々に哀悼の誠をささげる」「この困難な時に日本はコロンビアとともにある」と投稿。茂木外務大臣は次のメッセージを発出した。「8月10日にコロンビア共和国で発生した地震に際し、犠牲となられた方々に哀悼の誠を捧げ、被害に遭われた皆様に心からお見舞いを申し上げます。また、日本政府は必要とされる支援を提供する用意があります。日本は、コロンビアの人々との強い連帯を示します。」本稿執筆時点で、国際緊急援助隊の派遣や緊急無償資金協力の決定は公表されていない。</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日本：コロンビア政府は支援を表明した国として日本を挙げているが、本レポートの集計時点で、外務省・JICAのいずれからも国際緊急援助隊の派遣、緊急援助物資の供与、緊急無償資金協力は公表されていない。日本側で確認できるのは政府以外の動きであり、日本赤十字社がコロンビア赤十字社の活動を支援しているほか、日本財団が8月12日から9月30日までのコロンビア地震緊急支援募金を開設している。</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イスラエル・エクアドル・エルサルバドル・米国から救助チーム到着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支援を申し出た国の一覧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国連コロンビア 地震に関する情報と更新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 (2/2)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支援の申し出は、チリ、ペルー、パナマ、アルゼンチン、ブラジル、ベネズエラ、ボリビア、グアテマラ、キューバ、エルサルバドル、スペイン、イタリア、フランス、ドイツ、スイス、イスラエル、ウクライナからも報じられている。内容はUSARチーム、医師・救急救命士、救援物資、衛星観測など。ラテンアメリカ・カリブ開発銀行（CAF）は50万米ドルの拠出を発表し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連：OCHAは、人道支援システムはコロンビアを支援する用意があると表明。初期のニーズ分析では、飲料水、衛生用品・生活用品、保健医療、食料支援、避難所が挙げられている。8月11日時点で正式な要請はなかったが、12日に政府が国際的な捜索救助支援の受け入れを決めた。</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絞り込んだ受け入れ、その後の広がり
</a:t>
            </a:r>
            <a:pPr algn="l" indent="0" marL="0">
              <a:buNone/>
            </a:pPr>
            <a:r>
              <a:rPr lang="en-US" sz="950" dirty="0">
                <a:solidFill>
                  <a:srgbClr val="7A2E0E"/>
                </a:solidFill>
                <a:latin typeface="Meiryo" pitchFamily="34" charset="0"/>
                <a:ea typeface="Meiryo" pitchFamily="34" charset="-122"/>
                <a:cs typeface="Meiryo" pitchFamily="34" charset="-120"/>
              </a:rPr>
              <a:t>2つの構図が並んでいる。捜索救助は4か国——米国、イスラエル、エクアドル、エルサルバドル——にのみ開かれた。政府が挙げる基準はINSARAG分類、自己完結性、展開の速さであるが、申し出は少なくとも17か国からあり、他の何か国かも同じ分類を保持している。政府はイデオロギーの関与を否定しており、この点はコロンビア国内で議論になっている。一方、物資と資金は幅広く受け入れられている。インド、ノルウェー、スウェーデン、スペイン、イタリア、チリ、メキシコ、トルコ、ブラジル、世界銀行、および先行する米国・EU・CAFの拠出であり、申し出の総額は約13億米ドルとされる。この区別には理由がある。救助チームは受入国の指揮系統の内側で活動するが、物資はそうではない。ADRCの読者が持ち帰るべき点もここにある。法1523号の下で対応を指揮するのはコロンビア自身であり、活動する側の受け入れをここまで絞る場合、その根拠を文書で説明できるようにしておくことが求められ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イスラエル・エクアドル・エルサルバドル・米国から救助チーム到着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支援を申し出た国の一覧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国連コロンビア 地震に関する情報と更新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PNGRD 2015-2030 — 国家災害リスク管理計画。2016年大統領令第308号で採択され、2022年8月3日の第1478号で更新。仙台防災枠組に整合し、UNGRDが年次で進捗を監理する。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9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国家災害リスク管理計画（PNGRD）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2022年大統領令第1478号（PNGRD更新）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カリ市の住民参加型早期警戒システム</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事前のリスク評価：サンティアゴ・デ・カリ</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9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想定シナリオ（GEM-TREQ、2022年）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想定シナリオ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M6.5・深さ10km、ダグア・カリマ断層、市街地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曝露人口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約230万人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推定死者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約1,200人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重傷者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約36,300人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住まいを失う人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約181,000人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倒壊建物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348,000棟のうち約1,800棟（0.5%）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残余リスク</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既往対策を織り込んで約40%と評価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市が既に優先課題としていたこと</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2026年の地震はこのシナリオではない
</a:t>
            </a:r>
            <a:pPr algn="l" indent="0" marL="0">
              <a:buNone/>
            </a:pPr>
            <a:r>
              <a:rPr lang="en-US" sz="950" dirty="0">
                <a:solidFill>
                  <a:srgbClr val="7A2E0E"/>
                </a:solidFill>
                <a:latin typeface="Meiryo" pitchFamily="34" charset="0"/>
                <a:ea typeface="Meiryo" pitchFamily="34" charset="-122"/>
                <a:cs typeface="Meiryo" pitchFamily="34" charset="-120"/>
              </a:rPr>
              <a:t>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GEM-TREQ カリ市プロファイル</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 GEM Foundation / USAID / Alcaldía de Santiago de Cali / USGS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8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8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1906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エクアドル・コロンビア地震（太平洋岸）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観測史上最大級。太平洋岸に破壊的な津波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1925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カリ地震（バジェ・デル・カウカ県）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1938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コーヒー地帯の地震（深さ150km）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1979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トゥマコ地震（ナリーニョ県）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M8.1</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プレート境界型で津波を伴う。数百人が死亡</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1983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ポパヤン地震（カウカ県）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M5.5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パエス地震（カウカ県）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M6.6</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2026年と同じ県で発生したやや深発地震</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アルメニア（キンディオ）地震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M6.1-6.2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チョコ地震（本地震）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PGA（g）、SGC／GEM 国家地震ハザードモデル（2020年）</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Meiryo" pitchFamily="34" charset="0"/>
                <a:ea typeface="Meiryo" pitchFamily="34" charset="-122"/>
                <a:cs typeface="Meiryo" pitchFamily="34" charset="-120"/>
              </a:rPr>
              <a:t>全国地震ハザード（再現期間475年）</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調査が被害に追いついた分だけ数値は膨れ上がった。56時間で死者は111人から239人、負傷者は87人から3,755人、行方不明は未集計から287人、住宅被害は1,612棟から約54,000棟、被災範囲は「20市町村超」から14県・403市町村になった。この急増を引き起こす新たな出来事があったわけではなく、調査が未到達地域に届いただけである。チョコ県の多くはなお船か航空機でしか到達できない。初期値の読み方として二つ。初日の数値は災害の規模ではなく調査の到達範囲を表すこと。そして同じ事象に二つの集計がある場合は、比較の前にそれぞれが何を数えているかを確認すべきことであ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損傷建物に対する余震リスク。SGCは34時間で147回の地震を決定した。うち92%はM3.0未満、M4.0超は1回のみで、やや深発のスラブ内地震として想定される低調な推移である。ただし運用上の要点はこの統計ではない。8月10日のM4.8は広く有感となり、11日のM3.9でも複数の都市で建物からの避難が生じた。本震で損傷したまま倒壊を免れた建物は耐力を失っているため、余震の回数より、再入居前の応急危険度判定が重要である。</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速報：死者132人に増加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チョコ県で負傷84人・死者12人（県政府）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GEM-TREQ カリ市地震リスク評価（技術報告 D2.6.2）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SATIC カリ市の住民参加型早期警戒システム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サンティアゴ・デ・カリ市 災害リスク管理</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 国家災害リスク管理計画（PNGRD）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2022年大統領令第1478号（PNGRD更新）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地震カタログ閲覧（精査済みは2018年2月まで）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有用リンク・出典（4/6）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速報（8月11日、カリの死者85人に）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集計：死者132人・負傷570人超（都市別）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Noticias Caracol UNGRD集計：死者182人・負傷2,542人・行方不明189人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RPP 大統領の181人は地方集計より59人少ない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余震99回とその規模（SGC）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SGC集計：8月11日15:00時点で余震103回</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 コロンビア共和国における地震について（茂木外務大臣メッセージ）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外務省（X）8月11日の投稿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支援を申し出た国の一覧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国連コロンビア 地震に関する情報と更新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国連ニュース 国連がコロンビアに支援を表明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te busca」市民による行方不明者プラットフォーム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地震の行方不明者検索ツール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コーヒー地帯巡回で発表された救済措置と補助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有用リンク・出典（5/6）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Pulzo UNGRD による14県の被害・人的被害報告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イスラエル・エクアドル・エルサルバドル・米国から救助チーム到着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県都で死者188人・負傷1,677人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infolibre 捜索継続、死者少なくとも254人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死者265人・負傷3,494人・行方不明496人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8月13日のUNGRD集計 死者273人・負傷3,824人・行方不明377人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被災40,753世帯 UNGRDの新集計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8月13日 サンホセ・デル・パルマルでM4.2の余震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米国・イスラエル・エクアドル・エルサルバドルの救助チームを受け入れ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8月14日のUNGRD集計 死者287人・負傷3,975人・行方不明378人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ライブ 死者288人・負傷4,000人超・行方不明202人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国際支援の拡大 インド・ノルウェー・スウェーデン・スペイン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Heraldo 支援を送った国・機関（イタリア、インド、スペイン、チリ、世界銀行ほか）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日本赤十字社 コロンビア赤十字社の救援活動（M7.4地震）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有用リンク・出典（6/6）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なぜ海外の救助隊を必要としなかったのか 国内23チーム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SGC 8月10日以降の余震184回（8月14日）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CNNスペイン語 救助・復旧のライブ報道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8月15日のUNGRD集計 死者294人・負傷3,935人・行方不明320人・救出353人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死者294人・住宅損壊81,506棟（公式数値）</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Heraldo 大統領令1172号 3日間の国家服喪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チョコ県知事が県の捜索救助段階の終了を表明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8月16日のUNGRD集計 死者289人・負傷4,187人・行方不明143人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RTVC 死者289人・行方不明143人・被災18万5千人超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Radio Santa Fe UNGRDが死者・行方不明の数値を下方修正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16日07:30（コロンビア時間）締めのUNGRD集計現在、発災から6日後。死者289人、負傷4,187人、行方不明143人、生存救出354人・動物510頭、15県・450市町村。住宅全壊26,945棟・損壊127,557棟、建物倒壊66棟。UNGRDは、死者・行方不明が減り負傷・被害が増えるといった変動について、地方から報告された数値の検証と統合によるものであり、一部は未検証のまま送られていたと説明している。すべて速報値。引用の際は集計時点を併記されたい。</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17/08/2026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2026-08-16T22:31:16Z</dcterms:created>
  <dcterms:modified xsi:type="dcterms:W3CDTF">2026-08-16T22:31:16Z</dcterms:modified>
</cp:coreProperties>
</file>