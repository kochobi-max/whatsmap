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バジェ・デル・カウカ県（カリ）</c:v>
                  </c:pt>
                  <c:pt idx="1">
                    <c:v>リサラルダ県（ペレイラ）</c:v>
                  </c:pt>
                  <c:pt idx="2">
                    <c:v>チョコ県（キブド）</c:v>
                  </c:pt>
                  <c:pt idx="3">
                    <c:v>カルダス県（マニサレス）</c:v>
                  </c:pt>
                  <c:pt idx="4">
                    <c:v>アンティオキア県</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2" Type="http://schemas.openxmlformats.org/officeDocument/2006/relationships/image" Target="../media/image-9-2.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2" Type="http://schemas.openxmlformats.org/officeDocument/2006/relationships/image" Target="../media/image-18-2.jpg"/><Relationship Id="rId4" Type="http://schemas.openxmlformats.org/officeDocument/2006/relationships/image" Target="../media/image-18-3.jp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eltiempo.com/mundo/mas-regiones/la-comunidad-internacional-se-vuelca-en-ayudas-para-colombia-lista-de-paises-que-han-ofrecido-apoyo-tras-el-terremoto-de-magnitud-7-3577512" TargetMode="External"/><Relationship Id="rId3" Type="http://schemas.openxmlformats.org/officeDocument/2006/relationships/hyperlink" Target="https://colombia.un.org/es/320793-informaci%C3%B3n-y-actualizaciones-sobre-el-terremoto-en-colombia"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reliefweb.int/country/col"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2-1.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3-1.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5-1.png"/><Relationship Id="rId2" Type="http://schemas.openxmlformats.org/officeDocument/2006/relationships/image" Target="../media/image-25-2.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6-1.png"/><Relationship Id="rId2" Type="http://schemas.openxmlformats.org/officeDocument/2006/relationships/image" Target="../media/image-26-2.jp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7-1.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 Type="http://schemas.openxmlformats.org/officeDocument/2006/relationships/image" Target="../media/image-28-1.png"/><Relationship Id="rId16" Type="http://schemas.openxmlformats.org/officeDocument/2006/relationships/slideLayout" Target="../slideLayouts/slideLayout1.xml"/><Relationship Id="rId1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oecd.org/en/publications/risk-governance-scan-of-colombia_eeb81954-en.html"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france24.com/en/americas/20260810-powerful-quake-rocks-colombia-causing-major-damage" TargetMode="External"/><Relationship Id="rId6" Type="http://schemas.openxmlformats.org/officeDocument/2006/relationships/hyperlink" Target="https://www.aljazeera.com/news/2026/8/10/7-4-magnitude-earthquake-hits-colombia-killing-at-least-20" TargetMode="External"/><Relationship Id="rId7" Type="http://schemas.openxmlformats.org/officeDocument/2006/relationships/hyperlink" Target="https://www.cbsnews.com/news/colombia-earthquake-western-region-evacuations/" TargetMode="External"/><Relationship Id="rId8" Type="http://schemas.openxmlformats.org/officeDocument/2006/relationships/hyperlink" Target="https://www.nbcnews.com/world/latin-america/strong-earthquake-colombia-ecuador-people-evacuating-homes-buildings-rcna591709" TargetMode="External"/><Relationship Id="rId9" Type="http://schemas.openxmlformats.org/officeDocument/2006/relationships/hyperlink" Target="https://colombiaone.com/2026/08/10/earthquake-colombia-official-details/" TargetMode="External"/><Relationship Id="rId10" Type="http://schemas.openxmlformats.org/officeDocument/2006/relationships/hyperlink" Target="https://colombiaone.com/2026/08/10/colombia-national-disaster/" TargetMode="External"/><Relationship Id="rId11" Type="http://schemas.openxmlformats.org/officeDocument/2006/relationships/hyperlink" Target="https://www.infobae.com/colombia/2026/08/10/por-que-el-temblor-en-colombia-de-este-lunes-10-de-agosto-duro-una-eternidad-el-servicio-geologico-explico-que-paso/" TargetMode="External"/><Relationship Id="rId12" Type="http://schemas.openxmlformats.org/officeDocument/2006/relationships/hyperlink" Target="https://www3.nhk.or.jp/news/" TargetMode="External"/><Relationship Id="rId13" Type="http://schemas.openxmlformats.org/officeDocument/2006/relationships/hyperlink" Target="https://www.nikkei.com/article/DGXZQOGN108V30Q6A810C2000000/" TargetMode="External"/><Relationship Id="rId14" Type="http://schemas.openxmlformats.org/officeDocument/2006/relationships/hyperlink" Target="https://www.jiji.com/jc/article?k=2026081000878&amp;g=int" TargetMode="External"/><Relationship Id="rId15" Type="http://schemas.openxmlformats.org/officeDocument/2006/relationships/hyperlink" Target="https://www.savethechildren.org/us/about-us/media-and-news/2026-press-releases/children-at-risk-after-earthquake-strikes-colombia" TargetMode="External"/><Relationship Id="rId1" Type="http://schemas.openxmlformats.org/officeDocument/2006/relationships/image" Target="../media/image-29-1.png"/><Relationship Id="rId16" Type="http://schemas.openxmlformats.org/officeDocument/2006/relationships/slideLayout" Target="../slideLayouts/slideLayout1.xml"/><Relationship Id="rId1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directrelief.org/2026/08/colombia-earthquake-7-4-magnitude-direct-relief-response/" TargetMode="External"/><Relationship Id="rId3" Type="http://schemas.openxmlformats.org/officeDocument/2006/relationships/hyperlink" Target="https://www.americares.org/crisis-alerts/colombia-earthquake-august-2026/" TargetMode="External"/><Relationship Id="rId4" Type="http://schemas.openxmlformats.org/officeDocument/2006/relationships/hyperlink" Target="https://glidenumber.net/" TargetMode="External"/><Relationship Id="rId5" Type="http://schemas.openxmlformats.org/officeDocument/2006/relationships/hyperlink" Target="https://www.adrc.asia/" TargetMode="External"/><Relationship Id="rId6" Type="http://schemas.openxmlformats.org/officeDocument/2006/relationships/hyperlink" Target="https://www.democrata.es/en/international/von-der-leyen-expresses-the-eu-s-support-for-colombia-and-activates-copernicus-after-the-earthquake/" TargetMode="External"/><Relationship Id="rId7" Type="http://schemas.openxmlformats.org/officeDocument/2006/relationships/hyperlink" Target="https://www.globalquakemodel.org/proj/treq" TargetMode="External"/><Relationship Id="rId8" Type="http://schemas.openxmlformats.org/officeDocument/2006/relationships/hyperlink" Target="https://cloud-storage.globalquakemodel.org/public/wix-new-website/pdf-collections-wix/publications/TREQ%20deliverables/reports/TREQ_D262_Riesgo_Sismico_Cali_v1.00.pdf" TargetMode="External"/><Relationship Id="rId9" Type="http://schemas.openxmlformats.org/officeDocument/2006/relationships/hyperlink" Target="https://www.sciencedirect.com/science/article/abs/pii/S2212420925003097" TargetMode="External"/><Relationship Id="rId10" Type="http://schemas.openxmlformats.org/officeDocument/2006/relationships/hyperlink" Target="https://satic.cali.gov.co/satic" TargetMode="External"/><Relationship Id="rId11" Type="http://schemas.openxmlformats.org/officeDocument/2006/relationships/hyperlink" Target="https://www.cali.gov.co/gestiondelriesgo/" TargetMode="External"/><Relationship Id="rId12" Type="http://schemas.openxmlformats.org/officeDocument/2006/relationships/hyperlink" Target="https://portal.gestiondelriesgo.gov.co/Paginas/Plan-Nacional-de-Gestion-del-Riesgo.aspx" TargetMode="External"/><Relationship Id="rId13" Type="http://schemas.openxmlformats.org/officeDocument/2006/relationships/hyperlink" Target="https://www.funcionpublica.gov.co/eva/gestornormativo/norma.php?i=191411" TargetMode="External"/><Relationship Id="rId14" Type="http://schemas.openxmlformats.org/officeDocument/2006/relationships/hyperlink" Target="https://www.emsc-csem.org/" TargetMode="External"/><Relationship Id="rId15" Type="http://schemas.openxmlformats.org/officeDocument/2006/relationships/hyperlink" Target="https://catalogosismico.sgc.gov.co/visor/index.html" TargetMode="External"/><Relationship Id="rId1" Type="http://schemas.openxmlformats.org/officeDocument/2006/relationships/image" Target="../media/image-30-1.png"/><Relationship Id="rId16" Type="http://schemas.openxmlformats.org/officeDocument/2006/relationships/slideLayout" Target="../slideLayouts/slideLayout1.xml"/><Relationship Id="rId1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3" Type="http://schemas.openxmlformats.org/officeDocument/2006/relationships/hyperlink" Target="https://www.elespectador.com/colombia/mas-regiones/temblor-en-colombia-hoy-10-de-agosto-en-vivo-epicentro-y-reporte-de-afectaciones/" TargetMode="External"/><Relationship Id="rId4" Type="http://schemas.openxmlformats.org/officeDocument/2006/relationships/hyperlink" Target="https://www.noticiascaracol.com/colombia/en-vivo-colombia-hoy-tras-terremoto-de-magnitud-7-4-continuan-las-labores-de-rescate-so35" TargetMode="External"/><Relationship Id="rId5" Type="http://schemas.openxmlformats.org/officeDocument/2006/relationships/hyperlink" Target="https://rpp.pe/mundo/colombia/abelardo-de-la-espriella-cifra-en-181-los-muertos-por-el-terremoto-59-menos-que-datos-regionales-noticia-1701022" TargetMode="External"/><Relationship Id="rId6" Type="http://schemas.openxmlformats.org/officeDocument/2006/relationships/hyperlink" Target="https://www.eltiempo.com/colombia/otras-ciudades/cuantas-replicas-se-han-registrado-tras-el-terremoto-de-7-4-en-colombia-estas-son-todas-las-magnitudes-3577711" TargetMode="External"/><Relationship Id="rId7" Type="http://schemas.openxmlformats.org/officeDocument/2006/relationships/hyperlink" Target="https://www.semana.com/tecnologia/articulo/servicio-geologico-revela-el-numero-total-de-replicas-que-ha-habido-en-colombia-tras-fuerte-terremoto-que-estremecio-al-pais/202641/" TargetMode="External"/><Relationship Id="rId8" Type="http://schemas.openxmlformats.org/officeDocument/2006/relationships/hyperlink" Target="https://www.mofa.go.jp/mofaj/la_c/sa/co/pageit_000001_00001.html" TargetMode="External"/><Relationship Id="rId9" Type="http://schemas.openxmlformats.org/officeDocument/2006/relationships/hyperlink" Target="https://x.com/MofaJapan_jp/status/2087155064855261537" TargetMode="External"/><Relationship Id="rId10" Type="http://schemas.openxmlformats.org/officeDocument/2006/relationships/hyperlink" Target="https://www.eltiempo.com/mundo/mas-regiones/la-comunidad-internacional-se-vuelca-en-ayudas-para-colombia-lista-de-paises-que-han-ofrecido-apoyo-tras-el-terremoto-de-magnitud-7-3577512" TargetMode="External"/><Relationship Id="rId11" Type="http://schemas.openxmlformats.org/officeDocument/2006/relationships/hyperlink" Target="https://colombia.un.org/es/320793-informaci%C3%B3n-y-actualizaciones-sobre-el-terremoto-en-colombia" TargetMode="External"/><Relationship Id="rId12" Type="http://schemas.openxmlformats.org/officeDocument/2006/relationships/hyperlink" Target="https://news.un.org/es/story/2026/08/1541792" TargetMode="External"/><Relationship Id="rId13" Type="http://schemas.openxmlformats.org/officeDocument/2006/relationships/hyperlink" Target="https://www.colombiatebusca.com/" TargetMode="External"/><Relationship Id="rId14" Type="http://schemas.openxmlformats.org/officeDocument/2006/relationships/hyperlink" Target="https://www.asocapitales.co/terremoto-colombia.html" TargetMode="External"/><Relationship Id="rId15" Type="http://schemas.openxmlformats.org/officeDocument/2006/relationships/hyperlink" Target="https://www.infobae.com/colombia/2026/08/12/de-la-espriella-anuncio-alivios-y-subsidios-tras-emergencia-en-el-eje-cafetero-por-el-terremoto-detallo-plan-de-choque-para-educacion-y-vivienda/" TargetMode="External"/><Relationship Id="rId1" Type="http://schemas.openxmlformats.org/officeDocument/2006/relationships/image" Target="../media/image-31-1.png"/><Relationship Id="rId16" Type="http://schemas.openxmlformats.org/officeDocument/2006/relationships/slideLayout" Target="../slideLayouts/slideLayout1.xml"/><Relationship Id="rId1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2-1.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12日08:00（コロンビア時間、日本時間22:00）現在、発災から約48時間後。死者224人以上、負傷2,500人超、生存救出243人、当局への行方不明届195人。これとは別に、市民運営のプラットフォームには未解決の行方不明報告が3,653件ある。両者は別の指標であり、人的被害のページで説明している。すべて速報値。</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対応の時系列（8月10〜12日）（1/3）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対応の時系列（8月10〜12日）（2/3）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夕方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対応の時系列（8月10〜12日）（3/3）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07:31</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日本の高市内閣総理大臣が哀悼とお見舞いを投稿（日本時間21:31）。茂木外務大臣が、哀悼とお見舞いに加え、日本政府として必要とされる支援を提供する用意がある旨、およびコロンビアの人々との強い連帯を表明するメッセージを発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日本（外務省）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OCHAが、人道支援システムはコロンビアを支援する用意があるとし、飲料水、衛生・生活用品、保健、食料、避難所を優先ニーズに挙げる。コロンビア当局からの正式な支援要請は受けていない。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国連／OCHA</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暫定の全国集計は死者224人超、負傷2,500人超となり、279人が病院に搬送、243人が生存救出された。当局への行方不明届は195人。市民プラットフォーム「Colombia te busca」の登録は4,084件で、うち3,653件が未解決。ペレイラでは約300人の救助隊が捜索を継続。チョコ県の多くの地域は依然として船か航空機でしか到達できない。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キブド、カリに続きペレイラ、ドスケブラダス、マニサレス、アルメニアを巡回。被災世帯への公共料金3か月減免、住宅喪失者への家賃補助、教育・住宅の緊急対策を発表。経済緊急事態の政令を準備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4.99 N, 76.29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110.3km（USGS、PAGER第5版）／103km（SGC、8月11日改訂）</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規模はUSGSとSGCで一致。SGCは8月11日14:20 UTCに解を改訂し、深さ103km・119観測点・208フェーズとした。改訂後の位置はUSGSと17km、深さは7kmの差であり、観測点数の増加に伴い両解は近づいた。本報告の震央距離はUSGSの震源位置から計算している。SGCの速報値は今後も変更されうる。</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っていたが、33時間後には報告値が182〜240人となり、PAGERが低いながらも相応の確率を与えていた100〜1,000人の階級に入った。この段階での乖離は通常のことであり、実測が推計に置き換わるにつれて差は縮まる。</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08:18 COT (13:18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10:01 COT (15:01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11 Aug 00:12 / 10:43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M3.6 / M3.9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to 11 Aug 17:24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147 located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SGCカタログ、本震の34時間後まで。M2.0未満60回、M2.0〜2.9が76回、M3.0〜3.9が10回、M4.0〜4.9が1回</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00" dirty="0">
                <a:solidFill>
                  <a:srgbClr val="222222"/>
                </a:solidFill>
                <a:latin typeface="Meiryo" pitchFamily="34" charset="0"/>
                <a:ea typeface="Meiryo" pitchFamily="34" charset="-122"/>
                <a:cs typeface="Meiryo" pitchFamily="34" charset="-120"/>
              </a:rPr>
              <a:t>SGCは本震後34時間で147回の地震を決定した。M4.0を超えたのは44分後のM4.8の1回のみで、92%はM3.0未満である。本震に迫る規模の余震は発生していない。147回のうち96回は深さ60km以上かつ震央から80km以内にあり、この部分がスラブ内地震の余震活動そのものである。その累積曲線はSGC公表の余震回数とよく一致する。残りは同じカタログが記録する背景地震活動であり、カタログの総数が公式の余震回数を上回るのはこのためである。規模が小さく減衰の速い余震活動は、やや深発の地震に想定される経過である。</a:t>
            </a:r>
            <a:endParaRPr lang="en-US" sz="900" dirty="0"/>
          </a:p>
        </p:txBody>
      </p:sp>
      <p:pic>
        <p:nvPicPr>
          <p:cNvPr id="6" name="Image 1" descr="/home/user/whatsmap/reports/colombia_eq_20260810/images/aftershock_counts_ja.png">    </p:cNvPr>
          <p:cNvPicPr>
            <a:picLocks noChangeAspect="1"/>
          </p:cNvPicPr>
          <p:nvPr/>
        </p:nvPicPr>
        <p:blipFill>
          <a:blip r:embed="rId2"/>
          <a:stretch>
            <a:fillRect/>
          </a:stretch>
        </p:blipFill>
        <p:spPr>
          <a:xfrm>
            <a:off x="7636974" y="3200400"/>
            <a:ext cx="3507829"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本震後にSGCが決定した147地震（ADRC作成、SGCカタログによる）</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データ：SGCの地域カタログ抽出（2026年8月10日07:34〜11日17:24、コロンビア時間）。本震を含む148行で、各行にSGCのイベントIDと精査済み（manual）の状態が付されている。本レポート作成者から提供され、本リポジトリに images/sgc_aftershocks.csv として保持している。両パネルはこのファイルから生成しており、図は再現可能で、各地震はIDによりsgc.gov.coで確認できる。この抽出の本震の行（深さ103km、北緯4.99度・西経76.29度）は、8月11日に改訂されたSGCのイベントページと一致しており、抽出全体の妥当性の裏づけとなっている。</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SGC集計：8月11日15:00時点で余震103回</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余震99回とその規模（SGC）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224+</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2,500人超</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行方不明</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195</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暫定の全国集計（8月12日）。負傷者には病院搬送279人を含む。生存救出は243人。住宅は損壊13,067棟・全壊2,501棟（UNGRD、8月11日）。</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66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大統領（8月11日）。県は約90人と報告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チョコ県（キブド）</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キブドでは倒壊した学校の下に子ども4人が行方不明のまま</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2人、4人、5人と推移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グラフは大統領による8月11日の内訳（合計181人）である。8月12日に全国の死者が224人を超えた後は更新されていないため、現在の集計ではなく分布の形として読むべきである。死者はリサラルダ県（ペレイラ）とバジェ・デル・カウカ県（カリ）に集中している。同日のUNGRDは182人、県・市の発表の積み上げは240人であった。カリについては3通りの数値がある。大統領の内訳97人、8月11日の市長発表85人、市当局の被害報告69人（集計時点の記載なし）。</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UNGRD集計：死者182人・負傷2,542人・行方不明189人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大統領の181人は地方集計より59人少ない</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集計：死者132人・負傷570人超（都市別）</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行方不明者：2つの集計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当局への届出</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Meiryo" pitchFamily="34" charset="0"/>
                <a:ea typeface="Meiryo" pitchFamily="34" charset="-122"/>
                <a:cs typeface="Meiryo" pitchFamily="34" charset="-120"/>
              </a:rPr>
              <a:t>195</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市民プラットフォームの未解決</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Meiryo" pitchFamily="34" charset="0"/>
                <a:ea typeface="Meiryo" pitchFamily="34" charset="-122"/>
                <a:cs typeface="Meiryo"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同プラットフォームで確認済み</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Meiryo" pitchFamily="34" charset="0"/>
                <a:ea typeface="Meiryo" pitchFamily="34" charset="-122"/>
                <a:cs typeface="Meiryo"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「行方不明」の2つの数字
</a:t>
            </a:r>
            <a:pPr algn="l" indent="0" marL="0">
              <a:buNone/>
            </a:pPr>
            <a:r>
              <a:rPr lang="en-US" sz="950" dirty="0">
                <a:solidFill>
                  <a:srgbClr val="7A2E0E"/>
                </a:solidFill>
                <a:latin typeface="Meiryo" pitchFamily="34" charset="0"/>
                <a:ea typeface="Meiryo" pitchFamily="34" charset="-122"/>
                <a:cs typeface="Meiryo" pitchFamily="34" charset="-120"/>
              </a:rPr>
              <a:t>195人と3,653人は別の指標であり、どちらも誤りではない。195人は当局が把握する行方不明の届出であり、捜索現場と公式の届出に結び付いているため、1日で6人しか動いていない。3,653人は市民運営のプラットフォーム「Colombia te busca」に家族が登録し、まだ所在が確認できていない人数である。これは国家機関ではなく市民の取り組みで、警察や検察への届出に代わるものではない。重複や、停電・通信途絶の地域で単に連絡が取れないだけの人も含まれる。通信の回復に伴い後者は大きく減り、届出の確認が進むにつれ公式値は増えると見込まれる。行方不明者数として引用すべきは195人であり、3,653人は「まだ安否が分からない世帯の数」を示す指標として読むのが適切である。</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00" dirty="0">
                <a:solidFill>
                  <a:srgbClr val="222222"/>
                </a:solidFill>
                <a:latin typeface="Meiryo" pitchFamily="34" charset="0"/>
                <a:ea typeface="Meiryo" pitchFamily="34" charset="-122"/>
                <a:cs typeface="Meiryo" pitchFamily="34" charset="-120"/>
              </a:rPr>
              <a:t>登録はバジェ・デル・カウカ、リサラルダ、カルダス、チョコの4県に集中しており、死者の分布と同じである。県都市長会Asocapitalesも第2のプラットフォームを開設したため、照会は現在2つの登録簿に分かれている。両者の合計を足し合わせるべきではない。</a:t>
            </a:r>
            <a:endParaRPr lang="en-US" sz="100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busca」市民による行方不明者プラットフォーム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地震の行方不明者検索ツール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カリ市：市当局の被害報告</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サンティアゴ・デ・カリ市職員による。市単位の数値であり、全国集計のある時点の内訳ではない。</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死者</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Meiryo" pitchFamily="34" charset="0"/>
                <a:ea typeface="Meiryo" pitchFamily="34" charset="-122"/>
                <a:cs typeface="Meiryo"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負傷者</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生き埋め</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救出者</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Meiryo" pitchFamily="34" charset="0"/>
                <a:ea typeface="Meiryo" pitchFamily="34" charset="-122"/>
                <a:cs typeface="Meiryo" pitchFamily="34" charset="-120"/>
              </a:rPr>
              <a:t>88</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建物倒壊</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107</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構造的被害のある建物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643</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避難命令の出た建物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生き埋め</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230</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救出された人</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88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死者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負傷者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1,008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カリの他の数値との関係
</a:t>
            </a:r>
            <a:pPr algn="l" indent="0" marL="0">
              <a:buNone/>
            </a:pPr>
            <a:r>
              <a:rPr lang="en-US" sz="950" dirty="0">
                <a:solidFill>
                  <a:srgbClr val="7A2E0E"/>
                </a:solidFill>
                <a:latin typeface="Meiryo" pitchFamily="34" charset="0"/>
                <a:ea typeface="Meiryo" pitchFamily="34" charset="-122"/>
                <a:cs typeface="Meiryo" pitchFamily="34" charset="-120"/>
              </a:rPr>
              <a:t>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a:t>
            </a:r>
            <a:endParaRPr lang="en-US" sz="95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サンティアゴ・デ・カリ市職員より受領（2026年8月12日）</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224人以上（暫定集計、8月12日）。政府値として240人も伝えられている。8月11日のUNGRDは182人、8月10日13:00の政府集計は111人。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暫定の全国集計（8月12日）、UNGRD、大統領府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2,500人超（8月12日）。うち279人が病院・診療所へ搬送。8月11日のUNGRDは2,542人で、8月10日13:00の政府集計の87人から増加。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暫定の全国集計（8月12日）、UNGRD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行方不明（当局への届出）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195人（大統領、8月12日）。前日は189人。キブドでは倒壊した学校の下に子ども4人が不明のまま。</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市民プラットフォーム上の未解決報告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「Colombia te busca」に4,084人が登録され、うち3,653人が未確認、429人が確認済み。バジェ・デル・カウカ、リサラルダ、カルダス、チョコに集中。Asocapitalesも別のプラットフォームを開設。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「Colombia te busca」（市民の取り組み）、Asocapitales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生存救出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243人（8月11日20:00時点）。カリでは発災から約30時間後に女性が、集合住宅からは乳児が救出された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暫定の全国集計（8月12日）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チョコ、リサラルダ、カルダス、バジェ・デル・カウカ、キンディオ、アンティオキアの各県で20市町村超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住宅15,568棟が被害。内訳は損壊13,067棟、全壊2,501棟（UNGRD、8月11日）。8月10日の1,612棟から増加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13,067棟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2,501棟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全国で80棟超（8月11日）。8月10日の61棟から増加。カリ市当局は同市だけで倒壊107棟、構造的被害643棟、避難命令18棟と報告。マニサレスは倒壊17棟・部分倒壊19棟。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報道（8月11日）、UNGRD、カリ市、マニサレス市</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93か所が被害（UNGRD、8月11日）。8月10日の18か所から増加。7施設が閉鎖。カリの大学病院は約30%が崩落し、小児科・内科・新生児室の一部を含む3フロアが被害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884か所が被害（UNGRD、8月11日）。8月10日の52か所から増加。被災各県で学校から避難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427か所が被害（UNGRD、8月11日）。8月10日の17か所から増加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道路77路線が被害（UNGRD、8月11日）。8月10日の18路線から増加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地方6空港が被害、7空港で運航停止。ペレイラのマテカニャ国際空港旅客ターミナルが一部倒壊。ペレイラ、マニサレス、キブド、アルメニア、カルタゴ、ブエナベントゥーラで運航停止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大統領は8月11〜12日に被災地を巡回した。キブド、カリ、続いてペレイラ、ドスケブラダス、マニサレス、アルメニア。ボゴタではなく現地から対応を指揮するとしている。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巡回中に発表された救済措置：被災世帯として登録された者に対する公共料金の3か月間の減免、住宅を失った者への家賃補助、修復に先立つ住宅被害の悉皆調査と類型化、教育・住宅の緊急対策。経済緊急事態の政令を準備中で、国際融資と税制上の軽減措置も検討されている。</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米国：8月10日に緊急支援1,550万米ドルを表明。緊急避難所、食料、保護、被害評価に充てる。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欧州連合：EU市民保護メカニズムを発動し、人道支援として初期額10万ユーロを拠出。すでに現地で活動していたドイツ赤十字を通じて実施される。コペルニクスをコロンビア当局の利用に供し、被災地のEU市民のための領事危機メカニズムも発動した。欧州委員会委員長と上級代表は、必要に応じて追加支援を行う用意があると表明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8月11日21:31（日本時間、現地07:31）、高市早苗内閣総理大臣が「亡くなられた方々に哀悼の誠をささげる」「この困難な時に日本はコロンビアとともにある」と投稿。茂木外務大臣は次のメッセージを発出した。「8月10日にコロンビア共和国で発生した地震に際し、犠牲となられた方々に哀悼の誠を捧げ、被害に遭われた皆様に心からお見舞いを申し上げます。また、日本政府は必要とされる支援を提供する用意があります。日本は、コロンビアの人々との強い連帯を示します。」本稿執筆時点で、国際緊急援助隊の派遣や緊急無償資金協力の決定は公表されていない。</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支援の申し出は、チリ、ペルー、パナマ、アルゼンチン、ブラジル、ベネズエラ、ボリビア、グアテマラ、キューバ、エルサルバドル、スペイン、イタリア、フランス、ドイツ、スイス、イスラエル、ウクライナからも報じられている。内容はUSARチーム、医師・救急救命士、救援物資、衛星観測など。ラテンアメリカ・カリブ開発銀行（CAF）は50万米ドルの拠出を発表し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連：OCHAは、人道支援システムはコロンビアを支援する用意があると表明。初期のニーズ分析では、飲料水、衛生用品・生活用品、保健医療、食料支援、避難所が挙げられている。8月11日時点で、コロンビア当局からの正式な支援要請は国連に届いていない。</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申し出はあるが、コロンビアは要請していない
</a:t>
            </a:r>
            <a:pPr algn="l" indent="0" marL="0">
              <a:buNone/>
            </a:pPr>
            <a:r>
              <a:rPr lang="en-US" sz="950" dirty="0">
                <a:solidFill>
                  <a:srgbClr val="7A2E0E"/>
                </a:solidFill>
                <a:latin typeface="Meiryo" pitchFamily="34" charset="0"/>
                <a:ea typeface="Meiryo" pitchFamily="34" charset="-122"/>
                <a:cs typeface="Meiryo" pitchFamily="34" charset="-120"/>
              </a:rPr>
              <a:t>発災2日目の構図は、多数の申し出と、それを要請に転換していない政府である。8月11日時点で国連には正式な要請が届いておらず、実際に動いた二国間支援は資金（米国1,550万米ドル、EU10万ユーロ、CAF50万米ドル）と、エクアドルのUSARチーム、衛星マッピングである。法1523号の下で対応を指揮するのはコロンビア自身であり、申し出は外務省とUNGRDを通じて受け入れられる。今後の焦点は、捜索救助の作業量——カリだけで生き埋め230人——が国内の対応能力を上回り、この構図が変わるかどうかであ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調査が被害に追いついた分だけ数値は膨れ上がった。48時間で死者は111人から224人以上、負傷者は87人から2,500人超、住宅被害は1,612棟から15,568棟、学校被害は52か所から884か所になった。この急増を引き起こす新たな出来事があったわけではなく、調査隊が未到達地域に入っただけである。チョコ県の多くはなお船か航空機でしか到達できない。初期値の読み方として二つ。初日の数値は災害の規模ではなく調査の到達範囲を表すこと。そして同じ事象に二つの集計がある場合は、比較の前にそれぞれが何を数えているかを確認すべきこと——公式の行方不明者数が189人から195人へ動く一方で、市民プラットフォーム上の家族からの照会は3,653件に達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地震カタログ閲覧（精査済みは2018年2月まで）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有用リンク・出典（4/4）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速報（8月11日、カリの死者85人に）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集計：死者132人・負傷570人超（都市別）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RPP 大統領の181人は地方集計より59人少ない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余震99回とその規模（SGC）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SGC集計：8月11日15:00時点で余震103回</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 コロンビア共和国における地震について（茂木外務大臣メッセージ）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外務省（X）8月11日の投稿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支援を申し出た国の一覧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国連コロンビア 地震に関する情報と更新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国連ニュース 国連がコロンビアに支援を表明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te busca」市民による行方不明者プラットフォーム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地震の行方不明者検索ツール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コーヒー地帯巡回で発表された救済措置と補助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12日08:00（コロンビア時間、日本時間22:00）現在、発災から約48時間後。死者224人以上、負傷2,500人超、生存救出243人、当局への行方不明届195人。これとは別に、市民運営のプラットフォームには未解決の行方不明報告が3,653件ある。両者は別の指標であり、人的被害のページで説明している。すべて速報値。</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2026-08-12T12:35:21Z</dcterms:created>
  <dcterms:modified xsi:type="dcterms:W3CDTF">2026-08-12T12:35:21Z</dcterms:modified>
</cp:coreProperties>
</file>