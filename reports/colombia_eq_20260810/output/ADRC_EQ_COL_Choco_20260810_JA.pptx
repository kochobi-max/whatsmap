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charts/chart1.xml" ContentType="application/vnd.openxmlformats-officedocument.drawingml.chart+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charts/chart2.xml" ContentType="application/vnd.openxmlformats-officedocument.drawingml.chart+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Lst>
  <p:notesMasterIdLst>
    <p:notesMasterId r:id="rId31"/>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notesMaster" Target="notesMasters/notesMaster1.xml"/><Relationship Id="rId32" Type="http://schemas.openxmlformats.org/officeDocument/2006/relationships/presProps" Target="presProps.xml"/><Relationship Id="rId33" Type="http://schemas.openxmlformats.org/officeDocument/2006/relationships/viewProps" Target="viewProps.xml"/><Relationship Id="rId34" Type="http://schemas.openxmlformats.org/officeDocument/2006/relationships/theme" Target="theme/theme1.xml"/><Relationship Id="rId35"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950" b="0" i="0" u="none" strike="noStrike">
                <a:solidFill>
                  <a:srgbClr val="1F3864"/>
                </a:solidFill>
                <a:latin typeface="Arial"/>
              </a:defRPr>
            </a:pPr>
            <a:r>
              <a:rPr sz="950" b="0" i="0" u="none" strike="noStrike">
                <a:solidFill>
                  <a:srgbClr val="1F3864"/>
                </a:solidFill>
                <a:latin typeface="Arial"/>
              </a:rPr>
              <a:t>揺れの強さ別の曝露人口（百万人、USGS PAGER）</a:t>
            </a:r>
          </a:p>
        </c:rich>
      </c:tx>
      <c:layout/>
      <c:overlay val="0"/>
    </c:title>
    <c:autoTitleDeleted val="0"/>
    <c:plotArea>
      <c:layout/>
      <c:barChart>
        <c:barDir val="col"/>
        <c:grouping val="clustered"/>
        <c:varyColors val="0"/>
        <c:ser>
          <c:idx val="0"/>
          <c:order val="0"/>
          <c:tx>
            <c:strRef>
              <c:f>Sheet1!$B$1</c:f>
              <c:strCache>
                <c:ptCount val="1"/>
                <c:pt idx="0">
                  <c:v>曝露人口</c:v>
                </c:pt>
              </c:strCache>
            </c:strRef>
          </c:tx>
          <c:spPr>
            <a:solidFill>
              <a:srgbClr val="2E5496"/>
            </a:solidFill>
            <a:effectLst/>
          </c:spPr>
          <c:invertIfNegative val="0"/>
          <c:dLbls>
            <c:numFmt formatCode="#,##0" sourceLinked="0"/>
            <c:txPr>
              <a:bodyPr/>
              <a:lstStyle/>
              <a:p>
                <a:pPr>
                  <a:defRPr b="0" i="0" strike="noStrike" sz="800" u="none">
                    <a:solidFill>
                      <a:srgbClr val="000000"/>
                    </a:solidFill>
                    <a:latin typeface="Arial"/>
                  </a:defRPr>
                </a:pPr>
              </a:p>
            </c:txPr>
            <c:showLegendKey val="0"/>
            <c:showVal val="1"/>
            <c:showCatName val="0"/>
            <c:showSerName val="0"/>
            <c:showPercent val="0"/>
            <c:showBubbleSize val="0"/>
            <c:showLeaderLines val="0"/>
          </c:dLbls>
          <c:cat>
            <c:multiLvlStrRef>
              <c:f>Sheet1!$A$2:$A$5</c:f>
              <c:multiLvlStrCache>
                <c:ptCount val="4"/>
                <c:lvl>
                  <c:pt idx="0">
                    <c:v>MMI VII</c:v>
                  </c:pt>
                  <c:pt idx="1">
                    <c:v>MMI VI</c:v>
                  </c:pt>
                  <c:pt idx="2">
                    <c:v>MMI V</c:v>
                  </c:pt>
                  <c:pt idx="3">
                    <c:v>MMI IV</c:v>
                  </c:pt>
                </c:lvl>
              </c:multiLvlStrCache>
            </c:multiLvlStrRef>
          </c:cat>
          <c:val>
            <c:numRef>
              <c:f>Sheet1!$B$2:$B$5</c:f>
              <c:numCache>
                <c:formatCode>General</c:formatCode>
                <c:ptCount val="4"/>
                <c:pt idx="0">
                  <c:v>1.6</c:v>
                </c:pt>
                <c:pt idx="1">
                  <c:v>8.9</c:v>
                </c:pt>
                <c:pt idx="2">
                  <c:v>17.1</c:v>
                </c:pt>
                <c:pt idx="3">
                  <c:v>6.5</c:v>
                </c:pt>
              </c:numCache>
            </c:numRef>
          </c:val>
        </c:ser>
        <c:dLbls>
          <c:numFmt formatCode="#,##0" sourceLinked="0"/>
          <c:txPr>
            <a:bodyPr/>
            <a:lstStyle/>
            <a:p>
              <a:pPr>
                <a:defRPr b="0" i="0" strike="noStrike" sz="800" u="none">
                  <a:solidFill>
                    <a:srgbClr val="000000"/>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900" b="0" i="0" u="none" strike="noStrike">
                <a:solidFill>
                  <a:srgbClr val="6A6A6A"/>
                </a:solidFill>
                <a:latin typeface="Arial"/>
              </a:defRPr>
            </a:pPr>
            <a:endParaRPr lang="en-US"/>
          </a:p>
        </c:txPr>
        <c:crossAx val="2094734552"/>
        <c:crosses val="autoZero"/>
        <c:auto val="1"/>
        <c:lblAlgn val="ctr"/>
        <c:noMultiLvlLbl val="1"/>
      </c:catAx>
      <c:valAx>
        <c:axId val="2094734552"/>
        <c:scaling>
          <c:orientation val="minMax"/>
        </c:scaling>
        <c:delete val="0"/>
        <c:axPos val="l"/>
        <c:majorGridlines>
          <c:spPr>
            <a:ln w="6350" cap="flat">
              <a:solidFill>
                <a:srgbClr val="D9D9D9"/>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800" b="0" i="0" u="none" strike="noStrike">
                <a:solidFill>
                  <a:srgbClr val="6A6A6A"/>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050" b="0" i="0" u="none" strike="noStrike">
                <a:solidFill>
                  <a:srgbClr val="1F3864"/>
                </a:solidFill>
                <a:latin typeface="Arial"/>
              </a:defRPr>
            </a:pPr>
            <a:r>
              <a:rPr sz="1050" b="0" i="0" u="none" strike="noStrike">
                <a:solidFill>
                  <a:srgbClr val="1F3864"/>
                </a:solidFill>
                <a:latin typeface="Arial"/>
              </a:rPr>
              <a:t>県別の死者数（暫定）</a:t>
            </a:r>
          </a:p>
        </c:rich>
      </c:tx>
      <c:layout/>
      <c:overlay val="0"/>
    </c:title>
    <c:autoTitleDeleted val="0"/>
    <c:plotArea>
      <c:layout/>
      <c:barChart>
        <c:barDir val="bar"/>
        <c:grouping val="clustered"/>
        <c:varyColors val="0"/>
        <c:ser>
          <c:idx val="0"/>
          <c:order val="0"/>
          <c:tx>
            <c:strRef>
              <c:f>Sheet1!$B$1</c:f>
              <c:strCache>
                <c:ptCount val="1"/>
                <c:pt idx="0">
                  <c:v>死者</c:v>
                </c:pt>
              </c:strCache>
            </c:strRef>
          </c:tx>
          <c:spPr>
            <a:solidFill>
              <a:srgbClr val="C00000"/>
            </a:solidFill>
            <a:effectLst/>
          </c:spPr>
          <c:invertIfNegative val="0"/>
          <c:dLbls>
            <c:numFmt formatCode="#,##0" sourceLinked="0"/>
            <c:txPr>
              <a:bodyPr/>
              <a:lstStyle/>
              <a:p>
                <a:pPr>
                  <a:defRPr b="0" i="0" strike="noStrike" sz="900" u="none">
                    <a:solidFill>
                      <a:srgbClr val="000000"/>
                    </a:solidFill>
                    <a:latin typeface="Arial"/>
                  </a:defRPr>
                </a:pPr>
              </a:p>
            </c:txPr>
            <c:showLegendKey val="0"/>
            <c:showVal val="1"/>
            <c:showCatName val="0"/>
            <c:showSerName val="0"/>
            <c:showPercent val="0"/>
            <c:showBubbleSize val="0"/>
            <c:showLeaderLines val="0"/>
          </c:dLbls>
          <c:cat>
            <c:multiLvlStrRef>
              <c:f>Sheet1!$A$2:$A$6</c:f>
              <c:multiLvlStrCache>
                <c:ptCount val="5"/>
                <c:lvl>
                  <c:pt idx="0">
                    <c:v>バジェ・デル・カウカ県（カリ）</c:v>
                  </c:pt>
                  <c:pt idx="1">
                    <c:v>リサラルダ県（ペレイラ）</c:v>
                  </c:pt>
                  <c:pt idx="2">
                    <c:v>チョコ県（キブド）</c:v>
                  </c:pt>
                  <c:pt idx="3">
                    <c:v>カルダス県（マニサレス）</c:v>
                  </c:pt>
                  <c:pt idx="4">
                    <c:v>アンティオキア県</c:v>
                  </c:pt>
                </c:lvl>
              </c:multiLvlStrCache>
            </c:multiLvlStrRef>
          </c:cat>
          <c:val>
            <c:numRef>
              <c:f>Sheet1!$B$2:$B$6</c:f>
              <c:numCache>
                <c:formatCode>General</c:formatCode>
                <c:ptCount val="5"/>
                <c:pt idx="0">
                  <c:v>97</c:v>
                </c:pt>
                <c:pt idx="1">
                  <c:v>66</c:v>
                </c:pt>
                <c:pt idx="2">
                  <c:v>9</c:v>
                </c:pt>
                <c:pt idx="3">
                  <c:v>5</c:v>
                </c:pt>
                <c:pt idx="4">
                  <c:v>1</c:v>
                </c:pt>
              </c:numCache>
            </c:numRef>
          </c:val>
        </c:ser>
        <c:dLbls>
          <c:numFmt formatCode="#,##0" sourceLinked="0"/>
          <c:txPr>
            <a:bodyPr/>
            <a:lstStyle/>
            <a:p>
              <a:pPr>
                <a:defRPr b="0" i="0" strike="noStrike" sz="900" u="none">
                  <a:solidFill>
                    <a:srgbClr val="000000"/>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800" b="0" i="0" u="none" strike="noStrike">
                <a:solidFill>
                  <a:srgbClr val="222222"/>
                </a:solidFill>
                <a:latin typeface="Arial"/>
              </a:defRPr>
            </a:pPr>
            <a:endParaRPr lang="en-US"/>
          </a:p>
        </c:txPr>
        <c:crossAx val="2094734552"/>
        <c:crosses val="autoZero"/>
        <c:auto val="1"/>
        <c:lblAlgn val="ctr"/>
        <c:noMultiLvlLbl val="1"/>
      </c:catAx>
      <c:valAx>
        <c:axId val="2094734552"/>
        <c:scaling>
          <c:orientation val="minMax"/>
        </c:scaling>
        <c:delete val="0"/>
        <c:axPos val="b"/>
        <c:majorGridlines>
          <c:spPr>
            <a:ln w="6350" cap="flat">
              <a:solidFill>
                <a:srgbClr val="D9D9D9"/>
              </a:solidFill>
              <a:prstDash val="solid"/>
              <a:round/>
            </a:ln>
          </c:spPr>
        </c:majorGridlines>
        <c:numFmt formatCode="General" sourceLinked="0"/>
        <c:majorTickMark val="out"/>
        <c:minorTickMark val="none"/>
        <c:tickLblPos val="low"/>
        <c:spPr>
          <a:ln w="12700" cap="flat">
            <a:solidFill>
              <a:srgbClr val="888888"/>
            </a:solidFill>
            <a:prstDash val="solid"/>
            <a:round/>
          </a:ln>
        </c:spPr>
        <c:txPr>
          <a:bodyPr/>
          <a:lstStyle/>
          <a:p>
            <a:pPr>
              <a:defRPr sz="800" b="0" i="0" u="none" strike="noStrike">
                <a:solidFill>
                  <a:srgbClr val="6A6A6A"/>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5" Type="http://schemas.openxmlformats.org/officeDocument/2006/relationships/hyperlink" Target="https://earthquake.usgs.gov/earthquakes/eventpage/us6000tjl2/executive" TargetMode="External"/><Relationship Id="rId6" Type="http://schemas.openxmlformats.org/officeDocument/2006/relationships/hyperlink" Target="https://www.sgc.gov.co/detallesismo/SGC2026pqqmro/" TargetMode="External"/><Relationship Id="rId7" Type="http://schemas.openxmlformats.org/officeDocument/2006/relationships/hyperlink" Target="https://portal.gestiondelriesgo.gov.co/" TargetMode="External"/><Relationship Id="rId8" Type="http://schemas.openxmlformats.org/officeDocument/2006/relationships/hyperlink" Target="https://www.google.com/maps/" TargetMode="External"/><Relationship Id="rId1" Type="http://schemas.openxmlformats.org/officeDocument/2006/relationships/image" Target="../media/image-1-1.png"/><Relationship Id="rId2" Type="http://schemas.openxmlformats.org/officeDocument/2006/relationships/image" Target="../media/image-1-2.jpg"/><Relationship Id="rId3" Type="http://schemas.openxmlformats.org/officeDocument/2006/relationships/image" Target="../media/image-1-3.jpg"/><Relationship Id="rId4" Type="http://schemas.openxmlformats.org/officeDocument/2006/relationships/image" Target="../media/image-1-4.jpg"/><Relationship Id="rId9" Type="http://schemas.openxmlformats.org/officeDocument/2006/relationships/slideLayout" Target="../slideLayouts/slideLayout1.xml"/><Relationship Id="rId10"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4" Type="http://schemas.openxmlformats.org/officeDocument/2006/relationships/hyperlink" Target="https://earthquake.usgs.gov/earthquakes/eventpage/us6000tjl2/executive" TargetMode="External"/><Relationship Id="rId5" Type="http://schemas.openxmlformats.org/officeDocument/2006/relationships/hyperlink" Target="https://www.sgc.gov.co/detallesismo/SGC2026pqqmro/" TargetMode="External"/><Relationship Id="rId6" Type="http://schemas.openxmlformats.org/officeDocument/2006/relationships/hyperlink" Target="https://gdacs.org/report.aspx?eventid=1557236&amp;eventtype=EQ" TargetMode="External"/><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7" Type="http://schemas.openxmlformats.org/officeDocument/2006/relationships/slideLayout" Target="../slideLayouts/slideLayout1.xml"/><Relationship Id="rId8"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2" Type="http://schemas.openxmlformats.org/officeDocument/2006/relationships/hyperlink" Target="https://portal.gestiondelriesgo.gov.co/" TargetMode="External"/><Relationship Id="rId3" Type="http://schemas.openxmlformats.org/officeDocument/2006/relationships/hyperlink" Target="https://colombiaone.com/2026/08/10/colombia-national-disaster/" TargetMode="External"/><Relationship Id="rId4" Type="http://schemas.openxmlformats.org/officeDocument/2006/relationships/hyperlink" Target="https://www.france24.com/en/americas/20260810-powerful-quake-rocks-colombia-causing-major-damage" TargetMode="External"/><Relationship Id="rId1" Type="http://schemas.openxmlformats.org/officeDocument/2006/relationships/image" Target="../media/image-3-1.png"/><Relationship Id="rId5" Type="http://schemas.openxmlformats.org/officeDocument/2006/relationships/slideLayout" Target="../slideLayouts/slideLayout1.xml"/><Relationship Id="rId6"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2" Type="http://schemas.openxmlformats.org/officeDocument/2006/relationships/hyperlink" Target="https://earthquake.usgs.gov/earthquakes/eventpage/us6000tjl2/executive" TargetMode="External"/><Relationship Id="rId3" Type="http://schemas.openxmlformats.org/officeDocument/2006/relationships/hyperlink" Target="https://portal.gestiondelriesgo.gov.co/" TargetMode="External"/><Relationship Id="rId4" Type="http://schemas.openxmlformats.org/officeDocument/2006/relationships/hyperlink" Target="https://www.cnn.com/2026/08/10/world/live-news/colombia-earthquake-san-jose-del-palmar" TargetMode="External"/><Relationship Id="rId5" Type="http://schemas.openxmlformats.org/officeDocument/2006/relationships/hyperlink" Target="https://colombiaone.com/2026/08/10/earthquake-colombia-official-details/" TargetMode="External"/><Relationship Id="rId1" Type="http://schemas.openxmlformats.org/officeDocument/2006/relationships/image" Target="../media/image-4-1.png"/><Relationship Id="rId6" Type="http://schemas.openxmlformats.org/officeDocument/2006/relationships/slideLayout" Target="../slideLayouts/slideLayout1.xml"/><Relationship Id="rId7"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2" Type="http://schemas.openxmlformats.org/officeDocument/2006/relationships/hyperlink" Target="https://earthquake.usgs.gov/earthquakes/eventpage/us6000tjl2/executive" TargetMode="External"/><Relationship Id="rId3" Type="http://schemas.openxmlformats.org/officeDocument/2006/relationships/hyperlink" Target="https://portal.gestiondelriesgo.gov.co/" TargetMode="External"/><Relationship Id="rId4" Type="http://schemas.openxmlformats.org/officeDocument/2006/relationships/hyperlink" Target="https://www.cnn.com/2026/08/10/world/live-news/colombia-earthquake-san-jose-del-palmar" TargetMode="External"/><Relationship Id="rId5" Type="http://schemas.openxmlformats.org/officeDocument/2006/relationships/hyperlink" Target="https://colombiaone.com/2026/08/10/earthquake-colombia-official-details/" TargetMode="External"/><Relationship Id="rId1" Type="http://schemas.openxmlformats.org/officeDocument/2006/relationships/image" Target="../media/image-5-1.png"/><Relationship Id="rId6" Type="http://schemas.openxmlformats.org/officeDocument/2006/relationships/slideLayout" Target="../slideLayouts/slideLayout1.xml"/><Relationship Id="rId7"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2" Type="http://schemas.openxmlformats.org/officeDocument/2006/relationships/hyperlink" Target="https://earthquake.usgs.gov/earthquakes/eventpage/us6000tjl2/executive" TargetMode="External"/><Relationship Id="rId3" Type="http://schemas.openxmlformats.org/officeDocument/2006/relationships/hyperlink" Target="https://portal.gestiondelriesgo.gov.co/" TargetMode="External"/><Relationship Id="rId4" Type="http://schemas.openxmlformats.org/officeDocument/2006/relationships/hyperlink" Target="https://www.cnn.com/2026/08/10/world/live-news/colombia-earthquake-san-jose-del-palmar" TargetMode="External"/><Relationship Id="rId5" Type="http://schemas.openxmlformats.org/officeDocument/2006/relationships/hyperlink" Target="https://colombiaone.com/2026/08/10/earthquake-colombia-official-details/" TargetMode="External"/><Relationship Id="rId1" Type="http://schemas.openxmlformats.org/officeDocument/2006/relationships/image" Target="../media/image-6-1.png"/><Relationship Id="rId6" Type="http://schemas.openxmlformats.org/officeDocument/2006/relationships/slideLayout" Target="../slideLayouts/slideLayout1.xml"/><Relationship Id="rId7"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3" Type="http://schemas.openxmlformats.org/officeDocument/2006/relationships/hyperlink" Target="https://portal.gestiondelriesgo.gov.co/" TargetMode="External"/><Relationship Id="rId4" Type="http://schemas.openxmlformats.org/officeDocument/2006/relationships/hyperlink" Target="https://colombiaone.com/2026/08/10/earthquake-colombia-official-details/" TargetMode="External"/><Relationship Id="rId5" Type="http://schemas.openxmlformats.org/officeDocument/2006/relationships/hyperlink" Target="https://www.cbsnews.com/news/colombia-earthquake-western-region-evacuations/" TargetMode="External"/><Relationship Id="rId1" Type="http://schemas.openxmlformats.org/officeDocument/2006/relationships/image" Target="../media/image-7-1.png"/><Relationship Id="rId2" Type="http://schemas.openxmlformats.org/officeDocument/2006/relationships/image" Target="../media/image-7-2.png"/><Relationship Id="rId6" Type="http://schemas.openxmlformats.org/officeDocument/2006/relationships/slideLayout" Target="../slideLayouts/slideLayout1.xml"/><Relationship Id="rId7"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4" Type="http://schemas.openxmlformats.org/officeDocument/2006/relationships/hyperlink" Target="https://earthquake.usgs.gov/earthquakes/eventpage/us6000tjl2/executive" TargetMode="External"/><Relationship Id="rId5" Type="http://schemas.openxmlformats.org/officeDocument/2006/relationships/hyperlink" Target="https://www.sgc.gov.co/detallesismo/SGC2026pqqmro/" TargetMode="External"/><Relationship Id="rId6" Type="http://schemas.openxmlformats.org/officeDocument/2006/relationships/hyperlink" Target="https://gdacs.org/report.aspx?eventid=1557236&amp;eventtype=EQ" TargetMode="External"/><Relationship Id="rId3" Type="http://schemas.openxmlformats.org/officeDocument/2006/relationships/chart" Target="/ppt/charts/chart1.xml"/><Relationship Id="rId1" Type="http://schemas.openxmlformats.org/officeDocument/2006/relationships/image" Target="../media/image-8-1.png"/><Relationship Id="rId2" Type="http://schemas.openxmlformats.org/officeDocument/2006/relationships/image" Target="../media/image-8-2.png"/><Relationship Id="rId7" Type="http://schemas.openxmlformats.org/officeDocument/2006/relationships/slideLayout" Target="../slideLayouts/slideLayout1.xml"/><Relationship Id="rId8"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3" Type="http://schemas.openxmlformats.org/officeDocument/2006/relationships/hyperlink" Target="https://www.sgc.gov.co/detallesismo/SGC2026pqqmro/mmi" TargetMode="External"/><Relationship Id="rId4" Type="http://schemas.openxmlformats.org/officeDocument/2006/relationships/hyperlink" Target="https://www.sgc.gov.co/detallesismo/SGC2026pqqmro/mmi" TargetMode="External"/><Relationship Id="rId5" Type="http://schemas.openxmlformats.org/officeDocument/2006/relationships/hyperlink" Target="https://www.sgc.gov.co/detallesismo/SGC2026pqqmro/" TargetMode="External"/><Relationship Id="rId6" Type="http://schemas.openxmlformats.org/officeDocument/2006/relationships/hyperlink" Target="https://earthquake.usgs.gov/earthquakes/eventpage/us6000tjl2/executive" TargetMode="External"/><Relationship Id="rId1" Type="http://schemas.openxmlformats.org/officeDocument/2006/relationships/image" Target="../media/image-9-1.png"/><Relationship Id="rId2" Type="http://schemas.openxmlformats.org/officeDocument/2006/relationships/image" Target="../media/image-9-2.jpg"/><Relationship Id="rId7" Type="http://schemas.openxmlformats.org/officeDocument/2006/relationships/slideLayout" Target="../slideLayouts/slideLayout1.xml"/><Relationship Id="rId8"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3" Type="http://schemas.openxmlformats.org/officeDocument/2006/relationships/hyperlink" Target="https://earthquake.usgs.gov/earthquakes/eventpage/us6000tjl2/pager" TargetMode="External"/><Relationship Id="rId4" Type="http://schemas.openxmlformats.org/officeDocument/2006/relationships/hyperlink" Target="https://earthquake.usgs.gov/earthquakes/eventpage/us6000tjl2/executive" TargetMode="External"/><Relationship Id="rId5" Type="http://schemas.openxmlformats.org/officeDocument/2006/relationships/hyperlink" Target="https://gdacs.org/report.aspx?eventid=1557236&amp;eventtype=EQ" TargetMode="External"/><Relationship Id="rId1" Type="http://schemas.openxmlformats.org/officeDocument/2006/relationships/image" Target="../media/image-10-1.png"/><Relationship Id="rId2" Type="http://schemas.openxmlformats.org/officeDocument/2006/relationships/image" Target="../media/image-10-2.jpg"/><Relationship Id="rId6" Type="http://schemas.openxmlformats.org/officeDocument/2006/relationships/slideLayout" Target="../slideLayouts/slideLayout1.xml"/><Relationship Id="rId7"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3" Type="http://schemas.openxmlformats.org/officeDocument/2006/relationships/hyperlink" Target="https://www.sgc.gov.co/" TargetMode="External"/><Relationship Id="rId4" Type="http://schemas.openxmlformats.org/officeDocument/2006/relationships/hyperlink" Target="https://www.semana.com/tecnologia/articulo/servicio-geologico-revela-el-numero-total-de-replicas-que-ha-habido-en-colombia-tras-fuerte-terremoto-que-estremecio-al-pais/202641/" TargetMode="External"/><Relationship Id="rId5" Type="http://schemas.openxmlformats.org/officeDocument/2006/relationships/hyperlink" Target="https://www.eltiempo.com/colombia/otras-ciudades/cuantas-replicas-se-han-registrado-tras-el-terremoto-de-7-4-en-colombia-estas-son-todas-las-magnitudes-3577711" TargetMode="External"/><Relationship Id="rId6" Type="http://schemas.openxmlformats.org/officeDocument/2006/relationships/hyperlink" Target="https://earthquake.usgs.gov/earthquakes/eventpage/us6000tjl2/executive" TargetMode="External"/><Relationship Id="rId1" Type="http://schemas.openxmlformats.org/officeDocument/2006/relationships/image" Target="../media/image-11-1.png"/><Relationship Id="rId2" Type="http://schemas.openxmlformats.org/officeDocument/2006/relationships/image" Target="../media/image-11-2.png"/><Relationship Id="rId7" Type="http://schemas.openxmlformats.org/officeDocument/2006/relationships/slideLayout" Target="../slideLayouts/slideLayout1.xml"/><Relationship Id="rId8"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3" Type="http://schemas.openxmlformats.org/officeDocument/2006/relationships/hyperlink" Target="https://www.noticiascaracol.com/colombia/en-vivo-colombia-hoy-tras-terremoto-de-magnitud-7-4-continuan-las-labores-de-rescate-so35" TargetMode="External"/><Relationship Id="rId4" Type="http://schemas.openxmlformats.org/officeDocument/2006/relationships/hyperlink" Target="https://rpp.pe/mundo/colombia/abelardo-de-la-espriella-cifra-en-181-los-muertos-por-el-terremoto-59-menos-que-datos-regionales-noticia-1701022" TargetMode="External"/><Relationship Id="rId5" Type="http://schemas.openxmlformats.org/officeDocument/2006/relationships/hyperlink" Target="https://www.eltiempo.com/colombia/otras-ciudades/terremoto-en-colombia-de-7-4-en-vivo-el-comandante-del-ejercito-nacional-se-encuentra-en-choco-coordinando-las-labores-de-atencion-de-la-emergencia-3577491" TargetMode="External"/><Relationship Id="rId6" Type="http://schemas.openxmlformats.org/officeDocument/2006/relationships/hyperlink" Target="https://www.elespectador.com/colombia/mas-regiones/temblor-en-colombia-hoy-10-de-agosto-en-vivo-epicentro-y-reporte-de-afectaciones/" TargetMode="External"/><Relationship Id="rId2" Type="http://schemas.openxmlformats.org/officeDocument/2006/relationships/chart" Target="/ppt/charts/chart2.xml"/><Relationship Id="rId1" Type="http://schemas.openxmlformats.org/officeDocument/2006/relationships/image" Target="../media/image-12-1.png"/><Relationship Id="rId7" Type="http://schemas.openxmlformats.org/officeDocument/2006/relationships/slideLayout" Target="../slideLayouts/slideLayout1.xml"/><Relationship Id="rId8"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2" Type="http://schemas.openxmlformats.org/officeDocument/2006/relationships/hyperlink" Target="https://www.cali.gov.co/gestiondelriesgo/" TargetMode="External"/><Relationship Id="rId3" Type="http://schemas.openxmlformats.org/officeDocument/2006/relationships/hyperlink" Target="https://www.eltiempo.com/colombia/otras-ciudades/terremoto-en-colombia-de-7-4-en-vivo-el-comandante-del-ejercito-nacional-se-encuentra-en-choco-coordinando-las-labores-de-atencion-de-la-emergencia-3577491" TargetMode="External"/><Relationship Id="rId4" Type="http://schemas.openxmlformats.org/officeDocument/2006/relationships/hyperlink" Target="https://portal.gestiondelriesgo.gov.co/" TargetMode="External"/><Relationship Id="rId1" Type="http://schemas.openxmlformats.org/officeDocument/2006/relationships/image" Target="../media/image-13-1.png"/><Relationship Id="rId5" Type="http://schemas.openxmlformats.org/officeDocument/2006/relationships/slideLayout" Target="../slideLayouts/slideLayout1.xml"/><Relationship Id="rId6"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2" Type="http://schemas.openxmlformats.org/officeDocument/2006/relationships/hyperlink" Target="https://portal.gestiondelriesgo.gov.co/" TargetMode="External"/><Relationship Id="rId3" Type="http://schemas.openxmlformats.org/officeDocument/2006/relationships/hyperlink" Target="https://colombiaone.com/2026/08/10/earthquake-colombia-official-details/" TargetMode="External"/><Relationship Id="rId4" Type="http://schemas.openxmlformats.org/officeDocument/2006/relationships/hyperlink" Target="https://www.cnn.com/2026/08/10/world/live-news/colombia-earthquake-san-jose-del-palmar" TargetMode="External"/><Relationship Id="rId1" Type="http://schemas.openxmlformats.org/officeDocument/2006/relationships/image" Target="../media/image-14-1.png"/><Relationship Id="rId5" Type="http://schemas.openxmlformats.org/officeDocument/2006/relationships/slideLayout" Target="../slideLayouts/slideLayout1.xml"/><Relationship Id="rId6"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2" Type="http://schemas.openxmlformats.org/officeDocument/2006/relationships/hyperlink" Target="https://portal.gestiondelriesgo.gov.co/" TargetMode="External"/><Relationship Id="rId3" Type="http://schemas.openxmlformats.org/officeDocument/2006/relationships/hyperlink" Target="https://colombiaone.com/2026/08/10/earthquake-colombia-official-details/" TargetMode="External"/><Relationship Id="rId4" Type="http://schemas.openxmlformats.org/officeDocument/2006/relationships/hyperlink" Target="https://www.cnn.com/2026/08/10/world/live-news/colombia-earthquake-san-jose-del-palmar" TargetMode="External"/><Relationship Id="rId1" Type="http://schemas.openxmlformats.org/officeDocument/2006/relationships/image" Target="../media/image-15-1.png"/><Relationship Id="rId5" Type="http://schemas.openxmlformats.org/officeDocument/2006/relationships/slideLayout" Target="../slideLayouts/slideLayout1.xml"/><Relationship Id="rId6"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3" Type="http://schemas.openxmlformats.org/officeDocument/2006/relationships/hyperlink" Target="https://portal.gestiondelriesgo.gov.co/" TargetMode="External"/><Relationship Id="rId5" Type="http://schemas.openxmlformats.org/officeDocument/2006/relationships/hyperlink" Target="https://www.cali.gov.co/gestiondelriesgo/" TargetMode="External"/><Relationship Id="rId6" Type="http://schemas.openxmlformats.org/officeDocument/2006/relationships/hyperlink" Target="https://portal.gestiondelriesgo.gov.co/" TargetMode="External"/><Relationship Id="rId7" Type="http://schemas.openxmlformats.org/officeDocument/2006/relationships/hyperlink" Target="https://colombiaone.com/2026/08/10/colombia-national-disaster/" TargetMode="External"/><Relationship Id="rId8" Type="http://schemas.openxmlformats.org/officeDocument/2006/relationships/hyperlink" Target="https://www.preventionweb.net/publication/colombia-plan-nacional-de-gestion-del-riesgo-de-desastres-pngrd-2015-2030" TargetMode="External"/><Relationship Id="rId1" Type="http://schemas.openxmlformats.org/officeDocument/2006/relationships/image" Target="../media/image-16-1.png"/><Relationship Id="rId2" Type="http://schemas.openxmlformats.org/officeDocument/2006/relationships/image" Target="../media/image-16-2.jpg"/><Relationship Id="rId4" Type="http://schemas.openxmlformats.org/officeDocument/2006/relationships/image" Target="../media/image-16-3.jpg"/><Relationship Id="rId9" Type="http://schemas.openxmlformats.org/officeDocument/2006/relationships/slideLayout" Target="../slideLayouts/slideLayout1.xml"/><Relationship Id="rId10"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2" Type="http://schemas.openxmlformats.org/officeDocument/2006/relationships/hyperlink" Target="https://disasterscharter.org/activations" TargetMode="External"/><Relationship Id="rId3" Type="http://schemas.openxmlformats.org/officeDocument/2006/relationships/hyperlink" Target="https://mapping.emergency.copernicus.eu/activations/EMSR916/" TargetMode="External"/><Relationship Id="rId4" Type="http://schemas.openxmlformats.org/officeDocument/2006/relationships/hyperlink" Target="https://reliefweb.int/country/col" TargetMode="External"/><Relationship Id="rId1" Type="http://schemas.openxmlformats.org/officeDocument/2006/relationships/image" Target="../media/image-17-1.png"/><Relationship Id="rId5" Type="http://schemas.openxmlformats.org/officeDocument/2006/relationships/slideLayout" Target="../slideLayouts/slideLayout1.xml"/><Relationship Id="rId6"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2" Type="http://schemas.openxmlformats.org/officeDocument/2006/relationships/hyperlink" Target="https://disasterscharter.org/activations" TargetMode="External"/><Relationship Id="rId3" Type="http://schemas.openxmlformats.org/officeDocument/2006/relationships/hyperlink" Target="https://mapping.emergency.copernicus.eu/activations/EMSR916/" TargetMode="External"/><Relationship Id="rId4" Type="http://schemas.openxmlformats.org/officeDocument/2006/relationships/hyperlink" Target="https://gdacs.org/report.aspx?eventid=1557236&amp;eventtype=EQ" TargetMode="External"/><Relationship Id="rId1" Type="http://schemas.openxmlformats.org/officeDocument/2006/relationships/image" Target="../media/image-18-1.png"/><Relationship Id="rId5" Type="http://schemas.openxmlformats.org/officeDocument/2006/relationships/slideLayout" Target="../slideLayouts/slideLayout1.xml"/><Relationship Id="rId6"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3" Type="http://schemas.openxmlformats.org/officeDocument/2006/relationships/hyperlink" Target="https://mapping.emergency.copernicus.eu/activations/EMSR916/" TargetMode="External"/><Relationship Id="rId4" Type="http://schemas.openxmlformats.org/officeDocument/2006/relationships/hyperlink" Target="https://mapping.emergency.copernicus.eu/activations/EMSR916/" TargetMode="External"/><Relationship Id="rId5" Type="http://schemas.openxmlformats.org/officeDocument/2006/relationships/hyperlink" Target="https://www.democrata.es/en/international/von-der-leyen-expresses-the-eu-s-support-for-colombia-and-activates-copernicus-after-the-earthquake/" TargetMode="External"/><Relationship Id="rId1" Type="http://schemas.openxmlformats.org/officeDocument/2006/relationships/image" Target="../media/image-19-1.png"/><Relationship Id="rId2" Type="http://schemas.openxmlformats.org/officeDocument/2006/relationships/image" Target="../media/image-19-2.jpg"/><Relationship Id="rId6" Type="http://schemas.openxmlformats.org/officeDocument/2006/relationships/slideLayout" Target="../slideLayouts/slideLayout1.xml"/><Relationship Id="rId7"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2" Type="http://schemas.openxmlformats.org/officeDocument/2006/relationships/hyperlink" Target="https://un-spider.org/national-unit-disaster-risk-management-ungrd-colombia" TargetMode="External"/><Relationship Id="rId3" Type="http://schemas.openxmlformats.org/officeDocument/2006/relationships/hyperlink" Target="https://portal.gestiondelriesgo.gov.co/Paginas/Plan-Nacional-de-Gestion-del-Riesgo.aspx" TargetMode="External"/><Relationship Id="rId4" Type="http://schemas.openxmlformats.org/officeDocument/2006/relationships/hyperlink" Target="https://www.funcionpublica.gov.co/eva/gestornormativo/norma.php?i=191411" TargetMode="External"/><Relationship Id="rId5" Type="http://schemas.openxmlformats.org/officeDocument/2006/relationships/hyperlink" Target="https://satic.cali.gov.co/satic" TargetMode="External"/><Relationship Id="rId1" Type="http://schemas.openxmlformats.org/officeDocument/2006/relationships/image" Target="../media/image-20-1.png"/><Relationship Id="rId6" Type="http://schemas.openxmlformats.org/officeDocument/2006/relationships/slideLayout" Target="../slideLayouts/slideLayout1.xml"/><Relationship Id="rId7"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2" Type="http://schemas.openxmlformats.org/officeDocument/2006/relationships/hyperlink" Target="https://www.globalquakemodel.org/seismic-regulations/colombia" TargetMode="External"/><Relationship Id="rId3" Type="http://schemas.openxmlformats.org/officeDocument/2006/relationships/hyperlink" Target="https://www.preventionweb.net/publication/colombia-plan-nacional-de-gestion-del-riesgo-de-desastres-pngrd-2015-2030" TargetMode="External"/><Relationship Id="rId1" Type="http://schemas.openxmlformats.org/officeDocument/2006/relationships/image" Target="../media/image-21-1.png"/><Relationship Id="rId4" Type="http://schemas.openxmlformats.org/officeDocument/2006/relationships/slideLayout" Target="../slideLayouts/slideLayout1.xml"/><Relationship Id="rId5"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2" Type="http://schemas.openxmlformats.org/officeDocument/2006/relationships/hyperlink" Target="https://www.globalquakemodel.org/proj/treq" TargetMode="External"/><Relationship Id="rId3" Type="http://schemas.openxmlformats.org/officeDocument/2006/relationships/hyperlink" Target="https://cloud-storage.globalquakemodel.org/public/wix-new-website/pdf-collections-wix/publications/TREQ%20deliverables/reports/TREQ_D262_Riesgo_Sismico_Cali_v1.00.pdf" TargetMode="External"/><Relationship Id="rId4" Type="http://schemas.openxmlformats.org/officeDocument/2006/relationships/hyperlink" Target="https://www.cali.gov.co/gestiondelriesgo/" TargetMode="External"/><Relationship Id="rId1" Type="http://schemas.openxmlformats.org/officeDocument/2006/relationships/image" Target="../media/image-22-1.png"/><Relationship Id="rId5" Type="http://schemas.openxmlformats.org/officeDocument/2006/relationships/slideLayout" Target="../slideLayouts/slideLayout1.xml"/><Relationship Id="rId6"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3" Type="http://schemas.openxmlformats.org/officeDocument/2006/relationships/hyperlink" Target="https://github.com/gem/treq-riesgo-urbano" TargetMode="External"/><Relationship Id="rId4" Type="http://schemas.openxmlformats.org/officeDocument/2006/relationships/hyperlink" Target="https://cloud-storage.globalquakemodel.org/public/wix-new-website/pdf-collections-wix/publications/TREQ%20deliverables/reports/TREQ_D262_Riesgo_Sismico_Cali_v1.00.pdf" TargetMode="External"/><Relationship Id="rId5" Type="http://schemas.openxmlformats.org/officeDocument/2006/relationships/hyperlink" Target="https://www.globalquakemodel.org/proj/treq" TargetMode="External"/><Relationship Id="rId1" Type="http://schemas.openxmlformats.org/officeDocument/2006/relationships/image" Target="../media/image-23-1.png"/><Relationship Id="rId2" Type="http://schemas.openxmlformats.org/officeDocument/2006/relationships/image" Target="../media/image-23-2.jpg"/><Relationship Id="rId6" Type="http://schemas.openxmlformats.org/officeDocument/2006/relationships/slideLayout" Target="../slideLayouts/slideLayout1.xml"/><Relationship Id="rId7"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3" Type="http://schemas.openxmlformats.org/officeDocument/2006/relationships/hyperlink" Target="https://amenazasismica.sgc.gov.co/" TargetMode="External"/><Relationship Id="rId4" Type="http://schemas.openxmlformats.org/officeDocument/2006/relationships/hyperlink" Target="https://earthquake.usgs.gov/earthquakes/eventpage/us6000tjl2/executive" TargetMode="External"/><Relationship Id="rId5" Type="http://schemas.openxmlformats.org/officeDocument/2006/relationships/hyperlink" Target="https://www.sgc.gov.co/" TargetMode="External"/><Relationship Id="rId6" Type="http://schemas.openxmlformats.org/officeDocument/2006/relationships/hyperlink" Target="https://www.globalquakemodel.org/proj/treq" TargetMode="External"/><Relationship Id="rId1" Type="http://schemas.openxmlformats.org/officeDocument/2006/relationships/image" Target="../media/image-24-1.png"/><Relationship Id="rId2" Type="http://schemas.openxmlformats.org/officeDocument/2006/relationships/image" Target="../media/image-24-2.jpg"/><Relationship Id="rId7" Type="http://schemas.openxmlformats.org/officeDocument/2006/relationships/slideLayout" Target="../slideLayouts/slideLayout1.xml"/><Relationship Id="rId8"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2" Type="http://schemas.openxmlformats.org/officeDocument/2006/relationships/hyperlink" Target="https://portal.gestiondelriesgo.gov.co/" TargetMode="External"/><Relationship Id="rId3" Type="http://schemas.openxmlformats.org/officeDocument/2006/relationships/hyperlink" Target="https://earthquake.usgs.gov/earthquakes/eventpage/us6000tjl2/executive" TargetMode="External"/><Relationship Id="rId4" Type="http://schemas.openxmlformats.org/officeDocument/2006/relationships/hyperlink" Target="https://reliefweb.int/country/col" TargetMode="External"/><Relationship Id="rId1" Type="http://schemas.openxmlformats.org/officeDocument/2006/relationships/image" Target="../media/image-25-1.png"/><Relationship Id="rId5" Type="http://schemas.openxmlformats.org/officeDocument/2006/relationships/slideLayout" Target="../slideLayouts/slideLayout1.xml"/><Relationship Id="rId6"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2" Type="http://schemas.openxmlformats.org/officeDocument/2006/relationships/hyperlink" Target="https://earthquake.usgs.gov/earthquakes/eventpage/us6000tjl2/executive" TargetMode="External"/><Relationship Id="rId3" Type="http://schemas.openxmlformats.org/officeDocument/2006/relationships/hyperlink" Target="https://www.sgc.gov.co/" TargetMode="External"/><Relationship Id="rId4" Type="http://schemas.openxmlformats.org/officeDocument/2006/relationships/hyperlink" Target="https://www.sgc.gov.co/detallesismo/SGC2026pqqmro/" TargetMode="External"/><Relationship Id="rId5" Type="http://schemas.openxmlformats.org/officeDocument/2006/relationships/hyperlink" Target="https://www.sgc.gov.co/detallesismo/SGC2026pqqmro/mmi" TargetMode="External"/><Relationship Id="rId6" Type="http://schemas.openxmlformats.org/officeDocument/2006/relationships/hyperlink" Target="https://portal.gestiondelriesgo.gov.co/" TargetMode="External"/><Relationship Id="rId7" Type="http://schemas.openxmlformats.org/officeDocument/2006/relationships/hyperlink" Target="https://gdacs.org/report.aspx?eventid=1557236&amp;eventtype=EQ" TargetMode="External"/><Relationship Id="rId8" Type="http://schemas.openxmlformats.org/officeDocument/2006/relationships/hyperlink" Target="https://disasterscharter.org/activations" TargetMode="External"/><Relationship Id="rId9" Type="http://schemas.openxmlformats.org/officeDocument/2006/relationships/hyperlink" Target="https://mapping.emergency.copernicus.eu/activations/EMSR916/" TargetMode="External"/><Relationship Id="rId10" Type="http://schemas.openxmlformats.org/officeDocument/2006/relationships/hyperlink" Target="https://reliefweb.int/country/col" TargetMode="External"/><Relationship Id="rId11" Type="http://schemas.openxmlformats.org/officeDocument/2006/relationships/hyperlink" Target="https://www.paho.org/en/colombia" TargetMode="External"/><Relationship Id="rId12" Type="http://schemas.openxmlformats.org/officeDocument/2006/relationships/hyperlink" Target="https://www.preventionweb.net/publication/colombia-plan-nacional-de-gestion-del-riesgo-de-desastres-pngrd-2015-2030" TargetMode="External"/><Relationship Id="rId13" Type="http://schemas.openxmlformats.org/officeDocument/2006/relationships/hyperlink" Target="https://www.globalquakemodel.org/seismic-regulations/colombia" TargetMode="External"/><Relationship Id="rId14" Type="http://schemas.openxmlformats.org/officeDocument/2006/relationships/hyperlink" Target="https://www.cnn.com/2026/08/10/world/live-news/colombia-earthquake-san-jose-del-palmar" TargetMode="External"/><Relationship Id="rId15" Type="http://schemas.openxmlformats.org/officeDocument/2006/relationships/hyperlink" Target="https://www.elcolombiano.com/colombia/terremoto-temblor-hoy-colombia-choco-heridos-FL39761141" TargetMode="External"/><Relationship Id="rId16" Type="http://schemas.openxmlformats.org/officeDocument/2006/relationships/hyperlink" Target="https://un-spider.org/national-unit-disaster-risk-management-ungrd-colombia" TargetMode="External"/><Relationship Id="rId1" Type="http://schemas.openxmlformats.org/officeDocument/2006/relationships/image" Target="../media/image-26-1.png"/><Relationship Id="rId17" Type="http://schemas.openxmlformats.org/officeDocument/2006/relationships/slideLayout" Target="../slideLayouts/slideLayout1.xml"/><Relationship Id="rId18"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2" Type="http://schemas.openxmlformats.org/officeDocument/2006/relationships/hyperlink" Target="https://www.oecd.org/en/publications/risk-governance-scan-of-colombia_eeb81954-en.html" TargetMode="External"/><Relationship Id="rId3" Type="http://schemas.openxmlformats.org/officeDocument/2006/relationships/hyperlink" Target="https://www.cnn.com/2026/08/10/world/live-news/colombia-earthquake-san-jose-del-palmar" TargetMode="External"/><Relationship Id="rId4" Type="http://schemas.openxmlformats.org/officeDocument/2006/relationships/hyperlink" Target="https://www.france24.com/en/americas/20260810-powerful-quake-rocks-colombia-causing-major-damage" TargetMode="External"/><Relationship Id="rId5" Type="http://schemas.openxmlformats.org/officeDocument/2006/relationships/hyperlink" Target="https://www.aljazeera.com/news/2026/8/10/7-4-magnitude-earthquake-hits-colombia-killing-at-least-20" TargetMode="External"/><Relationship Id="rId6" Type="http://schemas.openxmlformats.org/officeDocument/2006/relationships/hyperlink" Target="https://www.cbsnews.com/news/colombia-earthquake-western-region-evacuations/" TargetMode="External"/><Relationship Id="rId7" Type="http://schemas.openxmlformats.org/officeDocument/2006/relationships/hyperlink" Target="https://www.nbcnews.com/world/latin-america/strong-earthquake-colombia-ecuador-people-evacuating-homes-buildings-rcna591709" TargetMode="External"/><Relationship Id="rId8" Type="http://schemas.openxmlformats.org/officeDocument/2006/relationships/hyperlink" Target="https://colombiaone.com/2026/08/10/earthquake-colombia-official-details/" TargetMode="External"/><Relationship Id="rId9" Type="http://schemas.openxmlformats.org/officeDocument/2006/relationships/hyperlink" Target="https://colombiaone.com/2026/08/10/colombia-national-disaster/" TargetMode="External"/><Relationship Id="rId10" Type="http://schemas.openxmlformats.org/officeDocument/2006/relationships/hyperlink" Target="https://www.infobae.com/colombia/2026/08/10/por-que-el-temblor-en-colombia-de-este-lunes-10-de-agosto-duro-una-eternidad-el-servicio-geologico-explico-que-paso/" TargetMode="External"/><Relationship Id="rId11" Type="http://schemas.openxmlformats.org/officeDocument/2006/relationships/hyperlink" Target="https://www3.nhk.or.jp/news/" TargetMode="External"/><Relationship Id="rId12" Type="http://schemas.openxmlformats.org/officeDocument/2006/relationships/hyperlink" Target="https://www.nikkei.com/article/DGXZQOGN108V30Q6A810C2000000/" TargetMode="External"/><Relationship Id="rId13" Type="http://schemas.openxmlformats.org/officeDocument/2006/relationships/hyperlink" Target="https://www.jiji.com/jc/article?k=2026081000878&amp;g=int" TargetMode="External"/><Relationship Id="rId14" Type="http://schemas.openxmlformats.org/officeDocument/2006/relationships/hyperlink" Target="https://www.savethechildren.org/us/about-us/media-and-news/2026-press-releases/children-at-risk-after-earthquake-strikes-colombia" TargetMode="External"/><Relationship Id="rId15" Type="http://schemas.openxmlformats.org/officeDocument/2006/relationships/hyperlink" Target="https://www.directrelief.org/2026/08/colombia-earthquake-7-4-magnitude-direct-relief-response/" TargetMode="External"/><Relationship Id="rId16" Type="http://schemas.openxmlformats.org/officeDocument/2006/relationships/hyperlink" Target="https://www.americares.org/crisis-alerts/colombia-earthquake-august-2026/" TargetMode="External"/><Relationship Id="rId17" Type="http://schemas.openxmlformats.org/officeDocument/2006/relationships/hyperlink" Target="https://glidenumber.net/" TargetMode="External"/><Relationship Id="rId18" Type="http://schemas.openxmlformats.org/officeDocument/2006/relationships/hyperlink" Target="https://www.adrc.asia/" TargetMode="External"/><Relationship Id="rId1" Type="http://schemas.openxmlformats.org/officeDocument/2006/relationships/image" Target="../media/image-27-1.png"/><Relationship Id="rId19" Type="http://schemas.openxmlformats.org/officeDocument/2006/relationships/slideLayout" Target="../slideLayouts/slideLayout1.xml"/><Relationship Id="rId20"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2" Type="http://schemas.openxmlformats.org/officeDocument/2006/relationships/hyperlink" Target="https://www.democrata.es/en/international/von-der-leyen-expresses-the-eu-s-support-for-colombia-and-activates-copernicus-after-the-earthquake/" TargetMode="External"/><Relationship Id="rId3" Type="http://schemas.openxmlformats.org/officeDocument/2006/relationships/hyperlink" Target="https://www.globalquakemodel.org/proj/treq" TargetMode="External"/><Relationship Id="rId4" Type="http://schemas.openxmlformats.org/officeDocument/2006/relationships/hyperlink" Target="https://cloud-storage.globalquakemodel.org/public/wix-new-website/pdf-collections-wix/publications/TREQ%20deliverables/reports/TREQ_D262_Riesgo_Sismico_Cali_v1.00.pdf" TargetMode="External"/><Relationship Id="rId5" Type="http://schemas.openxmlformats.org/officeDocument/2006/relationships/hyperlink" Target="https://www.sciencedirect.com/science/article/abs/pii/S2212420925003097" TargetMode="External"/><Relationship Id="rId6" Type="http://schemas.openxmlformats.org/officeDocument/2006/relationships/hyperlink" Target="https://satic.cali.gov.co/satic" TargetMode="External"/><Relationship Id="rId7" Type="http://schemas.openxmlformats.org/officeDocument/2006/relationships/hyperlink" Target="https://www.cali.gov.co/gestiondelriesgo/" TargetMode="External"/><Relationship Id="rId8" Type="http://schemas.openxmlformats.org/officeDocument/2006/relationships/hyperlink" Target="https://portal.gestiondelriesgo.gov.co/Paginas/Plan-Nacional-de-Gestion-del-Riesgo.aspx" TargetMode="External"/><Relationship Id="rId9" Type="http://schemas.openxmlformats.org/officeDocument/2006/relationships/hyperlink" Target="https://www.funcionpublica.gov.co/eva/gestornormativo/norma.php?i=191411" TargetMode="External"/><Relationship Id="rId10" Type="http://schemas.openxmlformats.org/officeDocument/2006/relationships/hyperlink" Target="https://www.emsc-csem.org/" TargetMode="External"/><Relationship Id="rId11" Type="http://schemas.openxmlformats.org/officeDocument/2006/relationships/hyperlink" Target="https://catalogosismico.sgc.gov.co/visor/index.html" TargetMode="External"/><Relationship Id="rId12" Type="http://schemas.openxmlformats.org/officeDocument/2006/relationships/hyperlink" Target="https://www.eltiempo.com/colombia/otras-ciudades/terremoto-en-colombia-de-7-4-en-vivo-el-comandante-del-ejercito-nacional-se-encuentra-en-choco-coordinando-las-labores-de-atencion-de-la-emergencia-3577491" TargetMode="External"/><Relationship Id="rId13" Type="http://schemas.openxmlformats.org/officeDocument/2006/relationships/hyperlink" Target="https://www.elespectador.com/colombia/mas-regiones/temblor-en-colombia-hoy-10-de-agosto-en-vivo-epicentro-y-reporte-de-afectaciones/" TargetMode="External"/><Relationship Id="rId14" Type="http://schemas.openxmlformats.org/officeDocument/2006/relationships/hyperlink" Target="https://www.noticiascaracol.com/colombia/en-vivo-colombia-hoy-tras-terremoto-de-magnitud-7-4-continuan-las-labores-de-rescate-so35" TargetMode="External"/><Relationship Id="rId15" Type="http://schemas.openxmlformats.org/officeDocument/2006/relationships/hyperlink" Target="https://rpp.pe/mundo/colombia/abelardo-de-la-espriella-cifra-en-181-los-muertos-por-el-terremoto-59-menos-que-datos-regionales-noticia-1701022" TargetMode="External"/><Relationship Id="rId16" Type="http://schemas.openxmlformats.org/officeDocument/2006/relationships/hyperlink" Target="https://www.eltiempo.com/colombia/otras-ciudades/cuantas-replicas-se-han-registrado-tras-el-terremoto-de-7-4-en-colombia-estas-son-todas-las-magnitudes-3577711" TargetMode="External"/><Relationship Id="rId17" Type="http://schemas.openxmlformats.org/officeDocument/2006/relationships/hyperlink" Target="https://www.semana.com/tecnologia/articulo/servicio-geologico-revela-el-numero-total-de-replicas-que-ha-habido-en-colombia-tras-fuerte-terremoto-que-estremecio-al-pais/202641/" TargetMode="External"/><Relationship Id="rId1" Type="http://schemas.openxmlformats.org/officeDocument/2006/relationships/image" Target="../media/image-28-1.png"/><Relationship Id="rId18" Type="http://schemas.openxmlformats.org/officeDocument/2006/relationships/slideLayout" Target="../slideLayouts/slideLayout1.xml"/><Relationship Id="rId19"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2" Type="http://schemas.openxmlformats.org/officeDocument/2006/relationships/hyperlink" Target="https://www.adrc.asia/" TargetMode="External"/><Relationship Id="rId1" Type="http://schemas.openxmlformats.org/officeDocument/2006/relationships/image" Target="../media/image-29-1.png"/><Relationship Id="rId3" Type="http://schemas.openxmlformats.org/officeDocument/2006/relationships/slideLayout" Target="../slideLayouts/slideLayout1.xml"/><Relationship Id="rId4" Type="http://schemas.openxmlformats.org/officeDocument/2006/relationships/notesSlide" Target="../notesSlides/notesSlide29.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pic>
        <p:nvPicPr>
          <p:cNvPr id="2" name="Image 0" descr="/home/user/whatsmap/reports/colombia_eq_20260810/images/adrc_logo.png">    </p:cNvPr>
          <p:cNvPicPr>
            <a:picLocks noChangeAspect="1"/>
          </p:cNvPicPr>
          <p:nvPr/>
        </p:nvPicPr>
        <p:blipFill>
          <a:blip r:embed="rId1"/>
          <a:stretch>
            <a:fillRect/>
          </a:stretch>
        </p:blipFill>
        <p:spPr>
          <a:xfrm>
            <a:off x="10954512" y="182880"/>
            <a:ext cx="896112" cy="896112"/>
          </a:xfrm>
          <a:prstGeom prst="rect">
            <a:avLst/>
          </a:prstGeom>
        </p:spPr>
      </p:pic>
      <p:sp>
        <p:nvSpPr>
          <p:cNvPr id="3" name="Text 0"/>
          <p:cNvSpPr/>
          <p:nvPr/>
        </p:nvSpPr>
        <p:spPr>
          <a:xfrm>
            <a:off x="365760" y="256032"/>
            <a:ext cx="5486400" cy="274320"/>
          </a:xfrm>
          <a:prstGeom prst="rect">
            <a:avLst/>
          </a:prstGeom>
          <a:noFill/>
          <a:ln/>
        </p:spPr>
        <p:txBody>
          <a:bodyPr wrap="square" rtlCol="0" anchor="ctr"/>
          <a:lstStyle/>
          <a:p>
            <a:pPr indent="0" marL="0">
              <a:buNone/>
            </a:pPr>
            <a:r>
              <a:rPr lang="en-US" sz="1100" i="1" dirty="0">
                <a:solidFill>
                  <a:srgbClr val="6A6A6A"/>
                </a:solidFill>
                <a:latin typeface="Meiryo" pitchFamily="34" charset="0"/>
                <a:ea typeface="Meiryo" pitchFamily="34" charset="-122"/>
                <a:cs typeface="Meiryo" pitchFamily="34" charset="-120"/>
              </a:rPr>
              <a:t>災害レポート</a:t>
            </a:r>
            <a:endParaRPr lang="en-US" sz="1100" dirty="0"/>
          </a:p>
        </p:txBody>
      </p:sp>
      <p:sp>
        <p:nvSpPr>
          <p:cNvPr id="4" name="Text 1"/>
          <p:cNvSpPr/>
          <p:nvPr/>
        </p:nvSpPr>
        <p:spPr>
          <a:xfrm>
            <a:off x="457200" y="566928"/>
            <a:ext cx="11274552" cy="566928"/>
          </a:xfrm>
          <a:prstGeom prst="rect">
            <a:avLst/>
          </a:prstGeom>
          <a:noFill/>
          <a:ln/>
        </p:spPr>
        <p:txBody>
          <a:bodyPr wrap="square" rtlCol="0" anchor="ctr"/>
          <a:lstStyle/>
          <a:p>
            <a:pPr algn="ctr" indent="0" marL="0">
              <a:buNone/>
            </a:pPr>
            <a:r>
              <a:rPr lang="en-US" sz="2400" b="1" dirty="0">
                <a:solidFill>
                  <a:srgbClr val="111111"/>
                </a:solidFill>
                <a:latin typeface="Meiryo" pitchFamily="34" charset="0"/>
                <a:ea typeface="Meiryo" pitchFamily="34" charset="-122"/>
                <a:cs typeface="Meiryo" pitchFamily="34" charset="-120"/>
              </a:rPr>
              <a:t>2026年 チョコ地震（コロンビア）</a:t>
            </a:r>
            <a:endParaRPr lang="en-US" sz="2400" dirty="0"/>
          </a:p>
        </p:txBody>
      </p:sp>
      <p:sp>
        <p:nvSpPr>
          <p:cNvPr id="5" name="Text 2"/>
          <p:cNvSpPr/>
          <p:nvPr/>
        </p:nvSpPr>
        <p:spPr>
          <a:xfrm>
            <a:off x="457200" y="1115568"/>
            <a:ext cx="11274552" cy="292608"/>
          </a:xfrm>
          <a:prstGeom prst="rect">
            <a:avLst/>
          </a:prstGeom>
          <a:noFill/>
          <a:ln/>
        </p:spPr>
        <p:txBody>
          <a:bodyPr wrap="square" rtlCol="0" anchor="ctr"/>
          <a:lstStyle/>
          <a:p>
            <a:pPr algn="ctr" indent="0" marL="0">
              <a:buNone/>
            </a:pPr>
            <a:r>
              <a:rPr lang="en-US" sz="1300" dirty="0">
                <a:solidFill>
                  <a:srgbClr val="222222"/>
                </a:solidFill>
                <a:latin typeface="Meiryo" pitchFamily="34" charset="0"/>
                <a:ea typeface="Meiryo" pitchFamily="34" charset="-122"/>
                <a:cs typeface="Meiryo" pitchFamily="34" charset="-120"/>
              </a:rPr>
              <a:t>M7.4、チョコ県サンホセ・デル・パルマル、2026年8月10日</a:t>
            </a:r>
            <a:endParaRPr lang="en-US" sz="1300" dirty="0"/>
          </a:p>
        </p:txBody>
      </p:sp>
      <p:sp>
        <p:nvSpPr>
          <p:cNvPr id="6" name="Text 3"/>
          <p:cNvSpPr/>
          <p:nvPr/>
        </p:nvSpPr>
        <p:spPr>
          <a:xfrm>
            <a:off x="457200" y="1408176"/>
            <a:ext cx="11274552" cy="274320"/>
          </a:xfrm>
          <a:prstGeom prst="rect">
            <a:avLst/>
          </a:prstGeom>
          <a:noFill/>
          <a:ln/>
        </p:spPr>
        <p:txBody>
          <a:bodyPr wrap="square" rtlCol="0" anchor="ctr"/>
          <a:lstStyle/>
          <a:p>
            <a:pPr algn="ctr" indent="0" marL="0">
              <a:buNone/>
            </a:pPr>
            <a:r>
              <a:rPr lang="en-US" sz="1150" dirty="0">
                <a:solidFill>
                  <a:srgbClr val="6A6A6A"/>
                </a:solidFill>
                <a:latin typeface="Meiryo" pitchFamily="34" charset="0"/>
                <a:ea typeface="Meiryo" pitchFamily="34" charset="-122"/>
                <a:cs typeface="Meiryo" pitchFamily="34" charset="-120"/>
              </a:rPr>
              <a:t>Mww 7.4   ·   深さ 110 km   ·   改正メルカリ震度 MMI VII（非常に強い）／USGS ShakeMap。SGCの体感震度図も同等   ·   GLIDE EQ-2026-000146-COL</a:t>
            </a:r>
            <a:endParaRPr lang="en-US" sz="1150" dirty="0"/>
          </a:p>
        </p:txBody>
      </p:sp>
      <p:sp>
        <p:nvSpPr>
          <p:cNvPr id="7" name="Shape 4"/>
          <p:cNvSpPr/>
          <p:nvPr/>
        </p:nvSpPr>
        <p:spPr>
          <a:xfrm>
            <a:off x="365760" y="1755648"/>
            <a:ext cx="11457432" cy="0"/>
          </a:xfrm>
          <a:prstGeom prst="line">
            <a:avLst/>
          </a:prstGeom>
          <a:noFill/>
          <a:ln w="12700">
            <a:solidFill>
              <a:srgbClr val="D9D9D9"/>
            </a:solidFill>
            <a:prstDash val="solid"/>
          </a:ln>
        </p:spPr>
      </p:sp>
      <p:sp>
        <p:nvSpPr>
          <p:cNvPr id="8" name="Text 5"/>
          <p:cNvSpPr/>
          <p:nvPr/>
        </p:nvSpPr>
        <p:spPr>
          <a:xfrm>
            <a:off x="365760" y="1700784"/>
            <a:ext cx="3712464" cy="219456"/>
          </a:xfrm>
          <a:prstGeom prst="rect">
            <a:avLst/>
          </a:prstGeom>
          <a:noFill/>
          <a:ln/>
        </p:spPr>
        <p:txBody>
          <a:bodyPr wrap="square" lIns="0" tIns="0" rIns="0" bIns="0" rtlCol="0" anchor="ctr"/>
          <a:lstStyle/>
          <a:p>
            <a:pPr algn="l" indent="0" marL="0">
              <a:buNone/>
            </a:pPr>
            <a:r>
              <a:rPr lang="en-US" sz="1000" b="1" dirty="0">
                <a:solidFill>
                  <a:srgbClr val="1F3864"/>
                </a:solidFill>
                <a:latin typeface="Meiryo" pitchFamily="34" charset="0"/>
                <a:ea typeface="Meiryo" pitchFamily="34" charset="-122"/>
                <a:cs typeface="Meiryo" pitchFamily="34" charset="-120"/>
              </a:rPr>
              <a:t>①　世界とコロンビア</a:t>
            </a:r>
            <a:endParaRPr lang="en-US" sz="1000" dirty="0"/>
          </a:p>
        </p:txBody>
      </p:sp>
      <p:sp>
        <p:nvSpPr>
          <p:cNvPr id="9" name="Shape 6"/>
          <p:cNvSpPr/>
          <p:nvPr/>
        </p:nvSpPr>
        <p:spPr>
          <a:xfrm>
            <a:off x="365760" y="1938528"/>
            <a:ext cx="3712464" cy="2487168"/>
          </a:xfrm>
          <a:prstGeom prst="rect">
            <a:avLst/>
          </a:prstGeom>
          <a:solidFill>
            <a:srgbClr val="F7F7F7"/>
          </a:solidFill>
          <a:ln w="9525">
            <a:solidFill>
              <a:srgbClr val="D9D9D9"/>
            </a:solidFill>
            <a:prstDash val="solid"/>
          </a:ln>
        </p:spPr>
      </p:sp>
      <p:pic>
        <p:nvPicPr>
          <p:cNvPr id="10" name="Image 1" descr="/home/user/whatsmap/reports/colombia_eq_20260810/images/locator_world_manual.jpg">    </p:cNvPr>
          <p:cNvPicPr>
            <a:picLocks noChangeAspect="1"/>
          </p:cNvPicPr>
          <p:nvPr/>
        </p:nvPicPr>
        <p:blipFill>
          <a:blip r:embed="rId2"/>
          <a:stretch>
            <a:fillRect/>
          </a:stretch>
        </p:blipFill>
        <p:spPr>
          <a:xfrm>
            <a:off x="723410" y="1975104"/>
            <a:ext cx="2997165" cy="2414016"/>
          </a:xfrm>
          <a:prstGeom prst="rect">
            <a:avLst/>
          </a:prstGeom>
        </p:spPr>
      </p:pic>
      <p:sp>
        <p:nvSpPr>
          <p:cNvPr id="11" name="Text 7"/>
          <p:cNvSpPr/>
          <p:nvPr/>
        </p:nvSpPr>
        <p:spPr>
          <a:xfrm>
            <a:off x="4334256" y="1700784"/>
            <a:ext cx="3712464" cy="219456"/>
          </a:xfrm>
          <a:prstGeom prst="rect">
            <a:avLst/>
          </a:prstGeom>
          <a:noFill/>
          <a:ln/>
        </p:spPr>
        <p:txBody>
          <a:bodyPr wrap="square" lIns="0" tIns="0" rIns="0" bIns="0" rtlCol="0" anchor="ctr"/>
          <a:lstStyle/>
          <a:p>
            <a:pPr algn="l" indent="0" marL="0">
              <a:buNone/>
            </a:pPr>
            <a:r>
              <a:rPr lang="en-US" sz="1000" b="1" dirty="0">
                <a:solidFill>
                  <a:srgbClr val="1F3864"/>
                </a:solidFill>
                <a:latin typeface="Meiryo" pitchFamily="34" charset="0"/>
                <a:ea typeface="Meiryo" pitchFamily="34" charset="-122"/>
                <a:cs typeface="Meiryo" pitchFamily="34" charset="-120"/>
              </a:rPr>
              <a:t>②　南米北西部</a:t>
            </a:r>
            <a:endParaRPr lang="en-US" sz="1000" dirty="0"/>
          </a:p>
        </p:txBody>
      </p:sp>
      <p:sp>
        <p:nvSpPr>
          <p:cNvPr id="12" name="Shape 8"/>
          <p:cNvSpPr/>
          <p:nvPr/>
        </p:nvSpPr>
        <p:spPr>
          <a:xfrm>
            <a:off x="4334256" y="1938528"/>
            <a:ext cx="3712464" cy="2487168"/>
          </a:xfrm>
          <a:prstGeom prst="rect">
            <a:avLst/>
          </a:prstGeom>
          <a:solidFill>
            <a:srgbClr val="F7F7F7"/>
          </a:solidFill>
          <a:ln w="9525">
            <a:solidFill>
              <a:srgbClr val="D9D9D9"/>
            </a:solidFill>
            <a:prstDash val="solid"/>
          </a:ln>
        </p:spPr>
      </p:sp>
      <p:pic>
        <p:nvPicPr>
          <p:cNvPr id="13" name="Image 2" descr="/home/user/whatsmap/reports/colombia_eq_20260810/images/locator_region_manual.jpg">    </p:cNvPr>
          <p:cNvPicPr>
            <a:picLocks noChangeAspect="1"/>
          </p:cNvPicPr>
          <p:nvPr/>
        </p:nvPicPr>
        <p:blipFill>
          <a:blip r:embed="rId3"/>
          <a:stretch>
            <a:fillRect/>
          </a:stretch>
        </p:blipFill>
        <p:spPr>
          <a:xfrm>
            <a:off x="5119058" y="1975104"/>
            <a:ext cx="2142859" cy="2414016"/>
          </a:xfrm>
          <a:prstGeom prst="rect">
            <a:avLst/>
          </a:prstGeom>
        </p:spPr>
      </p:pic>
      <p:sp>
        <p:nvSpPr>
          <p:cNvPr id="14" name="Text 9"/>
          <p:cNvSpPr/>
          <p:nvPr/>
        </p:nvSpPr>
        <p:spPr>
          <a:xfrm>
            <a:off x="8302752" y="1700784"/>
            <a:ext cx="3712464" cy="219456"/>
          </a:xfrm>
          <a:prstGeom prst="rect">
            <a:avLst/>
          </a:prstGeom>
          <a:noFill/>
          <a:ln/>
        </p:spPr>
        <p:txBody>
          <a:bodyPr wrap="square" lIns="0" tIns="0" rIns="0" bIns="0" rtlCol="0" anchor="ctr"/>
          <a:lstStyle/>
          <a:p>
            <a:pPr algn="l" indent="0" marL="0">
              <a:buNone/>
            </a:pPr>
            <a:r>
              <a:rPr lang="en-US" sz="1000" b="1" dirty="0">
                <a:solidFill>
                  <a:srgbClr val="1F3864"/>
                </a:solidFill>
                <a:latin typeface="Meiryo" pitchFamily="34" charset="0"/>
                <a:ea typeface="Meiryo" pitchFamily="34" charset="-122"/>
                <a:cs typeface="Meiryo" pitchFamily="34" charset="-120"/>
              </a:rPr>
              <a:t>③　震央と主な被災都市</a:t>
            </a:r>
            <a:endParaRPr lang="en-US" sz="1000" dirty="0"/>
          </a:p>
        </p:txBody>
      </p:sp>
      <p:sp>
        <p:nvSpPr>
          <p:cNvPr id="15" name="Shape 10"/>
          <p:cNvSpPr/>
          <p:nvPr/>
        </p:nvSpPr>
        <p:spPr>
          <a:xfrm>
            <a:off x="8302752" y="1938528"/>
            <a:ext cx="3712464" cy="2487168"/>
          </a:xfrm>
          <a:prstGeom prst="rect">
            <a:avLst/>
          </a:prstGeom>
          <a:solidFill>
            <a:srgbClr val="F7F7F7"/>
          </a:solidFill>
          <a:ln w="9525">
            <a:solidFill>
              <a:srgbClr val="D9D9D9"/>
            </a:solidFill>
            <a:prstDash val="solid"/>
          </a:ln>
        </p:spPr>
      </p:sp>
      <p:pic>
        <p:nvPicPr>
          <p:cNvPr id="16" name="Image 3" descr="/home/user/whatsmap/reports/colombia_eq_20260810/images/locator_epicentre_manual.jpg">    </p:cNvPr>
          <p:cNvPicPr>
            <a:picLocks noChangeAspect="1"/>
          </p:cNvPicPr>
          <p:nvPr/>
        </p:nvPicPr>
        <p:blipFill>
          <a:blip r:embed="rId4"/>
          <a:stretch>
            <a:fillRect/>
          </a:stretch>
        </p:blipFill>
        <p:spPr>
          <a:xfrm>
            <a:off x="8339328" y="2121025"/>
            <a:ext cx="3639312" cy="2122174"/>
          </a:xfrm>
          <a:prstGeom prst="rect">
            <a:avLst/>
          </a:prstGeom>
        </p:spPr>
      </p:pic>
      <p:sp>
        <p:nvSpPr>
          <p:cNvPr id="17" name="Text 11"/>
          <p:cNvSpPr/>
          <p:nvPr/>
        </p:nvSpPr>
        <p:spPr>
          <a:xfrm>
            <a:off x="365760" y="4462272"/>
            <a:ext cx="11430000" cy="201168"/>
          </a:xfrm>
          <a:prstGeom prst="rect">
            <a:avLst/>
          </a:prstGeom>
          <a:noFill/>
          <a:ln/>
        </p:spPr>
        <p:txBody>
          <a:bodyPr wrap="square" lIns="0" tIns="0" rIns="0" bIns="0" rtlCol="0" anchor="ctr"/>
          <a:lstStyle/>
          <a:p>
            <a:pPr algn="l" indent="0" marL="0">
              <a:buNone/>
            </a:pPr>
            <a:r>
              <a:rPr lang="en-US" sz="750" i="1" dirty="0">
                <a:solidFill>
                  <a:srgbClr val="6A6A6A"/>
                </a:solidFill>
                <a:latin typeface="Meiryo" pitchFamily="34" charset="0"/>
                <a:ea typeface="Meiryo" pitchFamily="34" charset="-122"/>
                <a:cs typeface="Meiryo" pitchFamily="34" charset="-120"/>
              </a:rPr>
              <a:t>位置図 © Google（Google マップ）。以降のページに示す距離は、USGS公表座標から計算したもの。</a:t>
            </a:r>
            <a:endParaRPr lang="en-US" sz="750" dirty="0"/>
          </a:p>
        </p:txBody>
      </p:sp>
      <p:sp>
        <p:nvSpPr>
          <p:cNvPr id="18" name="Shape 12"/>
          <p:cNvSpPr/>
          <p:nvPr/>
        </p:nvSpPr>
        <p:spPr>
          <a:xfrm>
            <a:off x="0" y="4663440"/>
            <a:ext cx="12188952" cy="1499616"/>
          </a:xfrm>
          <a:prstGeom prst="rect">
            <a:avLst/>
          </a:prstGeom>
          <a:solidFill>
            <a:srgbClr val="262626"/>
          </a:solidFill>
          <a:ln w="12700">
            <a:solidFill>
              <a:srgbClr val="333333"/>
            </a:solidFill>
            <a:prstDash val="solid"/>
          </a:ln>
        </p:spPr>
      </p:sp>
      <p:sp>
        <p:nvSpPr>
          <p:cNvPr id="19" name="Text 13"/>
          <p:cNvSpPr/>
          <p:nvPr/>
        </p:nvSpPr>
        <p:spPr>
          <a:xfrm>
            <a:off x="457200" y="4745736"/>
            <a:ext cx="11274552" cy="1335024"/>
          </a:xfrm>
          <a:prstGeom prst="rect">
            <a:avLst/>
          </a:prstGeom>
          <a:noFill/>
          <a:ln/>
        </p:spPr>
        <p:txBody>
          <a:bodyPr wrap="square" lIns="38100" tIns="38100" rIns="38100" bIns="38100" rtlCol="0" anchor="t"/>
          <a:lstStyle/>
          <a:p>
            <a:pPr algn="l" indent="0" marL="0">
              <a:buNone/>
            </a:pPr>
            <a:r>
              <a:rPr lang="en-US" sz="1150" b="1" dirty="0">
                <a:solidFill>
                  <a:srgbClr val="FFC000"/>
                </a:solidFill>
                <a:latin typeface="Meiryo" pitchFamily="34" charset="0"/>
                <a:ea typeface="Meiryo" pitchFamily="34" charset="-122"/>
                <a:cs typeface="Meiryo" pitchFamily="34" charset="-120"/>
              </a:rPr>
              <a:t>概要　　</a:t>
            </a:r>
            <a:pPr algn="l" indent="0" marL="0">
              <a:buNone/>
            </a:pPr>
            <a:r>
              <a:rPr lang="en-US" sz="950" dirty="0">
                <a:solidFill>
                  <a:srgbClr val="FFFFFF"/>
                </a:solidFill>
                <a:latin typeface="Meiryo" pitchFamily="34" charset="0"/>
                <a:ea typeface="Meiryo" pitchFamily="34" charset="-122"/>
                <a:cs typeface="Meiryo" pitchFamily="34" charset="-120"/>
              </a:rPr>
              <a:t>2026年8月10日07:34（現地時間、12:34 UTC）、コロンビア西部チョコ県サンホセ・デル・パルマルの東5kmを震源とするMww7.4の地震が発生した。深さは約110km（USGS）で、沈み込むナスカプレート内部のやや深発・横ずれ型。深いために強い揺れ（MMI VI〜VII）はコーヒー地帯を含む広範囲に及び、約1,050万人が強い揺れにさらされた。SGCは過去10年でコロンビア最大規模の地震としている。死者数は最初の2日間で急増した。8月10日13:00（現地）の政府集計で111人、同日夕方に132人、11日のUNGRD状況報告では死者182人・負傷2,542人・行方不明189人となり、県・市の発表を積み上げると240人に達する。あわせて建物被害1,600棟超（住宅損壊1,575、全壊37、建物倒壊61）、医療施設18・教育施設52・幹線道路18・地方空港6か所の被害を発表。ペレイラのマテカニャ国際空港旅客ターミナルが一部倒壊、マニサレスの大聖堂の塔が身廊に崩落、カリの大学病院は約30%が損壊した。大統領は国家災害を宣言し、チョコ県に統合指揮所を設置、USAR4隊と軍を投入した。津波はない。数値はすべて速報値であり、被害調査の進展により変動する。</a:t>
            </a:r>
            <a:endParaRPr lang="en-US" sz="1150" dirty="0"/>
          </a:p>
        </p:txBody>
      </p:sp>
      <p:sp>
        <p:nvSpPr>
          <p:cNvPr id="20" name="Text 14"/>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Meiryo" pitchFamily="34" charset="0"/>
                <a:ea typeface="Meiryo" pitchFamily="34" charset="-122"/>
                <a:cs typeface="Meiryo" pitchFamily="34" charset="-120"/>
              </a:rPr>
              <a:t>出典：</a:t>
            </a:r>
            <a:pPr algn="l" indent="0" marL="0">
              <a:buNone/>
            </a:pPr>
            <a:r>
              <a:rPr lang="en-US" sz="850" u="sng" dirty="0">
                <a:solidFill>
                  <a:srgbClr val="0563C1"/>
                </a:solidFill>
                <a:latin typeface="Meiryo" pitchFamily="34" charset="0"/>
                <a:ea typeface="Meiryo" pitchFamily="34" charset="-122"/>
                <a:cs typeface="Meiryo" pitchFamily="34" charset="-120"/>
                <a:hlinkClick r:id="rId5" invalidUrl="" action="" tgtFrame="" tooltip="" history="1" highlightClick="0" endSnd="0">
                  <a:extLst>
                    <a:ext uri="{A12FA001-AC4F-418D-AE19-62706E023703}">
                      <ahyp:hlinkClr xmlns:ahyp="http://schemas.microsoft.com/office/drawing/2018/hyperlinkcolor" val="tx"/>
                    </a:ext>
                  </a:extLst>
                </a:hlinkClick>
              </a:rPr>
              <a:t>USGS 地震イベントページ</a:t>
            </a:r>
            <a:pPr algn="l" indent="0" marL="0">
              <a:buNone/>
            </a:pPr>
            <a:r>
              <a:rPr lang="en-US" sz="850" dirty="0">
                <a:solidFill>
                  <a:srgbClr val="6A6A6A"/>
                </a:solidFill>
                <a:latin typeface="Meiryo" pitchFamily="34" charset="0"/>
                <a:ea typeface="Meiryo" pitchFamily="34" charset="-122"/>
                <a:cs typeface="Meiryo" pitchFamily="34" charset="-120"/>
              </a:rPr>
              <a:t>   ·   </a:t>
            </a:r>
            <a:pPr algn="l" indent="0" marL="0">
              <a:buNone/>
            </a:pPr>
            <a:r>
              <a:rPr lang="en-US" sz="850" u="sng" dirty="0">
                <a:solidFill>
                  <a:srgbClr val="0563C1"/>
                </a:solidFill>
                <a:latin typeface="Meiryo" pitchFamily="34" charset="0"/>
                <a:ea typeface="Meiryo" pitchFamily="34" charset="-122"/>
                <a:cs typeface="Meiryo" pitchFamily="34" charset="-120"/>
                <a:hlinkClick r:id="rId6" invalidUrl="" action="" tgtFrame="" tooltip="" history="1" highlightClick="0" endSnd="0">
                  <a:extLst>
                    <a:ext uri="{A12FA001-AC4F-418D-AE19-62706E023703}">
                      <ahyp:hlinkClr xmlns:ahyp="http://schemas.microsoft.com/office/drawing/2018/hyperlinkcolor" val="tx"/>
                    </a:ext>
                  </a:extLst>
                </a:hlinkClick>
              </a:rPr>
              <a:t>SGC 地震速報 SGC2026pqqmro（本地震）</a:t>
            </a:r>
            <a:pPr algn="l" indent="0" marL="0">
              <a:buNone/>
            </a:pPr>
            <a:r>
              <a:rPr lang="en-US" sz="850" dirty="0">
                <a:solidFill>
                  <a:srgbClr val="6A6A6A"/>
                </a:solidFill>
                <a:latin typeface="Meiryo" pitchFamily="34" charset="0"/>
                <a:ea typeface="Meiryo" pitchFamily="34" charset="-122"/>
                <a:cs typeface="Meiryo" pitchFamily="34" charset="-120"/>
              </a:rPr>
              <a:t>   ·   </a:t>
            </a:r>
            <a:pPr algn="l" indent="0" marL="0">
              <a:buNone/>
            </a:pPr>
            <a:r>
              <a:rPr lang="en-US" sz="850" u="sng" dirty="0">
                <a:solidFill>
                  <a:srgbClr val="0563C1"/>
                </a:solidFill>
                <a:latin typeface="Meiryo" pitchFamily="34" charset="0"/>
                <a:ea typeface="Meiryo" pitchFamily="34" charset="-122"/>
                <a:cs typeface="Meiryo" pitchFamily="34" charset="-120"/>
                <a:hlinkClick r:id="rId7" invalidUrl="" action="" tgtFrame="" tooltip="" history="1" highlightClick="0" endSnd="0">
                  <a:extLst>
                    <a:ext uri="{A12FA001-AC4F-418D-AE19-62706E023703}">
                      <ahyp:hlinkClr xmlns:ahyp="http://schemas.microsoft.com/office/drawing/2018/hyperlinkcolor" val="tx"/>
                    </a:ext>
                  </a:extLst>
                </a:hlinkClick>
              </a:rPr>
              <a:t>国家災害リスク管理ユニット（UNGRD）</a:t>
            </a:r>
            <a:pPr algn="l" indent="0" marL="0">
              <a:buNone/>
            </a:pPr>
            <a:r>
              <a:rPr lang="en-US" sz="850" dirty="0">
                <a:solidFill>
                  <a:srgbClr val="6A6A6A"/>
                </a:solidFill>
                <a:latin typeface="Meiryo" pitchFamily="34" charset="0"/>
                <a:ea typeface="Meiryo" pitchFamily="34" charset="-122"/>
                <a:cs typeface="Meiryo" pitchFamily="34" charset="-120"/>
              </a:rPr>
              <a:t>   ·   </a:t>
            </a:r>
            <a:pPr algn="l" indent="0" marL="0">
              <a:buNone/>
            </a:pPr>
            <a:r>
              <a:rPr lang="en-US" sz="850" u="sng" dirty="0">
                <a:solidFill>
                  <a:srgbClr val="0563C1"/>
                </a:solidFill>
                <a:latin typeface="Meiryo" pitchFamily="34" charset="0"/>
                <a:ea typeface="Meiryo" pitchFamily="34" charset="-122"/>
                <a:cs typeface="Meiryo" pitchFamily="34" charset="-120"/>
                <a:hlinkClick r:id="rId8" invalidUrl="" action="" tgtFrame="" tooltip="" history="1" highlightClick="0" endSnd="0">
                  <a:extLst>
                    <a:ext uri="{A12FA001-AC4F-418D-AE19-62706E023703}">
                      <ahyp:hlinkClr xmlns:ahyp="http://schemas.microsoft.com/office/drawing/2018/hyperlinkcolor" val="tx"/>
                    </a:ext>
                  </a:extLst>
                </a:hlinkClick>
              </a:rPr>
              <a:t>Google マップ</a:t>
            </a:r>
            <a:endParaRPr lang="en-US" sz="850" dirty="0"/>
          </a:p>
        </p:txBody>
      </p:sp>
      <p:sp>
        <p:nvSpPr>
          <p:cNvPr id="21" name="Shape 15"/>
          <p:cNvSpPr/>
          <p:nvPr/>
        </p:nvSpPr>
        <p:spPr>
          <a:xfrm>
            <a:off x="10268712" y="6510528"/>
            <a:ext cx="1554480" cy="274320"/>
          </a:xfrm>
          <a:prstGeom prst="rect">
            <a:avLst/>
          </a:prstGeom>
          <a:solidFill>
            <a:srgbClr val="E8A317"/>
          </a:solidFill>
          <a:ln w="12700">
            <a:solidFill>
              <a:srgbClr val="E8A317"/>
            </a:solidFill>
            <a:prstDash val="solid"/>
          </a:ln>
        </p:spPr>
      </p:sp>
      <p:sp>
        <p:nvSpPr>
          <p:cNvPr id="22" name="Text 16"/>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Meiryo" pitchFamily="34" charset="0"/>
                <a:ea typeface="Meiryo" pitchFamily="34" charset="-122"/>
                <a:cs typeface="Meiryo" pitchFamily="34" charset="-120"/>
              </a:rPr>
              <a:t>ADRC  12/08/2026</a:t>
            </a:r>
            <a:endParaRPr lang="en-US" sz="950" dirty="0"/>
          </a:p>
        </p:txBody>
      </p:sp>
      <p:sp>
        <p:nvSpPr>
          <p:cNvPr id="23" name="Text 17"/>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Meiryo" pitchFamily="34" charset="0"/>
                <a:ea typeface="Meiryo" pitchFamily="34" charset="-122"/>
                <a:cs typeface="Meiryo" pitchFamily="34" charset="-120"/>
              </a:rPr>
              <a:t>1</a:t>
            </a:r>
            <a:endParaRPr lang="en-US" sz="9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1900" b="1" dirty="0">
                <a:solidFill>
                  <a:srgbClr val="1F3864"/>
                </a:solidFill>
                <a:latin typeface="Meiryo" pitchFamily="34" charset="0"/>
                <a:ea typeface="Meiryo" pitchFamily="34" charset="-122"/>
                <a:cs typeface="Meiryo" pitchFamily="34" charset="-120"/>
              </a:rPr>
              <a:t>地震テクトニクス：スラブ内地震</a:t>
            </a:r>
            <a:endParaRPr lang="en-US" sz="19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pic>
        <p:nvPicPr>
          <p:cNvPr id="4" name="Image 1" descr="/home/user/whatsmap/reports/colombia_eq_20260810/images/slab_section_ja.png">    </p:cNvPr>
          <p:cNvPicPr>
            <a:picLocks noChangeAspect="1"/>
          </p:cNvPicPr>
          <p:nvPr/>
        </p:nvPicPr>
        <p:blipFill>
          <a:blip r:embed="rId2"/>
          <a:stretch>
            <a:fillRect/>
          </a:stretch>
        </p:blipFill>
        <p:spPr>
          <a:xfrm>
            <a:off x="628161" y="1024128"/>
            <a:ext cx="6333199" cy="2980944"/>
          </a:xfrm>
          <a:prstGeom prst="rect">
            <a:avLst/>
          </a:prstGeom>
        </p:spPr>
      </p:pic>
      <p:sp>
        <p:nvSpPr>
          <p:cNvPr id="5" name="Text 1"/>
          <p:cNvSpPr/>
          <p:nvPr/>
        </p:nvSpPr>
        <p:spPr>
          <a:xfrm>
            <a:off x="365760" y="4023360"/>
            <a:ext cx="6858000" cy="201168"/>
          </a:xfrm>
          <a:prstGeom prst="rect">
            <a:avLst/>
          </a:prstGeom>
          <a:noFill/>
          <a:ln/>
        </p:spPr>
        <p:txBody>
          <a:bodyPr wrap="square" lIns="0" tIns="0" rIns="0" bIns="0" rtlCol="0" anchor="ctr"/>
          <a:lstStyle/>
          <a:p>
            <a:pPr algn="ctr" indent="0" marL="0">
              <a:buNone/>
            </a:pPr>
            <a:r>
              <a:rPr lang="en-US" sz="800" dirty="0">
                <a:solidFill>
                  <a:srgbClr val="6A6A6A"/>
                </a:solidFill>
                <a:latin typeface="Meiryo" pitchFamily="34" charset="0"/>
                <a:ea typeface="Meiryo" pitchFamily="34" charset="-122"/>
                <a:cs typeface="Meiryo" pitchFamily="34" charset="-120"/>
              </a:rPr>
              <a:t>模式断面図（ADRC作成）</a:t>
            </a:r>
            <a:endParaRPr lang="en-US" sz="800" dirty="0"/>
          </a:p>
        </p:txBody>
      </p:sp>
      <p:sp>
        <p:nvSpPr>
          <p:cNvPr id="6" name="Text 2"/>
          <p:cNvSpPr/>
          <p:nvPr/>
        </p:nvSpPr>
        <p:spPr>
          <a:xfrm>
            <a:off x="365760" y="4315968"/>
            <a:ext cx="5669280" cy="1828800"/>
          </a:xfrm>
          <a:prstGeom prst="rect">
            <a:avLst/>
          </a:prstGeom>
          <a:noFill/>
          <a:ln/>
        </p:spPr>
        <p:txBody>
          <a:bodyPr wrap="square" lIns="50800" tIns="50800" rIns="50800" bIns="50800" rtlCol="0" anchor="t"/>
          <a:lstStyle/>
          <a:p>
            <a:pPr algn="l" indent="0" marL="0">
              <a:buNone/>
            </a:pPr>
            <a:r>
              <a:rPr lang="en-US" sz="950" dirty="0">
                <a:solidFill>
                  <a:srgbClr val="222222"/>
                </a:solidFill>
                <a:latin typeface="Meiryo" pitchFamily="34" charset="0"/>
                <a:ea typeface="Meiryo" pitchFamily="34" charset="-122"/>
                <a:cs typeface="Meiryo" pitchFamily="34" charset="-120"/>
              </a:rPr>
              <a:t>コロンビアはナスカ・カリブ・南米の3プレートが会合する地域にある。太平洋岸沖でナスカプレートが年約50〜60mmで南米プレート下に沈み込み、そのスラブは西部・中央山脈の下で深さ70〜300kmに達する。今回はこのスラブ内部の深さ約110kmで破壊が起きた。そのため揺れはボゴタ、キト、パナマシティまで数百km届いた一方、地表地震断層や津波は生じていない。やや深発地震は高周波エネルギーを効率よく放射し減衰が緩やかなため、被害は震央近傍に集中せず多数の都市に分散する傾向がある。</a:t>
            </a:r>
            <a:endParaRPr lang="en-US" sz="950" dirty="0"/>
          </a:p>
        </p:txBody>
      </p:sp>
      <p:pic>
        <p:nvPicPr>
          <p:cNvPr id="7" name="Image 2" descr="/home/user/whatsmap/reports/colombia_eq_20260810/images/beachball_manual.png">    </p:cNvPr>
          <p:cNvPicPr>
            <a:picLocks noChangeAspect="1"/>
          </p:cNvPicPr>
          <p:nvPr/>
        </p:nvPicPr>
        <p:blipFill>
          <a:blip r:embed="rId3"/>
          <a:stretch>
            <a:fillRect/>
          </a:stretch>
        </p:blipFill>
        <p:spPr>
          <a:xfrm>
            <a:off x="6172200" y="4439412"/>
            <a:ext cx="1051560" cy="1051560"/>
          </a:xfrm>
          <a:prstGeom prst="rect">
            <a:avLst/>
          </a:prstGeom>
        </p:spPr>
      </p:pic>
      <p:sp>
        <p:nvSpPr>
          <p:cNvPr id="8" name="Text 3"/>
          <p:cNvSpPr/>
          <p:nvPr/>
        </p:nvSpPr>
        <p:spPr>
          <a:xfrm>
            <a:off x="5943600" y="5614416"/>
            <a:ext cx="1508760" cy="457200"/>
          </a:xfrm>
          <a:prstGeom prst="rect">
            <a:avLst/>
          </a:prstGeom>
          <a:noFill/>
          <a:ln/>
        </p:spPr>
        <p:txBody>
          <a:bodyPr wrap="square" lIns="0" tIns="0" rIns="0" bIns="0" rtlCol="0" anchor="t"/>
          <a:lstStyle/>
          <a:p>
            <a:pPr algn="ctr" indent="0" marL="0">
              <a:buNone/>
            </a:pPr>
            <a:r>
              <a:rPr lang="en-US" sz="750" b="1" dirty="0">
                <a:solidFill>
                  <a:srgbClr val="6A6A6A"/>
                </a:solidFill>
                <a:latin typeface="Meiryo" pitchFamily="34" charset="0"/>
                <a:ea typeface="Meiryo" pitchFamily="34" charset="-122"/>
                <a:cs typeface="Meiryo" pitchFamily="34" charset="-120"/>
              </a:rPr>
              <a:t>発震機構解（ビーチボール）
</a:t>
            </a:r>
            <a:pPr algn="ctr" indent="0" marL="0">
              <a:buNone/>
            </a:pPr>
            <a:r>
              <a:rPr lang="en-US" sz="700" dirty="0">
                <a:solidFill>
                  <a:srgbClr val="6A6A6A"/>
                </a:solidFill>
                <a:latin typeface="Meiryo" pitchFamily="34" charset="0"/>
                <a:ea typeface="Meiryo" pitchFamily="34" charset="-122"/>
                <a:cs typeface="Meiryo" pitchFamily="34" charset="-120"/>
              </a:rPr>
              <a:t>両機関とも横ずれ断層型としている。</a:t>
            </a:r>
            <a:endParaRPr lang="en-US" sz="750" dirty="0"/>
          </a:p>
        </p:txBody>
      </p:sp>
      <p:sp>
        <p:nvSpPr>
          <p:cNvPr id="9" name="Text 4"/>
          <p:cNvSpPr/>
          <p:nvPr/>
        </p:nvSpPr>
        <p:spPr>
          <a:xfrm>
            <a:off x="7406640" y="1024128"/>
            <a:ext cx="4389120" cy="5120640"/>
          </a:xfrm>
          <a:prstGeom prst="rect">
            <a:avLst/>
          </a:prstGeom>
          <a:noFill/>
          <a:ln/>
        </p:spPr>
        <p:txBody>
          <a:bodyPr wrap="square" lIns="50800" tIns="50800" rIns="50800" bIns="50800" rtlCol="0" anchor="t"/>
          <a:lstStyle/>
          <a:p>
            <a:pPr algn="l" marL="342900" indent="-342900">
              <a:buSzPct val="100000"/>
              <a:buChar char="•"/>
            </a:pPr>
            <a:r>
              <a:rPr lang="en-US" sz="750" b="1" dirty="0">
                <a:solidFill>
                  <a:srgbClr val="1E7A34"/>
                </a:solidFill>
                <a:latin typeface="Meiryo" pitchFamily="34" charset="0"/>
                <a:ea typeface="Meiryo" pitchFamily="34" charset="-122"/>
                <a:cs typeface="Meiryo" pitchFamily="34" charset="-120"/>
              </a:rPr>
              <a:t>[公式] </a:t>
            </a:r>
            <a:pPr algn="l" indent="0" marL="0">
              <a:spcAft>
                <a:spcPts val="500"/>
              </a:spcAft>
              <a:buNone/>
            </a:pPr>
            <a:r>
              <a:rPr lang="en-US" sz="850" dirty="0">
                <a:solidFill>
                  <a:srgbClr val="222222"/>
                </a:solidFill>
                <a:latin typeface="Meiryo" pitchFamily="34" charset="0"/>
                <a:ea typeface="Meiryo" pitchFamily="34" charset="-122"/>
                <a:cs typeface="Meiryo" pitchFamily="34" charset="-120"/>
              </a:rPr>
              <a:t>深さ約110km（USGS・修正値）。プレート境界の巨大地震ではなくスラブ内地震。</a:t>
            </a:r>
            <a:endParaRPr lang="en-US" sz="750" dirty="0"/>
          </a:p>
          <a:p>
            <a:pPr algn="l" marL="342900" indent="-342900">
              <a:buSzPct val="100000"/>
              <a:buChar char="•"/>
            </a:pPr>
            <a:r>
              <a:rPr lang="en-US" sz="750" b="1" dirty="0">
                <a:solidFill>
                  <a:srgbClr val="1E7A34"/>
                </a:solidFill>
                <a:latin typeface="Meiryo" pitchFamily="34" charset="0"/>
                <a:ea typeface="Meiryo" pitchFamily="34" charset="-122"/>
                <a:cs typeface="Meiryo" pitchFamily="34" charset="-120"/>
              </a:rPr>
              <a:t>[公式] </a:t>
            </a:r>
            <a:pPr algn="l" indent="0" marL="0">
              <a:spcAft>
                <a:spcPts val="500"/>
              </a:spcAft>
              <a:buNone/>
            </a:pPr>
            <a:r>
              <a:rPr lang="en-US" sz="850" dirty="0">
                <a:solidFill>
                  <a:srgbClr val="222222"/>
                </a:solidFill>
                <a:latin typeface="Meiryo" pitchFamily="34" charset="0"/>
                <a:ea typeface="Meiryo" pitchFamily="34" charset="-122"/>
                <a:cs typeface="Meiryo" pitchFamily="34" charset="-120"/>
              </a:rPr>
              <a:t>発震機構は沈み込むナスカスラブ内の横ずれ型（USGSの地震テクトニクス解説）。</a:t>
            </a:r>
            <a:endParaRPr lang="en-US" sz="750" dirty="0"/>
          </a:p>
          <a:p>
            <a:pPr algn="l" marL="342900" indent="-342900">
              <a:buSzPct val="100000"/>
              <a:buChar char="•"/>
            </a:pPr>
            <a:r>
              <a:rPr lang="en-US" sz="750" b="1" dirty="0">
                <a:solidFill>
                  <a:srgbClr val="1E7A34"/>
                </a:solidFill>
                <a:latin typeface="Meiryo" pitchFamily="34" charset="0"/>
                <a:ea typeface="Meiryo" pitchFamily="34" charset="-122"/>
                <a:cs typeface="Meiryo" pitchFamily="34" charset="-120"/>
              </a:rPr>
              <a:t>[公式] </a:t>
            </a:r>
            <a:pPr algn="l" indent="0" marL="0">
              <a:spcAft>
                <a:spcPts val="500"/>
              </a:spcAft>
              <a:buNone/>
            </a:pPr>
            <a:r>
              <a:rPr lang="en-US" sz="850" dirty="0">
                <a:solidFill>
                  <a:srgbClr val="222222"/>
                </a:solidFill>
                <a:latin typeface="Meiryo" pitchFamily="34" charset="0"/>
                <a:ea typeface="Meiryo" pitchFamily="34" charset="-122"/>
                <a:cs typeface="Meiryo" pitchFamily="34" charset="-120"/>
              </a:rPr>
              <a:t>最大震度はMMI VII（非常に強い）。MMI VI〜VIIの揺れに約1,050万人がさらされた。</a:t>
            </a:r>
            <a:endParaRPr lang="en-US" sz="750" dirty="0"/>
          </a:p>
          <a:p>
            <a:pPr algn="l" marL="342900" indent="-342900">
              <a:buSzPct val="100000"/>
              <a:buChar char="•"/>
            </a:pPr>
            <a:r>
              <a:rPr lang="en-US" sz="750" b="1" dirty="0">
                <a:solidFill>
                  <a:srgbClr val="1E7A34"/>
                </a:solidFill>
                <a:latin typeface="Meiryo" pitchFamily="34" charset="0"/>
                <a:ea typeface="Meiryo" pitchFamily="34" charset="-122"/>
                <a:cs typeface="Meiryo" pitchFamily="34" charset="-120"/>
              </a:rPr>
              <a:t>[公式] </a:t>
            </a:r>
            <a:pPr algn="l" indent="0" marL="0">
              <a:spcAft>
                <a:spcPts val="500"/>
              </a:spcAft>
              <a:buNone/>
            </a:pPr>
            <a:r>
              <a:rPr lang="en-US" sz="850" dirty="0">
                <a:solidFill>
                  <a:srgbClr val="222222"/>
                </a:solidFill>
                <a:latin typeface="Meiryo" pitchFamily="34" charset="0"/>
                <a:ea typeface="Meiryo" pitchFamily="34" charset="-122"/>
                <a:cs typeface="Meiryo" pitchFamily="34" charset="-120"/>
              </a:rPr>
              <a:t>USGS PAGER（第5版）はオレンジ警報。最も確からしい死者数階級は1,000〜10,000人、損失階級は1〜10億米ドル。いずれもモデル推計であり実測値ではなく、現時点の報告値を大きく上回る。</a:t>
            </a:r>
            <a:endParaRPr lang="en-US" sz="750" dirty="0"/>
          </a:p>
          <a:p>
            <a:pPr algn="l" marL="342900" indent="-342900">
              <a:buSzPct val="100000"/>
              <a:buChar char="•"/>
            </a:pPr>
            <a:r>
              <a:rPr lang="en-US" sz="750" b="1" dirty="0">
                <a:solidFill>
                  <a:srgbClr val="1E7A34"/>
                </a:solidFill>
                <a:latin typeface="Meiryo" pitchFamily="34" charset="0"/>
                <a:ea typeface="Meiryo" pitchFamily="34" charset="-122"/>
                <a:cs typeface="Meiryo" pitchFamily="34" charset="-120"/>
              </a:rPr>
              <a:t>[公式] </a:t>
            </a:r>
            <a:pPr algn="l" indent="0" marL="0">
              <a:spcAft>
                <a:spcPts val="500"/>
              </a:spcAft>
              <a:buNone/>
            </a:pPr>
            <a:r>
              <a:rPr lang="en-US" sz="850" dirty="0">
                <a:solidFill>
                  <a:srgbClr val="222222"/>
                </a:solidFill>
                <a:latin typeface="Meiryo" pitchFamily="34" charset="0"/>
                <a:ea typeface="Meiryo" pitchFamily="34" charset="-122"/>
                <a:cs typeface="Meiryo" pitchFamily="34" charset="-120"/>
              </a:rPr>
              <a:t>SGCは過去10年でコロンビア最大規模の地震と評価している。</a:t>
            </a:r>
            <a:endParaRPr lang="en-US" sz="750" dirty="0"/>
          </a:p>
          <a:p>
            <a:pPr algn="l" marL="342900" indent="-342900">
              <a:buSzPct val="100000"/>
              <a:buChar char="•"/>
            </a:pPr>
            <a:r>
              <a:rPr lang="en-US" sz="750" b="1" dirty="0">
                <a:solidFill>
                  <a:srgbClr val="B8860B"/>
                </a:solidFill>
                <a:latin typeface="Meiryo" pitchFamily="34" charset="0"/>
                <a:ea typeface="Meiryo" pitchFamily="34" charset="-122"/>
                <a:cs typeface="Meiryo" pitchFamily="34" charset="-120"/>
              </a:rPr>
              <a:t>[報道] </a:t>
            </a:r>
            <a:pPr algn="l" indent="0" marL="0">
              <a:spcAft>
                <a:spcPts val="500"/>
              </a:spcAft>
              <a:buNone/>
            </a:pPr>
            <a:r>
              <a:rPr lang="en-US" sz="850" dirty="0">
                <a:solidFill>
                  <a:srgbClr val="222222"/>
                </a:solidFill>
                <a:latin typeface="Meiryo" pitchFamily="34" charset="0"/>
                <a:ea typeface="Meiryo" pitchFamily="34" charset="-122"/>
                <a:cs typeface="Meiryo" pitchFamily="34" charset="-120"/>
              </a:rPr>
              <a:t>震央から遠い都市でも揺れが長く続いたと報じられている。軟弱な盆地堆積層で観測される深発地震の特徴。</a:t>
            </a:r>
            <a:endParaRPr lang="en-US" sz="750" dirty="0"/>
          </a:p>
          <a:p>
            <a:pPr algn="l" marL="342900" indent="-342900">
              <a:buSzPct val="100000"/>
              <a:buChar char="•"/>
            </a:pPr>
            <a:r>
              <a:rPr lang="en-US" sz="750" b="1" dirty="0">
                <a:solidFill>
                  <a:srgbClr val="1E7A34"/>
                </a:solidFill>
                <a:latin typeface="Meiryo" pitchFamily="34" charset="0"/>
                <a:ea typeface="Meiryo" pitchFamily="34" charset="-122"/>
                <a:cs typeface="Meiryo" pitchFamily="34" charset="-120"/>
              </a:rPr>
              <a:t>[公式] </a:t>
            </a:r>
            <a:pPr algn="l" indent="0" marL="0">
              <a:spcAft>
                <a:spcPts val="500"/>
              </a:spcAft>
              <a:buNone/>
            </a:pPr>
            <a:r>
              <a:rPr lang="en-US" sz="850" dirty="0">
                <a:solidFill>
                  <a:srgbClr val="222222"/>
                </a:solidFill>
                <a:latin typeface="Meiryo" pitchFamily="34" charset="0"/>
                <a:ea typeface="Meiryo" pitchFamily="34" charset="-122"/>
                <a:cs typeface="Meiryo" pitchFamily="34" charset="-120"/>
              </a:rPr>
              <a:t>コーヒー地帯には深い地震・浅い地震の双方の被害履歴がある。1938年M7.0（深さ150km）、1962年M6.5（同64km）、1999年M6.1（同15km）（SGC/GEM 国家ハザードモデル）。</a:t>
            </a:r>
            <a:endParaRPr lang="en-US" sz="750" dirty="0"/>
          </a:p>
        </p:txBody>
      </p:sp>
      <p:sp>
        <p:nvSpPr>
          <p:cNvPr id="10" name="Text 5"/>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Meiryo" pitchFamily="34" charset="0"/>
                <a:ea typeface="Meiryo" pitchFamily="34" charset="-122"/>
                <a:cs typeface="Meiryo" pitchFamily="34" charset="-120"/>
              </a:rPr>
              <a:t>出典：</a:t>
            </a:r>
            <a:pPr algn="l" indent="0" marL="0">
              <a:buNone/>
            </a:pPr>
            <a:r>
              <a:rPr lang="en-US" sz="850" u="sng" dirty="0">
                <a:solidFill>
                  <a:srgbClr val="0563C1"/>
                </a:solidFill>
                <a:latin typeface="Meiryo" pitchFamily="34" charset="0"/>
                <a:ea typeface="Meiryo" pitchFamily="34" charset="-122"/>
                <a:cs typeface="Meiryo" pitchFamily="34" charset="-120"/>
                <a:hlinkClick r:id="rId4" invalidUrl="" action="" tgtFrame="" tooltip="" history="1" highlightClick="0" endSnd="0">
                  <a:extLst>
                    <a:ext uri="{A12FA001-AC4F-418D-AE19-62706E023703}">
                      <ahyp:hlinkClr xmlns:ahyp="http://schemas.microsoft.com/office/drawing/2018/hyperlinkcolor" val="tx"/>
                    </a:ext>
                  </a:extLst>
                </a:hlinkClick>
              </a:rPr>
              <a:t>USGS 地震イベントページ</a:t>
            </a:r>
            <a:pPr algn="l" indent="0" marL="0">
              <a:buNone/>
            </a:pPr>
            <a:r>
              <a:rPr lang="en-US" sz="850" dirty="0">
                <a:solidFill>
                  <a:srgbClr val="6A6A6A"/>
                </a:solidFill>
                <a:latin typeface="Meiryo" pitchFamily="34" charset="0"/>
                <a:ea typeface="Meiryo" pitchFamily="34" charset="-122"/>
                <a:cs typeface="Meiryo" pitchFamily="34" charset="-120"/>
              </a:rPr>
              <a:t>   ·   </a:t>
            </a:r>
            <a:pPr algn="l" indent="0" marL="0">
              <a:buNone/>
            </a:pPr>
            <a:r>
              <a:rPr lang="en-US" sz="850" u="sng" dirty="0">
                <a:solidFill>
                  <a:srgbClr val="0563C1"/>
                </a:solidFill>
                <a:latin typeface="Meiryo" pitchFamily="34" charset="0"/>
                <a:ea typeface="Meiryo" pitchFamily="34" charset="-122"/>
                <a:cs typeface="Meiryo" pitchFamily="34" charset="-120"/>
                <a:hlinkClick r:id="rId5" invalidUrl="" action="" tgtFrame="" tooltip="" history="1" highlightClick="0" endSnd="0">
                  <a:extLst>
                    <a:ext uri="{A12FA001-AC4F-418D-AE19-62706E023703}">
                      <ahyp:hlinkClr xmlns:ahyp="http://schemas.microsoft.com/office/drawing/2018/hyperlinkcolor" val="tx"/>
                    </a:ext>
                  </a:extLst>
                </a:hlinkClick>
              </a:rPr>
              <a:t>SGC 地震速報 SGC2026pqqmro（本地震）</a:t>
            </a:r>
            <a:pPr algn="l" indent="0" marL="0">
              <a:buNone/>
            </a:pPr>
            <a:r>
              <a:rPr lang="en-US" sz="850" dirty="0">
                <a:solidFill>
                  <a:srgbClr val="6A6A6A"/>
                </a:solidFill>
                <a:latin typeface="Meiryo" pitchFamily="34" charset="0"/>
                <a:ea typeface="Meiryo" pitchFamily="34" charset="-122"/>
                <a:cs typeface="Meiryo" pitchFamily="34" charset="-120"/>
              </a:rPr>
              <a:t>   ·   </a:t>
            </a:r>
            <a:pPr algn="l" indent="0" marL="0">
              <a:buNone/>
            </a:pPr>
            <a:r>
              <a:rPr lang="en-US" sz="850" u="sng" dirty="0">
                <a:solidFill>
                  <a:srgbClr val="0563C1"/>
                </a:solidFill>
                <a:latin typeface="Meiryo" pitchFamily="34" charset="0"/>
                <a:ea typeface="Meiryo" pitchFamily="34" charset="-122"/>
                <a:cs typeface="Meiryo" pitchFamily="34" charset="-120"/>
                <a:hlinkClick r:id="rId6" invalidUrl="" action="" tgtFrame="" tooltip="" history="1" highlightClick="0" endSnd="0">
                  <a:extLst>
                    <a:ext uri="{A12FA001-AC4F-418D-AE19-62706E023703}">
                      <ahyp:hlinkClr xmlns:ahyp="http://schemas.microsoft.com/office/drawing/2018/hyperlinkcolor" val="tx"/>
                    </a:ext>
                  </a:extLst>
                </a:hlinkClick>
              </a:rPr>
              <a:t>GDACS オレンジ警報</a:t>
            </a:r>
            <a:endParaRPr lang="en-US" sz="850" dirty="0"/>
          </a:p>
        </p:txBody>
      </p:sp>
      <p:sp>
        <p:nvSpPr>
          <p:cNvPr id="11" name="Shape 6"/>
          <p:cNvSpPr/>
          <p:nvPr/>
        </p:nvSpPr>
        <p:spPr>
          <a:xfrm>
            <a:off x="10268712" y="6510528"/>
            <a:ext cx="1554480" cy="274320"/>
          </a:xfrm>
          <a:prstGeom prst="rect">
            <a:avLst/>
          </a:prstGeom>
          <a:solidFill>
            <a:srgbClr val="E8A317"/>
          </a:solidFill>
          <a:ln w="12700">
            <a:solidFill>
              <a:srgbClr val="E8A317"/>
            </a:solidFill>
            <a:prstDash val="solid"/>
          </a:ln>
        </p:spPr>
      </p:sp>
      <p:sp>
        <p:nvSpPr>
          <p:cNvPr id="12" name="Text 7"/>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Meiryo" pitchFamily="34" charset="0"/>
                <a:ea typeface="Meiryo" pitchFamily="34" charset="-122"/>
                <a:cs typeface="Meiryo" pitchFamily="34" charset="-120"/>
              </a:rPr>
              <a:t>ADRC  12/08/2026</a:t>
            </a:r>
            <a:endParaRPr lang="en-US" sz="950" dirty="0"/>
          </a:p>
        </p:txBody>
      </p:sp>
      <p:sp>
        <p:nvSpPr>
          <p:cNvPr id="13" name="Text 8"/>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Meiryo" pitchFamily="34" charset="0"/>
                <a:ea typeface="Meiryo" pitchFamily="34" charset="-122"/>
                <a:cs typeface="Meiryo" pitchFamily="34" charset="-120"/>
              </a:rPr>
              <a:t>2</a:t>
            </a:r>
            <a:endParaRPr lang="en-US" sz="9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1900" b="1" dirty="0">
                <a:solidFill>
                  <a:srgbClr val="1F3864"/>
                </a:solidFill>
                <a:latin typeface="Meiryo" pitchFamily="34" charset="0"/>
                <a:ea typeface="Meiryo" pitchFamily="34" charset="-122"/>
                <a:cs typeface="Meiryo" pitchFamily="34" charset="-120"/>
              </a:rPr>
              <a:t>地震の概要と対応措置</a:t>
            </a:r>
            <a:endParaRPr lang="en-US" sz="19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950976"/>
            <a:ext cx="11430000" cy="384048"/>
          </a:xfrm>
          <a:prstGeom prst="rect">
            <a:avLst/>
          </a:prstGeom>
          <a:noFill/>
          <a:ln/>
        </p:spPr>
        <p:txBody>
          <a:bodyPr wrap="square" lIns="25400" tIns="25400" rIns="25400" bIns="25400" rtlCol="0" anchor="ctr"/>
          <a:lstStyle/>
          <a:p>
            <a:pPr algn="l" indent="0" marL="0">
              <a:buNone/>
            </a:pPr>
            <a:r>
              <a:rPr lang="en-US" sz="1150" b="1" dirty="0">
                <a:solidFill>
                  <a:srgbClr val="1F3864"/>
                </a:solidFill>
                <a:latin typeface="Meiryo" pitchFamily="34" charset="0"/>
                <a:ea typeface="Meiryo" pitchFamily="34" charset="-122"/>
                <a:cs typeface="Meiryo" pitchFamily="34" charset="-120"/>
              </a:rPr>
              <a:t>2026年8月10日 07:34 COT（12:34 UTC／21:34 JST）    |    Mww 7.4    |    深さ 110 km    |    改正メルカリ震度 MMI VII（非常に強い）／USGS ShakeMap。SGCの体感震度図も同等</a:t>
            </a:r>
            <a:endParaRPr lang="en-US" sz="1150" dirty="0"/>
          </a:p>
        </p:txBody>
      </p:sp>
      <p:sp>
        <p:nvSpPr>
          <p:cNvPr id="5" name="Text 2"/>
          <p:cNvSpPr/>
          <p:nvPr/>
        </p:nvSpPr>
        <p:spPr>
          <a:xfrm>
            <a:off x="365760" y="1335024"/>
            <a:ext cx="11430000" cy="274320"/>
          </a:xfrm>
          <a:prstGeom prst="rect">
            <a:avLst/>
          </a:prstGeom>
          <a:noFill/>
          <a:ln/>
        </p:spPr>
        <p:txBody>
          <a:bodyPr wrap="square" lIns="25400" tIns="25400" rIns="25400" bIns="25400" rtlCol="0" anchor="ctr"/>
          <a:lstStyle/>
          <a:p>
            <a:pPr indent="0" marL="0">
              <a:buNone/>
            </a:pPr>
            <a:r>
              <a:rPr lang="en-US" sz="950" i="1" dirty="0">
                <a:solidFill>
                  <a:srgbClr val="6A6A6A"/>
                </a:solidFill>
                <a:latin typeface="Meiryo" pitchFamily="34" charset="0"/>
                <a:ea typeface="Meiryo" pitchFamily="34" charset="-122"/>
                <a:cs typeface="Meiryo" pitchFamily="34" charset="-120"/>
              </a:rPr>
              <a:t>数値は2026年8月11日17:00（コロンビア時間、日本時間8月12日07:00）現在、発災から約33時間後。UNGRDの状況報告は死者182人・負傷2,542人・行方不明189人、大統領の集計は死者181人、県・市の発表を積み上げると240人となる。本報告は3つとも併記する。すべて速報値であり、なお増加中である。</a:t>
            </a:r>
            <a:endParaRPr lang="en-US" sz="950" dirty="0"/>
          </a:p>
        </p:txBody>
      </p:sp>
      <p:sp>
        <p:nvSpPr>
          <p:cNvPr id="6" name="Text 3"/>
          <p:cNvSpPr/>
          <p:nvPr/>
        </p:nvSpPr>
        <p:spPr>
          <a:xfrm>
            <a:off x="365760" y="1664208"/>
            <a:ext cx="11430000" cy="4443984"/>
          </a:xfrm>
          <a:prstGeom prst="rect">
            <a:avLst/>
          </a:prstGeom>
          <a:noFill/>
          <a:ln/>
        </p:spPr>
        <p:txBody>
          <a:bodyPr wrap="square" lIns="50800" tIns="50800" rIns="50800" bIns="50800" rtlCol="0" anchor="t"/>
          <a:lstStyle/>
          <a:p>
            <a:pPr algn="l" marL="342900" indent="-342900">
              <a:buSzPct val="100000"/>
              <a:buChar char="•"/>
            </a:pPr>
            <a:r>
              <a:rPr lang="en-US" sz="1250" b="1" dirty="0">
                <a:solidFill>
                  <a:srgbClr val="1E7A34"/>
                </a:solidFill>
                <a:latin typeface="Meiryo" pitchFamily="34" charset="0"/>
                <a:ea typeface="Meiryo" pitchFamily="34" charset="-122"/>
                <a:cs typeface="Meiryo" pitchFamily="34" charset="-120"/>
              </a:rPr>
              <a:t>[公式] </a:t>
            </a:r>
            <a:pPr algn="l" indent="0" marL="0">
              <a:spcAft>
                <a:spcPts val="500"/>
              </a:spcAft>
              <a:buNone/>
            </a:pPr>
            <a:r>
              <a:rPr lang="en-US" sz="1350" dirty="0">
                <a:solidFill>
                  <a:srgbClr val="222222"/>
                </a:solidFill>
                <a:latin typeface="Meiryo" pitchFamily="34" charset="0"/>
                <a:ea typeface="Meiryo" pitchFamily="34" charset="-122"/>
                <a:cs typeface="Meiryo" pitchFamily="34" charset="-120"/>
              </a:rPr>
              <a:t>政府は国家災害（desastre nacional）を宣言し、緊急対応のための特例的な動員と調整を可能にした。</a:t>
            </a:r>
            <a:endParaRPr lang="en-US" sz="1250" dirty="0"/>
          </a:p>
          <a:p>
            <a:pPr algn="l" marL="342900" indent="-342900">
              <a:buSzPct val="100000"/>
              <a:buChar char="•"/>
            </a:pPr>
            <a:r>
              <a:rPr lang="en-US" sz="1250" b="1" dirty="0">
                <a:solidFill>
                  <a:srgbClr val="1E7A34"/>
                </a:solidFill>
                <a:latin typeface="Meiryo" pitchFamily="34" charset="0"/>
                <a:ea typeface="Meiryo" pitchFamily="34" charset="-122"/>
                <a:cs typeface="Meiryo" pitchFamily="34" charset="-120"/>
              </a:rPr>
              <a:t>[公式] </a:t>
            </a:r>
            <a:pPr algn="l" indent="0" marL="0">
              <a:spcAft>
                <a:spcPts val="500"/>
              </a:spcAft>
              <a:buNone/>
            </a:pPr>
            <a:r>
              <a:rPr lang="en-US" sz="1350" dirty="0">
                <a:solidFill>
                  <a:srgbClr val="222222"/>
                </a:solidFill>
                <a:latin typeface="Meiryo" pitchFamily="34" charset="0"/>
                <a:ea typeface="Meiryo" pitchFamily="34" charset="-122"/>
                <a:cs typeface="Meiryo" pitchFamily="34" charset="-120"/>
              </a:rPr>
              <a:t>就任3日目のアベラルド・デラエスプリエジャ大統領は、チョコ県に統合指揮所（PMU）を設置して対応を調整するよう指示し、被害の大きいペレイラを訪れた。</a:t>
            </a:r>
            <a:endParaRPr lang="en-US" sz="1250" dirty="0"/>
          </a:p>
          <a:p>
            <a:pPr algn="l" marL="342900" indent="-342900">
              <a:buSzPct val="100000"/>
              <a:buChar char="•"/>
            </a:pPr>
            <a:r>
              <a:rPr lang="en-US" sz="1250" b="1" dirty="0">
                <a:solidFill>
                  <a:srgbClr val="1E7A34"/>
                </a:solidFill>
                <a:latin typeface="Meiryo" pitchFamily="34" charset="0"/>
                <a:ea typeface="Meiryo" pitchFamily="34" charset="-122"/>
                <a:cs typeface="Meiryo" pitchFamily="34" charset="-120"/>
              </a:rPr>
              <a:t>[公式] </a:t>
            </a:r>
            <a:pPr algn="l" indent="0" marL="0">
              <a:spcAft>
                <a:spcPts val="500"/>
              </a:spcAft>
              <a:buNone/>
            </a:pPr>
            <a:r>
              <a:rPr lang="en-US" sz="1350" dirty="0">
                <a:solidFill>
                  <a:srgbClr val="222222"/>
                </a:solidFill>
                <a:latin typeface="Meiryo" pitchFamily="34" charset="0"/>
                <a:ea typeface="Meiryo" pitchFamily="34" charset="-122"/>
                <a:cs typeface="Meiryo" pitchFamily="34" charset="-120"/>
              </a:rPr>
              <a:t>国家災害リスク管理ユニット（UNGRD）が国家システムを起動し、県・市町村当局と被害を確認、外務省とともに支援の申し出を一元的に受け付けている。</a:t>
            </a:r>
            <a:endParaRPr lang="en-US" sz="1250" dirty="0"/>
          </a:p>
          <a:p>
            <a:pPr algn="l" marL="342900" indent="-342900">
              <a:buSzPct val="100000"/>
              <a:buChar char="•"/>
            </a:pPr>
            <a:r>
              <a:rPr lang="en-US" sz="1250" b="1" dirty="0">
                <a:solidFill>
                  <a:srgbClr val="1E7A34"/>
                </a:solidFill>
                <a:latin typeface="Meiryo" pitchFamily="34" charset="0"/>
                <a:ea typeface="Meiryo" pitchFamily="34" charset="-122"/>
                <a:cs typeface="Meiryo" pitchFamily="34" charset="-120"/>
              </a:rPr>
              <a:t>[公式] </a:t>
            </a:r>
            <a:pPr algn="l" indent="0" marL="0">
              <a:spcAft>
                <a:spcPts val="500"/>
              </a:spcAft>
              <a:buNone/>
            </a:pPr>
            <a:r>
              <a:rPr lang="en-US" sz="1350" dirty="0">
                <a:solidFill>
                  <a:srgbClr val="222222"/>
                </a:solidFill>
                <a:latin typeface="Meiryo" pitchFamily="34" charset="0"/>
                <a:ea typeface="Meiryo" pitchFamily="34" charset="-122"/>
                <a:cs typeface="Meiryo" pitchFamily="34" charset="-120"/>
              </a:rPr>
              <a:t>USAR（都市型捜索救助）4隊をボゴタ、エンビガド、ヨパル、メデジンから派遣し、捜索救助を増強した。</a:t>
            </a:r>
            <a:endParaRPr lang="en-US" sz="1250" dirty="0"/>
          </a:p>
          <a:p>
            <a:pPr algn="l" marL="342900" indent="-342900">
              <a:buSzPct val="100000"/>
              <a:buChar char="•"/>
            </a:pPr>
            <a:r>
              <a:rPr lang="en-US" sz="1250" b="1" dirty="0">
                <a:solidFill>
                  <a:srgbClr val="1E7A34"/>
                </a:solidFill>
                <a:latin typeface="Meiryo" pitchFamily="34" charset="0"/>
                <a:ea typeface="Meiryo" pitchFamily="34" charset="-122"/>
                <a:cs typeface="Meiryo" pitchFamily="34" charset="-120"/>
              </a:rPr>
              <a:t>[公式] </a:t>
            </a:r>
            <a:pPr algn="l" indent="0" marL="0">
              <a:spcAft>
                <a:spcPts val="500"/>
              </a:spcAft>
              <a:buNone/>
            </a:pPr>
            <a:r>
              <a:rPr lang="en-US" sz="1350" dirty="0">
                <a:solidFill>
                  <a:srgbClr val="222222"/>
                </a:solidFill>
                <a:latin typeface="Meiryo" pitchFamily="34" charset="0"/>
                <a:ea typeface="Meiryo" pitchFamily="34" charset="-122"/>
                <a:cs typeface="Meiryo" pitchFamily="34" charset="-120"/>
              </a:rPr>
              <a:t>被災各県に軍を投入し、捜索・救助・道路啓開にあたっている。</a:t>
            </a:r>
            <a:endParaRPr lang="en-US" sz="1250" dirty="0"/>
          </a:p>
          <a:p>
            <a:pPr algn="l" marL="342900" indent="-342900">
              <a:buSzPct val="100000"/>
              <a:buChar char="•"/>
            </a:pPr>
            <a:r>
              <a:rPr lang="en-US" sz="1250" b="1" dirty="0">
                <a:solidFill>
                  <a:srgbClr val="1E7A34"/>
                </a:solidFill>
                <a:latin typeface="Meiryo" pitchFamily="34" charset="0"/>
                <a:ea typeface="Meiryo" pitchFamily="34" charset="-122"/>
                <a:cs typeface="Meiryo" pitchFamily="34" charset="-120"/>
              </a:rPr>
              <a:t>[公式] </a:t>
            </a:r>
            <a:pPr algn="l" indent="0" marL="0">
              <a:spcAft>
                <a:spcPts val="500"/>
              </a:spcAft>
              <a:buNone/>
            </a:pPr>
            <a:r>
              <a:rPr lang="en-US" sz="1350" dirty="0">
                <a:solidFill>
                  <a:srgbClr val="222222"/>
                </a:solidFill>
                <a:latin typeface="Meiryo" pitchFamily="34" charset="0"/>
                <a:ea typeface="Meiryo" pitchFamily="34" charset="-122"/>
                <a:cs typeface="Meiryo" pitchFamily="34" charset="-120"/>
              </a:rPr>
              <a:t>民間航空当局は、滑走路・ターミナルの点検のためペレイラ、マニサレス、キブド、アルメニア、カルタゴ、ブエナベントゥーラの各空港で運航を停止した。</a:t>
            </a:r>
            <a:endParaRPr lang="en-US" sz="1250" dirty="0"/>
          </a:p>
          <a:p>
            <a:pPr algn="l" marL="342900" indent="-342900">
              <a:buSzPct val="100000"/>
              <a:buChar char="•"/>
            </a:pPr>
            <a:r>
              <a:rPr lang="en-US" sz="1250" b="1" dirty="0">
                <a:solidFill>
                  <a:srgbClr val="B8860B"/>
                </a:solidFill>
                <a:latin typeface="Meiryo" pitchFamily="34" charset="0"/>
                <a:ea typeface="Meiryo" pitchFamily="34" charset="-122"/>
                <a:cs typeface="Meiryo" pitchFamily="34" charset="-120"/>
              </a:rPr>
              <a:t>[報道] </a:t>
            </a:r>
            <a:pPr algn="l" indent="0" marL="0">
              <a:spcAft>
                <a:spcPts val="500"/>
              </a:spcAft>
              <a:buNone/>
            </a:pPr>
            <a:r>
              <a:rPr lang="en-US" sz="1350" dirty="0">
                <a:solidFill>
                  <a:srgbClr val="222222"/>
                </a:solidFill>
                <a:latin typeface="Meiryo" pitchFamily="34" charset="0"/>
                <a:ea typeface="Meiryo" pitchFamily="34" charset="-122"/>
                <a:cs typeface="Meiryo" pitchFamily="34" charset="-120"/>
              </a:rPr>
              <a:t>震央に近いチョコ県の一部では、建物被害・停電・通信途絶により被害把握が遅れている。</a:t>
            </a:r>
            <a:endParaRPr lang="en-US" sz="1250" dirty="0"/>
          </a:p>
          <a:p>
            <a:pPr algn="l" marL="342900" indent="-342900">
              <a:buSzPct val="100000"/>
              <a:buChar char="•"/>
            </a:pPr>
            <a:r>
              <a:rPr lang="en-US" sz="1250" b="1" dirty="0">
                <a:solidFill>
                  <a:srgbClr val="1E7A34"/>
                </a:solidFill>
                <a:latin typeface="Meiryo" pitchFamily="34" charset="0"/>
                <a:ea typeface="Meiryo" pitchFamily="34" charset="-122"/>
                <a:cs typeface="Meiryo" pitchFamily="34" charset="-120"/>
              </a:rPr>
              <a:t>[公式] </a:t>
            </a:r>
            <a:pPr algn="l" indent="0" marL="0">
              <a:spcAft>
                <a:spcPts val="500"/>
              </a:spcAft>
              <a:buNone/>
            </a:pPr>
            <a:r>
              <a:rPr lang="en-US" sz="1350" dirty="0">
                <a:solidFill>
                  <a:srgbClr val="222222"/>
                </a:solidFill>
                <a:latin typeface="Meiryo" pitchFamily="34" charset="0"/>
                <a:ea typeface="Meiryo" pitchFamily="34" charset="-122"/>
                <a:cs typeface="Meiryo" pitchFamily="34" charset="-120"/>
              </a:rPr>
              <a:t>本災害のGLIDE番号が付番された：EQ-2026-000146-COL。</a:t>
            </a:r>
            <a:endParaRPr lang="en-US" sz="1250" dirty="0"/>
          </a:p>
        </p:txBody>
      </p:sp>
      <p:sp>
        <p:nvSpPr>
          <p:cNvPr id="7" name="Text 4"/>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Meiryo" pitchFamily="34" charset="0"/>
                <a:ea typeface="Meiryo" pitchFamily="34" charset="-122"/>
                <a:cs typeface="Meiryo" pitchFamily="34" charset="-120"/>
              </a:rPr>
              <a:t>出典：</a:t>
            </a:r>
            <a:pPr algn="l" indent="0" marL="0">
              <a:buNone/>
            </a:pPr>
            <a:r>
              <a:rPr lang="en-US" sz="850" u="sng" dirty="0">
                <a:solidFill>
                  <a:srgbClr val="0563C1"/>
                </a:solidFill>
                <a:latin typeface="Meiryo" pitchFamily="34" charset="0"/>
                <a:ea typeface="Meiryo" pitchFamily="34" charset="-122"/>
                <a:cs typeface="Meiryo" pitchFamily="34" charset="-120"/>
                <a:hlinkClick r:id="rId2" invalidUrl="" action="" tgtFrame="" tooltip="" history="1" highlightClick="0" endSnd="0">
                  <a:extLst>
                    <a:ext uri="{A12FA001-AC4F-418D-AE19-62706E023703}">
                      <ahyp:hlinkClr xmlns:ahyp="http://schemas.microsoft.com/office/drawing/2018/hyperlinkcolor" val="tx"/>
                    </a:ext>
                  </a:extLst>
                </a:hlinkClick>
              </a:rPr>
              <a:t>国家災害リスク管理ユニット（UNGRD）</a:t>
            </a:r>
            <a:pPr algn="l" indent="0" marL="0">
              <a:buNone/>
            </a:pPr>
            <a:r>
              <a:rPr lang="en-US" sz="850" dirty="0">
                <a:solidFill>
                  <a:srgbClr val="6A6A6A"/>
                </a:solidFill>
                <a:latin typeface="Meiryo" pitchFamily="34" charset="0"/>
                <a:ea typeface="Meiryo" pitchFamily="34" charset="-122"/>
                <a:cs typeface="Meiryo" pitchFamily="34" charset="-120"/>
              </a:rPr>
              <a:t>   ·   </a:t>
            </a:r>
            <a:pPr algn="l" indent="0" marL="0">
              <a:buNone/>
            </a:pPr>
            <a:r>
              <a:rPr lang="en-US" sz="850" u="sng" dirty="0">
                <a:solidFill>
                  <a:srgbClr val="0563C1"/>
                </a:solidFill>
                <a:latin typeface="Meiryo" pitchFamily="34" charset="0"/>
                <a:ea typeface="Meiryo" pitchFamily="34" charset="-122"/>
                <a:cs typeface="Meiryo" pitchFamily="34" charset="-120"/>
                <a:hlinkClick r:id="rId3" invalidUrl="" action="" tgtFrame="" tooltip="" history="1" highlightClick="0" endSnd="0">
                  <a:extLst>
                    <a:ext uri="{A12FA001-AC4F-418D-AE19-62706E023703}">
                      <ahyp:hlinkClr xmlns:ahyp="http://schemas.microsoft.com/office/drawing/2018/hyperlinkcolor" val="tx"/>
                    </a:ext>
                  </a:extLst>
                </a:hlinkClick>
              </a:rPr>
              <a:t>Colombia One 国家災害宣言</a:t>
            </a:r>
            <a:pPr algn="l" indent="0" marL="0">
              <a:buNone/>
            </a:pPr>
            <a:r>
              <a:rPr lang="en-US" sz="850" dirty="0">
                <a:solidFill>
                  <a:srgbClr val="6A6A6A"/>
                </a:solidFill>
                <a:latin typeface="Meiryo" pitchFamily="34" charset="0"/>
                <a:ea typeface="Meiryo" pitchFamily="34" charset="-122"/>
                <a:cs typeface="Meiryo" pitchFamily="34" charset="-120"/>
              </a:rPr>
              <a:t>   ·   </a:t>
            </a:r>
            <a:pPr algn="l" indent="0" marL="0">
              <a:buNone/>
            </a:pPr>
            <a:r>
              <a:rPr lang="en-US" sz="850" u="sng" dirty="0">
                <a:solidFill>
                  <a:srgbClr val="0563C1"/>
                </a:solidFill>
                <a:latin typeface="Meiryo" pitchFamily="34" charset="0"/>
                <a:ea typeface="Meiryo" pitchFamily="34" charset="-122"/>
                <a:cs typeface="Meiryo" pitchFamily="34" charset="-120"/>
                <a:hlinkClick r:id="rId4" invalidUrl="" action="" tgtFrame="" tooltip="" history="1" highlightClick="0" endSnd="0">
                  <a:extLst>
                    <a:ext uri="{A12FA001-AC4F-418D-AE19-62706E023703}">
                      <ahyp:hlinkClr xmlns:ahyp="http://schemas.microsoft.com/office/drawing/2018/hyperlinkcolor" val="tx"/>
                    </a:ext>
                  </a:extLst>
                </a:hlinkClick>
              </a:rPr>
              <a:t>France 24 国家非常事態宣言</a:t>
            </a:r>
            <a:endParaRPr lang="en-US" sz="850" dirty="0"/>
          </a:p>
        </p:txBody>
      </p:sp>
      <p:sp>
        <p:nvSpPr>
          <p:cNvPr id="8" name="Shape 5"/>
          <p:cNvSpPr/>
          <p:nvPr/>
        </p:nvSpPr>
        <p:spPr>
          <a:xfrm>
            <a:off x="10268712" y="6510528"/>
            <a:ext cx="1554480" cy="274320"/>
          </a:xfrm>
          <a:prstGeom prst="rect">
            <a:avLst/>
          </a:prstGeom>
          <a:solidFill>
            <a:srgbClr val="E8A317"/>
          </a:solidFill>
          <a:ln w="12700">
            <a:solidFill>
              <a:srgbClr val="E8A317"/>
            </a:solidFill>
            <a:prstDash val="solid"/>
          </a:ln>
        </p:spPr>
      </p:sp>
      <p:sp>
        <p:nvSpPr>
          <p:cNvPr id="9" name="Text 6"/>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Meiryo" pitchFamily="34" charset="0"/>
                <a:ea typeface="Meiryo" pitchFamily="34" charset="-122"/>
                <a:cs typeface="Meiryo" pitchFamily="34" charset="-120"/>
              </a:rPr>
              <a:t>ADRC  12/08/2026</a:t>
            </a:r>
            <a:endParaRPr lang="en-US" sz="950" dirty="0"/>
          </a:p>
        </p:txBody>
      </p:sp>
      <p:sp>
        <p:nvSpPr>
          <p:cNvPr id="10" name="Text 7"/>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Meiryo" pitchFamily="34" charset="0"/>
                <a:ea typeface="Meiryo" pitchFamily="34" charset="-122"/>
                <a:cs typeface="Meiryo" pitchFamily="34" charset="-120"/>
              </a:rPr>
              <a:t>3</a:t>
            </a:r>
            <a:endParaRPr lang="en-US" sz="9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1900" b="1" dirty="0">
                <a:solidFill>
                  <a:srgbClr val="1F3864"/>
                </a:solidFill>
                <a:latin typeface="Meiryo" pitchFamily="34" charset="0"/>
                <a:ea typeface="Meiryo" pitchFamily="34" charset="-122"/>
                <a:cs typeface="Meiryo" pitchFamily="34" charset="-120"/>
              </a:rPr>
              <a:t>対応の時系列（8月10〜11日）（1/3）</a:t>
            </a:r>
            <a:endParaRPr lang="en-US" sz="19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896112"/>
            <a:ext cx="11430000" cy="274320"/>
          </a:xfrm>
          <a:prstGeom prst="rect">
            <a:avLst/>
          </a:prstGeom>
          <a:noFill/>
          <a:ln/>
        </p:spPr>
        <p:txBody>
          <a:bodyPr wrap="square" lIns="0" tIns="0" rIns="0" bIns="0" rtlCol="0" anchor="t"/>
          <a:lstStyle/>
          <a:p>
            <a:pPr indent="0" marL="0">
              <a:buNone/>
            </a:pPr>
            <a:r>
              <a:rPr lang="en-US" sz="950" i="1" dirty="0">
                <a:solidFill>
                  <a:srgbClr val="6A6A6A"/>
                </a:solidFill>
                <a:latin typeface="Meiryo" pitchFamily="34" charset="0"/>
                <a:ea typeface="Meiryo" pitchFamily="34" charset="-122"/>
                <a:cs typeface="Meiryo" pitchFamily="34" charset="-120"/>
              </a:rPr>
              <a:t>時刻はコロンビア時間（COT、UTC-5）。地震発生は8月10日07:34 COT＝同日21:34 JST。</a:t>
            </a:r>
            <a:endParaRPr lang="en-US" sz="950" dirty="0"/>
          </a:p>
        </p:txBody>
      </p:sp>
      <p:graphicFrame>
        <p:nvGraphicFramePr>
          <p:cNvPr id="5" name="Table 0"/>
          <p:cNvGraphicFramePr>
            <a:graphicFrameLocks noGrp="1"/>
          </p:cNvGraphicFramePr>
          <p:nvPr>
            <p:extLst>
              <p:ext uri="{D42A27DB-BD31-4B8C-83A1-F6EECF244321}">
                <p14:modId xmlns:p14="http://schemas.microsoft.com/office/powerpoint/2010/main" val="1579011935"/>
              </p:ext>
            </p:extLst>
          </p:nvPr>
        </p:nvGraphicFramePr>
        <p:xfrm>
          <a:off x="365760" y="1225296"/>
          <a:ext cx="11430000" cy="914400"/>
        </p:xfrm>
        <a:graphic>
          <a:graphicData uri="http://schemas.openxmlformats.org/drawingml/2006/table">
            <a:tbl>
              <a:tblPr/>
              <a:tblGrid>
                <a:gridCol w="1280160"/>
                <a:gridCol w="8321040"/>
                <a:gridCol w="1828800"/>
              </a:tblGrid>
              <a:tr h="457200">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時刻</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事項</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出典</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457200">
                <a:tc>
                  <a:txBody>
                    <a:bodyPr/>
                    <a:lstStyle/>
                    <a:p>
                      <a:pPr algn="ctr" indent="0" marL="0">
                        <a:buNone/>
                      </a:pPr>
                      <a:r>
                        <a:rPr lang="en-US" sz="1000" b="1" dirty="0">
                          <a:solidFill>
                            <a:srgbClr val="1F3864"/>
                          </a:solidFill>
                          <a:latin typeface="Meiryo" pitchFamily="34" charset="0"/>
                          <a:ea typeface="Meiryo" pitchFamily="34" charset="-122"/>
                          <a:cs typeface="Meiryo" pitchFamily="34" charset="-120"/>
                        </a:rPr>
                        <a:t>07:34</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Mww7.4の地震発生。震央はチョコ県サンホセ・デル・パルマルの南5km、深さ約110km。ボゴタ、カリ、メデジンのほかエクアドル、パナマ、ベネズエラでも有感。</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USGS／SGC</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457200">
                <a:tc>
                  <a:txBody>
                    <a:bodyPr/>
                    <a:lstStyle/>
                    <a:p>
                      <a:pPr algn="ctr" indent="0" marL="0">
                        <a:buNone/>
                      </a:pPr>
                      <a:r>
                        <a:rPr lang="en-US" sz="1000" b="1" dirty="0">
                          <a:solidFill>
                            <a:srgbClr val="1F3864"/>
                          </a:solidFill>
                          <a:latin typeface="Meiryo" pitchFamily="34" charset="0"/>
                          <a:ea typeface="Meiryo" pitchFamily="34" charset="-122"/>
                          <a:cs typeface="Meiryo" pitchFamily="34" charset="-120"/>
                        </a:rPr>
                        <a:t>07:40s</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SGCが第1報を発表（当初M6.6・深さ79km）。のちM7.4・深さ96kmに修正し、69観測点で決定（イベントSGC2026pqqmro）。被害評価のプロトコルを起動。</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SGC</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457200">
                <a:tc>
                  <a:txBody>
                    <a:bodyPr/>
                    <a:lstStyle/>
                    <a:p>
                      <a:pPr algn="ctr" indent="0" marL="0">
                        <a:buNone/>
                      </a:pPr>
                      <a:r>
                        <a:rPr lang="en-US" sz="1000" b="1" dirty="0">
                          <a:solidFill>
                            <a:srgbClr val="1F3864"/>
                          </a:solidFill>
                          <a:latin typeface="Meiryo" pitchFamily="34" charset="0"/>
                          <a:ea typeface="Meiryo" pitchFamily="34" charset="-122"/>
                          <a:cs typeface="Meiryo" pitchFamily="34" charset="-120"/>
                        </a:rPr>
                        <a:t>午前</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UNGRDが、チョコ県9市町村、カルダス県8、バジェ・デル・カウカ県2、リサラルダ県2、およびキンディオ県の複数地区で被害の可能性を報告。</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UNGRD</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457200">
                <a:tc>
                  <a:txBody>
                    <a:bodyPr/>
                    <a:lstStyle/>
                    <a:p>
                      <a:pPr algn="ctr" indent="0" marL="0">
                        <a:buNone/>
                      </a:pPr>
                      <a:r>
                        <a:rPr lang="en-US" sz="1000" b="1" dirty="0">
                          <a:solidFill>
                            <a:srgbClr val="1F3864"/>
                          </a:solidFill>
                          <a:latin typeface="Meiryo" pitchFamily="34" charset="0"/>
                          <a:ea typeface="Meiryo" pitchFamily="34" charset="-122"/>
                          <a:cs typeface="Meiryo" pitchFamily="34" charset="-120"/>
                        </a:rPr>
                        <a:t>午前</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カリ市長が、12か所の重要地点で建物倒壊と生き埋めの発生を報告。大学病院の一部が崩落。</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Meiryo" pitchFamily="34" charset="0"/>
                          <a:ea typeface="Meiryo" pitchFamily="34" charset="-122"/>
                          <a:cs typeface="Meiryo" pitchFamily="34" charset="-120"/>
                        </a:rPr>
                        <a:t>カリ市長</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457200">
                <a:tc>
                  <a:txBody>
                    <a:bodyPr/>
                    <a:lstStyle/>
                    <a:p>
                      <a:pPr algn="ctr" indent="0" marL="0">
                        <a:buNone/>
                      </a:pPr>
                      <a:r>
                        <a:rPr lang="en-US" sz="1000" b="1" dirty="0">
                          <a:solidFill>
                            <a:srgbClr val="1F3864"/>
                          </a:solidFill>
                          <a:latin typeface="Meiryo" pitchFamily="34" charset="0"/>
                          <a:ea typeface="Meiryo" pitchFamily="34" charset="-122"/>
                          <a:cs typeface="Meiryo" pitchFamily="34" charset="-120"/>
                        </a:rPr>
                        <a:t>午前</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マニサレス市長が、建物17棟の倒壊・19棟の部分倒壊を報告。ネオゴシック様式の大聖堂の塔が身廊に崩落。余震に備え屋外にとどまるよう呼びかけ。</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Meiryo" pitchFamily="34" charset="0"/>
                          <a:ea typeface="Meiryo" pitchFamily="34" charset="-122"/>
                          <a:cs typeface="Meiryo" pitchFamily="34" charset="-120"/>
                        </a:rPr>
                        <a:t>マニサレス市長</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457200">
                <a:tc>
                  <a:txBody>
                    <a:bodyPr/>
                    <a:lstStyle/>
                    <a:p>
                      <a:pPr algn="ctr" indent="0" marL="0">
                        <a:buNone/>
                      </a:pPr>
                      <a:r>
                        <a:rPr lang="en-US" sz="1000" b="1" dirty="0">
                          <a:solidFill>
                            <a:srgbClr val="1F3864"/>
                          </a:solidFill>
                          <a:latin typeface="Meiryo" pitchFamily="34" charset="0"/>
                          <a:ea typeface="Meiryo" pitchFamily="34" charset="-122"/>
                          <a:cs typeface="Meiryo" pitchFamily="34" charset="-120"/>
                        </a:rPr>
                        <a:t>午前</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ペレイラのマテカニャ国際空港旅客ターミナルが一部倒壊。地方6空港で運航停止。</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Meiryo" pitchFamily="34" charset="0"/>
                          <a:ea typeface="Meiryo" pitchFamily="34" charset="-122"/>
                          <a:cs typeface="Meiryo" pitchFamily="34" charset="-120"/>
                        </a:rPr>
                        <a:t>民間航空当局／報道</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457200">
                <a:tc>
                  <a:txBody>
                    <a:bodyPr/>
                    <a:lstStyle/>
                    <a:p>
                      <a:pPr algn="ctr" indent="0" marL="0">
                        <a:buNone/>
                      </a:pPr>
                      <a:r>
                        <a:rPr lang="en-US" sz="1000" b="1" dirty="0">
                          <a:solidFill>
                            <a:srgbClr val="1F3864"/>
                          </a:solidFill>
                          <a:latin typeface="Meiryo" pitchFamily="34" charset="0"/>
                          <a:ea typeface="Meiryo" pitchFamily="34" charset="-122"/>
                          <a:cs typeface="Meiryo" pitchFamily="34" charset="-120"/>
                        </a:rPr>
                        <a:t>日中</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国家災害を宣言。チョコ県に統合指揮所を設置し、軍を投入。</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政府</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457200">
                <a:tc>
                  <a:txBody>
                    <a:bodyPr/>
                    <a:lstStyle/>
                    <a:p>
                      <a:pPr algn="ctr" indent="0" marL="0">
                        <a:buNone/>
                      </a:pPr>
                      <a:r>
                        <a:rPr lang="en-US" sz="1000" b="1" dirty="0">
                          <a:solidFill>
                            <a:srgbClr val="1F3864"/>
                          </a:solidFill>
                          <a:latin typeface="Meiryo" pitchFamily="34" charset="0"/>
                          <a:ea typeface="Meiryo" pitchFamily="34" charset="-122"/>
                          <a:cs typeface="Meiryo" pitchFamily="34" charset="-120"/>
                        </a:rPr>
                        <a:t>日中</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USAR4隊をボゴタ、エンビガド、ヨパル、メデジンから派遣。</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UNGRD</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457200">
                <a:tc>
                  <a:txBody>
                    <a:bodyPr/>
                    <a:lstStyle/>
                    <a:p>
                      <a:pPr algn="ctr" indent="0" marL="0">
                        <a:buNone/>
                      </a:pPr>
                      <a:r>
                        <a:rPr lang="en-US" sz="1000" b="1" dirty="0">
                          <a:solidFill>
                            <a:srgbClr val="1F3864"/>
                          </a:solidFill>
                          <a:latin typeface="Meiryo" pitchFamily="34" charset="0"/>
                          <a:ea typeface="Meiryo" pitchFamily="34" charset="-122"/>
                          <a:cs typeface="Meiryo" pitchFamily="34" charset="-120"/>
                        </a:rPr>
                        <a:t>日中</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余震20回以上を観測。最大の余震はM4.8で広く有感。</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SGC</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6" name="Text 2"/>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Meiryo" pitchFamily="34" charset="0"/>
                <a:ea typeface="Meiryo" pitchFamily="34" charset="-122"/>
                <a:cs typeface="Meiryo" pitchFamily="34" charset="-120"/>
              </a:rPr>
              <a:t>出典：</a:t>
            </a:r>
            <a:pPr algn="l" indent="0" marL="0">
              <a:buNone/>
            </a:pPr>
            <a:r>
              <a:rPr lang="en-US" sz="850" u="sng" dirty="0">
                <a:solidFill>
                  <a:srgbClr val="0563C1"/>
                </a:solidFill>
                <a:latin typeface="Meiryo" pitchFamily="34" charset="0"/>
                <a:ea typeface="Meiryo" pitchFamily="34" charset="-122"/>
                <a:cs typeface="Meiryo" pitchFamily="34" charset="-120"/>
                <a:hlinkClick r:id="rId2" invalidUrl="" action="" tgtFrame="" tooltip="" history="1" highlightClick="0" endSnd="0">
                  <a:extLst>
                    <a:ext uri="{A12FA001-AC4F-418D-AE19-62706E023703}">
                      <ahyp:hlinkClr xmlns:ahyp="http://schemas.microsoft.com/office/drawing/2018/hyperlinkcolor" val="tx"/>
                    </a:ext>
                  </a:extLst>
                </a:hlinkClick>
              </a:rPr>
              <a:t>USGS 地震イベントページ</a:t>
            </a:r>
            <a:pPr algn="l" indent="0" marL="0">
              <a:buNone/>
            </a:pPr>
            <a:r>
              <a:rPr lang="en-US" sz="850" dirty="0">
                <a:solidFill>
                  <a:srgbClr val="6A6A6A"/>
                </a:solidFill>
                <a:latin typeface="Meiryo" pitchFamily="34" charset="0"/>
                <a:ea typeface="Meiryo" pitchFamily="34" charset="-122"/>
                <a:cs typeface="Meiryo" pitchFamily="34" charset="-120"/>
              </a:rPr>
              <a:t>   ·   </a:t>
            </a:r>
            <a:pPr algn="l" indent="0" marL="0">
              <a:buNone/>
            </a:pPr>
            <a:r>
              <a:rPr lang="en-US" sz="850" u="sng" dirty="0">
                <a:solidFill>
                  <a:srgbClr val="0563C1"/>
                </a:solidFill>
                <a:latin typeface="Meiryo" pitchFamily="34" charset="0"/>
                <a:ea typeface="Meiryo" pitchFamily="34" charset="-122"/>
                <a:cs typeface="Meiryo" pitchFamily="34" charset="-120"/>
                <a:hlinkClick r:id="rId3" invalidUrl="" action="" tgtFrame="" tooltip="" history="1" highlightClick="0" endSnd="0">
                  <a:extLst>
                    <a:ext uri="{A12FA001-AC4F-418D-AE19-62706E023703}">
                      <ahyp:hlinkClr xmlns:ahyp="http://schemas.microsoft.com/office/drawing/2018/hyperlinkcolor" val="tx"/>
                    </a:ext>
                  </a:extLst>
                </a:hlinkClick>
              </a:rPr>
              <a:t>国家災害リスク管理ユニット（UNGRD）</a:t>
            </a:r>
            <a:pPr algn="l" indent="0" marL="0">
              <a:buNone/>
            </a:pPr>
            <a:r>
              <a:rPr lang="en-US" sz="850" dirty="0">
                <a:solidFill>
                  <a:srgbClr val="6A6A6A"/>
                </a:solidFill>
                <a:latin typeface="Meiryo" pitchFamily="34" charset="0"/>
                <a:ea typeface="Meiryo" pitchFamily="34" charset="-122"/>
                <a:cs typeface="Meiryo" pitchFamily="34" charset="-120"/>
              </a:rPr>
              <a:t>   ·   </a:t>
            </a:r>
            <a:pPr algn="l" indent="0" marL="0">
              <a:buNone/>
            </a:pPr>
            <a:r>
              <a:rPr lang="en-US" sz="850" u="sng" dirty="0">
                <a:solidFill>
                  <a:srgbClr val="0563C1"/>
                </a:solidFill>
                <a:latin typeface="Meiryo" pitchFamily="34" charset="0"/>
                <a:ea typeface="Meiryo" pitchFamily="34" charset="-122"/>
                <a:cs typeface="Meiryo" pitchFamily="34" charset="-120"/>
                <a:hlinkClick r:id="rId4" invalidUrl="" action="" tgtFrame="" tooltip="" history="1" highlightClick="0" endSnd="0">
                  <a:extLst>
                    <a:ext uri="{A12FA001-AC4F-418D-AE19-62706E023703}">
                      <ahyp:hlinkClr xmlns:ahyp="http://schemas.microsoft.com/office/drawing/2018/hyperlinkcolor" val="tx"/>
                    </a:ext>
                  </a:extLst>
                </a:hlinkClick>
              </a:rPr>
              <a:t>CNN 速報：死者132人に増加</a:t>
            </a:r>
            <a:pPr algn="l" indent="0" marL="0">
              <a:buNone/>
            </a:pPr>
            <a:r>
              <a:rPr lang="en-US" sz="850" dirty="0">
                <a:solidFill>
                  <a:srgbClr val="6A6A6A"/>
                </a:solidFill>
                <a:latin typeface="Meiryo" pitchFamily="34" charset="0"/>
                <a:ea typeface="Meiryo" pitchFamily="34" charset="-122"/>
                <a:cs typeface="Meiryo" pitchFamily="34" charset="-120"/>
              </a:rPr>
              <a:t>   ·   </a:t>
            </a:r>
            <a:pPr algn="l" indent="0" marL="0">
              <a:buNone/>
            </a:pPr>
            <a:r>
              <a:rPr lang="en-US" sz="850" u="sng" dirty="0">
                <a:solidFill>
                  <a:srgbClr val="0563C1"/>
                </a:solidFill>
                <a:latin typeface="Meiryo" pitchFamily="34" charset="0"/>
                <a:ea typeface="Meiryo" pitchFamily="34" charset="-122"/>
                <a:cs typeface="Meiryo" pitchFamily="34" charset="-120"/>
                <a:hlinkClick r:id="rId5" invalidUrl="" action="" tgtFrame="" tooltip="" history="1" highlightClick="0" endSnd="0">
                  <a:extLst>
                    <a:ext uri="{A12FA001-AC4F-418D-AE19-62706E023703}">
                      <ahyp:hlinkClr xmlns:ahyp="http://schemas.microsoft.com/office/drawing/2018/hyperlinkcolor" val="tx"/>
                    </a:ext>
                  </a:extLst>
                </a:hlinkClick>
              </a:rPr>
              <a:t>Colombia One 政府第1次被害評価</a:t>
            </a:r>
            <a:endParaRPr lang="en-US" sz="850" dirty="0"/>
          </a:p>
        </p:txBody>
      </p:sp>
      <p:sp>
        <p:nvSpPr>
          <p:cNvPr id="7" name="Shape 3"/>
          <p:cNvSpPr/>
          <p:nvPr/>
        </p:nvSpPr>
        <p:spPr>
          <a:xfrm>
            <a:off x="10268712" y="6510528"/>
            <a:ext cx="1554480" cy="274320"/>
          </a:xfrm>
          <a:prstGeom prst="rect">
            <a:avLst/>
          </a:prstGeom>
          <a:solidFill>
            <a:srgbClr val="E8A317"/>
          </a:solidFill>
          <a:ln w="12700">
            <a:solidFill>
              <a:srgbClr val="E8A317"/>
            </a:solidFill>
            <a:prstDash val="solid"/>
          </a:ln>
        </p:spPr>
      </p:sp>
      <p:sp>
        <p:nvSpPr>
          <p:cNvPr id="8" name="Text 4"/>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Meiryo" pitchFamily="34" charset="0"/>
                <a:ea typeface="Meiryo" pitchFamily="34" charset="-122"/>
                <a:cs typeface="Meiryo" pitchFamily="34" charset="-120"/>
              </a:rPr>
              <a:t>ADRC  12/08/2026</a:t>
            </a:r>
            <a:endParaRPr lang="en-US" sz="950" dirty="0"/>
          </a:p>
        </p:txBody>
      </p:sp>
      <p:sp>
        <p:nvSpPr>
          <p:cNvPr id="9" name="Text 5"/>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Meiryo" pitchFamily="34" charset="0"/>
                <a:ea typeface="Meiryo" pitchFamily="34" charset="-122"/>
                <a:cs typeface="Meiryo" pitchFamily="34" charset="-120"/>
              </a:rPr>
              <a:t>4</a:t>
            </a:r>
            <a:endParaRPr lang="en-US" sz="9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1900" b="1" dirty="0">
                <a:solidFill>
                  <a:srgbClr val="1F3864"/>
                </a:solidFill>
                <a:latin typeface="Meiryo" pitchFamily="34" charset="0"/>
                <a:ea typeface="Meiryo" pitchFamily="34" charset="-122"/>
                <a:cs typeface="Meiryo" pitchFamily="34" charset="-120"/>
              </a:rPr>
              <a:t>対応の時系列（8月10〜11日）（2/3）</a:t>
            </a:r>
            <a:endParaRPr lang="en-US" sz="19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896112"/>
            <a:ext cx="11430000" cy="274320"/>
          </a:xfrm>
          <a:prstGeom prst="rect">
            <a:avLst/>
          </a:prstGeom>
          <a:noFill/>
          <a:ln/>
        </p:spPr>
        <p:txBody>
          <a:bodyPr wrap="square" lIns="0" tIns="0" rIns="0" bIns="0" rtlCol="0" anchor="t"/>
          <a:lstStyle/>
          <a:p>
            <a:pPr indent="0" marL="0">
              <a:buNone/>
            </a:pPr>
            <a:r>
              <a:rPr lang="en-US" sz="950" i="1" dirty="0">
                <a:solidFill>
                  <a:srgbClr val="6A6A6A"/>
                </a:solidFill>
                <a:latin typeface="Meiryo" pitchFamily="34" charset="0"/>
                <a:ea typeface="Meiryo" pitchFamily="34" charset="-122"/>
                <a:cs typeface="Meiryo" pitchFamily="34" charset="-120"/>
              </a:rPr>
              <a:t>時刻はコロンビア時間（COT、UTC-5）。地震発生は8月10日07:34 COT＝同日21:34 JST。</a:t>
            </a:r>
            <a:endParaRPr lang="en-US" sz="950" dirty="0"/>
          </a:p>
        </p:txBody>
      </p:sp>
      <p:graphicFrame>
        <p:nvGraphicFramePr>
          <p:cNvPr id="6" name="Table 0"/>
          <p:cNvGraphicFramePr>
            <a:graphicFrameLocks noGrp="1"/>
          </p:cNvGraphicFramePr>
          <p:nvPr>
            <p:extLst>
              <p:ext uri="{D42A27DB-BD31-4B8C-83A1-F6EECF244321}">
                <p14:modId xmlns:p14="http://schemas.microsoft.com/office/powerpoint/2010/main" val="1579011935"/>
              </p:ext>
            </p:extLst>
          </p:nvPr>
        </p:nvGraphicFramePr>
        <p:xfrm>
          <a:off x="365760" y="1225296"/>
          <a:ext cx="11430000" cy="914400"/>
        </p:xfrm>
        <a:graphic>
          <a:graphicData uri="http://schemas.openxmlformats.org/drawingml/2006/table">
            <a:tbl>
              <a:tblPr/>
              <a:tblGrid>
                <a:gridCol w="1280160"/>
                <a:gridCol w="8321040"/>
                <a:gridCol w="1828800"/>
              </a:tblGrid>
              <a:tr h="457200">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時刻</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事項</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出典</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457200">
                <a:tc>
                  <a:txBody>
                    <a:bodyPr/>
                    <a:lstStyle/>
                    <a:p>
                      <a:pPr algn="ctr" indent="0" marL="0">
                        <a:buNone/>
                      </a:pPr>
                      <a:r>
                        <a:rPr lang="en-US" sz="1000" b="1" dirty="0">
                          <a:solidFill>
                            <a:srgbClr val="1F3864"/>
                          </a:solidFill>
                          <a:latin typeface="Meiryo" pitchFamily="34" charset="0"/>
                          <a:ea typeface="Meiryo" pitchFamily="34" charset="-122"/>
                          <a:cs typeface="Meiryo" pitchFamily="34" charset="-120"/>
                        </a:rPr>
                        <a:t>日中</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大統領が現地対応の指揮のためペレイラに移動。</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大統領府</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457200">
                <a:tc>
                  <a:txBody>
                    <a:bodyPr/>
                    <a:lstStyle/>
                    <a:p>
                      <a:pPr algn="ctr" indent="0" marL="0">
                        <a:buNone/>
                      </a:pPr>
                      <a:r>
                        <a:rPr lang="en-US" sz="1000" b="1" dirty="0">
                          <a:solidFill>
                            <a:srgbClr val="1F3864"/>
                          </a:solidFill>
                          <a:latin typeface="Meiryo" pitchFamily="34" charset="0"/>
                          <a:ea typeface="Meiryo" pitchFamily="34" charset="-122"/>
                          <a:cs typeface="Meiryo" pitchFamily="34" charset="-120"/>
                        </a:rPr>
                        <a:t>12:13</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コペルニクスEMSのラピッドマッピングが EMSR916 として発動（17:13 UTC）。要請は欧州委員会サービス／DG ECHO、地震被害評価のマッピングのため。</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Copernicus EMS</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457200">
                <a:tc>
                  <a:txBody>
                    <a:bodyPr/>
                    <a:lstStyle/>
                    <a:p>
                      <a:pPr algn="ctr" indent="0" marL="0">
                        <a:buNone/>
                      </a:pPr>
                      <a:r>
                        <a:rPr lang="en-US" sz="1000" b="1" dirty="0">
                          <a:solidFill>
                            <a:srgbClr val="1F3864"/>
                          </a:solidFill>
                          <a:latin typeface="Meiryo" pitchFamily="34" charset="0"/>
                          <a:ea typeface="Meiryo" pitchFamily="34" charset="-122"/>
                          <a:cs typeface="Meiryo" pitchFamily="34" charset="-120"/>
                        </a:rPr>
                        <a:t>午後</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政府の第1次被害報告：死者111人、負傷者87人。住宅損壊1,575棟、全壊37棟、建物倒壊61棟。医療施設18、教育施設52、コミュニティ施設17、幹線道路18、地方空港6か所に被害。</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大統領府／UNGRD</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457200">
                <a:tc>
                  <a:txBody>
                    <a:bodyPr/>
                    <a:lstStyle/>
                    <a:p>
                      <a:pPr algn="ctr" indent="0" marL="0">
                        <a:buNone/>
                      </a:pPr>
                      <a:r>
                        <a:rPr lang="en-US" sz="1000" b="1" dirty="0">
                          <a:solidFill>
                            <a:srgbClr val="1F3864"/>
                          </a:solidFill>
                          <a:latin typeface="Meiryo" pitchFamily="34" charset="0"/>
                          <a:ea typeface="Meiryo" pitchFamily="34" charset="-122"/>
                          <a:cs typeface="Meiryo" pitchFamily="34" charset="-120"/>
                        </a:rPr>
                        <a:t>午後</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エクアドルが救助犬を含む47人のUSARチームを動員。メキシコなど各国が支援を表明し、外務省とUNGRDを通じて受け入れる方針。</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Meiryo" pitchFamily="34" charset="0"/>
                          <a:ea typeface="Meiryo" pitchFamily="34" charset="-122"/>
                          <a:cs typeface="Meiryo" pitchFamily="34" charset="-120"/>
                        </a:rPr>
                        <a:t>国際報道</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457200">
                <a:tc>
                  <a:txBody>
                    <a:bodyPr/>
                    <a:lstStyle/>
                    <a:p>
                      <a:pPr algn="ctr" indent="0" marL="0">
                        <a:buNone/>
                      </a:pPr>
                      <a:r>
                        <a:rPr lang="en-US" sz="1000" b="1" dirty="0">
                          <a:solidFill>
                            <a:srgbClr val="1F3864"/>
                          </a:solidFill>
                          <a:latin typeface="Meiryo" pitchFamily="34" charset="0"/>
                          <a:ea typeface="Meiryo" pitchFamily="34" charset="-122"/>
                          <a:cs typeface="Meiryo" pitchFamily="34" charset="-120"/>
                        </a:rPr>
                        <a:t>夕方</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報道による全国の死者数が132人に増加。瓦礫から4人が救出。被災市町村は20を超えると報じられ、チョコ県では停電・通信障害が続く。</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Meiryo" pitchFamily="34" charset="0"/>
                          <a:ea typeface="Meiryo" pitchFamily="34" charset="-122"/>
                          <a:cs typeface="Meiryo" pitchFamily="34" charset="-120"/>
                        </a:rPr>
                        <a:t>国際報道</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457200">
                <a:tc>
                  <a:txBody>
                    <a:bodyPr/>
                    <a:lstStyle/>
                    <a:p>
                      <a:pPr algn="ctr" indent="0" marL="0">
                        <a:buNone/>
                      </a:pPr>
                      <a:r>
                        <a:rPr lang="en-US" sz="1000" b="1" dirty="0">
                          <a:solidFill>
                            <a:srgbClr val="1F3864"/>
                          </a:solidFill>
                          <a:latin typeface="Meiryo" pitchFamily="34" charset="0"/>
                          <a:ea typeface="Meiryo" pitchFamily="34" charset="-122"/>
                          <a:cs typeface="Meiryo" pitchFamily="34" charset="-120"/>
                        </a:rPr>
                        <a:t>8月11日</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捜索は夜を徹して継続。大統領は全国の負傷者700人、住宅約5,000棟の損壊・全壊を報告し、行方不明者の捜索を国の最優先と表明、カリへ治安維持の部隊派遣を指示。カリ市長は死者85人・負傷885人・行方不明188人、ペレイラ消防は死者66人を報告。マニサレスでは約100人が行方不明。カリ、ペレイラ、キブド、マニサレス、アルメニアの5県都は赤色警報を継続。</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大統領府／地元当局</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457200">
                <a:tc>
                  <a:txBody>
                    <a:bodyPr/>
                    <a:lstStyle/>
                    <a:p>
                      <a:pPr algn="ctr" indent="0" marL="0">
                        <a:buNone/>
                      </a:pPr>
                      <a:r>
                        <a:rPr lang="en-US" sz="1000" b="1" dirty="0">
                          <a:solidFill>
                            <a:srgbClr val="1F3864"/>
                          </a:solidFill>
                          <a:latin typeface="Meiryo" pitchFamily="34" charset="0"/>
                          <a:ea typeface="Meiryo" pitchFamily="34" charset="-122"/>
                          <a:cs typeface="Meiryo" pitchFamily="34" charset="-120"/>
                        </a:rPr>
                        <a:t>8月11日 午後</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UNGRDの状況報告は死者182人・負傷2,542人・行方不明189人、住宅は損壊13,067棟・全壊2,501棟、医療93か所・教育884か所・コミュニティ施設427か所・道路77路線が被害と発表。大統領は死者181人、うち97.6%が県都とした。エクアドル、エルサルバドル、ロシアの支援に謝意。</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UNGRD／大統領府</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457200">
                <a:tc>
                  <a:txBody>
                    <a:bodyPr/>
                    <a:lstStyle/>
                    <a:p>
                      <a:pPr algn="ctr" indent="0" marL="0">
                        <a:buNone/>
                      </a:pPr>
                      <a:r>
                        <a:rPr lang="en-US" sz="1000" b="1" dirty="0">
                          <a:solidFill>
                            <a:srgbClr val="1F3864"/>
                          </a:solidFill>
                          <a:latin typeface="Meiryo" pitchFamily="34" charset="0"/>
                          <a:ea typeface="Meiryo" pitchFamily="34" charset="-122"/>
                          <a:cs typeface="Meiryo" pitchFamily="34" charset="-120"/>
                        </a:rPr>
                        <a:t>8月11日 午後</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SGCが公表する余震回数は15:00（現地）で103回に達する（M3.0以下97回、M3.0〜4.0が5回、M4.0超1回）。日中のM3.9により被災各都市で建物からの避難が行われた。同期間のSGCカタログには147回の決定解があり、こちらは背景地震活動を含む広い数値である。</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SGC</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457200">
                <a:tc>
                  <a:txBody>
                    <a:bodyPr/>
                    <a:lstStyle/>
                    <a:p>
                      <a:pPr algn="ctr" indent="0" marL="0">
                        <a:buNone/>
                      </a:pPr>
                      <a:r>
                        <a:rPr lang="en-US" sz="1000" b="1" dirty="0">
                          <a:solidFill>
                            <a:srgbClr val="1F3864"/>
                          </a:solidFill>
                          <a:latin typeface="Meiryo" pitchFamily="34" charset="0"/>
                          <a:ea typeface="Meiryo" pitchFamily="34" charset="-122"/>
                          <a:cs typeface="Meiryo" pitchFamily="34" charset="-120"/>
                        </a:rPr>
                        <a:t>8月11日 14:20 UTC</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SGCが本震の解をM7.4・深さ103km、北緯4.99度・西経76.29度に改訂。119観測点・208フェーズで決定。第1報はM6.6・深さ79km、第2報は7.4・深さ96km（69観測点）であった。</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SGC</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6" name="Text 2"/>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Meiryo" pitchFamily="34" charset="0"/>
                <a:ea typeface="Meiryo" pitchFamily="34" charset="-122"/>
                <a:cs typeface="Meiryo" pitchFamily="34" charset="-120"/>
              </a:rPr>
              <a:t>出典：</a:t>
            </a:r>
            <a:pPr algn="l" indent="0" marL="0">
              <a:buNone/>
            </a:pPr>
            <a:r>
              <a:rPr lang="en-US" sz="850" u="sng" dirty="0">
                <a:solidFill>
                  <a:srgbClr val="0563C1"/>
                </a:solidFill>
                <a:latin typeface="Meiryo" pitchFamily="34" charset="0"/>
                <a:ea typeface="Meiryo" pitchFamily="34" charset="-122"/>
                <a:cs typeface="Meiryo" pitchFamily="34" charset="-120"/>
                <a:hlinkClick r:id="rId2" invalidUrl="" action="" tgtFrame="" tooltip="" history="1" highlightClick="0" endSnd="0">
                  <a:extLst>
                    <a:ext uri="{A12FA001-AC4F-418D-AE19-62706E023703}">
                      <ahyp:hlinkClr xmlns:ahyp="http://schemas.microsoft.com/office/drawing/2018/hyperlinkcolor" val="tx"/>
                    </a:ext>
                  </a:extLst>
                </a:hlinkClick>
              </a:rPr>
              <a:t>USGS 地震イベントページ</a:t>
            </a:r>
            <a:pPr algn="l" indent="0" marL="0">
              <a:buNone/>
            </a:pPr>
            <a:r>
              <a:rPr lang="en-US" sz="850" dirty="0">
                <a:solidFill>
                  <a:srgbClr val="6A6A6A"/>
                </a:solidFill>
                <a:latin typeface="Meiryo" pitchFamily="34" charset="0"/>
                <a:ea typeface="Meiryo" pitchFamily="34" charset="-122"/>
                <a:cs typeface="Meiryo" pitchFamily="34" charset="-120"/>
              </a:rPr>
              <a:t>   ·   </a:t>
            </a:r>
            <a:pPr algn="l" indent="0" marL="0">
              <a:buNone/>
            </a:pPr>
            <a:r>
              <a:rPr lang="en-US" sz="850" u="sng" dirty="0">
                <a:solidFill>
                  <a:srgbClr val="0563C1"/>
                </a:solidFill>
                <a:latin typeface="Meiryo" pitchFamily="34" charset="0"/>
                <a:ea typeface="Meiryo" pitchFamily="34" charset="-122"/>
                <a:cs typeface="Meiryo" pitchFamily="34" charset="-120"/>
                <a:hlinkClick r:id="rId3" invalidUrl="" action="" tgtFrame="" tooltip="" history="1" highlightClick="0" endSnd="0">
                  <a:extLst>
                    <a:ext uri="{A12FA001-AC4F-418D-AE19-62706E023703}">
                      <ahyp:hlinkClr xmlns:ahyp="http://schemas.microsoft.com/office/drawing/2018/hyperlinkcolor" val="tx"/>
                    </a:ext>
                  </a:extLst>
                </a:hlinkClick>
              </a:rPr>
              <a:t>国家災害リスク管理ユニット（UNGRD）</a:t>
            </a:r>
            <a:pPr algn="l" indent="0" marL="0">
              <a:buNone/>
            </a:pPr>
            <a:r>
              <a:rPr lang="en-US" sz="850" dirty="0">
                <a:solidFill>
                  <a:srgbClr val="6A6A6A"/>
                </a:solidFill>
                <a:latin typeface="Meiryo" pitchFamily="34" charset="0"/>
                <a:ea typeface="Meiryo" pitchFamily="34" charset="-122"/>
                <a:cs typeface="Meiryo" pitchFamily="34" charset="-120"/>
              </a:rPr>
              <a:t>   ·   </a:t>
            </a:r>
            <a:pPr algn="l" indent="0" marL="0">
              <a:buNone/>
            </a:pPr>
            <a:r>
              <a:rPr lang="en-US" sz="850" u="sng" dirty="0">
                <a:solidFill>
                  <a:srgbClr val="0563C1"/>
                </a:solidFill>
                <a:latin typeface="Meiryo" pitchFamily="34" charset="0"/>
                <a:ea typeface="Meiryo" pitchFamily="34" charset="-122"/>
                <a:cs typeface="Meiryo" pitchFamily="34" charset="-120"/>
                <a:hlinkClick r:id="rId4" invalidUrl="" action="" tgtFrame="" tooltip="" history="1" highlightClick="0" endSnd="0">
                  <a:extLst>
                    <a:ext uri="{A12FA001-AC4F-418D-AE19-62706E023703}">
                      <ahyp:hlinkClr xmlns:ahyp="http://schemas.microsoft.com/office/drawing/2018/hyperlinkcolor" val="tx"/>
                    </a:ext>
                  </a:extLst>
                </a:hlinkClick>
              </a:rPr>
              <a:t>CNN 速報：死者132人に増加</a:t>
            </a:r>
            <a:pPr algn="l" indent="0" marL="0">
              <a:buNone/>
            </a:pPr>
            <a:r>
              <a:rPr lang="en-US" sz="850" dirty="0">
                <a:solidFill>
                  <a:srgbClr val="6A6A6A"/>
                </a:solidFill>
                <a:latin typeface="Meiryo" pitchFamily="34" charset="0"/>
                <a:ea typeface="Meiryo" pitchFamily="34" charset="-122"/>
                <a:cs typeface="Meiryo" pitchFamily="34" charset="-120"/>
              </a:rPr>
              <a:t>   ·   </a:t>
            </a:r>
            <a:pPr algn="l" indent="0" marL="0">
              <a:buNone/>
            </a:pPr>
            <a:r>
              <a:rPr lang="en-US" sz="850" u="sng" dirty="0">
                <a:solidFill>
                  <a:srgbClr val="0563C1"/>
                </a:solidFill>
                <a:latin typeface="Meiryo" pitchFamily="34" charset="0"/>
                <a:ea typeface="Meiryo" pitchFamily="34" charset="-122"/>
                <a:cs typeface="Meiryo" pitchFamily="34" charset="-120"/>
                <a:hlinkClick r:id="rId5" invalidUrl="" action="" tgtFrame="" tooltip="" history="1" highlightClick="0" endSnd="0">
                  <a:extLst>
                    <a:ext uri="{A12FA001-AC4F-418D-AE19-62706E023703}">
                      <ahyp:hlinkClr xmlns:ahyp="http://schemas.microsoft.com/office/drawing/2018/hyperlinkcolor" val="tx"/>
                    </a:ext>
                  </a:extLst>
                </a:hlinkClick>
              </a:rPr>
              <a:t>Colombia One 政府第1次被害評価</a:t>
            </a:r>
            <a:endParaRPr lang="en-US" sz="850" dirty="0"/>
          </a:p>
        </p:txBody>
      </p:sp>
      <p:sp>
        <p:nvSpPr>
          <p:cNvPr id="7" name="Shape 3"/>
          <p:cNvSpPr/>
          <p:nvPr/>
        </p:nvSpPr>
        <p:spPr>
          <a:xfrm>
            <a:off x="10268712" y="6510528"/>
            <a:ext cx="1554480" cy="274320"/>
          </a:xfrm>
          <a:prstGeom prst="rect">
            <a:avLst/>
          </a:prstGeom>
          <a:solidFill>
            <a:srgbClr val="E8A317"/>
          </a:solidFill>
          <a:ln w="12700">
            <a:solidFill>
              <a:srgbClr val="E8A317"/>
            </a:solidFill>
            <a:prstDash val="solid"/>
          </a:ln>
        </p:spPr>
      </p:sp>
      <p:sp>
        <p:nvSpPr>
          <p:cNvPr id="8" name="Text 4"/>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Meiryo" pitchFamily="34" charset="0"/>
                <a:ea typeface="Meiryo" pitchFamily="34" charset="-122"/>
                <a:cs typeface="Meiryo" pitchFamily="34" charset="-120"/>
              </a:rPr>
              <a:t>ADRC  12/08/2026</a:t>
            </a:r>
            <a:endParaRPr lang="en-US" sz="950" dirty="0"/>
          </a:p>
        </p:txBody>
      </p:sp>
      <p:sp>
        <p:nvSpPr>
          <p:cNvPr id="9" name="Text 5"/>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Meiryo" pitchFamily="34" charset="0"/>
                <a:ea typeface="Meiryo" pitchFamily="34" charset="-122"/>
                <a:cs typeface="Meiryo" pitchFamily="34" charset="-120"/>
              </a:rPr>
              <a:t>5</a:t>
            </a:r>
            <a:endParaRPr lang="en-US" sz="9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1900" b="1" dirty="0">
                <a:solidFill>
                  <a:srgbClr val="1F3864"/>
                </a:solidFill>
                <a:latin typeface="Meiryo" pitchFamily="34" charset="0"/>
                <a:ea typeface="Meiryo" pitchFamily="34" charset="-122"/>
                <a:cs typeface="Meiryo" pitchFamily="34" charset="-120"/>
              </a:rPr>
              <a:t>対応の時系列（8月10〜11日）（3/3）</a:t>
            </a:r>
            <a:endParaRPr lang="en-US" sz="19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896112"/>
            <a:ext cx="11430000" cy="274320"/>
          </a:xfrm>
          <a:prstGeom prst="rect">
            <a:avLst/>
          </a:prstGeom>
          <a:noFill/>
          <a:ln/>
        </p:spPr>
        <p:txBody>
          <a:bodyPr wrap="square" lIns="0" tIns="0" rIns="0" bIns="0" rtlCol="0" anchor="t"/>
          <a:lstStyle/>
          <a:p>
            <a:pPr indent="0" marL="0">
              <a:buNone/>
            </a:pPr>
            <a:r>
              <a:rPr lang="en-US" sz="950" i="1" dirty="0">
                <a:solidFill>
                  <a:srgbClr val="6A6A6A"/>
                </a:solidFill>
                <a:latin typeface="Meiryo" pitchFamily="34" charset="0"/>
                <a:ea typeface="Meiryo" pitchFamily="34" charset="-122"/>
                <a:cs typeface="Meiryo" pitchFamily="34" charset="-120"/>
              </a:rPr>
              <a:t>時刻はコロンビア時間（COT、UTC-5）。地震発生は8月10日07:34 COT＝同日21:34 JST。</a:t>
            </a:r>
            <a:endParaRPr lang="en-US" sz="950" dirty="0"/>
          </a:p>
        </p:txBody>
      </p:sp>
      <p:graphicFrame>
        <p:nvGraphicFramePr>
          <p:cNvPr id="7" name="Table 0"/>
          <p:cNvGraphicFramePr>
            <a:graphicFrameLocks noGrp="1"/>
          </p:cNvGraphicFramePr>
          <p:nvPr>
            <p:extLst>
              <p:ext uri="{D42A27DB-BD31-4B8C-83A1-F6EECF244321}">
                <p14:modId xmlns:p14="http://schemas.microsoft.com/office/powerpoint/2010/main" val="1579011935"/>
              </p:ext>
            </p:extLst>
          </p:nvPr>
        </p:nvGraphicFramePr>
        <p:xfrm>
          <a:off x="365760" y="1225296"/>
          <a:ext cx="11430000" cy="914400"/>
        </p:xfrm>
        <a:graphic>
          <a:graphicData uri="http://schemas.openxmlformats.org/drawingml/2006/table">
            <a:tbl>
              <a:tblPr/>
              <a:tblGrid>
                <a:gridCol w="1280160"/>
                <a:gridCol w="8321040"/>
                <a:gridCol w="1828800"/>
              </a:tblGrid>
              <a:tr h="457200">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時刻</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事項</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出典</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457200">
                <a:tc>
                  <a:txBody>
                    <a:bodyPr/>
                    <a:lstStyle/>
                    <a:p>
                      <a:pPr algn="ctr" indent="0" marL="0">
                        <a:buNone/>
                      </a:pPr>
                      <a:r>
                        <a:rPr lang="en-US" sz="1000" b="1" dirty="0">
                          <a:solidFill>
                            <a:srgbClr val="1F3864"/>
                          </a:solidFill>
                          <a:latin typeface="Meiryo" pitchFamily="34" charset="0"/>
                          <a:ea typeface="Meiryo" pitchFamily="34" charset="-122"/>
                          <a:cs typeface="Meiryo" pitchFamily="34" charset="-120"/>
                        </a:rPr>
                        <a:t>12 Aug</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カリ市当局が同市の被害を報告。建物倒壊107棟、構造的被害643棟、避難命令18棟、生き埋め230人、救出88人、死者69人、負傷1,008人。</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カリ市長</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6" name="Text 2"/>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Meiryo" pitchFamily="34" charset="0"/>
                <a:ea typeface="Meiryo" pitchFamily="34" charset="-122"/>
                <a:cs typeface="Meiryo" pitchFamily="34" charset="-120"/>
              </a:rPr>
              <a:t>出典：</a:t>
            </a:r>
            <a:pPr algn="l" indent="0" marL="0">
              <a:buNone/>
            </a:pPr>
            <a:r>
              <a:rPr lang="en-US" sz="850" u="sng" dirty="0">
                <a:solidFill>
                  <a:srgbClr val="0563C1"/>
                </a:solidFill>
                <a:latin typeface="Meiryo" pitchFamily="34" charset="0"/>
                <a:ea typeface="Meiryo" pitchFamily="34" charset="-122"/>
                <a:cs typeface="Meiryo" pitchFamily="34" charset="-120"/>
                <a:hlinkClick r:id="rId2" invalidUrl="" action="" tgtFrame="" tooltip="" history="1" highlightClick="0" endSnd="0">
                  <a:extLst>
                    <a:ext uri="{A12FA001-AC4F-418D-AE19-62706E023703}">
                      <ahyp:hlinkClr xmlns:ahyp="http://schemas.microsoft.com/office/drawing/2018/hyperlinkcolor" val="tx"/>
                    </a:ext>
                  </a:extLst>
                </a:hlinkClick>
              </a:rPr>
              <a:t>USGS 地震イベントページ</a:t>
            </a:r>
            <a:pPr algn="l" indent="0" marL="0">
              <a:buNone/>
            </a:pPr>
            <a:r>
              <a:rPr lang="en-US" sz="850" dirty="0">
                <a:solidFill>
                  <a:srgbClr val="6A6A6A"/>
                </a:solidFill>
                <a:latin typeface="Meiryo" pitchFamily="34" charset="0"/>
                <a:ea typeface="Meiryo" pitchFamily="34" charset="-122"/>
                <a:cs typeface="Meiryo" pitchFamily="34" charset="-120"/>
              </a:rPr>
              <a:t>   ·   </a:t>
            </a:r>
            <a:pPr algn="l" indent="0" marL="0">
              <a:buNone/>
            </a:pPr>
            <a:r>
              <a:rPr lang="en-US" sz="850" u="sng" dirty="0">
                <a:solidFill>
                  <a:srgbClr val="0563C1"/>
                </a:solidFill>
                <a:latin typeface="Meiryo" pitchFamily="34" charset="0"/>
                <a:ea typeface="Meiryo" pitchFamily="34" charset="-122"/>
                <a:cs typeface="Meiryo" pitchFamily="34" charset="-120"/>
                <a:hlinkClick r:id="rId3" invalidUrl="" action="" tgtFrame="" tooltip="" history="1" highlightClick="0" endSnd="0">
                  <a:extLst>
                    <a:ext uri="{A12FA001-AC4F-418D-AE19-62706E023703}">
                      <ahyp:hlinkClr xmlns:ahyp="http://schemas.microsoft.com/office/drawing/2018/hyperlinkcolor" val="tx"/>
                    </a:ext>
                  </a:extLst>
                </a:hlinkClick>
              </a:rPr>
              <a:t>国家災害リスク管理ユニット（UNGRD）</a:t>
            </a:r>
            <a:pPr algn="l" indent="0" marL="0">
              <a:buNone/>
            </a:pPr>
            <a:r>
              <a:rPr lang="en-US" sz="850" dirty="0">
                <a:solidFill>
                  <a:srgbClr val="6A6A6A"/>
                </a:solidFill>
                <a:latin typeface="Meiryo" pitchFamily="34" charset="0"/>
                <a:ea typeface="Meiryo" pitchFamily="34" charset="-122"/>
                <a:cs typeface="Meiryo" pitchFamily="34" charset="-120"/>
              </a:rPr>
              <a:t>   ·   </a:t>
            </a:r>
            <a:pPr algn="l" indent="0" marL="0">
              <a:buNone/>
            </a:pPr>
            <a:r>
              <a:rPr lang="en-US" sz="850" u="sng" dirty="0">
                <a:solidFill>
                  <a:srgbClr val="0563C1"/>
                </a:solidFill>
                <a:latin typeface="Meiryo" pitchFamily="34" charset="0"/>
                <a:ea typeface="Meiryo" pitchFamily="34" charset="-122"/>
                <a:cs typeface="Meiryo" pitchFamily="34" charset="-120"/>
                <a:hlinkClick r:id="rId4" invalidUrl="" action="" tgtFrame="" tooltip="" history="1" highlightClick="0" endSnd="0">
                  <a:extLst>
                    <a:ext uri="{A12FA001-AC4F-418D-AE19-62706E023703}">
                      <ahyp:hlinkClr xmlns:ahyp="http://schemas.microsoft.com/office/drawing/2018/hyperlinkcolor" val="tx"/>
                    </a:ext>
                  </a:extLst>
                </a:hlinkClick>
              </a:rPr>
              <a:t>CNN 速報：死者132人に増加</a:t>
            </a:r>
            <a:pPr algn="l" indent="0" marL="0">
              <a:buNone/>
            </a:pPr>
            <a:r>
              <a:rPr lang="en-US" sz="850" dirty="0">
                <a:solidFill>
                  <a:srgbClr val="6A6A6A"/>
                </a:solidFill>
                <a:latin typeface="Meiryo" pitchFamily="34" charset="0"/>
                <a:ea typeface="Meiryo" pitchFamily="34" charset="-122"/>
                <a:cs typeface="Meiryo" pitchFamily="34" charset="-120"/>
              </a:rPr>
              <a:t>   ·   </a:t>
            </a:r>
            <a:pPr algn="l" indent="0" marL="0">
              <a:buNone/>
            </a:pPr>
            <a:r>
              <a:rPr lang="en-US" sz="850" u="sng" dirty="0">
                <a:solidFill>
                  <a:srgbClr val="0563C1"/>
                </a:solidFill>
                <a:latin typeface="Meiryo" pitchFamily="34" charset="0"/>
                <a:ea typeface="Meiryo" pitchFamily="34" charset="-122"/>
                <a:cs typeface="Meiryo" pitchFamily="34" charset="-120"/>
                <a:hlinkClick r:id="rId5" invalidUrl="" action="" tgtFrame="" tooltip="" history="1" highlightClick="0" endSnd="0">
                  <a:extLst>
                    <a:ext uri="{A12FA001-AC4F-418D-AE19-62706E023703}">
                      <ahyp:hlinkClr xmlns:ahyp="http://schemas.microsoft.com/office/drawing/2018/hyperlinkcolor" val="tx"/>
                    </a:ext>
                  </a:extLst>
                </a:hlinkClick>
              </a:rPr>
              <a:t>Colombia One 政府第1次被害評価</a:t>
            </a:r>
            <a:endParaRPr lang="en-US" sz="850" dirty="0"/>
          </a:p>
        </p:txBody>
      </p:sp>
      <p:sp>
        <p:nvSpPr>
          <p:cNvPr id="7" name="Shape 3"/>
          <p:cNvSpPr/>
          <p:nvPr/>
        </p:nvSpPr>
        <p:spPr>
          <a:xfrm>
            <a:off x="10268712" y="6510528"/>
            <a:ext cx="1554480" cy="274320"/>
          </a:xfrm>
          <a:prstGeom prst="rect">
            <a:avLst/>
          </a:prstGeom>
          <a:solidFill>
            <a:srgbClr val="E8A317"/>
          </a:solidFill>
          <a:ln w="12700">
            <a:solidFill>
              <a:srgbClr val="E8A317"/>
            </a:solidFill>
            <a:prstDash val="solid"/>
          </a:ln>
        </p:spPr>
      </p:sp>
      <p:sp>
        <p:nvSpPr>
          <p:cNvPr id="8" name="Text 4"/>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Meiryo" pitchFamily="34" charset="0"/>
                <a:ea typeface="Meiryo" pitchFamily="34" charset="-122"/>
                <a:cs typeface="Meiryo" pitchFamily="34" charset="-120"/>
              </a:rPr>
              <a:t>ADRC  12/08/2026</a:t>
            </a:r>
            <a:endParaRPr lang="en-US" sz="950" dirty="0"/>
          </a:p>
        </p:txBody>
      </p:sp>
      <p:sp>
        <p:nvSpPr>
          <p:cNvPr id="9" name="Text 5"/>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Meiryo" pitchFamily="34" charset="0"/>
                <a:ea typeface="Meiryo" pitchFamily="34" charset="-122"/>
                <a:cs typeface="Meiryo" pitchFamily="34" charset="-120"/>
              </a:rPr>
              <a:t>6</a:t>
            </a:r>
            <a:endParaRPr lang="en-US" sz="9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1900" b="1" dirty="0">
                <a:solidFill>
                  <a:srgbClr val="1F3864"/>
                </a:solidFill>
                <a:latin typeface="Meiryo" pitchFamily="34" charset="0"/>
                <a:ea typeface="Meiryo" pitchFamily="34" charset="-122"/>
                <a:cs typeface="Meiryo" pitchFamily="34" charset="-120"/>
              </a:rPr>
              <a:t>被災した県・都市</a:t>
            </a:r>
            <a:endParaRPr lang="en-US" sz="19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pic>
        <p:nvPicPr>
          <p:cNvPr id="4" name="Image 1" descr="/home/user/whatsmap/reports/colombia_eq_20260810/images/distance_map_ja.png">    </p:cNvPr>
          <p:cNvPicPr>
            <a:picLocks noChangeAspect="1"/>
          </p:cNvPicPr>
          <p:nvPr/>
        </p:nvPicPr>
        <p:blipFill>
          <a:blip r:embed="rId2"/>
          <a:stretch>
            <a:fillRect/>
          </a:stretch>
        </p:blipFill>
        <p:spPr>
          <a:xfrm>
            <a:off x="386831" y="1024128"/>
            <a:ext cx="4987058" cy="3803904"/>
          </a:xfrm>
          <a:prstGeom prst="rect">
            <a:avLst/>
          </a:prstGeom>
        </p:spPr>
      </p:pic>
      <p:sp>
        <p:nvSpPr>
          <p:cNvPr id="5" name="Text 1"/>
          <p:cNvSpPr/>
          <p:nvPr/>
        </p:nvSpPr>
        <p:spPr>
          <a:xfrm>
            <a:off x="365760" y="4846320"/>
            <a:ext cx="5029200" cy="201168"/>
          </a:xfrm>
          <a:prstGeom prst="rect">
            <a:avLst/>
          </a:prstGeom>
          <a:noFill/>
          <a:ln/>
        </p:spPr>
        <p:txBody>
          <a:bodyPr wrap="square" lIns="0" tIns="0" rIns="0" bIns="0" rtlCol="0" anchor="ctr"/>
          <a:lstStyle/>
          <a:p>
            <a:pPr algn="ctr" indent="0" marL="0">
              <a:buNone/>
            </a:pPr>
            <a:r>
              <a:rPr lang="en-US" sz="800" dirty="0">
                <a:solidFill>
                  <a:srgbClr val="6A6A6A"/>
                </a:solidFill>
                <a:latin typeface="Meiryo" pitchFamily="34" charset="0"/>
                <a:ea typeface="Meiryo" pitchFamily="34" charset="-122"/>
                <a:cs typeface="Meiryo" pitchFamily="34" charset="-120"/>
              </a:rPr>
              <a:t>震央距離（ADRC作成）</a:t>
            </a:r>
            <a:endParaRPr lang="en-US" sz="800" dirty="0"/>
          </a:p>
        </p:txBody>
      </p:sp>
      <p:sp>
        <p:nvSpPr>
          <p:cNvPr id="6" name="Shape 2"/>
          <p:cNvSpPr/>
          <p:nvPr/>
        </p:nvSpPr>
        <p:spPr>
          <a:xfrm>
            <a:off x="365760" y="5175504"/>
            <a:ext cx="5029200" cy="914400"/>
          </a:xfrm>
          <a:prstGeom prst="roundRect">
            <a:avLst>
              <a:gd name="adj" fmla="val 5000"/>
            </a:avLst>
          </a:prstGeom>
          <a:solidFill>
            <a:srgbClr val="FCE9DC"/>
          </a:solidFill>
          <a:ln w="12700">
            <a:solidFill>
              <a:srgbClr val="E8A317"/>
            </a:solidFill>
            <a:prstDash val="solid"/>
          </a:ln>
        </p:spPr>
      </p:sp>
      <p:sp>
        <p:nvSpPr>
          <p:cNvPr id="7" name="Text 3"/>
          <p:cNvSpPr/>
          <p:nvPr/>
        </p:nvSpPr>
        <p:spPr>
          <a:xfrm>
            <a:off x="530352" y="5230368"/>
            <a:ext cx="4700016" cy="804672"/>
          </a:xfrm>
          <a:prstGeom prst="rect">
            <a:avLst/>
          </a:prstGeom>
          <a:noFill/>
          <a:ln/>
        </p:spPr>
        <p:txBody>
          <a:bodyPr wrap="square" lIns="25400" tIns="25400" rIns="25400" bIns="25400" rtlCol="0" anchor="ctr"/>
          <a:lstStyle/>
          <a:p>
            <a:pPr algn="l" indent="0" marL="0">
              <a:buNone/>
            </a:pPr>
            <a:r>
              <a:rPr lang="en-US" sz="1050" b="1" dirty="0">
                <a:solidFill>
                  <a:srgbClr val="9A3B12"/>
                </a:solidFill>
                <a:latin typeface="Meiryo" pitchFamily="34" charset="0"/>
                <a:ea typeface="Meiryo" pitchFamily="34" charset="-122"/>
                <a:cs typeface="Meiryo" pitchFamily="34" charset="-120"/>
              </a:rPr>
              <a:t>被害が分散する理由
</a:t>
            </a:r>
            <a:pPr algn="l" indent="0" marL="0">
              <a:buNone/>
            </a:pPr>
            <a:r>
              <a:rPr lang="en-US" sz="950" dirty="0">
                <a:solidFill>
                  <a:srgbClr val="7A2E0E"/>
                </a:solidFill>
                <a:latin typeface="Meiryo" pitchFamily="34" charset="0"/>
                <a:ea typeface="Meiryo" pitchFamily="34" charset="-122"/>
                <a:cs typeface="Meiryo" pitchFamily="34" charset="-120"/>
              </a:rPr>
              <a:t>震源が深さ110kmであるため、域内の都市はいずれも震源距離110〜205kmとほぼ同程度になり、極端に強い揺れが特定の都市に集中しない。</a:t>
            </a:r>
            <a:endParaRPr lang="en-US" sz="1050" dirty="0"/>
          </a:p>
        </p:txBody>
      </p:sp>
      <p:graphicFrame>
        <p:nvGraphicFramePr>
          <p:cNvPr id="8" name="Table 0"/>
          <p:cNvGraphicFramePr>
            <a:graphicFrameLocks noGrp="1"/>
          </p:cNvGraphicFramePr>
          <p:nvPr>
            <p:extLst>
              <p:ext uri="{D42A27DB-BD31-4B8C-83A1-F6EECF244321}">
                <p14:modId xmlns:p14="http://schemas.microsoft.com/office/powerpoint/2010/main" val="1579011935"/>
              </p:ext>
            </p:extLst>
          </p:nvPr>
        </p:nvGraphicFramePr>
        <p:xfrm>
          <a:off x="5577840" y="1024128"/>
          <a:ext cx="6217920" cy="914400"/>
        </p:xfrm>
        <a:graphic>
          <a:graphicData uri="http://schemas.openxmlformats.org/drawingml/2006/table">
            <a:tbl>
              <a:tblPr/>
              <a:tblGrid>
                <a:gridCol w="1298448"/>
                <a:gridCol w="1152144"/>
                <a:gridCol w="621792"/>
                <a:gridCol w="566928"/>
                <a:gridCol w="2578608"/>
              </a:tblGrid>
              <a:tr h="621792">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県</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主な都市</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距離</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MMI</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状況</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621792">
                <a:tc>
                  <a:txBody>
                    <a:bodyPr/>
                    <a:lstStyle/>
                    <a:p>
                      <a:pPr algn="l" indent="0" marL="0">
                        <a:buNone/>
                      </a:pPr>
                      <a:r>
                        <a:rPr lang="en-US" sz="950" b="1" dirty="0">
                          <a:solidFill>
                            <a:srgbClr val="1F3864"/>
                          </a:solidFill>
                          <a:latin typeface="Meiryo" pitchFamily="34" charset="0"/>
                          <a:ea typeface="Meiryo" pitchFamily="34" charset="-122"/>
                          <a:cs typeface="Meiryo" pitchFamily="34" charset="-120"/>
                        </a:rPr>
                        <a:t>チョコ県</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サンホセ・デル・パルマル／キブド</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dirty="0">
                          <a:solidFill>
                            <a:srgbClr val="222222"/>
                          </a:solidFill>
                          <a:latin typeface="Meiryo" pitchFamily="34" charset="0"/>
                          <a:ea typeface="Meiryo" pitchFamily="34" charset="-122"/>
                          <a:cs typeface="Meiryo" pitchFamily="34" charset="-120"/>
                        </a:rPr>
                        <a:t>6 / 105 km</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C00000"/>
                          </a:solidFill>
                          <a:latin typeface="Meiryo" pitchFamily="34" charset="0"/>
                          <a:ea typeface="Meiryo" pitchFamily="34" charset="-122"/>
                          <a:cs typeface="Meiryo" pitchFamily="34" charset="-120"/>
                        </a:rPr>
                        <a:t>VII / VI</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222222"/>
                          </a:solidFill>
                          <a:latin typeface="Meiryo" pitchFamily="34" charset="0"/>
                          <a:ea typeface="Meiryo" pitchFamily="34" charset="-122"/>
                          <a:cs typeface="Meiryo" pitchFamily="34" charset="-120"/>
                        </a:rPr>
                        <a:t>震央のある県。9市町村で被害報告。アクセス・電力・通信に制約。</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621792">
                <a:tc>
                  <a:txBody>
                    <a:bodyPr/>
                    <a:lstStyle/>
                    <a:p>
                      <a:pPr algn="l" indent="0" marL="0">
                        <a:buNone/>
                      </a:pPr>
                      <a:r>
                        <a:rPr lang="en-US" sz="950" b="1" dirty="0">
                          <a:solidFill>
                            <a:srgbClr val="1F3864"/>
                          </a:solidFill>
                          <a:latin typeface="Meiryo" pitchFamily="34" charset="0"/>
                          <a:ea typeface="Meiryo" pitchFamily="34" charset="-122"/>
                          <a:cs typeface="Meiryo" pitchFamily="34" charset="-120"/>
                        </a:rPr>
                        <a:t>リサラルダ県</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ペレイラ、ドスケブラダス</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222222"/>
                          </a:solidFill>
                          <a:latin typeface="Meiryo" pitchFamily="34" charset="0"/>
                          <a:ea typeface="Meiryo" pitchFamily="34" charset="-122"/>
                          <a:cs typeface="Meiryo" pitchFamily="34" charset="-120"/>
                        </a:rPr>
                        <a:t>61 km</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C00000"/>
                          </a:solidFill>
                          <a:latin typeface="Meiryo" pitchFamily="34" charset="0"/>
                          <a:ea typeface="Meiryo" pitchFamily="34" charset="-122"/>
                          <a:cs typeface="Meiryo" pitchFamily="34" charset="-120"/>
                        </a:rPr>
                        <a:t>VII</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222222"/>
                          </a:solidFill>
                          <a:latin typeface="Meiryo" pitchFamily="34" charset="0"/>
                          <a:ea typeface="Meiryo" pitchFamily="34" charset="-122"/>
                          <a:cs typeface="Meiryo" pitchFamily="34" charset="-120"/>
                        </a:rPr>
                        <a:t>死者数が最も多い（40人以上、県知事は42人以上と発言）。空港ターミナルが一部倒壊。</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621792">
                <a:tc>
                  <a:txBody>
                    <a:bodyPr/>
                    <a:lstStyle/>
                    <a:p>
                      <a:pPr algn="l" indent="0" marL="0">
                        <a:buNone/>
                      </a:pPr>
                      <a:r>
                        <a:rPr lang="en-US" sz="950" b="1" dirty="0">
                          <a:solidFill>
                            <a:srgbClr val="1F3864"/>
                          </a:solidFill>
                          <a:latin typeface="Meiryo" pitchFamily="34" charset="0"/>
                          <a:ea typeface="Meiryo" pitchFamily="34" charset="-122"/>
                          <a:cs typeface="Meiryo" pitchFamily="34" charset="-120"/>
                        </a:rPr>
                        <a:t>バジェ・デル・カウカ県</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カリ、カルタゴ、ブエナベントゥーラ</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dirty="0">
                          <a:solidFill>
                            <a:srgbClr val="222222"/>
                          </a:solidFill>
                          <a:latin typeface="Meiryo" pitchFamily="34" charset="0"/>
                          <a:ea typeface="Meiryo" pitchFamily="34" charset="-122"/>
                          <a:cs typeface="Meiryo" pitchFamily="34" charset="-120"/>
                        </a:rPr>
                        <a:t>158 / 38 / 138 km</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C00000"/>
                          </a:solidFill>
                          <a:latin typeface="Meiryo" pitchFamily="34" charset="0"/>
                          <a:ea typeface="Meiryo" pitchFamily="34" charset="-122"/>
                          <a:cs typeface="Meiryo" pitchFamily="34" charset="-120"/>
                        </a:rPr>
                        <a:t>VI-VII</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222222"/>
                          </a:solidFill>
                          <a:latin typeface="Meiryo" pitchFamily="34" charset="0"/>
                          <a:ea typeface="Meiryo" pitchFamily="34" charset="-122"/>
                          <a:cs typeface="Meiryo" pitchFamily="34" charset="-120"/>
                        </a:rPr>
                        <a:t>死者27人と報告。カリでは12か所の重要地点で25〜30棟が倒壊。大学病院が大きく損壊。</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621792">
                <a:tc>
                  <a:txBody>
                    <a:bodyPr/>
                    <a:lstStyle/>
                    <a:p>
                      <a:pPr algn="l" indent="0" marL="0">
                        <a:buNone/>
                      </a:pPr>
                      <a:r>
                        <a:rPr lang="en-US" sz="950" b="1" dirty="0">
                          <a:solidFill>
                            <a:srgbClr val="1F3864"/>
                          </a:solidFill>
                          <a:latin typeface="Meiryo" pitchFamily="34" charset="0"/>
                          <a:ea typeface="Meiryo" pitchFamily="34" charset="-122"/>
                          <a:cs typeface="Meiryo" pitchFamily="34" charset="-120"/>
                        </a:rPr>
                        <a:t>カルダス県</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マニサレス</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222222"/>
                          </a:solidFill>
                          <a:latin typeface="Meiryo" pitchFamily="34" charset="0"/>
                          <a:ea typeface="Meiryo" pitchFamily="34" charset="-122"/>
                          <a:cs typeface="Meiryo" pitchFamily="34" charset="-120"/>
                        </a:rPr>
                        <a:t>84 km</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C00000"/>
                          </a:solidFill>
                          <a:latin typeface="Meiryo" pitchFamily="34" charset="0"/>
                          <a:ea typeface="Meiryo" pitchFamily="34" charset="-122"/>
                          <a:cs typeface="Meiryo" pitchFamily="34" charset="-120"/>
                        </a:rPr>
                        <a:t>VI-VII</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222222"/>
                          </a:solidFill>
                          <a:latin typeface="Meiryo" pitchFamily="34" charset="0"/>
                          <a:ea typeface="Meiryo" pitchFamily="34" charset="-122"/>
                          <a:cs typeface="Meiryo" pitchFamily="34" charset="-120"/>
                        </a:rPr>
                        <a:t>8市町村で被害。マニサレスで17棟倒壊・19棟部分倒壊。大聖堂の塔が身廊に崩落。</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621792">
                <a:tc>
                  <a:txBody>
                    <a:bodyPr/>
                    <a:lstStyle/>
                    <a:p>
                      <a:pPr algn="l" indent="0" marL="0">
                        <a:buNone/>
                      </a:pPr>
                      <a:r>
                        <a:rPr lang="en-US" sz="950" b="1" dirty="0">
                          <a:solidFill>
                            <a:srgbClr val="1F3864"/>
                          </a:solidFill>
                          <a:latin typeface="Meiryo" pitchFamily="34" charset="0"/>
                          <a:ea typeface="Meiryo" pitchFamily="34" charset="-122"/>
                          <a:cs typeface="Meiryo" pitchFamily="34" charset="-120"/>
                        </a:rPr>
                        <a:t>キンディオ県</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アルメニアほか</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dirty="0">
                          <a:solidFill>
                            <a:srgbClr val="222222"/>
                          </a:solidFill>
                          <a:latin typeface="Meiryo" pitchFamily="34" charset="0"/>
                          <a:ea typeface="Meiryo" pitchFamily="34" charset="-122"/>
                          <a:cs typeface="Meiryo" pitchFamily="34" charset="-120"/>
                        </a:rPr>
                        <a:t>71 km</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C00000"/>
                          </a:solidFill>
                          <a:latin typeface="Meiryo" pitchFamily="34" charset="0"/>
                          <a:ea typeface="Meiryo" pitchFamily="34" charset="-122"/>
                          <a:cs typeface="Meiryo" pitchFamily="34" charset="-120"/>
                        </a:rPr>
                        <a:t>VII</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222222"/>
                          </a:solidFill>
                          <a:latin typeface="Meiryo" pitchFamily="34" charset="0"/>
                          <a:ea typeface="Meiryo" pitchFamily="34" charset="-122"/>
                          <a:cs typeface="Meiryo" pitchFamily="34" charset="-120"/>
                        </a:rPr>
                        <a:t>複数地区で被害報告。1999年アルメニア地震で壊滅的被害を受けたコーヒー地帯と同じ地域。</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621792">
                <a:tc>
                  <a:txBody>
                    <a:bodyPr/>
                    <a:lstStyle/>
                    <a:p>
                      <a:pPr algn="l" indent="0" marL="0">
                        <a:buNone/>
                      </a:pPr>
                      <a:r>
                        <a:rPr lang="en-US" sz="950" b="1" dirty="0">
                          <a:solidFill>
                            <a:srgbClr val="1F3864"/>
                          </a:solidFill>
                          <a:latin typeface="Meiryo" pitchFamily="34" charset="0"/>
                          <a:ea typeface="Meiryo" pitchFamily="34" charset="-122"/>
                          <a:cs typeface="Meiryo" pitchFamily="34" charset="-120"/>
                        </a:rPr>
                        <a:t>アンティオキア県</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メデジン周辺</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222222"/>
                          </a:solidFill>
                          <a:latin typeface="Meiryo" pitchFamily="34" charset="0"/>
                          <a:ea typeface="Meiryo" pitchFamily="34" charset="-122"/>
                          <a:cs typeface="Meiryo" pitchFamily="34" charset="-120"/>
                        </a:rPr>
                        <a:t>172 km</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C00000"/>
                          </a:solidFill>
                          <a:latin typeface="Meiryo" pitchFamily="34" charset="0"/>
                          <a:ea typeface="Meiryo" pitchFamily="34" charset="-122"/>
                          <a:cs typeface="Meiryo" pitchFamily="34" charset="-120"/>
                        </a:rPr>
                        <a:t>V-VI</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222222"/>
                          </a:solidFill>
                          <a:latin typeface="Meiryo" pitchFamily="34" charset="0"/>
                          <a:ea typeface="Meiryo" pitchFamily="34" charset="-122"/>
                          <a:cs typeface="Meiryo" pitchFamily="34" charset="-120"/>
                        </a:rPr>
                        <a:t>死者1人（73歳）と報告。建物被害を点検中。</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621792">
                <a:tc>
                  <a:txBody>
                    <a:bodyPr/>
                    <a:lstStyle/>
                    <a:p>
                      <a:pPr algn="l" indent="0" marL="0">
                        <a:buNone/>
                      </a:pPr>
                      <a:r>
                        <a:rPr lang="en-US" sz="950" b="1" dirty="0">
                          <a:solidFill>
                            <a:srgbClr val="1F3864"/>
                          </a:solidFill>
                          <a:latin typeface="Meiryo" pitchFamily="34" charset="0"/>
                          <a:ea typeface="Meiryo" pitchFamily="34" charset="-122"/>
                          <a:cs typeface="Meiryo" pitchFamily="34" charset="-120"/>
                        </a:rPr>
                        <a:t>クンディナマルカ県／ボゴタ</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ボゴタ、ニロ</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dirty="0">
                          <a:solidFill>
                            <a:srgbClr val="222222"/>
                          </a:solidFill>
                          <a:latin typeface="Meiryo" pitchFamily="34" charset="0"/>
                          <a:ea typeface="Meiryo" pitchFamily="34" charset="-122"/>
                          <a:cs typeface="Meiryo" pitchFamily="34" charset="-120"/>
                        </a:rPr>
                        <a:t>241 km</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C00000"/>
                          </a:solidFill>
                          <a:latin typeface="Meiryo" pitchFamily="34" charset="0"/>
                          <a:ea typeface="Meiryo" pitchFamily="34" charset="-122"/>
                          <a:cs typeface="Meiryo" pitchFamily="34" charset="-120"/>
                        </a:rPr>
                        <a:t>IV-V</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222222"/>
                          </a:solidFill>
                          <a:latin typeface="Meiryo" pitchFamily="34" charset="0"/>
                          <a:ea typeface="Meiryo" pitchFamily="34" charset="-122"/>
                          <a:cs typeface="Meiryo" pitchFamily="34" charset="-120"/>
                        </a:rPr>
                        <a:t>広く有感。建物から避難。ニロの学校で構造被害が報告されている。</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9" name="Text 4"/>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Meiryo" pitchFamily="34" charset="0"/>
                <a:ea typeface="Meiryo" pitchFamily="34" charset="-122"/>
                <a:cs typeface="Meiryo" pitchFamily="34" charset="-120"/>
              </a:rPr>
              <a:t>出典：</a:t>
            </a:r>
            <a:pPr algn="l" indent="0" marL="0">
              <a:buNone/>
            </a:pPr>
            <a:r>
              <a:rPr lang="en-US" sz="850" u="sng" dirty="0">
                <a:solidFill>
                  <a:srgbClr val="0563C1"/>
                </a:solidFill>
                <a:latin typeface="Meiryo" pitchFamily="34" charset="0"/>
                <a:ea typeface="Meiryo" pitchFamily="34" charset="-122"/>
                <a:cs typeface="Meiryo" pitchFamily="34" charset="-120"/>
                <a:hlinkClick r:id="rId3" invalidUrl="" action="" tgtFrame="" tooltip="" history="1" highlightClick="0" endSnd="0">
                  <a:extLst>
                    <a:ext uri="{A12FA001-AC4F-418D-AE19-62706E023703}">
                      <ahyp:hlinkClr xmlns:ahyp="http://schemas.microsoft.com/office/drawing/2018/hyperlinkcolor" val="tx"/>
                    </a:ext>
                  </a:extLst>
                </a:hlinkClick>
              </a:rPr>
              <a:t>国家災害リスク管理ユニット（UNGRD）</a:t>
            </a:r>
            <a:pPr algn="l" indent="0" marL="0">
              <a:buNone/>
            </a:pPr>
            <a:r>
              <a:rPr lang="en-US" sz="850" dirty="0">
                <a:solidFill>
                  <a:srgbClr val="6A6A6A"/>
                </a:solidFill>
                <a:latin typeface="Meiryo" pitchFamily="34" charset="0"/>
                <a:ea typeface="Meiryo" pitchFamily="34" charset="-122"/>
                <a:cs typeface="Meiryo" pitchFamily="34" charset="-120"/>
              </a:rPr>
              <a:t>   ·   </a:t>
            </a:r>
            <a:pPr algn="l" indent="0" marL="0">
              <a:buNone/>
            </a:pPr>
            <a:r>
              <a:rPr lang="en-US" sz="850" u="sng" dirty="0">
                <a:solidFill>
                  <a:srgbClr val="0563C1"/>
                </a:solidFill>
                <a:latin typeface="Meiryo" pitchFamily="34" charset="0"/>
                <a:ea typeface="Meiryo" pitchFamily="34" charset="-122"/>
                <a:cs typeface="Meiryo" pitchFamily="34" charset="-120"/>
                <a:hlinkClick r:id="rId4" invalidUrl="" action="" tgtFrame="" tooltip="" history="1" highlightClick="0" endSnd="0">
                  <a:extLst>
                    <a:ext uri="{A12FA001-AC4F-418D-AE19-62706E023703}">
                      <ahyp:hlinkClr xmlns:ahyp="http://schemas.microsoft.com/office/drawing/2018/hyperlinkcolor" val="tx"/>
                    </a:ext>
                  </a:extLst>
                </a:hlinkClick>
              </a:rPr>
              <a:t>Colombia One 政府第1次被害評価</a:t>
            </a:r>
            <a:pPr algn="l" indent="0" marL="0">
              <a:buNone/>
            </a:pPr>
            <a:r>
              <a:rPr lang="en-US" sz="850" dirty="0">
                <a:solidFill>
                  <a:srgbClr val="6A6A6A"/>
                </a:solidFill>
                <a:latin typeface="Meiryo" pitchFamily="34" charset="0"/>
                <a:ea typeface="Meiryo" pitchFamily="34" charset="-122"/>
                <a:cs typeface="Meiryo" pitchFamily="34" charset="-120"/>
              </a:rPr>
              <a:t>   ·   </a:t>
            </a:r>
            <a:pPr algn="l" indent="0" marL="0">
              <a:buNone/>
            </a:pPr>
            <a:r>
              <a:rPr lang="en-US" sz="850" u="sng" dirty="0">
                <a:solidFill>
                  <a:srgbClr val="0563C1"/>
                </a:solidFill>
                <a:latin typeface="Meiryo" pitchFamily="34" charset="0"/>
                <a:ea typeface="Meiryo" pitchFamily="34" charset="-122"/>
                <a:cs typeface="Meiryo" pitchFamily="34" charset="-120"/>
                <a:hlinkClick r:id="rId5" invalidUrl="" action="" tgtFrame="" tooltip="" history="1" highlightClick="0" endSnd="0">
                  <a:extLst>
                    <a:ext uri="{A12FA001-AC4F-418D-AE19-62706E023703}">
                      <ahyp:hlinkClr xmlns:ahyp="http://schemas.microsoft.com/office/drawing/2018/hyperlinkcolor" val="tx"/>
                    </a:ext>
                  </a:extLst>
                </a:hlinkClick>
              </a:rPr>
              <a:t>CBS ニュース</a:t>
            </a:r>
            <a:endParaRPr lang="en-US" sz="850" dirty="0"/>
          </a:p>
        </p:txBody>
      </p:sp>
      <p:sp>
        <p:nvSpPr>
          <p:cNvPr id="10" name="Shape 5"/>
          <p:cNvSpPr/>
          <p:nvPr/>
        </p:nvSpPr>
        <p:spPr>
          <a:xfrm>
            <a:off x="10268712" y="6510528"/>
            <a:ext cx="1554480" cy="274320"/>
          </a:xfrm>
          <a:prstGeom prst="rect">
            <a:avLst/>
          </a:prstGeom>
          <a:solidFill>
            <a:srgbClr val="E8A317"/>
          </a:solidFill>
          <a:ln w="12700">
            <a:solidFill>
              <a:srgbClr val="E8A317"/>
            </a:solidFill>
            <a:prstDash val="solid"/>
          </a:ln>
        </p:spPr>
      </p:sp>
      <p:sp>
        <p:nvSpPr>
          <p:cNvPr id="11" name="Text 6"/>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Meiryo" pitchFamily="34" charset="0"/>
                <a:ea typeface="Meiryo" pitchFamily="34" charset="-122"/>
                <a:cs typeface="Meiryo" pitchFamily="34" charset="-120"/>
              </a:rPr>
              <a:t>ADRC  12/08/2026</a:t>
            </a:r>
            <a:endParaRPr lang="en-US" sz="950" dirty="0"/>
          </a:p>
        </p:txBody>
      </p:sp>
      <p:sp>
        <p:nvSpPr>
          <p:cNvPr id="12" name="Text 7"/>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Meiryo" pitchFamily="34" charset="0"/>
                <a:ea typeface="Meiryo" pitchFamily="34" charset="-122"/>
                <a:cs typeface="Meiryo" pitchFamily="34" charset="-120"/>
              </a:rPr>
              <a:t>7</a:t>
            </a:r>
            <a:endParaRPr lang="en-US" sz="9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1900" b="1" dirty="0">
                <a:solidFill>
                  <a:srgbClr val="1F3864"/>
                </a:solidFill>
                <a:latin typeface="Meiryo" pitchFamily="34" charset="0"/>
                <a:ea typeface="Meiryo" pitchFamily="34" charset="-122"/>
                <a:cs typeface="Meiryo" pitchFamily="34" charset="-120"/>
              </a:rPr>
              <a:t>地震の諸元と観測された揺れ</a:t>
            </a:r>
            <a:endParaRPr lang="en-US" sz="19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graphicFrame>
        <p:nvGraphicFramePr>
          <p:cNvPr id="9" name="Table 0"/>
          <p:cNvGraphicFramePr>
            <a:graphicFrameLocks noGrp="1"/>
          </p:cNvGraphicFramePr>
          <p:nvPr>
            <p:extLst>
              <p:ext uri="{D42A27DB-BD31-4B8C-83A1-F6EECF244321}">
                <p14:modId xmlns:p14="http://schemas.microsoft.com/office/powerpoint/2010/main" val="1579011935"/>
              </p:ext>
            </p:extLst>
          </p:nvPr>
        </p:nvGraphicFramePr>
        <p:xfrm>
          <a:off x="365760" y="1024128"/>
          <a:ext cx="6675120" cy="914400"/>
        </p:xfrm>
        <a:graphic>
          <a:graphicData uri="http://schemas.openxmlformats.org/drawingml/2006/table">
            <a:tbl>
              <a:tblPr/>
              <a:tblGrid>
                <a:gridCol w="1828800"/>
                <a:gridCol w="4846320"/>
              </a:tblGrid>
              <a:tr h="329184">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項目</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値</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329184">
                <a:tc>
                  <a:txBody>
                    <a:bodyPr/>
                    <a:lstStyle/>
                    <a:p>
                      <a:pPr algn="l" indent="0" marL="0">
                        <a:buNone/>
                      </a:pPr>
                      <a:r>
                        <a:rPr lang="en-US" sz="950" b="1" dirty="0">
                          <a:solidFill>
                            <a:srgbClr val="1F3864"/>
                          </a:solidFill>
                          <a:latin typeface="Meiryo" pitchFamily="34" charset="0"/>
                          <a:ea typeface="Meiryo" pitchFamily="34" charset="-122"/>
                          <a:cs typeface="Meiryo" pitchFamily="34" charset="-120"/>
                        </a:rPr>
                        <a:t>発生時刻（現地）</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2026年8月10日 07:34:28（コロンビア時間、UTC-5）</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29184">
                <a:tc>
                  <a:txBody>
                    <a:bodyPr/>
                    <a:lstStyle/>
                    <a:p>
                      <a:pPr algn="l" indent="0" marL="0">
                        <a:buNone/>
                      </a:pPr>
                      <a:r>
                        <a:rPr lang="en-US" sz="950" b="1" dirty="0">
                          <a:solidFill>
                            <a:srgbClr val="1F3864"/>
                          </a:solidFill>
                          <a:latin typeface="Meiryo" pitchFamily="34" charset="0"/>
                          <a:ea typeface="Meiryo" pitchFamily="34" charset="-122"/>
                          <a:cs typeface="Meiryo" pitchFamily="34" charset="-120"/>
                        </a:rPr>
                        <a:t>発生時刻（UTC／JST）</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2026年8月10日 12:34:28（UTC）  /  2026年8月10日 21:34（日本時間）</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29184">
                <a:tc>
                  <a:txBody>
                    <a:bodyPr/>
                    <a:lstStyle/>
                    <a:p>
                      <a:pPr algn="l" indent="0" marL="0">
                        <a:buNone/>
                      </a:pPr>
                      <a:r>
                        <a:rPr lang="en-US" sz="950" b="1" dirty="0">
                          <a:solidFill>
                            <a:srgbClr val="1F3864"/>
                          </a:solidFill>
                          <a:latin typeface="Meiryo" pitchFamily="34" charset="0"/>
                          <a:ea typeface="Meiryo" pitchFamily="34" charset="-122"/>
                          <a:cs typeface="Meiryo" pitchFamily="34" charset="-120"/>
                        </a:rPr>
                        <a:t>震央</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USGS：チョコ県サンホセ・デル・パルマルの南5km（ボゴタの西約280km）／SGC：同町から12km</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29184">
                <a:tc>
                  <a:txBody>
                    <a:bodyPr/>
                    <a:lstStyle/>
                    <a:p>
                      <a:pPr algn="l" indent="0" marL="0">
                        <a:buNone/>
                      </a:pPr>
                      <a:r>
                        <a:rPr lang="en-US" sz="950" b="1" dirty="0">
                          <a:solidFill>
                            <a:srgbClr val="1F3864"/>
                          </a:solidFill>
                          <a:latin typeface="Meiryo" pitchFamily="34" charset="0"/>
                          <a:ea typeface="Meiryo" pitchFamily="34" charset="-122"/>
                          <a:cs typeface="Meiryo" pitchFamily="34" charset="-120"/>
                        </a:rPr>
                        <a:t>緯度経度</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USGS 4.8436 N, 76.2422 W   ·   SGC 4.99 N, 76.29 W</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29184">
                <a:tc>
                  <a:txBody>
                    <a:bodyPr/>
                    <a:lstStyle/>
                    <a:p>
                      <a:pPr algn="l" indent="0" marL="0">
                        <a:buNone/>
                      </a:pPr>
                      <a:r>
                        <a:rPr lang="en-US" sz="950" b="1" dirty="0">
                          <a:solidFill>
                            <a:srgbClr val="1F3864"/>
                          </a:solidFill>
                          <a:latin typeface="Meiryo" pitchFamily="34" charset="0"/>
                          <a:ea typeface="Meiryo" pitchFamily="34" charset="-122"/>
                          <a:cs typeface="Meiryo" pitchFamily="34" charset="-120"/>
                        </a:rPr>
                        <a:t>規模</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Mww 7.4（USGS）　・　7.4（SGC）</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29184">
                <a:tc>
                  <a:txBody>
                    <a:bodyPr/>
                    <a:lstStyle/>
                    <a:p>
                      <a:pPr algn="l" indent="0" marL="0">
                        <a:buNone/>
                      </a:pPr>
                      <a:r>
                        <a:rPr lang="en-US" sz="950" b="1" dirty="0">
                          <a:solidFill>
                            <a:srgbClr val="1F3864"/>
                          </a:solidFill>
                          <a:latin typeface="Meiryo" pitchFamily="34" charset="0"/>
                          <a:ea typeface="Meiryo" pitchFamily="34" charset="-122"/>
                          <a:cs typeface="Meiryo" pitchFamily="34" charset="-120"/>
                        </a:rPr>
                        <a:t>深さ</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110.3km（USGS、PAGER第5版）／103km（SGC、8月11日改訂）</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29184">
                <a:tc>
                  <a:txBody>
                    <a:bodyPr/>
                    <a:lstStyle/>
                    <a:p>
                      <a:pPr algn="l" indent="0" marL="0">
                        <a:buNone/>
                      </a:pPr>
                      <a:r>
                        <a:rPr lang="en-US" sz="950" b="1" dirty="0">
                          <a:solidFill>
                            <a:srgbClr val="1F3864"/>
                          </a:solidFill>
                          <a:latin typeface="Meiryo" pitchFamily="34" charset="0"/>
                          <a:ea typeface="Meiryo" pitchFamily="34" charset="-122"/>
                          <a:cs typeface="Meiryo" pitchFamily="34" charset="-120"/>
                        </a:rPr>
                        <a:t>発震機構</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沈み込むナスカプレート内部（スラブ内）で発生した、やや深発の横ずれ断層型。プレート境界の浅い地震ではない。</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29184">
                <a:tc>
                  <a:txBody>
                    <a:bodyPr/>
                    <a:lstStyle/>
                    <a:p>
                      <a:pPr algn="l" indent="0" marL="0">
                        <a:buNone/>
                      </a:pPr>
                      <a:r>
                        <a:rPr lang="en-US" sz="950" b="1" dirty="0">
                          <a:solidFill>
                            <a:srgbClr val="1F3864"/>
                          </a:solidFill>
                          <a:latin typeface="Meiryo" pitchFamily="34" charset="0"/>
                          <a:ea typeface="Meiryo" pitchFamily="34" charset="-122"/>
                          <a:cs typeface="Meiryo" pitchFamily="34" charset="-120"/>
                        </a:rPr>
                        <a:t>最大の揺れ</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改正メルカリ震度 MMI VII（非常に強い）／USGS ShakeMap。SGCの体感震度図も同等</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29184">
                <a:tc>
                  <a:txBody>
                    <a:bodyPr/>
                    <a:lstStyle/>
                    <a:p>
                      <a:pPr algn="l" indent="0" marL="0">
                        <a:buNone/>
                      </a:pPr>
                      <a:r>
                        <a:rPr lang="en-US" sz="950" b="1" dirty="0">
                          <a:solidFill>
                            <a:srgbClr val="1F3864"/>
                          </a:solidFill>
                          <a:latin typeface="Meiryo" pitchFamily="34" charset="0"/>
                          <a:ea typeface="Meiryo" pitchFamily="34" charset="-122"/>
                          <a:cs typeface="Meiryo" pitchFamily="34" charset="-120"/>
                        </a:rPr>
                        <a:t>有感範囲</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ボゴタ・カリ・メデジンを含むコロンビア西部〜中部の広域、およびエクアドル・パナマ・ベネズエラで有感</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29184">
                <a:tc>
                  <a:txBody>
                    <a:bodyPr/>
                    <a:lstStyle/>
                    <a:p>
                      <a:pPr algn="l" indent="0" marL="0">
                        <a:buNone/>
                      </a:pPr>
                      <a:r>
                        <a:rPr lang="en-US" sz="950" b="1" dirty="0">
                          <a:solidFill>
                            <a:srgbClr val="1F3864"/>
                          </a:solidFill>
                          <a:latin typeface="Meiryo" pitchFamily="34" charset="0"/>
                          <a:ea typeface="Meiryo" pitchFamily="34" charset="-122"/>
                          <a:cs typeface="Meiryo" pitchFamily="34" charset="-120"/>
                        </a:rPr>
                        <a:t>津波</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津波なし。震源は内陸かつやや深発で、太平洋岸に津波警報は発表されていない。</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29184">
                <a:tc>
                  <a:txBody>
                    <a:bodyPr/>
                    <a:lstStyle/>
                    <a:p>
                      <a:pPr algn="l" indent="0" marL="0">
                        <a:buNone/>
                      </a:pPr>
                      <a:r>
                        <a:rPr lang="en-US" sz="950" b="1" dirty="0">
                          <a:solidFill>
                            <a:srgbClr val="1F3864"/>
                          </a:solidFill>
                          <a:latin typeface="Meiryo" pitchFamily="34" charset="0"/>
                          <a:ea typeface="Meiryo" pitchFamily="34" charset="-122"/>
                          <a:cs typeface="Meiryo" pitchFamily="34" charset="-120"/>
                        </a:rPr>
                        <a:t>警報レベル</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USGS PAGER：オレンジ（第5版）。死者数は1,000〜10,000人の階級が最も確からしい（確率35%）。経済損失は1〜10億米ドルが最も確からしく（34%）、コロンビアのGDPの1%未満。GDACS：オレンジ。</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29184">
                <a:tc>
                  <a:txBody>
                    <a:bodyPr/>
                    <a:lstStyle/>
                    <a:p>
                      <a:pPr algn="l" indent="0" marL="0">
                        <a:buNone/>
                      </a:pPr>
                      <a:r>
                        <a:rPr lang="en-US" sz="950" b="1" dirty="0">
                          <a:solidFill>
                            <a:srgbClr val="1F3864"/>
                          </a:solidFill>
                          <a:latin typeface="Meiryo" pitchFamily="34" charset="0"/>
                          <a:ea typeface="Meiryo" pitchFamily="34" charset="-122"/>
                          <a:cs typeface="Meiryo" pitchFamily="34" charset="-120"/>
                        </a:rPr>
                        <a:t>GLIDE</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EQ-2026-000146-COL</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bl>
          </a:graphicData>
        </a:graphic>
      </p:graphicFrame>
      <p:pic>
        <p:nvPicPr>
          <p:cNvPr id="5" name="Image 1" descr="/home/user/whatsmap/reports/colombia_eq_20260810/images/mmi_distance_ja.png">    </p:cNvPr>
          <p:cNvPicPr>
            <a:picLocks noChangeAspect="1"/>
          </p:cNvPicPr>
          <p:nvPr/>
        </p:nvPicPr>
        <p:blipFill>
          <a:blip r:embed="rId2"/>
          <a:stretch>
            <a:fillRect/>
          </a:stretch>
        </p:blipFill>
        <p:spPr>
          <a:xfrm>
            <a:off x="7350592" y="1024128"/>
            <a:ext cx="4318336" cy="2432304"/>
          </a:xfrm>
          <a:prstGeom prst="rect">
            <a:avLst/>
          </a:prstGeom>
        </p:spPr>
      </p:pic>
      <p:sp>
        <p:nvSpPr>
          <p:cNvPr id="6" name="Text 1"/>
          <p:cNvSpPr/>
          <p:nvPr/>
        </p:nvSpPr>
        <p:spPr>
          <a:xfrm>
            <a:off x="7223760" y="3474720"/>
            <a:ext cx="4572000" cy="201168"/>
          </a:xfrm>
          <a:prstGeom prst="rect">
            <a:avLst/>
          </a:prstGeom>
          <a:noFill/>
          <a:ln/>
        </p:spPr>
        <p:txBody>
          <a:bodyPr wrap="square" lIns="0" tIns="0" rIns="0" bIns="0" rtlCol="0" anchor="ctr"/>
          <a:lstStyle/>
          <a:p>
            <a:pPr algn="ctr" indent="0" marL="0">
              <a:buNone/>
            </a:pPr>
            <a:r>
              <a:rPr lang="en-US" sz="800" dirty="0">
                <a:solidFill>
                  <a:srgbClr val="6A6A6A"/>
                </a:solidFill>
                <a:latin typeface="Meiryo" pitchFamily="34" charset="0"/>
                <a:ea typeface="Meiryo" pitchFamily="34" charset="-122"/>
                <a:cs typeface="Meiryo" pitchFamily="34" charset="-120"/>
              </a:rPr>
              <a:t>距離と報告されたMMI（ADRC作成）</a:t>
            </a:r>
            <a:endParaRPr lang="en-US" sz="800" dirty="0"/>
          </a:p>
        </p:txBody>
      </p:sp>
      <p:graphicFrame>
        <p:nvGraphicFramePr>
          <p:cNvPr id="7" name="Chart 0" descr=""/>
          <p:cNvGraphicFramePr/>
          <p:nvPr/>
        </p:nvGraphicFramePr>
        <p:xfrm>
          <a:off x="7223760" y="3767328"/>
          <a:ext cx="4572000" cy="1920240"/>
        </p:xfrm>
        <a:graphic xmlns:a="http://schemas.openxmlformats.org/drawingml/2006/main">
          <a:graphicData uri="http://schemas.openxmlformats.org/drawingml/2006/chart">
            <c:chart xmlns:c="http://schemas.openxmlformats.org/drawingml/2006/chart" r:id="rId3"/>
          </a:graphicData>
        </a:graphic>
      </p:graphicFrame>
      <p:sp>
        <p:nvSpPr>
          <p:cNvPr id="8" name="Text 2"/>
          <p:cNvSpPr/>
          <p:nvPr/>
        </p:nvSpPr>
        <p:spPr>
          <a:xfrm>
            <a:off x="7223760" y="5705856"/>
            <a:ext cx="4572000" cy="512064"/>
          </a:xfrm>
          <a:prstGeom prst="rect">
            <a:avLst/>
          </a:prstGeom>
          <a:noFill/>
          <a:ln/>
        </p:spPr>
        <p:txBody>
          <a:bodyPr wrap="square" lIns="0" tIns="0" rIns="0" bIns="0" rtlCol="0" anchor="t"/>
          <a:lstStyle/>
          <a:p>
            <a:pPr indent="0" marL="0">
              <a:buNone/>
            </a:pPr>
            <a:r>
              <a:rPr lang="en-US" sz="750" dirty="0">
                <a:solidFill>
                  <a:srgbClr val="6A6A6A"/>
                </a:solidFill>
                <a:latin typeface="Meiryo" pitchFamily="34" charset="0"/>
                <a:ea typeface="Meiryo" pitchFamily="34" charset="-122"/>
                <a:cs typeface="Meiryo" pitchFamily="34" charset="-120"/>
              </a:rPr>
              <a:t>USGS PAGER（第5版）による曝露推計。約1,050万人がMMI VI〜VII（強い〜非常に強い）の揺れに、4か国で約3,400万人がMMI IV以上の揺れにさらされた。いずれもモデル推計値。</a:t>
            </a:r>
            <a:endParaRPr lang="en-US" sz="750" dirty="0"/>
          </a:p>
        </p:txBody>
      </p:sp>
      <p:sp>
        <p:nvSpPr>
          <p:cNvPr id="9" name="Text 3"/>
          <p:cNvSpPr/>
          <p:nvPr/>
        </p:nvSpPr>
        <p:spPr>
          <a:xfrm>
            <a:off x="365760" y="5943600"/>
            <a:ext cx="6675120" cy="310896"/>
          </a:xfrm>
          <a:prstGeom prst="rect">
            <a:avLst/>
          </a:prstGeom>
          <a:noFill/>
          <a:ln/>
        </p:spPr>
        <p:txBody>
          <a:bodyPr wrap="square" lIns="0" tIns="0" rIns="0" bIns="0" rtlCol="0" anchor="t"/>
          <a:lstStyle/>
          <a:p>
            <a:pPr indent="0" marL="0">
              <a:buNone/>
            </a:pPr>
            <a:r>
              <a:rPr lang="en-US" sz="680" i="1" dirty="0">
                <a:solidFill>
                  <a:srgbClr val="6A6A6A"/>
                </a:solidFill>
                <a:latin typeface="Meiryo" pitchFamily="34" charset="0"/>
                <a:ea typeface="Meiryo" pitchFamily="34" charset="-122"/>
                <a:cs typeface="Meiryo" pitchFamily="34" charset="-120"/>
              </a:rPr>
              <a:t>規模はUSGSとSGCで一致。SGCは8月11日14:20 UTCに解を改訂し、深さ103km・119観測点・208フェーズとした。改訂後の位置はUSGSと17km、深さは7kmの差であり、観測点数の増加に伴い両解は近づいた。本報告の震央距離はUSGSの震源位置から計算している。SGCの速報値は今後も変更されうる。</a:t>
            </a:r>
            <a:endParaRPr lang="en-US" sz="680" dirty="0"/>
          </a:p>
        </p:txBody>
      </p:sp>
      <p:sp>
        <p:nvSpPr>
          <p:cNvPr id="10" name="Text 4"/>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Meiryo" pitchFamily="34" charset="0"/>
                <a:ea typeface="Meiryo" pitchFamily="34" charset="-122"/>
                <a:cs typeface="Meiryo" pitchFamily="34" charset="-120"/>
              </a:rPr>
              <a:t>出典：</a:t>
            </a:r>
            <a:pPr algn="l" indent="0" marL="0">
              <a:buNone/>
            </a:pPr>
            <a:r>
              <a:rPr lang="en-US" sz="850" u="sng" dirty="0">
                <a:solidFill>
                  <a:srgbClr val="0563C1"/>
                </a:solidFill>
                <a:latin typeface="Meiryo" pitchFamily="34" charset="0"/>
                <a:ea typeface="Meiryo" pitchFamily="34" charset="-122"/>
                <a:cs typeface="Meiryo" pitchFamily="34" charset="-120"/>
                <a:hlinkClick r:id="rId4" invalidUrl="" action="" tgtFrame="" tooltip="" history="1" highlightClick="0" endSnd="0">
                  <a:extLst>
                    <a:ext uri="{A12FA001-AC4F-418D-AE19-62706E023703}">
                      <ahyp:hlinkClr xmlns:ahyp="http://schemas.microsoft.com/office/drawing/2018/hyperlinkcolor" val="tx"/>
                    </a:ext>
                  </a:extLst>
                </a:hlinkClick>
              </a:rPr>
              <a:t>USGS 地震イベントページ</a:t>
            </a:r>
            <a:pPr algn="l" indent="0" marL="0">
              <a:buNone/>
            </a:pPr>
            <a:r>
              <a:rPr lang="en-US" sz="850" dirty="0">
                <a:solidFill>
                  <a:srgbClr val="6A6A6A"/>
                </a:solidFill>
                <a:latin typeface="Meiryo" pitchFamily="34" charset="0"/>
                <a:ea typeface="Meiryo" pitchFamily="34" charset="-122"/>
                <a:cs typeface="Meiryo" pitchFamily="34" charset="-120"/>
              </a:rPr>
              <a:t>   ·   </a:t>
            </a:r>
            <a:pPr algn="l" indent="0" marL="0">
              <a:buNone/>
            </a:pPr>
            <a:r>
              <a:rPr lang="en-US" sz="850" u="sng" dirty="0">
                <a:solidFill>
                  <a:srgbClr val="0563C1"/>
                </a:solidFill>
                <a:latin typeface="Meiryo" pitchFamily="34" charset="0"/>
                <a:ea typeface="Meiryo" pitchFamily="34" charset="-122"/>
                <a:cs typeface="Meiryo" pitchFamily="34" charset="-120"/>
                <a:hlinkClick r:id="rId5" invalidUrl="" action="" tgtFrame="" tooltip="" history="1" highlightClick="0" endSnd="0">
                  <a:extLst>
                    <a:ext uri="{A12FA001-AC4F-418D-AE19-62706E023703}">
                      <ahyp:hlinkClr xmlns:ahyp="http://schemas.microsoft.com/office/drawing/2018/hyperlinkcolor" val="tx"/>
                    </a:ext>
                  </a:extLst>
                </a:hlinkClick>
              </a:rPr>
              <a:t>SGC 地震速報 SGC2026pqqmro（本地震）</a:t>
            </a:r>
            <a:pPr algn="l" indent="0" marL="0">
              <a:buNone/>
            </a:pPr>
            <a:r>
              <a:rPr lang="en-US" sz="850" dirty="0">
                <a:solidFill>
                  <a:srgbClr val="6A6A6A"/>
                </a:solidFill>
                <a:latin typeface="Meiryo" pitchFamily="34" charset="0"/>
                <a:ea typeface="Meiryo" pitchFamily="34" charset="-122"/>
                <a:cs typeface="Meiryo" pitchFamily="34" charset="-120"/>
              </a:rPr>
              <a:t>   ·   </a:t>
            </a:r>
            <a:pPr algn="l" indent="0" marL="0">
              <a:buNone/>
            </a:pPr>
            <a:r>
              <a:rPr lang="en-US" sz="850" u="sng" dirty="0">
                <a:solidFill>
                  <a:srgbClr val="0563C1"/>
                </a:solidFill>
                <a:latin typeface="Meiryo" pitchFamily="34" charset="0"/>
                <a:ea typeface="Meiryo" pitchFamily="34" charset="-122"/>
                <a:cs typeface="Meiryo" pitchFamily="34" charset="-120"/>
                <a:hlinkClick r:id="rId6" invalidUrl="" action="" tgtFrame="" tooltip="" history="1" highlightClick="0" endSnd="0">
                  <a:extLst>
                    <a:ext uri="{A12FA001-AC4F-418D-AE19-62706E023703}">
                      <ahyp:hlinkClr xmlns:ahyp="http://schemas.microsoft.com/office/drawing/2018/hyperlinkcolor" val="tx"/>
                    </a:ext>
                  </a:extLst>
                </a:hlinkClick>
              </a:rPr>
              <a:t>GDACS オレンジ警報</a:t>
            </a:r>
            <a:endParaRPr lang="en-US" sz="850" dirty="0"/>
          </a:p>
        </p:txBody>
      </p:sp>
      <p:sp>
        <p:nvSpPr>
          <p:cNvPr id="11" name="Shape 5"/>
          <p:cNvSpPr/>
          <p:nvPr/>
        </p:nvSpPr>
        <p:spPr>
          <a:xfrm>
            <a:off x="10268712" y="6510528"/>
            <a:ext cx="1554480" cy="274320"/>
          </a:xfrm>
          <a:prstGeom prst="rect">
            <a:avLst/>
          </a:prstGeom>
          <a:solidFill>
            <a:srgbClr val="E8A317"/>
          </a:solidFill>
          <a:ln w="12700">
            <a:solidFill>
              <a:srgbClr val="E8A317"/>
            </a:solidFill>
            <a:prstDash val="solid"/>
          </a:ln>
        </p:spPr>
      </p:sp>
      <p:sp>
        <p:nvSpPr>
          <p:cNvPr id="12" name="Text 6"/>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Meiryo" pitchFamily="34" charset="0"/>
                <a:ea typeface="Meiryo" pitchFamily="34" charset="-122"/>
                <a:cs typeface="Meiryo" pitchFamily="34" charset="-120"/>
              </a:rPr>
              <a:t>ADRC  12/08/2026</a:t>
            </a:r>
            <a:endParaRPr lang="en-US" sz="950" dirty="0"/>
          </a:p>
        </p:txBody>
      </p:sp>
      <p:sp>
        <p:nvSpPr>
          <p:cNvPr id="13" name="Text 7"/>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Meiryo" pitchFamily="34" charset="0"/>
                <a:ea typeface="Meiryo" pitchFamily="34" charset="-122"/>
                <a:cs typeface="Meiryo" pitchFamily="34" charset="-120"/>
              </a:rPr>
              <a:t>8</a:t>
            </a:r>
            <a:endParaRPr lang="en-US" sz="9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1900" b="1" dirty="0">
                <a:solidFill>
                  <a:srgbClr val="1F3864"/>
                </a:solidFill>
                <a:latin typeface="Meiryo" pitchFamily="34" charset="0"/>
                <a:ea typeface="Meiryo" pitchFamily="34" charset="-122"/>
                <a:cs typeface="Meiryo" pitchFamily="34" charset="-120"/>
              </a:rPr>
              <a:t>体感震度分布（SGC）</a:t>
            </a:r>
            <a:endParaRPr lang="en-US" sz="19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pic>
        <p:nvPicPr>
          <p:cNvPr id="4" name="Image 1" descr="/home/user/whatsmap/reports/colombia_eq_20260810/images/sgc_shakemap_manual.jpg">    </p:cNvPr>
          <p:cNvPicPr>
            <a:picLocks noChangeAspect="1"/>
          </p:cNvPicPr>
          <p:nvPr/>
        </p:nvPicPr>
        <p:blipFill>
          <a:blip r:embed="rId2"/>
          <a:stretch>
            <a:fillRect/>
          </a:stretch>
        </p:blipFill>
        <p:spPr>
          <a:xfrm>
            <a:off x="1067167" y="1024128"/>
            <a:ext cx="3809266" cy="4626864"/>
          </a:xfrm>
          <a:prstGeom prst="rect">
            <a:avLst/>
          </a:prstGeom>
        </p:spPr>
      </p:pic>
      <p:sp>
        <p:nvSpPr>
          <p:cNvPr id="5" name="Text 1"/>
          <p:cNvSpPr/>
          <p:nvPr/>
        </p:nvSpPr>
        <p:spPr>
          <a:xfrm>
            <a:off x="365760" y="5669280"/>
            <a:ext cx="5212080" cy="201168"/>
          </a:xfrm>
          <a:prstGeom prst="rect">
            <a:avLst/>
          </a:prstGeom>
          <a:noFill/>
          <a:ln/>
        </p:spPr>
        <p:txBody>
          <a:bodyPr wrap="square" lIns="0" tIns="0" rIns="0" bIns="0" rtlCol="0" anchor="ctr"/>
          <a:lstStyle/>
          <a:p>
            <a:pPr algn="ctr" indent="0" marL="0">
              <a:buNone/>
            </a:pPr>
            <a:r>
              <a:rPr lang="en-US" sz="800" dirty="0">
                <a:solidFill>
                  <a:srgbClr val="6A6A6A"/>
                </a:solidFill>
                <a:latin typeface="Meiryo" pitchFamily="34" charset="0"/>
                <a:ea typeface="Meiryo" pitchFamily="34" charset="-122"/>
                <a:cs typeface="Meiryo" pitchFamily="34" charset="-120"/>
              </a:rPr>
              <a:t>SGC 公式の震度分布図  (© SGC)</a:t>
            </a:r>
            <a:pPr algn="ctr" indent="0" marL="0">
              <a:buNone/>
            </a:pPr>
            <a:r>
              <a:rPr lang="en-US" sz="700" u="sng" dirty="0">
                <a:solidFill>
                  <a:srgbClr val="0563C1"/>
                </a:solidFill>
                <a:latin typeface="Meiryo" pitchFamily="34" charset="0"/>
                <a:ea typeface="Meiryo" pitchFamily="34" charset="-122"/>
                <a:cs typeface="Meiryo" pitchFamily="34" charset="-120"/>
                <a:hlinkClick r:id="rId3" invalidUrl="" action="" tgtFrame="" tooltip="" history="1" highlightClick="0" endSnd="0">
                  <a:extLst>
                    <a:ext uri="{A12FA001-AC4F-418D-AE19-62706E023703}">
                      <ahyp:hlinkClr xmlns:ahyp="http://schemas.microsoft.com/office/drawing/2018/hyperlinkcolor" val="tx"/>
                    </a:ext>
                  </a:extLst>
                </a:hlinkClick>
              </a:rPr>
              <a:t>  —  https://www.sgc.gov.co/detallesismo/SGC2026pqqmro/mmi</a:t>
            </a:r>
            <a:endParaRPr lang="en-US" sz="800" dirty="0"/>
          </a:p>
        </p:txBody>
      </p:sp>
      <p:sp>
        <p:nvSpPr>
          <p:cNvPr id="6" name="Text 2"/>
          <p:cNvSpPr/>
          <p:nvPr/>
        </p:nvSpPr>
        <p:spPr>
          <a:xfrm>
            <a:off x="5852160" y="1024128"/>
            <a:ext cx="5943600" cy="566928"/>
          </a:xfrm>
          <a:prstGeom prst="rect">
            <a:avLst/>
          </a:prstGeom>
          <a:noFill/>
          <a:ln/>
        </p:spPr>
        <p:txBody>
          <a:bodyPr wrap="square" lIns="0" tIns="0" rIns="0" bIns="0" rtlCol="0" anchor="t"/>
          <a:lstStyle/>
          <a:p>
            <a:pPr indent="0" marL="0">
              <a:buNone/>
            </a:pPr>
            <a:r>
              <a:rPr lang="en-US" sz="800" dirty="0">
                <a:solidFill>
                  <a:srgbClr val="6A6A6A"/>
                </a:solidFill>
                <a:latin typeface="Meiryo" pitchFamily="34" charset="0"/>
                <a:ea typeface="Meiryo" pitchFamily="34" charset="-122"/>
                <a:cs typeface="Meiryo" pitchFamily="34" charset="-120"/>
              </a:rPr>
              <a:t>ShakeMap：チョコ県サンホセ・デル・パルマル／2026年8月10日 12:34:29 UTC／M7.4／北緯5.04・西経76.34／深さ96.0km／ID SGC2026pqqmro／バージョン1（2026-08-10T13:12:28Z処理）／震度階はWorden et al. (2012)</a:t>
            </a:r>
            <a:endParaRPr lang="en-US" sz="800" dirty="0"/>
          </a:p>
        </p:txBody>
      </p:sp>
      <p:sp>
        <p:nvSpPr>
          <p:cNvPr id="7" name="Text 3"/>
          <p:cNvSpPr/>
          <p:nvPr/>
        </p:nvSpPr>
        <p:spPr>
          <a:xfrm>
            <a:off x="5852160" y="1645920"/>
            <a:ext cx="5943600" cy="1536192"/>
          </a:xfrm>
          <a:prstGeom prst="rect">
            <a:avLst/>
          </a:prstGeom>
          <a:noFill/>
          <a:ln/>
        </p:spPr>
        <p:txBody>
          <a:bodyPr wrap="square" lIns="0" tIns="0" rIns="0" bIns="0" rtlCol="0" anchor="t"/>
          <a:lstStyle/>
          <a:p>
            <a:pPr indent="0" marL="0">
              <a:buNone/>
            </a:pPr>
            <a:r>
              <a:rPr lang="en-US" sz="950" dirty="0">
                <a:solidFill>
                  <a:srgbClr val="222222"/>
                </a:solidFill>
                <a:latin typeface="Meiryo" pitchFamily="34" charset="0"/>
                <a:ea typeface="Meiryo" pitchFamily="34" charset="-122"/>
                <a:cs typeface="Meiryo" pitchFamily="34" charset="-120"/>
              </a:rPr>
              <a:t>SGCの図では、最も強い帯（MMI VII「Muy Fuerte」）が震央のあるチョコ県から、リサラルダ・カルダス・キンディオ・バジェ北部を貫くアンデス間の回廊に沿って広がる。ペレイラ、マニサレス、アルメニア、カルタゴでの建物倒壊はこの帯の中で起きた。震度は東へ向かって低下し、メデジンとカリは中〜強の帯、震央から241kmのボゴタは弱い帯に位置する。震央を中心とする同心円ではなく谷筋に沿って伸びる分布は、深さ96〜110kmの震源と軟弱な盆地堆積層の組み合わせによる特徴である。</a:t>
            </a:r>
            <a:endParaRPr lang="en-US" sz="950" dirty="0"/>
          </a:p>
        </p:txBody>
      </p:sp>
      <p:graphicFrame>
        <p:nvGraphicFramePr>
          <p:cNvPr id="10" name="Table 0"/>
          <p:cNvGraphicFramePr>
            <a:graphicFrameLocks noGrp="1"/>
          </p:cNvGraphicFramePr>
          <p:nvPr>
            <p:extLst>
              <p:ext uri="{D42A27DB-BD31-4B8C-83A1-F6EECF244321}">
                <p14:modId xmlns:p14="http://schemas.microsoft.com/office/powerpoint/2010/main" val="1579011935"/>
              </p:ext>
            </p:extLst>
          </p:nvPr>
        </p:nvGraphicFramePr>
        <p:xfrm>
          <a:off x="5852160" y="3255264"/>
          <a:ext cx="5943600" cy="914400"/>
        </p:xfrm>
        <a:graphic>
          <a:graphicData uri="http://schemas.openxmlformats.org/drawingml/2006/table">
            <a:tbl>
              <a:tblPr/>
              <a:tblGrid>
                <a:gridCol w="658368"/>
                <a:gridCol w="1572768"/>
                <a:gridCol w="1517904"/>
                <a:gridCol w="1097280"/>
                <a:gridCol w="1097280"/>
              </a:tblGrid>
              <a:tr h="256032">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震度</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体感</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被害の程度</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PGA（%g）</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PGV（cm/s）</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256032">
                <a:tc>
                  <a:txBody>
                    <a:bodyPr/>
                    <a:lstStyle/>
                    <a:p>
                      <a:pPr algn="ctr" indent="0" marL="0">
                        <a:buNone/>
                      </a:pPr>
                      <a:r>
                        <a:rPr lang="en-US" sz="900" b="1" dirty="0">
                          <a:solidFill>
                            <a:srgbClr val="1F3864"/>
                          </a:solidFill>
                          <a:latin typeface="Meiryo" pitchFamily="34" charset="0"/>
                          <a:ea typeface="Meiryo" pitchFamily="34" charset="-122"/>
                          <a:cs typeface="Meiryo" pitchFamily="34" charset="-120"/>
                        </a:rPr>
                        <a:t>I</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222222"/>
                          </a:solidFill>
                          <a:latin typeface="Meiryo" pitchFamily="34" charset="0"/>
                          <a:ea typeface="Meiryo" pitchFamily="34" charset="-122"/>
                          <a:cs typeface="Meiryo" pitchFamily="34" charset="-120"/>
                        </a:rPr>
                        <a:t>無感</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222222"/>
                          </a:solidFill>
                          <a:latin typeface="Meiryo" pitchFamily="34" charset="0"/>
                          <a:ea typeface="Meiryo" pitchFamily="34" charset="-122"/>
                          <a:cs typeface="Meiryo" pitchFamily="34" charset="-120"/>
                        </a:rPr>
                        <a:t>なし</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dirty="0">
                          <a:solidFill>
                            <a:srgbClr val="222222"/>
                          </a:solidFill>
                          <a:latin typeface="Meiryo" pitchFamily="34" charset="0"/>
                          <a:ea typeface="Meiryo" pitchFamily="34" charset="-122"/>
                          <a:cs typeface="Meiryo" pitchFamily="34" charset="-120"/>
                        </a:rPr>
                        <a:t>&lt;0.0464</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dirty="0">
                          <a:solidFill>
                            <a:srgbClr val="222222"/>
                          </a:solidFill>
                          <a:latin typeface="Meiryo" pitchFamily="34" charset="0"/>
                          <a:ea typeface="Meiryo" pitchFamily="34" charset="-122"/>
                          <a:cs typeface="Meiryo" pitchFamily="34" charset="-120"/>
                        </a:rPr>
                        <a:t>&lt;0.0215</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56032">
                <a:tc>
                  <a:txBody>
                    <a:bodyPr/>
                    <a:lstStyle/>
                    <a:p>
                      <a:pPr algn="ctr" indent="0" marL="0">
                        <a:buNone/>
                      </a:pPr>
                      <a:r>
                        <a:rPr lang="en-US" sz="900" b="1" dirty="0">
                          <a:solidFill>
                            <a:srgbClr val="1F3864"/>
                          </a:solidFill>
                          <a:latin typeface="Meiryo" pitchFamily="34" charset="0"/>
                          <a:ea typeface="Meiryo" pitchFamily="34" charset="-122"/>
                          <a:cs typeface="Meiryo" pitchFamily="34" charset="-120"/>
                        </a:rPr>
                        <a:t>II-III</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222222"/>
                          </a:solidFill>
                          <a:latin typeface="Meiryo" pitchFamily="34" charset="0"/>
                          <a:ea typeface="Meiryo" pitchFamily="34" charset="-122"/>
                          <a:cs typeface="Meiryo" pitchFamily="34" charset="-120"/>
                        </a:rPr>
                        <a:t>弱い</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222222"/>
                          </a:solidFill>
                          <a:latin typeface="Meiryo" pitchFamily="34" charset="0"/>
                          <a:ea typeface="Meiryo" pitchFamily="34" charset="-122"/>
                          <a:cs typeface="Meiryo" pitchFamily="34" charset="-120"/>
                        </a:rPr>
                        <a:t>なし</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222222"/>
                          </a:solidFill>
                          <a:latin typeface="Meiryo" pitchFamily="34" charset="0"/>
                          <a:ea typeface="Meiryo" pitchFamily="34" charset="-122"/>
                          <a:cs typeface="Meiryo" pitchFamily="34" charset="-120"/>
                        </a:rPr>
                        <a:t>0.297</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222222"/>
                          </a:solidFill>
                          <a:latin typeface="Meiryo" pitchFamily="34" charset="0"/>
                          <a:ea typeface="Meiryo" pitchFamily="34" charset="-122"/>
                          <a:cs typeface="Meiryo" pitchFamily="34" charset="-120"/>
                        </a:rPr>
                        <a:t>0.135</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56032">
                <a:tc>
                  <a:txBody>
                    <a:bodyPr/>
                    <a:lstStyle/>
                    <a:p>
                      <a:pPr algn="ctr" indent="0" marL="0">
                        <a:buNone/>
                      </a:pPr>
                      <a:r>
                        <a:rPr lang="en-US" sz="900" b="1" dirty="0">
                          <a:solidFill>
                            <a:srgbClr val="1F3864"/>
                          </a:solidFill>
                          <a:latin typeface="Meiryo" pitchFamily="34" charset="0"/>
                          <a:ea typeface="Meiryo" pitchFamily="34" charset="-122"/>
                          <a:cs typeface="Meiryo" pitchFamily="34" charset="-120"/>
                        </a:rPr>
                        <a:t>IV</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222222"/>
                          </a:solidFill>
                          <a:latin typeface="Meiryo" pitchFamily="34" charset="0"/>
                          <a:ea typeface="Meiryo" pitchFamily="34" charset="-122"/>
                          <a:cs typeface="Meiryo" pitchFamily="34" charset="-120"/>
                        </a:rPr>
                        <a:t>やや弱い</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222222"/>
                          </a:solidFill>
                          <a:latin typeface="Meiryo" pitchFamily="34" charset="0"/>
                          <a:ea typeface="Meiryo" pitchFamily="34" charset="-122"/>
                          <a:cs typeface="Meiryo" pitchFamily="34" charset="-120"/>
                        </a:rPr>
                        <a:t>なし</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dirty="0">
                          <a:solidFill>
                            <a:srgbClr val="222222"/>
                          </a:solidFill>
                          <a:latin typeface="Meiryo" pitchFamily="34" charset="0"/>
                          <a:ea typeface="Meiryo" pitchFamily="34" charset="-122"/>
                          <a:cs typeface="Meiryo" pitchFamily="34" charset="-120"/>
                        </a:rPr>
                        <a:t>2.76</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dirty="0">
                          <a:solidFill>
                            <a:srgbClr val="222222"/>
                          </a:solidFill>
                          <a:latin typeface="Meiryo" pitchFamily="34" charset="0"/>
                          <a:ea typeface="Meiryo" pitchFamily="34" charset="-122"/>
                          <a:cs typeface="Meiryo" pitchFamily="34" charset="-120"/>
                        </a:rPr>
                        <a:t>1.41</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56032">
                <a:tc>
                  <a:txBody>
                    <a:bodyPr/>
                    <a:lstStyle/>
                    <a:p>
                      <a:pPr algn="ctr" indent="0" marL="0">
                        <a:buNone/>
                      </a:pPr>
                      <a:r>
                        <a:rPr lang="en-US" sz="900" b="1" dirty="0">
                          <a:solidFill>
                            <a:srgbClr val="1F3864"/>
                          </a:solidFill>
                          <a:latin typeface="Meiryo" pitchFamily="34" charset="0"/>
                          <a:ea typeface="Meiryo" pitchFamily="34" charset="-122"/>
                          <a:cs typeface="Meiryo" pitchFamily="34" charset="-120"/>
                        </a:rPr>
                        <a:t>V</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222222"/>
                          </a:solidFill>
                          <a:latin typeface="Meiryo" pitchFamily="34" charset="0"/>
                          <a:ea typeface="Meiryo" pitchFamily="34" charset="-122"/>
                          <a:cs typeface="Meiryo" pitchFamily="34" charset="-120"/>
                        </a:rPr>
                        <a:t>中程度</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222222"/>
                          </a:solidFill>
                          <a:latin typeface="Meiryo" pitchFamily="34" charset="0"/>
                          <a:ea typeface="Meiryo" pitchFamily="34" charset="-122"/>
                          <a:cs typeface="Meiryo" pitchFamily="34" charset="-120"/>
                        </a:rPr>
                        <a:t>ごく軽微</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222222"/>
                          </a:solidFill>
                          <a:latin typeface="Meiryo" pitchFamily="34" charset="0"/>
                          <a:ea typeface="Meiryo" pitchFamily="34" charset="-122"/>
                          <a:cs typeface="Meiryo" pitchFamily="34" charset="-120"/>
                        </a:rPr>
                        <a:t>6.2</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222222"/>
                          </a:solidFill>
                          <a:latin typeface="Meiryo" pitchFamily="34" charset="0"/>
                          <a:ea typeface="Meiryo" pitchFamily="34" charset="-122"/>
                          <a:cs typeface="Meiryo" pitchFamily="34" charset="-120"/>
                        </a:rPr>
                        <a:t>4.65</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56032">
                <a:tc>
                  <a:txBody>
                    <a:bodyPr/>
                    <a:lstStyle/>
                    <a:p>
                      <a:pPr algn="ctr" indent="0" marL="0">
                        <a:buNone/>
                      </a:pPr>
                      <a:r>
                        <a:rPr lang="en-US" sz="900" b="1" dirty="0">
                          <a:solidFill>
                            <a:srgbClr val="1F3864"/>
                          </a:solidFill>
                          <a:latin typeface="Meiryo" pitchFamily="34" charset="0"/>
                          <a:ea typeface="Meiryo" pitchFamily="34" charset="-122"/>
                          <a:cs typeface="Meiryo" pitchFamily="34" charset="-120"/>
                        </a:rPr>
                        <a:t>VI</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222222"/>
                          </a:solidFill>
                          <a:latin typeface="Meiryo" pitchFamily="34" charset="0"/>
                          <a:ea typeface="Meiryo" pitchFamily="34" charset="-122"/>
                          <a:cs typeface="Meiryo" pitchFamily="34" charset="-120"/>
                        </a:rPr>
                        <a:t>強い</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222222"/>
                          </a:solidFill>
                          <a:latin typeface="Meiryo" pitchFamily="34" charset="0"/>
                          <a:ea typeface="Meiryo" pitchFamily="34" charset="-122"/>
                          <a:cs typeface="Meiryo" pitchFamily="34" charset="-120"/>
                        </a:rPr>
                        <a:t>軽微</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dirty="0">
                          <a:solidFill>
                            <a:srgbClr val="222222"/>
                          </a:solidFill>
                          <a:latin typeface="Meiryo" pitchFamily="34" charset="0"/>
                          <a:ea typeface="Meiryo" pitchFamily="34" charset="-122"/>
                          <a:cs typeface="Meiryo" pitchFamily="34" charset="-120"/>
                        </a:rPr>
                        <a:t>11.5</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dirty="0">
                          <a:solidFill>
                            <a:srgbClr val="222222"/>
                          </a:solidFill>
                          <a:latin typeface="Meiryo" pitchFamily="34" charset="0"/>
                          <a:ea typeface="Meiryo" pitchFamily="34" charset="-122"/>
                          <a:cs typeface="Meiryo" pitchFamily="34" charset="-120"/>
                        </a:rPr>
                        <a:t>9.64</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56032">
                <a:tc>
                  <a:txBody>
                    <a:bodyPr/>
                    <a:lstStyle/>
                    <a:p>
                      <a:pPr algn="ctr" indent="0" marL="0">
                        <a:buNone/>
                      </a:pPr>
                      <a:r>
                        <a:rPr lang="en-US" sz="900" b="1" dirty="0">
                          <a:solidFill>
                            <a:srgbClr val="1F3864"/>
                          </a:solidFill>
                          <a:latin typeface="Meiryo" pitchFamily="34" charset="0"/>
                          <a:ea typeface="Meiryo" pitchFamily="34" charset="-122"/>
                          <a:cs typeface="Meiryo" pitchFamily="34" charset="-120"/>
                        </a:rPr>
                        <a:t>VII</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222222"/>
                          </a:solidFill>
                          <a:latin typeface="Meiryo" pitchFamily="34" charset="0"/>
                          <a:ea typeface="Meiryo" pitchFamily="34" charset="-122"/>
                          <a:cs typeface="Meiryo" pitchFamily="34" charset="-120"/>
                        </a:rPr>
                        <a:t>非常に強い</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222222"/>
                          </a:solidFill>
                          <a:latin typeface="Meiryo" pitchFamily="34" charset="0"/>
                          <a:ea typeface="Meiryo" pitchFamily="34" charset="-122"/>
                          <a:cs typeface="Meiryo" pitchFamily="34" charset="-120"/>
                        </a:rPr>
                        <a:t>中程度</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222222"/>
                          </a:solidFill>
                          <a:latin typeface="Meiryo" pitchFamily="34" charset="0"/>
                          <a:ea typeface="Meiryo" pitchFamily="34" charset="-122"/>
                          <a:cs typeface="Meiryo" pitchFamily="34" charset="-120"/>
                        </a:rPr>
                        <a:t>21.5</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222222"/>
                          </a:solidFill>
                          <a:latin typeface="Meiryo" pitchFamily="34" charset="0"/>
                          <a:ea typeface="Meiryo" pitchFamily="34" charset="-122"/>
                          <a:cs typeface="Meiryo" pitchFamily="34" charset="-120"/>
                        </a:rPr>
                        <a:t>20</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56032">
                <a:tc>
                  <a:txBody>
                    <a:bodyPr/>
                    <a:lstStyle/>
                    <a:p>
                      <a:pPr algn="ctr" indent="0" marL="0">
                        <a:buNone/>
                      </a:pPr>
                      <a:r>
                        <a:rPr lang="en-US" sz="900" b="1" dirty="0">
                          <a:solidFill>
                            <a:srgbClr val="1F3864"/>
                          </a:solidFill>
                          <a:latin typeface="Meiryo" pitchFamily="34" charset="0"/>
                          <a:ea typeface="Meiryo" pitchFamily="34" charset="-122"/>
                          <a:cs typeface="Meiryo" pitchFamily="34" charset="-120"/>
                        </a:rPr>
                        <a:t>VIII</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222222"/>
                          </a:solidFill>
                          <a:latin typeface="Meiryo" pitchFamily="34" charset="0"/>
                          <a:ea typeface="Meiryo" pitchFamily="34" charset="-122"/>
                          <a:cs typeface="Meiryo" pitchFamily="34" charset="-120"/>
                        </a:rPr>
                        <a:t>甚大</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222222"/>
                          </a:solidFill>
                          <a:latin typeface="Meiryo" pitchFamily="34" charset="0"/>
                          <a:ea typeface="Meiryo" pitchFamily="34" charset="-122"/>
                          <a:cs typeface="Meiryo" pitchFamily="34" charset="-120"/>
                        </a:rPr>
                        <a:t>中〜大</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dirty="0">
                          <a:solidFill>
                            <a:srgbClr val="222222"/>
                          </a:solidFill>
                          <a:latin typeface="Meiryo" pitchFamily="34" charset="0"/>
                          <a:ea typeface="Meiryo" pitchFamily="34" charset="-122"/>
                          <a:cs typeface="Meiryo" pitchFamily="34" charset="-120"/>
                        </a:rPr>
                        <a:t>40.1</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dirty="0">
                          <a:solidFill>
                            <a:srgbClr val="222222"/>
                          </a:solidFill>
                          <a:latin typeface="Meiryo" pitchFamily="34" charset="0"/>
                          <a:ea typeface="Meiryo" pitchFamily="34" charset="-122"/>
                          <a:cs typeface="Meiryo" pitchFamily="34" charset="-120"/>
                        </a:rPr>
                        <a:t>41.4</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56032">
                <a:tc>
                  <a:txBody>
                    <a:bodyPr/>
                    <a:lstStyle/>
                    <a:p>
                      <a:pPr algn="ctr" indent="0" marL="0">
                        <a:buNone/>
                      </a:pPr>
                      <a:r>
                        <a:rPr lang="en-US" sz="900" b="1" dirty="0">
                          <a:solidFill>
                            <a:srgbClr val="1F3864"/>
                          </a:solidFill>
                          <a:latin typeface="Meiryo" pitchFamily="34" charset="0"/>
                          <a:ea typeface="Meiryo" pitchFamily="34" charset="-122"/>
                          <a:cs typeface="Meiryo" pitchFamily="34" charset="-120"/>
                        </a:rPr>
                        <a:t>IX</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222222"/>
                          </a:solidFill>
                          <a:latin typeface="Meiryo" pitchFamily="34" charset="0"/>
                          <a:ea typeface="Meiryo" pitchFamily="34" charset="-122"/>
                          <a:cs typeface="Meiryo" pitchFamily="34" charset="-120"/>
                        </a:rPr>
                        <a:t>激烈</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222222"/>
                          </a:solidFill>
                          <a:latin typeface="Meiryo" pitchFamily="34" charset="0"/>
                          <a:ea typeface="Meiryo" pitchFamily="34" charset="-122"/>
                          <a:cs typeface="Meiryo" pitchFamily="34" charset="-120"/>
                        </a:rPr>
                        <a:t>大</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222222"/>
                          </a:solidFill>
                          <a:latin typeface="Meiryo" pitchFamily="34" charset="0"/>
                          <a:ea typeface="Meiryo" pitchFamily="34" charset="-122"/>
                          <a:cs typeface="Meiryo" pitchFamily="34" charset="-120"/>
                        </a:rPr>
                        <a:t>74.7</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222222"/>
                          </a:solidFill>
                          <a:latin typeface="Meiryo" pitchFamily="34" charset="0"/>
                          <a:ea typeface="Meiryo" pitchFamily="34" charset="-122"/>
                          <a:cs typeface="Meiryo" pitchFamily="34" charset="-120"/>
                        </a:rPr>
                        <a:t>85.8</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56032">
                <a:tc>
                  <a:txBody>
                    <a:bodyPr/>
                    <a:lstStyle/>
                    <a:p>
                      <a:pPr algn="ctr" indent="0" marL="0">
                        <a:buNone/>
                      </a:pPr>
                      <a:r>
                        <a:rPr lang="en-US" sz="900" b="1" dirty="0">
                          <a:solidFill>
                            <a:srgbClr val="1F3864"/>
                          </a:solidFill>
                          <a:latin typeface="Meiryo" pitchFamily="34" charset="0"/>
                          <a:ea typeface="Meiryo" pitchFamily="34" charset="-122"/>
                          <a:cs typeface="Meiryo" pitchFamily="34" charset="-120"/>
                        </a:rPr>
                        <a:t>X+</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222222"/>
                          </a:solidFill>
                          <a:latin typeface="Meiryo" pitchFamily="34" charset="0"/>
                          <a:ea typeface="Meiryo" pitchFamily="34" charset="-122"/>
                          <a:cs typeface="Meiryo" pitchFamily="34" charset="-120"/>
                        </a:rPr>
                        <a:t>極めて激烈</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222222"/>
                          </a:solidFill>
                          <a:latin typeface="Meiryo" pitchFamily="34" charset="0"/>
                          <a:ea typeface="Meiryo" pitchFamily="34" charset="-122"/>
                          <a:cs typeface="Meiryo" pitchFamily="34" charset="-120"/>
                        </a:rPr>
                        <a:t>甚大</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dirty="0">
                          <a:solidFill>
                            <a:srgbClr val="222222"/>
                          </a:solidFill>
                          <a:latin typeface="Meiryo" pitchFamily="34" charset="0"/>
                          <a:ea typeface="Meiryo" pitchFamily="34" charset="-122"/>
                          <a:cs typeface="Meiryo" pitchFamily="34" charset="-120"/>
                        </a:rPr>
                        <a:t>&gt;139</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dirty="0">
                          <a:solidFill>
                            <a:srgbClr val="222222"/>
                          </a:solidFill>
                          <a:latin typeface="Meiryo" pitchFamily="34" charset="0"/>
                          <a:ea typeface="Meiryo" pitchFamily="34" charset="-122"/>
                          <a:cs typeface="Meiryo" pitchFamily="34" charset="-120"/>
                        </a:rPr>
                        <a:t>&gt;178</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9" name="Text 4"/>
          <p:cNvSpPr/>
          <p:nvPr/>
        </p:nvSpPr>
        <p:spPr>
          <a:xfrm>
            <a:off x="5852160" y="5870448"/>
            <a:ext cx="5943600" cy="201168"/>
          </a:xfrm>
          <a:prstGeom prst="rect">
            <a:avLst/>
          </a:prstGeom>
          <a:noFill/>
          <a:ln/>
        </p:spPr>
        <p:txBody>
          <a:bodyPr wrap="square" lIns="0" tIns="0" rIns="0" bIns="0" rtlCol="0" anchor="ctr"/>
          <a:lstStyle/>
          <a:p>
            <a:pPr indent="0" marL="0">
              <a:buNone/>
            </a:pPr>
            <a:r>
              <a:rPr lang="en-US" sz="750" i="1" dirty="0">
                <a:solidFill>
                  <a:srgbClr val="6A6A6A"/>
                </a:solidFill>
                <a:latin typeface="Meiryo" pitchFamily="34" charset="0"/>
                <a:ea typeface="Meiryo" pitchFamily="34" charset="-122"/>
                <a:cs typeface="Meiryo" pitchFamily="34" charset="-120"/>
              </a:rPr>
              <a:t>改正メルカリ震度階（Worden et al., 2012）。SGCの図に掲載されているもの。</a:t>
            </a:r>
            <a:endParaRPr lang="en-US" sz="750" dirty="0"/>
          </a:p>
        </p:txBody>
      </p:sp>
      <p:sp>
        <p:nvSpPr>
          <p:cNvPr id="10" name="Text 5"/>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Meiryo" pitchFamily="34" charset="0"/>
                <a:ea typeface="Meiryo" pitchFamily="34" charset="-122"/>
                <a:cs typeface="Meiryo" pitchFamily="34" charset="-120"/>
              </a:rPr>
              <a:t>出典：</a:t>
            </a:r>
            <a:pPr algn="l" indent="0" marL="0">
              <a:buNone/>
            </a:pPr>
            <a:r>
              <a:rPr lang="en-US" sz="850" u="sng" dirty="0">
                <a:solidFill>
                  <a:srgbClr val="0563C1"/>
                </a:solidFill>
                <a:latin typeface="Meiryo" pitchFamily="34" charset="0"/>
                <a:ea typeface="Meiryo" pitchFamily="34" charset="-122"/>
                <a:cs typeface="Meiryo" pitchFamily="34" charset="-120"/>
                <a:hlinkClick r:id="rId4" invalidUrl="" action="" tgtFrame="" tooltip="" history="1" highlightClick="0" endSnd="0">
                  <a:extLst>
                    <a:ext uri="{A12FA001-AC4F-418D-AE19-62706E023703}">
                      <ahyp:hlinkClr xmlns:ahyp="http://schemas.microsoft.com/office/drawing/2018/hyperlinkcolor" val="tx"/>
                    </a:ext>
                  </a:extLst>
                </a:hlinkClick>
              </a:rPr>
              <a:t>SGC 体感震度図（ShakeMap・本地震）</a:t>
            </a:r>
            <a:pPr algn="l" indent="0" marL="0">
              <a:buNone/>
            </a:pPr>
            <a:r>
              <a:rPr lang="en-US" sz="850" dirty="0">
                <a:solidFill>
                  <a:srgbClr val="6A6A6A"/>
                </a:solidFill>
                <a:latin typeface="Meiryo" pitchFamily="34" charset="0"/>
                <a:ea typeface="Meiryo" pitchFamily="34" charset="-122"/>
                <a:cs typeface="Meiryo" pitchFamily="34" charset="-120"/>
              </a:rPr>
              <a:t>   ·   </a:t>
            </a:r>
            <a:pPr algn="l" indent="0" marL="0">
              <a:buNone/>
            </a:pPr>
            <a:r>
              <a:rPr lang="en-US" sz="850" u="sng" dirty="0">
                <a:solidFill>
                  <a:srgbClr val="0563C1"/>
                </a:solidFill>
                <a:latin typeface="Meiryo" pitchFamily="34" charset="0"/>
                <a:ea typeface="Meiryo" pitchFamily="34" charset="-122"/>
                <a:cs typeface="Meiryo" pitchFamily="34" charset="-120"/>
                <a:hlinkClick r:id="rId5" invalidUrl="" action="" tgtFrame="" tooltip="" history="1" highlightClick="0" endSnd="0">
                  <a:extLst>
                    <a:ext uri="{A12FA001-AC4F-418D-AE19-62706E023703}">
                      <ahyp:hlinkClr xmlns:ahyp="http://schemas.microsoft.com/office/drawing/2018/hyperlinkcolor" val="tx"/>
                    </a:ext>
                  </a:extLst>
                </a:hlinkClick>
              </a:rPr>
              <a:t>SGC 地震速報 SGC2026pqqmro（本地震）</a:t>
            </a:r>
            <a:pPr algn="l" indent="0" marL="0">
              <a:buNone/>
            </a:pPr>
            <a:r>
              <a:rPr lang="en-US" sz="850" dirty="0">
                <a:solidFill>
                  <a:srgbClr val="6A6A6A"/>
                </a:solidFill>
                <a:latin typeface="Meiryo" pitchFamily="34" charset="0"/>
                <a:ea typeface="Meiryo" pitchFamily="34" charset="-122"/>
                <a:cs typeface="Meiryo" pitchFamily="34" charset="-120"/>
              </a:rPr>
              <a:t>   ·   </a:t>
            </a:r>
            <a:pPr algn="l" indent="0" marL="0">
              <a:buNone/>
            </a:pPr>
            <a:r>
              <a:rPr lang="en-US" sz="850" u="sng" dirty="0">
                <a:solidFill>
                  <a:srgbClr val="0563C1"/>
                </a:solidFill>
                <a:latin typeface="Meiryo" pitchFamily="34" charset="0"/>
                <a:ea typeface="Meiryo" pitchFamily="34" charset="-122"/>
                <a:cs typeface="Meiryo" pitchFamily="34" charset="-120"/>
                <a:hlinkClick r:id="rId6" invalidUrl="" action="" tgtFrame="" tooltip="" history="1" highlightClick="0" endSnd="0">
                  <a:extLst>
                    <a:ext uri="{A12FA001-AC4F-418D-AE19-62706E023703}">
                      <ahyp:hlinkClr xmlns:ahyp="http://schemas.microsoft.com/office/drawing/2018/hyperlinkcolor" val="tx"/>
                    </a:ext>
                  </a:extLst>
                </a:hlinkClick>
              </a:rPr>
              <a:t>USGS 地震イベントページ</a:t>
            </a:r>
            <a:endParaRPr lang="en-US" sz="850" dirty="0"/>
          </a:p>
        </p:txBody>
      </p:sp>
      <p:sp>
        <p:nvSpPr>
          <p:cNvPr id="11" name="Shape 6"/>
          <p:cNvSpPr/>
          <p:nvPr/>
        </p:nvSpPr>
        <p:spPr>
          <a:xfrm>
            <a:off x="10268712" y="6510528"/>
            <a:ext cx="1554480" cy="274320"/>
          </a:xfrm>
          <a:prstGeom prst="rect">
            <a:avLst/>
          </a:prstGeom>
          <a:solidFill>
            <a:srgbClr val="E8A317"/>
          </a:solidFill>
          <a:ln w="12700">
            <a:solidFill>
              <a:srgbClr val="E8A317"/>
            </a:solidFill>
            <a:prstDash val="solid"/>
          </a:ln>
        </p:spPr>
      </p:sp>
      <p:sp>
        <p:nvSpPr>
          <p:cNvPr id="12" name="Text 7"/>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Meiryo" pitchFamily="34" charset="0"/>
                <a:ea typeface="Meiryo" pitchFamily="34" charset="-122"/>
                <a:cs typeface="Meiryo" pitchFamily="34" charset="-120"/>
              </a:rPr>
              <a:t>ADRC  12/08/2026</a:t>
            </a:r>
            <a:endParaRPr lang="en-US" sz="950" dirty="0"/>
          </a:p>
        </p:txBody>
      </p:sp>
      <p:sp>
        <p:nvSpPr>
          <p:cNvPr id="13" name="Text 8"/>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Meiryo" pitchFamily="34" charset="0"/>
                <a:ea typeface="Meiryo" pitchFamily="34" charset="-122"/>
                <a:cs typeface="Meiryo" pitchFamily="34" charset="-120"/>
              </a:rPr>
              <a:t>9</a:t>
            </a:r>
            <a:endParaRPr lang="en-US" sz="9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1900" b="1" dirty="0">
                <a:solidFill>
                  <a:srgbClr val="1F3864"/>
                </a:solidFill>
                <a:latin typeface="Meiryo" pitchFamily="34" charset="0"/>
                <a:ea typeface="Meiryo" pitchFamily="34" charset="-122"/>
                <a:cs typeface="Meiryo" pitchFamily="34" charset="-120"/>
              </a:rPr>
              <a:t>USGS PAGERによる影響評価</a:t>
            </a:r>
            <a:endParaRPr lang="en-US" sz="19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pic>
        <p:nvPicPr>
          <p:cNvPr id="4" name="Image 1" descr="/home/user/whatsmap/reports/colombia_eq_20260810/images/usgs_pager_manual.jpg">    </p:cNvPr>
          <p:cNvPicPr>
            <a:picLocks noChangeAspect="1"/>
          </p:cNvPicPr>
          <p:nvPr/>
        </p:nvPicPr>
        <p:blipFill>
          <a:blip r:embed="rId2"/>
          <a:stretch>
            <a:fillRect/>
          </a:stretch>
        </p:blipFill>
        <p:spPr>
          <a:xfrm>
            <a:off x="1092708" y="1024128"/>
            <a:ext cx="3575304" cy="4626864"/>
          </a:xfrm>
          <a:prstGeom prst="rect">
            <a:avLst/>
          </a:prstGeom>
        </p:spPr>
      </p:pic>
      <p:sp>
        <p:nvSpPr>
          <p:cNvPr id="5" name="Text 1"/>
          <p:cNvSpPr/>
          <p:nvPr/>
        </p:nvSpPr>
        <p:spPr>
          <a:xfrm>
            <a:off x="365760" y="5669280"/>
            <a:ext cx="5029200" cy="201168"/>
          </a:xfrm>
          <a:prstGeom prst="rect">
            <a:avLst/>
          </a:prstGeom>
          <a:noFill/>
          <a:ln/>
        </p:spPr>
        <p:txBody>
          <a:bodyPr wrap="square" lIns="0" tIns="0" rIns="0" bIns="0" rtlCol="0" anchor="ctr"/>
          <a:lstStyle/>
          <a:p>
            <a:pPr algn="ctr" indent="0" marL="0">
              <a:buNone/>
            </a:pPr>
            <a:r>
              <a:rPr lang="en-US" sz="800" dirty="0">
                <a:solidFill>
                  <a:srgbClr val="6A6A6A"/>
                </a:solidFill>
                <a:latin typeface="Meiryo" pitchFamily="34" charset="0"/>
                <a:ea typeface="Meiryo" pitchFamily="34" charset="-122"/>
                <a:cs typeface="Meiryo" pitchFamily="34" charset="-120"/>
              </a:rPr>
              <a:t>onePAGER 第5版（USGS、パブリックドメイン）</a:t>
            </a:r>
            <a:pPr algn="ctr" indent="0" marL="0">
              <a:buNone/>
            </a:pPr>
            <a:r>
              <a:rPr lang="en-US" sz="700" u="sng" dirty="0">
                <a:solidFill>
                  <a:srgbClr val="0563C1"/>
                </a:solidFill>
                <a:latin typeface="Meiryo" pitchFamily="34" charset="0"/>
                <a:ea typeface="Meiryo" pitchFamily="34" charset="-122"/>
                <a:cs typeface="Meiryo" pitchFamily="34" charset="-120"/>
                <a:hlinkClick r:id="rId3" invalidUrl="" action="" tgtFrame="" tooltip="" history="1" highlightClick="0" endSnd="0">
                  <a:extLst>
                    <a:ext uri="{A12FA001-AC4F-418D-AE19-62706E023703}">
                      <ahyp:hlinkClr xmlns:ahyp="http://schemas.microsoft.com/office/drawing/2018/hyperlinkcolor" val="tx"/>
                    </a:ext>
                  </a:extLst>
                </a:hlinkClick>
              </a:rPr>
              <a:t>  —  https://earthquake.usgs.gov/earthquakes/eventpage/us6000tjl2/pager</a:t>
            </a:r>
            <a:endParaRPr lang="en-US" sz="800" dirty="0"/>
          </a:p>
        </p:txBody>
      </p:sp>
      <p:sp>
        <p:nvSpPr>
          <p:cNvPr id="6" name="Text 2"/>
          <p:cNvSpPr/>
          <p:nvPr/>
        </p:nvSpPr>
        <p:spPr>
          <a:xfrm>
            <a:off x="5669280" y="1024128"/>
            <a:ext cx="6126480" cy="1965960"/>
          </a:xfrm>
          <a:prstGeom prst="rect">
            <a:avLst/>
          </a:prstGeom>
          <a:noFill/>
          <a:ln/>
        </p:spPr>
        <p:txBody>
          <a:bodyPr wrap="square" lIns="0" tIns="0" rIns="0" bIns="0" rtlCol="0" anchor="t"/>
          <a:lstStyle/>
          <a:p>
            <a:pPr indent="0" marL="0">
              <a:buNone/>
            </a:pPr>
            <a:r>
              <a:rPr lang="en-US" sz="950" dirty="0">
                <a:solidFill>
                  <a:srgbClr val="222222"/>
                </a:solidFill>
                <a:latin typeface="Meiryo" pitchFamily="34" charset="0"/>
                <a:ea typeface="Meiryo" pitchFamily="34" charset="-122"/>
                <a:cs typeface="Meiryo" pitchFamily="34" charset="-120"/>
              </a:rPr>
              <a:t>PAGERはUSGSによる迅速影響推計で、発生から数分で発表され、震源要素の精査に伴い改訂される。第5版は発災の2時間8分後に作成された。これは単一の予測値ではなく確率分布であり、オレンジ警報は「相当の人的被害と損害が生じる可能性が高く、過去のオレンジ警報は地域的または国家的な対応を要した」ことを意味する。最も確からしい死者数階級1,000〜10,000人は、発災9時間後の報告値111人を大きく上回っていたが、33時間後には報告値が182〜240人となり、PAGERが低いながらも相応の確率を与えていた100〜1,000人の階級に入った。この段階での乖離は通常のことであり、実測が推計に置き換わるにつれて差は縮まる。</a:t>
            </a:r>
            <a:endParaRPr lang="en-US" sz="950" dirty="0"/>
          </a:p>
        </p:txBody>
      </p:sp>
      <p:graphicFrame>
        <p:nvGraphicFramePr>
          <p:cNvPr id="11" name="Table 0"/>
          <p:cNvGraphicFramePr>
            <a:graphicFrameLocks noGrp="1"/>
          </p:cNvGraphicFramePr>
          <p:nvPr>
            <p:extLst>
              <p:ext uri="{D42A27DB-BD31-4B8C-83A1-F6EECF244321}">
                <p14:modId xmlns:p14="http://schemas.microsoft.com/office/powerpoint/2010/main" val="1579011935"/>
              </p:ext>
            </p:extLst>
          </p:nvPr>
        </p:nvGraphicFramePr>
        <p:xfrm>
          <a:off x="5669280" y="3127248"/>
          <a:ext cx="6126480" cy="914400"/>
        </p:xfrm>
        <a:graphic>
          <a:graphicData uri="http://schemas.openxmlformats.org/drawingml/2006/table">
            <a:tbl>
              <a:tblPr/>
              <a:tblGrid>
                <a:gridCol w="914400"/>
                <a:gridCol w="3017520"/>
                <a:gridCol w="2194560"/>
              </a:tblGrid>
              <a:tr h="310896">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MMI</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体感</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曝露人口</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310896">
                <a:tc>
                  <a:txBody>
                    <a:bodyPr/>
                    <a:lstStyle/>
                    <a:p>
                      <a:pPr algn="ctr" indent="0" marL="0">
                        <a:buNone/>
                      </a:pPr>
                      <a:r>
                        <a:rPr lang="en-US" sz="1000" b="1" dirty="0">
                          <a:solidFill>
                            <a:srgbClr val="1F3864"/>
                          </a:solidFill>
                          <a:latin typeface="Meiryo" pitchFamily="34" charset="0"/>
                          <a:ea typeface="Meiryo" pitchFamily="34" charset="-122"/>
                          <a:cs typeface="Meiryo" pitchFamily="34" charset="-120"/>
                        </a:rPr>
                        <a:t>VIII+</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甚大</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r" indent="0" marL="0">
                        <a:buNone/>
                      </a:pPr>
                      <a:r>
                        <a:rPr lang="en-US" sz="950" dirty="0">
                          <a:solidFill>
                            <a:srgbClr val="222222"/>
                          </a:solidFill>
                          <a:latin typeface="Meiryo" pitchFamily="34" charset="0"/>
                          <a:ea typeface="Meiryo" pitchFamily="34" charset="-122"/>
                          <a:cs typeface="Meiryo" pitchFamily="34" charset="-120"/>
                        </a:rPr>
                        <a:t>-</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10896">
                <a:tc>
                  <a:txBody>
                    <a:bodyPr/>
                    <a:lstStyle/>
                    <a:p>
                      <a:pPr algn="ctr" indent="0" marL="0">
                        <a:buNone/>
                      </a:pPr>
                      <a:r>
                        <a:rPr lang="en-US" sz="1000" b="1" dirty="0">
                          <a:solidFill>
                            <a:srgbClr val="1F3864"/>
                          </a:solidFill>
                          <a:latin typeface="Meiryo" pitchFamily="34" charset="0"/>
                          <a:ea typeface="Meiryo" pitchFamily="34" charset="-122"/>
                          <a:cs typeface="Meiryo" pitchFamily="34" charset="-120"/>
                        </a:rPr>
                        <a:t>VII</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非常に強い</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r" indent="0" marL="0">
                        <a:buNone/>
                      </a:pPr>
                      <a:r>
                        <a:rPr lang="en-US" sz="950" dirty="0">
                          <a:solidFill>
                            <a:srgbClr val="222222"/>
                          </a:solidFill>
                          <a:latin typeface="Meiryo" pitchFamily="34" charset="0"/>
                          <a:ea typeface="Meiryo" pitchFamily="34" charset="-122"/>
                          <a:cs typeface="Meiryo" pitchFamily="34" charset="-120"/>
                        </a:rPr>
                        <a:t>1,564k</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10896">
                <a:tc>
                  <a:txBody>
                    <a:bodyPr/>
                    <a:lstStyle/>
                    <a:p>
                      <a:pPr algn="ctr" indent="0" marL="0">
                        <a:buNone/>
                      </a:pPr>
                      <a:r>
                        <a:rPr lang="en-US" sz="1000" b="1" dirty="0">
                          <a:solidFill>
                            <a:srgbClr val="1F3864"/>
                          </a:solidFill>
                          <a:latin typeface="Meiryo" pitchFamily="34" charset="0"/>
                          <a:ea typeface="Meiryo" pitchFamily="34" charset="-122"/>
                          <a:cs typeface="Meiryo" pitchFamily="34" charset="-120"/>
                        </a:rPr>
                        <a:t>VI</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強い</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r" indent="0" marL="0">
                        <a:buNone/>
                      </a:pPr>
                      <a:r>
                        <a:rPr lang="en-US" sz="950" dirty="0">
                          <a:solidFill>
                            <a:srgbClr val="222222"/>
                          </a:solidFill>
                          <a:latin typeface="Meiryo" pitchFamily="34" charset="0"/>
                          <a:ea typeface="Meiryo" pitchFamily="34" charset="-122"/>
                          <a:cs typeface="Meiryo" pitchFamily="34" charset="-120"/>
                        </a:rPr>
                        <a:t>8,888k</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10896">
                <a:tc>
                  <a:txBody>
                    <a:bodyPr/>
                    <a:lstStyle/>
                    <a:p>
                      <a:pPr algn="ctr" indent="0" marL="0">
                        <a:buNone/>
                      </a:pPr>
                      <a:r>
                        <a:rPr lang="en-US" sz="1000" b="1" dirty="0">
                          <a:solidFill>
                            <a:srgbClr val="1F3864"/>
                          </a:solidFill>
                          <a:latin typeface="Meiryo" pitchFamily="34" charset="0"/>
                          <a:ea typeface="Meiryo" pitchFamily="34" charset="-122"/>
                          <a:cs typeface="Meiryo" pitchFamily="34" charset="-120"/>
                        </a:rPr>
                        <a:t>V</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中程度</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r" indent="0" marL="0">
                        <a:buNone/>
                      </a:pPr>
                      <a:r>
                        <a:rPr lang="en-US" sz="950" dirty="0">
                          <a:solidFill>
                            <a:srgbClr val="222222"/>
                          </a:solidFill>
                          <a:latin typeface="Meiryo" pitchFamily="34" charset="0"/>
                          <a:ea typeface="Meiryo" pitchFamily="34" charset="-122"/>
                          <a:cs typeface="Meiryo" pitchFamily="34" charset="-120"/>
                        </a:rPr>
                        <a:t>17,076k</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10896">
                <a:tc>
                  <a:txBody>
                    <a:bodyPr/>
                    <a:lstStyle/>
                    <a:p>
                      <a:pPr algn="ctr" indent="0" marL="0">
                        <a:buNone/>
                      </a:pPr>
                      <a:r>
                        <a:rPr lang="en-US" sz="1000" b="1" dirty="0">
                          <a:solidFill>
                            <a:srgbClr val="1F3864"/>
                          </a:solidFill>
                          <a:latin typeface="Meiryo" pitchFamily="34" charset="0"/>
                          <a:ea typeface="Meiryo" pitchFamily="34" charset="-122"/>
                          <a:cs typeface="Meiryo" pitchFamily="34" charset="-120"/>
                        </a:rPr>
                        <a:t>IV</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やや弱い</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r" indent="0" marL="0">
                        <a:buNone/>
                      </a:pPr>
                      <a:r>
                        <a:rPr lang="en-US" sz="950" dirty="0">
                          <a:solidFill>
                            <a:srgbClr val="222222"/>
                          </a:solidFill>
                          <a:latin typeface="Meiryo" pitchFamily="34" charset="0"/>
                          <a:ea typeface="Meiryo" pitchFamily="34" charset="-122"/>
                          <a:cs typeface="Meiryo" pitchFamily="34" charset="-120"/>
                        </a:rPr>
                        <a:t>6,465k</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8" name="Text 3"/>
          <p:cNvSpPr/>
          <p:nvPr/>
        </p:nvSpPr>
        <p:spPr>
          <a:xfrm>
            <a:off x="5669280" y="5084064"/>
            <a:ext cx="6126480" cy="548640"/>
          </a:xfrm>
          <a:prstGeom prst="rect">
            <a:avLst/>
          </a:prstGeom>
          <a:noFill/>
          <a:ln/>
        </p:spPr>
        <p:txBody>
          <a:bodyPr wrap="square" lIns="0" tIns="0" rIns="0" bIns="0" rtlCol="0" anchor="t"/>
          <a:lstStyle/>
          <a:p>
            <a:pPr indent="0" marL="0">
              <a:buNone/>
            </a:pPr>
            <a:r>
              <a:rPr lang="en-US" sz="750" dirty="0">
                <a:solidFill>
                  <a:srgbClr val="6A6A6A"/>
                </a:solidFill>
                <a:latin typeface="Meiryo" pitchFamily="34" charset="0"/>
                <a:ea typeface="Meiryo" pitchFamily="34" charset="-122"/>
                <a:cs typeface="Meiryo" pitchFamily="34" charset="-120"/>
              </a:rPr>
              <a:t>USGS PAGER（第5版）による曝露推計。約1,050万人がMMI VI〜VII（強い〜非常に強い）の揺れに、4か国で約3,400万人がMMI IV以上の揺れにさらされた。いずれもモデル推計値。</a:t>
            </a:r>
            <a:endParaRPr lang="en-US" sz="750" dirty="0"/>
          </a:p>
        </p:txBody>
      </p:sp>
      <p:sp>
        <p:nvSpPr>
          <p:cNvPr id="9" name="Text 4"/>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Meiryo" pitchFamily="34" charset="0"/>
                <a:ea typeface="Meiryo" pitchFamily="34" charset="-122"/>
                <a:cs typeface="Meiryo" pitchFamily="34" charset="-120"/>
              </a:rPr>
              <a:t>出典：</a:t>
            </a:r>
            <a:pPr algn="l" indent="0" marL="0">
              <a:buNone/>
            </a:pPr>
            <a:r>
              <a:rPr lang="en-US" sz="850" u="sng" dirty="0">
                <a:solidFill>
                  <a:srgbClr val="0563C1"/>
                </a:solidFill>
                <a:latin typeface="Meiryo" pitchFamily="34" charset="0"/>
                <a:ea typeface="Meiryo" pitchFamily="34" charset="-122"/>
                <a:cs typeface="Meiryo" pitchFamily="34" charset="-120"/>
                <a:hlinkClick r:id="rId4" invalidUrl="" action="" tgtFrame="" tooltip="" history="1" highlightClick="0" endSnd="0">
                  <a:extLst>
                    <a:ext uri="{A12FA001-AC4F-418D-AE19-62706E023703}">
                      <ahyp:hlinkClr xmlns:ahyp="http://schemas.microsoft.com/office/drawing/2018/hyperlinkcolor" val="tx"/>
                    </a:ext>
                  </a:extLst>
                </a:hlinkClick>
              </a:rPr>
              <a:t>USGS 地震イベントページ</a:t>
            </a:r>
            <a:pPr algn="l" indent="0" marL="0">
              <a:buNone/>
            </a:pPr>
            <a:r>
              <a:rPr lang="en-US" sz="850" dirty="0">
                <a:solidFill>
                  <a:srgbClr val="6A6A6A"/>
                </a:solidFill>
                <a:latin typeface="Meiryo" pitchFamily="34" charset="0"/>
                <a:ea typeface="Meiryo" pitchFamily="34" charset="-122"/>
                <a:cs typeface="Meiryo" pitchFamily="34" charset="-120"/>
              </a:rPr>
              <a:t>   ·   </a:t>
            </a:r>
            <a:pPr algn="l" indent="0" marL="0">
              <a:buNone/>
            </a:pPr>
            <a:r>
              <a:rPr lang="en-US" sz="850" u="sng" dirty="0">
                <a:solidFill>
                  <a:srgbClr val="0563C1"/>
                </a:solidFill>
                <a:latin typeface="Meiryo" pitchFamily="34" charset="0"/>
                <a:ea typeface="Meiryo" pitchFamily="34" charset="-122"/>
                <a:cs typeface="Meiryo" pitchFamily="34" charset="-120"/>
                <a:hlinkClick r:id="rId5" invalidUrl="" action="" tgtFrame="" tooltip="" history="1" highlightClick="0" endSnd="0">
                  <a:extLst>
                    <a:ext uri="{A12FA001-AC4F-418D-AE19-62706E023703}">
                      <ahyp:hlinkClr xmlns:ahyp="http://schemas.microsoft.com/office/drawing/2018/hyperlinkcolor" val="tx"/>
                    </a:ext>
                  </a:extLst>
                </a:hlinkClick>
              </a:rPr>
              <a:t>GDACS オレンジ警報</a:t>
            </a:r>
            <a:endParaRPr lang="en-US" sz="850" dirty="0"/>
          </a:p>
        </p:txBody>
      </p:sp>
      <p:sp>
        <p:nvSpPr>
          <p:cNvPr id="10" name="Shape 5"/>
          <p:cNvSpPr/>
          <p:nvPr/>
        </p:nvSpPr>
        <p:spPr>
          <a:xfrm>
            <a:off x="10268712" y="6510528"/>
            <a:ext cx="1554480" cy="274320"/>
          </a:xfrm>
          <a:prstGeom prst="rect">
            <a:avLst/>
          </a:prstGeom>
          <a:solidFill>
            <a:srgbClr val="E8A317"/>
          </a:solidFill>
          <a:ln w="12700">
            <a:solidFill>
              <a:srgbClr val="E8A317"/>
            </a:solidFill>
            <a:prstDash val="solid"/>
          </a:ln>
        </p:spPr>
      </p:sp>
      <p:sp>
        <p:nvSpPr>
          <p:cNvPr id="11" name="Text 6"/>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Meiryo" pitchFamily="34" charset="0"/>
                <a:ea typeface="Meiryo" pitchFamily="34" charset="-122"/>
                <a:cs typeface="Meiryo" pitchFamily="34" charset="-120"/>
              </a:rPr>
              <a:t>ADRC  12/08/2026</a:t>
            </a:r>
            <a:endParaRPr lang="en-US" sz="950" dirty="0"/>
          </a:p>
        </p:txBody>
      </p:sp>
      <p:sp>
        <p:nvSpPr>
          <p:cNvPr id="12" name="Text 7"/>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Meiryo" pitchFamily="34" charset="0"/>
                <a:ea typeface="Meiryo" pitchFamily="34" charset="-122"/>
                <a:cs typeface="Meiryo" pitchFamily="34" charset="-120"/>
              </a:rPr>
              <a:t>10</a:t>
            </a:r>
            <a:endParaRPr lang="en-US" sz="9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1900" b="1" dirty="0">
                <a:solidFill>
                  <a:srgbClr val="1F3864"/>
                </a:solidFill>
                <a:latin typeface="Meiryo" pitchFamily="34" charset="0"/>
                <a:ea typeface="Meiryo" pitchFamily="34" charset="-122"/>
                <a:cs typeface="Meiryo" pitchFamily="34" charset="-120"/>
              </a:rPr>
              <a:t>地震活動：余震</a:t>
            </a:r>
            <a:endParaRPr lang="en-US" sz="19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graphicFrame>
        <p:nvGraphicFramePr>
          <p:cNvPr id="12" name="Table 0"/>
          <p:cNvGraphicFramePr>
            <a:graphicFrameLocks noGrp="1"/>
          </p:cNvGraphicFramePr>
          <p:nvPr>
            <p:extLst>
              <p:ext uri="{D42A27DB-BD31-4B8C-83A1-F6EECF244321}">
                <p14:modId xmlns:p14="http://schemas.microsoft.com/office/powerpoint/2010/main" val="1579011935"/>
              </p:ext>
            </p:extLst>
          </p:nvPr>
        </p:nvGraphicFramePr>
        <p:xfrm>
          <a:off x="365760" y="1024128"/>
          <a:ext cx="11430000" cy="914400"/>
        </p:xfrm>
        <a:graphic>
          <a:graphicData uri="http://schemas.openxmlformats.org/drawingml/2006/table">
            <a:tbl>
              <a:tblPr/>
              <a:tblGrid>
                <a:gridCol w="2377440"/>
                <a:gridCol w="1371600"/>
                <a:gridCol w="6583680"/>
                <a:gridCol w="1097280"/>
              </a:tblGrid>
              <a:tr h="420624">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時刻</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規模</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備考</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区分</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420624">
                <a:tc>
                  <a:txBody>
                    <a:bodyPr/>
                    <a:lstStyle/>
                    <a:p>
                      <a:pPr algn="l" indent="0" marL="0">
                        <a:buNone/>
                      </a:pPr>
                      <a:r>
                        <a:rPr lang="en-US" sz="1000" b="1" dirty="0">
                          <a:solidFill>
                            <a:srgbClr val="1F3864"/>
                          </a:solidFill>
                          <a:latin typeface="Meiryo" pitchFamily="34" charset="0"/>
                          <a:ea typeface="Meiryo" pitchFamily="34" charset="-122"/>
                          <a:cs typeface="Meiryo" pitchFamily="34" charset="-120"/>
                        </a:rPr>
                        <a:t>10 Aug 08:18 COT (13:18 UTC)</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100" b="1" dirty="0">
                          <a:solidFill>
                            <a:srgbClr val="C00000"/>
                          </a:solidFill>
                          <a:latin typeface="Meiryo" pitchFamily="34" charset="0"/>
                          <a:ea typeface="Meiryo" pitchFamily="34" charset="-122"/>
                          <a:cs typeface="Meiryo" pitchFamily="34" charset="-120"/>
                        </a:rPr>
                        <a:t>M4.8</a:t>
                      </a:r>
                      <a:endParaRPr lang="en-US" sz="11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最大余震。本震の44分後、サンホセ・デル・パルマル、深さ94km、震央から19km（SGC2026pqryij）。USGSは同一地震をmb5.0・深さ98.5kmとしている。広く有感。</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公式</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420624">
                <a:tc>
                  <a:txBody>
                    <a:bodyPr/>
                    <a:lstStyle/>
                    <a:p>
                      <a:pPr algn="l" indent="0" marL="0">
                        <a:buNone/>
                      </a:pPr>
                      <a:r>
                        <a:rPr lang="en-US" sz="1000" b="1" dirty="0">
                          <a:solidFill>
                            <a:srgbClr val="1F3864"/>
                          </a:solidFill>
                          <a:latin typeface="Meiryo" pitchFamily="34" charset="0"/>
                          <a:ea typeface="Meiryo" pitchFamily="34" charset="-122"/>
                          <a:cs typeface="Meiryo" pitchFamily="34" charset="-120"/>
                        </a:rPr>
                        <a:t>10 Aug 10:01 COT (15:01 UTC)</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1100" b="1" dirty="0">
                          <a:solidFill>
                            <a:srgbClr val="C00000"/>
                          </a:solidFill>
                          <a:latin typeface="Meiryo" pitchFamily="34" charset="0"/>
                          <a:ea typeface="Meiryo" pitchFamily="34" charset="-122"/>
                          <a:cs typeface="Meiryo" pitchFamily="34" charset="-120"/>
                        </a:rPr>
                        <a:t>M3.8</a:t>
                      </a:r>
                      <a:endParaRPr lang="en-US" sz="11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サンホセ・デル・パルマル、深さ88km。多機関速報で地域2機関がM4.7としていた地震にあたり、SGC解はそれより0.9小さい。</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公式</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420624">
                <a:tc>
                  <a:txBody>
                    <a:bodyPr/>
                    <a:lstStyle/>
                    <a:p>
                      <a:pPr algn="l" indent="0" marL="0">
                        <a:buNone/>
                      </a:pPr>
                      <a:r>
                        <a:rPr lang="en-US" sz="1000" b="1" dirty="0">
                          <a:solidFill>
                            <a:srgbClr val="1F3864"/>
                          </a:solidFill>
                          <a:latin typeface="Meiryo" pitchFamily="34" charset="0"/>
                          <a:ea typeface="Meiryo" pitchFamily="34" charset="-122"/>
                          <a:cs typeface="Meiryo" pitchFamily="34" charset="-120"/>
                        </a:rPr>
                        <a:t>11 Aug 00:12 / 10:43 COT</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100" b="1" dirty="0">
                          <a:solidFill>
                            <a:srgbClr val="C00000"/>
                          </a:solidFill>
                          <a:latin typeface="Meiryo" pitchFamily="34" charset="0"/>
                          <a:ea typeface="Meiryo" pitchFamily="34" charset="-122"/>
                          <a:cs typeface="Meiryo" pitchFamily="34" charset="-120"/>
                        </a:rPr>
                        <a:t>M3.6 / M3.9</a:t>
                      </a:r>
                      <a:endParaRPr lang="en-US" sz="11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サンホセ・デル・パルマル、深さ96kmと92km。10:43の地震は被災各都市で建物からの避難を招くほど強く有感となった。</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公式</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420624">
                <a:tc>
                  <a:txBody>
                    <a:bodyPr/>
                    <a:lstStyle/>
                    <a:p>
                      <a:pPr algn="l" indent="0" marL="0">
                        <a:buNone/>
                      </a:pPr>
                      <a:r>
                        <a:rPr lang="en-US" sz="1000" b="1" dirty="0">
                          <a:solidFill>
                            <a:srgbClr val="1F3864"/>
                          </a:solidFill>
                          <a:latin typeface="Meiryo" pitchFamily="34" charset="0"/>
                          <a:ea typeface="Meiryo" pitchFamily="34" charset="-122"/>
                          <a:cs typeface="Meiryo" pitchFamily="34" charset="-120"/>
                        </a:rPr>
                        <a:t>to 11 Aug 17:24 COT</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1100" b="1" dirty="0">
                          <a:solidFill>
                            <a:srgbClr val="C00000"/>
                          </a:solidFill>
                          <a:latin typeface="Meiryo" pitchFamily="34" charset="0"/>
                          <a:ea typeface="Meiryo" pitchFamily="34" charset="-122"/>
                          <a:cs typeface="Meiryo" pitchFamily="34" charset="-120"/>
                        </a:rPr>
                        <a:t>147 located</a:t>
                      </a:r>
                      <a:endParaRPr lang="en-US" sz="11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SGCカタログ、本震の34時間後まで。M2.0未満60回、M2.0〜2.9が76回、M3.0〜3.9が10回、M4.0〜4.9が1回</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公式</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bl>
          </a:graphicData>
        </a:graphic>
      </p:graphicFrame>
      <p:sp>
        <p:nvSpPr>
          <p:cNvPr id="5" name="Text 1"/>
          <p:cNvSpPr/>
          <p:nvPr/>
        </p:nvSpPr>
        <p:spPr>
          <a:xfrm>
            <a:off x="365760" y="3310128"/>
            <a:ext cx="6675120" cy="1627632"/>
          </a:xfrm>
          <a:prstGeom prst="rect">
            <a:avLst/>
          </a:prstGeom>
          <a:noFill/>
          <a:ln/>
        </p:spPr>
        <p:txBody>
          <a:bodyPr wrap="square" lIns="0" tIns="0" rIns="0" bIns="0" rtlCol="0" anchor="t"/>
          <a:lstStyle/>
          <a:p>
            <a:pPr indent="0" marL="0">
              <a:buNone/>
            </a:pPr>
            <a:r>
              <a:rPr lang="en-US" sz="900" dirty="0">
                <a:solidFill>
                  <a:srgbClr val="222222"/>
                </a:solidFill>
                <a:latin typeface="Meiryo" pitchFamily="34" charset="0"/>
                <a:ea typeface="Meiryo" pitchFamily="34" charset="-122"/>
                <a:cs typeface="Meiryo" pitchFamily="34" charset="-120"/>
              </a:rPr>
              <a:t>SGCは本震後34時間で147回の地震を決定した。M4.0を超えたのは44分後のM4.8の1回のみで、92%はM3.0未満である。本震に迫る規模の余震は発生していない。147回のうち96回は深さ60km以上かつ震央から80km以内にあり、この部分がスラブ内地震の余震活動そのものである。その累積曲線はSGC公表の余震回数とよく一致する。残りは同じカタログが記録する背景地震活動であり、カタログの総数が公式の余震回数を上回るのはこのためである。規模が小さく減衰の速い余震活動は、やや深発の地震に想定される経過である。</a:t>
            </a:r>
            <a:endParaRPr lang="en-US" sz="900" dirty="0"/>
          </a:p>
        </p:txBody>
      </p:sp>
      <p:pic>
        <p:nvPicPr>
          <p:cNvPr id="6" name="Image 1" descr="/home/user/whatsmap/reports/colombia_eq_20260810/images/aftershock_counts_ja.png">    </p:cNvPr>
          <p:cNvPicPr>
            <a:picLocks noChangeAspect="1"/>
          </p:cNvPicPr>
          <p:nvPr/>
        </p:nvPicPr>
        <p:blipFill>
          <a:blip r:embed="rId2"/>
          <a:stretch>
            <a:fillRect/>
          </a:stretch>
        </p:blipFill>
        <p:spPr>
          <a:xfrm>
            <a:off x="7636974" y="3200400"/>
            <a:ext cx="3507829" cy="1481328"/>
          </a:xfrm>
          <a:prstGeom prst="rect">
            <a:avLst/>
          </a:prstGeom>
        </p:spPr>
      </p:pic>
      <p:sp>
        <p:nvSpPr>
          <p:cNvPr id="7" name="Text 2"/>
          <p:cNvSpPr/>
          <p:nvPr/>
        </p:nvSpPr>
        <p:spPr>
          <a:xfrm>
            <a:off x="6967728" y="4700016"/>
            <a:ext cx="4846320" cy="201168"/>
          </a:xfrm>
          <a:prstGeom prst="rect">
            <a:avLst/>
          </a:prstGeom>
          <a:noFill/>
          <a:ln/>
        </p:spPr>
        <p:txBody>
          <a:bodyPr wrap="square" lIns="0" tIns="0" rIns="0" bIns="0" rtlCol="0" anchor="ctr"/>
          <a:lstStyle/>
          <a:p>
            <a:pPr algn="ctr" indent="0" marL="0">
              <a:buNone/>
            </a:pPr>
            <a:r>
              <a:rPr lang="en-US" sz="800" dirty="0">
                <a:solidFill>
                  <a:srgbClr val="6A6A6A"/>
                </a:solidFill>
                <a:latin typeface="Meiryo" pitchFamily="34" charset="0"/>
                <a:ea typeface="Meiryo" pitchFamily="34" charset="-122"/>
                <a:cs typeface="Meiryo" pitchFamily="34" charset="-120"/>
              </a:rPr>
              <a:t>本震後にSGCが決定した147地震（ADRC作成、SGCカタログによる）</a:t>
            </a:r>
            <a:endParaRPr lang="en-US" sz="800" dirty="0"/>
          </a:p>
        </p:txBody>
      </p:sp>
      <p:sp>
        <p:nvSpPr>
          <p:cNvPr id="8" name="Shape 3"/>
          <p:cNvSpPr/>
          <p:nvPr/>
        </p:nvSpPr>
        <p:spPr>
          <a:xfrm>
            <a:off x="365760" y="4937760"/>
            <a:ext cx="11430000" cy="786384"/>
          </a:xfrm>
          <a:prstGeom prst="roundRect">
            <a:avLst>
              <a:gd name="adj" fmla="val 5814"/>
            </a:avLst>
          </a:prstGeom>
          <a:solidFill>
            <a:srgbClr val="FCE9DC"/>
          </a:solidFill>
          <a:ln w="12700">
            <a:solidFill>
              <a:srgbClr val="E8A317"/>
            </a:solidFill>
            <a:prstDash val="solid"/>
          </a:ln>
        </p:spPr>
      </p:sp>
      <p:sp>
        <p:nvSpPr>
          <p:cNvPr id="9" name="Text 4"/>
          <p:cNvSpPr/>
          <p:nvPr/>
        </p:nvSpPr>
        <p:spPr>
          <a:xfrm>
            <a:off x="530352" y="4992624"/>
            <a:ext cx="11100816" cy="676656"/>
          </a:xfrm>
          <a:prstGeom prst="rect">
            <a:avLst/>
          </a:prstGeom>
          <a:noFill/>
          <a:ln/>
        </p:spPr>
        <p:txBody>
          <a:bodyPr wrap="square" lIns="25400" tIns="25400" rIns="25400" bIns="25400" rtlCol="0" anchor="ctr"/>
          <a:lstStyle/>
          <a:p>
            <a:pPr algn="l" indent="0" marL="0">
              <a:buNone/>
            </a:pPr>
            <a:r>
              <a:rPr lang="en-US" sz="1050" b="1" dirty="0">
                <a:solidFill>
                  <a:srgbClr val="9A3B12"/>
                </a:solidFill>
                <a:latin typeface="Meiryo" pitchFamily="34" charset="0"/>
                <a:ea typeface="Meiryo" pitchFamily="34" charset="-122"/>
                <a:cs typeface="Meiryo" pitchFamily="34" charset="-120"/>
              </a:rPr>
              <a:t>機関による解のばらつき
</a:t>
            </a:r>
            <a:pPr algn="l" indent="0" marL="0">
              <a:buNone/>
            </a:pPr>
            <a:r>
              <a:rPr lang="en-US" sz="950" dirty="0">
                <a:solidFill>
                  <a:srgbClr val="7A2E0E"/>
                </a:solidFill>
                <a:latin typeface="Meiryo" pitchFamily="34" charset="0"/>
                <a:ea typeface="Meiryo" pitchFamily="34" charset="-122"/>
                <a:cs typeface="Meiryo" pitchFamily="34" charset="-120"/>
              </a:rPr>
              <a:t>本震については30を超える機関が数分以内に解を公表した。規模はMw7.0〜7.7、深さは74〜121kmに分布し、自動解のいくつかは修正前に既定値の10kmを示していた。本報告はPAGER第5版と一致するUSGS/NEIC解（Mw7.4、深さ110km）を用い、SGC解を併記している。遠地観測に基づく深い地震ではこの程度のばらつきは通常であり、初期の報道で深さや規模が食い違った理由でもある。</a:t>
            </a:r>
            <a:endParaRPr lang="en-US" sz="1050" dirty="0"/>
          </a:p>
        </p:txBody>
      </p:sp>
      <p:sp>
        <p:nvSpPr>
          <p:cNvPr id="10" name="Text 5"/>
          <p:cNvSpPr/>
          <p:nvPr/>
        </p:nvSpPr>
        <p:spPr>
          <a:xfrm>
            <a:off x="365760" y="5724144"/>
            <a:ext cx="11430000" cy="347472"/>
          </a:xfrm>
          <a:prstGeom prst="rect">
            <a:avLst/>
          </a:prstGeom>
          <a:noFill/>
          <a:ln/>
        </p:spPr>
        <p:txBody>
          <a:bodyPr wrap="square" lIns="0" tIns="0" rIns="0" bIns="0" rtlCol="0" anchor="t"/>
          <a:lstStyle/>
          <a:p>
            <a:pPr indent="0" marL="0">
              <a:buNone/>
            </a:pPr>
            <a:r>
              <a:rPr lang="en-US" sz="700" i="1" dirty="0">
                <a:solidFill>
                  <a:srgbClr val="6A6A6A"/>
                </a:solidFill>
                <a:latin typeface="Meiryo" pitchFamily="34" charset="0"/>
                <a:ea typeface="Meiryo" pitchFamily="34" charset="-122"/>
                <a:cs typeface="Meiryo" pitchFamily="34" charset="-120"/>
              </a:rPr>
              <a:t>データ：SGCの地域カタログ抽出（2026年8月10日07:34〜11日17:24、コロンビア時間）。本震を含む148行で、各行にSGCのイベントIDと精査済み（manual）の状態が付されている。本レポート作成者から提供され、本リポジトリに images/sgc_aftershocks.csv として保持している。両パネルはこのファイルから生成しており、図は再現可能で、各地震はIDによりsgc.gov.coで確認できる。この抽出の本震の行（深さ103km、北緯4.99度・西経76.29度）は、8月11日に改訂されたSGCのイベントページと一致しており、抽出全体の妥当性の裏づけとなっている。</a:t>
            </a:r>
            <a:endParaRPr lang="en-US" sz="700" dirty="0"/>
          </a:p>
        </p:txBody>
      </p:sp>
      <p:sp>
        <p:nvSpPr>
          <p:cNvPr id="11" name="Text 6"/>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Meiryo" pitchFamily="34" charset="0"/>
                <a:ea typeface="Meiryo" pitchFamily="34" charset="-122"/>
                <a:cs typeface="Meiryo" pitchFamily="34" charset="-120"/>
              </a:rPr>
              <a:t>出典：</a:t>
            </a:r>
            <a:pPr algn="l" indent="0" marL="0">
              <a:buNone/>
            </a:pPr>
            <a:r>
              <a:rPr lang="en-US" sz="850" u="sng" dirty="0">
                <a:solidFill>
                  <a:srgbClr val="0563C1"/>
                </a:solidFill>
                <a:latin typeface="Meiryo" pitchFamily="34" charset="0"/>
                <a:ea typeface="Meiryo" pitchFamily="34" charset="-122"/>
                <a:cs typeface="Meiryo" pitchFamily="34" charset="-120"/>
                <a:hlinkClick r:id="rId3" invalidUrl="" action="" tgtFrame="" tooltip="" history="1" highlightClick="0" endSnd="0">
                  <a:extLst>
                    <a:ext uri="{A12FA001-AC4F-418D-AE19-62706E023703}">
                      <ahyp:hlinkClr xmlns:ahyp="http://schemas.microsoft.com/office/drawing/2018/hyperlinkcolor" val="tx"/>
                    </a:ext>
                  </a:extLst>
                </a:hlinkClick>
              </a:rPr>
              <a:t>コロンビア地質調査所（SGC）</a:t>
            </a:r>
            <a:pPr algn="l" indent="0" marL="0">
              <a:buNone/>
            </a:pPr>
            <a:r>
              <a:rPr lang="en-US" sz="850" dirty="0">
                <a:solidFill>
                  <a:srgbClr val="6A6A6A"/>
                </a:solidFill>
                <a:latin typeface="Meiryo" pitchFamily="34" charset="0"/>
                <a:ea typeface="Meiryo" pitchFamily="34" charset="-122"/>
                <a:cs typeface="Meiryo" pitchFamily="34" charset="-120"/>
              </a:rPr>
              <a:t>   ·   </a:t>
            </a:r>
            <a:pPr algn="l" indent="0" marL="0">
              <a:buNone/>
            </a:pPr>
            <a:r>
              <a:rPr lang="en-US" sz="850" u="sng" dirty="0">
                <a:solidFill>
                  <a:srgbClr val="0563C1"/>
                </a:solidFill>
                <a:latin typeface="Meiryo" pitchFamily="34" charset="0"/>
                <a:ea typeface="Meiryo" pitchFamily="34" charset="-122"/>
                <a:cs typeface="Meiryo" pitchFamily="34" charset="-120"/>
                <a:hlinkClick r:id="rId4" invalidUrl="" action="" tgtFrame="" tooltip="" history="1" highlightClick="0" endSnd="0">
                  <a:extLst>
                    <a:ext uri="{A12FA001-AC4F-418D-AE19-62706E023703}">
                      <ahyp:hlinkClr xmlns:ahyp="http://schemas.microsoft.com/office/drawing/2018/hyperlinkcolor" val="tx"/>
                    </a:ext>
                  </a:extLst>
                </a:hlinkClick>
              </a:rPr>
              <a:t>Semana SGC集計：8月11日15:00時点で余震103回</a:t>
            </a:r>
            <a:pPr algn="l" indent="0" marL="0">
              <a:buNone/>
            </a:pPr>
            <a:r>
              <a:rPr lang="en-US" sz="850" dirty="0">
                <a:solidFill>
                  <a:srgbClr val="6A6A6A"/>
                </a:solidFill>
                <a:latin typeface="Meiryo" pitchFamily="34" charset="0"/>
                <a:ea typeface="Meiryo" pitchFamily="34" charset="-122"/>
                <a:cs typeface="Meiryo" pitchFamily="34" charset="-120"/>
              </a:rPr>
              <a:t>   ·   </a:t>
            </a:r>
            <a:pPr algn="l" indent="0" marL="0">
              <a:buNone/>
            </a:pPr>
            <a:r>
              <a:rPr lang="en-US" sz="850" u="sng" dirty="0">
                <a:solidFill>
                  <a:srgbClr val="0563C1"/>
                </a:solidFill>
                <a:latin typeface="Meiryo" pitchFamily="34" charset="0"/>
                <a:ea typeface="Meiryo" pitchFamily="34" charset="-122"/>
                <a:cs typeface="Meiryo" pitchFamily="34" charset="-120"/>
                <a:hlinkClick r:id="rId5" invalidUrl="" action="" tgtFrame="" tooltip="" history="1" highlightClick="0" endSnd="0">
                  <a:extLst>
                    <a:ext uri="{A12FA001-AC4F-418D-AE19-62706E023703}">
                      <ahyp:hlinkClr xmlns:ahyp="http://schemas.microsoft.com/office/drawing/2018/hyperlinkcolor" val="tx"/>
                    </a:ext>
                  </a:extLst>
                </a:hlinkClick>
              </a:rPr>
              <a:t>El Tiempo 余震99回とその規模（SGC）</a:t>
            </a:r>
            <a:pPr algn="l" indent="0" marL="0">
              <a:buNone/>
            </a:pPr>
            <a:r>
              <a:rPr lang="en-US" sz="850" dirty="0">
                <a:solidFill>
                  <a:srgbClr val="6A6A6A"/>
                </a:solidFill>
                <a:latin typeface="Meiryo" pitchFamily="34" charset="0"/>
                <a:ea typeface="Meiryo" pitchFamily="34" charset="-122"/>
                <a:cs typeface="Meiryo" pitchFamily="34" charset="-120"/>
              </a:rPr>
              <a:t>   ·   </a:t>
            </a:r>
            <a:pPr algn="l" indent="0" marL="0">
              <a:buNone/>
            </a:pPr>
            <a:r>
              <a:rPr lang="en-US" sz="850" u="sng" dirty="0">
                <a:solidFill>
                  <a:srgbClr val="0563C1"/>
                </a:solidFill>
                <a:latin typeface="Meiryo" pitchFamily="34" charset="0"/>
                <a:ea typeface="Meiryo" pitchFamily="34" charset="-122"/>
                <a:cs typeface="Meiryo" pitchFamily="34" charset="-120"/>
                <a:hlinkClick r:id="rId6" invalidUrl="" action="" tgtFrame="" tooltip="" history="1" highlightClick="0" endSnd="0">
                  <a:extLst>
                    <a:ext uri="{A12FA001-AC4F-418D-AE19-62706E023703}">
                      <ahyp:hlinkClr xmlns:ahyp="http://schemas.microsoft.com/office/drawing/2018/hyperlinkcolor" val="tx"/>
                    </a:ext>
                  </a:extLst>
                </a:hlinkClick>
              </a:rPr>
              <a:t>USGS 地震イベントページ</a:t>
            </a:r>
            <a:endParaRPr lang="en-US" sz="850" dirty="0"/>
          </a:p>
        </p:txBody>
      </p:sp>
      <p:sp>
        <p:nvSpPr>
          <p:cNvPr id="12" name="Shape 7"/>
          <p:cNvSpPr/>
          <p:nvPr/>
        </p:nvSpPr>
        <p:spPr>
          <a:xfrm>
            <a:off x="10268712" y="6510528"/>
            <a:ext cx="1554480" cy="274320"/>
          </a:xfrm>
          <a:prstGeom prst="rect">
            <a:avLst/>
          </a:prstGeom>
          <a:solidFill>
            <a:srgbClr val="E8A317"/>
          </a:solidFill>
          <a:ln w="12700">
            <a:solidFill>
              <a:srgbClr val="E8A317"/>
            </a:solidFill>
            <a:prstDash val="solid"/>
          </a:ln>
        </p:spPr>
      </p:sp>
      <p:sp>
        <p:nvSpPr>
          <p:cNvPr id="13" name="Text 8"/>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Meiryo" pitchFamily="34" charset="0"/>
                <a:ea typeface="Meiryo" pitchFamily="34" charset="-122"/>
                <a:cs typeface="Meiryo" pitchFamily="34" charset="-120"/>
              </a:rPr>
              <a:t>ADRC  12/08/2026</a:t>
            </a:r>
            <a:endParaRPr lang="en-US" sz="950" dirty="0"/>
          </a:p>
        </p:txBody>
      </p:sp>
      <p:sp>
        <p:nvSpPr>
          <p:cNvPr id="14" name="Text 9"/>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Meiryo" pitchFamily="34" charset="0"/>
                <a:ea typeface="Meiryo" pitchFamily="34" charset="-122"/>
                <a:cs typeface="Meiryo" pitchFamily="34" charset="-120"/>
              </a:rPr>
              <a:t>11</a:t>
            </a:r>
            <a:endParaRPr lang="en-US" sz="9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1900" b="1" dirty="0">
                <a:solidFill>
                  <a:srgbClr val="1F3864"/>
                </a:solidFill>
                <a:latin typeface="Meiryo" pitchFamily="34" charset="0"/>
                <a:ea typeface="Meiryo" pitchFamily="34" charset="-122"/>
                <a:cs typeface="Meiryo" pitchFamily="34" charset="-120"/>
              </a:rPr>
              <a:t>人的被害</a:t>
            </a:r>
            <a:endParaRPr lang="en-US" sz="19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Shape 1"/>
          <p:cNvSpPr/>
          <p:nvPr/>
        </p:nvSpPr>
        <p:spPr>
          <a:xfrm>
            <a:off x="365760" y="1005840"/>
            <a:ext cx="3611880" cy="1143000"/>
          </a:xfrm>
          <a:prstGeom prst="roundRect">
            <a:avLst>
              <a:gd name="adj" fmla="val 4800"/>
            </a:avLst>
          </a:prstGeom>
          <a:solidFill>
            <a:srgbClr val="EAF2F8"/>
          </a:solidFill>
          <a:ln w="12700">
            <a:solidFill>
              <a:srgbClr val="D9D9D9"/>
            </a:solidFill>
            <a:prstDash val="solid"/>
          </a:ln>
        </p:spPr>
      </p:sp>
      <p:sp>
        <p:nvSpPr>
          <p:cNvPr id="5" name="Text 2"/>
          <p:cNvSpPr/>
          <p:nvPr/>
        </p:nvSpPr>
        <p:spPr>
          <a:xfrm>
            <a:off x="502920" y="1078992"/>
            <a:ext cx="3337560" cy="292608"/>
          </a:xfrm>
          <a:prstGeom prst="rect">
            <a:avLst/>
          </a:prstGeom>
          <a:noFill/>
          <a:ln/>
        </p:spPr>
        <p:txBody>
          <a:bodyPr wrap="square" lIns="0" tIns="0" rIns="0" bIns="0" rtlCol="0" anchor="ctr"/>
          <a:lstStyle/>
          <a:p>
            <a:pPr indent="0" marL="0">
              <a:buNone/>
            </a:pPr>
            <a:r>
              <a:rPr lang="en-US" sz="1100" dirty="0">
                <a:solidFill>
                  <a:srgbClr val="6A6A6A"/>
                </a:solidFill>
                <a:latin typeface="Meiryo" pitchFamily="34" charset="0"/>
                <a:ea typeface="Meiryo" pitchFamily="34" charset="-122"/>
                <a:cs typeface="Meiryo" pitchFamily="34" charset="-120"/>
              </a:rPr>
              <a:t>死者</a:t>
            </a:r>
            <a:endParaRPr lang="en-US" sz="1100" dirty="0"/>
          </a:p>
        </p:txBody>
      </p:sp>
      <p:sp>
        <p:nvSpPr>
          <p:cNvPr id="6" name="Text 3"/>
          <p:cNvSpPr/>
          <p:nvPr/>
        </p:nvSpPr>
        <p:spPr>
          <a:xfrm>
            <a:off x="502920" y="1335024"/>
            <a:ext cx="3337560" cy="731520"/>
          </a:xfrm>
          <a:prstGeom prst="rect">
            <a:avLst/>
          </a:prstGeom>
          <a:noFill/>
          <a:ln/>
        </p:spPr>
        <p:txBody>
          <a:bodyPr wrap="square" lIns="0" tIns="0" rIns="0" bIns="0" rtlCol="0" anchor="ctr"/>
          <a:lstStyle/>
          <a:p>
            <a:pPr indent="0" marL="0">
              <a:buNone/>
            </a:pPr>
            <a:r>
              <a:rPr lang="en-US" sz="3400" b="1" dirty="0">
                <a:solidFill>
                  <a:srgbClr val="C00000"/>
                </a:solidFill>
                <a:latin typeface="Meiryo" pitchFamily="34" charset="0"/>
                <a:ea typeface="Meiryo" pitchFamily="34" charset="-122"/>
                <a:cs typeface="Meiryo" pitchFamily="34" charset="-120"/>
              </a:rPr>
              <a:t>182</a:t>
            </a:r>
            <a:endParaRPr lang="en-US" sz="3400" dirty="0"/>
          </a:p>
        </p:txBody>
      </p:sp>
      <p:sp>
        <p:nvSpPr>
          <p:cNvPr id="7" name="Shape 4"/>
          <p:cNvSpPr/>
          <p:nvPr/>
        </p:nvSpPr>
        <p:spPr>
          <a:xfrm>
            <a:off x="4206240" y="1005840"/>
            <a:ext cx="3611880" cy="1143000"/>
          </a:xfrm>
          <a:prstGeom prst="roundRect">
            <a:avLst>
              <a:gd name="adj" fmla="val 4800"/>
            </a:avLst>
          </a:prstGeom>
          <a:solidFill>
            <a:srgbClr val="EAF2F8"/>
          </a:solidFill>
          <a:ln w="12700">
            <a:solidFill>
              <a:srgbClr val="D9D9D9"/>
            </a:solidFill>
            <a:prstDash val="solid"/>
          </a:ln>
        </p:spPr>
      </p:sp>
      <p:sp>
        <p:nvSpPr>
          <p:cNvPr id="8" name="Text 5"/>
          <p:cNvSpPr/>
          <p:nvPr/>
        </p:nvSpPr>
        <p:spPr>
          <a:xfrm>
            <a:off x="4343400" y="1078992"/>
            <a:ext cx="3337560" cy="292608"/>
          </a:xfrm>
          <a:prstGeom prst="rect">
            <a:avLst/>
          </a:prstGeom>
          <a:noFill/>
          <a:ln/>
        </p:spPr>
        <p:txBody>
          <a:bodyPr wrap="square" lIns="0" tIns="0" rIns="0" bIns="0" rtlCol="0" anchor="ctr"/>
          <a:lstStyle/>
          <a:p>
            <a:pPr indent="0" marL="0">
              <a:buNone/>
            </a:pPr>
            <a:r>
              <a:rPr lang="en-US" sz="1100" dirty="0">
                <a:solidFill>
                  <a:srgbClr val="6A6A6A"/>
                </a:solidFill>
                <a:latin typeface="Meiryo" pitchFamily="34" charset="0"/>
                <a:ea typeface="Meiryo" pitchFamily="34" charset="-122"/>
                <a:cs typeface="Meiryo" pitchFamily="34" charset="-120"/>
              </a:rPr>
              <a:t>負傷者</a:t>
            </a:r>
            <a:endParaRPr lang="en-US" sz="1100" dirty="0"/>
          </a:p>
        </p:txBody>
      </p:sp>
      <p:sp>
        <p:nvSpPr>
          <p:cNvPr id="9" name="Text 6"/>
          <p:cNvSpPr/>
          <p:nvPr/>
        </p:nvSpPr>
        <p:spPr>
          <a:xfrm>
            <a:off x="4343400" y="1335024"/>
            <a:ext cx="3337560" cy="731520"/>
          </a:xfrm>
          <a:prstGeom prst="rect">
            <a:avLst/>
          </a:prstGeom>
          <a:noFill/>
          <a:ln/>
        </p:spPr>
        <p:txBody>
          <a:bodyPr wrap="square" lIns="0" tIns="0" rIns="0" bIns="0" rtlCol="0" anchor="ctr"/>
          <a:lstStyle/>
          <a:p>
            <a:pPr indent="0" marL="0">
              <a:buNone/>
            </a:pPr>
            <a:r>
              <a:rPr lang="en-US" sz="3400" b="1" dirty="0">
                <a:solidFill>
                  <a:srgbClr val="9A3B12"/>
                </a:solidFill>
                <a:latin typeface="Meiryo" pitchFamily="34" charset="0"/>
                <a:ea typeface="Meiryo" pitchFamily="34" charset="-122"/>
                <a:cs typeface="Meiryo" pitchFamily="34" charset="-120"/>
              </a:rPr>
              <a:t>2,542</a:t>
            </a:r>
            <a:endParaRPr lang="en-US" sz="3400" dirty="0"/>
          </a:p>
        </p:txBody>
      </p:sp>
      <p:sp>
        <p:nvSpPr>
          <p:cNvPr id="10" name="Shape 7"/>
          <p:cNvSpPr/>
          <p:nvPr/>
        </p:nvSpPr>
        <p:spPr>
          <a:xfrm>
            <a:off x="8046720" y="1005840"/>
            <a:ext cx="3611880" cy="1143000"/>
          </a:xfrm>
          <a:prstGeom prst="roundRect">
            <a:avLst>
              <a:gd name="adj" fmla="val 4800"/>
            </a:avLst>
          </a:prstGeom>
          <a:solidFill>
            <a:srgbClr val="EAF2F8"/>
          </a:solidFill>
          <a:ln w="12700">
            <a:solidFill>
              <a:srgbClr val="D9D9D9"/>
            </a:solidFill>
            <a:prstDash val="solid"/>
          </a:ln>
        </p:spPr>
      </p:sp>
      <p:sp>
        <p:nvSpPr>
          <p:cNvPr id="11" name="Text 8"/>
          <p:cNvSpPr/>
          <p:nvPr/>
        </p:nvSpPr>
        <p:spPr>
          <a:xfrm>
            <a:off x="8183880" y="1078992"/>
            <a:ext cx="3337560" cy="292608"/>
          </a:xfrm>
          <a:prstGeom prst="rect">
            <a:avLst/>
          </a:prstGeom>
          <a:noFill/>
          <a:ln/>
        </p:spPr>
        <p:txBody>
          <a:bodyPr wrap="square" lIns="0" tIns="0" rIns="0" bIns="0" rtlCol="0" anchor="ctr"/>
          <a:lstStyle/>
          <a:p>
            <a:pPr indent="0" marL="0">
              <a:buNone/>
            </a:pPr>
            <a:r>
              <a:rPr lang="en-US" sz="1100" dirty="0">
                <a:solidFill>
                  <a:srgbClr val="6A6A6A"/>
                </a:solidFill>
                <a:latin typeface="Meiryo" pitchFamily="34" charset="0"/>
                <a:ea typeface="Meiryo" pitchFamily="34" charset="-122"/>
                <a:cs typeface="Meiryo" pitchFamily="34" charset="-120"/>
              </a:rPr>
              <a:t>住宅被害</a:t>
            </a:r>
            <a:endParaRPr lang="en-US" sz="1100" dirty="0"/>
          </a:p>
        </p:txBody>
      </p:sp>
      <p:sp>
        <p:nvSpPr>
          <p:cNvPr id="12" name="Text 9"/>
          <p:cNvSpPr/>
          <p:nvPr/>
        </p:nvSpPr>
        <p:spPr>
          <a:xfrm>
            <a:off x="8183880" y="1335024"/>
            <a:ext cx="3337560" cy="731520"/>
          </a:xfrm>
          <a:prstGeom prst="rect">
            <a:avLst/>
          </a:prstGeom>
          <a:noFill/>
          <a:ln/>
        </p:spPr>
        <p:txBody>
          <a:bodyPr wrap="square" lIns="0" tIns="0" rIns="0" bIns="0" rtlCol="0" anchor="ctr"/>
          <a:lstStyle/>
          <a:p>
            <a:pPr indent="0" marL="0">
              <a:buNone/>
            </a:pPr>
            <a:r>
              <a:rPr lang="en-US" sz="3400" b="1" dirty="0">
                <a:solidFill>
                  <a:srgbClr val="1F3864"/>
                </a:solidFill>
                <a:latin typeface="Meiryo" pitchFamily="34" charset="0"/>
                <a:ea typeface="Meiryo" pitchFamily="34" charset="-122"/>
                <a:cs typeface="Meiryo" pitchFamily="34" charset="-120"/>
              </a:rPr>
              <a:t>15,568棟</a:t>
            </a:r>
            <a:endParaRPr lang="en-US" sz="3400" dirty="0"/>
          </a:p>
        </p:txBody>
      </p:sp>
      <p:sp>
        <p:nvSpPr>
          <p:cNvPr id="13" name="Text 10"/>
          <p:cNvSpPr/>
          <p:nvPr/>
        </p:nvSpPr>
        <p:spPr>
          <a:xfrm>
            <a:off x="365760" y="2157984"/>
            <a:ext cx="11430000" cy="182880"/>
          </a:xfrm>
          <a:prstGeom prst="rect">
            <a:avLst/>
          </a:prstGeom>
          <a:noFill/>
          <a:ln/>
        </p:spPr>
        <p:txBody>
          <a:bodyPr wrap="square" lIns="0" tIns="0" rIns="0" bIns="0" rtlCol="0" anchor="t"/>
          <a:lstStyle/>
          <a:p>
            <a:pPr indent="0" marL="0">
              <a:buNone/>
            </a:pPr>
            <a:r>
              <a:rPr lang="en-US" sz="750" i="1" dirty="0">
                <a:solidFill>
                  <a:srgbClr val="6A6A6A"/>
                </a:solidFill>
                <a:latin typeface="Meiryo" pitchFamily="34" charset="0"/>
                <a:ea typeface="Meiryo" pitchFamily="34" charset="-122"/>
                <a:cs typeface="Meiryo" pitchFamily="34" charset="-120"/>
              </a:rPr>
              <a:t>UNGRD状況報告（8月11日）。同日の大統領集計は死者181人、県・市の発表を積み上げると240人。住宅は損壊13,067棟・全壊2,501棟。</a:t>
            </a:r>
            <a:endParaRPr lang="en-US" sz="750" dirty="0"/>
          </a:p>
        </p:txBody>
      </p:sp>
      <p:graphicFrame>
        <p:nvGraphicFramePr>
          <p:cNvPr id="14" name="Chart 0" descr=""/>
          <p:cNvGraphicFramePr/>
          <p:nvPr/>
        </p:nvGraphicFramePr>
        <p:xfrm>
          <a:off x="365760" y="2377440"/>
          <a:ext cx="6035040" cy="2615184"/>
        </p:xfrm>
        <a:graphic xmlns:a="http://schemas.openxmlformats.org/drawingml/2006/main">
          <a:graphicData uri="http://schemas.openxmlformats.org/drawingml/2006/chart">
            <c:chart xmlns:c="http://schemas.openxmlformats.org/drawingml/2006/chart" r:id="rId2"/>
          </a:graphicData>
        </a:graphic>
      </p:graphicFrame>
      <p:graphicFrame>
        <p:nvGraphicFramePr>
          <p:cNvPr id="13" name="Table 0"/>
          <p:cNvGraphicFramePr>
            <a:graphicFrameLocks noGrp="1"/>
          </p:cNvGraphicFramePr>
          <p:nvPr>
            <p:extLst>
              <p:ext uri="{D42A27DB-BD31-4B8C-83A1-F6EECF244321}">
                <p14:modId xmlns:p14="http://schemas.microsoft.com/office/powerpoint/2010/main" val="1579011935"/>
              </p:ext>
            </p:extLst>
          </p:nvPr>
        </p:nvGraphicFramePr>
        <p:xfrm>
          <a:off x="6583680" y="2377440"/>
          <a:ext cx="5212080" cy="914400"/>
        </p:xfrm>
        <a:graphic>
          <a:graphicData uri="http://schemas.openxmlformats.org/drawingml/2006/table">
            <a:tbl>
              <a:tblPr/>
              <a:tblGrid>
                <a:gridCol w="1965960"/>
                <a:gridCol w="960120"/>
                <a:gridCol w="2286000"/>
              </a:tblGrid>
              <a:tr h="402336">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県</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死者</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備考</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402336">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バジェ・デル・カウカ県（カリ）</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100" b="1" dirty="0">
                          <a:solidFill>
                            <a:srgbClr val="C00000"/>
                          </a:solidFill>
                          <a:latin typeface="Meiryo" pitchFamily="34" charset="0"/>
                          <a:ea typeface="Meiryo" pitchFamily="34" charset="-122"/>
                          <a:cs typeface="Meiryo" pitchFamily="34" charset="-120"/>
                        </a:rPr>
                        <a:t>97</a:t>
                      </a:r>
                      <a:endParaRPr lang="en-US" sz="11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00" dirty="0">
                          <a:solidFill>
                            <a:srgbClr val="6A6A6A"/>
                          </a:solidFill>
                          <a:latin typeface="Meiryo" pitchFamily="34" charset="0"/>
                          <a:ea typeface="Meiryo" pitchFamily="34" charset="-122"/>
                          <a:cs typeface="Meiryo" pitchFamily="34" charset="-120"/>
                        </a:rPr>
                        <a:t>大統領（8月11日）。県政府の集計はより多く、カリ95人＋他市町村35人</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402336">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リサラルダ県（ペレイラ）</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1100" b="1" dirty="0">
                          <a:solidFill>
                            <a:srgbClr val="C00000"/>
                          </a:solidFill>
                          <a:latin typeface="Meiryo" pitchFamily="34" charset="0"/>
                          <a:ea typeface="Meiryo" pitchFamily="34" charset="-122"/>
                          <a:cs typeface="Meiryo" pitchFamily="34" charset="-120"/>
                        </a:rPr>
                        <a:t>66</a:t>
                      </a:r>
                      <a:endParaRPr lang="en-US" sz="11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00" dirty="0">
                          <a:solidFill>
                            <a:srgbClr val="6A6A6A"/>
                          </a:solidFill>
                          <a:latin typeface="Meiryo" pitchFamily="34" charset="0"/>
                          <a:ea typeface="Meiryo" pitchFamily="34" charset="-122"/>
                          <a:cs typeface="Meiryo" pitchFamily="34" charset="-120"/>
                        </a:rPr>
                        <a:t>大統領（8月11日）。県は約90人と報告</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402336">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チョコ県（キブド）</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100" b="1" dirty="0">
                          <a:solidFill>
                            <a:srgbClr val="C00000"/>
                          </a:solidFill>
                          <a:latin typeface="Meiryo" pitchFamily="34" charset="0"/>
                          <a:ea typeface="Meiryo" pitchFamily="34" charset="-122"/>
                          <a:cs typeface="Meiryo" pitchFamily="34" charset="-120"/>
                        </a:rPr>
                        <a:t>9</a:t>
                      </a:r>
                      <a:endParaRPr lang="en-US" sz="11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00" dirty="0">
                          <a:solidFill>
                            <a:srgbClr val="6A6A6A"/>
                          </a:solidFill>
                          <a:latin typeface="Meiryo" pitchFamily="34" charset="0"/>
                          <a:ea typeface="Meiryo" pitchFamily="34" charset="-122"/>
                          <a:cs typeface="Meiryo" pitchFamily="34" charset="-120"/>
                        </a:rPr>
                        <a:t>キブドでは倒壊した学校の下に子ども4人が行方不明のまま</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402336">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カルダス県（マニサレス）</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1100" b="1" dirty="0">
                          <a:solidFill>
                            <a:srgbClr val="C00000"/>
                          </a:solidFill>
                          <a:latin typeface="Meiryo" pitchFamily="34" charset="0"/>
                          <a:ea typeface="Meiryo" pitchFamily="34" charset="-122"/>
                          <a:cs typeface="Meiryo" pitchFamily="34" charset="-120"/>
                        </a:rPr>
                        <a:t>5</a:t>
                      </a:r>
                      <a:endParaRPr lang="en-US" sz="11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00" dirty="0">
                          <a:solidFill>
                            <a:srgbClr val="6A6A6A"/>
                          </a:solidFill>
                          <a:latin typeface="Meiryo" pitchFamily="34" charset="0"/>
                          <a:ea typeface="Meiryo" pitchFamily="34" charset="-122"/>
                          <a:cs typeface="Meiryo" pitchFamily="34" charset="-120"/>
                        </a:rPr>
                        <a:t>2人、4人、5人と推移</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402336">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アンティオキア県</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100" b="1" dirty="0">
                          <a:solidFill>
                            <a:srgbClr val="C00000"/>
                          </a:solidFill>
                          <a:latin typeface="Meiryo" pitchFamily="34" charset="0"/>
                          <a:ea typeface="Meiryo" pitchFamily="34" charset="-122"/>
                          <a:cs typeface="Meiryo" pitchFamily="34" charset="-120"/>
                        </a:rPr>
                        <a:t>1</a:t>
                      </a:r>
                      <a:endParaRPr lang="en-US" sz="11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00" dirty="0">
                          <a:solidFill>
                            <a:srgbClr val="6A6A6A"/>
                          </a:solidFill>
                          <a:latin typeface="Meiryo" pitchFamily="34" charset="0"/>
                          <a:ea typeface="Meiryo" pitchFamily="34" charset="-122"/>
                          <a:cs typeface="Meiryo" pitchFamily="34" charset="-120"/>
                        </a:rPr>
                        <a:t>73歳</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16" name="Shape 11"/>
          <p:cNvSpPr/>
          <p:nvPr/>
        </p:nvSpPr>
        <p:spPr>
          <a:xfrm>
            <a:off x="365760" y="5230368"/>
            <a:ext cx="11430000" cy="969264"/>
          </a:xfrm>
          <a:prstGeom prst="roundRect">
            <a:avLst>
              <a:gd name="adj" fmla="val 4717"/>
            </a:avLst>
          </a:prstGeom>
          <a:solidFill>
            <a:srgbClr val="FCE9DC"/>
          </a:solidFill>
          <a:ln w="12700">
            <a:solidFill>
              <a:srgbClr val="E8A317"/>
            </a:solidFill>
            <a:prstDash val="solid"/>
          </a:ln>
        </p:spPr>
      </p:sp>
      <p:sp>
        <p:nvSpPr>
          <p:cNvPr id="17" name="Text 12"/>
          <p:cNvSpPr/>
          <p:nvPr/>
        </p:nvSpPr>
        <p:spPr>
          <a:xfrm>
            <a:off x="530352" y="5285232"/>
            <a:ext cx="11100816" cy="859536"/>
          </a:xfrm>
          <a:prstGeom prst="rect">
            <a:avLst/>
          </a:prstGeom>
          <a:noFill/>
          <a:ln/>
        </p:spPr>
        <p:txBody>
          <a:bodyPr wrap="square" lIns="25400" tIns="25400" rIns="25400" bIns="25400" rtlCol="0" anchor="ctr"/>
          <a:lstStyle/>
          <a:p>
            <a:pPr algn="l" indent="0" marL="0">
              <a:buNone/>
            </a:pPr>
            <a:r>
              <a:rPr lang="en-US" sz="1050" b="1" dirty="0">
                <a:solidFill>
                  <a:srgbClr val="9A3B12"/>
                </a:solidFill>
                <a:latin typeface="Meiryo" pitchFamily="34" charset="0"/>
                <a:ea typeface="Meiryo" pitchFamily="34" charset="-122"/>
                <a:cs typeface="Meiryo" pitchFamily="34" charset="-120"/>
              </a:rPr>
              <a:t>数値の読み方
</a:t>
            </a:r>
            <a:pPr algn="l" indent="0" marL="0">
              <a:buNone/>
            </a:pPr>
            <a:r>
              <a:rPr lang="en-US" sz="950" dirty="0">
                <a:solidFill>
                  <a:srgbClr val="7A2E0E"/>
                </a:solidFill>
                <a:latin typeface="Meiryo" pitchFamily="34" charset="0"/>
                <a:ea typeface="Meiryo" pitchFamily="34" charset="-122"/>
                <a:cs typeface="Meiryo" pitchFamily="34" charset="-120"/>
              </a:rPr>
              <a:t>グラフは大統領による8月11日の内訳（合計181人、うち97.6%が県都）である。同日のUNGRD状況報告は182人。県・市が個別に発表した数値を積み上げると240人となり、大統領の値より59人多い。県都以外の市町村を含み、発表時刻も異なるためである。本報告はいずれか一つを選ばず3つとも残している。引用すべきは公式の全国値、今後の推移を先取りするのが県別の積み上げ値である。　カリについても3通りの数値がある。大統領の内訳では97人、8月11日の市長発表は85人、市当局の被害報告では69人であり、この報告には集計時点が付されていない。</a:t>
            </a:r>
            <a:endParaRPr lang="en-US" sz="1050" dirty="0"/>
          </a:p>
        </p:txBody>
      </p:sp>
      <p:sp>
        <p:nvSpPr>
          <p:cNvPr id="18" name="Text 13"/>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Meiryo" pitchFamily="34" charset="0"/>
                <a:ea typeface="Meiryo" pitchFamily="34" charset="-122"/>
                <a:cs typeface="Meiryo" pitchFamily="34" charset="-120"/>
              </a:rPr>
              <a:t>出典：</a:t>
            </a:r>
            <a:pPr algn="l" indent="0" marL="0">
              <a:buNone/>
            </a:pPr>
            <a:r>
              <a:rPr lang="en-US" sz="850" u="sng" dirty="0">
                <a:solidFill>
                  <a:srgbClr val="0563C1"/>
                </a:solidFill>
                <a:latin typeface="Meiryo" pitchFamily="34" charset="0"/>
                <a:ea typeface="Meiryo" pitchFamily="34" charset="-122"/>
                <a:cs typeface="Meiryo" pitchFamily="34" charset="-120"/>
                <a:hlinkClick r:id="rId3" invalidUrl="" action="" tgtFrame="" tooltip="" history="1" highlightClick="0" endSnd="0">
                  <a:extLst>
                    <a:ext uri="{A12FA001-AC4F-418D-AE19-62706E023703}">
                      <ahyp:hlinkClr xmlns:ahyp="http://schemas.microsoft.com/office/drawing/2018/hyperlinkcolor" val="tx"/>
                    </a:ext>
                  </a:extLst>
                </a:hlinkClick>
              </a:rPr>
              <a:t>Noticias Caracol UNGRD集計：死者182人・負傷2,542人・行方不明189人</a:t>
            </a:r>
            <a:pPr algn="l" indent="0" marL="0">
              <a:buNone/>
            </a:pPr>
            <a:r>
              <a:rPr lang="en-US" sz="850" dirty="0">
                <a:solidFill>
                  <a:srgbClr val="6A6A6A"/>
                </a:solidFill>
                <a:latin typeface="Meiryo" pitchFamily="34" charset="0"/>
                <a:ea typeface="Meiryo" pitchFamily="34" charset="-122"/>
                <a:cs typeface="Meiryo" pitchFamily="34" charset="-120"/>
              </a:rPr>
              <a:t>   ·   </a:t>
            </a:r>
            <a:pPr algn="l" indent="0" marL="0">
              <a:buNone/>
            </a:pPr>
            <a:r>
              <a:rPr lang="en-US" sz="850" u="sng" dirty="0">
                <a:solidFill>
                  <a:srgbClr val="0563C1"/>
                </a:solidFill>
                <a:latin typeface="Meiryo" pitchFamily="34" charset="0"/>
                <a:ea typeface="Meiryo" pitchFamily="34" charset="-122"/>
                <a:cs typeface="Meiryo" pitchFamily="34" charset="-120"/>
                <a:hlinkClick r:id="rId4" invalidUrl="" action="" tgtFrame="" tooltip="" history="1" highlightClick="0" endSnd="0">
                  <a:extLst>
                    <a:ext uri="{A12FA001-AC4F-418D-AE19-62706E023703}">
                      <ahyp:hlinkClr xmlns:ahyp="http://schemas.microsoft.com/office/drawing/2018/hyperlinkcolor" val="tx"/>
                    </a:ext>
                  </a:extLst>
                </a:hlinkClick>
              </a:rPr>
              <a:t>RPP 大統領の181人は地方集計より59人少ない</a:t>
            </a:r>
            <a:pPr algn="l" indent="0" marL="0">
              <a:buNone/>
            </a:pPr>
            <a:r>
              <a:rPr lang="en-US" sz="850" dirty="0">
                <a:solidFill>
                  <a:srgbClr val="6A6A6A"/>
                </a:solidFill>
                <a:latin typeface="Meiryo" pitchFamily="34" charset="0"/>
                <a:ea typeface="Meiryo" pitchFamily="34" charset="-122"/>
                <a:cs typeface="Meiryo" pitchFamily="34" charset="-120"/>
              </a:rPr>
              <a:t>   ·   </a:t>
            </a:r>
            <a:pPr algn="l" indent="0" marL="0">
              <a:buNone/>
            </a:pPr>
            <a:r>
              <a:rPr lang="en-US" sz="850" u="sng" dirty="0">
                <a:solidFill>
                  <a:srgbClr val="0563C1"/>
                </a:solidFill>
                <a:latin typeface="Meiryo" pitchFamily="34" charset="0"/>
                <a:ea typeface="Meiryo" pitchFamily="34" charset="-122"/>
                <a:cs typeface="Meiryo" pitchFamily="34" charset="-120"/>
                <a:hlinkClick r:id="rId5" invalidUrl="" action="" tgtFrame="" tooltip="" history="1" highlightClick="0" endSnd="0">
                  <a:extLst>
                    <a:ext uri="{A12FA001-AC4F-418D-AE19-62706E023703}">
                      <ahyp:hlinkClr xmlns:ahyp="http://schemas.microsoft.com/office/drawing/2018/hyperlinkcolor" val="tx"/>
                    </a:ext>
                  </a:extLst>
                </a:hlinkClick>
              </a:rPr>
              <a:t>El Tiempo 速報（8月11日、カリの死者85人に）</a:t>
            </a:r>
            <a:pPr algn="l" indent="0" marL="0">
              <a:buNone/>
            </a:pPr>
            <a:r>
              <a:rPr lang="en-US" sz="850" dirty="0">
                <a:solidFill>
                  <a:srgbClr val="6A6A6A"/>
                </a:solidFill>
                <a:latin typeface="Meiryo" pitchFamily="34" charset="0"/>
                <a:ea typeface="Meiryo" pitchFamily="34" charset="-122"/>
                <a:cs typeface="Meiryo" pitchFamily="34" charset="-120"/>
              </a:rPr>
              <a:t>   ·   </a:t>
            </a:r>
            <a:pPr algn="l" indent="0" marL="0">
              <a:buNone/>
            </a:pPr>
            <a:r>
              <a:rPr lang="en-US" sz="850" u="sng" dirty="0">
                <a:solidFill>
                  <a:srgbClr val="0563C1"/>
                </a:solidFill>
                <a:latin typeface="Meiryo" pitchFamily="34" charset="0"/>
                <a:ea typeface="Meiryo" pitchFamily="34" charset="-122"/>
                <a:cs typeface="Meiryo" pitchFamily="34" charset="-120"/>
                <a:hlinkClick r:id="rId6" invalidUrl="" action="" tgtFrame="" tooltip="" history="1" highlightClick="0" endSnd="0">
                  <a:extLst>
                    <a:ext uri="{A12FA001-AC4F-418D-AE19-62706E023703}">
                      <ahyp:hlinkClr xmlns:ahyp="http://schemas.microsoft.com/office/drawing/2018/hyperlinkcolor" val="tx"/>
                    </a:ext>
                  </a:extLst>
                </a:hlinkClick>
              </a:rPr>
              <a:t>Asocapitales 集計：死者132人・負傷570人超（都市別）</a:t>
            </a:r>
            <a:endParaRPr lang="en-US" sz="850" dirty="0"/>
          </a:p>
        </p:txBody>
      </p:sp>
      <p:sp>
        <p:nvSpPr>
          <p:cNvPr id="19" name="Shape 14"/>
          <p:cNvSpPr/>
          <p:nvPr/>
        </p:nvSpPr>
        <p:spPr>
          <a:xfrm>
            <a:off x="10268712" y="6510528"/>
            <a:ext cx="1554480" cy="274320"/>
          </a:xfrm>
          <a:prstGeom prst="rect">
            <a:avLst/>
          </a:prstGeom>
          <a:solidFill>
            <a:srgbClr val="E8A317"/>
          </a:solidFill>
          <a:ln w="12700">
            <a:solidFill>
              <a:srgbClr val="E8A317"/>
            </a:solidFill>
            <a:prstDash val="solid"/>
          </a:ln>
        </p:spPr>
      </p:sp>
      <p:sp>
        <p:nvSpPr>
          <p:cNvPr id="20" name="Text 15"/>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Meiryo" pitchFamily="34" charset="0"/>
                <a:ea typeface="Meiryo" pitchFamily="34" charset="-122"/>
                <a:cs typeface="Meiryo" pitchFamily="34" charset="-120"/>
              </a:rPr>
              <a:t>ADRC  12/08/2026</a:t>
            </a:r>
            <a:endParaRPr lang="en-US" sz="950" dirty="0"/>
          </a:p>
        </p:txBody>
      </p:sp>
      <p:sp>
        <p:nvSpPr>
          <p:cNvPr id="21" name="Text 16"/>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Meiryo" pitchFamily="34" charset="0"/>
                <a:ea typeface="Meiryo" pitchFamily="34" charset="-122"/>
                <a:cs typeface="Meiryo" pitchFamily="34" charset="-120"/>
              </a:rPr>
              <a:t>12</a:t>
            </a:r>
            <a:endParaRPr lang="en-US" sz="9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1900" b="1" dirty="0">
                <a:solidFill>
                  <a:srgbClr val="1F3864"/>
                </a:solidFill>
                <a:latin typeface="Meiryo" pitchFamily="34" charset="0"/>
                <a:ea typeface="Meiryo" pitchFamily="34" charset="-122"/>
                <a:cs typeface="Meiryo" pitchFamily="34" charset="-120"/>
              </a:rPr>
              <a:t>カリ市：市当局の被害報告</a:t>
            </a:r>
            <a:endParaRPr lang="en-US" sz="19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896112"/>
            <a:ext cx="11430000" cy="274320"/>
          </a:xfrm>
          <a:prstGeom prst="rect">
            <a:avLst/>
          </a:prstGeom>
          <a:noFill/>
          <a:ln/>
        </p:spPr>
        <p:txBody>
          <a:bodyPr wrap="square" lIns="0" tIns="0" rIns="0" bIns="0" rtlCol="0" anchor="t"/>
          <a:lstStyle/>
          <a:p>
            <a:pPr indent="0" marL="0">
              <a:buNone/>
            </a:pPr>
            <a:r>
              <a:rPr lang="en-US" sz="950" i="1" dirty="0">
                <a:solidFill>
                  <a:srgbClr val="6A6A6A"/>
                </a:solidFill>
                <a:latin typeface="Meiryo" pitchFamily="34" charset="0"/>
                <a:ea typeface="Meiryo" pitchFamily="34" charset="-122"/>
                <a:cs typeface="Meiryo" pitchFamily="34" charset="-120"/>
              </a:rPr>
              <a:t>サンティアゴ・デ・カリ市職員による。市単位の数値であり、全国集計のある時点の内訳ではない。</a:t>
            </a:r>
            <a:endParaRPr lang="en-US" sz="950" dirty="0"/>
          </a:p>
        </p:txBody>
      </p:sp>
      <p:sp>
        <p:nvSpPr>
          <p:cNvPr id="5" name="Shape 2"/>
          <p:cNvSpPr/>
          <p:nvPr/>
        </p:nvSpPr>
        <p:spPr>
          <a:xfrm>
            <a:off x="365760" y="1225296"/>
            <a:ext cx="2697480" cy="1060704"/>
          </a:xfrm>
          <a:prstGeom prst="roundRect">
            <a:avLst>
              <a:gd name="adj" fmla="val 5172"/>
            </a:avLst>
          </a:prstGeom>
          <a:solidFill>
            <a:srgbClr val="EAF2F8"/>
          </a:solidFill>
          <a:ln w="12700">
            <a:solidFill>
              <a:srgbClr val="D9D9D9"/>
            </a:solidFill>
            <a:prstDash val="solid"/>
          </a:ln>
        </p:spPr>
      </p:sp>
      <p:sp>
        <p:nvSpPr>
          <p:cNvPr id="6" name="Text 3"/>
          <p:cNvSpPr/>
          <p:nvPr/>
        </p:nvSpPr>
        <p:spPr>
          <a:xfrm>
            <a:off x="493776" y="1280160"/>
            <a:ext cx="2441448" cy="274320"/>
          </a:xfrm>
          <a:prstGeom prst="rect">
            <a:avLst/>
          </a:prstGeom>
          <a:noFill/>
          <a:ln/>
        </p:spPr>
        <p:txBody>
          <a:bodyPr wrap="square" lIns="0" tIns="0" rIns="0" bIns="0" rtlCol="0" anchor="ctr"/>
          <a:lstStyle/>
          <a:p>
            <a:pPr indent="0" marL="0">
              <a:buNone/>
            </a:pPr>
            <a:r>
              <a:rPr lang="en-US" sz="1050" dirty="0">
                <a:solidFill>
                  <a:srgbClr val="6A6A6A"/>
                </a:solidFill>
                <a:latin typeface="Meiryo" pitchFamily="34" charset="0"/>
                <a:ea typeface="Meiryo" pitchFamily="34" charset="-122"/>
                <a:cs typeface="Meiryo" pitchFamily="34" charset="-120"/>
              </a:rPr>
              <a:t>死者</a:t>
            </a:r>
            <a:endParaRPr lang="en-US" sz="1050" dirty="0"/>
          </a:p>
        </p:txBody>
      </p:sp>
      <p:sp>
        <p:nvSpPr>
          <p:cNvPr id="7" name="Text 4"/>
          <p:cNvSpPr/>
          <p:nvPr/>
        </p:nvSpPr>
        <p:spPr>
          <a:xfrm>
            <a:off x="493776" y="1517904"/>
            <a:ext cx="2441448" cy="694944"/>
          </a:xfrm>
          <a:prstGeom prst="rect">
            <a:avLst/>
          </a:prstGeom>
          <a:noFill/>
          <a:ln/>
        </p:spPr>
        <p:txBody>
          <a:bodyPr wrap="square" lIns="0" tIns="0" rIns="0" bIns="0" rtlCol="0" anchor="ctr"/>
          <a:lstStyle/>
          <a:p>
            <a:pPr indent="0" marL="0">
              <a:buNone/>
            </a:pPr>
            <a:r>
              <a:rPr lang="en-US" sz="3000" b="1" dirty="0">
                <a:solidFill>
                  <a:srgbClr val="C00000"/>
                </a:solidFill>
                <a:latin typeface="Meiryo" pitchFamily="34" charset="0"/>
                <a:ea typeface="Meiryo" pitchFamily="34" charset="-122"/>
                <a:cs typeface="Meiryo" pitchFamily="34" charset="-120"/>
              </a:rPr>
              <a:t>69</a:t>
            </a:r>
            <a:endParaRPr lang="en-US" sz="3000" dirty="0"/>
          </a:p>
        </p:txBody>
      </p:sp>
      <p:sp>
        <p:nvSpPr>
          <p:cNvPr id="8" name="Shape 5"/>
          <p:cNvSpPr/>
          <p:nvPr/>
        </p:nvSpPr>
        <p:spPr>
          <a:xfrm>
            <a:off x="3255264" y="1225296"/>
            <a:ext cx="2697480" cy="1060704"/>
          </a:xfrm>
          <a:prstGeom prst="roundRect">
            <a:avLst>
              <a:gd name="adj" fmla="val 5172"/>
            </a:avLst>
          </a:prstGeom>
          <a:solidFill>
            <a:srgbClr val="EAF2F8"/>
          </a:solidFill>
          <a:ln w="12700">
            <a:solidFill>
              <a:srgbClr val="D9D9D9"/>
            </a:solidFill>
            <a:prstDash val="solid"/>
          </a:ln>
        </p:spPr>
      </p:sp>
      <p:sp>
        <p:nvSpPr>
          <p:cNvPr id="9" name="Text 6"/>
          <p:cNvSpPr/>
          <p:nvPr/>
        </p:nvSpPr>
        <p:spPr>
          <a:xfrm>
            <a:off x="3383280" y="1280160"/>
            <a:ext cx="2441448" cy="274320"/>
          </a:xfrm>
          <a:prstGeom prst="rect">
            <a:avLst/>
          </a:prstGeom>
          <a:noFill/>
          <a:ln/>
        </p:spPr>
        <p:txBody>
          <a:bodyPr wrap="square" lIns="0" tIns="0" rIns="0" bIns="0" rtlCol="0" anchor="ctr"/>
          <a:lstStyle/>
          <a:p>
            <a:pPr indent="0" marL="0">
              <a:buNone/>
            </a:pPr>
            <a:r>
              <a:rPr lang="en-US" sz="1050" dirty="0">
                <a:solidFill>
                  <a:srgbClr val="6A6A6A"/>
                </a:solidFill>
                <a:latin typeface="Meiryo" pitchFamily="34" charset="0"/>
                <a:ea typeface="Meiryo" pitchFamily="34" charset="-122"/>
                <a:cs typeface="Meiryo" pitchFamily="34" charset="-120"/>
              </a:rPr>
              <a:t>負傷者</a:t>
            </a:r>
            <a:endParaRPr lang="en-US" sz="1050" dirty="0"/>
          </a:p>
        </p:txBody>
      </p:sp>
      <p:sp>
        <p:nvSpPr>
          <p:cNvPr id="10" name="Text 7"/>
          <p:cNvSpPr/>
          <p:nvPr/>
        </p:nvSpPr>
        <p:spPr>
          <a:xfrm>
            <a:off x="3383280" y="1517904"/>
            <a:ext cx="2441448" cy="694944"/>
          </a:xfrm>
          <a:prstGeom prst="rect">
            <a:avLst/>
          </a:prstGeom>
          <a:noFill/>
          <a:ln/>
        </p:spPr>
        <p:txBody>
          <a:bodyPr wrap="square" lIns="0" tIns="0" rIns="0" bIns="0" rtlCol="0" anchor="ctr"/>
          <a:lstStyle/>
          <a:p>
            <a:pPr indent="0" marL="0">
              <a:buNone/>
            </a:pPr>
            <a:r>
              <a:rPr lang="en-US" sz="3000" b="1" dirty="0">
                <a:solidFill>
                  <a:srgbClr val="9A3B12"/>
                </a:solidFill>
                <a:latin typeface="Meiryo" pitchFamily="34" charset="0"/>
                <a:ea typeface="Meiryo" pitchFamily="34" charset="-122"/>
                <a:cs typeface="Meiryo" pitchFamily="34" charset="-120"/>
              </a:rPr>
              <a:t>1,008</a:t>
            </a:r>
            <a:endParaRPr lang="en-US" sz="3000" dirty="0"/>
          </a:p>
        </p:txBody>
      </p:sp>
      <p:sp>
        <p:nvSpPr>
          <p:cNvPr id="11" name="Shape 8"/>
          <p:cNvSpPr/>
          <p:nvPr/>
        </p:nvSpPr>
        <p:spPr>
          <a:xfrm>
            <a:off x="6144768" y="1225296"/>
            <a:ext cx="2697480" cy="1060704"/>
          </a:xfrm>
          <a:prstGeom prst="roundRect">
            <a:avLst>
              <a:gd name="adj" fmla="val 5172"/>
            </a:avLst>
          </a:prstGeom>
          <a:solidFill>
            <a:srgbClr val="EAF2F8"/>
          </a:solidFill>
          <a:ln w="12700">
            <a:solidFill>
              <a:srgbClr val="D9D9D9"/>
            </a:solidFill>
            <a:prstDash val="solid"/>
          </a:ln>
        </p:spPr>
      </p:sp>
      <p:sp>
        <p:nvSpPr>
          <p:cNvPr id="12" name="Text 9"/>
          <p:cNvSpPr/>
          <p:nvPr/>
        </p:nvSpPr>
        <p:spPr>
          <a:xfrm>
            <a:off x="6272784" y="1280160"/>
            <a:ext cx="2441448" cy="274320"/>
          </a:xfrm>
          <a:prstGeom prst="rect">
            <a:avLst/>
          </a:prstGeom>
          <a:noFill/>
          <a:ln/>
        </p:spPr>
        <p:txBody>
          <a:bodyPr wrap="square" lIns="0" tIns="0" rIns="0" bIns="0" rtlCol="0" anchor="ctr"/>
          <a:lstStyle/>
          <a:p>
            <a:pPr indent="0" marL="0">
              <a:buNone/>
            </a:pPr>
            <a:r>
              <a:rPr lang="en-US" sz="1050" dirty="0">
                <a:solidFill>
                  <a:srgbClr val="6A6A6A"/>
                </a:solidFill>
                <a:latin typeface="Meiryo" pitchFamily="34" charset="0"/>
                <a:ea typeface="Meiryo" pitchFamily="34" charset="-122"/>
                <a:cs typeface="Meiryo" pitchFamily="34" charset="-120"/>
              </a:rPr>
              <a:t>生き埋め</a:t>
            </a:r>
            <a:endParaRPr lang="en-US" sz="1050" dirty="0"/>
          </a:p>
        </p:txBody>
      </p:sp>
      <p:sp>
        <p:nvSpPr>
          <p:cNvPr id="13" name="Text 10"/>
          <p:cNvSpPr/>
          <p:nvPr/>
        </p:nvSpPr>
        <p:spPr>
          <a:xfrm>
            <a:off x="6272784" y="1517904"/>
            <a:ext cx="2441448" cy="694944"/>
          </a:xfrm>
          <a:prstGeom prst="rect">
            <a:avLst/>
          </a:prstGeom>
          <a:noFill/>
          <a:ln/>
        </p:spPr>
        <p:txBody>
          <a:bodyPr wrap="square" lIns="0" tIns="0" rIns="0" bIns="0" rtlCol="0" anchor="ctr"/>
          <a:lstStyle/>
          <a:p>
            <a:pPr indent="0" marL="0">
              <a:buNone/>
            </a:pPr>
            <a:r>
              <a:rPr lang="en-US" sz="3000" b="1" dirty="0">
                <a:solidFill>
                  <a:srgbClr val="9A3B12"/>
                </a:solidFill>
                <a:latin typeface="Meiryo" pitchFamily="34" charset="0"/>
                <a:ea typeface="Meiryo" pitchFamily="34" charset="-122"/>
                <a:cs typeface="Meiryo" pitchFamily="34" charset="-120"/>
              </a:rPr>
              <a:t>230</a:t>
            </a:r>
            <a:endParaRPr lang="en-US" sz="3000" dirty="0"/>
          </a:p>
        </p:txBody>
      </p:sp>
      <p:sp>
        <p:nvSpPr>
          <p:cNvPr id="14" name="Shape 11"/>
          <p:cNvSpPr/>
          <p:nvPr/>
        </p:nvSpPr>
        <p:spPr>
          <a:xfrm>
            <a:off x="9034272" y="1225296"/>
            <a:ext cx="2697480" cy="1060704"/>
          </a:xfrm>
          <a:prstGeom prst="roundRect">
            <a:avLst>
              <a:gd name="adj" fmla="val 5172"/>
            </a:avLst>
          </a:prstGeom>
          <a:solidFill>
            <a:srgbClr val="EAF2F8"/>
          </a:solidFill>
          <a:ln w="12700">
            <a:solidFill>
              <a:srgbClr val="D9D9D9"/>
            </a:solidFill>
            <a:prstDash val="solid"/>
          </a:ln>
        </p:spPr>
      </p:sp>
      <p:sp>
        <p:nvSpPr>
          <p:cNvPr id="15" name="Text 12"/>
          <p:cNvSpPr/>
          <p:nvPr/>
        </p:nvSpPr>
        <p:spPr>
          <a:xfrm>
            <a:off x="9162288" y="1280160"/>
            <a:ext cx="2441448" cy="274320"/>
          </a:xfrm>
          <a:prstGeom prst="rect">
            <a:avLst/>
          </a:prstGeom>
          <a:noFill/>
          <a:ln/>
        </p:spPr>
        <p:txBody>
          <a:bodyPr wrap="square" lIns="0" tIns="0" rIns="0" bIns="0" rtlCol="0" anchor="ctr"/>
          <a:lstStyle/>
          <a:p>
            <a:pPr indent="0" marL="0">
              <a:buNone/>
            </a:pPr>
            <a:r>
              <a:rPr lang="en-US" sz="1050" dirty="0">
                <a:solidFill>
                  <a:srgbClr val="6A6A6A"/>
                </a:solidFill>
                <a:latin typeface="Meiryo" pitchFamily="34" charset="0"/>
                <a:ea typeface="Meiryo" pitchFamily="34" charset="-122"/>
                <a:cs typeface="Meiryo" pitchFamily="34" charset="-120"/>
              </a:rPr>
              <a:t>救出者</a:t>
            </a:r>
            <a:endParaRPr lang="en-US" sz="1050" dirty="0"/>
          </a:p>
        </p:txBody>
      </p:sp>
      <p:sp>
        <p:nvSpPr>
          <p:cNvPr id="16" name="Text 13"/>
          <p:cNvSpPr/>
          <p:nvPr/>
        </p:nvSpPr>
        <p:spPr>
          <a:xfrm>
            <a:off x="9162288" y="1517904"/>
            <a:ext cx="2441448" cy="694944"/>
          </a:xfrm>
          <a:prstGeom prst="rect">
            <a:avLst/>
          </a:prstGeom>
          <a:noFill/>
          <a:ln/>
        </p:spPr>
        <p:txBody>
          <a:bodyPr wrap="square" lIns="0" tIns="0" rIns="0" bIns="0" rtlCol="0" anchor="ctr"/>
          <a:lstStyle/>
          <a:p>
            <a:pPr indent="0" marL="0">
              <a:buNone/>
            </a:pPr>
            <a:r>
              <a:rPr lang="en-US" sz="3000" b="1" dirty="0">
                <a:solidFill>
                  <a:srgbClr val="1F3864"/>
                </a:solidFill>
                <a:latin typeface="Meiryo" pitchFamily="34" charset="0"/>
                <a:ea typeface="Meiryo" pitchFamily="34" charset="-122"/>
                <a:cs typeface="Meiryo" pitchFamily="34" charset="-120"/>
              </a:rPr>
              <a:t>88</a:t>
            </a:r>
            <a:endParaRPr lang="en-US" sz="3000" dirty="0"/>
          </a:p>
        </p:txBody>
      </p:sp>
      <p:graphicFrame>
        <p:nvGraphicFramePr>
          <p:cNvPr id="14" name="Table 0"/>
          <p:cNvGraphicFramePr>
            <a:graphicFrameLocks noGrp="1"/>
          </p:cNvGraphicFramePr>
          <p:nvPr>
            <p:extLst>
              <p:ext uri="{D42A27DB-BD31-4B8C-83A1-F6EECF244321}">
                <p14:modId xmlns:p14="http://schemas.microsoft.com/office/powerpoint/2010/main" val="1579011935"/>
              </p:ext>
            </p:extLst>
          </p:nvPr>
        </p:nvGraphicFramePr>
        <p:xfrm>
          <a:off x="365760" y="2450592"/>
          <a:ext cx="5760720" cy="914400"/>
        </p:xfrm>
        <a:graphic>
          <a:graphicData uri="http://schemas.openxmlformats.org/drawingml/2006/table">
            <a:tbl>
              <a:tblPr/>
              <a:tblGrid>
                <a:gridCol w="4297680"/>
                <a:gridCol w="1463040"/>
              </a:tblGrid>
              <a:tr h="420624">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項目</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報告値</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420624">
                <a:tc>
                  <a:txBody>
                    <a:bodyPr/>
                    <a:lstStyle/>
                    <a:p>
                      <a:pPr algn="l" indent="0" marL="0">
                        <a:buNone/>
                      </a:pPr>
                      <a:r>
                        <a:rPr lang="en-US" sz="1050" b="1" dirty="0">
                          <a:solidFill>
                            <a:srgbClr val="1F3864"/>
                          </a:solidFill>
                          <a:latin typeface="Meiryo" pitchFamily="34" charset="0"/>
                          <a:ea typeface="Meiryo" pitchFamily="34" charset="-122"/>
                          <a:cs typeface="Meiryo" pitchFamily="34" charset="-120"/>
                        </a:rPr>
                        <a:t>建物倒壊</a:t>
                      </a:r>
                      <a:endParaRPr lang="en-US" sz="10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r" indent="0" marL="0">
                        <a:buNone/>
                      </a:pPr>
                      <a:r>
                        <a:rPr lang="en-US" sz="1200" b="1" dirty="0">
                          <a:solidFill>
                            <a:srgbClr val="C00000"/>
                          </a:solidFill>
                          <a:latin typeface="Meiryo" pitchFamily="34" charset="0"/>
                          <a:ea typeface="Meiryo" pitchFamily="34" charset="-122"/>
                          <a:cs typeface="Meiryo" pitchFamily="34" charset="-120"/>
                        </a:rPr>
                        <a:t>107</a:t>
                      </a:r>
                      <a:endParaRPr lang="en-US" sz="12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420624">
                <a:tc>
                  <a:txBody>
                    <a:bodyPr/>
                    <a:lstStyle/>
                    <a:p>
                      <a:pPr algn="l" indent="0" marL="0">
                        <a:buNone/>
                      </a:pPr>
                      <a:r>
                        <a:rPr lang="en-US" sz="1050" b="1" dirty="0">
                          <a:solidFill>
                            <a:srgbClr val="1F3864"/>
                          </a:solidFill>
                          <a:latin typeface="Meiryo" pitchFamily="34" charset="0"/>
                          <a:ea typeface="Meiryo" pitchFamily="34" charset="-122"/>
                          <a:cs typeface="Meiryo" pitchFamily="34" charset="-120"/>
                        </a:rPr>
                        <a:t>構造的被害のある建物</a:t>
                      </a:r>
                      <a:endParaRPr lang="en-US" sz="10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r" indent="0" marL="0">
                        <a:buNone/>
                      </a:pPr>
                      <a:r>
                        <a:rPr lang="en-US" sz="1200" b="1" dirty="0">
                          <a:solidFill>
                            <a:srgbClr val="C00000"/>
                          </a:solidFill>
                          <a:latin typeface="Meiryo" pitchFamily="34" charset="0"/>
                          <a:ea typeface="Meiryo" pitchFamily="34" charset="-122"/>
                          <a:cs typeface="Meiryo" pitchFamily="34" charset="-120"/>
                        </a:rPr>
                        <a:t>643</a:t>
                      </a:r>
                      <a:endParaRPr lang="en-US" sz="12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420624">
                <a:tc>
                  <a:txBody>
                    <a:bodyPr/>
                    <a:lstStyle/>
                    <a:p>
                      <a:pPr algn="l" indent="0" marL="0">
                        <a:buNone/>
                      </a:pPr>
                      <a:r>
                        <a:rPr lang="en-US" sz="1050" b="1" dirty="0">
                          <a:solidFill>
                            <a:srgbClr val="1F3864"/>
                          </a:solidFill>
                          <a:latin typeface="Meiryo" pitchFamily="34" charset="0"/>
                          <a:ea typeface="Meiryo" pitchFamily="34" charset="-122"/>
                          <a:cs typeface="Meiryo" pitchFamily="34" charset="-120"/>
                        </a:rPr>
                        <a:t>避難命令の出た建物</a:t>
                      </a:r>
                      <a:endParaRPr lang="en-US" sz="10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r" indent="0" marL="0">
                        <a:buNone/>
                      </a:pPr>
                      <a:r>
                        <a:rPr lang="en-US" sz="1200" b="1" dirty="0">
                          <a:solidFill>
                            <a:srgbClr val="C00000"/>
                          </a:solidFill>
                          <a:latin typeface="Meiryo" pitchFamily="34" charset="0"/>
                          <a:ea typeface="Meiryo" pitchFamily="34" charset="-122"/>
                          <a:cs typeface="Meiryo" pitchFamily="34" charset="-120"/>
                        </a:rPr>
                        <a:t>18</a:t>
                      </a:r>
                      <a:endParaRPr lang="en-US" sz="12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420624">
                <a:tc>
                  <a:txBody>
                    <a:bodyPr/>
                    <a:lstStyle/>
                    <a:p>
                      <a:pPr algn="l" indent="0" marL="0">
                        <a:buNone/>
                      </a:pPr>
                      <a:r>
                        <a:rPr lang="en-US" sz="1050" b="1" dirty="0">
                          <a:solidFill>
                            <a:srgbClr val="1F3864"/>
                          </a:solidFill>
                          <a:latin typeface="Meiryo" pitchFamily="34" charset="0"/>
                          <a:ea typeface="Meiryo" pitchFamily="34" charset="-122"/>
                          <a:cs typeface="Meiryo" pitchFamily="34" charset="-120"/>
                        </a:rPr>
                        <a:t>生き埋め</a:t>
                      </a:r>
                      <a:endParaRPr lang="en-US" sz="10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r" indent="0" marL="0">
                        <a:buNone/>
                      </a:pPr>
                      <a:r>
                        <a:rPr lang="en-US" sz="1200" b="1" dirty="0">
                          <a:solidFill>
                            <a:srgbClr val="C00000"/>
                          </a:solidFill>
                          <a:latin typeface="Meiryo" pitchFamily="34" charset="0"/>
                          <a:ea typeface="Meiryo" pitchFamily="34" charset="-122"/>
                          <a:cs typeface="Meiryo" pitchFamily="34" charset="-120"/>
                        </a:rPr>
                        <a:t>230</a:t>
                      </a:r>
                      <a:endParaRPr lang="en-US" sz="12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420624">
                <a:tc>
                  <a:txBody>
                    <a:bodyPr/>
                    <a:lstStyle/>
                    <a:p>
                      <a:pPr algn="l" indent="0" marL="0">
                        <a:buNone/>
                      </a:pPr>
                      <a:r>
                        <a:rPr lang="en-US" sz="1050" b="1" dirty="0">
                          <a:solidFill>
                            <a:srgbClr val="1F3864"/>
                          </a:solidFill>
                          <a:latin typeface="Meiryo" pitchFamily="34" charset="0"/>
                          <a:ea typeface="Meiryo" pitchFamily="34" charset="-122"/>
                          <a:cs typeface="Meiryo" pitchFamily="34" charset="-120"/>
                        </a:rPr>
                        <a:t>救出された人</a:t>
                      </a:r>
                      <a:endParaRPr lang="en-US" sz="10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r" indent="0" marL="0">
                        <a:buNone/>
                      </a:pPr>
                      <a:r>
                        <a:rPr lang="en-US" sz="1200" b="1" dirty="0">
                          <a:solidFill>
                            <a:srgbClr val="C00000"/>
                          </a:solidFill>
                          <a:latin typeface="Meiryo" pitchFamily="34" charset="0"/>
                          <a:ea typeface="Meiryo" pitchFamily="34" charset="-122"/>
                          <a:cs typeface="Meiryo" pitchFamily="34" charset="-120"/>
                        </a:rPr>
                        <a:t>88</a:t>
                      </a:r>
                      <a:endParaRPr lang="en-US" sz="12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420624">
                <a:tc>
                  <a:txBody>
                    <a:bodyPr/>
                    <a:lstStyle/>
                    <a:p>
                      <a:pPr algn="l" indent="0" marL="0">
                        <a:buNone/>
                      </a:pPr>
                      <a:r>
                        <a:rPr lang="en-US" sz="1050" b="1" dirty="0">
                          <a:solidFill>
                            <a:srgbClr val="1F3864"/>
                          </a:solidFill>
                          <a:latin typeface="Meiryo" pitchFamily="34" charset="0"/>
                          <a:ea typeface="Meiryo" pitchFamily="34" charset="-122"/>
                          <a:cs typeface="Meiryo" pitchFamily="34" charset="-120"/>
                        </a:rPr>
                        <a:t>死者</a:t>
                      </a:r>
                      <a:endParaRPr lang="en-US" sz="10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r" indent="0" marL="0">
                        <a:buNone/>
                      </a:pPr>
                      <a:r>
                        <a:rPr lang="en-US" sz="1200" b="1" dirty="0">
                          <a:solidFill>
                            <a:srgbClr val="C00000"/>
                          </a:solidFill>
                          <a:latin typeface="Meiryo" pitchFamily="34" charset="0"/>
                          <a:ea typeface="Meiryo" pitchFamily="34" charset="-122"/>
                          <a:cs typeface="Meiryo" pitchFamily="34" charset="-120"/>
                        </a:rPr>
                        <a:t>69</a:t>
                      </a:r>
                      <a:endParaRPr lang="en-US" sz="12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420624">
                <a:tc>
                  <a:txBody>
                    <a:bodyPr/>
                    <a:lstStyle/>
                    <a:p>
                      <a:pPr algn="l" indent="0" marL="0">
                        <a:buNone/>
                      </a:pPr>
                      <a:r>
                        <a:rPr lang="en-US" sz="1050" b="1" dirty="0">
                          <a:solidFill>
                            <a:srgbClr val="1F3864"/>
                          </a:solidFill>
                          <a:latin typeface="Meiryo" pitchFamily="34" charset="0"/>
                          <a:ea typeface="Meiryo" pitchFamily="34" charset="-122"/>
                          <a:cs typeface="Meiryo" pitchFamily="34" charset="-120"/>
                        </a:rPr>
                        <a:t>負傷者</a:t>
                      </a:r>
                      <a:endParaRPr lang="en-US" sz="10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r" indent="0" marL="0">
                        <a:buNone/>
                      </a:pPr>
                      <a:r>
                        <a:rPr lang="en-US" sz="1200" b="1" dirty="0">
                          <a:solidFill>
                            <a:srgbClr val="C00000"/>
                          </a:solidFill>
                          <a:latin typeface="Meiryo" pitchFamily="34" charset="0"/>
                          <a:ea typeface="Meiryo" pitchFamily="34" charset="-122"/>
                          <a:cs typeface="Meiryo" pitchFamily="34" charset="-120"/>
                        </a:rPr>
                        <a:t>1,008</a:t>
                      </a:r>
                      <a:endParaRPr lang="en-US" sz="12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18" name="Shape 14"/>
          <p:cNvSpPr/>
          <p:nvPr/>
        </p:nvSpPr>
        <p:spPr>
          <a:xfrm>
            <a:off x="6400800" y="2450592"/>
            <a:ext cx="5394960" cy="1975104"/>
          </a:xfrm>
          <a:prstGeom prst="roundRect">
            <a:avLst>
              <a:gd name="adj" fmla="val 2315"/>
            </a:avLst>
          </a:prstGeom>
          <a:solidFill>
            <a:srgbClr val="FCE9DC"/>
          </a:solidFill>
          <a:ln w="12700">
            <a:solidFill>
              <a:srgbClr val="E8A317"/>
            </a:solidFill>
            <a:prstDash val="solid"/>
          </a:ln>
        </p:spPr>
      </p:sp>
      <p:sp>
        <p:nvSpPr>
          <p:cNvPr id="19" name="Text 15"/>
          <p:cNvSpPr/>
          <p:nvPr/>
        </p:nvSpPr>
        <p:spPr>
          <a:xfrm>
            <a:off x="6565392" y="2505456"/>
            <a:ext cx="5065776" cy="1865376"/>
          </a:xfrm>
          <a:prstGeom prst="rect">
            <a:avLst/>
          </a:prstGeom>
          <a:noFill/>
          <a:ln/>
        </p:spPr>
        <p:txBody>
          <a:bodyPr wrap="square" lIns="25400" tIns="25400" rIns="25400" bIns="25400" rtlCol="0" anchor="ctr"/>
          <a:lstStyle/>
          <a:p>
            <a:pPr algn="l" indent="0" marL="0">
              <a:buNone/>
            </a:pPr>
            <a:r>
              <a:rPr lang="en-US" sz="1050" b="1" dirty="0">
                <a:solidFill>
                  <a:srgbClr val="9A3B12"/>
                </a:solidFill>
                <a:latin typeface="Meiryo" pitchFamily="34" charset="0"/>
                <a:ea typeface="Meiryo" pitchFamily="34" charset="-122"/>
                <a:cs typeface="Meiryo" pitchFamily="34" charset="-120"/>
              </a:rPr>
              <a:t>カリの他の数値との関係
</a:t>
            </a:r>
            <a:pPr algn="l" indent="0" marL="0">
              <a:buNone/>
            </a:pPr>
            <a:r>
              <a:rPr lang="en-US" sz="950" dirty="0">
                <a:solidFill>
                  <a:srgbClr val="7A2E0E"/>
                </a:solidFill>
                <a:latin typeface="Meiryo" pitchFamily="34" charset="0"/>
                <a:ea typeface="Meiryo" pitchFamily="34" charset="-122"/>
                <a:cs typeface="Meiryo" pitchFamily="34" charset="-120"/>
              </a:rPr>
              <a:t>市の集計による死者69人は、8月11日にカリ市長が示した85人、および同日の大統領の内訳にある97人を下回る。一方で負傷者1,008人は市長の885人を上回る。この市当局報告には集計時点が付されていないため、上記の系列のどこに位置づくか判断できない。より早い時点の値である可能性も、市が自ら確認した死者に限った狭い集計である可能性もある。市が集計時点を示すまでは、全国の状況には全国値を用い、本表は市当局のみが報告している項目——建物の倒壊・構造的被害、避難命令、生き埋めと救出の対比——に用いるのが適切である。</a:t>
            </a:r>
            <a:endParaRPr lang="en-US" sz="1050" dirty="0"/>
          </a:p>
        </p:txBody>
      </p:sp>
      <p:sp>
        <p:nvSpPr>
          <p:cNvPr id="20" name="Text 16"/>
          <p:cNvSpPr/>
          <p:nvPr/>
        </p:nvSpPr>
        <p:spPr>
          <a:xfrm>
            <a:off x="6400800" y="4572000"/>
            <a:ext cx="5394960" cy="1005840"/>
          </a:xfrm>
          <a:prstGeom prst="rect">
            <a:avLst/>
          </a:prstGeom>
          <a:noFill/>
          <a:ln/>
        </p:spPr>
        <p:txBody>
          <a:bodyPr wrap="square" lIns="0" tIns="0" rIns="0" bIns="0" rtlCol="0" anchor="t"/>
          <a:lstStyle/>
          <a:p>
            <a:pPr indent="0" marL="0">
              <a:buNone/>
            </a:pPr>
            <a:r>
              <a:rPr lang="en-US" sz="950" dirty="0">
                <a:solidFill>
                  <a:srgbClr val="222222"/>
                </a:solidFill>
                <a:latin typeface="Meiryo" pitchFamily="34" charset="0"/>
                <a:ea typeface="Meiryo" pitchFamily="34" charset="-122"/>
                <a:cs typeface="Meiryo" pitchFamily="34" charset="-120"/>
              </a:rPr>
              <a:t>生き埋め230人に対して救出88人という比は、カリにおける今後48時間を左右する数値である。これは捜索救助の未処理件数であり、市の死者数を上回っている。</a:t>
            </a:r>
            <a:endParaRPr lang="en-US" sz="950" dirty="0"/>
          </a:p>
        </p:txBody>
      </p:sp>
      <p:sp>
        <p:nvSpPr>
          <p:cNvPr id="21" name="Text 17"/>
          <p:cNvSpPr/>
          <p:nvPr/>
        </p:nvSpPr>
        <p:spPr>
          <a:xfrm>
            <a:off x="365760" y="5943600"/>
            <a:ext cx="11430000" cy="237744"/>
          </a:xfrm>
          <a:prstGeom prst="rect">
            <a:avLst/>
          </a:prstGeom>
          <a:noFill/>
          <a:ln/>
        </p:spPr>
        <p:txBody>
          <a:bodyPr wrap="square" lIns="0" tIns="0" rIns="0" bIns="0" rtlCol="0" anchor="t"/>
          <a:lstStyle/>
          <a:p>
            <a:pPr indent="0" marL="0">
              <a:buNone/>
            </a:pPr>
            <a:r>
              <a:rPr lang="en-US" sz="750" i="1" dirty="0">
                <a:solidFill>
                  <a:srgbClr val="6A6A6A"/>
                </a:solidFill>
                <a:latin typeface="Meiryo" pitchFamily="34" charset="0"/>
                <a:ea typeface="Meiryo" pitchFamily="34" charset="-122"/>
                <a:cs typeface="Meiryo" pitchFamily="34" charset="-120"/>
              </a:rPr>
              <a:t>サンティアゴ・デ・カリ市職員より受領（2026年8月12日）</a:t>
            </a:r>
            <a:endParaRPr lang="en-US" sz="750" dirty="0"/>
          </a:p>
        </p:txBody>
      </p:sp>
      <p:sp>
        <p:nvSpPr>
          <p:cNvPr id="22" name="Text 18"/>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Meiryo" pitchFamily="34" charset="0"/>
                <a:ea typeface="Meiryo" pitchFamily="34" charset="-122"/>
                <a:cs typeface="Meiryo" pitchFamily="34" charset="-120"/>
              </a:rPr>
              <a:t>出典：</a:t>
            </a:r>
            <a:pPr algn="l" indent="0" marL="0">
              <a:buNone/>
            </a:pPr>
            <a:r>
              <a:rPr lang="en-US" sz="850" u="sng" dirty="0">
                <a:solidFill>
                  <a:srgbClr val="0563C1"/>
                </a:solidFill>
                <a:latin typeface="Meiryo" pitchFamily="34" charset="0"/>
                <a:ea typeface="Meiryo" pitchFamily="34" charset="-122"/>
                <a:cs typeface="Meiryo" pitchFamily="34" charset="-120"/>
                <a:hlinkClick r:id="rId2" invalidUrl="" action="" tgtFrame="" tooltip="" history="1" highlightClick="0" endSnd="0">
                  <a:extLst>
                    <a:ext uri="{A12FA001-AC4F-418D-AE19-62706E023703}">
                      <ahyp:hlinkClr xmlns:ahyp="http://schemas.microsoft.com/office/drawing/2018/hyperlinkcolor" val="tx"/>
                    </a:ext>
                  </a:extLst>
                </a:hlinkClick>
              </a:rPr>
              <a:t>サンティアゴ・デ・カリ市 災害リスク管理</a:t>
            </a:r>
            <a:pPr algn="l" indent="0" marL="0">
              <a:buNone/>
            </a:pPr>
            <a:r>
              <a:rPr lang="en-US" sz="850" dirty="0">
                <a:solidFill>
                  <a:srgbClr val="6A6A6A"/>
                </a:solidFill>
                <a:latin typeface="Meiryo" pitchFamily="34" charset="0"/>
                <a:ea typeface="Meiryo" pitchFamily="34" charset="-122"/>
                <a:cs typeface="Meiryo" pitchFamily="34" charset="-120"/>
              </a:rPr>
              <a:t>   ·   </a:t>
            </a:r>
            <a:pPr algn="l" indent="0" marL="0">
              <a:buNone/>
            </a:pPr>
            <a:r>
              <a:rPr lang="en-US" sz="850" u="sng" dirty="0">
                <a:solidFill>
                  <a:srgbClr val="0563C1"/>
                </a:solidFill>
                <a:latin typeface="Meiryo" pitchFamily="34" charset="0"/>
                <a:ea typeface="Meiryo" pitchFamily="34" charset="-122"/>
                <a:cs typeface="Meiryo" pitchFamily="34" charset="-120"/>
                <a:hlinkClick r:id="rId3" invalidUrl="" action="" tgtFrame="" tooltip="" history="1" highlightClick="0" endSnd="0">
                  <a:extLst>
                    <a:ext uri="{A12FA001-AC4F-418D-AE19-62706E023703}">
                      <ahyp:hlinkClr xmlns:ahyp="http://schemas.microsoft.com/office/drawing/2018/hyperlinkcolor" val="tx"/>
                    </a:ext>
                  </a:extLst>
                </a:hlinkClick>
              </a:rPr>
              <a:t>El Tiempo 速報（8月11日、カリの死者85人に）</a:t>
            </a:r>
            <a:pPr algn="l" indent="0" marL="0">
              <a:buNone/>
            </a:pPr>
            <a:r>
              <a:rPr lang="en-US" sz="850" dirty="0">
                <a:solidFill>
                  <a:srgbClr val="6A6A6A"/>
                </a:solidFill>
                <a:latin typeface="Meiryo" pitchFamily="34" charset="0"/>
                <a:ea typeface="Meiryo" pitchFamily="34" charset="-122"/>
                <a:cs typeface="Meiryo" pitchFamily="34" charset="-120"/>
              </a:rPr>
              <a:t>   ·   </a:t>
            </a:r>
            <a:pPr algn="l" indent="0" marL="0">
              <a:buNone/>
            </a:pPr>
            <a:r>
              <a:rPr lang="en-US" sz="850" u="sng" dirty="0">
                <a:solidFill>
                  <a:srgbClr val="0563C1"/>
                </a:solidFill>
                <a:latin typeface="Meiryo" pitchFamily="34" charset="0"/>
                <a:ea typeface="Meiryo" pitchFamily="34" charset="-122"/>
                <a:cs typeface="Meiryo" pitchFamily="34" charset="-120"/>
                <a:hlinkClick r:id="rId4" invalidUrl="" action="" tgtFrame="" tooltip="" history="1" highlightClick="0" endSnd="0">
                  <a:extLst>
                    <a:ext uri="{A12FA001-AC4F-418D-AE19-62706E023703}">
                      <ahyp:hlinkClr xmlns:ahyp="http://schemas.microsoft.com/office/drawing/2018/hyperlinkcolor" val="tx"/>
                    </a:ext>
                  </a:extLst>
                </a:hlinkClick>
              </a:rPr>
              <a:t>国家災害リスク管理ユニット（UNGRD）</a:t>
            </a:r>
            <a:endParaRPr lang="en-US" sz="850" dirty="0"/>
          </a:p>
        </p:txBody>
      </p:sp>
      <p:sp>
        <p:nvSpPr>
          <p:cNvPr id="23" name="Shape 19"/>
          <p:cNvSpPr/>
          <p:nvPr/>
        </p:nvSpPr>
        <p:spPr>
          <a:xfrm>
            <a:off x="10268712" y="6510528"/>
            <a:ext cx="1554480" cy="274320"/>
          </a:xfrm>
          <a:prstGeom prst="rect">
            <a:avLst/>
          </a:prstGeom>
          <a:solidFill>
            <a:srgbClr val="E8A317"/>
          </a:solidFill>
          <a:ln w="12700">
            <a:solidFill>
              <a:srgbClr val="E8A317"/>
            </a:solidFill>
            <a:prstDash val="solid"/>
          </a:ln>
        </p:spPr>
      </p:sp>
      <p:sp>
        <p:nvSpPr>
          <p:cNvPr id="24" name="Text 20"/>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Meiryo" pitchFamily="34" charset="0"/>
                <a:ea typeface="Meiryo" pitchFamily="34" charset="-122"/>
                <a:cs typeface="Meiryo" pitchFamily="34" charset="-120"/>
              </a:rPr>
              <a:t>ADRC  12/08/2026</a:t>
            </a:r>
            <a:endParaRPr lang="en-US" sz="950" dirty="0"/>
          </a:p>
        </p:txBody>
      </p:sp>
      <p:sp>
        <p:nvSpPr>
          <p:cNvPr id="25" name="Text 21"/>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Meiryo" pitchFamily="34" charset="0"/>
                <a:ea typeface="Meiryo" pitchFamily="34" charset="-122"/>
                <a:cs typeface="Meiryo" pitchFamily="34" charset="-120"/>
              </a:rPr>
              <a:t>13</a:t>
            </a:r>
            <a:endParaRPr lang="en-US" sz="9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1900" b="1" dirty="0">
                <a:solidFill>
                  <a:srgbClr val="1F3864"/>
                </a:solidFill>
                <a:latin typeface="Meiryo" pitchFamily="34" charset="0"/>
                <a:ea typeface="Meiryo" pitchFamily="34" charset="-122"/>
                <a:cs typeface="Meiryo" pitchFamily="34" charset="-120"/>
              </a:rPr>
              <a:t>被害状況：建物・公共サービス・ライフライン（1/2）</a:t>
            </a:r>
            <a:endParaRPr lang="en-US" sz="19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896112"/>
            <a:ext cx="11430000" cy="274320"/>
          </a:xfrm>
          <a:prstGeom prst="rect">
            <a:avLst/>
          </a:prstGeom>
          <a:noFill/>
          <a:ln/>
        </p:spPr>
        <p:txBody>
          <a:bodyPr wrap="square" lIns="0" tIns="0" rIns="0" bIns="0" rtlCol="0" anchor="t"/>
          <a:lstStyle/>
          <a:p>
            <a:pPr indent="0" marL="0">
              <a:buNone/>
            </a:pPr>
            <a:r>
              <a:rPr lang="en-US" sz="950" i="1" dirty="0">
                <a:solidFill>
                  <a:srgbClr val="6A6A6A"/>
                </a:solidFill>
                <a:latin typeface="Meiryo" pitchFamily="34" charset="0"/>
                <a:ea typeface="Meiryo" pitchFamily="34" charset="-122"/>
                <a:cs typeface="Meiryo" pitchFamily="34" charset="-120"/>
              </a:rPr>
              <a:t>すべて速報値。公式（政府）値を主とし、報道由来の項目は区分を明示している。</a:t>
            </a:r>
            <a:endParaRPr lang="en-US" sz="950" dirty="0"/>
          </a:p>
        </p:txBody>
      </p:sp>
      <p:graphicFrame>
        <p:nvGraphicFramePr>
          <p:cNvPr id="15" name="Table 0"/>
          <p:cNvGraphicFramePr>
            <a:graphicFrameLocks noGrp="1"/>
          </p:cNvGraphicFramePr>
          <p:nvPr>
            <p:extLst>
              <p:ext uri="{D42A27DB-BD31-4B8C-83A1-F6EECF244321}">
                <p14:modId xmlns:p14="http://schemas.microsoft.com/office/powerpoint/2010/main" val="1579011935"/>
              </p:ext>
            </p:extLst>
          </p:nvPr>
        </p:nvGraphicFramePr>
        <p:xfrm>
          <a:off x="365760" y="1225296"/>
          <a:ext cx="11430000" cy="914400"/>
        </p:xfrm>
        <a:graphic>
          <a:graphicData uri="http://schemas.openxmlformats.org/drawingml/2006/table">
            <a:tbl>
              <a:tblPr/>
              <a:tblGrid>
                <a:gridCol w="1920240"/>
                <a:gridCol w="6035040"/>
                <a:gridCol w="2468880"/>
                <a:gridCol w="1005840"/>
              </a:tblGrid>
              <a:tr h="502920">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項目</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報告値</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出典</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区分</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502920">
                <a:tc>
                  <a:txBody>
                    <a:bodyPr/>
                    <a:lstStyle/>
                    <a:p>
                      <a:pPr algn="l" indent="0" marL="0">
                        <a:buNone/>
                      </a:pPr>
                      <a:r>
                        <a:rPr lang="en-US" sz="1000" b="1" dirty="0">
                          <a:solidFill>
                            <a:srgbClr val="1F3864"/>
                          </a:solidFill>
                          <a:latin typeface="Meiryo" pitchFamily="34" charset="0"/>
                          <a:ea typeface="Meiryo" pitchFamily="34" charset="-122"/>
                          <a:cs typeface="Meiryo" pitchFamily="34" charset="-120"/>
                        </a:rPr>
                        <a:t>死者</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182人（UNGRD状況報告、8月11日）／181人（大統領。うち97.6%が県都）／県・市の発表を積み上げると240人。政府の8月10日13:00の集計は111人。</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6A6A6A"/>
                          </a:solidFill>
                          <a:latin typeface="Meiryo" pitchFamily="34" charset="0"/>
                          <a:ea typeface="Meiryo" pitchFamily="34" charset="-122"/>
                          <a:cs typeface="Meiryo" pitchFamily="34" charset="-120"/>
                        </a:rPr>
                        <a:t>UNGRD、大統領府、県・市政府（報道経由）</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公式</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502920">
                <a:tc>
                  <a:txBody>
                    <a:bodyPr/>
                    <a:lstStyle/>
                    <a:p>
                      <a:pPr algn="l" indent="0" marL="0">
                        <a:buNone/>
                      </a:pPr>
                      <a:r>
                        <a:rPr lang="en-US" sz="1000" b="1" dirty="0">
                          <a:solidFill>
                            <a:srgbClr val="1F3864"/>
                          </a:solidFill>
                          <a:latin typeface="Meiryo" pitchFamily="34" charset="0"/>
                          <a:ea typeface="Meiryo" pitchFamily="34" charset="-122"/>
                          <a:cs typeface="Meiryo" pitchFamily="34" charset="-120"/>
                        </a:rPr>
                        <a:t>負傷者</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2,542人（UNGRD、8月11日）。同日の700人、8月10日集計の87人から増加。県・Asocapitalesの部分集計では1,310人。</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6A6A6A"/>
                          </a:solidFill>
                          <a:latin typeface="Meiryo" pitchFamily="34" charset="0"/>
                          <a:ea typeface="Meiryo" pitchFamily="34" charset="-122"/>
                          <a:cs typeface="Meiryo" pitchFamily="34" charset="-120"/>
                        </a:rPr>
                        <a:t>UNGRD、大統領府、Asocapitales</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公式</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502920">
                <a:tc>
                  <a:txBody>
                    <a:bodyPr/>
                    <a:lstStyle/>
                    <a:p>
                      <a:pPr algn="l" indent="0" marL="0">
                        <a:buNone/>
                      </a:pPr>
                      <a:r>
                        <a:rPr lang="en-US" sz="1000" b="1" dirty="0">
                          <a:solidFill>
                            <a:srgbClr val="1F3864"/>
                          </a:solidFill>
                          <a:latin typeface="Meiryo" pitchFamily="34" charset="0"/>
                          <a:ea typeface="Meiryo" pitchFamily="34" charset="-122"/>
                          <a:cs typeface="Meiryo" pitchFamily="34" charset="-120"/>
                        </a:rPr>
                        <a:t>行方不明・生き埋め</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全国で189人（UNGRD、8月11日）。カリ市当局は同市で生き埋め230人・救出88人と報告。キブドでは倒壊した学校の下に子ども4人。</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6A6A6A"/>
                          </a:solidFill>
                          <a:latin typeface="Meiryo" pitchFamily="34" charset="0"/>
                          <a:ea typeface="Meiryo" pitchFamily="34" charset="-122"/>
                          <a:cs typeface="Meiryo" pitchFamily="34" charset="-120"/>
                        </a:rPr>
                        <a:t>UNGRD、カリ市、地元当局</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公式</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502920">
                <a:tc>
                  <a:txBody>
                    <a:bodyPr/>
                    <a:lstStyle/>
                    <a:p>
                      <a:pPr algn="l" indent="0" marL="0">
                        <a:buNone/>
                      </a:pPr>
                      <a:r>
                        <a:rPr lang="en-US" sz="1000" b="1" dirty="0">
                          <a:solidFill>
                            <a:srgbClr val="1F3864"/>
                          </a:solidFill>
                          <a:latin typeface="Meiryo" pitchFamily="34" charset="0"/>
                          <a:ea typeface="Meiryo" pitchFamily="34" charset="-122"/>
                          <a:cs typeface="Meiryo" pitchFamily="34" charset="-120"/>
                        </a:rPr>
                        <a:t>被災市町村</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チョコ、リサラルダ、カルダス、バジェ・デル・カウカ、キンディオ、アンティオキアの各県で20市町村超</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6A6A6A"/>
                          </a:solidFill>
                          <a:latin typeface="Meiryo" pitchFamily="34" charset="0"/>
                          <a:ea typeface="Meiryo" pitchFamily="34" charset="-122"/>
                          <a:cs typeface="Meiryo" pitchFamily="34" charset="-120"/>
                        </a:rPr>
                        <a:t>報道（8月10日）</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Meiryo" pitchFamily="34" charset="0"/>
                          <a:ea typeface="Meiryo" pitchFamily="34" charset="-122"/>
                          <a:cs typeface="Meiryo" pitchFamily="34" charset="-120"/>
                        </a:rPr>
                        <a:t>報道</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502920">
                <a:tc>
                  <a:txBody>
                    <a:bodyPr/>
                    <a:lstStyle/>
                    <a:p>
                      <a:pPr algn="l" indent="0" marL="0">
                        <a:buNone/>
                      </a:pPr>
                      <a:r>
                        <a:rPr lang="en-US" sz="1000" b="1" dirty="0">
                          <a:solidFill>
                            <a:srgbClr val="1F3864"/>
                          </a:solidFill>
                          <a:latin typeface="Meiryo" pitchFamily="34" charset="0"/>
                          <a:ea typeface="Meiryo" pitchFamily="34" charset="-122"/>
                          <a:cs typeface="Meiryo" pitchFamily="34" charset="-120"/>
                        </a:rPr>
                        <a:t>住宅被害（合計）</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住宅15,568棟が被害。内訳は損壊13,067棟、全壊2,501棟（UNGRD、8月11日）。8月10日の1,612棟から増加</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6A6A6A"/>
                          </a:solidFill>
                          <a:latin typeface="Meiryo" pitchFamily="34" charset="0"/>
                          <a:ea typeface="Meiryo" pitchFamily="34" charset="-122"/>
                          <a:cs typeface="Meiryo" pitchFamily="34" charset="-120"/>
                        </a:rPr>
                        <a:t>UNGRD（8月11日）</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公式</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502920">
                <a:tc>
                  <a:txBody>
                    <a:bodyPr/>
                    <a:lstStyle/>
                    <a:p>
                      <a:pPr algn="l" indent="0" marL="0">
                        <a:buNone/>
                      </a:pPr>
                      <a:r>
                        <a:rPr lang="en-US" sz="1000" b="1" dirty="0">
                          <a:solidFill>
                            <a:srgbClr val="1F3864"/>
                          </a:solidFill>
                          <a:latin typeface="Meiryo" pitchFamily="34" charset="0"/>
                          <a:ea typeface="Meiryo" pitchFamily="34" charset="-122"/>
                          <a:cs typeface="Meiryo" pitchFamily="34" charset="-120"/>
                        </a:rPr>
                        <a:t>うち損壊</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13,067棟</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6A6A6A"/>
                          </a:solidFill>
                          <a:latin typeface="Meiryo" pitchFamily="34" charset="0"/>
                          <a:ea typeface="Meiryo" pitchFamily="34" charset="-122"/>
                          <a:cs typeface="Meiryo" pitchFamily="34" charset="-120"/>
                        </a:rPr>
                        <a:t>UNGRD（8月11日）</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公式</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502920">
                <a:tc>
                  <a:txBody>
                    <a:bodyPr/>
                    <a:lstStyle/>
                    <a:p>
                      <a:pPr algn="l" indent="0" marL="0">
                        <a:buNone/>
                      </a:pPr>
                      <a:r>
                        <a:rPr lang="en-US" sz="1000" b="1" dirty="0">
                          <a:solidFill>
                            <a:srgbClr val="1F3864"/>
                          </a:solidFill>
                          <a:latin typeface="Meiryo" pitchFamily="34" charset="0"/>
                          <a:ea typeface="Meiryo" pitchFamily="34" charset="-122"/>
                          <a:cs typeface="Meiryo" pitchFamily="34" charset="-120"/>
                        </a:rPr>
                        <a:t>うち全壊</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2,501棟</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6A6A6A"/>
                          </a:solidFill>
                          <a:latin typeface="Meiryo" pitchFamily="34" charset="0"/>
                          <a:ea typeface="Meiryo" pitchFamily="34" charset="-122"/>
                          <a:cs typeface="Meiryo" pitchFamily="34" charset="-120"/>
                        </a:rPr>
                        <a:t>UNGRD（8月11日）</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公式</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502920">
                <a:tc>
                  <a:txBody>
                    <a:bodyPr/>
                    <a:lstStyle/>
                    <a:p>
                      <a:pPr algn="l" indent="0" marL="0">
                        <a:buNone/>
                      </a:pPr>
                      <a:r>
                        <a:rPr lang="en-US" sz="1000" b="1" dirty="0">
                          <a:solidFill>
                            <a:srgbClr val="1F3864"/>
                          </a:solidFill>
                          <a:latin typeface="Meiryo" pitchFamily="34" charset="0"/>
                          <a:ea typeface="Meiryo" pitchFamily="34" charset="-122"/>
                          <a:cs typeface="Meiryo" pitchFamily="34" charset="-120"/>
                        </a:rPr>
                        <a:t>建物倒壊</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全国で80棟超（8月11日）。8月10日の61棟から増加。カリ市当局は同市だけで倒壊107棟、構造的被害643棟、避難命令18棟と報告。マニサレスは倒壊17棟・部分倒壊19棟。</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6A6A6A"/>
                          </a:solidFill>
                          <a:latin typeface="Meiryo" pitchFamily="34" charset="0"/>
                          <a:ea typeface="Meiryo" pitchFamily="34" charset="-122"/>
                          <a:cs typeface="Meiryo" pitchFamily="34" charset="-120"/>
                        </a:rPr>
                        <a:t>報道（8月11日）、UNGRD、カリ市、マニサレス市</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公式</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bl>
          </a:graphicData>
        </a:graphic>
      </p:graphicFrame>
      <p:sp>
        <p:nvSpPr>
          <p:cNvPr id="6" name="Text 2"/>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Meiryo" pitchFamily="34" charset="0"/>
                <a:ea typeface="Meiryo" pitchFamily="34" charset="-122"/>
                <a:cs typeface="Meiryo" pitchFamily="34" charset="-120"/>
              </a:rPr>
              <a:t>出典：</a:t>
            </a:r>
            <a:pPr algn="l" indent="0" marL="0">
              <a:buNone/>
            </a:pPr>
            <a:r>
              <a:rPr lang="en-US" sz="850" u="sng" dirty="0">
                <a:solidFill>
                  <a:srgbClr val="0563C1"/>
                </a:solidFill>
                <a:latin typeface="Meiryo" pitchFamily="34" charset="0"/>
                <a:ea typeface="Meiryo" pitchFamily="34" charset="-122"/>
                <a:cs typeface="Meiryo" pitchFamily="34" charset="-120"/>
                <a:hlinkClick r:id="rId2" invalidUrl="" action="" tgtFrame="" tooltip="" history="1" highlightClick="0" endSnd="0">
                  <a:extLst>
                    <a:ext uri="{A12FA001-AC4F-418D-AE19-62706E023703}">
                      <ahyp:hlinkClr xmlns:ahyp="http://schemas.microsoft.com/office/drawing/2018/hyperlinkcolor" val="tx"/>
                    </a:ext>
                  </a:extLst>
                </a:hlinkClick>
              </a:rPr>
              <a:t>国家災害リスク管理ユニット（UNGRD）</a:t>
            </a:r>
            <a:pPr algn="l" indent="0" marL="0">
              <a:buNone/>
            </a:pPr>
            <a:r>
              <a:rPr lang="en-US" sz="850" dirty="0">
                <a:solidFill>
                  <a:srgbClr val="6A6A6A"/>
                </a:solidFill>
                <a:latin typeface="Meiryo" pitchFamily="34" charset="0"/>
                <a:ea typeface="Meiryo" pitchFamily="34" charset="-122"/>
                <a:cs typeface="Meiryo" pitchFamily="34" charset="-120"/>
              </a:rPr>
              <a:t>   ·   </a:t>
            </a:r>
            <a:pPr algn="l" indent="0" marL="0">
              <a:buNone/>
            </a:pPr>
            <a:r>
              <a:rPr lang="en-US" sz="850" u="sng" dirty="0">
                <a:solidFill>
                  <a:srgbClr val="0563C1"/>
                </a:solidFill>
                <a:latin typeface="Meiryo" pitchFamily="34" charset="0"/>
                <a:ea typeface="Meiryo" pitchFamily="34" charset="-122"/>
                <a:cs typeface="Meiryo" pitchFamily="34" charset="-120"/>
                <a:hlinkClick r:id="rId3" invalidUrl="" action="" tgtFrame="" tooltip="" history="1" highlightClick="0" endSnd="0">
                  <a:extLst>
                    <a:ext uri="{A12FA001-AC4F-418D-AE19-62706E023703}">
                      <ahyp:hlinkClr xmlns:ahyp="http://schemas.microsoft.com/office/drawing/2018/hyperlinkcolor" val="tx"/>
                    </a:ext>
                  </a:extLst>
                </a:hlinkClick>
              </a:rPr>
              <a:t>Colombia One 政府第1次被害評価</a:t>
            </a:r>
            <a:pPr algn="l" indent="0" marL="0">
              <a:buNone/>
            </a:pPr>
            <a:r>
              <a:rPr lang="en-US" sz="850" dirty="0">
                <a:solidFill>
                  <a:srgbClr val="6A6A6A"/>
                </a:solidFill>
                <a:latin typeface="Meiryo" pitchFamily="34" charset="0"/>
                <a:ea typeface="Meiryo" pitchFamily="34" charset="-122"/>
                <a:cs typeface="Meiryo" pitchFamily="34" charset="-120"/>
              </a:rPr>
              <a:t>   ·   </a:t>
            </a:r>
            <a:pPr algn="l" indent="0" marL="0">
              <a:buNone/>
            </a:pPr>
            <a:r>
              <a:rPr lang="en-US" sz="850" u="sng" dirty="0">
                <a:solidFill>
                  <a:srgbClr val="0563C1"/>
                </a:solidFill>
                <a:latin typeface="Meiryo" pitchFamily="34" charset="0"/>
                <a:ea typeface="Meiryo" pitchFamily="34" charset="-122"/>
                <a:cs typeface="Meiryo" pitchFamily="34" charset="-120"/>
                <a:hlinkClick r:id="rId4" invalidUrl="" action="" tgtFrame="" tooltip="" history="1" highlightClick="0" endSnd="0">
                  <a:extLst>
                    <a:ext uri="{A12FA001-AC4F-418D-AE19-62706E023703}">
                      <ahyp:hlinkClr xmlns:ahyp="http://schemas.microsoft.com/office/drawing/2018/hyperlinkcolor" val="tx"/>
                    </a:ext>
                  </a:extLst>
                </a:hlinkClick>
              </a:rPr>
              <a:t>CNN 速報：死者132人に増加</a:t>
            </a:r>
            <a:endParaRPr lang="en-US" sz="850" dirty="0"/>
          </a:p>
        </p:txBody>
      </p:sp>
      <p:sp>
        <p:nvSpPr>
          <p:cNvPr id="7" name="Shape 3"/>
          <p:cNvSpPr/>
          <p:nvPr/>
        </p:nvSpPr>
        <p:spPr>
          <a:xfrm>
            <a:off x="10268712" y="6510528"/>
            <a:ext cx="1554480" cy="274320"/>
          </a:xfrm>
          <a:prstGeom prst="rect">
            <a:avLst/>
          </a:prstGeom>
          <a:solidFill>
            <a:srgbClr val="E8A317"/>
          </a:solidFill>
          <a:ln w="12700">
            <a:solidFill>
              <a:srgbClr val="E8A317"/>
            </a:solidFill>
            <a:prstDash val="solid"/>
          </a:ln>
        </p:spPr>
      </p:sp>
      <p:sp>
        <p:nvSpPr>
          <p:cNvPr id="8" name="Text 4"/>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Meiryo" pitchFamily="34" charset="0"/>
                <a:ea typeface="Meiryo" pitchFamily="34" charset="-122"/>
                <a:cs typeface="Meiryo" pitchFamily="34" charset="-120"/>
              </a:rPr>
              <a:t>ADRC  12/08/2026</a:t>
            </a:r>
            <a:endParaRPr lang="en-US" sz="950" dirty="0"/>
          </a:p>
        </p:txBody>
      </p:sp>
      <p:sp>
        <p:nvSpPr>
          <p:cNvPr id="9" name="Text 5"/>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Meiryo" pitchFamily="34" charset="0"/>
                <a:ea typeface="Meiryo" pitchFamily="34" charset="-122"/>
                <a:cs typeface="Meiryo" pitchFamily="34" charset="-120"/>
              </a:rPr>
              <a:t>14</a:t>
            </a:r>
            <a:endParaRPr lang="en-US" sz="9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1900" b="1" dirty="0">
                <a:solidFill>
                  <a:srgbClr val="1F3864"/>
                </a:solidFill>
                <a:latin typeface="Meiryo" pitchFamily="34" charset="0"/>
                <a:ea typeface="Meiryo" pitchFamily="34" charset="-122"/>
                <a:cs typeface="Meiryo" pitchFamily="34" charset="-120"/>
              </a:rPr>
              <a:t>被害状況：建物・公共サービス・ライフライン（2/2）</a:t>
            </a:r>
            <a:endParaRPr lang="en-US" sz="19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896112"/>
            <a:ext cx="11430000" cy="274320"/>
          </a:xfrm>
          <a:prstGeom prst="rect">
            <a:avLst/>
          </a:prstGeom>
          <a:noFill/>
          <a:ln/>
        </p:spPr>
        <p:txBody>
          <a:bodyPr wrap="square" lIns="0" tIns="0" rIns="0" bIns="0" rtlCol="0" anchor="t"/>
          <a:lstStyle/>
          <a:p>
            <a:pPr indent="0" marL="0">
              <a:buNone/>
            </a:pPr>
            <a:r>
              <a:rPr lang="en-US" sz="950" i="1" dirty="0">
                <a:solidFill>
                  <a:srgbClr val="6A6A6A"/>
                </a:solidFill>
                <a:latin typeface="Meiryo" pitchFamily="34" charset="0"/>
                <a:ea typeface="Meiryo" pitchFamily="34" charset="-122"/>
                <a:cs typeface="Meiryo" pitchFamily="34" charset="-120"/>
              </a:rPr>
              <a:t>すべて速報値。公式（政府）値を主とし、報道由来の項目は区分を明示している。</a:t>
            </a:r>
            <a:endParaRPr lang="en-US" sz="950" dirty="0"/>
          </a:p>
        </p:txBody>
      </p:sp>
      <p:graphicFrame>
        <p:nvGraphicFramePr>
          <p:cNvPr id="16" name="Table 0"/>
          <p:cNvGraphicFramePr>
            <a:graphicFrameLocks noGrp="1"/>
          </p:cNvGraphicFramePr>
          <p:nvPr>
            <p:extLst>
              <p:ext uri="{D42A27DB-BD31-4B8C-83A1-F6EECF244321}">
                <p14:modId xmlns:p14="http://schemas.microsoft.com/office/powerpoint/2010/main" val="1579011935"/>
              </p:ext>
            </p:extLst>
          </p:nvPr>
        </p:nvGraphicFramePr>
        <p:xfrm>
          <a:off x="365760" y="1225296"/>
          <a:ext cx="11430000" cy="914400"/>
        </p:xfrm>
        <a:graphic>
          <a:graphicData uri="http://schemas.openxmlformats.org/drawingml/2006/table">
            <a:tbl>
              <a:tblPr/>
              <a:tblGrid>
                <a:gridCol w="1920240"/>
                <a:gridCol w="6035040"/>
                <a:gridCol w="2468880"/>
                <a:gridCol w="1005840"/>
              </a:tblGrid>
              <a:tr h="502920">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項目</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報告値</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出典</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区分</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502920">
                <a:tc>
                  <a:txBody>
                    <a:bodyPr/>
                    <a:lstStyle/>
                    <a:p>
                      <a:pPr algn="l" indent="0" marL="0">
                        <a:buNone/>
                      </a:pPr>
                      <a:r>
                        <a:rPr lang="en-US" sz="1000" b="1" dirty="0">
                          <a:solidFill>
                            <a:srgbClr val="1F3864"/>
                          </a:solidFill>
                          <a:latin typeface="Meiryo" pitchFamily="34" charset="0"/>
                          <a:ea typeface="Meiryo" pitchFamily="34" charset="-122"/>
                          <a:cs typeface="Meiryo" pitchFamily="34" charset="-120"/>
                        </a:rPr>
                        <a:t>医療施設</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93か所が被害（UNGRD、8月11日）。8月10日の18か所から増加。7施設が閉鎖。カリの大学病院は約30%が崩落し、小児科・内科・新生児室の一部を含む3フロアが被害</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6A6A6A"/>
                          </a:solidFill>
                          <a:latin typeface="Meiryo" pitchFamily="34" charset="0"/>
                          <a:ea typeface="Meiryo" pitchFamily="34" charset="-122"/>
                          <a:cs typeface="Meiryo" pitchFamily="34" charset="-120"/>
                        </a:rPr>
                        <a:t>UNGRD、バジェ・デル・カウカ県政府</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公式</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502920">
                <a:tc>
                  <a:txBody>
                    <a:bodyPr/>
                    <a:lstStyle/>
                    <a:p>
                      <a:pPr algn="l" indent="0" marL="0">
                        <a:buNone/>
                      </a:pPr>
                      <a:r>
                        <a:rPr lang="en-US" sz="1000" b="1" dirty="0">
                          <a:solidFill>
                            <a:srgbClr val="1F3864"/>
                          </a:solidFill>
                          <a:latin typeface="Meiryo" pitchFamily="34" charset="0"/>
                          <a:ea typeface="Meiryo" pitchFamily="34" charset="-122"/>
                          <a:cs typeface="Meiryo" pitchFamily="34" charset="-120"/>
                        </a:rPr>
                        <a:t>教育施設</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884か所が被害（UNGRD、8月11日）。8月10日の52か所から増加。被災各県で学校から避難</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6A6A6A"/>
                          </a:solidFill>
                          <a:latin typeface="Meiryo" pitchFamily="34" charset="0"/>
                          <a:ea typeface="Meiryo" pitchFamily="34" charset="-122"/>
                          <a:cs typeface="Meiryo" pitchFamily="34" charset="-120"/>
                        </a:rPr>
                        <a:t>UNGRD（8月11日）</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公式</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502920">
                <a:tc>
                  <a:txBody>
                    <a:bodyPr/>
                    <a:lstStyle/>
                    <a:p>
                      <a:pPr algn="l" indent="0" marL="0">
                        <a:buNone/>
                      </a:pPr>
                      <a:r>
                        <a:rPr lang="en-US" sz="1000" b="1" dirty="0">
                          <a:solidFill>
                            <a:srgbClr val="1F3864"/>
                          </a:solidFill>
                          <a:latin typeface="Meiryo" pitchFamily="34" charset="0"/>
                          <a:ea typeface="Meiryo" pitchFamily="34" charset="-122"/>
                          <a:cs typeface="Meiryo" pitchFamily="34" charset="-120"/>
                        </a:rPr>
                        <a:t>コミュニティ施設</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427か所が被害（UNGRD、8月11日）。8月10日の17か所から増加</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6A6A6A"/>
                          </a:solidFill>
                          <a:latin typeface="Meiryo" pitchFamily="34" charset="0"/>
                          <a:ea typeface="Meiryo" pitchFamily="34" charset="-122"/>
                          <a:cs typeface="Meiryo" pitchFamily="34" charset="-120"/>
                        </a:rPr>
                        <a:t>UNGRD（8月11日）</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公式</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502920">
                <a:tc>
                  <a:txBody>
                    <a:bodyPr/>
                    <a:lstStyle/>
                    <a:p>
                      <a:pPr algn="l" indent="0" marL="0">
                        <a:buNone/>
                      </a:pPr>
                      <a:r>
                        <a:rPr lang="en-US" sz="1000" b="1" dirty="0">
                          <a:solidFill>
                            <a:srgbClr val="1F3864"/>
                          </a:solidFill>
                          <a:latin typeface="Meiryo" pitchFamily="34" charset="0"/>
                          <a:ea typeface="Meiryo" pitchFamily="34" charset="-122"/>
                          <a:cs typeface="Meiryo" pitchFamily="34" charset="-120"/>
                        </a:rPr>
                        <a:t>道路</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道路77路線が被害（UNGRD、8月11日）。8月10日の18路線から増加</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6A6A6A"/>
                          </a:solidFill>
                          <a:latin typeface="Meiryo" pitchFamily="34" charset="0"/>
                          <a:ea typeface="Meiryo" pitchFamily="34" charset="-122"/>
                          <a:cs typeface="Meiryo" pitchFamily="34" charset="-120"/>
                        </a:rPr>
                        <a:t>UNGRD（8月11日）</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公式</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502920">
                <a:tc>
                  <a:txBody>
                    <a:bodyPr/>
                    <a:lstStyle/>
                    <a:p>
                      <a:pPr algn="l" indent="0" marL="0">
                        <a:buNone/>
                      </a:pPr>
                      <a:r>
                        <a:rPr lang="en-US" sz="1000" b="1" dirty="0">
                          <a:solidFill>
                            <a:srgbClr val="1F3864"/>
                          </a:solidFill>
                          <a:latin typeface="Meiryo" pitchFamily="34" charset="0"/>
                          <a:ea typeface="Meiryo" pitchFamily="34" charset="-122"/>
                          <a:cs typeface="Meiryo" pitchFamily="34" charset="-120"/>
                        </a:rPr>
                        <a:t>空港</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地方6空港が被害、7空港で運航停止。ペレイラのマテカニャ国際空港旅客ターミナルが一部倒壊。ペレイラ、マニサレス、キブド、アルメニア、カルタゴ、ブエナベントゥーラで運航停止</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6A6A6A"/>
                          </a:solidFill>
                          <a:latin typeface="Meiryo" pitchFamily="34" charset="0"/>
                          <a:ea typeface="Meiryo" pitchFamily="34" charset="-122"/>
                          <a:cs typeface="Meiryo" pitchFamily="34" charset="-120"/>
                        </a:rPr>
                        <a:t>UNGRD、民間航空当局</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公式</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502920">
                <a:tc>
                  <a:txBody>
                    <a:bodyPr/>
                    <a:lstStyle/>
                    <a:p>
                      <a:pPr algn="l" indent="0" marL="0">
                        <a:buNone/>
                      </a:pPr>
                      <a:r>
                        <a:rPr lang="en-US" sz="1000" b="1" dirty="0">
                          <a:solidFill>
                            <a:srgbClr val="1F3864"/>
                          </a:solidFill>
                          <a:latin typeface="Meiryo" pitchFamily="34" charset="0"/>
                          <a:ea typeface="Meiryo" pitchFamily="34" charset="-122"/>
                          <a:cs typeface="Meiryo" pitchFamily="34" charset="-120"/>
                        </a:rPr>
                        <a:t>文化財</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マニサレス大聖堂（ネオゴシック様式）の塔が身廊に崩落</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6A6A6A"/>
                          </a:solidFill>
                          <a:latin typeface="Meiryo" pitchFamily="34" charset="0"/>
                          <a:ea typeface="Meiryo" pitchFamily="34" charset="-122"/>
                          <a:cs typeface="Meiryo" pitchFamily="34" charset="-120"/>
                        </a:rPr>
                        <a:t>マニサレス市長</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Meiryo" pitchFamily="34" charset="0"/>
                          <a:ea typeface="Meiryo" pitchFamily="34" charset="-122"/>
                          <a:cs typeface="Meiryo" pitchFamily="34" charset="-120"/>
                        </a:rPr>
                        <a:t>報道</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502920">
                <a:tc>
                  <a:txBody>
                    <a:bodyPr/>
                    <a:lstStyle/>
                    <a:p>
                      <a:pPr algn="l" indent="0" marL="0">
                        <a:buNone/>
                      </a:pPr>
                      <a:r>
                        <a:rPr lang="en-US" sz="1000" b="1" dirty="0">
                          <a:solidFill>
                            <a:srgbClr val="1F3864"/>
                          </a:solidFill>
                          <a:latin typeface="Meiryo" pitchFamily="34" charset="0"/>
                          <a:ea typeface="Meiryo" pitchFamily="34" charset="-122"/>
                          <a:cs typeface="Meiryo" pitchFamily="34" charset="-120"/>
                        </a:rPr>
                        <a:t>ライフライン</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震央周辺で停電・通信途絶の報告。体系的な数値は未公表</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6A6A6A"/>
                          </a:solidFill>
                          <a:latin typeface="Meiryo" pitchFamily="34" charset="0"/>
                          <a:ea typeface="Meiryo" pitchFamily="34" charset="-122"/>
                          <a:cs typeface="Meiryo" pitchFamily="34" charset="-120"/>
                        </a:rPr>
                        <a:t>報道・人道機関</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Meiryo" pitchFamily="34" charset="0"/>
                          <a:ea typeface="Meiryo" pitchFamily="34" charset="-122"/>
                          <a:cs typeface="Meiryo" pitchFamily="34" charset="-120"/>
                        </a:rPr>
                        <a:t>報道</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502920">
                <a:tc>
                  <a:txBody>
                    <a:bodyPr/>
                    <a:lstStyle/>
                    <a:p>
                      <a:pPr algn="l" indent="0" marL="0">
                        <a:buNone/>
                      </a:pPr>
                      <a:r>
                        <a:rPr lang="en-US" sz="1000" b="1" dirty="0">
                          <a:solidFill>
                            <a:srgbClr val="1F3864"/>
                          </a:solidFill>
                          <a:latin typeface="Meiryo" pitchFamily="34" charset="0"/>
                          <a:ea typeface="Meiryo" pitchFamily="34" charset="-122"/>
                          <a:cs typeface="Meiryo" pitchFamily="34" charset="-120"/>
                        </a:rPr>
                        <a:t>避難</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数千人が自宅を離れたと報じられている。避難所の数値は未公表</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6A6A6A"/>
                          </a:solidFill>
                          <a:latin typeface="Meiryo" pitchFamily="34" charset="0"/>
                          <a:ea typeface="Meiryo" pitchFamily="34" charset="-122"/>
                          <a:cs typeface="Meiryo" pitchFamily="34" charset="-120"/>
                        </a:rPr>
                        <a:t>報道・人道機関</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Meiryo" pitchFamily="34" charset="0"/>
                          <a:ea typeface="Meiryo" pitchFamily="34" charset="-122"/>
                          <a:cs typeface="Meiryo" pitchFamily="34" charset="-120"/>
                        </a:rPr>
                        <a:t>報道</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bl>
          </a:graphicData>
        </a:graphic>
      </p:graphicFrame>
      <p:sp>
        <p:nvSpPr>
          <p:cNvPr id="6" name="Text 2"/>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Meiryo" pitchFamily="34" charset="0"/>
                <a:ea typeface="Meiryo" pitchFamily="34" charset="-122"/>
                <a:cs typeface="Meiryo" pitchFamily="34" charset="-120"/>
              </a:rPr>
              <a:t>出典：</a:t>
            </a:r>
            <a:pPr algn="l" indent="0" marL="0">
              <a:buNone/>
            </a:pPr>
            <a:r>
              <a:rPr lang="en-US" sz="850" u="sng" dirty="0">
                <a:solidFill>
                  <a:srgbClr val="0563C1"/>
                </a:solidFill>
                <a:latin typeface="Meiryo" pitchFamily="34" charset="0"/>
                <a:ea typeface="Meiryo" pitchFamily="34" charset="-122"/>
                <a:cs typeface="Meiryo" pitchFamily="34" charset="-120"/>
                <a:hlinkClick r:id="rId2" invalidUrl="" action="" tgtFrame="" tooltip="" history="1" highlightClick="0" endSnd="0">
                  <a:extLst>
                    <a:ext uri="{A12FA001-AC4F-418D-AE19-62706E023703}">
                      <ahyp:hlinkClr xmlns:ahyp="http://schemas.microsoft.com/office/drawing/2018/hyperlinkcolor" val="tx"/>
                    </a:ext>
                  </a:extLst>
                </a:hlinkClick>
              </a:rPr>
              <a:t>国家災害リスク管理ユニット（UNGRD）</a:t>
            </a:r>
            <a:pPr algn="l" indent="0" marL="0">
              <a:buNone/>
            </a:pPr>
            <a:r>
              <a:rPr lang="en-US" sz="850" dirty="0">
                <a:solidFill>
                  <a:srgbClr val="6A6A6A"/>
                </a:solidFill>
                <a:latin typeface="Meiryo" pitchFamily="34" charset="0"/>
                <a:ea typeface="Meiryo" pitchFamily="34" charset="-122"/>
                <a:cs typeface="Meiryo" pitchFamily="34" charset="-120"/>
              </a:rPr>
              <a:t>   ·   </a:t>
            </a:r>
            <a:pPr algn="l" indent="0" marL="0">
              <a:buNone/>
            </a:pPr>
            <a:r>
              <a:rPr lang="en-US" sz="850" u="sng" dirty="0">
                <a:solidFill>
                  <a:srgbClr val="0563C1"/>
                </a:solidFill>
                <a:latin typeface="Meiryo" pitchFamily="34" charset="0"/>
                <a:ea typeface="Meiryo" pitchFamily="34" charset="-122"/>
                <a:cs typeface="Meiryo" pitchFamily="34" charset="-120"/>
                <a:hlinkClick r:id="rId3" invalidUrl="" action="" tgtFrame="" tooltip="" history="1" highlightClick="0" endSnd="0">
                  <a:extLst>
                    <a:ext uri="{A12FA001-AC4F-418D-AE19-62706E023703}">
                      <ahyp:hlinkClr xmlns:ahyp="http://schemas.microsoft.com/office/drawing/2018/hyperlinkcolor" val="tx"/>
                    </a:ext>
                  </a:extLst>
                </a:hlinkClick>
              </a:rPr>
              <a:t>Colombia One 政府第1次被害評価</a:t>
            </a:r>
            <a:pPr algn="l" indent="0" marL="0">
              <a:buNone/>
            </a:pPr>
            <a:r>
              <a:rPr lang="en-US" sz="850" dirty="0">
                <a:solidFill>
                  <a:srgbClr val="6A6A6A"/>
                </a:solidFill>
                <a:latin typeface="Meiryo" pitchFamily="34" charset="0"/>
                <a:ea typeface="Meiryo" pitchFamily="34" charset="-122"/>
                <a:cs typeface="Meiryo" pitchFamily="34" charset="-120"/>
              </a:rPr>
              <a:t>   ·   </a:t>
            </a:r>
            <a:pPr algn="l" indent="0" marL="0">
              <a:buNone/>
            </a:pPr>
            <a:r>
              <a:rPr lang="en-US" sz="850" u="sng" dirty="0">
                <a:solidFill>
                  <a:srgbClr val="0563C1"/>
                </a:solidFill>
                <a:latin typeface="Meiryo" pitchFamily="34" charset="0"/>
                <a:ea typeface="Meiryo" pitchFamily="34" charset="-122"/>
                <a:cs typeface="Meiryo" pitchFamily="34" charset="-120"/>
                <a:hlinkClick r:id="rId4" invalidUrl="" action="" tgtFrame="" tooltip="" history="1" highlightClick="0" endSnd="0">
                  <a:extLst>
                    <a:ext uri="{A12FA001-AC4F-418D-AE19-62706E023703}">
                      <ahyp:hlinkClr xmlns:ahyp="http://schemas.microsoft.com/office/drawing/2018/hyperlinkcolor" val="tx"/>
                    </a:ext>
                  </a:extLst>
                </a:hlinkClick>
              </a:rPr>
              <a:t>CNN 速報：死者132人に増加</a:t>
            </a:r>
            <a:endParaRPr lang="en-US" sz="850" dirty="0"/>
          </a:p>
        </p:txBody>
      </p:sp>
      <p:sp>
        <p:nvSpPr>
          <p:cNvPr id="7" name="Shape 3"/>
          <p:cNvSpPr/>
          <p:nvPr/>
        </p:nvSpPr>
        <p:spPr>
          <a:xfrm>
            <a:off x="10268712" y="6510528"/>
            <a:ext cx="1554480" cy="274320"/>
          </a:xfrm>
          <a:prstGeom prst="rect">
            <a:avLst/>
          </a:prstGeom>
          <a:solidFill>
            <a:srgbClr val="E8A317"/>
          </a:solidFill>
          <a:ln w="12700">
            <a:solidFill>
              <a:srgbClr val="E8A317"/>
            </a:solidFill>
            <a:prstDash val="solid"/>
          </a:ln>
        </p:spPr>
      </p:sp>
      <p:sp>
        <p:nvSpPr>
          <p:cNvPr id="8" name="Text 4"/>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Meiryo" pitchFamily="34" charset="0"/>
                <a:ea typeface="Meiryo" pitchFamily="34" charset="-122"/>
                <a:cs typeface="Meiryo" pitchFamily="34" charset="-120"/>
              </a:rPr>
              <a:t>ADRC  12/08/2026</a:t>
            </a:r>
            <a:endParaRPr lang="en-US" sz="950" dirty="0"/>
          </a:p>
        </p:txBody>
      </p:sp>
      <p:sp>
        <p:nvSpPr>
          <p:cNvPr id="9" name="Text 5"/>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Meiryo" pitchFamily="34" charset="0"/>
                <a:ea typeface="Meiryo" pitchFamily="34" charset="-122"/>
                <a:cs typeface="Meiryo" pitchFamily="34" charset="-120"/>
              </a:rPr>
              <a:t>15</a:t>
            </a:r>
            <a:endParaRPr lang="en-US" sz="9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1900" b="1" dirty="0">
                <a:solidFill>
                  <a:srgbClr val="1F3864"/>
                </a:solidFill>
                <a:latin typeface="Meiryo" pitchFamily="34" charset="0"/>
                <a:ea typeface="Meiryo" pitchFamily="34" charset="-122"/>
                <a:cs typeface="Meiryo" pitchFamily="34" charset="-120"/>
              </a:rPr>
              <a:t>国内の対応</a:t>
            </a:r>
            <a:endParaRPr lang="en-US" sz="19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1024128"/>
            <a:ext cx="6858000" cy="4023360"/>
          </a:xfrm>
          <a:prstGeom prst="rect">
            <a:avLst/>
          </a:prstGeom>
          <a:noFill/>
          <a:ln/>
        </p:spPr>
        <p:txBody>
          <a:bodyPr wrap="square" lIns="50800" tIns="50800" rIns="50800" bIns="50800" rtlCol="0" anchor="t"/>
          <a:lstStyle/>
          <a:p>
            <a:pPr algn="l" marL="342900" indent="-342900">
              <a:buSzPct val="100000"/>
              <a:buChar char="•"/>
            </a:pPr>
            <a:r>
              <a:rPr lang="en-US" sz="1200" b="1" dirty="0">
                <a:solidFill>
                  <a:srgbClr val="1E7A34"/>
                </a:solidFill>
                <a:latin typeface="Meiryo" pitchFamily="34" charset="0"/>
                <a:ea typeface="Meiryo" pitchFamily="34" charset="-122"/>
                <a:cs typeface="Meiryo" pitchFamily="34" charset="-120"/>
              </a:rPr>
              <a:t>[公式] </a:t>
            </a:r>
            <a:pPr algn="l" indent="0" marL="0">
              <a:spcAft>
                <a:spcPts val="500"/>
              </a:spcAft>
              <a:buNone/>
            </a:pPr>
            <a:r>
              <a:rPr lang="en-US" sz="1300" dirty="0">
                <a:solidFill>
                  <a:srgbClr val="222222"/>
                </a:solidFill>
                <a:latin typeface="Meiryo" pitchFamily="34" charset="0"/>
                <a:ea typeface="Meiryo" pitchFamily="34" charset="-122"/>
                <a:cs typeface="Meiryo" pitchFamily="34" charset="-120"/>
              </a:rPr>
              <a:t>国家災害宣言により、2012年法律第1523号に基づく国家災害リスク管理システム（SNGRD）を起動。</a:t>
            </a:r>
            <a:endParaRPr lang="en-US" sz="1200" dirty="0"/>
          </a:p>
          <a:p>
            <a:pPr algn="l" marL="342900" indent="-342900">
              <a:buSzPct val="100000"/>
              <a:buChar char="•"/>
            </a:pPr>
            <a:r>
              <a:rPr lang="en-US" sz="1200" b="1" dirty="0">
                <a:solidFill>
                  <a:srgbClr val="1E7A34"/>
                </a:solidFill>
                <a:latin typeface="Meiryo" pitchFamily="34" charset="0"/>
                <a:ea typeface="Meiryo" pitchFamily="34" charset="-122"/>
                <a:cs typeface="Meiryo" pitchFamily="34" charset="-120"/>
              </a:rPr>
              <a:t>[公式] </a:t>
            </a:r>
            <a:pPr algn="l" indent="0" marL="0">
              <a:spcAft>
                <a:spcPts val="500"/>
              </a:spcAft>
              <a:buNone/>
            </a:pPr>
            <a:r>
              <a:rPr lang="en-US" sz="1300" dirty="0">
                <a:solidFill>
                  <a:srgbClr val="222222"/>
                </a:solidFill>
                <a:latin typeface="Meiryo" pitchFamily="34" charset="0"/>
                <a:ea typeface="Meiryo" pitchFamily="34" charset="-122"/>
                <a:cs typeface="Meiryo" pitchFamily="34" charset="-120"/>
              </a:rPr>
              <a:t>チョコ県に統合指揮所（PMU）を設置。UNGRDが県・市町村のリスク管理協議会と連携して調整。</a:t>
            </a:r>
            <a:endParaRPr lang="en-US" sz="1200" dirty="0"/>
          </a:p>
          <a:p>
            <a:pPr algn="l" marL="342900" indent="-342900">
              <a:buSzPct val="100000"/>
              <a:buChar char="•"/>
            </a:pPr>
            <a:r>
              <a:rPr lang="en-US" sz="1200" b="1" dirty="0">
                <a:solidFill>
                  <a:srgbClr val="1E7A34"/>
                </a:solidFill>
                <a:latin typeface="Meiryo" pitchFamily="34" charset="0"/>
                <a:ea typeface="Meiryo" pitchFamily="34" charset="-122"/>
                <a:cs typeface="Meiryo" pitchFamily="34" charset="-120"/>
              </a:rPr>
              <a:t>[公式] </a:t>
            </a:r>
            <a:pPr algn="l" indent="0" marL="0">
              <a:spcAft>
                <a:spcPts val="500"/>
              </a:spcAft>
              <a:buNone/>
            </a:pPr>
            <a:r>
              <a:rPr lang="en-US" sz="1300" dirty="0">
                <a:solidFill>
                  <a:srgbClr val="222222"/>
                </a:solidFill>
                <a:latin typeface="Meiryo" pitchFamily="34" charset="0"/>
                <a:ea typeface="Meiryo" pitchFamily="34" charset="-122"/>
                <a:cs typeface="Meiryo" pitchFamily="34" charset="-120"/>
              </a:rPr>
              <a:t>USAR4隊（ボゴタ、エンビガド、ヨパル、メデジン）を倒壊建物の捜索救助に投入。</a:t>
            </a:r>
            <a:endParaRPr lang="en-US" sz="1200" dirty="0"/>
          </a:p>
          <a:p>
            <a:pPr algn="l" marL="342900" indent="-342900">
              <a:buSzPct val="100000"/>
              <a:buChar char="•"/>
            </a:pPr>
            <a:r>
              <a:rPr lang="en-US" sz="1200" b="1" dirty="0">
                <a:solidFill>
                  <a:srgbClr val="1E7A34"/>
                </a:solidFill>
                <a:latin typeface="Meiryo" pitchFamily="34" charset="0"/>
                <a:ea typeface="Meiryo" pitchFamily="34" charset="-122"/>
                <a:cs typeface="Meiryo" pitchFamily="34" charset="-120"/>
              </a:rPr>
              <a:t>[公式] </a:t>
            </a:r>
            <a:pPr algn="l" indent="0" marL="0">
              <a:spcAft>
                <a:spcPts val="500"/>
              </a:spcAft>
              <a:buNone/>
            </a:pPr>
            <a:r>
              <a:rPr lang="en-US" sz="1300" dirty="0">
                <a:solidFill>
                  <a:srgbClr val="222222"/>
                </a:solidFill>
                <a:latin typeface="Meiryo" pitchFamily="34" charset="0"/>
                <a:ea typeface="Meiryo" pitchFamily="34" charset="-122"/>
                <a:cs typeface="Meiryo" pitchFamily="34" charset="-120"/>
              </a:rPr>
              <a:t>被災各県に軍を投入し、捜索・救助・道路啓開・治安維持にあたる。</a:t>
            </a:r>
            <a:endParaRPr lang="en-US" sz="1200" dirty="0"/>
          </a:p>
          <a:p>
            <a:pPr algn="l" marL="342900" indent="-342900">
              <a:buSzPct val="100000"/>
              <a:buChar char="•"/>
            </a:pPr>
            <a:r>
              <a:rPr lang="en-US" sz="1200" b="1" dirty="0">
                <a:solidFill>
                  <a:srgbClr val="1E7A34"/>
                </a:solidFill>
                <a:latin typeface="Meiryo" pitchFamily="34" charset="0"/>
                <a:ea typeface="Meiryo" pitchFamily="34" charset="-122"/>
                <a:cs typeface="Meiryo" pitchFamily="34" charset="-120"/>
              </a:rPr>
              <a:t>[公式] </a:t>
            </a:r>
            <a:pPr algn="l" indent="0" marL="0">
              <a:spcAft>
                <a:spcPts val="500"/>
              </a:spcAft>
              <a:buNone/>
            </a:pPr>
            <a:r>
              <a:rPr lang="en-US" sz="1300" dirty="0">
                <a:solidFill>
                  <a:srgbClr val="222222"/>
                </a:solidFill>
                <a:latin typeface="Meiryo" pitchFamily="34" charset="0"/>
                <a:ea typeface="Meiryo" pitchFamily="34" charset="-122"/>
                <a:cs typeface="Meiryo" pitchFamily="34" charset="-120"/>
              </a:rPr>
              <a:t>病院・学校・空港の応急危険度判定を実施。医療7施設を閉鎖、空港6か所を点検のため閉鎖。</a:t>
            </a:r>
            <a:endParaRPr lang="en-US" sz="1200" dirty="0"/>
          </a:p>
          <a:p>
            <a:pPr algn="l" marL="342900" indent="-342900">
              <a:buSzPct val="100000"/>
              <a:buChar char="•"/>
            </a:pPr>
            <a:r>
              <a:rPr lang="en-US" sz="1200" b="1" dirty="0">
                <a:solidFill>
                  <a:srgbClr val="B8860B"/>
                </a:solidFill>
                <a:latin typeface="Meiryo" pitchFamily="34" charset="0"/>
                <a:ea typeface="Meiryo" pitchFamily="34" charset="-122"/>
                <a:cs typeface="Meiryo" pitchFamily="34" charset="-120"/>
              </a:rPr>
              <a:t>[報道] </a:t>
            </a:r>
            <a:pPr algn="l" indent="0" marL="0">
              <a:spcAft>
                <a:spcPts val="500"/>
              </a:spcAft>
              <a:buNone/>
            </a:pPr>
            <a:r>
              <a:rPr lang="en-US" sz="1300" dirty="0">
                <a:solidFill>
                  <a:srgbClr val="222222"/>
                </a:solidFill>
                <a:latin typeface="Meiryo" pitchFamily="34" charset="0"/>
                <a:ea typeface="Meiryo" pitchFamily="34" charset="-122"/>
                <a:cs typeface="Meiryo" pitchFamily="34" charset="-120"/>
              </a:rPr>
              <a:t>カリの損壊した大学病院から他施設へ患者を搬送。市内では12か所の倒壊現場に人的被害が集中していると報告。</a:t>
            </a:r>
            <a:endParaRPr lang="en-US" sz="1200" dirty="0"/>
          </a:p>
        </p:txBody>
      </p:sp>
      <p:pic>
        <p:nvPicPr>
          <p:cNvPr id="5" name="Image 1" descr="/home/user/whatsmap/reports/colombia_eq_20260810/images/photo_ungrd.jpg">    </p:cNvPr>
          <p:cNvPicPr>
            <a:picLocks noChangeAspect="1"/>
          </p:cNvPicPr>
          <p:nvPr/>
        </p:nvPicPr>
        <p:blipFill>
          <a:blip r:embed="rId2"/>
          <a:stretch>
            <a:fillRect/>
          </a:stretch>
        </p:blipFill>
        <p:spPr>
          <a:xfrm>
            <a:off x="8028756" y="1024128"/>
            <a:ext cx="3190607" cy="1792224"/>
          </a:xfrm>
          <a:prstGeom prst="rect">
            <a:avLst/>
          </a:prstGeom>
        </p:spPr>
      </p:pic>
      <p:sp>
        <p:nvSpPr>
          <p:cNvPr id="6" name="Text 2"/>
          <p:cNvSpPr/>
          <p:nvPr/>
        </p:nvSpPr>
        <p:spPr>
          <a:xfrm>
            <a:off x="7452360" y="2834640"/>
            <a:ext cx="4343400" cy="201168"/>
          </a:xfrm>
          <a:prstGeom prst="rect">
            <a:avLst/>
          </a:prstGeom>
          <a:noFill/>
          <a:ln/>
        </p:spPr>
        <p:txBody>
          <a:bodyPr wrap="square" lIns="0" tIns="0" rIns="0" bIns="0" rtlCol="0" anchor="ctr"/>
          <a:lstStyle/>
          <a:p>
            <a:pPr algn="ctr" indent="0" marL="0">
              <a:buNone/>
            </a:pPr>
            <a:r>
              <a:rPr lang="en-US" sz="800" dirty="0">
                <a:solidFill>
                  <a:srgbClr val="6A6A6A"/>
                </a:solidFill>
                <a:latin typeface="Meiryo" pitchFamily="34" charset="0"/>
                <a:ea typeface="Meiryo" pitchFamily="34" charset="-122"/>
                <a:cs typeface="Meiryo" pitchFamily="34" charset="-120"/>
              </a:rPr>
              <a:t>国の対応会議を主宰するデラエスプリエジャ大統領   © UNGRD</a:t>
            </a:r>
            <a:pPr algn="ctr" indent="0" marL="0">
              <a:buNone/>
            </a:pPr>
            <a:r>
              <a:rPr lang="en-US" sz="700" u="sng" dirty="0">
                <a:solidFill>
                  <a:srgbClr val="0563C1"/>
                </a:solidFill>
                <a:latin typeface="Meiryo" pitchFamily="34" charset="0"/>
                <a:ea typeface="Meiryo" pitchFamily="34" charset="-122"/>
                <a:cs typeface="Meiryo" pitchFamily="34" charset="-120"/>
                <a:hlinkClick r:id="rId3" invalidUrl="" action="" tgtFrame="" tooltip="" history="1" highlightClick="0" endSnd="0">
                  <a:extLst>
                    <a:ext uri="{A12FA001-AC4F-418D-AE19-62706E023703}">
                      <ahyp:hlinkClr xmlns:ahyp="http://schemas.microsoft.com/office/drawing/2018/hyperlinkcolor" val="tx"/>
                    </a:ext>
                  </a:extLst>
                </a:hlinkClick>
              </a:rPr>
              <a:t>  —  https://portal.gestiondelriesgo.gov.co/</a:t>
            </a:r>
            <a:endParaRPr lang="en-US" sz="800" dirty="0"/>
          </a:p>
        </p:txBody>
      </p:sp>
      <p:pic>
        <p:nvPicPr>
          <p:cNvPr id="7" name="Image 2" descr="/home/user/whatsmap/reports/colombia_eq_20260810/images/photo_bomberos_cali.jpg">    </p:cNvPr>
          <p:cNvPicPr>
            <a:picLocks noChangeAspect="1"/>
          </p:cNvPicPr>
          <p:nvPr/>
        </p:nvPicPr>
        <p:blipFill>
          <a:blip r:embed="rId4"/>
          <a:stretch>
            <a:fillRect/>
          </a:stretch>
        </p:blipFill>
        <p:spPr>
          <a:xfrm>
            <a:off x="8145475" y="3172968"/>
            <a:ext cx="2957170" cy="1792224"/>
          </a:xfrm>
          <a:prstGeom prst="rect">
            <a:avLst/>
          </a:prstGeom>
        </p:spPr>
      </p:pic>
      <p:sp>
        <p:nvSpPr>
          <p:cNvPr id="8" name="Text 3"/>
          <p:cNvSpPr/>
          <p:nvPr/>
        </p:nvSpPr>
        <p:spPr>
          <a:xfrm>
            <a:off x="7452360" y="4983480"/>
            <a:ext cx="4343400" cy="201168"/>
          </a:xfrm>
          <a:prstGeom prst="rect">
            <a:avLst/>
          </a:prstGeom>
          <a:noFill/>
          <a:ln/>
        </p:spPr>
        <p:txBody>
          <a:bodyPr wrap="square" lIns="0" tIns="0" rIns="0" bIns="0" rtlCol="0" anchor="ctr"/>
          <a:lstStyle/>
          <a:p>
            <a:pPr algn="ctr" indent="0" marL="0">
              <a:buNone/>
            </a:pPr>
            <a:r>
              <a:rPr lang="en-US" sz="800" dirty="0">
                <a:solidFill>
                  <a:srgbClr val="6A6A6A"/>
                </a:solidFill>
                <a:latin typeface="Meiryo" pitchFamily="34" charset="0"/>
                <a:ea typeface="Meiryo" pitchFamily="34" charset="-122"/>
                <a:cs typeface="Meiryo" pitchFamily="34" charset="-120"/>
              </a:rPr>
              <a:t>市内の倒壊建物で活動するカリ消防   © Alcaldía de Santiago de Cali</a:t>
            </a:r>
            <a:pPr algn="ctr" indent="0" marL="0">
              <a:buNone/>
            </a:pPr>
            <a:r>
              <a:rPr lang="en-US" sz="700" u="sng" dirty="0">
                <a:solidFill>
                  <a:srgbClr val="0563C1"/>
                </a:solidFill>
                <a:latin typeface="Meiryo" pitchFamily="34" charset="0"/>
                <a:ea typeface="Meiryo" pitchFamily="34" charset="-122"/>
                <a:cs typeface="Meiryo" pitchFamily="34" charset="-120"/>
                <a:hlinkClick r:id="rId5" invalidUrl="" action="" tgtFrame="" tooltip="" history="1" highlightClick="0" endSnd="0">
                  <a:extLst>
                    <a:ext uri="{A12FA001-AC4F-418D-AE19-62706E023703}">
                      <ahyp:hlinkClr xmlns:ahyp="http://schemas.microsoft.com/office/drawing/2018/hyperlinkcolor" val="tx"/>
                    </a:ext>
                  </a:extLst>
                </a:hlinkClick>
              </a:rPr>
              <a:t>  —  https://www.cali.gov.co/gestiondelriesgo/</a:t>
            </a:r>
            <a:endParaRPr lang="en-US" sz="800" dirty="0"/>
          </a:p>
        </p:txBody>
      </p:sp>
      <p:sp>
        <p:nvSpPr>
          <p:cNvPr id="9" name="Shape 4"/>
          <p:cNvSpPr/>
          <p:nvPr/>
        </p:nvSpPr>
        <p:spPr>
          <a:xfrm>
            <a:off x="365760" y="5212080"/>
            <a:ext cx="11430000" cy="914400"/>
          </a:xfrm>
          <a:prstGeom prst="roundRect">
            <a:avLst>
              <a:gd name="adj" fmla="val 5000"/>
            </a:avLst>
          </a:prstGeom>
          <a:solidFill>
            <a:srgbClr val="FCE9DC"/>
          </a:solidFill>
          <a:ln w="12700">
            <a:solidFill>
              <a:srgbClr val="E8A317"/>
            </a:solidFill>
            <a:prstDash val="solid"/>
          </a:ln>
        </p:spPr>
      </p:sp>
      <p:sp>
        <p:nvSpPr>
          <p:cNvPr id="10" name="Text 5"/>
          <p:cNvSpPr/>
          <p:nvPr/>
        </p:nvSpPr>
        <p:spPr>
          <a:xfrm>
            <a:off x="530352" y="5266944"/>
            <a:ext cx="11100816" cy="804672"/>
          </a:xfrm>
          <a:prstGeom prst="rect">
            <a:avLst/>
          </a:prstGeom>
          <a:noFill/>
          <a:ln/>
        </p:spPr>
        <p:txBody>
          <a:bodyPr wrap="square" lIns="25400" tIns="25400" rIns="25400" bIns="25400" rtlCol="0" anchor="ctr"/>
          <a:lstStyle/>
          <a:p>
            <a:pPr algn="l" indent="0" marL="0">
              <a:buNone/>
            </a:pPr>
            <a:r>
              <a:rPr lang="en-US" sz="1050" b="1" dirty="0">
                <a:solidFill>
                  <a:srgbClr val="9A3B12"/>
                </a:solidFill>
                <a:latin typeface="Meiryo" pitchFamily="34" charset="0"/>
                <a:ea typeface="Meiryo" pitchFamily="34" charset="-122"/>
                <a:cs typeface="Meiryo" pitchFamily="34" charset="-120"/>
              </a:rPr>
              <a:t>法的根拠
</a:t>
            </a:r>
            <a:pPr algn="l" indent="0" marL="0">
              <a:buNone/>
            </a:pPr>
            <a:r>
              <a:rPr lang="en-US" sz="950" dirty="0">
                <a:solidFill>
                  <a:srgbClr val="7A2E0E"/>
                </a:solidFill>
                <a:latin typeface="Meiryo" pitchFamily="34" charset="0"/>
                <a:ea typeface="Meiryo" pitchFamily="34" charset="-122"/>
                <a:cs typeface="Meiryo" pitchFamily="34" charset="-120"/>
              </a:rPr>
              <a:t>国家災害宣言により、2012年法律第1523号に基づくSNGRDが起動する。これによりUNGRDが資源配分を指揮でき、国家防災基金（FNGRD）を通常の調達手続によらず活用できる。</a:t>
            </a:r>
            <a:endParaRPr lang="en-US" sz="1050" dirty="0"/>
          </a:p>
        </p:txBody>
      </p:sp>
      <p:sp>
        <p:nvSpPr>
          <p:cNvPr id="11" name="Text 6"/>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Meiryo" pitchFamily="34" charset="0"/>
                <a:ea typeface="Meiryo" pitchFamily="34" charset="-122"/>
                <a:cs typeface="Meiryo" pitchFamily="34" charset="-120"/>
              </a:rPr>
              <a:t>出典：</a:t>
            </a:r>
            <a:pPr algn="l" indent="0" marL="0">
              <a:buNone/>
            </a:pPr>
            <a:r>
              <a:rPr lang="en-US" sz="850" u="sng" dirty="0">
                <a:solidFill>
                  <a:srgbClr val="0563C1"/>
                </a:solidFill>
                <a:latin typeface="Meiryo" pitchFamily="34" charset="0"/>
                <a:ea typeface="Meiryo" pitchFamily="34" charset="-122"/>
                <a:cs typeface="Meiryo" pitchFamily="34" charset="-120"/>
                <a:hlinkClick r:id="rId6" invalidUrl="" action="" tgtFrame="" tooltip="" history="1" highlightClick="0" endSnd="0">
                  <a:extLst>
                    <a:ext uri="{A12FA001-AC4F-418D-AE19-62706E023703}">
                      <ahyp:hlinkClr xmlns:ahyp="http://schemas.microsoft.com/office/drawing/2018/hyperlinkcolor" val="tx"/>
                    </a:ext>
                  </a:extLst>
                </a:hlinkClick>
              </a:rPr>
              <a:t>国家災害リスク管理ユニット（UNGRD）</a:t>
            </a:r>
            <a:pPr algn="l" indent="0" marL="0">
              <a:buNone/>
            </a:pPr>
            <a:r>
              <a:rPr lang="en-US" sz="850" dirty="0">
                <a:solidFill>
                  <a:srgbClr val="6A6A6A"/>
                </a:solidFill>
                <a:latin typeface="Meiryo" pitchFamily="34" charset="0"/>
                <a:ea typeface="Meiryo" pitchFamily="34" charset="-122"/>
                <a:cs typeface="Meiryo" pitchFamily="34" charset="-120"/>
              </a:rPr>
              <a:t>   ·   </a:t>
            </a:r>
            <a:pPr algn="l" indent="0" marL="0">
              <a:buNone/>
            </a:pPr>
            <a:r>
              <a:rPr lang="en-US" sz="850" u="sng" dirty="0">
                <a:solidFill>
                  <a:srgbClr val="0563C1"/>
                </a:solidFill>
                <a:latin typeface="Meiryo" pitchFamily="34" charset="0"/>
                <a:ea typeface="Meiryo" pitchFamily="34" charset="-122"/>
                <a:cs typeface="Meiryo" pitchFamily="34" charset="-120"/>
                <a:hlinkClick r:id="rId7" invalidUrl="" action="" tgtFrame="" tooltip="" history="1" highlightClick="0" endSnd="0">
                  <a:extLst>
                    <a:ext uri="{A12FA001-AC4F-418D-AE19-62706E023703}">
                      <ahyp:hlinkClr xmlns:ahyp="http://schemas.microsoft.com/office/drawing/2018/hyperlinkcolor" val="tx"/>
                    </a:ext>
                  </a:extLst>
                </a:hlinkClick>
              </a:rPr>
              <a:t>Colombia One 国家災害宣言</a:t>
            </a:r>
            <a:pPr algn="l" indent="0" marL="0">
              <a:buNone/>
            </a:pPr>
            <a:r>
              <a:rPr lang="en-US" sz="850" dirty="0">
                <a:solidFill>
                  <a:srgbClr val="6A6A6A"/>
                </a:solidFill>
                <a:latin typeface="Meiryo" pitchFamily="34" charset="0"/>
                <a:ea typeface="Meiryo" pitchFamily="34" charset="-122"/>
                <a:cs typeface="Meiryo" pitchFamily="34" charset="-120"/>
              </a:rPr>
              <a:t>   ·   </a:t>
            </a:r>
            <a:pPr algn="l" indent="0" marL="0">
              <a:buNone/>
            </a:pPr>
            <a:r>
              <a:rPr lang="en-US" sz="850" u="sng" dirty="0">
                <a:solidFill>
                  <a:srgbClr val="0563C1"/>
                </a:solidFill>
                <a:latin typeface="Meiryo" pitchFamily="34" charset="0"/>
                <a:ea typeface="Meiryo" pitchFamily="34" charset="-122"/>
                <a:cs typeface="Meiryo" pitchFamily="34" charset="-120"/>
                <a:hlinkClick r:id="rId8" invalidUrl="" action="" tgtFrame="" tooltip="" history="1" highlightClick="0" endSnd="0">
                  <a:extLst>
                    <a:ext uri="{A12FA001-AC4F-418D-AE19-62706E023703}">
                      <ahyp:hlinkClr xmlns:ahyp="http://schemas.microsoft.com/office/drawing/2018/hyperlinkcolor" val="tx"/>
                    </a:ext>
                  </a:extLst>
                </a:hlinkClick>
              </a:rPr>
              <a:t>PreventionWeb コロンビア国家防災計画</a:t>
            </a:r>
            <a:endParaRPr lang="en-US" sz="850" dirty="0"/>
          </a:p>
        </p:txBody>
      </p:sp>
      <p:sp>
        <p:nvSpPr>
          <p:cNvPr id="12" name="Shape 7"/>
          <p:cNvSpPr/>
          <p:nvPr/>
        </p:nvSpPr>
        <p:spPr>
          <a:xfrm>
            <a:off x="10268712" y="6510528"/>
            <a:ext cx="1554480" cy="274320"/>
          </a:xfrm>
          <a:prstGeom prst="rect">
            <a:avLst/>
          </a:prstGeom>
          <a:solidFill>
            <a:srgbClr val="E8A317"/>
          </a:solidFill>
          <a:ln w="12700">
            <a:solidFill>
              <a:srgbClr val="E8A317"/>
            </a:solidFill>
            <a:prstDash val="solid"/>
          </a:ln>
        </p:spPr>
      </p:sp>
      <p:sp>
        <p:nvSpPr>
          <p:cNvPr id="13" name="Text 8"/>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Meiryo" pitchFamily="34" charset="0"/>
                <a:ea typeface="Meiryo" pitchFamily="34" charset="-122"/>
                <a:cs typeface="Meiryo" pitchFamily="34" charset="-120"/>
              </a:rPr>
              <a:t>ADRC  12/08/2026</a:t>
            </a:r>
            <a:endParaRPr lang="en-US" sz="950" dirty="0"/>
          </a:p>
        </p:txBody>
      </p:sp>
      <p:sp>
        <p:nvSpPr>
          <p:cNvPr id="14" name="Text 9"/>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Meiryo" pitchFamily="34" charset="0"/>
                <a:ea typeface="Meiryo" pitchFamily="34" charset="-122"/>
                <a:cs typeface="Meiryo" pitchFamily="34" charset="-120"/>
              </a:rPr>
              <a:t>16</a:t>
            </a:r>
            <a:endParaRPr lang="en-US" sz="9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1900" b="1" dirty="0">
                <a:solidFill>
                  <a:srgbClr val="1F3864"/>
                </a:solidFill>
                <a:latin typeface="Meiryo" pitchFamily="34" charset="0"/>
                <a:ea typeface="Meiryo" pitchFamily="34" charset="-122"/>
                <a:cs typeface="Meiryo" pitchFamily="34" charset="-120"/>
              </a:rPr>
              <a:t>国際的な支援</a:t>
            </a:r>
            <a:endParaRPr lang="en-US" sz="19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1024128"/>
            <a:ext cx="11430000" cy="4572000"/>
          </a:xfrm>
          <a:prstGeom prst="rect">
            <a:avLst/>
          </a:prstGeom>
          <a:noFill/>
          <a:ln/>
        </p:spPr>
        <p:txBody>
          <a:bodyPr wrap="square" lIns="50800" tIns="50800" rIns="50800" bIns="50800" rtlCol="0" anchor="t"/>
          <a:lstStyle/>
          <a:p>
            <a:pPr algn="l" marL="342900" indent="-342900">
              <a:buSzPct val="100000"/>
              <a:buChar char="•"/>
            </a:pPr>
            <a:r>
              <a:rPr lang="en-US" sz="1200" b="1" dirty="0">
                <a:solidFill>
                  <a:srgbClr val="1E7A34"/>
                </a:solidFill>
                <a:latin typeface="Meiryo" pitchFamily="34" charset="0"/>
                <a:ea typeface="Meiryo" pitchFamily="34" charset="-122"/>
                <a:cs typeface="Meiryo" pitchFamily="34" charset="-120"/>
              </a:rPr>
              <a:t>[公式] </a:t>
            </a:r>
            <a:pPr algn="l" indent="0" marL="0">
              <a:spcAft>
                <a:spcPts val="500"/>
              </a:spcAft>
              <a:buNone/>
            </a:pPr>
            <a:r>
              <a:rPr lang="en-US" sz="1300" dirty="0">
                <a:solidFill>
                  <a:srgbClr val="222222"/>
                </a:solidFill>
                <a:latin typeface="Meiryo" pitchFamily="34" charset="0"/>
                <a:ea typeface="Meiryo" pitchFamily="34" charset="-122"/>
                <a:cs typeface="Meiryo" pitchFamily="34" charset="-120"/>
              </a:rPr>
              <a:t>エクアドルが、救助犬と自活可能な資機材を備えた専門USARチーム47人を動員。</a:t>
            </a:r>
            <a:endParaRPr lang="en-US" sz="1200" dirty="0"/>
          </a:p>
          <a:p>
            <a:pPr algn="l" marL="342900" indent="-342900">
              <a:buSzPct val="100000"/>
              <a:buChar char="•"/>
            </a:pPr>
            <a:r>
              <a:rPr lang="en-US" sz="1200" b="1" dirty="0">
                <a:solidFill>
                  <a:srgbClr val="B8860B"/>
                </a:solidFill>
                <a:latin typeface="Meiryo" pitchFamily="34" charset="0"/>
                <a:ea typeface="Meiryo" pitchFamily="34" charset="-122"/>
                <a:cs typeface="Meiryo" pitchFamily="34" charset="-120"/>
              </a:rPr>
              <a:t>[報道] </a:t>
            </a:r>
            <a:pPr algn="l" indent="0" marL="0">
              <a:spcAft>
                <a:spcPts val="500"/>
              </a:spcAft>
              <a:buNone/>
            </a:pPr>
            <a:r>
              <a:rPr lang="en-US" sz="1300" dirty="0">
                <a:solidFill>
                  <a:srgbClr val="222222"/>
                </a:solidFill>
                <a:latin typeface="Meiryo" pitchFamily="34" charset="0"/>
                <a:ea typeface="Meiryo" pitchFamily="34" charset="-122"/>
                <a:cs typeface="Meiryo" pitchFamily="34" charset="-120"/>
              </a:rPr>
              <a:t>メキシコ大統領は「必要なすべての支援」を表明。中南米各国が救助隊・救助犬・人道支援を申し出ており、コロンビア外務省とUNGRDを通じて受け入れる。</a:t>
            </a:r>
            <a:endParaRPr lang="en-US" sz="1200" dirty="0"/>
          </a:p>
          <a:p>
            <a:pPr algn="l" marL="342900" indent="-342900">
              <a:buSzPct val="100000"/>
              <a:buChar char="•"/>
            </a:pPr>
            <a:r>
              <a:rPr lang="en-US" sz="1200" b="1" dirty="0">
                <a:solidFill>
                  <a:srgbClr val="1E7A34"/>
                </a:solidFill>
                <a:latin typeface="Meiryo" pitchFamily="34" charset="0"/>
                <a:ea typeface="Meiryo" pitchFamily="34" charset="-122"/>
                <a:cs typeface="Meiryo" pitchFamily="34" charset="-120"/>
              </a:rPr>
              <a:t>[公式] </a:t>
            </a:r>
            <a:pPr algn="l" indent="0" marL="0">
              <a:spcAft>
                <a:spcPts val="500"/>
              </a:spcAft>
              <a:buNone/>
            </a:pPr>
            <a:r>
              <a:rPr lang="en-US" sz="1300" dirty="0">
                <a:solidFill>
                  <a:srgbClr val="222222"/>
                </a:solidFill>
                <a:latin typeface="Meiryo" pitchFamily="34" charset="0"/>
                <a:ea typeface="Meiryo" pitchFamily="34" charset="-122"/>
                <a:cs typeface="Meiryo" pitchFamily="34" charset="-120"/>
              </a:rPr>
              <a:t>コペルニクス緊急管理サービスのラピッドマッピングが、8月10日17:13 UTC（現地12:13）に EMSR916「Earthquake in Colombia」として発動。要請は欧州委員会サービス／DG ECHO、目的は地震被害評価の緊急マッピング。本稿執筆時点で対応中、関心領域3・成果物3。発動理由には、著しい被害と建物倒壊のあった都市としてキブド、ペレイラ、マニサレス、カリが挙げられている。</a:t>
            </a:r>
            <a:endParaRPr lang="en-US" sz="1200" dirty="0"/>
          </a:p>
          <a:p>
            <a:pPr algn="l" marL="342900" indent="-342900">
              <a:buSzPct val="100000"/>
              <a:buChar char="•"/>
            </a:pPr>
            <a:r>
              <a:rPr lang="en-US" sz="1200" b="1" dirty="0">
                <a:solidFill>
                  <a:srgbClr val="888888"/>
                </a:solidFill>
                <a:latin typeface="Meiryo" pitchFamily="34" charset="0"/>
                <a:ea typeface="Meiryo" pitchFamily="34" charset="-122"/>
                <a:cs typeface="Meiryo" pitchFamily="34" charset="-120"/>
              </a:rPr>
              <a:t>[確認中] </a:t>
            </a:r>
            <a:pPr algn="l" indent="0" marL="0">
              <a:spcAft>
                <a:spcPts val="500"/>
              </a:spcAft>
              <a:buNone/>
            </a:pPr>
            <a:r>
              <a:rPr lang="en-US" sz="1300" dirty="0">
                <a:solidFill>
                  <a:srgbClr val="222222"/>
                </a:solidFill>
                <a:latin typeface="Meiryo" pitchFamily="34" charset="0"/>
                <a:ea typeface="Meiryo" pitchFamily="34" charset="-122"/>
                <a:cs typeface="Meiryo" pitchFamily="34" charset="-120"/>
              </a:rPr>
              <a:t>国際災害チャーター（Space and Major Disasters）も本地震について発動されたと報じられている。発動番号は本稿執筆時点で確認できていない。</a:t>
            </a:r>
            <a:endParaRPr lang="en-US" sz="1200" dirty="0"/>
          </a:p>
          <a:p>
            <a:pPr algn="l" marL="342900" indent="-342900">
              <a:buSzPct val="100000"/>
              <a:buChar char="•"/>
            </a:pPr>
            <a:r>
              <a:rPr lang="en-US" sz="1200" b="1" dirty="0">
                <a:solidFill>
                  <a:srgbClr val="B8860B"/>
                </a:solidFill>
                <a:latin typeface="Meiryo" pitchFamily="34" charset="0"/>
                <a:ea typeface="Meiryo" pitchFamily="34" charset="-122"/>
                <a:cs typeface="Meiryo" pitchFamily="34" charset="-120"/>
              </a:rPr>
              <a:t>[報道] </a:t>
            </a:r>
            <a:pPr algn="l" indent="0" marL="0">
              <a:spcAft>
                <a:spcPts val="500"/>
              </a:spcAft>
              <a:buNone/>
            </a:pPr>
            <a:r>
              <a:rPr lang="en-US" sz="1300" dirty="0">
                <a:solidFill>
                  <a:srgbClr val="222222"/>
                </a:solidFill>
                <a:latin typeface="Meiryo" pitchFamily="34" charset="0"/>
                <a:ea typeface="Meiryo" pitchFamily="34" charset="-122"/>
                <a:cs typeface="Meiryo" pitchFamily="34" charset="-120"/>
              </a:rPr>
              <a:t>国際NGOが対応を開始：ダイレクト・リリーフとアメリケアズ（医療物資）、セーブ・ザ・チルドレン（子どもの保護・教育）、国際救援委員会（チョコ県の震央付近で調査）、コンボイ・オブ・ホープ（救援物資）。</a:t>
            </a:r>
            <a:endParaRPr lang="en-US" sz="1200" dirty="0"/>
          </a:p>
          <a:p>
            <a:pPr algn="l" marL="342900" indent="-342900">
              <a:buSzPct val="100000"/>
              <a:buChar char="•"/>
            </a:pPr>
            <a:r>
              <a:rPr lang="en-US" sz="1200" b="1" dirty="0">
                <a:solidFill>
                  <a:srgbClr val="888888"/>
                </a:solidFill>
                <a:latin typeface="Meiryo" pitchFamily="34" charset="0"/>
                <a:ea typeface="Meiryo" pitchFamily="34" charset="-122"/>
                <a:cs typeface="Meiryo" pitchFamily="34" charset="-120"/>
              </a:rPr>
              <a:t>[確認中] </a:t>
            </a:r>
            <a:pPr algn="l" indent="0" marL="0">
              <a:spcAft>
                <a:spcPts val="500"/>
              </a:spcAft>
              <a:buNone/>
            </a:pPr>
            <a:r>
              <a:rPr lang="en-US" sz="1300" dirty="0">
                <a:solidFill>
                  <a:srgbClr val="222222"/>
                </a:solidFill>
                <a:latin typeface="Meiryo" pitchFamily="34" charset="0"/>
                <a:ea typeface="Meiryo" pitchFamily="34" charset="-122"/>
                <a:cs typeface="Meiryo" pitchFamily="34" charset="-120"/>
              </a:rPr>
              <a:t>本稿執筆時点で、日本政府による対応（お見舞い、緊急無償資金協力、国際緊急援助隊の派遣等）の発表は確認できていない。</a:t>
            </a:r>
            <a:endParaRPr lang="en-US" sz="1200" dirty="0"/>
          </a:p>
        </p:txBody>
      </p:sp>
      <p:sp>
        <p:nvSpPr>
          <p:cNvPr id="5" name="Shape 2"/>
          <p:cNvSpPr/>
          <p:nvPr/>
        </p:nvSpPr>
        <p:spPr>
          <a:xfrm>
            <a:off x="365760" y="5669280"/>
            <a:ext cx="11430000" cy="475488"/>
          </a:xfrm>
          <a:prstGeom prst="roundRect">
            <a:avLst>
              <a:gd name="adj" fmla="val 9615"/>
            </a:avLst>
          </a:prstGeom>
          <a:solidFill>
            <a:srgbClr val="FCE9DC"/>
          </a:solidFill>
          <a:ln w="12700">
            <a:solidFill>
              <a:srgbClr val="E8A317"/>
            </a:solidFill>
            <a:prstDash val="solid"/>
          </a:ln>
        </p:spPr>
      </p:sp>
      <p:sp>
        <p:nvSpPr>
          <p:cNvPr id="6" name="Text 3"/>
          <p:cNvSpPr/>
          <p:nvPr/>
        </p:nvSpPr>
        <p:spPr>
          <a:xfrm>
            <a:off x="530352" y="5724144"/>
            <a:ext cx="11100816" cy="365760"/>
          </a:xfrm>
          <a:prstGeom prst="rect">
            <a:avLst/>
          </a:prstGeom>
          <a:noFill/>
          <a:ln/>
        </p:spPr>
        <p:txBody>
          <a:bodyPr wrap="square" lIns="25400" tIns="25400" rIns="25400" bIns="25400" rtlCol="0" anchor="ctr"/>
          <a:lstStyle/>
          <a:p>
            <a:pPr algn="l" indent="0" marL="0">
              <a:buNone/>
            </a:pPr>
            <a:r>
              <a:rPr lang="en-US" sz="1050" b="1" dirty="0">
                <a:solidFill>
                  <a:srgbClr val="9A3B12"/>
                </a:solidFill>
                <a:latin typeface="Meiryo" pitchFamily="34" charset="0"/>
                <a:ea typeface="Meiryo" pitchFamily="34" charset="-122"/>
                <a:cs typeface="Meiryo" pitchFamily="34" charset="-120"/>
              </a:rPr>
              <a:t>受け入れ窓口
</a:t>
            </a:r>
            <a:pPr algn="l" indent="0" marL="0">
              <a:buNone/>
            </a:pPr>
            <a:r>
              <a:rPr lang="en-US" sz="950" dirty="0">
                <a:solidFill>
                  <a:srgbClr val="7A2E0E"/>
                </a:solidFill>
                <a:latin typeface="Meiryo" pitchFamily="34" charset="0"/>
                <a:ea typeface="Meiryo" pitchFamily="34" charset="-122"/>
                <a:cs typeface="Meiryo" pitchFamily="34" charset="-120"/>
              </a:rPr>
              <a:t>支援の申し出は、コロンビア外務省とUNGRDを通じて受け入れることとされている。</a:t>
            </a:r>
            <a:endParaRPr lang="en-US" sz="1050" dirty="0"/>
          </a:p>
        </p:txBody>
      </p:sp>
      <p:sp>
        <p:nvSpPr>
          <p:cNvPr id="7" name="Text 4"/>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Meiryo" pitchFamily="34" charset="0"/>
                <a:ea typeface="Meiryo" pitchFamily="34" charset="-122"/>
                <a:cs typeface="Meiryo" pitchFamily="34" charset="-120"/>
              </a:rPr>
              <a:t>出典：</a:t>
            </a:r>
            <a:pPr algn="l" indent="0" marL="0">
              <a:buNone/>
            </a:pPr>
            <a:r>
              <a:rPr lang="en-US" sz="850" u="sng" dirty="0">
                <a:solidFill>
                  <a:srgbClr val="0563C1"/>
                </a:solidFill>
                <a:latin typeface="Meiryo" pitchFamily="34" charset="0"/>
                <a:ea typeface="Meiryo" pitchFamily="34" charset="-122"/>
                <a:cs typeface="Meiryo" pitchFamily="34" charset="-120"/>
                <a:hlinkClick r:id="rId2" invalidUrl="" action="" tgtFrame="" tooltip="" history="1" highlightClick="0" endSnd="0">
                  <a:extLst>
                    <a:ext uri="{A12FA001-AC4F-418D-AE19-62706E023703}">
                      <ahyp:hlinkClr xmlns:ahyp="http://schemas.microsoft.com/office/drawing/2018/hyperlinkcolor" val="tx"/>
                    </a:ext>
                  </a:extLst>
                </a:hlinkClick>
              </a:rPr>
              <a:t>国際災害チャーター 発動一覧</a:t>
            </a:r>
            <a:pPr algn="l" indent="0" marL="0">
              <a:buNone/>
            </a:pPr>
            <a:r>
              <a:rPr lang="en-US" sz="850" dirty="0">
                <a:solidFill>
                  <a:srgbClr val="6A6A6A"/>
                </a:solidFill>
                <a:latin typeface="Meiryo" pitchFamily="34" charset="0"/>
                <a:ea typeface="Meiryo" pitchFamily="34" charset="-122"/>
                <a:cs typeface="Meiryo" pitchFamily="34" charset="-120"/>
              </a:rPr>
              <a:t>   ·   </a:t>
            </a:r>
            <a:pPr algn="l" indent="0" marL="0">
              <a:buNone/>
            </a:pPr>
            <a:r>
              <a:rPr lang="en-US" sz="850" u="sng" dirty="0">
                <a:solidFill>
                  <a:srgbClr val="0563C1"/>
                </a:solidFill>
                <a:latin typeface="Meiryo" pitchFamily="34" charset="0"/>
                <a:ea typeface="Meiryo" pitchFamily="34" charset="-122"/>
                <a:cs typeface="Meiryo" pitchFamily="34" charset="-120"/>
                <a:hlinkClick r:id="rId3" invalidUrl="" action="" tgtFrame="" tooltip="" history="1" highlightClick="0" endSnd="0">
                  <a:extLst>
                    <a:ext uri="{A12FA001-AC4F-418D-AE19-62706E023703}">
                      <ahyp:hlinkClr xmlns:ahyp="http://schemas.microsoft.com/office/drawing/2018/hyperlinkcolor" val="tx"/>
                    </a:ext>
                  </a:extLst>
                </a:hlinkClick>
              </a:rPr>
              <a:t>コペルニクスEMS EMSR916「Earthquake in Colombia」（発動）</a:t>
            </a:r>
            <a:pPr algn="l" indent="0" marL="0">
              <a:buNone/>
            </a:pPr>
            <a:r>
              <a:rPr lang="en-US" sz="850" dirty="0">
                <a:solidFill>
                  <a:srgbClr val="6A6A6A"/>
                </a:solidFill>
                <a:latin typeface="Meiryo" pitchFamily="34" charset="0"/>
                <a:ea typeface="Meiryo" pitchFamily="34" charset="-122"/>
                <a:cs typeface="Meiryo" pitchFamily="34" charset="-120"/>
              </a:rPr>
              <a:t>   ·   </a:t>
            </a:r>
            <a:pPr algn="l" indent="0" marL="0">
              <a:buNone/>
            </a:pPr>
            <a:r>
              <a:rPr lang="en-US" sz="850" u="sng" dirty="0">
                <a:solidFill>
                  <a:srgbClr val="0563C1"/>
                </a:solidFill>
                <a:latin typeface="Meiryo" pitchFamily="34" charset="0"/>
                <a:ea typeface="Meiryo" pitchFamily="34" charset="-122"/>
                <a:cs typeface="Meiryo" pitchFamily="34" charset="-120"/>
                <a:hlinkClick r:id="rId4" invalidUrl="" action="" tgtFrame="" tooltip="" history="1" highlightClick="0" endSnd="0">
                  <a:extLst>
                    <a:ext uri="{A12FA001-AC4F-418D-AE19-62706E023703}">
                      <ahyp:hlinkClr xmlns:ahyp="http://schemas.microsoft.com/office/drawing/2018/hyperlinkcolor" val="tx"/>
                    </a:ext>
                  </a:extLst>
                </a:hlinkClick>
              </a:rPr>
              <a:t>ReliefWeb コロンビア</a:t>
            </a:r>
            <a:endParaRPr lang="en-US" sz="850" dirty="0"/>
          </a:p>
        </p:txBody>
      </p:sp>
      <p:sp>
        <p:nvSpPr>
          <p:cNvPr id="8" name="Shape 5"/>
          <p:cNvSpPr/>
          <p:nvPr/>
        </p:nvSpPr>
        <p:spPr>
          <a:xfrm>
            <a:off x="10268712" y="6510528"/>
            <a:ext cx="1554480" cy="274320"/>
          </a:xfrm>
          <a:prstGeom prst="rect">
            <a:avLst/>
          </a:prstGeom>
          <a:solidFill>
            <a:srgbClr val="E8A317"/>
          </a:solidFill>
          <a:ln w="12700">
            <a:solidFill>
              <a:srgbClr val="E8A317"/>
            </a:solidFill>
            <a:prstDash val="solid"/>
          </a:ln>
        </p:spPr>
      </p:sp>
      <p:sp>
        <p:nvSpPr>
          <p:cNvPr id="9" name="Text 6"/>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Meiryo" pitchFamily="34" charset="0"/>
                <a:ea typeface="Meiryo" pitchFamily="34" charset="-122"/>
                <a:cs typeface="Meiryo" pitchFamily="34" charset="-120"/>
              </a:rPr>
              <a:t>ADRC  12/08/2026</a:t>
            </a:r>
            <a:endParaRPr lang="en-US" sz="950" dirty="0"/>
          </a:p>
        </p:txBody>
      </p:sp>
      <p:sp>
        <p:nvSpPr>
          <p:cNvPr id="10" name="Text 7"/>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Meiryo" pitchFamily="34" charset="0"/>
                <a:ea typeface="Meiryo" pitchFamily="34" charset="-122"/>
                <a:cs typeface="Meiryo" pitchFamily="34" charset="-120"/>
              </a:rPr>
              <a:t>17</a:t>
            </a:r>
            <a:endParaRPr lang="en-US" sz="9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1900" b="1" dirty="0">
                <a:solidFill>
                  <a:srgbClr val="1F3864"/>
                </a:solidFill>
                <a:latin typeface="Meiryo" pitchFamily="34" charset="0"/>
                <a:ea typeface="Meiryo" pitchFamily="34" charset="-122"/>
                <a:cs typeface="Meiryo" pitchFamily="34" charset="-120"/>
              </a:rPr>
              <a:t>衛星・解析による支援</a:t>
            </a:r>
            <a:endParaRPr lang="en-US" sz="19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graphicFrame>
        <p:nvGraphicFramePr>
          <p:cNvPr id="19" name="Table 0"/>
          <p:cNvGraphicFramePr>
            <a:graphicFrameLocks noGrp="1"/>
          </p:cNvGraphicFramePr>
          <p:nvPr>
            <p:extLst>
              <p:ext uri="{D42A27DB-BD31-4B8C-83A1-F6EECF244321}">
                <p14:modId xmlns:p14="http://schemas.microsoft.com/office/powerpoint/2010/main" val="1579011935"/>
              </p:ext>
            </p:extLst>
          </p:nvPr>
        </p:nvGraphicFramePr>
        <p:xfrm>
          <a:off x="365760" y="1024128"/>
          <a:ext cx="11430000" cy="914400"/>
        </p:xfrm>
        <a:graphic>
          <a:graphicData uri="http://schemas.openxmlformats.org/drawingml/2006/table">
            <a:tbl>
              <a:tblPr/>
              <a:tblGrid>
                <a:gridCol w="2011680"/>
                <a:gridCol w="6309360"/>
                <a:gridCol w="2103120"/>
                <a:gridCol w="1005840"/>
              </a:tblGrid>
              <a:tr h="566928">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機関</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内容</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状況</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区分</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566928">
                <a:tc>
                  <a:txBody>
                    <a:bodyPr/>
                    <a:lstStyle/>
                    <a:p>
                      <a:pPr algn="l" indent="0" marL="0">
                        <a:buNone/>
                      </a:pPr>
                      <a:r>
                        <a:rPr lang="en-US" sz="1000" b="1" dirty="0">
                          <a:solidFill>
                            <a:srgbClr val="1F3864"/>
                          </a:solidFill>
                          <a:latin typeface="Meiryo" pitchFamily="34" charset="0"/>
                          <a:ea typeface="Meiryo" pitchFamily="34" charset="-122"/>
                          <a:cs typeface="Meiryo" pitchFamily="34" charset="-120"/>
                        </a:rPr>
                        <a:t>International Charter</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本地震に対する発動が報じられている。被害把握のための広域の光学・SAR画像</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dirty="0">
                          <a:solidFill>
                            <a:srgbClr val="222222"/>
                          </a:solidFill>
                          <a:latin typeface="Meiryo" pitchFamily="34" charset="0"/>
                          <a:ea typeface="Meiryo" pitchFamily="34" charset="-122"/>
                          <a:cs typeface="Meiryo" pitchFamily="34" charset="-120"/>
                        </a:rPr>
                        <a:t>報道あり・番号未特定</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888888"/>
                          </a:solidFill>
                          <a:latin typeface="Meiryo" pitchFamily="34" charset="0"/>
                          <a:ea typeface="Meiryo" pitchFamily="34" charset="-122"/>
                          <a:cs typeface="Meiryo" pitchFamily="34" charset="-120"/>
                        </a:rPr>
                        <a:t>確認中</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566928">
                <a:tc>
                  <a:txBody>
                    <a:bodyPr/>
                    <a:lstStyle/>
                    <a:p>
                      <a:pPr algn="l" indent="0" marL="0">
                        <a:buNone/>
                      </a:pPr>
                      <a:r>
                        <a:rPr lang="en-US" sz="1000" b="1" dirty="0">
                          <a:solidFill>
                            <a:srgbClr val="1F3864"/>
                          </a:solidFill>
                          <a:latin typeface="Meiryo" pitchFamily="34" charset="0"/>
                          <a:ea typeface="Meiryo" pitchFamily="34" charset="-122"/>
                          <a:cs typeface="Meiryo" pitchFamily="34" charset="-120"/>
                        </a:rPr>
                        <a:t>Copernicus EMS</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EMSR916「Earthquake in Colombia」— 被害評価のためのラピッドマッピング。要請は欧州委員会サービス／DG ECHO。関心領域3・成果物3</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222222"/>
                          </a:solidFill>
                          <a:latin typeface="Meiryo" pitchFamily="34" charset="0"/>
                          <a:ea typeface="Meiryo" pitchFamily="34" charset="-122"/>
                          <a:cs typeface="Meiryo" pitchFamily="34" charset="-120"/>
                        </a:rPr>
                        <a:t>対応中（EMSR916）</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公式</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566928">
                <a:tc>
                  <a:txBody>
                    <a:bodyPr/>
                    <a:lstStyle/>
                    <a:p>
                      <a:pPr algn="l" indent="0" marL="0">
                        <a:buNone/>
                      </a:pPr>
                      <a:r>
                        <a:rPr lang="en-US" sz="1000" b="1" dirty="0">
                          <a:solidFill>
                            <a:srgbClr val="1F3864"/>
                          </a:solidFill>
                          <a:latin typeface="Meiryo" pitchFamily="34" charset="0"/>
                          <a:ea typeface="Meiryo" pitchFamily="34" charset="-122"/>
                          <a:cs typeface="Meiryo" pitchFamily="34" charset="-120"/>
                        </a:rPr>
                        <a:t>USGS</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ShakeMap、PAGER（オレンジ）、震源過程、余震カタログ</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dirty="0">
                          <a:solidFill>
                            <a:srgbClr val="222222"/>
                          </a:solidFill>
                          <a:latin typeface="Meiryo" pitchFamily="34" charset="0"/>
                          <a:ea typeface="Meiryo" pitchFamily="34" charset="-122"/>
                          <a:cs typeface="Meiryo" pitchFamily="34" charset="-120"/>
                        </a:rPr>
                        <a:t>公開済み</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公式</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566928">
                <a:tc>
                  <a:txBody>
                    <a:bodyPr/>
                    <a:lstStyle/>
                    <a:p>
                      <a:pPr algn="l" indent="0" marL="0">
                        <a:buNone/>
                      </a:pPr>
                      <a:r>
                        <a:rPr lang="en-US" sz="1000" b="1" dirty="0">
                          <a:solidFill>
                            <a:srgbClr val="1F3864"/>
                          </a:solidFill>
                          <a:latin typeface="Meiryo" pitchFamily="34" charset="0"/>
                          <a:ea typeface="Meiryo" pitchFamily="34" charset="-122"/>
                          <a:cs typeface="Meiryo" pitchFamily="34" charset="-120"/>
                        </a:rPr>
                        <a:t>GDACS</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総合オレンジ警報。人口曝露と影響推計</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222222"/>
                          </a:solidFill>
                          <a:latin typeface="Meiryo" pitchFamily="34" charset="0"/>
                          <a:ea typeface="Meiryo" pitchFamily="34" charset="-122"/>
                          <a:cs typeface="Meiryo" pitchFamily="34" charset="-120"/>
                        </a:rPr>
                        <a:t>公開済み</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公式</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566928">
                <a:tc>
                  <a:txBody>
                    <a:bodyPr/>
                    <a:lstStyle/>
                    <a:p>
                      <a:pPr algn="l" indent="0" marL="0">
                        <a:buNone/>
                      </a:pPr>
                      <a:r>
                        <a:rPr lang="en-US" sz="1000" b="1" dirty="0">
                          <a:solidFill>
                            <a:srgbClr val="1F3864"/>
                          </a:solidFill>
                          <a:latin typeface="Meiryo" pitchFamily="34" charset="0"/>
                          <a:ea typeface="Meiryo" pitchFamily="34" charset="-122"/>
                          <a:cs typeface="Meiryo" pitchFamily="34" charset="-120"/>
                        </a:rPr>
                        <a:t>SGC</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国内地震観測網：震源、規模の修正、余震情報、強震記録</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dirty="0">
                          <a:solidFill>
                            <a:srgbClr val="222222"/>
                          </a:solidFill>
                          <a:latin typeface="Meiryo" pitchFamily="34" charset="0"/>
                          <a:ea typeface="Meiryo" pitchFamily="34" charset="-122"/>
                          <a:cs typeface="Meiryo" pitchFamily="34" charset="-120"/>
                        </a:rPr>
                        <a:t>公開済み</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公式</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566928">
                <a:tc>
                  <a:txBody>
                    <a:bodyPr/>
                    <a:lstStyle/>
                    <a:p>
                      <a:pPr algn="l" indent="0" marL="0">
                        <a:buNone/>
                      </a:pPr>
                      <a:r>
                        <a:rPr lang="en-US" sz="1000" b="1" dirty="0">
                          <a:solidFill>
                            <a:srgbClr val="1F3864"/>
                          </a:solidFill>
                          <a:latin typeface="Meiryo" pitchFamily="34" charset="0"/>
                          <a:ea typeface="Meiryo" pitchFamily="34" charset="-122"/>
                          <a:cs typeface="Meiryo" pitchFamily="34" charset="-120"/>
                        </a:rPr>
                        <a:t>Sentinel Asia</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対象外。同メカニズムはアジア太平洋地域が対象であり、コロンビアは国際災害チャーターとコペルニクスEMSが対応</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222222"/>
                          </a:solidFill>
                          <a:latin typeface="Meiryo" pitchFamily="34" charset="0"/>
                          <a:ea typeface="Meiryo" pitchFamily="34" charset="-122"/>
                          <a:cs typeface="Meiryo" pitchFamily="34" charset="-120"/>
                        </a:rPr>
                        <a:t>対象外</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公式</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bl>
          </a:graphicData>
        </a:graphic>
      </p:graphicFrame>
      <p:sp>
        <p:nvSpPr>
          <p:cNvPr id="5" name="Shape 1"/>
          <p:cNvSpPr/>
          <p:nvPr/>
        </p:nvSpPr>
        <p:spPr>
          <a:xfrm>
            <a:off x="365760" y="5175504"/>
            <a:ext cx="11430000" cy="950976"/>
          </a:xfrm>
          <a:prstGeom prst="roundRect">
            <a:avLst>
              <a:gd name="adj" fmla="val 4808"/>
            </a:avLst>
          </a:prstGeom>
          <a:solidFill>
            <a:srgbClr val="FCE9DC"/>
          </a:solidFill>
          <a:ln w="12700">
            <a:solidFill>
              <a:srgbClr val="E8A317"/>
            </a:solidFill>
            <a:prstDash val="solid"/>
          </a:ln>
        </p:spPr>
      </p:sp>
      <p:sp>
        <p:nvSpPr>
          <p:cNvPr id="6" name="Text 2"/>
          <p:cNvSpPr/>
          <p:nvPr/>
        </p:nvSpPr>
        <p:spPr>
          <a:xfrm>
            <a:off x="530352" y="5230368"/>
            <a:ext cx="11100816" cy="841248"/>
          </a:xfrm>
          <a:prstGeom prst="rect">
            <a:avLst/>
          </a:prstGeom>
          <a:noFill/>
          <a:ln/>
        </p:spPr>
        <p:txBody>
          <a:bodyPr wrap="square" lIns="25400" tIns="25400" rIns="25400" bIns="25400" rtlCol="0" anchor="ctr"/>
          <a:lstStyle/>
          <a:p>
            <a:pPr algn="l" indent="0" marL="0">
              <a:buNone/>
            </a:pPr>
            <a:r>
              <a:rPr lang="en-US" sz="1050" b="1" dirty="0">
                <a:solidFill>
                  <a:srgbClr val="9A3B12"/>
                </a:solidFill>
                <a:latin typeface="Meiryo" pitchFamily="34" charset="0"/>
                <a:ea typeface="Meiryo" pitchFamily="34" charset="-122"/>
                <a:cs typeface="Meiryo" pitchFamily="34" charset="-120"/>
              </a:rPr>
              <a:t>センチネルアジアについて
</a:t>
            </a:r>
            <a:pPr algn="l" indent="0" marL="0">
              <a:buNone/>
            </a:pPr>
            <a:r>
              <a:rPr lang="en-US" sz="950" dirty="0">
                <a:solidFill>
                  <a:srgbClr val="7A2E0E"/>
                </a:solidFill>
                <a:latin typeface="Meiryo" pitchFamily="34" charset="0"/>
                <a:ea typeface="Meiryo" pitchFamily="34" charset="-122"/>
                <a:cs typeface="Meiryo" pitchFamily="34" charset="-120"/>
              </a:rPr>
              <a:t>ADRCが共同プロジェクトチームとして参画するセンチネルアジアはアジア太平洋地域を対象としている。コロンビアの災害では、これに相当する国際的枠組みは国際災害チャーター（Space and Major Disasters）とコペルニクス緊急管理サービスであり、中南米ではUNOSAT／UNITARのラピッドマッピングも広く用いられる。</a:t>
            </a:r>
            <a:endParaRPr lang="en-US" sz="1050" dirty="0"/>
          </a:p>
        </p:txBody>
      </p:sp>
      <p:sp>
        <p:nvSpPr>
          <p:cNvPr id="7" name="Text 3"/>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Meiryo" pitchFamily="34" charset="0"/>
                <a:ea typeface="Meiryo" pitchFamily="34" charset="-122"/>
                <a:cs typeface="Meiryo" pitchFamily="34" charset="-120"/>
              </a:rPr>
              <a:t>出典：</a:t>
            </a:r>
            <a:pPr algn="l" indent="0" marL="0">
              <a:buNone/>
            </a:pPr>
            <a:r>
              <a:rPr lang="en-US" sz="850" u="sng" dirty="0">
                <a:solidFill>
                  <a:srgbClr val="0563C1"/>
                </a:solidFill>
                <a:latin typeface="Meiryo" pitchFamily="34" charset="0"/>
                <a:ea typeface="Meiryo" pitchFamily="34" charset="-122"/>
                <a:cs typeface="Meiryo" pitchFamily="34" charset="-120"/>
                <a:hlinkClick r:id="rId2" invalidUrl="" action="" tgtFrame="" tooltip="" history="1" highlightClick="0" endSnd="0">
                  <a:extLst>
                    <a:ext uri="{A12FA001-AC4F-418D-AE19-62706E023703}">
                      <ahyp:hlinkClr xmlns:ahyp="http://schemas.microsoft.com/office/drawing/2018/hyperlinkcolor" val="tx"/>
                    </a:ext>
                  </a:extLst>
                </a:hlinkClick>
              </a:rPr>
              <a:t>国際災害チャーター 発動一覧</a:t>
            </a:r>
            <a:pPr algn="l" indent="0" marL="0">
              <a:buNone/>
            </a:pPr>
            <a:r>
              <a:rPr lang="en-US" sz="850" dirty="0">
                <a:solidFill>
                  <a:srgbClr val="6A6A6A"/>
                </a:solidFill>
                <a:latin typeface="Meiryo" pitchFamily="34" charset="0"/>
                <a:ea typeface="Meiryo" pitchFamily="34" charset="-122"/>
                <a:cs typeface="Meiryo" pitchFamily="34" charset="-120"/>
              </a:rPr>
              <a:t>   ·   </a:t>
            </a:r>
            <a:pPr algn="l" indent="0" marL="0">
              <a:buNone/>
            </a:pPr>
            <a:r>
              <a:rPr lang="en-US" sz="850" u="sng" dirty="0">
                <a:solidFill>
                  <a:srgbClr val="0563C1"/>
                </a:solidFill>
                <a:latin typeface="Meiryo" pitchFamily="34" charset="0"/>
                <a:ea typeface="Meiryo" pitchFamily="34" charset="-122"/>
                <a:cs typeface="Meiryo" pitchFamily="34" charset="-120"/>
                <a:hlinkClick r:id="rId3" invalidUrl="" action="" tgtFrame="" tooltip="" history="1" highlightClick="0" endSnd="0">
                  <a:extLst>
                    <a:ext uri="{A12FA001-AC4F-418D-AE19-62706E023703}">
                      <ahyp:hlinkClr xmlns:ahyp="http://schemas.microsoft.com/office/drawing/2018/hyperlinkcolor" val="tx"/>
                    </a:ext>
                  </a:extLst>
                </a:hlinkClick>
              </a:rPr>
              <a:t>コペルニクスEMS EMSR916「Earthquake in Colombia」（発動）</a:t>
            </a:r>
            <a:pPr algn="l" indent="0" marL="0">
              <a:buNone/>
            </a:pPr>
            <a:r>
              <a:rPr lang="en-US" sz="850" dirty="0">
                <a:solidFill>
                  <a:srgbClr val="6A6A6A"/>
                </a:solidFill>
                <a:latin typeface="Meiryo" pitchFamily="34" charset="0"/>
                <a:ea typeface="Meiryo" pitchFamily="34" charset="-122"/>
                <a:cs typeface="Meiryo" pitchFamily="34" charset="-120"/>
              </a:rPr>
              <a:t>   ·   </a:t>
            </a:r>
            <a:pPr algn="l" indent="0" marL="0">
              <a:buNone/>
            </a:pPr>
            <a:r>
              <a:rPr lang="en-US" sz="850" u="sng" dirty="0">
                <a:solidFill>
                  <a:srgbClr val="0563C1"/>
                </a:solidFill>
                <a:latin typeface="Meiryo" pitchFamily="34" charset="0"/>
                <a:ea typeface="Meiryo" pitchFamily="34" charset="-122"/>
                <a:cs typeface="Meiryo" pitchFamily="34" charset="-120"/>
                <a:hlinkClick r:id="rId4" invalidUrl="" action="" tgtFrame="" tooltip="" history="1" highlightClick="0" endSnd="0">
                  <a:extLst>
                    <a:ext uri="{A12FA001-AC4F-418D-AE19-62706E023703}">
                      <ahyp:hlinkClr xmlns:ahyp="http://schemas.microsoft.com/office/drawing/2018/hyperlinkcolor" val="tx"/>
                    </a:ext>
                  </a:extLst>
                </a:hlinkClick>
              </a:rPr>
              <a:t>GDACS オレンジ警報</a:t>
            </a:r>
            <a:endParaRPr lang="en-US" sz="850" dirty="0"/>
          </a:p>
        </p:txBody>
      </p:sp>
      <p:sp>
        <p:nvSpPr>
          <p:cNvPr id="8" name="Shape 4"/>
          <p:cNvSpPr/>
          <p:nvPr/>
        </p:nvSpPr>
        <p:spPr>
          <a:xfrm>
            <a:off x="10268712" y="6510528"/>
            <a:ext cx="1554480" cy="274320"/>
          </a:xfrm>
          <a:prstGeom prst="rect">
            <a:avLst/>
          </a:prstGeom>
          <a:solidFill>
            <a:srgbClr val="E8A317"/>
          </a:solidFill>
          <a:ln w="12700">
            <a:solidFill>
              <a:srgbClr val="E8A317"/>
            </a:solidFill>
            <a:prstDash val="solid"/>
          </a:ln>
        </p:spPr>
      </p:sp>
      <p:sp>
        <p:nvSpPr>
          <p:cNvPr id="9" name="Text 5"/>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Meiryo" pitchFamily="34" charset="0"/>
                <a:ea typeface="Meiryo" pitchFamily="34" charset="-122"/>
                <a:cs typeface="Meiryo" pitchFamily="34" charset="-120"/>
              </a:rPr>
              <a:t>ADRC  12/08/2026</a:t>
            </a:r>
            <a:endParaRPr lang="en-US" sz="950" dirty="0"/>
          </a:p>
        </p:txBody>
      </p:sp>
      <p:sp>
        <p:nvSpPr>
          <p:cNvPr id="10" name="Text 6"/>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Meiryo" pitchFamily="34" charset="0"/>
                <a:ea typeface="Meiryo" pitchFamily="34" charset="-122"/>
                <a:cs typeface="Meiryo" pitchFamily="34" charset="-120"/>
              </a:rPr>
              <a:t>18</a:t>
            </a:r>
            <a:endParaRPr lang="en-US" sz="9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1900" b="1" dirty="0">
                <a:solidFill>
                  <a:srgbClr val="1F3864"/>
                </a:solidFill>
                <a:latin typeface="Meiryo" pitchFamily="34" charset="0"/>
                <a:ea typeface="Meiryo" pitchFamily="34" charset="-122"/>
                <a:cs typeface="Meiryo" pitchFamily="34" charset="-120"/>
              </a:rPr>
              <a:t>コペルニクスEMS ラピッドマッピング：EMSR916</a:t>
            </a:r>
            <a:endParaRPr lang="en-US" sz="19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pic>
        <p:nvPicPr>
          <p:cNvPr id="4" name="Image 1" descr="/home/user/whatsmap/reports/colombia_eq_20260810/images/emsr916_manual.jpg">    </p:cNvPr>
          <p:cNvPicPr>
            <a:picLocks noChangeAspect="1"/>
          </p:cNvPicPr>
          <p:nvPr/>
        </p:nvPicPr>
        <p:blipFill>
          <a:blip r:embed="rId2"/>
          <a:stretch>
            <a:fillRect/>
          </a:stretch>
        </p:blipFill>
        <p:spPr>
          <a:xfrm>
            <a:off x="365760" y="1318736"/>
            <a:ext cx="6858000" cy="4037647"/>
          </a:xfrm>
          <a:prstGeom prst="rect">
            <a:avLst/>
          </a:prstGeom>
        </p:spPr>
      </p:pic>
      <p:sp>
        <p:nvSpPr>
          <p:cNvPr id="5" name="Text 1"/>
          <p:cNvSpPr/>
          <p:nvPr/>
        </p:nvSpPr>
        <p:spPr>
          <a:xfrm>
            <a:off x="365760" y="5669280"/>
            <a:ext cx="6858000" cy="201168"/>
          </a:xfrm>
          <a:prstGeom prst="rect">
            <a:avLst/>
          </a:prstGeom>
          <a:noFill/>
          <a:ln/>
        </p:spPr>
        <p:txBody>
          <a:bodyPr wrap="square" lIns="0" tIns="0" rIns="0" bIns="0" rtlCol="0" anchor="ctr"/>
          <a:lstStyle/>
          <a:p>
            <a:pPr algn="ctr" indent="0" marL="0">
              <a:buNone/>
            </a:pPr>
            <a:r>
              <a:rPr lang="en-US" sz="800" dirty="0">
                <a:solidFill>
                  <a:srgbClr val="6A6A6A"/>
                </a:solidFill>
                <a:latin typeface="Meiryo" pitchFamily="34" charset="0"/>
                <a:ea typeface="Meiryo" pitchFamily="34" charset="-122"/>
                <a:cs typeface="Meiryo" pitchFamily="34" charset="-120"/>
              </a:rPr>
              <a:t>発動ページ（© Copernicus EMS）</a:t>
            </a:r>
            <a:pPr algn="ctr" indent="0" marL="0">
              <a:buNone/>
            </a:pPr>
            <a:r>
              <a:rPr lang="en-US" sz="700" u="sng" dirty="0">
                <a:solidFill>
                  <a:srgbClr val="0563C1"/>
                </a:solidFill>
                <a:latin typeface="Meiryo" pitchFamily="34" charset="0"/>
                <a:ea typeface="Meiryo" pitchFamily="34" charset="-122"/>
                <a:cs typeface="Meiryo" pitchFamily="34" charset="-120"/>
                <a:hlinkClick r:id="rId3" invalidUrl="" action="" tgtFrame="" tooltip="" history="1" highlightClick="0" endSnd="0">
                  <a:extLst>
                    <a:ext uri="{A12FA001-AC4F-418D-AE19-62706E023703}">
                      <ahyp:hlinkClr xmlns:ahyp="http://schemas.microsoft.com/office/drawing/2018/hyperlinkcolor" val="tx"/>
                    </a:ext>
                  </a:extLst>
                </a:hlinkClick>
              </a:rPr>
              <a:t>  —  https://mapping.emergency.copernicus.eu/activations/EMSR916/</a:t>
            </a:r>
            <a:endParaRPr lang="en-US" sz="800" dirty="0"/>
          </a:p>
        </p:txBody>
      </p:sp>
      <p:graphicFrame>
        <p:nvGraphicFramePr>
          <p:cNvPr id="20" name="Table 0"/>
          <p:cNvGraphicFramePr>
            <a:graphicFrameLocks noGrp="1"/>
          </p:cNvGraphicFramePr>
          <p:nvPr>
            <p:extLst>
              <p:ext uri="{D42A27DB-BD31-4B8C-83A1-F6EECF244321}">
                <p14:modId xmlns:p14="http://schemas.microsoft.com/office/powerpoint/2010/main" val="1579011935"/>
              </p:ext>
            </p:extLst>
          </p:nvPr>
        </p:nvGraphicFramePr>
        <p:xfrm>
          <a:off x="7406640" y="1024128"/>
          <a:ext cx="4389120" cy="914400"/>
        </p:xfrm>
        <a:graphic>
          <a:graphicData uri="http://schemas.openxmlformats.org/drawingml/2006/table">
            <a:tbl>
              <a:tblPr/>
              <a:tblGrid>
                <a:gridCol w="1554480"/>
                <a:gridCol w="2834640"/>
              </a:tblGrid>
              <a:tr h="329184">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項目</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値</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329184">
                <a:tc>
                  <a:txBody>
                    <a:bodyPr/>
                    <a:lstStyle/>
                    <a:p>
                      <a:pPr algn="l" indent="0" marL="0">
                        <a:buNone/>
                      </a:pPr>
                      <a:r>
                        <a:rPr lang="en-US" sz="950" b="1" dirty="0">
                          <a:solidFill>
                            <a:srgbClr val="1F3864"/>
                          </a:solidFill>
                          <a:latin typeface="Meiryo" pitchFamily="34" charset="0"/>
                          <a:ea typeface="Meiryo" pitchFamily="34" charset="-122"/>
                          <a:cs typeface="Meiryo" pitchFamily="34" charset="-120"/>
                        </a:rPr>
                        <a:t>発動番号</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EMSR916 — Earthquake in Colombia</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29184">
                <a:tc>
                  <a:txBody>
                    <a:bodyPr/>
                    <a:lstStyle/>
                    <a:p>
                      <a:pPr algn="l" indent="0" marL="0">
                        <a:buNone/>
                      </a:pPr>
                      <a:r>
                        <a:rPr lang="en-US" sz="950" b="1" dirty="0">
                          <a:solidFill>
                            <a:srgbClr val="1F3864"/>
                          </a:solidFill>
                          <a:latin typeface="Meiryo" pitchFamily="34" charset="0"/>
                          <a:ea typeface="Meiryo" pitchFamily="34" charset="-122"/>
                          <a:cs typeface="Meiryo" pitchFamily="34" charset="-120"/>
                        </a:rPr>
                        <a:t>事象発生</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10/08/2026 afternoon (UTC)</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29184">
                <a:tc>
                  <a:txBody>
                    <a:bodyPr/>
                    <a:lstStyle/>
                    <a:p>
                      <a:pPr algn="l" indent="0" marL="0">
                        <a:buNone/>
                      </a:pPr>
                      <a:r>
                        <a:rPr lang="en-US" sz="950" b="1" dirty="0">
                          <a:solidFill>
                            <a:srgbClr val="1F3864"/>
                          </a:solidFill>
                          <a:latin typeface="Meiryo" pitchFamily="34" charset="0"/>
                          <a:ea typeface="Meiryo" pitchFamily="34" charset="-122"/>
                          <a:cs typeface="Meiryo" pitchFamily="34" charset="-120"/>
                        </a:rPr>
                        <a:t>発動時刻</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10/08/2026, 17:13 (UTC) = 12:13 COT</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29184">
                <a:tc>
                  <a:txBody>
                    <a:bodyPr/>
                    <a:lstStyle/>
                    <a:p>
                      <a:pPr algn="l" indent="0" marL="0">
                        <a:buNone/>
                      </a:pPr>
                      <a:r>
                        <a:rPr lang="en-US" sz="950" b="1" dirty="0">
                          <a:solidFill>
                            <a:srgbClr val="1F3864"/>
                          </a:solidFill>
                          <a:latin typeface="Meiryo" pitchFamily="34" charset="0"/>
                          <a:ea typeface="Meiryo" pitchFamily="34" charset="-122"/>
                          <a:cs typeface="Meiryo" pitchFamily="34" charset="-120"/>
                        </a:rPr>
                        <a:t>事象種別</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Earthquake / Ground shaking</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29184">
                <a:tc>
                  <a:txBody>
                    <a:bodyPr/>
                    <a:lstStyle/>
                    <a:p>
                      <a:pPr algn="l" indent="0" marL="0">
                        <a:buNone/>
                      </a:pPr>
                      <a:r>
                        <a:rPr lang="en-US" sz="950" b="1" dirty="0">
                          <a:solidFill>
                            <a:srgbClr val="1F3864"/>
                          </a:solidFill>
                          <a:latin typeface="Meiryo" pitchFamily="34" charset="0"/>
                          <a:ea typeface="Meiryo" pitchFamily="34" charset="-122"/>
                          <a:cs typeface="Meiryo" pitchFamily="34" charset="-120"/>
                        </a:rPr>
                        <a:t>対象国</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Colombia</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29184">
                <a:tc>
                  <a:txBody>
                    <a:bodyPr/>
                    <a:lstStyle/>
                    <a:p>
                      <a:pPr algn="l" indent="0" marL="0">
                        <a:buNone/>
                      </a:pPr>
                      <a:r>
                        <a:rPr lang="en-US" sz="950" b="1" dirty="0">
                          <a:solidFill>
                            <a:srgbClr val="1F3864"/>
                          </a:solidFill>
                          <a:latin typeface="Meiryo" pitchFamily="34" charset="0"/>
                          <a:ea typeface="Meiryo" pitchFamily="34" charset="-122"/>
                          <a:cs typeface="Meiryo" pitchFamily="34" charset="-120"/>
                        </a:rPr>
                        <a:t>要請者</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EC Services | DG ECHO</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29184">
                <a:tc>
                  <a:txBody>
                    <a:bodyPr/>
                    <a:lstStyle/>
                    <a:p>
                      <a:pPr algn="l" indent="0" marL="0">
                        <a:buNone/>
                      </a:pPr>
                      <a:r>
                        <a:rPr lang="en-US" sz="950" b="1" dirty="0">
                          <a:solidFill>
                            <a:srgbClr val="1F3864"/>
                          </a:solidFill>
                          <a:latin typeface="Meiryo" pitchFamily="34" charset="0"/>
                          <a:ea typeface="Meiryo" pitchFamily="34" charset="-122"/>
                          <a:cs typeface="Meiryo" pitchFamily="34" charset="-120"/>
                        </a:rPr>
                        <a:t>成果物</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3 AOIs · 3 products · 0 maps</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29184">
                <a:tc>
                  <a:txBody>
                    <a:bodyPr/>
                    <a:lstStyle/>
                    <a:p>
                      <a:pPr algn="l" indent="0" marL="0">
                        <a:buNone/>
                      </a:pPr>
                      <a:r>
                        <a:rPr lang="en-US" sz="950" b="1" dirty="0">
                          <a:solidFill>
                            <a:srgbClr val="1F3864"/>
                          </a:solidFill>
                          <a:latin typeface="Meiryo" pitchFamily="34" charset="0"/>
                          <a:ea typeface="Meiryo" pitchFamily="34" charset="-122"/>
                          <a:cs typeface="Meiryo" pitchFamily="34" charset="-120"/>
                        </a:rPr>
                        <a:t>状況</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ONGOING</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bl>
          </a:graphicData>
        </a:graphic>
      </p:graphicFrame>
      <p:sp>
        <p:nvSpPr>
          <p:cNvPr id="7" name="Text 2"/>
          <p:cNvSpPr/>
          <p:nvPr/>
        </p:nvSpPr>
        <p:spPr>
          <a:xfrm>
            <a:off x="7406640" y="4041648"/>
            <a:ext cx="4389120" cy="1463040"/>
          </a:xfrm>
          <a:prstGeom prst="rect">
            <a:avLst/>
          </a:prstGeom>
          <a:noFill/>
          <a:ln/>
        </p:spPr>
        <p:txBody>
          <a:bodyPr wrap="square" lIns="0" tIns="0" rIns="0" bIns="0" rtlCol="0" anchor="t"/>
          <a:lstStyle/>
          <a:p>
            <a:pPr algn="l" indent="0" marL="0">
              <a:buNone/>
            </a:pPr>
            <a:r>
              <a:rPr lang="en-US" sz="950" b="1" dirty="0">
                <a:solidFill>
                  <a:srgbClr val="1F3864"/>
                </a:solidFill>
                <a:latin typeface="Meiryo" pitchFamily="34" charset="0"/>
                <a:ea typeface="Meiryo" pitchFamily="34" charset="-122"/>
                <a:cs typeface="Meiryo" pitchFamily="34" charset="-120"/>
              </a:rPr>
              <a:t>発動理由（原文）
</a:t>
            </a:r>
            <a:pPr algn="l" indent="0" marL="0">
              <a:buNone/>
            </a:pPr>
            <a:r>
              <a:rPr lang="en-US" sz="850" i="1" dirty="0">
                <a:solidFill>
                  <a:srgbClr val="222222"/>
                </a:solidFill>
                <a:latin typeface="Meiryo" pitchFamily="34" charset="0"/>
                <a:ea typeface="Meiryo" pitchFamily="34" charset="-122"/>
                <a:cs typeface="Meiryo" pitchFamily="34" charset="-120"/>
              </a:rPr>
              <a:t>「2026年8月10日12:30 UTC、マグニチュード7.4の大地震がコロンビア西部および中部に影響を与えたと報告されている。震央はサンホセ・デル・パルマル付近。キブド、ペレイラ、マニサレス、カリを含む複数の都市で著しい被害が生じ、建物の倒壊が報告されている。コペルニクスEMSのラピッドマッピングに対し、地震被害評価の緊急マッピングの提供が要請された。」</a:t>
            </a:r>
            <a:endParaRPr lang="en-US" sz="950" dirty="0"/>
          </a:p>
        </p:txBody>
      </p:sp>
      <p:sp>
        <p:nvSpPr>
          <p:cNvPr id="8" name="Shape 3"/>
          <p:cNvSpPr/>
          <p:nvPr/>
        </p:nvSpPr>
        <p:spPr>
          <a:xfrm>
            <a:off x="7406640" y="5541264"/>
            <a:ext cx="4389120" cy="566928"/>
          </a:xfrm>
          <a:prstGeom prst="roundRect">
            <a:avLst>
              <a:gd name="adj" fmla="val 8065"/>
            </a:avLst>
          </a:prstGeom>
          <a:solidFill>
            <a:srgbClr val="FCE9DC"/>
          </a:solidFill>
          <a:ln w="12700">
            <a:solidFill>
              <a:srgbClr val="E8A317"/>
            </a:solidFill>
            <a:prstDash val="solid"/>
          </a:ln>
        </p:spPr>
      </p:sp>
      <p:sp>
        <p:nvSpPr>
          <p:cNvPr id="9" name="Text 4"/>
          <p:cNvSpPr/>
          <p:nvPr/>
        </p:nvSpPr>
        <p:spPr>
          <a:xfrm>
            <a:off x="7571232" y="5596128"/>
            <a:ext cx="4059936" cy="457200"/>
          </a:xfrm>
          <a:prstGeom prst="rect">
            <a:avLst/>
          </a:prstGeom>
          <a:noFill/>
          <a:ln/>
        </p:spPr>
        <p:txBody>
          <a:bodyPr wrap="square" lIns="25400" tIns="25400" rIns="25400" bIns="25400" rtlCol="0" anchor="ctr"/>
          <a:lstStyle/>
          <a:p>
            <a:pPr algn="l" indent="0" marL="0">
              <a:buNone/>
            </a:pPr>
            <a:r>
              <a:rPr lang="en-US" sz="1050" b="1" dirty="0">
                <a:solidFill>
                  <a:srgbClr val="9A3B12"/>
                </a:solidFill>
                <a:latin typeface="Meiryo" pitchFamily="34" charset="0"/>
                <a:ea typeface="Meiryo" pitchFamily="34" charset="-122"/>
                <a:cs typeface="Meiryo" pitchFamily="34" charset="-120"/>
              </a:rPr>
              <a:t>ラピッドマッピングの内容
</a:t>
            </a:r>
            <a:pPr algn="l" indent="0" marL="0">
              <a:buNone/>
            </a:pPr>
            <a:r>
              <a:rPr lang="en-US" sz="950" dirty="0">
                <a:solidFill>
                  <a:srgbClr val="7A2E0E"/>
                </a:solidFill>
                <a:latin typeface="Meiryo" pitchFamily="34" charset="0"/>
                <a:ea typeface="Meiryo" pitchFamily="34" charset="-122"/>
                <a:cs typeface="Meiryo" pitchFamily="34" charset="-120"/>
              </a:rPr>
              <a:t>ラピッドマッピングは、全土ではなく選定された関心領域（AOI）について、参照図と被害グレーディング図を提供する。成果物は作成され次第、発動ページで公開され、自由に利用できる。</a:t>
            </a:r>
            <a:endParaRPr lang="en-US" sz="1050" dirty="0"/>
          </a:p>
        </p:txBody>
      </p:sp>
      <p:sp>
        <p:nvSpPr>
          <p:cNvPr id="10" name="Text 5"/>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Meiryo" pitchFamily="34" charset="0"/>
                <a:ea typeface="Meiryo" pitchFamily="34" charset="-122"/>
                <a:cs typeface="Meiryo" pitchFamily="34" charset="-120"/>
              </a:rPr>
              <a:t>出典：</a:t>
            </a:r>
            <a:pPr algn="l" indent="0" marL="0">
              <a:buNone/>
            </a:pPr>
            <a:r>
              <a:rPr lang="en-US" sz="850" u="sng" dirty="0">
                <a:solidFill>
                  <a:srgbClr val="0563C1"/>
                </a:solidFill>
                <a:latin typeface="Meiryo" pitchFamily="34" charset="0"/>
                <a:ea typeface="Meiryo" pitchFamily="34" charset="-122"/>
                <a:cs typeface="Meiryo" pitchFamily="34" charset="-120"/>
                <a:hlinkClick r:id="rId4" invalidUrl="" action="" tgtFrame="" tooltip="" history="1" highlightClick="0" endSnd="0">
                  <a:extLst>
                    <a:ext uri="{A12FA001-AC4F-418D-AE19-62706E023703}">
                      <ahyp:hlinkClr xmlns:ahyp="http://schemas.microsoft.com/office/drawing/2018/hyperlinkcolor" val="tx"/>
                    </a:ext>
                  </a:extLst>
                </a:hlinkClick>
              </a:rPr>
              <a:t>コペルニクスEMS EMSR916「Earthquake in Colombia」（発動）</a:t>
            </a:r>
            <a:pPr algn="l" indent="0" marL="0">
              <a:buNone/>
            </a:pPr>
            <a:r>
              <a:rPr lang="en-US" sz="850" dirty="0">
                <a:solidFill>
                  <a:srgbClr val="6A6A6A"/>
                </a:solidFill>
                <a:latin typeface="Meiryo" pitchFamily="34" charset="0"/>
                <a:ea typeface="Meiryo" pitchFamily="34" charset="-122"/>
                <a:cs typeface="Meiryo" pitchFamily="34" charset="-120"/>
              </a:rPr>
              <a:t>   ·   </a:t>
            </a:r>
            <a:pPr algn="l" indent="0" marL="0">
              <a:buNone/>
            </a:pPr>
            <a:r>
              <a:rPr lang="en-US" sz="850" u="sng" dirty="0">
                <a:solidFill>
                  <a:srgbClr val="0563C1"/>
                </a:solidFill>
                <a:latin typeface="Meiryo" pitchFamily="34" charset="0"/>
                <a:ea typeface="Meiryo" pitchFamily="34" charset="-122"/>
                <a:cs typeface="Meiryo" pitchFamily="34" charset="-120"/>
                <a:hlinkClick r:id="rId5" invalidUrl="" action="" tgtFrame="" tooltip="" history="1" highlightClick="0" endSnd="0">
                  <a:extLst>
                    <a:ext uri="{A12FA001-AC4F-418D-AE19-62706E023703}">
                      <ahyp:hlinkClr xmlns:ahyp="http://schemas.microsoft.com/office/drawing/2018/hyperlinkcolor" val="tx"/>
                    </a:ext>
                  </a:extLst>
                </a:hlinkClick>
              </a:rPr>
              <a:t>欧州委員会 コロンビア支援・コペルニクス発動</a:t>
            </a:r>
            <a:endParaRPr lang="en-US" sz="850" dirty="0"/>
          </a:p>
        </p:txBody>
      </p:sp>
      <p:sp>
        <p:nvSpPr>
          <p:cNvPr id="11" name="Shape 6"/>
          <p:cNvSpPr/>
          <p:nvPr/>
        </p:nvSpPr>
        <p:spPr>
          <a:xfrm>
            <a:off x="10268712" y="6510528"/>
            <a:ext cx="1554480" cy="274320"/>
          </a:xfrm>
          <a:prstGeom prst="rect">
            <a:avLst/>
          </a:prstGeom>
          <a:solidFill>
            <a:srgbClr val="E8A317"/>
          </a:solidFill>
          <a:ln w="12700">
            <a:solidFill>
              <a:srgbClr val="E8A317"/>
            </a:solidFill>
            <a:prstDash val="solid"/>
          </a:ln>
        </p:spPr>
      </p:sp>
      <p:sp>
        <p:nvSpPr>
          <p:cNvPr id="12" name="Text 7"/>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Meiryo" pitchFamily="34" charset="0"/>
                <a:ea typeface="Meiryo" pitchFamily="34" charset="-122"/>
                <a:cs typeface="Meiryo" pitchFamily="34" charset="-120"/>
              </a:rPr>
              <a:t>ADRC  12/08/2026</a:t>
            </a:r>
            <a:endParaRPr lang="en-US" sz="950" dirty="0"/>
          </a:p>
        </p:txBody>
      </p:sp>
      <p:sp>
        <p:nvSpPr>
          <p:cNvPr id="13" name="Text 8"/>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Meiryo" pitchFamily="34" charset="0"/>
                <a:ea typeface="Meiryo" pitchFamily="34" charset="-122"/>
                <a:cs typeface="Meiryo" pitchFamily="34" charset="-120"/>
              </a:rPr>
              <a:t>19</a:t>
            </a:r>
            <a:endParaRPr lang="en-US" sz="9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1900" b="1" dirty="0">
                <a:solidFill>
                  <a:srgbClr val="1F3864"/>
                </a:solidFill>
                <a:latin typeface="Meiryo" pitchFamily="34" charset="0"/>
                <a:ea typeface="Meiryo" pitchFamily="34" charset="-122"/>
                <a:cs typeface="Meiryo" pitchFamily="34" charset="-120"/>
              </a:rPr>
              <a:t>コロンビアの災害リスク管理体制</a:t>
            </a:r>
            <a:endParaRPr lang="en-US" sz="19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1024128"/>
            <a:ext cx="11430000" cy="868680"/>
          </a:xfrm>
          <a:prstGeom prst="rect">
            <a:avLst/>
          </a:prstGeom>
          <a:noFill/>
          <a:ln/>
        </p:spPr>
        <p:txBody>
          <a:bodyPr wrap="square" lIns="50800" tIns="50800" rIns="50800" bIns="50800" rtlCol="0" anchor="t"/>
          <a:lstStyle/>
          <a:p>
            <a:pPr indent="0" marL="0">
              <a:buNone/>
            </a:pPr>
            <a:r>
              <a:rPr lang="en-US" sz="1050" dirty="0">
                <a:solidFill>
                  <a:srgbClr val="222222"/>
                </a:solidFill>
                <a:latin typeface="Meiryo" pitchFamily="34" charset="0"/>
                <a:ea typeface="Meiryo" pitchFamily="34" charset="-122"/>
                <a:cs typeface="Meiryo" pitchFamily="34" charset="-120"/>
              </a:rPr>
              <a:t>コロンビアは1985年のアルメロ火山災害後、さらに1999年アルメニア地震を経て防災体制を再構築してきた。2012年法律第1523号により国家災害リスク管理システム（SNGRD）が創設され、大統領府直属の国家災害リスク管理ユニット（UNGRD）が統括している。</a:t>
            </a:r>
            <a:endParaRPr lang="en-US" sz="1050" dirty="0"/>
          </a:p>
        </p:txBody>
      </p:sp>
      <p:sp>
        <p:nvSpPr>
          <p:cNvPr id="5" name="Text 2"/>
          <p:cNvSpPr/>
          <p:nvPr/>
        </p:nvSpPr>
        <p:spPr>
          <a:xfrm>
            <a:off x="365760" y="1956816"/>
            <a:ext cx="11430000" cy="4114800"/>
          </a:xfrm>
          <a:prstGeom prst="rect">
            <a:avLst/>
          </a:prstGeom>
          <a:noFill/>
          <a:ln/>
        </p:spPr>
        <p:txBody>
          <a:bodyPr wrap="square" lIns="50800" tIns="50800" rIns="50800" bIns="50800" rtlCol="0" anchor="t"/>
          <a:lstStyle/>
          <a:p>
            <a:pPr algn="l" marL="342900" indent="-342900">
              <a:spcAft>
                <a:spcPts val="500"/>
              </a:spcAft>
              <a:buSzPct val="100000"/>
              <a:buChar char="•"/>
            </a:pPr>
            <a:r>
              <a:rPr lang="en-US" sz="940" dirty="0">
                <a:solidFill>
                  <a:srgbClr val="222222"/>
                </a:solidFill>
                <a:latin typeface="Meiryo" pitchFamily="34" charset="0"/>
                <a:ea typeface="Meiryo" pitchFamily="34" charset="-122"/>
                <a:cs typeface="Meiryo" pitchFamily="34" charset="-120"/>
              </a:rPr>
              <a:t>2012年法律第1523号 — 災害リスク管理の国家政策。SNGRDを規定し、リスク管理をすべての公的機関（および一部の民間主体）の責務とした。</a:t>
            </a:r>
            <a:endParaRPr lang="en-US" sz="940" dirty="0"/>
          </a:p>
          <a:p>
            <a:pPr algn="l" marL="342900" indent="-342900">
              <a:spcAft>
                <a:spcPts val="500"/>
              </a:spcAft>
              <a:buSzPct val="100000"/>
              <a:buChar char="•"/>
            </a:pPr>
            <a:r>
              <a:rPr lang="en-US" sz="940" dirty="0">
                <a:solidFill>
                  <a:srgbClr val="222222"/>
                </a:solidFill>
                <a:latin typeface="Meiryo" pitchFamily="34" charset="0"/>
                <a:ea typeface="Meiryo" pitchFamily="34" charset="-122"/>
                <a:cs typeface="Meiryo" pitchFamily="34" charset="-120"/>
              </a:rPr>
              <a:t>UNGRD — 大統領府直属の調整機関。全国的な応急対応、国家防災基金（FNGRD）、国家情報システムを運用する。</a:t>
            </a:r>
            <a:endParaRPr lang="en-US" sz="940" dirty="0"/>
          </a:p>
          <a:p>
            <a:pPr algn="l" marL="342900" indent="-342900">
              <a:spcAft>
                <a:spcPts val="500"/>
              </a:spcAft>
              <a:buSzPct val="100000"/>
              <a:buChar char="•"/>
            </a:pPr>
            <a:r>
              <a:rPr lang="en-US" sz="940" dirty="0">
                <a:solidFill>
                  <a:srgbClr val="222222"/>
                </a:solidFill>
                <a:latin typeface="Meiryo" pitchFamily="34" charset="0"/>
                <a:ea typeface="Meiryo" pitchFamily="34" charset="-122"/>
                <a:cs typeface="Meiryo" pitchFamily="34" charset="-120"/>
              </a:rPr>
              <a:t>県・市町村のリスク管理協議会（CDGRD／CMGRD）が初動を担い、地方の能力を超える場合にUNGRDが増強する。</a:t>
            </a:r>
            <a:endParaRPr lang="en-US" sz="940" dirty="0"/>
          </a:p>
          <a:p>
            <a:pPr algn="l" marL="342900" indent="-342900">
              <a:spcAft>
                <a:spcPts val="500"/>
              </a:spcAft>
              <a:buSzPct val="100000"/>
              <a:buChar char="•"/>
            </a:pPr>
            <a:r>
              <a:rPr lang="en-US" sz="940" dirty="0">
                <a:solidFill>
                  <a:srgbClr val="222222"/>
                </a:solidFill>
                <a:latin typeface="Meiryo" pitchFamily="34" charset="0"/>
                <a:ea typeface="Meiryo" pitchFamily="34" charset="-122"/>
                <a:cs typeface="Meiryo" pitchFamily="34" charset="-120"/>
              </a:rPr>
              <a:t>PNGRD 2015-2030 — 国家災害リスク管理計画。2016年大統領令第308号で採択され、2022年8月3日の第1478号で更新。仙台防災枠組に整合し、UNGRDが年次で進捗を監理する。</a:t>
            </a:r>
            <a:endParaRPr lang="en-US" sz="940" dirty="0"/>
          </a:p>
          <a:p>
            <a:pPr algn="l" marL="342900" indent="-342900">
              <a:spcAft>
                <a:spcPts val="500"/>
              </a:spcAft>
              <a:buSzPct val="100000"/>
              <a:buChar char="•"/>
            </a:pPr>
            <a:r>
              <a:rPr lang="en-US" sz="940" dirty="0">
                <a:solidFill>
                  <a:srgbClr val="222222"/>
                </a:solidFill>
                <a:latin typeface="Meiryo" pitchFamily="34" charset="0"/>
                <a:ea typeface="Meiryo" pitchFamily="34" charset="-122"/>
                <a:cs typeface="Meiryo" pitchFamily="34" charset="-120"/>
              </a:rPr>
              <a:t>NSR-10 — 国の耐震設計基準（2010年施行、その後も技術付属書を更新）。現行基準以前の建物や、非エンジニアリングの組積造・土造建築が依然としてリスクの主要因である。</a:t>
            </a:r>
            <a:endParaRPr lang="en-US" sz="940" dirty="0"/>
          </a:p>
          <a:p>
            <a:pPr algn="l" marL="342900" indent="-342900">
              <a:spcAft>
                <a:spcPts val="500"/>
              </a:spcAft>
              <a:buSzPct val="100000"/>
              <a:buChar char="•"/>
            </a:pPr>
            <a:r>
              <a:rPr lang="en-US" sz="940" dirty="0">
                <a:solidFill>
                  <a:srgbClr val="222222"/>
                </a:solidFill>
                <a:latin typeface="Meiryo" pitchFamily="34" charset="0"/>
                <a:ea typeface="Meiryo" pitchFamily="34" charset="-122"/>
                <a:cs typeface="Meiryo" pitchFamily="34" charset="-120"/>
              </a:rPr>
              <a:t>ボゴタ、メデジン、カリ、ペレイラ、マニサレス、アルメニアなど主要都市で地震動微地形区分（マイクロゾーニング）が整備されている。1999年地震の直接の教訓である。カリでは2014年市令第411.0.20.0158号により構造設計に対して拘束力を持つ。</a:t>
            </a:r>
            <a:endParaRPr lang="en-US" sz="940" dirty="0"/>
          </a:p>
          <a:p>
            <a:pPr algn="l" marL="342900" indent="-342900">
              <a:spcAft>
                <a:spcPts val="500"/>
              </a:spcAft>
              <a:buSzPct val="100000"/>
              <a:buChar char="•"/>
            </a:pPr>
            <a:r>
              <a:rPr lang="en-US" sz="940" dirty="0">
                <a:solidFill>
                  <a:srgbClr val="222222"/>
                </a:solidFill>
                <a:latin typeface="Meiryo" pitchFamily="34" charset="0"/>
                <a:ea typeface="Meiryo" pitchFamily="34" charset="-122"/>
                <a:cs typeface="Meiryo" pitchFamily="34" charset="-120"/>
              </a:rPr>
              <a:t>SGCが国家地震観測網と強震観測網を運用し、数分以内に公表情報を発表している。</a:t>
            </a:r>
            <a:endParaRPr lang="en-US" sz="940" dirty="0"/>
          </a:p>
          <a:p>
            <a:pPr algn="l" marL="342900" indent="-342900">
              <a:spcAft>
                <a:spcPts val="500"/>
              </a:spcAft>
              <a:buSzPct val="100000"/>
              <a:buChar char="•"/>
            </a:pPr>
            <a:r>
              <a:rPr lang="en-US" sz="940" dirty="0">
                <a:solidFill>
                  <a:srgbClr val="222222"/>
                </a:solidFill>
                <a:latin typeface="Meiryo" pitchFamily="34" charset="0"/>
                <a:ea typeface="Meiryo" pitchFamily="34" charset="-122"/>
                <a:cs typeface="Meiryo" pitchFamily="34" charset="-120"/>
              </a:rPr>
              <a:t>各都市は国の制度と並行して独自の仕組みを運用している。カリの住民参加型早期警戒システムSATIC（2018年〜、2022年市令第0858号で制度化）、メデジンのDAGRDと市防災計画、法律1523号に基づく市町村防災基金などである。</a:t>
            </a:r>
            <a:endParaRPr lang="en-US" sz="940" dirty="0"/>
          </a:p>
        </p:txBody>
      </p:sp>
      <p:sp>
        <p:nvSpPr>
          <p:cNvPr id="6" name="Text 3"/>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Meiryo" pitchFamily="34" charset="0"/>
                <a:ea typeface="Meiryo" pitchFamily="34" charset="-122"/>
                <a:cs typeface="Meiryo" pitchFamily="34" charset="-120"/>
              </a:rPr>
              <a:t>出典：</a:t>
            </a:r>
            <a:pPr algn="l" indent="0" marL="0">
              <a:buNone/>
            </a:pPr>
            <a:r>
              <a:rPr lang="en-US" sz="850" u="sng" dirty="0">
                <a:solidFill>
                  <a:srgbClr val="0563C1"/>
                </a:solidFill>
                <a:latin typeface="Meiryo" pitchFamily="34" charset="0"/>
                <a:ea typeface="Meiryo" pitchFamily="34" charset="-122"/>
                <a:cs typeface="Meiryo" pitchFamily="34" charset="-120"/>
                <a:hlinkClick r:id="rId2" invalidUrl="" action="" tgtFrame="" tooltip="" history="1" highlightClick="0" endSnd="0">
                  <a:extLst>
                    <a:ext uri="{A12FA001-AC4F-418D-AE19-62706E023703}">
                      <ahyp:hlinkClr xmlns:ahyp="http://schemas.microsoft.com/office/drawing/2018/hyperlinkcolor" val="tx"/>
                    </a:ext>
                  </a:extLst>
                </a:hlinkClick>
              </a:rPr>
              <a:t>UN-SPIDER UNGRD紹介</a:t>
            </a:r>
            <a:pPr algn="l" indent="0" marL="0">
              <a:buNone/>
            </a:pPr>
            <a:r>
              <a:rPr lang="en-US" sz="850" dirty="0">
                <a:solidFill>
                  <a:srgbClr val="6A6A6A"/>
                </a:solidFill>
                <a:latin typeface="Meiryo" pitchFamily="34" charset="0"/>
                <a:ea typeface="Meiryo" pitchFamily="34" charset="-122"/>
                <a:cs typeface="Meiryo" pitchFamily="34" charset="-120"/>
              </a:rPr>
              <a:t>   ·   </a:t>
            </a:r>
            <a:pPr algn="l" indent="0" marL="0">
              <a:buNone/>
            </a:pPr>
            <a:r>
              <a:rPr lang="en-US" sz="850" u="sng" dirty="0">
                <a:solidFill>
                  <a:srgbClr val="0563C1"/>
                </a:solidFill>
                <a:latin typeface="Meiryo" pitchFamily="34" charset="0"/>
                <a:ea typeface="Meiryo" pitchFamily="34" charset="-122"/>
                <a:cs typeface="Meiryo" pitchFamily="34" charset="-120"/>
                <a:hlinkClick r:id="rId3" invalidUrl="" action="" tgtFrame="" tooltip="" history="1" highlightClick="0" endSnd="0">
                  <a:extLst>
                    <a:ext uri="{A12FA001-AC4F-418D-AE19-62706E023703}">
                      <ahyp:hlinkClr xmlns:ahyp="http://schemas.microsoft.com/office/drawing/2018/hyperlinkcolor" val="tx"/>
                    </a:ext>
                  </a:extLst>
                </a:hlinkClick>
              </a:rPr>
              <a:t>UNGRD 国家災害リスク管理計画（PNGRD）</a:t>
            </a:r>
            <a:pPr algn="l" indent="0" marL="0">
              <a:buNone/>
            </a:pPr>
            <a:r>
              <a:rPr lang="en-US" sz="850" dirty="0">
                <a:solidFill>
                  <a:srgbClr val="6A6A6A"/>
                </a:solidFill>
                <a:latin typeface="Meiryo" pitchFamily="34" charset="0"/>
                <a:ea typeface="Meiryo" pitchFamily="34" charset="-122"/>
                <a:cs typeface="Meiryo" pitchFamily="34" charset="-120"/>
              </a:rPr>
              <a:t>   ·   </a:t>
            </a:r>
            <a:pPr algn="l" indent="0" marL="0">
              <a:buNone/>
            </a:pPr>
            <a:r>
              <a:rPr lang="en-US" sz="850" u="sng" dirty="0">
                <a:solidFill>
                  <a:srgbClr val="0563C1"/>
                </a:solidFill>
                <a:latin typeface="Meiryo" pitchFamily="34" charset="0"/>
                <a:ea typeface="Meiryo" pitchFamily="34" charset="-122"/>
                <a:cs typeface="Meiryo" pitchFamily="34" charset="-120"/>
                <a:hlinkClick r:id="rId4" invalidUrl="" action="" tgtFrame="" tooltip="" history="1" highlightClick="0" endSnd="0">
                  <a:extLst>
                    <a:ext uri="{A12FA001-AC4F-418D-AE19-62706E023703}">
                      <ahyp:hlinkClr xmlns:ahyp="http://schemas.microsoft.com/office/drawing/2018/hyperlinkcolor" val="tx"/>
                    </a:ext>
                  </a:extLst>
                </a:hlinkClick>
              </a:rPr>
              <a:t>2022年大統領令第1478号（PNGRD更新）</a:t>
            </a:r>
            <a:pPr algn="l" indent="0" marL="0">
              <a:buNone/>
            </a:pPr>
            <a:r>
              <a:rPr lang="en-US" sz="850" dirty="0">
                <a:solidFill>
                  <a:srgbClr val="6A6A6A"/>
                </a:solidFill>
                <a:latin typeface="Meiryo" pitchFamily="34" charset="0"/>
                <a:ea typeface="Meiryo" pitchFamily="34" charset="-122"/>
                <a:cs typeface="Meiryo" pitchFamily="34" charset="-120"/>
              </a:rPr>
              <a:t>   ·   </a:t>
            </a:r>
            <a:pPr algn="l" indent="0" marL="0">
              <a:buNone/>
            </a:pPr>
            <a:r>
              <a:rPr lang="en-US" sz="850" u="sng" dirty="0">
                <a:solidFill>
                  <a:srgbClr val="0563C1"/>
                </a:solidFill>
                <a:latin typeface="Meiryo" pitchFamily="34" charset="0"/>
                <a:ea typeface="Meiryo" pitchFamily="34" charset="-122"/>
                <a:cs typeface="Meiryo" pitchFamily="34" charset="-120"/>
                <a:hlinkClick r:id="rId5" invalidUrl="" action="" tgtFrame="" tooltip="" history="1" highlightClick="0" endSnd="0">
                  <a:extLst>
                    <a:ext uri="{A12FA001-AC4F-418D-AE19-62706E023703}">
                      <ahyp:hlinkClr xmlns:ahyp="http://schemas.microsoft.com/office/drawing/2018/hyperlinkcolor" val="tx"/>
                    </a:ext>
                  </a:extLst>
                </a:hlinkClick>
              </a:rPr>
              <a:t>SATIC カリ市の住民参加型早期警戒システム</a:t>
            </a:r>
            <a:endParaRPr lang="en-US" sz="850" dirty="0"/>
          </a:p>
        </p:txBody>
      </p:sp>
      <p:sp>
        <p:nvSpPr>
          <p:cNvPr id="7" name="Shape 4"/>
          <p:cNvSpPr/>
          <p:nvPr/>
        </p:nvSpPr>
        <p:spPr>
          <a:xfrm>
            <a:off x="10268712" y="6510528"/>
            <a:ext cx="1554480" cy="274320"/>
          </a:xfrm>
          <a:prstGeom prst="rect">
            <a:avLst/>
          </a:prstGeom>
          <a:solidFill>
            <a:srgbClr val="E8A317"/>
          </a:solidFill>
          <a:ln w="12700">
            <a:solidFill>
              <a:srgbClr val="E8A317"/>
            </a:solidFill>
            <a:prstDash val="solid"/>
          </a:ln>
        </p:spPr>
      </p:sp>
      <p:sp>
        <p:nvSpPr>
          <p:cNvPr id="8" name="Text 5"/>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Meiryo" pitchFamily="34" charset="0"/>
                <a:ea typeface="Meiryo" pitchFamily="34" charset="-122"/>
                <a:cs typeface="Meiryo" pitchFamily="34" charset="-120"/>
              </a:rPr>
              <a:t>ADRC  12/08/2026</a:t>
            </a:r>
            <a:endParaRPr lang="en-US" sz="950" dirty="0"/>
          </a:p>
        </p:txBody>
      </p:sp>
      <p:sp>
        <p:nvSpPr>
          <p:cNvPr id="9" name="Text 6"/>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Meiryo" pitchFamily="34" charset="0"/>
                <a:ea typeface="Meiryo" pitchFamily="34" charset="-122"/>
                <a:cs typeface="Meiryo" pitchFamily="34" charset="-120"/>
              </a:rPr>
              <a:t>20</a:t>
            </a:r>
            <a:endParaRPr lang="en-US" sz="9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1900" b="1" dirty="0">
                <a:solidFill>
                  <a:srgbClr val="1F3864"/>
                </a:solidFill>
                <a:latin typeface="Meiryo" pitchFamily="34" charset="0"/>
                <a:ea typeface="Meiryo" pitchFamily="34" charset="-122"/>
                <a:cs typeface="Meiryo" pitchFamily="34" charset="-120"/>
              </a:rPr>
              <a:t>1999年アルメニア（キンディオ）地震と復興</a:t>
            </a:r>
            <a:endParaRPr lang="en-US" sz="19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1024128"/>
            <a:ext cx="5852160" cy="1783080"/>
          </a:xfrm>
          <a:prstGeom prst="rect">
            <a:avLst/>
          </a:prstGeom>
          <a:noFill/>
          <a:ln/>
        </p:spPr>
        <p:txBody>
          <a:bodyPr wrap="square" lIns="50800" tIns="50800" rIns="50800" bIns="50800" rtlCol="0" anchor="t"/>
          <a:lstStyle/>
          <a:p>
            <a:pPr algn="l" indent="0" marL="0">
              <a:buNone/>
            </a:pPr>
            <a:r>
              <a:rPr lang="en-US" sz="1200" b="1" dirty="0">
                <a:solidFill>
                  <a:srgbClr val="1F3864"/>
                </a:solidFill>
                <a:latin typeface="Meiryo" pitchFamily="34" charset="0"/>
                <a:ea typeface="Meiryo" pitchFamily="34" charset="-122"/>
                <a:cs typeface="Meiryo" pitchFamily="34" charset="-120"/>
              </a:rPr>
              <a:t>1999年アルメニア（キンディオ）地震 — 同じコーヒー地帯
</a:t>
            </a:r>
            <a:pPr algn="l" indent="0" marL="0">
              <a:buNone/>
            </a:pPr>
            <a:r>
              <a:rPr lang="en-US" sz="1000" dirty="0">
                <a:solidFill>
                  <a:srgbClr val="222222"/>
                </a:solidFill>
                <a:latin typeface="Meiryo" pitchFamily="34" charset="0"/>
                <a:ea typeface="Meiryo" pitchFamily="34" charset="-122"/>
                <a:cs typeface="Meiryo" pitchFamily="34" charset="-120"/>
              </a:rPr>
              <a:t>1999年1月25日、深さ約30kmでM6.1〜6.2の地震がキンディオのコーヒー生産地帯を襲った。死者約1,185人、負傷者5,000人超、約5万棟が損壊・全壊し、アルメニア市では建物の約6割が倒壊または大破、20万人以上が住まいを失った。2026年の地震より規模ははるかに小さいが、浅く、都市に近かったため局所的な破壊力は格段に大きかった。</a:t>
            </a:r>
            <a:endParaRPr lang="en-US" sz="1200" dirty="0"/>
          </a:p>
        </p:txBody>
      </p:sp>
      <p:graphicFrame>
        <p:nvGraphicFramePr>
          <p:cNvPr id="22" name="Table 0"/>
          <p:cNvGraphicFramePr>
            <a:graphicFrameLocks noGrp="1"/>
          </p:cNvGraphicFramePr>
          <p:nvPr>
            <p:extLst>
              <p:ext uri="{D42A27DB-BD31-4B8C-83A1-F6EECF244321}">
                <p14:modId xmlns:p14="http://schemas.microsoft.com/office/powerpoint/2010/main" val="1579011935"/>
              </p:ext>
            </p:extLst>
          </p:nvPr>
        </p:nvGraphicFramePr>
        <p:xfrm>
          <a:off x="365760" y="2871216"/>
          <a:ext cx="5852160" cy="914400"/>
        </p:xfrm>
        <a:graphic>
          <a:graphicData uri="http://schemas.openxmlformats.org/drawingml/2006/table">
            <a:tbl>
              <a:tblPr/>
              <a:tblGrid>
                <a:gridCol w="2468880"/>
                <a:gridCol w="3383280"/>
              </a:tblGrid>
              <a:tr h="384048">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1999年の被害</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数値</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384048">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死者</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約1,185人</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84048">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負傷者</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5,000人超</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84048">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損壊・全壊建物</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約5万棟</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84048">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住まいを失った人</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20万人超</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84048">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コーヒー産業</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農園約8,000、加工施設約1,200が被害</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6" name="Text 2"/>
          <p:cNvSpPr/>
          <p:nvPr/>
        </p:nvSpPr>
        <p:spPr>
          <a:xfrm>
            <a:off x="6400800" y="1024128"/>
            <a:ext cx="5394960" cy="274320"/>
          </a:xfrm>
          <a:prstGeom prst="rect">
            <a:avLst/>
          </a:prstGeom>
          <a:noFill/>
          <a:ln/>
        </p:spPr>
        <p:txBody>
          <a:bodyPr wrap="square" lIns="50800" tIns="50800" rIns="50800" bIns="50800" rtlCol="0" anchor="ctr"/>
          <a:lstStyle/>
          <a:p>
            <a:pPr indent="0" marL="0">
              <a:buNone/>
            </a:pPr>
            <a:r>
              <a:rPr lang="en-US" sz="1200" b="1" dirty="0">
                <a:solidFill>
                  <a:srgbClr val="1F3864"/>
                </a:solidFill>
                <a:latin typeface="Meiryo" pitchFamily="34" charset="0"/>
                <a:ea typeface="Meiryo" pitchFamily="34" charset="-122"/>
                <a:cs typeface="Meiryo" pitchFamily="34" charset="-120"/>
              </a:rPr>
              <a:t>その後と教訓</a:t>
            </a:r>
            <a:endParaRPr lang="en-US" sz="1200" dirty="0"/>
          </a:p>
        </p:txBody>
      </p:sp>
      <p:sp>
        <p:nvSpPr>
          <p:cNvPr id="7" name="Text 3"/>
          <p:cNvSpPr/>
          <p:nvPr/>
        </p:nvSpPr>
        <p:spPr>
          <a:xfrm>
            <a:off x="6400800" y="1316736"/>
            <a:ext cx="5394960" cy="3931920"/>
          </a:xfrm>
          <a:prstGeom prst="rect">
            <a:avLst/>
          </a:prstGeom>
          <a:noFill/>
          <a:ln/>
        </p:spPr>
        <p:txBody>
          <a:bodyPr wrap="square" lIns="50800" tIns="50800" rIns="50800" bIns="50800" rtlCol="0" anchor="t"/>
          <a:lstStyle/>
          <a:p>
            <a:pPr algn="l" marL="342900" indent="-342900">
              <a:spcAft>
                <a:spcPts val="500"/>
              </a:spcAft>
              <a:buSzPct val="100000"/>
              <a:buChar char="•"/>
            </a:pPr>
            <a:r>
              <a:rPr lang="en-US" sz="1100" dirty="0">
                <a:solidFill>
                  <a:srgbClr val="222222"/>
                </a:solidFill>
                <a:latin typeface="Meiryo" pitchFamily="34" charset="0"/>
                <a:ea typeface="Meiryo" pitchFamily="34" charset="-122"/>
                <a:cs typeface="Meiryo" pitchFamily="34" charset="-120"/>
              </a:rPr>
              <a:t>復興はコーヒー地帯専門の暫定機関が統括した。中南米における復興専従機関の先駆例である。</a:t>
            </a:r>
            <a:endParaRPr lang="en-US" sz="1100" dirty="0"/>
          </a:p>
          <a:p>
            <a:pPr algn="l" marL="342900" indent="-342900">
              <a:spcAft>
                <a:spcPts val="500"/>
              </a:spcAft>
              <a:buSzPct val="100000"/>
              <a:buChar char="•"/>
            </a:pPr>
            <a:r>
              <a:rPr lang="en-US" sz="1100" dirty="0">
                <a:solidFill>
                  <a:srgbClr val="222222"/>
                </a:solidFill>
                <a:latin typeface="Meiryo" pitchFamily="34" charset="0"/>
                <a:ea typeface="Meiryo" pitchFamily="34" charset="-122"/>
                <a:cs typeface="Meiryo" pitchFamily="34" charset="-120"/>
              </a:rPr>
              <a:t>この災害を機に耐震基準の運用が強化され、現在ペレイラ・マニサレス・アルメニアを覆うマイクロゾーニング調査が進んだ。</a:t>
            </a:r>
            <a:endParaRPr lang="en-US" sz="1100" dirty="0"/>
          </a:p>
          <a:p>
            <a:pPr algn="l" marL="342900" indent="-342900">
              <a:spcAft>
                <a:spcPts val="500"/>
              </a:spcAft>
              <a:buSzPct val="100000"/>
              <a:buChar char="•"/>
            </a:pPr>
            <a:r>
              <a:rPr lang="en-US" sz="1100" dirty="0">
                <a:solidFill>
                  <a:srgbClr val="222222"/>
                </a:solidFill>
                <a:latin typeface="Meiryo" pitchFamily="34" charset="0"/>
                <a:ea typeface="Meiryo" pitchFamily="34" charset="-122"/>
                <a:cs typeface="Meiryo" pitchFamily="34" charset="-120"/>
              </a:rPr>
              <a:t>コーヒー経済の回復には約10年を要した。災害の経済的影響は応急期をはるかに超えて続いた。</a:t>
            </a:r>
            <a:endParaRPr lang="en-US" sz="1100" dirty="0"/>
          </a:p>
          <a:p>
            <a:pPr algn="l" marL="342900" indent="-342900">
              <a:spcAft>
                <a:spcPts val="500"/>
              </a:spcAft>
              <a:buSzPct val="100000"/>
              <a:buChar char="•"/>
            </a:pPr>
            <a:r>
              <a:rPr lang="en-US" sz="1100" dirty="0">
                <a:solidFill>
                  <a:srgbClr val="222222"/>
                </a:solidFill>
                <a:latin typeface="Meiryo" pitchFamily="34" charset="0"/>
                <a:ea typeface="Meiryo" pitchFamily="34" charset="-122"/>
                <a:cs typeface="Meiryo" pitchFamily="34" charset="-120"/>
              </a:rPr>
              <a:t>2026年の地震は同じ都市群を揺らしたが、浅い直下ではなく深く離れた震源によるものであり、同じ建物ストックに異なる形の荷重を与えた。</a:t>
            </a:r>
            <a:endParaRPr lang="en-US" sz="1100" dirty="0"/>
          </a:p>
        </p:txBody>
      </p:sp>
      <p:sp>
        <p:nvSpPr>
          <p:cNvPr id="8" name="Shape 4"/>
          <p:cNvSpPr/>
          <p:nvPr/>
        </p:nvSpPr>
        <p:spPr>
          <a:xfrm>
            <a:off x="365760" y="5358384"/>
            <a:ext cx="11430000" cy="749808"/>
          </a:xfrm>
          <a:prstGeom prst="roundRect">
            <a:avLst>
              <a:gd name="adj" fmla="val 6098"/>
            </a:avLst>
          </a:prstGeom>
          <a:solidFill>
            <a:srgbClr val="FCE9DC"/>
          </a:solidFill>
          <a:ln w="12700">
            <a:solidFill>
              <a:srgbClr val="E8A317"/>
            </a:solidFill>
            <a:prstDash val="solid"/>
          </a:ln>
        </p:spPr>
      </p:sp>
      <p:sp>
        <p:nvSpPr>
          <p:cNvPr id="9" name="Text 5"/>
          <p:cNvSpPr/>
          <p:nvPr/>
        </p:nvSpPr>
        <p:spPr>
          <a:xfrm>
            <a:off x="530352" y="5413248"/>
            <a:ext cx="11100816" cy="640080"/>
          </a:xfrm>
          <a:prstGeom prst="rect">
            <a:avLst/>
          </a:prstGeom>
          <a:noFill/>
          <a:ln/>
        </p:spPr>
        <p:txBody>
          <a:bodyPr wrap="square" lIns="25400" tIns="25400" rIns="25400" bIns="25400" rtlCol="0" anchor="ctr"/>
          <a:lstStyle/>
          <a:p>
            <a:pPr algn="l" indent="0" marL="0">
              <a:buNone/>
            </a:pPr>
            <a:r>
              <a:rPr lang="en-US" sz="1050" b="1" dirty="0">
                <a:solidFill>
                  <a:srgbClr val="9A3B12"/>
                </a:solidFill>
                <a:latin typeface="Meiryo" pitchFamily="34" charset="0"/>
                <a:ea typeface="Meiryo" pitchFamily="34" charset="-122"/>
                <a:cs typeface="Meiryo" pitchFamily="34" charset="-120"/>
              </a:rPr>
              <a:t>現在の意味
</a:t>
            </a:r>
            <a:pPr algn="l" indent="0" marL="0">
              <a:buNone/>
            </a:pPr>
            <a:r>
              <a:rPr lang="en-US" sz="950" dirty="0">
                <a:solidFill>
                  <a:srgbClr val="7A2E0E"/>
                </a:solidFill>
                <a:latin typeface="Meiryo" pitchFamily="34" charset="0"/>
                <a:ea typeface="Meiryo" pitchFamily="34" charset="-122"/>
                <a:cs typeface="Meiryo" pitchFamily="34" charset="-120"/>
              </a:rPr>
              <a:t>2026年に大きな被害を受けたペレイラ・マニサレス・アルメニアは、1999年後に再建された都市そのものである。深さ110kmの震源による長周期・長時間の揺れに対し、再建された建物ストックがどう応答したかが、事後評価の最大の論点となる。</a:t>
            </a:r>
            <a:endParaRPr lang="en-US" sz="1050" dirty="0"/>
          </a:p>
        </p:txBody>
      </p:sp>
      <p:sp>
        <p:nvSpPr>
          <p:cNvPr id="10" name="Text 6"/>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Meiryo" pitchFamily="34" charset="0"/>
                <a:ea typeface="Meiryo" pitchFamily="34" charset="-122"/>
                <a:cs typeface="Meiryo" pitchFamily="34" charset="-120"/>
              </a:rPr>
              <a:t>出典：</a:t>
            </a:r>
            <a:pPr algn="l" indent="0" marL="0">
              <a:buNone/>
            </a:pPr>
            <a:r>
              <a:rPr lang="en-US" sz="850" u="sng" dirty="0">
                <a:solidFill>
                  <a:srgbClr val="0563C1"/>
                </a:solidFill>
                <a:latin typeface="Meiryo" pitchFamily="34" charset="0"/>
                <a:ea typeface="Meiryo" pitchFamily="34" charset="-122"/>
                <a:cs typeface="Meiryo" pitchFamily="34" charset="-120"/>
                <a:hlinkClick r:id="rId2" invalidUrl="" action="" tgtFrame="" tooltip="" history="1" highlightClick="0" endSnd="0">
                  <a:extLst>
                    <a:ext uri="{A12FA001-AC4F-418D-AE19-62706E023703}">
                      <ahyp:hlinkClr xmlns:ahyp="http://schemas.microsoft.com/office/drawing/2018/hyperlinkcolor" val="tx"/>
                    </a:ext>
                  </a:extLst>
                </a:hlinkClick>
              </a:rPr>
              <a:t>GEM コロンビアの耐震規定（NSR-10）</a:t>
            </a:r>
            <a:pPr algn="l" indent="0" marL="0">
              <a:buNone/>
            </a:pPr>
            <a:r>
              <a:rPr lang="en-US" sz="850" dirty="0">
                <a:solidFill>
                  <a:srgbClr val="6A6A6A"/>
                </a:solidFill>
                <a:latin typeface="Meiryo" pitchFamily="34" charset="0"/>
                <a:ea typeface="Meiryo" pitchFamily="34" charset="-122"/>
                <a:cs typeface="Meiryo" pitchFamily="34" charset="-120"/>
              </a:rPr>
              <a:t>   ·   </a:t>
            </a:r>
            <a:pPr algn="l" indent="0" marL="0">
              <a:buNone/>
            </a:pPr>
            <a:r>
              <a:rPr lang="en-US" sz="850" u="sng" dirty="0">
                <a:solidFill>
                  <a:srgbClr val="0563C1"/>
                </a:solidFill>
                <a:latin typeface="Meiryo" pitchFamily="34" charset="0"/>
                <a:ea typeface="Meiryo" pitchFamily="34" charset="-122"/>
                <a:cs typeface="Meiryo" pitchFamily="34" charset="-120"/>
                <a:hlinkClick r:id="rId3" invalidUrl="" action="" tgtFrame="" tooltip="" history="1" highlightClick="0" endSnd="0">
                  <a:extLst>
                    <a:ext uri="{A12FA001-AC4F-418D-AE19-62706E023703}">
                      <ahyp:hlinkClr xmlns:ahyp="http://schemas.microsoft.com/office/drawing/2018/hyperlinkcolor" val="tx"/>
                    </a:ext>
                  </a:extLst>
                </a:hlinkClick>
              </a:rPr>
              <a:t>PreventionWeb コロンビア国家防災計画</a:t>
            </a:r>
            <a:endParaRPr lang="en-US" sz="850" dirty="0"/>
          </a:p>
        </p:txBody>
      </p:sp>
      <p:sp>
        <p:nvSpPr>
          <p:cNvPr id="11" name="Shape 7"/>
          <p:cNvSpPr/>
          <p:nvPr/>
        </p:nvSpPr>
        <p:spPr>
          <a:xfrm>
            <a:off x="10268712" y="6510528"/>
            <a:ext cx="1554480" cy="274320"/>
          </a:xfrm>
          <a:prstGeom prst="rect">
            <a:avLst/>
          </a:prstGeom>
          <a:solidFill>
            <a:srgbClr val="E8A317"/>
          </a:solidFill>
          <a:ln w="12700">
            <a:solidFill>
              <a:srgbClr val="E8A317"/>
            </a:solidFill>
            <a:prstDash val="solid"/>
          </a:ln>
        </p:spPr>
      </p:sp>
      <p:sp>
        <p:nvSpPr>
          <p:cNvPr id="12" name="Text 8"/>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Meiryo" pitchFamily="34" charset="0"/>
                <a:ea typeface="Meiryo" pitchFamily="34" charset="-122"/>
                <a:cs typeface="Meiryo" pitchFamily="34" charset="-120"/>
              </a:rPr>
              <a:t>ADRC  12/08/2026</a:t>
            </a:r>
            <a:endParaRPr lang="en-US" sz="950" dirty="0"/>
          </a:p>
        </p:txBody>
      </p:sp>
      <p:sp>
        <p:nvSpPr>
          <p:cNvPr id="13" name="Text 9"/>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Meiryo" pitchFamily="34" charset="0"/>
                <a:ea typeface="Meiryo" pitchFamily="34" charset="-122"/>
                <a:cs typeface="Meiryo" pitchFamily="34" charset="-120"/>
              </a:rPr>
              <a:t>21</a:t>
            </a:r>
            <a:endParaRPr lang="en-US" sz="9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1900" b="1" dirty="0">
                <a:solidFill>
                  <a:srgbClr val="1F3864"/>
                </a:solidFill>
                <a:latin typeface="Meiryo" pitchFamily="34" charset="0"/>
                <a:ea typeface="Meiryo" pitchFamily="34" charset="-122"/>
                <a:cs typeface="Meiryo" pitchFamily="34" charset="-120"/>
              </a:rPr>
              <a:t>事前のリスク評価：サンティアゴ・デ・カリ</a:t>
            </a:r>
            <a:endParaRPr lang="en-US" sz="19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987552"/>
            <a:ext cx="5760720" cy="1051560"/>
          </a:xfrm>
          <a:prstGeom prst="rect">
            <a:avLst/>
          </a:prstGeom>
          <a:noFill/>
          <a:ln/>
        </p:spPr>
        <p:txBody>
          <a:bodyPr wrap="square" lIns="0" tIns="0" rIns="0" bIns="0" rtlCol="0" anchor="t"/>
          <a:lstStyle/>
          <a:p>
            <a:pPr indent="0" marL="0">
              <a:buNone/>
            </a:pPr>
            <a:r>
              <a:rPr lang="en-US" sz="950" dirty="0">
                <a:solidFill>
                  <a:srgbClr val="222222"/>
                </a:solidFill>
                <a:latin typeface="Meiryo" pitchFamily="34" charset="0"/>
                <a:ea typeface="Meiryo" pitchFamily="34" charset="-122"/>
                <a:cs typeface="Meiryo" pitchFamily="34" charset="-120"/>
              </a:rPr>
              <a:t>カリにリスク評価がなかったわけではない。同市は2020〜2022年に、USAIDが支援するTREQプロジェクトの下でGEM財団とともに都市の地震リスクモデルを構築した。キト、サンティアゴ・デ・ロス・カバジェロスと並ぶ3つのパイロット都市の一つである。想定シナリオは浅い直下型（ダグア・カリマ断層、M6.5、深さ10km）で、その推計値は2026年8月10日に実際に生じた被害をはるかに上回る。</a:t>
            </a:r>
            <a:endParaRPr lang="en-US" sz="950" dirty="0"/>
          </a:p>
        </p:txBody>
      </p:sp>
      <p:graphicFrame>
        <p:nvGraphicFramePr>
          <p:cNvPr id="23" name="Table 0"/>
          <p:cNvGraphicFramePr>
            <a:graphicFrameLocks noGrp="1"/>
          </p:cNvGraphicFramePr>
          <p:nvPr>
            <p:extLst>
              <p:ext uri="{D42A27DB-BD31-4B8C-83A1-F6EECF244321}">
                <p14:modId xmlns:p14="http://schemas.microsoft.com/office/powerpoint/2010/main" val="1579011935"/>
              </p:ext>
            </p:extLst>
          </p:nvPr>
        </p:nvGraphicFramePr>
        <p:xfrm>
          <a:off x="365760" y="2139696"/>
          <a:ext cx="5760720" cy="914400"/>
        </p:xfrm>
        <a:graphic>
          <a:graphicData uri="http://schemas.openxmlformats.org/drawingml/2006/table">
            <a:tbl>
              <a:tblPr/>
              <a:tblGrid>
                <a:gridCol w="2103120"/>
                <a:gridCol w="3657600"/>
              </a:tblGrid>
              <a:tr h="301752">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想定シナリオ（GEM-TREQ、2022年）</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値</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301752">
                <a:tc>
                  <a:txBody>
                    <a:bodyPr/>
                    <a:lstStyle/>
                    <a:p>
                      <a:pPr algn="l" indent="0" marL="0">
                        <a:buNone/>
                      </a:pPr>
                      <a:r>
                        <a:rPr lang="en-US" sz="950" b="1" dirty="0">
                          <a:solidFill>
                            <a:srgbClr val="1F3864"/>
                          </a:solidFill>
                          <a:latin typeface="Meiryo" pitchFamily="34" charset="0"/>
                          <a:ea typeface="Meiryo" pitchFamily="34" charset="-122"/>
                          <a:cs typeface="Meiryo" pitchFamily="34" charset="-120"/>
                        </a:rPr>
                        <a:t>想定シナリオ</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M6.5・深さ10km、ダグア・カリマ断層、市街地</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01752">
                <a:tc>
                  <a:txBody>
                    <a:bodyPr/>
                    <a:lstStyle/>
                    <a:p>
                      <a:pPr algn="l" indent="0" marL="0">
                        <a:buNone/>
                      </a:pPr>
                      <a:r>
                        <a:rPr lang="en-US" sz="950" b="1" dirty="0">
                          <a:solidFill>
                            <a:srgbClr val="1F3864"/>
                          </a:solidFill>
                          <a:latin typeface="Meiryo" pitchFamily="34" charset="0"/>
                          <a:ea typeface="Meiryo" pitchFamily="34" charset="-122"/>
                          <a:cs typeface="Meiryo" pitchFamily="34" charset="-120"/>
                        </a:rPr>
                        <a:t>曝露人口</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約230万人</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01752">
                <a:tc>
                  <a:txBody>
                    <a:bodyPr/>
                    <a:lstStyle/>
                    <a:p>
                      <a:pPr algn="l" indent="0" marL="0">
                        <a:buNone/>
                      </a:pPr>
                      <a:r>
                        <a:rPr lang="en-US" sz="950" b="1" dirty="0">
                          <a:solidFill>
                            <a:srgbClr val="1F3864"/>
                          </a:solidFill>
                          <a:latin typeface="Meiryo" pitchFamily="34" charset="0"/>
                          <a:ea typeface="Meiryo" pitchFamily="34" charset="-122"/>
                          <a:cs typeface="Meiryo" pitchFamily="34" charset="-120"/>
                        </a:rPr>
                        <a:t>推定死者</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約1,200人</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01752">
                <a:tc>
                  <a:txBody>
                    <a:bodyPr/>
                    <a:lstStyle/>
                    <a:p>
                      <a:pPr algn="l" indent="0" marL="0">
                        <a:buNone/>
                      </a:pPr>
                      <a:r>
                        <a:rPr lang="en-US" sz="950" b="1" dirty="0">
                          <a:solidFill>
                            <a:srgbClr val="1F3864"/>
                          </a:solidFill>
                          <a:latin typeface="Meiryo" pitchFamily="34" charset="0"/>
                          <a:ea typeface="Meiryo" pitchFamily="34" charset="-122"/>
                          <a:cs typeface="Meiryo" pitchFamily="34" charset="-120"/>
                        </a:rPr>
                        <a:t>重傷者</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約36,300人</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01752">
                <a:tc>
                  <a:txBody>
                    <a:bodyPr/>
                    <a:lstStyle/>
                    <a:p>
                      <a:pPr algn="l" indent="0" marL="0">
                        <a:buNone/>
                      </a:pPr>
                      <a:r>
                        <a:rPr lang="en-US" sz="950" b="1" dirty="0">
                          <a:solidFill>
                            <a:srgbClr val="1F3864"/>
                          </a:solidFill>
                          <a:latin typeface="Meiryo" pitchFamily="34" charset="0"/>
                          <a:ea typeface="Meiryo" pitchFamily="34" charset="-122"/>
                          <a:cs typeface="Meiryo" pitchFamily="34" charset="-120"/>
                        </a:rPr>
                        <a:t>住まいを失う人</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約181,000人</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01752">
                <a:tc>
                  <a:txBody>
                    <a:bodyPr/>
                    <a:lstStyle/>
                    <a:p>
                      <a:pPr algn="l" indent="0" marL="0">
                        <a:buNone/>
                      </a:pPr>
                      <a:r>
                        <a:rPr lang="en-US" sz="950" b="1" dirty="0">
                          <a:solidFill>
                            <a:srgbClr val="1F3864"/>
                          </a:solidFill>
                          <a:latin typeface="Meiryo" pitchFamily="34" charset="0"/>
                          <a:ea typeface="Meiryo" pitchFamily="34" charset="-122"/>
                          <a:cs typeface="Meiryo" pitchFamily="34" charset="-120"/>
                        </a:rPr>
                        <a:t>倒壊建物</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348,000棟のうち約1,800棟（0.5%）</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01752">
                <a:tc>
                  <a:txBody>
                    <a:bodyPr/>
                    <a:lstStyle/>
                    <a:p>
                      <a:pPr algn="l" indent="0" marL="0">
                        <a:buNone/>
                      </a:pPr>
                      <a:r>
                        <a:rPr lang="en-US" sz="950" b="1" dirty="0">
                          <a:solidFill>
                            <a:srgbClr val="1F3864"/>
                          </a:solidFill>
                          <a:latin typeface="Meiryo" pitchFamily="34" charset="0"/>
                          <a:ea typeface="Meiryo" pitchFamily="34" charset="-122"/>
                          <a:cs typeface="Meiryo" pitchFamily="34" charset="-120"/>
                        </a:rPr>
                        <a:t>残余リスク</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既往対策を織り込んで約40%と評価</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6" name="Text 2"/>
          <p:cNvSpPr/>
          <p:nvPr/>
        </p:nvSpPr>
        <p:spPr>
          <a:xfrm>
            <a:off x="365760" y="4864608"/>
            <a:ext cx="5760720" cy="347472"/>
          </a:xfrm>
          <a:prstGeom prst="rect">
            <a:avLst/>
          </a:prstGeom>
          <a:noFill/>
          <a:ln/>
        </p:spPr>
        <p:txBody>
          <a:bodyPr wrap="square" lIns="0" tIns="0" rIns="0" bIns="0" rtlCol="0" anchor="t"/>
          <a:lstStyle/>
          <a:p>
            <a:pPr indent="0" marL="0">
              <a:buNone/>
            </a:pPr>
            <a:r>
              <a:rPr lang="en-US" sz="680" i="1" dirty="0">
                <a:solidFill>
                  <a:srgbClr val="6A6A6A"/>
                </a:solidFill>
                <a:latin typeface="Meiryo" pitchFamily="34" charset="0"/>
                <a:ea typeface="Meiryo" pitchFamily="34" charset="-122"/>
                <a:cs typeface="Meiryo" pitchFamily="34" charset="-120"/>
              </a:rPr>
              <a:t>数値は、サンティアゴ・デ・カリを対象としたGEM-TREQ都市リスク評価および同市の地域防災計画による。カリ市（災害リスク管理局）がJICA研修のために整理した資料に基づく。</a:t>
            </a:r>
            <a:endParaRPr lang="en-US" sz="680" dirty="0"/>
          </a:p>
        </p:txBody>
      </p:sp>
      <p:sp>
        <p:nvSpPr>
          <p:cNvPr id="7" name="Text 3"/>
          <p:cNvSpPr/>
          <p:nvPr/>
        </p:nvSpPr>
        <p:spPr>
          <a:xfrm>
            <a:off x="6309360" y="987552"/>
            <a:ext cx="5486400" cy="256032"/>
          </a:xfrm>
          <a:prstGeom prst="rect">
            <a:avLst/>
          </a:prstGeom>
          <a:noFill/>
          <a:ln/>
        </p:spPr>
        <p:txBody>
          <a:bodyPr wrap="square" lIns="0" tIns="0" rIns="0" bIns="0" rtlCol="0" anchor="ctr"/>
          <a:lstStyle/>
          <a:p>
            <a:pPr indent="0" marL="0">
              <a:buNone/>
            </a:pPr>
            <a:r>
              <a:rPr lang="en-US" sz="1150" b="1" dirty="0">
                <a:solidFill>
                  <a:srgbClr val="1F3864"/>
                </a:solidFill>
                <a:latin typeface="Meiryo" pitchFamily="34" charset="0"/>
                <a:ea typeface="Meiryo" pitchFamily="34" charset="-122"/>
                <a:cs typeface="Meiryo" pitchFamily="34" charset="-120"/>
              </a:rPr>
              <a:t>市が既に優先課題としていたこと</a:t>
            </a:r>
            <a:endParaRPr lang="en-US" sz="1150" dirty="0"/>
          </a:p>
        </p:txBody>
      </p:sp>
      <p:sp>
        <p:nvSpPr>
          <p:cNvPr id="8" name="Text 4"/>
          <p:cNvSpPr/>
          <p:nvPr/>
        </p:nvSpPr>
        <p:spPr>
          <a:xfrm>
            <a:off x="6309360" y="1280160"/>
            <a:ext cx="5486400" cy="3877056"/>
          </a:xfrm>
          <a:prstGeom prst="rect">
            <a:avLst/>
          </a:prstGeom>
          <a:noFill/>
          <a:ln/>
        </p:spPr>
        <p:txBody>
          <a:bodyPr wrap="square" lIns="50800" tIns="50800" rIns="50800" bIns="50800" rtlCol="0" anchor="t"/>
          <a:lstStyle/>
          <a:p>
            <a:pPr algn="l" marL="342900" indent="-342900">
              <a:spcAft>
                <a:spcPts val="500"/>
              </a:spcAft>
              <a:buSzPct val="100000"/>
              <a:buChar char="•"/>
            </a:pPr>
            <a:r>
              <a:rPr lang="en-US" sz="850" dirty="0">
                <a:solidFill>
                  <a:srgbClr val="222222"/>
                </a:solidFill>
                <a:latin typeface="Meiryo" pitchFamily="34" charset="0"/>
                <a:ea typeface="Meiryo" pitchFamily="34" charset="-122"/>
                <a:cs typeface="Meiryo" pitchFamily="34" charset="-120"/>
              </a:rPr>
              <a:t>重要建築物（病院・学校・消防署）の耐震脆弱性調査を耐震基準NSR-10に沿って実施（約170万米ドル、短期）。</a:t>
            </a:r>
            <a:endParaRPr lang="en-US" sz="850" dirty="0"/>
          </a:p>
          <a:p>
            <a:pPr algn="l" marL="342900" indent="-342900">
              <a:spcAft>
                <a:spcPts val="500"/>
              </a:spcAft>
              <a:buSzPct val="100000"/>
              <a:buChar char="•"/>
            </a:pPr>
            <a:r>
              <a:rPr lang="en-US" sz="850" dirty="0">
                <a:solidFill>
                  <a:srgbClr val="222222"/>
                </a:solidFill>
                <a:latin typeface="Meiryo" pitchFamily="34" charset="0"/>
                <a:ea typeface="Meiryo" pitchFamily="34" charset="-122"/>
                <a:cs typeface="Meiryo" pitchFamily="34" charset="-120"/>
              </a:rPr>
              <a:t>地震後も基幹サービスを維持するため、重要建築物と基礎的サービス基盤の構造補強。</a:t>
            </a:r>
            <a:endParaRPr lang="en-US" sz="850" dirty="0"/>
          </a:p>
          <a:p>
            <a:pPr algn="l" marL="342900" indent="-342900">
              <a:spcAft>
                <a:spcPts val="500"/>
              </a:spcAft>
              <a:buSzPct val="100000"/>
              <a:buChar char="•"/>
            </a:pPr>
            <a:r>
              <a:rPr lang="en-US" sz="850" dirty="0">
                <a:solidFill>
                  <a:srgbClr val="222222"/>
                </a:solidFill>
                <a:latin typeface="Meiryo" pitchFamily="34" charset="0"/>
                <a:ea typeface="Meiryo" pitchFamily="34" charset="-122"/>
                <a:cs typeface="Meiryo" pitchFamily="34" charset="-120"/>
              </a:rPr>
              <a:t>EMCALIの上下水道・電力網および都市ガス網の耐震脆弱性評価。</a:t>
            </a:r>
            <a:endParaRPr lang="en-US" sz="850" dirty="0"/>
          </a:p>
          <a:p>
            <a:pPr algn="l" marL="342900" indent="-342900">
              <a:spcAft>
                <a:spcPts val="500"/>
              </a:spcAft>
              <a:buSzPct val="100000"/>
              <a:buChar char="•"/>
            </a:pPr>
            <a:r>
              <a:rPr lang="en-US" sz="850" dirty="0">
                <a:solidFill>
                  <a:srgbClr val="222222"/>
                </a:solidFill>
                <a:latin typeface="Meiryo" pitchFamily="34" charset="0"/>
                <a:ea typeface="Meiryo" pitchFamily="34" charset="-122"/>
                <a:cs typeface="Meiryo" pitchFamily="34" charset="-120"/>
              </a:rPr>
              <a:t>地盤応答モデルと地震動微地形区分の更新。微地形区分はINGEOMINAS/DAGMA（2005年）以来運用され、2014年市令第411.0.20.0158号により構造設計に適用されている。</a:t>
            </a:r>
            <a:endParaRPr lang="en-US" sz="850" dirty="0"/>
          </a:p>
          <a:p>
            <a:pPr algn="l" marL="342900" indent="-342900">
              <a:spcAft>
                <a:spcPts val="500"/>
              </a:spcAft>
              <a:buSzPct val="100000"/>
              <a:buChar char="•"/>
            </a:pPr>
            <a:r>
              <a:rPr lang="en-US" sz="850" dirty="0">
                <a:solidFill>
                  <a:srgbClr val="222222"/>
                </a:solidFill>
                <a:latin typeface="Meiryo" pitchFamily="34" charset="0"/>
                <a:ea typeface="Meiryo" pitchFamily="34" charset="-122"/>
                <a:cs typeface="Meiryo" pitchFamily="34" charset="-120"/>
              </a:rPr>
              <a:t>カリ強震観測網（RAC）の維持・拡充と、SGCの国家観測網との相互運用性の確保。</a:t>
            </a:r>
            <a:endParaRPr lang="en-US" sz="850" dirty="0"/>
          </a:p>
          <a:p>
            <a:pPr algn="l" marL="342900" indent="-342900">
              <a:spcAft>
                <a:spcPts val="500"/>
              </a:spcAft>
              <a:buSzPct val="100000"/>
              <a:buChar char="•"/>
            </a:pPr>
            <a:r>
              <a:rPr lang="en-US" sz="850" dirty="0">
                <a:solidFill>
                  <a:srgbClr val="222222"/>
                </a:solidFill>
                <a:latin typeface="Meiryo" pitchFamily="34" charset="0"/>
                <a:ea typeface="Meiryo" pitchFamily="34" charset="-122"/>
                <a:cs typeface="Meiryo" pitchFamily="34" charset="-120"/>
              </a:rPr>
              <a:t>公共インフラの地震保険付保と、補助金・安全な自力建設プログラムによる低所得層住宅の補強。</a:t>
            </a:r>
            <a:endParaRPr lang="en-US" sz="850" dirty="0"/>
          </a:p>
          <a:p>
            <a:pPr algn="l" marL="342900" indent="-342900">
              <a:spcAft>
                <a:spcPts val="500"/>
              </a:spcAft>
              <a:buSzPct val="100000"/>
              <a:buChar char="•"/>
            </a:pPr>
            <a:r>
              <a:rPr lang="en-US" sz="850" dirty="0">
                <a:solidFill>
                  <a:srgbClr val="222222"/>
                </a:solidFill>
                <a:latin typeface="Meiryo" pitchFamily="34" charset="0"/>
                <a:ea typeface="Meiryo" pitchFamily="34" charset="-122"/>
                <a:cs typeface="Meiryo" pitchFamily="34" charset="-120"/>
              </a:rPr>
              <a:t>優先施策の資金構成：地方政府30〜50%、国家防災基金（FNGRD／UNGRD）30〜50%、JICA・GEM財団・米州開発銀行などの国際パートナー約20%。</a:t>
            </a:r>
            <a:endParaRPr lang="en-US" sz="850" dirty="0"/>
          </a:p>
        </p:txBody>
      </p:sp>
      <p:sp>
        <p:nvSpPr>
          <p:cNvPr id="9" name="Shape 5"/>
          <p:cNvSpPr/>
          <p:nvPr/>
        </p:nvSpPr>
        <p:spPr>
          <a:xfrm>
            <a:off x="365760" y="5248656"/>
            <a:ext cx="11430000" cy="859536"/>
          </a:xfrm>
          <a:prstGeom prst="roundRect">
            <a:avLst>
              <a:gd name="adj" fmla="val 5319"/>
            </a:avLst>
          </a:prstGeom>
          <a:solidFill>
            <a:srgbClr val="FCE9DC"/>
          </a:solidFill>
          <a:ln w="12700">
            <a:solidFill>
              <a:srgbClr val="E8A317"/>
            </a:solidFill>
            <a:prstDash val="solid"/>
          </a:ln>
        </p:spPr>
      </p:sp>
      <p:sp>
        <p:nvSpPr>
          <p:cNvPr id="10" name="Text 6"/>
          <p:cNvSpPr/>
          <p:nvPr/>
        </p:nvSpPr>
        <p:spPr>
          <a:xfrm>
            <a:off x="530352" y="5303520"/>
            <a:ext cx="11100816" cy="749808"/>
          </a:xfrm>
          <a:prstGeom prst="rect">
            <a:avLst/>
          </a:prstGeom>
          <a:noFill/>
          <a:ln/>
        </p:spPr>
        <p:txBody>
          <a:bodyPr wrap="square" lIns="25400" tIns="25400" rIns="25400" bIns="25400" rtlCol="0" anchor="ctr"/>
          <a:lstStyle/>
          <a:p>
            <a:pPr algn="l" indent="0" marL="0">
              <a:buNone/>
            </a:pPr>
            <a:r>
              <a:rPr lang="en-US" sz="1050" b="1" dirty="0">
                <a:solidFill>
                  <a:srgbClr val="9A3B12"/>
                </a:solidFill>
                <a:latin typeface="Meiryo" pitchFamily="34" charset="0"/>
                <a:ea typeface="Meiryo" pitchFamily="34" charset="-122"/>
                <a:cs typeface="Meiryo" pitchFamily="34" charset="-120"/>
              </a:rPr>
              <a:t>2026年の地震はこのシナリオではない
</a:t>
            </a:r>
            <a:pPr algn="l" indent="0" marL="0">
              <a:buNone/>
            </a:pPr>
            <a:r>
              <a:rPr lang="en-US" sz="950" dirty="0">
                <a:solidFill>
                  <a:srgbClr val="7A2E0E"/>
                </a:solidFill>
                <a:latin typeface="Meiryo" pitchFamily="34" charset="0"/>
                <a:ea typeface="Meiryo" pitchFamily="34" charset="-122"/>
                <a:cs typeface="Meiryo" pitchFamily="34" charset="-120"/>
              </a:rPr>
              <a:t>8月10日の地震は規模こそ大きい（M7.4）が、深さ110km・カリから158kmであり、市内の揺れは想定M6.5の近距離の揺れではなくMMI VIにとどまった。カリの死者は27人、倒壊は25〜30棟で、シナリオより2桁小さい。一方でこの地震が実際に試したのは、地域計画が指摘していた弱点そのものであった。大学病院の約3割が崩落し、医療7施設が閉鎖された。市にとっての最悪シナリオは依然として将来にあり、重要建築物の耐震補強の必要性は、理論ではなく実証の段階に入った。</a:t>
            </a:r>
            <a:endParaRPr lang="en-US" sz="1050" dirty="0"/>
          </a:p>
        </p:txBody>
      </p:sp>
      <p:sp>
        <p:nvSpPr>
          <p:cNvPr id="11" name="Text 7"/>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Meiryo" pitchFamily="34" charset="0"/>
                <a:ea typeface="Meiryo" pitchFamily="34" charset="-122"/>
                <a:cs typeface="Meiryo" pitchFamily="34" charset="-120"/>
              </a:rPr>
              <a:t>出典：</a:t>
            </a:r>
            <a:pPr algn="l" indent="0" marL="0">
              <a:buNone/>
            </a:pPr>
            <a:r>
              <a:rPr lang="en-US" sz="850" u="sng" dirty="0">
                <a:solidFill>
                  <a:srgbClr val="0563C1"/>
                </a:solidFill>
                <a:latin typeface="Meiryo" pitchFamily="34" charset="0"/>
                <a:ea typeface="Meiryo" pitchFamily="34" charset="-122"/>
                <a:cs typeface="Meiryo" pitchFamily="34" charset="-120"/>
                <a:hlinkClick r:id="rId2" invalidUrl="" action="" tgtFrame="" tooltip="" history="1" highlightClick="0" endSnd="0">
                  <a:extLst>
                    <a:ext uri="{A12FA001-AC4F-418D-AE19-62706E023703}">
                      <ahyp:hlinkClr xmlns:ahyp="http://schemas.microsoft.com/office/drawing/2018/hyperlinkcolor" val="tx"/>
                    </a:ext>
                  </a:extLst>
                </a:hlinkClick>
              </a:rPr>
              <a:t>GEM財団 TREQプロジェクト（都市地震リスク：キト／カリ／サンティアゴ）</a:t>
            </a:r>
            <a:pPr algn="l" indent="0" marL="0">
              <a:buNone/>
            </a:pPr>
            <a:r>
              <a:rPr lang="en-US" sz="850" dirty="0">
                <a:solidFill>
                  <a:srgbClr val="6A6A6A"/>
                </a:solidFill>
                <a:latin typeface="Meiryo" pitchFamily="34" charset="0"/>
                <a:ea typeface="Meiryo" pitchFamily="34" charset="-122"/>
                <a:cs typeface="Meiryo" pitchFamily="34" charset="-120"/>
              </a:rPr>
              <a:t>   ·   </a:t>
            </a:r>
            <a:pPr algn="l" indent="0" marL="0">
              <a:buNone/>
            </a:pPr>
            <a:r>
              <a:rPr lang="en-US" sz="850" u="sng" dirty="0">
                <a:solidFill>
                  <a:srgbClr val="0563C1"/>
                </a:solidFill>
                <a:latin typeface="Meiryo" pitchFamily="34" charset="0"/>
                <a:ea typeface="Meiryo" pitchFamily="34" charset="-122"/>
                <a:cs typeface="Meiryo" pitchFamily="34" charset="-120"/>
                <a:hlinkClick r:id="rId3" invalidUrl="" action="" tgtFrame="" tooltip="" history="1" highlightClick="0" endSnd="0">
                  <a:extLst>
                    <a:ext uri="{A12FA001-AC4F-418D-AE19-62706E023703}">
                      <ahyp:hlinkClr xmlns:ahyp="http://schemas.microsoft.com/office/drawing/2018/hyperlinkcolor" val="tx"/>
                    </a:ext>
                  </a:extLst>
                </a:hlinkClick>
              </a:rPr>
              <a:t>GEM-TREQ カリ市地震リスク評価（技術報告 D2.6.2）</a:t>
            </a:r>
            <a:pPr algn="l" indent="0" marL="0">
              <a:buNone/>
            </a:pPr>
            <a:r>
              <a:rPr lang="en-US" sz="850" dirty="0">
                <a:solidFill>
                  <a:srgbClr val="6A6A6A"/>
                </a:solidFill>
                <a:latin typeface="Meiryo" pitchFamily="34" charset="0"/>
                <a:ea typeface="Meiryo" pitchFamily="34" charset="-122"/>
                <a:cs typeface="Meiryo" pitchFamily="34" charset="-120"/>
              </a:rPr>
              <a:t>   ·   </a:t>
            </a:r>
            <a:pPr algn="l" indent="0" marL="0">
              <a:buNone/>
            </a:pPr>
            <a:r>
              <a:rPr lang="en-US" sz="850" u="sng" dirty="0">
                <a:solidFill>
                  <a:srgbClr val="0563C1"/>
                </a:solidFill>
                <a:latin typeface="Meiryo" pitchFamily="34" charset="0"/>
                <a:ea typeface="Meiryo" pitchFamily="34" charset="-122"/>
                <a:cs typeface="Meiryo" pitchFamily="34" charset="-120"/>
                <a:hlinkClick r:id="rId4" invalidUrl="" action="" tgtFrame="" tooltip="" history="1" highlightClick="0" endSnd="0">
                  <a:extLst>
                    <a:ext uri="{A12FA001-AC4F-418D-AE19-62706E023703}">
                      <ahyp:hlinkClr xmlns:ahyp="http://schemas.microsoft.com/office/drawing/2018/hyperlinkcolor" val="tx"/>
                    </a:ext>
                  </a:extLst>
                </a:hlinkClick>
              </a:rPr>
              <a:t>サンティアゴ・デ・カリ市 災害リスク管理</a:t>
            </a:r>
            <a:endParaRPr lang="en-US" sz="850" dirty="0"/>
          </a:p>
        </p:txBody>
      </p:sp>
      <p:sp>
        <p:nvSpPr>
          <p:cNvPr id="12" name="Shape 8"/>
          <p:cNvSpPr/>
          <p:nvPr/>
        </p:nvSpPr>
        <p:spPr>
          <a:xfrm>
            <a:off x="10268712" y="6510528"/>
            <a:ext cx="1554480" cy="274320"/>
          </a:xfrm>
          <a:prstGeom prst="rect">
            <a:avLst/>
          </a:prstGeom>
          <a:solidFill>
            <a:srgbClr val="E8A317"/>
          </a:solidFill>
          <a:ln w="12700">
            <a:solidFill>
              <a:srgbClr val="E8A317"/>
            </a:solidFill>
            <a:prstDash val="solid"/>
          </a:ln>
        </p:spPr>
      </p:sp>
      <p:sp>
        <p:nvSpPr>
          <p:cNvPr id="13" name="Text 9"/>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Meiryo" pitchFamily="34" charset="0"/>
                <a:ea typeface="Meiryo" pitchFamily="34" charset="-122"/>
                <a:cs typeface="Meiryo" pitchFamily="34" charset="-120"/>
              </a:rPr>
              <a:t>ADRC  12/08/2026</a:t>
            </a:r>
            <a:endParaRPr lang="en-US" sz="950" dirty="0"/>
          </a:p>
        </p:txBody>
      </p:sp>
      <p:sp>
        <p:nvSpPr>
          <p:cNvPr id="14" name="Text 10"/>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Meiryo" pitchFamily="34" charset="0"/>
                <a:ea typeface="Meiryo" pitchFamily="34" charset="-122"/>
                <a:cs typeface="Meiryo" pitchFamily="34" charset="-120"/>
              </a:rPr>
              <a:t>22</a:t>
            </a:r>
            <a:endParaRPr lang="en-US" sz="9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1900" b="1" dirty="0">
                <a:solidFill>
                  <a:srgbClr val="1F3864"/>
                </a:solidFill>
                <a:latin typeface="Meiryo" pitchFamily="34" charset="0"/>
                <a:ea typeface="Meiryo" pitchFamily="34" charset="-122"/>
                <a:cs typeface="Meiryo" pitchFamily="34" charset="-120"/>
              </a:rPr>
              <a:t>GEM-TREQ カリ市プロファイル</a:t>
            </a:r>
            <a:endParaRPr lang="en-US" sz="19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pic>
        <p:nvPicPr>
          <p:cNvPr id="4" name="Image 1" descr="/home/user/whatsmap/reports/colombia_eq_20260810/images/gem_treq_cali_manual.jpg">    </p:cNvPr>
          <p:cNvPicPr>
            <a:picLocks noChangeAspect="1"/>
          </p:cNvPicPr>
          <p:nvPr/>
        </p:nvPicPr>
        <p:blipFill>
          <a:blip r:embed="rId2"/>
          <a:stretch>
            <a:fillRect/>
          </a:stretch>
        </p:blipFill>
        <p:spPr>
          <a:xfrm>
            <a:off x="3006914" y="969264"/>
            <a:ext cx="6147692" cy="4352544"/>
          </a:xfrm>
          <a:prstGeom prst="rect">
            <a:avLst/>
          </a:prstGeom>
        </p:spPr>
      </p:pic>
      <p:sp>
        <p:nvSpPr>
          <p:cNvPr id="5" name="Text 1"/>
          <p:cNvSpPr/>
          <p:nvPr/>
        </p:nvSpPr>
        <p:spPr>
          <a:xfrm>
            <a:off x="1051560" y="5340096"/>
            <a:ext cx="10058400" cy="201168"/>
          </a:xfrm>
          <a:prstGeom prst="rect">
            <a:avLst/>
          </a:prstGeom>
          <a:noFill/>
          <a:ln/>
        </p:spPr>
        <p:txBody>
          <a:bodyPr wrap="square" lIns="0" tIns="0" rIns="0" bIns="0" rtlCol="0" anchor="ctr"/>
          <a:lstStyle/>
          <a:p>
            <a:pPr algn="ctr" indent="0" marL="0">
              <a:buNone/>
            </a:pPr>
            <a:r>
              <a:rPr lang="en-US" sz="800" dirty="0">
                <a:solidFill>
                  <a:srgbClr val="6A6A6A"/>
                </a:solidFill>
                <a:latin typeface="Meiryo" pitchFamily="34" charset="0"/>
                <a:ea typeface="Meiryo" pitchFamily="34" charset="-122"/>
                <a:cs typeface="Meiryo" pitchFamily="34" charset="-120"/>
              </a:rPr>
              <a:t>© GEM Foundation / USAID / Alcaldía de Santiago de Cali / USGS</a:t>
            </a:r>
            <a:pPr algn="ctr" indent="0" marL="0">
              <a:buNone/>
            </a:pPr>
            <a:r>
              <a:rPr lang="en-US" sz="700" u="sng" dirty="0">
                <a:solidFill>
                  <a:srgbClr val="0563C1"/>
                </a:solidFill>
                <a:latin typeface="Meiryo" pitchFamily="34" charset="0"/>
                <a:ea typeface="Meiryo" pitchFamily="34" charset="-122"/>
                <a:cs typeface="Meiryo" pitchFamily="34" charset="-120"/>
                <a:hlinkClick r:id="rId3" invalidUrl="" action="" tgtFrame="" tooltip="" history="1" highlightClick="0" endSnd="0">
                  <a:extLst>
                    <a:ext uri="{A12FA001-AC4F-418D-AE19-62706E023703}">
                      <ahyp:hlinkClr xmlns:ahyp="http://schemas.microsoft.com/office/drawing/2018/hyperlinkcolor" val="tx"/>
                    </a:ext>
                  </a:extLst>
                </a:hlinkClick>
              </a:rPr>
              <a:t>  —  https://github.com/gem/treq-riesgo-urbano</a:t>
            </a:r>
            <a:endParaRPr lang="en-US" sz="800" dirty="0"/>
          </a:p>
        </p:txBody>
      </p:sp>
      <p:sp>
        <p:nvSpPr>
          <p:cNvPr id="6" name="Text 2"/>
          <p:cNvSpPr/>
          <p:nvPr/>
        </p:nvSpPr>
        <p:spPr>
          <a:xfrm>
            <a:off x="1051560" y="5596128"/>
            <a:ext cx="10058400" cy="548640"/>
          </a:xfrm>
          <a:prstGeom prst="rect">
            <a:avLst/>
          </a:prstGeom>
          <a:noFill/>
          <a:ln/>
        </p:spPr>
        <p:txBody>
          <a:bodyPr wrap="square" lIns="0" tIns="0" rIns="0" bIns="0" rtlCol="0" anchor="t"/>
          <a:lstStyle/>
          <a:p>
            <a:pPr algn="l" indent="0" marL="0">
              <a:buNone/>
            </a:pPr>
            <a:r>
              <a:rPr lang="en-US" sz="850" dirty="0">
                <a:solidFill>
                  <a:srgbClr val="222222"/>
                </a:solidFill>
                <a:latin typeface="Meiryo" pitchFamily="34" charset="0"/>
                <a:ea typeface="Meiryo" pitchFamily="34" charset="-122"/>
                <a:cs typeface="Meiryo" pitchFamily="34" charset="-120"/>
              </a:rPr>
              <a:t>GEM-TREQによるカリ市プロファイル（M6.5・深さ10km、ダグア・カリマ断層のシナリオ）。曝露は人口230万人、住宅31.2万棟・商業2.2万棟・工業5,300棟・公共8,000棟、曝露資本220兆コロンビアペソ。棒グラフはコムーナ別の倒壊率・死者・重傷者・住まいを失う人・経済損失、ヒストグラムは市全体の推計値とその変動幅を示す。</a:t>
            </a:r>
            <a:endParaRPr lang="en-US" sz="850" dirty="0"/>
          </a:p>
        </p:txBody>
      </p:sp>
      <p:sp>
        <p:nvSpPr>
          <p:cNvPr id="7" name="Text 3"/>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Meiryo" pitchFamily="34" charset="0"/>
                <a:ea typeface="Meiryo" pitchFamily="34" charset="-122"/>
                <a:cs typeface="Meiryo" pitchFamily="34" charset="-120"/>
              </a:rPr>
              <a:t>出典：</a:t>
            </a:r>
            <a:pPr algn="l" indent="0" marL="0">
              <a:buNone/>
            </a:pPr>
            <a:r>
              <a:rPr lang="en-US" sz="850" u="sng" dirty="0">
                <a:solidFill>
                  <a:srgbClr val="0563C1"/>
                </a:solidFill>
                <a:latin typeface="Meiryo" pitchFamily="34" charset="0"/>
                <a:ea typeface="Meiryo" pitchFamily="34" charset="-122"/>
                <a:cs typeface="Meiryo" pitchFamily="34" charset="-120"/>
                <a:hlinkClick r:id="rId4" invalidUrl="" action="" tgtFrame="" tooltip="" history="1" highlightClick="0" endSnd="0">
                  <a:extLst>
                    <a:ext uri="{A12FA001-AC4F-418D-AE19-62706E023703}">
                      <ahyp:hlinkClr xmlns:ahyp="http://schemas.microsoft.com/office/drawing/2018/hyperlinkcolor" val="tx"/>
                    </a:ext>
                  </a:extLst>
                </a:hlinkClick>
              </a:rPr>
              <a:t>GEM-TREQ カリ市地震リスク評価（技術報告 D2.6.2）</a:t>
            </a:r>
            <a:pPr algn="l" indent="0" marL="0">
              <a:buNone/>
            </a:pPr>
            <a:r>
              <a:rPr lang="en-US" sz="850" dirty="0">
                <a:solidFill>
                  <a:srgbClr val="6A6A6A"/>
                </a:solidFill>
                <a:latin typeface="Meiryo" pitchFamily="34" charset="0"/>
                <a:ea typeface="Meiryo" pitchFamily="34" charset="-122"/>
                <a:cs typeface="Meiryo" pitchFamily="34" charset="-120"/>
              </a:rPr>
              <a:t>   ·   </a:t>
            </a:r>
            <a:pPr algn="l" indent="0" marL="0">
              <a:buNone/>
            </a:pPr>
            <a:r>
              <a:rPr lang="en-US" sz="850" u="sng" dirty="0">
                <a:solidFill>
                  <a:srgbClr val="0563C1"/>
                </a:solidFill>
                <a:latin typeface="Meiryo" pitchFamily="34" charset="0"/>
                <a:ea typeface="Meiryo" pitchFamily="34" charset="-122"/>
                <a:cs typeface="Meiryo" pitchFamily="34" charset="-120"/>
                <a:hlinkClick r:id="rId5" invalidUrl="" action="" tgtFrame="" tooltip="" history="1" highlightClick="0" endSnd="0">
                  <a:extLst>
                    <a:ext uri="{A12FA001-AC4F-418D-AE19-62706E023703}">
                      <ahyp:hlinkClr xmlns:ahyp="http://schemas.microsoft.com/office/drawing/2018/hyperlinkcolor" val="tx"/>
                    </a:ext>
                  </a:extLst>
                </a:hlinkClick>
              </a:rPr>
              <a:t>GEM財団 TREQプロジェクト（都市地震リスク：キト／カリ／サンティアゴ）</a:t>
            </a:r>
            <a:endParaRPr lang="en-US" sz="850" dirty="0"/>
          </a:p>
        </p:txBody>
      </p:sp>
      <p:sp>
        <p:nvSpPr>
          <p:cNvPr id="8" name="Shape 4"/>
          <p:cNvSpPr/>
          <p:nvPr/>
        </p:nvSpPr>
        <p:spPr>
          <a:xfrm>
            <a:off x="10268712" y="6510528"/>
            <a:ext cx="1554480" cy="274320"/>
          </a:xfrm>
          <a:prstGeom prst="rect">
            <a:avLst/>
          </a:prstGeom>
          <a:solidFill>
            <a:srgbClr val="E8A317"/>
          </a:solidFill>
          <a:ln w="12700">
            <a:solidFill>
              <a:srgbClr val="E8A317"/>
            </a:solidFill>
            <a:prstDash val="solid"/>
          </a:ln>
        </p:spPr>
      </p:sp>
      <p:sp>
        <p:nvSpPr>
          <p:cNvPr id="9" name="Text 5"/>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Meiryo" pitchFamily="34" charset="0"/>
                <a:ea typeface="Meiryo" pitchFamily="34" charset="-122"/>
                <a:cs typeface="Meiryo" pitchFamily="34" charset="-120"/>
              </a:rPr>
              <a:t>ADRC  12/08/2026</a:t>
            </a:r>
            <a:endParaRPr lang="en-US" sz="950" dirty="0"/>
          </a:p>
        </p:txBody>
      </p:sp>
      <p:sp>
        <p:nvSpPr>
          <p:cNvPr id="10" name="Text 6"/>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Meiryo" pitchFamily="34" charset="0"/>
                <a:ea typeface="Meiryo" pitchFamily="34" charset="-122"/>
                <a:cs typeface="Meiryo" pitchFamily="34" charset="-120"/>
              </a:rPr>
              <a:t>23</a:t>
            </a:r>
            <a:endParaRPr lang="en-US" sz="9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1900" b="1" dirty="0">
                <a:solidFill>
                  <a:srgbClr val="1F3864"/>
                </a:solidFill>
                <a:latin typeface="Meiryo" pitchFamily="34" charset="0"/>
                <a:ea typeface="Meiryo" pitchFamily="34" charset="-122"/>
                <a:cs typeface="Meiryo" pitchFamily="34" charset="-120"/>
              </a:rPr>
              <a:t>コロンビアの主な地震（歴史）</a:t>
            </a:r>
            <a:endParaRPr lang="en-US" sz="19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graphicFrame>
        <p:nvGraphicFramePr>
          <p:cNvPr id="25" name="Table 0"/>
          <p:cNvGraphicFramePr>
            <a:graphicFrameLocks noGrp="1"/>
          </p:cNvGraphicFramePr>
          <p:nvPr>
            <p:extLst>
              <p:ext uri="{D42A27DB-BD31-4B8C-83A1-F6EECF244321}">
                <p14:modId xmlns:p14="http://schemas.microsoft.com/office/powerpoint/2010/main" val="1579011935"/>
              </p:ext>
            </p:extLst>
          </p:nvPr>
        </p:nvGraphicFramePr>
        <p:xfrm>
          <a:off x="365760" y="1024128"/>
          <a:ext cx="7863840" cy="914400"/>
        </p:xfrm>
        <a:graphic>
          <a:graphicData uri="http://schemas.openxmlformats.org/drawingml/2006/table">
            <a:tbl>
              <a:tblPr/>
              <a:tblGrid>
                <a:gridCol w="731520"/>
                <a:gridCol w="2286000"/>
                <a:gridCol w="731520"/>
                <a:gridCol w="4114800"/>
              </a:tblGrid>
              <a:tr h="365760">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年</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地震</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規模</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被害・特徴</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365760">
                <a:tc>
                  <a:txBody>
                    <a:bodyPr/>
                    <a:lstStyle/>
                    <a:p>
                      <a:pPr algn="ctr" indent="0" marL="0">
                        <a:buNone/>
                      </a:pPr>
                      <a:r>
                        <a:rPr lang="en-US" sz="1000" b="1" dirty="0">
                          <a:solidFill>
                            <a:srgbClr val="1F3864"/>
                          </a:solidFill>
                          <a:latin typeface="Meiryo" pitchFamily="34" charset="0"/>
                          <a:ea typeface="Meiryo" pitchFamily="34" charset="-122"/>
                          <a:cs typeface="Meiryo" pitchFamily="34" charset="-120"/>
                        </a:rPr>
                        <a:t>1906</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エクアドル・コロンビア地震（太平洋岸）</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50" b="1" dirty="0">
                          <a:solidFill>
                            <a:srgbClr val="C00000"/>
                          </a:solidFill>
                          <a:latin typeface="Meiryo" pitchFamily="34" charset="0"/>
                          <a:ea typeface="Meiryo" pitchFamily="34" charset="-122"/>
                          <a:cs typeface="Meiryo" pitchFamily="34" charset="-120"/>
                        </a:rPr>
                        <a:t>M8.8</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222222"/>
                          </a:solidFill>
                          <a:latin typeface="Meiryo" pitchFamily="34" charset="0"/>
                          <a:ea typeface="Meiryo" pitchFamily="34" charset="-122"/>
                          <a:cs typeface="Meiryo" pitchFamily="34" charset="-120"/>
                        </a:rPr>
                        <a:t>観測史上最大級。太平洋岸に破壊的な津波</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65760">
                <a:tc>
                  <a:txBody>
                    <a:bodyPr/>
                    <a:lstStyle/>
                    <a:p>
                      <a:pPr algn="ctr" indent="0" marL="0">
                        <a:buNone/>
                      </a:pPr>
                      <a:r>
                        <a:rPr lang="en-US" sz="1000" b="1" dirty="0">
                          <a:solidFill>
                            <a:srgbClr val="1F3864"/>
                          </a:solidFill>
                          <a:latin typeface="Meiryo" pitchFamily="34" charset="0"/>
                          <a:ea typeface="Meiryo" pitchFamily="34" charset="-122"/>
                          <a:cs typeface="Meiryo" pitchFamily="34" charset="-120"/>
                        </a:rPr>
                        <a:t>1925</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カリ地震（バジェ・デル・カウカ県）</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C00000"/>
                          </a:solidFill>
                          <a:latin typeface="Meiryo" pitchFamily="34" charset="0"/>
                          <a:ea typeface="Meiryo" pitchFamily="34" charset="-122"/>
                          <a:cs typeface="Meiryo" pitchFamily="34" charset="-120"/>
                        </a:rPr>
                        <a:t>M7.0</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222222"/>
                          </a:solidFill>
                          <a:latin typeface="Meiryo" pitchFamily="34" charset="0"/>
                          <a:ea typeface="Meiryo" pitchFamily="34" charset="-122"/>
                          <a:cs typeface="Meiryo" pitchFamily="34" charset="-120"/>
                        </a:rPr>
                        <a:t>カリにとって基準となる歴史地震。同市は1995年・2004年にも被災し、2004年は診療所や住宅に被害が出た</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65760">
                <a:tc>
                  <a:txBody>
                    <a:bodyPr/>
                    <a:lstStyle/>
                    <a:p>
                      <a:pPr algn="ctr" indent="0" marL="0">
                        <a:buNone/>
                      </a:pPr>
                      <a:r>
                        <a:rPr lang="en-US" sz="1000" b="1" dirty="0">
                          <a:solidFill>
                            <a:srgbClr val="1F3864"/>
                          </a:solidFill>
                          <a:latin typeface="Meiryo" pitchFamily="34" charset="0"/>
                          <a:ea typeface="Meiryo" pitchFamily="34" charset="-122"/>
                          <a:cs typeface="Meiryo" pitchFamily="34" charset="-120"/>
                        </a:rPr>
                        <a:t>1938</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コーヒー地帯の地震（深さ150km）</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50" b="1" dirty="0">
                          <a:solidFill>
                            <a:srgbClr val="C00000"/>
                          </a:solidFill>
                          <a:latin typeface="Meiryo" pitchFamily="34" charset="0"/>
                          <a:ea typeface="Meiryo" pitchFamily="34" charset="-122"/>
                          <a:cs typeface="Meiryo" pitchFamily="34" charset="-120"/>
                        </a:rPr>
                        <a:t>M7.0</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222222"/>
                          </a:solidFill>
                          <a:latin typeface="Meiryo" pitchFamily="34" charset="0"/>
                          <a:ea typeface="Meiryo" pitchFamily="34" charset="-122"/>
                          <a:cs typeface="Meiryo" pitchFamily="34" charset="-120"/>
                        </a:rPr>
                        <a:t>同じコーヒー生産県の下で発生したやや深発地震。2026年の地震に最も近い歴史的類例</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65760">
                <a:tc>
                  <a:txBody>
                    <a:bodyPr/>
                    <a:lstStyle/>
                    <a:p>
                      <a:pPr algn="ctr" indent="0" marL="0">
                        <a:buNone/>
                      </a:pPr>
                      <a:r>
                        <a:rPr lang="en-US" sz="1000" b="1" dirty="0">
                          <a:solidFill>
                            <a:srgbClr val="1F3864"/>
                          </a:solidFill>
                          <a:latin typeface="Meiryo" pitchFamily="34" charset="0"/>
                          <a:ea typeface="Meiryo" pitchFamily="34" charset="-122"/>
                          <a:cs typeface="Meiryo" pitchFamily="34" charset="-120"/>
                        </a:rPr>
                        <a:t>1979</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トゥマコ地震（ナリーニョ県）</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C00000"/>
                          </a:solidFill>
                          <a:latin typeface="Meiryo" pitchFamily="34" charset="0"/>
                          <a:ea typeface="Meiryo" pitchFamily="34" charset="-122"/>
                          <a:cs typeface="Meiryo" pitchFamily="34" charset="-120"/>
                        </a:rPr>
                        <a:t>M8.1</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222222"/>
                          </a:solidFill>
                          <a:latin typeface="Meiryo" pitchFamily="34" charset="0"/>
                          <a:ea typeface="Meiryo" pitchFamily="34" charset="-122"/>
                          <a:cs typeface="Meiryo" pitchFamily="34" charset="-120"/>
                        </a:rPr>
                        <a:t>プレート境界型で津波を伴う。数百人が死亡</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65760">
                <a:tc>
                  <a:txBody>
                    <a:bodyPr/>
                    <a:lstStyle/>
                    <a:p>
                      <a:pPr algn="ctr" indent="0" marL="0">
                        <a:buNone/>
                      </a:pPr>
                      <a:r>
                        <a:rPr lang="en-US" sz="1000" b="1" dirty="0">
                          <a:solidFill>
                            <a:srgbClr val="1F3864"/>
                          </a:solidFill>
                          <a:latin typeface="Meiryo" pitchFamily="34" charset="0"/>
                          <a:ea typeface="Meiryo" pitchFamily="34" charset="-122"/>
                          <a:cs typeface="Meiryo" pitchFamily="34" charset="-120"/>
                        </a:rPr>
                        <a:t>1983</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ポパヤン地震（カウカ県）</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50" b="1" dirty="0">
                          <a:solidFill>
                            <a:srgbClr val="C00000"/>
                          </a:solidFill>
                          <a:latin typeface="Meiryo" pitchFamily="34" charset="0"/>
                          <a:ea typeface="Meiryo" pitchFamily="34" charset="-122"/>
                          <a:cs typeface="Meiryo" pitchFamily="34" charset="-120"/>
                        </a:rPr>
                        <a:t>M5.5</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222222"/>
                          </a:solidFill>
                          <a:latin typeface="Meiryo" pitchFamily="34" charset="0"/>
                          <a:ea typeface="Meiryo" pitchFamily="34" charset="-122"/>
                          <a:cs typeface="Meiryo" pitchFamily="34" charset="-120"/>
                        </a:rPr>
                        <a:t>死者約250〜300人。歴史的市街地が大きく損壊。小規模だが浅く都市直下</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65760">
                <a:tc>
                  <a:txBody>
                    <a:bodyPr/>
                    <a:lstStyle/>
                    <a:p>
                      <a:pPr algn="ctr" indent="0" marL="0">
                        <a:buNone/>
                      </a:pPr>
                      <a:r>
                        <a:rPr lang="en-US" sz="1000" b="1" dirty="0">
                          <a:solidFill>
                            <a:srgbClr val="1F3864"/>
                          </a:solidFill>
                          <a:latin typeface="Meiryo" pitchFamily="34" charset="0"/>
                          <a:ea typeface="Meiryo" pitchFamily="34" charset="-122"/>
                          <a:cs typeface="Meiryo" pitchFamily="34" charset="-120"/>
                        </a:rPr>
                        <a:t>1994</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パエス地震（カウカ県）</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C00000"/>
                          </a:solidFill>
                          <a:latin typeface="Meiryo" pitchFamily="34" charset="0"/>
                          <a:ea typeface="Meiryo" pitchFamily="34" charset="-122"/>
                          <a:cs typeface="Meiryo" pitchFamily="34" charset="-120"/>
                        </a:rPr>
                        <a:t>M6.8</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222222"/>
                          </a:solidFill>
                          <a:latin typeface="Meiryo" pitchFamily="34" charset="0"/>
                          <a:ea typeface="Meiryo" pitchFamily="34" charset="-122"/>
                          <a:cs typeface="Meiryo" pitchFamily="34" charset="-120"/>
                        </a:rPr>
                        <a:t>死者約1,100人。大半は地震による地すべり・土石流</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65760">
                <a:tc>
                  <a:txBody>
                    <a:bodyPr/>
                    <a:lstStyle/>
                    <a:p>
                      <a:pPr algn="ctr" indent="0" marL="0">
                        <a:buNone/>
                      </a:pPr>
                      <a:r>
                        <a:rPr lang="en-US" sz="1000" b="1" dirty="0">
                          <a:solidFill>
                            <a:srgbClr val="1F3864"/>
                          </a:solidFill>
                          <a:latin typeface="Meiryo" pitchFamily="34" charset="0"/>
                          <a:ea typeface="Meiryo" pitchFamily="34" charset="-122"/>
                          <a:cs typeface="Meiryo" pitchFamily="34" charset="-120"/>
                        </a:rPr>
                        <a:t>1995</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チョコ地震</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50" b="1" dirty="0">
                          <a:solidFill>
                            <a:srgbClr val="C00000"/>
                          </a:solidFill>
                          <a:latin typeface="Meiryo" pitchFamily="34" charset="0"/>
                          <a:ea typeface="Meiryo" pitchFamily="34" charset="-122"/>
                          <a:cs typeface="Meiryo" pitchFamily="34" charset="-120"/>
                        </a:rPr>
                        <a:t>M6.6</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222222"/>
                          </a:solidFill>
                          <a:latin typeface="Meiryo" pitchFamily="34" charset="0"/>
                          <a:ea typeface="Meiryo" pitchFamily="34" charset="-122"/>
                          <a:cs typeface="Meiryo" pitchFamily="34" charset="-120"/>
                        </a:rPr>
                        <a:t>2026年と同じ県で発生したやや深発地震</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65760">
                <a:tc>
                  <a:txBody>
                    <a:bodyPr/>
                    <a:lstStyle/>
                    <a:p>
                      <a:pPr algn="ctr" indent="0" marL="0">
                        <a:buNone/>
                      </a:pPr>
                      <a:r>
                        <a:rPr lang="en-US" sz="1000" b="1" dirty="0">
                          <a:solidFill>
                            <a:srgbClr val="1F3864"/>
                          </a:solidFill>
                          <a:latin typeface="Meiryo" pitchFamily="34" charset="0"/>
                          <a:ea typeface="Meiryo" pitchFamily="34" charset="-122"/>
                          <a:cs typeface="Meiryo" pitchFamily="34" charset="-120"/>
                        </a:rPr>
                        <a:t>1999</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アルメニア（キンディオ）地震</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C00000"/>
                          </a:solidFill>
                          <a:latin typeface="Meiryo" pitchFamily="34" charset="0"/>
                          <a:ea typeface="Meiryo" pitchFamily="34" charset="-122"/>
                          <a:cs typeface="Meiryo" pitchFamily="34" charset="-120"/>
                        </a:rPr>
                        <a:t>M6.1-6.2</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222222"/>
                          </a:solidFill>
                          <a:latin typeface="Meiryo" pitchFamily="34" charset="0"/>
                          <a:ea typeface="Meiryo" pitchFamily="34" charset="-122"/>
                          <a:cs typeface="Meiryo" pitchFamily="34" charset="-120"/>
                        </a:rPr>
                        <a:t>死者約1,185人。コロンビア史上最も経済損失の大きい地震災害。現在の防災改革の契機</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65760">
                <a:tc>
                  <a:txBody>
                    <a:bodyPr/>
                    <a:lstStyle/>
                    <a:p>
                      <a:pPr algn="ctr" indent="0" marL="0">
                        <a:buNone/>
                      </a:pPr>
                      <a:r>
                        <a:rPr lang="en-US" sz="1000" b="1" dirty="0">
                          <a:solidFill>
                            <a:srgbClr val="1F3864"/>
                          </a:solidFill>
                          <a:latin typeface="Meiryo" pitchFamily="34" charset="0"/>
                          <a:ea typeface="Meiryo" pitchFamily="34" charset="-122"/>
                          <a:cs typeface="Meiryo" pitchFamily="34" charset="-120"/>
                        </a:rPr>
                        <a:t>2026</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チョコ地震（本地震）</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50" b="1" dirty="0">
                          <a:solidFill>
                            <a:srgbClr val="C00000"/>
                          </a:solidFill>
                          <a:latin typeface="Meiryo" pitchFamily="34" charset="0"/>
                          <a:ea typeface="Meiryo" pitchFamily="34" charset="-122"/>
                          <a:cs typeface="Meiryo" pitchFamily="34" charset="-120"/>
                        </a:rPr>
                        <a:t>M7.4</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222222"/>
                          </a:solidFill>
                          <a:latin typeface="Meiryo" pitchFamily="34" charset="0"/>
                          <a:ea typeface="Meiryo" pitchFamily="34" charset="-122"/>
                          <a:cs typeface="Meiryo" pitchFamily="34" charset="-120"/>
                        </a:rPr>
                        <a:t>過去10年でコロンビア最大規模（SGC）。やや深発で被害が広域に分散</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pic>
        <p:nvPicPr>
          <p:cNvPr id="5" name="Image 1" descr="/home/user/whatsmap/reports/colombia_eq_20260810/images/sgc_hazard_manual.jpg">    </p:cNvPr>
          <p:cNvPicPr>
            <a:picLocks noChangeAspect="1"/>
          </p:cNvPicPr>
          <p:nvPr/>
        </p:nvPicPr>
        <p:blipFill>
          <a:blip r:embed="rId2"/>
          <a:stretch>
            <a:fillRect/>
          </a:stretch>
        </p:blipFill>
        <p:spPr>
          <a:xfrm>
            <a:off x="8412480" y="1048131"/>
            <a:ext cx="3383280" cy="3298698"/>
          </a:xfrm>
          <a:prstGeom prst="rect">
            <a:avLst/>
          </a:prstGeom>
        </p:spPr>
      </p:pic>
      <p:sp>
        <p:nvSpPr>
          <p:cNvPr id="6" name="Text 1"/>
          <p:cNvSpPr/>
          <p:nvPr/>
        </p:nvSpPr>
        <p:spPr>
          <a:xfrm>
            <a:off x="8412480" y="4389120"/>
            <a:ext cx="3383280" cy="201168"/>
          </a:xfrm>
          <a:prstGeom prst="rect">
            <a:avLst/>
          </a:prstGeom>
          <a:noFill/>
          <a:ln/>
        </p:spPr>
        <p:txBody>
          <a:bodyPr wrap="square" lIns="0" tIns="0" rIns="0" bIns="0" rtlCol="0" anchor="ctr"/>
          <a:lstStyle/>
          <a:p>
            <a:pPr algn="ctr" indent="0" marL="0">
              <a:buNone/>
            </a:pPr>
            <a:r>
              <a:rPr lang="en-US" sz="800" dirty="0">
                <a:solidFill>
                  <a:srgbClr val="6A6A6A"/>
                </a:solidFill>
                <a:latin typeface="Meiryo" pitchFamily="34" charset="0"/>
                <a:ea typeface="Meiryo" pitchFamily="34" charset="-122"/>
                <a:cs typeface="Meiryo" pitchFamily="34" charset="-120"/>
              </a:rPr>
              <a:t>PGA（g）、SGC／GEM 国家地震ハザードモデル（2020年）</a:t>
            </a:r>
            <a:pPr algn="ctr" indent="0" marL="0">
              <a:buNone/>
            </a:pPr>
            <a:r>
              <a:rPr lang="en-US" sz="700" u="sng" dirty="0">
                <a:solidFill>
                  <a:srgbClr val="0563C1"/>
                </a:solidFill>
                <a:latin typeface="Meiryo" pitchFamily="34" charset="0"/>
                <a:ea typeface="Meiryo" pitchFamily="34" charset="-122"/>
                <a:cs typeface="Meiryo" pitchFamily="34" charset="-120"/>
                <a:hlinkClick r:id="rId3" invalidUrl="" action="" tgtFrame="" tooltip="" history="1" highlightClick="0" endSnd="0">
                  <a:extLst>
                    <a:ext uri="{A12FA001-AC4F-418D-AE19-62706E023703}">
                      <ahyp:hlinkClr xmlns:ahyp="http://schemas.microsoft.com/office/drawing/2018/hyperlinkcolor" val="tx"/>
                    </a:ext>
                  </a:extLst>
                </a:hlinkClick>
              </a:rPr>
              <a:t>  —  https://amenazasismica.sgc.gov.co/</a:t>
            </a:r>
            <a:endParaRPr lang="en-US" sz="800" dirty="0"/>
          </a:p>
        </p:txBody>
      </p:sp>
      <p:sp>
        <p:nvSpPr>
          <p:cNvPr id="7" name="Text 2"/>
          <p:cNvSpPr/>
          <p:nvPr/>
        </p:nvSpPr>
        <p:spPr>
          <a:xfrm>
            <a:off x="8412480" y="4645152"/>
            <a:ext cx="3383280" cy="457200"/>
          </a:xfrm>
          <a:prstGeom prst="rect">
            <a:avLst/>
          </a:prstGeom>
          <a:noFill/>
          <a:ln/>
        </p:spPr>
        <p:txBody>
          <a:bodyPr wrap="square" lIns="0" tIns="0" rIns="0" bIns="0" rtlCol="0" anchor="t"/>
          <a:lstStyle/>
          <a:p>
            <a:pPr algn="ctr" indent="0" marL="0">
              <a:buNone/>
            </a:pPr>
            <a:r>
              <a:rPr lang="en-US" sz="850" b="1" dirty="0">
                <a:solidFill>
                  <a:srgbClr val="1F3864"/>
                </a:solidFill>
                <a:latin typeface="Meiryo" pitchFamily="34" charset="0"/>
                <a:ea typeface="Meiryo" pitchFamily="34" charset="-122"/>
                <a:cs typeface="Meiryo" pitchFamily="34" charset="-120"/>
              </a:rPr>
              <a:t>全国地震ハザード（再現期間475年）</a:t>
            </a:r>
            <a:endParaRPr lang="en-US" sz="850" dirty="0"/>
          </a:p>
        </p:txBody>
      </p:sp>
      <p:sp>
        <p:nvSpPr>
          <p:cNvPr id="8" name="Shape 3"/>
          <p:cNvSpPr/>
          <p:nvPr/>
        </p:nvSpPr>
        <p:spPr>
          <a:xfrm>
            <a:off x="365760" y="5230368"/>
            <a:ext cx="7863840" cy="877824"/>
          </a:xfrm>
          <a:prstGeom prst="roundRect">
            <a:avLst>
              <a:gd name="adj" fmla="val 5208"/>
            </a:avLst>
          </a:prstGeom>
          <a:solidFill>
            <a:srgbClr val="FCE9DC"/>
          </a:solidFill>
          <a:ln w="12700">
            <a:solidFill>
              <a:srgbClr val="E8A317"/>
            </a:solidFill>
            <a:prstDash val="solid"/>
          </a:ln>
        </p:spPr>
      </p:sp>
      <p:sp>
        <p:nvSpPr>
          <p:cNvPr id="9" name="Text 4"/>
          <p:cNvSpPr/>
          <p:nvPr/>
        </p:nvSpPr>
        <p:spPr>
          <a:xfrm>
            <a:off x="530352" y="5285232"/>
            <a:ext cx="7534656" cy="768096"/>
          </a:xfrm>
          <a:prstGeom prst="rect">
            <a:avLst/>
          </a:prstGeom>
          <a:noFill/>
          <a:ln/>
        </p:spPr>
        <p:txBody>
          <a:bodyPr wrap="square" lIns="25400" tIns="25400" rIns="25400" bIns="25400" rtlCol="0" anchor="ctr"/>
          <a:lstStyle/>
          <a:p>
            <a:pPr algn="l" indent="0" marL="0">
              <a:buNone/>
            </a:pPr>
            <a:r>
              <a:rPr lang="en-US" sz="1050" b="1" dirty="0">
                <a:solidFill>
                  <a:srgbClr val="9A3B12"/>
                </a:solidFill>
                <a:latin typeface="Meiryo" pitchFamily="34" charset="0"/>
                <a:ea typeface="Meiryo" pitchFamily="34" charset="-122"/>
                <a:cs typeface="Meiryo" pitchFamily="34" charset="-120"/>
              </a:rPr>
              <a:t>傾向
</a:t>
            </a:r>
            <a:pPr algn="l" indent="0" marL="0">
              <a:buNone/>
            </a:pPr>
            <a:r>
              <a:rPr lang="en-US" sz="950" dirty="0">
                <a:solidFill>
                  <a:srgbClr val="7A2E0E"/>
                </a:solidFill>
                <a:latin typeface="Meiryo" pitchFamily="34" charset="0"/>
                <a:ea typeface="Meiryo" pitchFamily="34" charset="-122"/>
                <a:cs typeface="Meiryo" pitchFamily="34" charset="-120"/>
              </a:rPr>
              <a:t>コロンビアで最も多くの死者を出した地震は、最大規模の地震ではない。1983年ポパヤン（M5.5）、1994年パエス（M6.8）、1999年アルメニア（M6.1〜6.2）はいずれも浅く市街地に近かった。一方、規模の大きい1906年・1979年の海域地震の死者はより少ない。被害を決めるのは規模だけでなく、深さと震源の近さである。</a:t>
            </a:r>
            <a:endParaRPr lang="en-US" sz="1050" dirty="0"/>
          </a:p>
        </p:txBody>
      </p:sp>
      <p:sp>
        <p:nvSpPr>
          <p:cNvPr id="10" name="Text 5"/>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Meiryo" pitchFamily="34" charset="0"/>
                <a:ea typeface="Meiryo" pitchFamily="34" charset="-122"/>
                <a:cs typeface="Meiryo" pitchFamily="34" charset="-120"/>
              </a:rPr>
              <a:t>出典：</a:t>
            </a:r>
            <a:pPr algn="l" indent="0" marL="0">
              <a:buNone/>
            </a:pPr>
            <a:r>
              <a:rPr lang="en-US" sz="850" u="sng" dirty="0">
                <a:solidFill>
                  <a:srgbClr val="0563C1"/>
                </a:solidFill>
                <a:latin typeface="Meiryo" pitchFamily="34" charset="0"/>
                <a:ea typeface="Meiryo" pitchFamily="34" charset="-122"/>
                <a:cs typeface="Meiryo" pitchFamily="34" charset="-120"/>
                <a:hlinkClick r:id="rId4" invalidUrl="" action="" tgtFrame="" tooltip="" history="1" highlightClick="0" endSnd="0">
                  <a:extLst>
                    <a:ext uri="{A12FA001-AC4F-418D-AE19-62706E023703}">
                      <ahyp:hlinkClr xmlns:ahyp="http://schemas.microsoft.com/office/drawing/2018/hyperlinkcolor" val="tx"/>
                    </a:ext>
                  </a:extLst>
                </a:hlinkClick>
              </a:rPr>
              <a:t>USGS 地震イベントページ</a:t>
            </a:r>
            <a:pPr algn="l" indent="0" marL="0">
              <a:buNone/>
            </a:pPr>
            <a:r>
              <a:rPr lang="en-US" sz="850" dirty="0">
                <a:solidFill>
                  <a:srgbClr val="6A6A6A"/>
                </a:solidFill>
                <a:latin typeface="Meiryo" pitchFamily="34" charset="0"/>
                <a:ea typeface="Meiryo" pitchFamily="34" charset="-122"/>
                <a:cs typeface="Meiryo" pitchFamily="34" charset="-120"/>
              </a:rPr>
              <a:t>   ·   </a:t>
            </a:r>
            <a:pPr algn="l" indent="0" marL="0">
              <a:buNone/>
            </a:pPr>
            <a:r>
              <a:rPr lang="en-US" sz="850" u="sng" dirty="0">
                <a:solidFill>
                  <a:srgbClr val="0563C1"/>
                </a:solidFill>
                <a:latin typeface="Meiryo" pitchFamily="34" charset="0"/>
                <a:ea typeface="Meiryo" pitchFamily="34" charset="-122"/>
                <a:cs typeface="Meiryo" pitchFamily="34" charset="-120"/>
                <a:hlinkClick r:id="rId5" invalidUrl="" action="" tgtFrame="" tooltip="" history="1" highlightClick="0" endSnd="0">
                  <a:extLst>
                    <a:ext uri="{A12FA001-AC4F-418D-AE19-62706E023703}">
                      <ahyp:hlinkClr xmlns:ahyp="http://schemas.microsoft.com/office/drawing/2018/hyperlinkcolor" val="tx"/>
                    </a:ext>
                  </a:extLst>
                </a:hlinkClick>
              </a:rPr>
              <a:t>コロンビア地質調査所（SGC）</a:t>
            </a:r>
            <a:pPr algn="l" indent="0" marL="0">
              <a:buNone/>
            </a:pPr>
            <a:r>
              <a:rPr lang="en-US" sz="850" dirty="0">
                <a:solidFill>
                  <a:srgbClr val="6A6A6A"/>
                </a:solidFill>
                <a:latin typeface="Meiryo" pitchFamily="34" charset="0"/>
                <a:ea typeface="Meiryo" pitchFamily="34" charset="-122"/>
                <a:cs typeface="Meiryo" pitchFamily="34" charset="-120"/>
              </a:rPr>
              <a:t>   ·   </a:t>
            </a:r>
            <a:pPr algn="l" indent="0" marL="0">
              <a:buNone/>
            </a:pPr>
            <a:r>
              <a:rPr lang="en-US" sz="850" u="sng" dirty="0">
                <a:solidFill>
                  <a:srgbClr val="0563C1"/>
                </a:solidFill>
                <a:latin typeface="Meiryo" pitchFamily="34" charset="0"/>
                <a:ea typeface="Meiryo" pitchFamily="34" charset="-122"/>
                <a:cs typeface="Meiryo" pitchFamily="34" charset="-120"/>
                <a:hlinkClick r:id="rId6" invalidUrl="" action="" tgtFrame="" tooltip="" history="1" highlightClick="0" endSnd="0">
                  <a:extLst>
                    <a:ext uri="{A12FA001-AC4F-418D-AE19-62706E023703}">
                      <ahyp:hlinkClr xmlns:ahyp="http://schemas.microsoft.com/office/drawing/2018/hyperlinkcolor" val="tx"/>
                    </a:ext>
                  </a:extLst>
                </a:hlinkClick>
              </a:rPr>
              <a:t>GEM財団 TREQプロジェクト（都市地震リスク：キト／カリ／サンティアゴ）</a:t>
            </a:r>
            <a:endParaRPr lang="en-US" sz="850" dirty="0"/>
          </a:p>
        </p:txBody>
      </p:sp>
      <p:sp>
        <p:nvSpPr>
          <p:cNvPr id="11" name="Shape 6"/>
          <p:cNvSpPr/>
          <p:nvPr/>
        </p:nvSpPr>
        <p:spPr>
          <a:xfrm>
            <a:off x="10268712" y="6510528"/>
            <a:ext cx="1554480" cy="274320"/>
          </a:xfrm>
          <a:prstGeom prst="rect">
            <a:avLst/>
          </a:prstGeom>
          <a:solidFill>
            <a:srgbClr val="E8A317"/>
          </a:solidFill>
          <a:ln w="12700">
            <a:solidFill>
              <a:srgbClr val="E8A317"/>
            </a:solidFill>
            <a:prstDash val="solid"/>
          </a:ln>
        </p:spPr>
      </p:sp>
      <p:sp>
        <p:nvSpPr>
          <p:cNvPr id="12" name="Text 7"/>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Meiryo" pitchFamily="34" charset="0"/>
                <a:ea typeface="Meiryo" pitchFamily="34" charset="-122"/>
                <a:cs typeface="Meiryo" pitchFamily="34" charset="-120"/>
              </a:rPr>
              <a:t>ADRC  12/08/2026</a:t>
            </a:r>
            <a:endParaRPr lang="en-US" sz="950" dirty="0"/>
          </a:p>
        </p:txBody>
      </p:sp>
      <p:sp>
        <p:nvSpPr>
          <p:cNvPr id="13" name="Text 8"/>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Meiryo" pitchFamily="34" charset="0"/>
                <a:ea typeface="Meiryo" pitchFamily="34" charset="-122"/>
                <a:cs typeface="Meiryo" pitchFamily="34" charset="-120"/>
              </a:rPr>
              <a:t>24</a:t>
            </a:r>
            <a:endParaRPr lang="en-US" sz="9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1900" b="1" dirty="0">
                <a:solidFill>
                  <a:srgbClr val="1F3864"/>
                </a:solidFill>
                <a:latin typeface="Meiryo" pitchFamily="34" charset="0"/>
                <a:ea typeface="Meiryo" pitchFamily="34" charset="-122"/>
                <a:cs typeface="Meiryo" pitchFamily="34" charset="-120"/>
              </a:rPr>
              <a:t>所見と今後の注目点</a:t>
            </a:r>
            <a:endParaRPr lang="en-US" sz="19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1024128"/>
            <a:ext cx="11430000" cy="5120640"/>
          </a:xfrm>
          <a:prstGeom prst="rect">
            <a:avLst/>
          </a:prstGeom>
          <a:noFill/>
          <a:ln/>
        </p:spPr>
        <p:txBody>
          <a:bodyPr wrap="square" lIns="50800" tIns="50800" rIns="50800" bIns="50800" rtlCol="0" anchor="t"/>
          <a:lstStyle/>
          <a:p>
            <a:pPr algn="l" marL="342900" indent="-342900">
              <a:buSzPct val="100000"/>
              <a:buChar char="•"/>
            </a:pPr>
            <a:r>
              <a:rPr lang="en-US" sz="780" b="1" dirty="0">
                <a:solidFill>
                  <a:srgbClr val="1E7A34"/>
                </a:solidFill>
                <a:latin typeface="Meiryo" pitchFamily="34" charset="0"/>
                <a:ea typeface="Meiryo" pitchFamily="34" charset="-122"/>
                <a:cs typeface="Meiryo" pitchFamily="34" charset="-120"/>
              </a:rPr>
              <a:t>[公式] </a:t>
            </a:r>
            <a:pPr algn="l" indent="0" marL="0">
              <a:spcAft>
                <a:spcPts val="500"/>
              </a:spcAft>
              <a:buNone/>
            </a:pPr>
            <a:r>
              <a:rPr lang="en-US" sz="880" dirty="0">
                <a:solidFill>
                  <a:srgbClr val="222222"/>
                </a:solidFill>
                <a:latin typeface="Meiryo" pitchFamily="34" charset="0"/>
                <a:ea typeface="Meiryo" pitchFamily="34" charset="-122"/>
                <a:cs typeface="Meiryo" pitchFamily="34" charset="-120"/>
              </a:rPr>
              <a:t>深い震源でありながら被害は浅発地震型。深さ110kmで地表地震断層も津波も生じなかったが、少なくとも6県で建物被害が出た。被害が集中せず分散するため、ニーズ把握・ロジスティクス・捜索救助の重点配分が難しくなる。</a:t>
            </a:r>
            <a:endParaRPr lang="en-US" sz="780" dirty="0"/>
          </a:p>
          <a:p>
            <a:pPr algn="l" marL="342900" indent="-342900">
              <a:buSzPct val="100000"/>
              <a:buChar char="•"/>
            </a:pPr>
            <a:r>
              <a:rPr lang="en-US" sz="780" b="1" dirty="0">
                <a:solidFill>
                  <a:srgbClr val="1E7A34"/>
                </a:solidFill>
                <a:latin typeface="Meiryo" pitchFamily="34" charset="0"/>
                <a:ea typeface="Meiryo" pitchFamily="34" charset="-122"/>
                <a:cs typeface="Meiryo" pitchFamily="34" charset="-120"/>
              </a:rPr>
              <a:t>[公式] </a:t>
            </a:r>
            <a:pPr algn="l" indent="0" marL="0">
              <a:spcAft>
                <a:spcPts val="500"/>
              </a:spcAft>
              <a:buNone/>
            </a:pPr>
            <a:r>
              <a:rPr lang="en-US" sz="880" dirty="0">
                <a:solidFill>
                  <a:srgbClr val="222222"/>
                </a:solidFill>
                <a:latin typeface="Meiryo" pitchFamily="34" charset="0"/>
                <a:ea typeface="Meiryo" pitchFamily="34" charset="-122"/>
                <a:cs typeface="Meiryo" pitchFamily="34" charset="-120"/>
              </a:rPr>
              <a:t>重要施設が被災した。カリの大学病院が約3割崩落、医療7施設が閉鎖、学校52か所が被害、国際空港ターミナルが一部倒壊しており、必要な場所で対応能力そのものが低下している。病院・学校・交通ターミナルの耐震性能が現時点で最も明確な教訓である。</a:t>
            </a:r>
            <a:endParaRPr lang="en-US" sz="780" dirty="0"/>
          </a:p>
          <a:p>
            <a:pPr algn="l" marL="342900" indent="-342900">
              <a:buSzPct val="100000"/>
              <a:buChar char="•"/>
            </a:pPr>
            <a:r>
              <a:rPr lang="en-US" sz="780" b="1" dirty="0">
                <a:solidFill>
                  <a:srgbClr val="1E7A34"/>
                </a:solidFill>
                <a:latin typeface="Meiryo" pitchFamily="34" charset="0"/>
                <a:ea typeface="Meiryo" pitchFamily="34" charset="-122"/>
                <a:cs typeface="Meiryo" pitchFamily="34" charset="-120"/>
              </a:rPr>
              <a:t>[公式] </a:t>
            </a:r>
            <a:pPr algn="l" indent="0" marL="0">
              <a:spcAft>
                <a:spcPts val="500"/>
              </a:spcAft>
              <a:buNone/>
            </a:pPr>
            <a:r>
              <a:rPr lang="en-US" sz="880" dirty="0">
                <a:solidFill>
                  <a:srgbClr val="222222"/>
                </a:solidFill>
                <a:latin typeface="Meiryo" pitchFamily="34" charset="0"/>
                <a:ea typeface="Meiryo" pitchFamily="34" charset="-122"/>
                <a:cs typeface="Meiryo" pitchFamily="34" charset="-120"/>
              </a:rPr>
              <a:t>調査が被害に追いついた分だけ数値は膨れ上がった。33時間で、UNGRDの発表ベースでも死者は111人から182人、負傷者は87人から2,542人、住宅被害は1,612棟から15,568棟、学校被害は52か所から884か所、道路被害は18路線から77路線に増えた。この急増を引き起こす新たな出来事があったわけではなく、調査隊がそれまで到達していなかった場所に入っただけである。初期値の読み方として二つ。初日の数値は災害の規模ではなく調査の到達範囲を表すこと、そして全国値は県別値に遅れること（本件では1日で死者59人分）である。</a:t>
            </a:r>
            <a:endParaRPr lang="en-US" sz="780" dirty="0"/>
          </a:p>
          <a:p>
            <a:pPr algn="l" marL="342900" indent="-342900">
              <a:buSzPct val="100000"/>
              <a:buChar char="•"/>
            </a:pPr>
            <a:r>
              <a:rPr lang="en-US" sz="780" b="1" dirty="0">
                <a:solidFill>
                  <a:srgbClr val="B8860B"/>
                </a:solidFill>
                <a:latin typeface="Meiryo" pitchFamily="34" charset="0"/>
                <a:ea typeface="Meiryo" pitchFamily="34" charset="-122"/>
                <a:cs typeface="Meiryo" pitchFamily="34" charset="-120"/>
              </a:rPr>
              <a:t>[報道] </a:t>
            </a:r>
            <a:pPr algn="l" indent="0" marL="0">
              <a:spcAft>
                <a:spcPts val="500"/>
              </a:spcAft>
              <a:buNone/>
            </a:pPr>
            <a:r>
              <a:rPr lang="en-US" sz="880" dirty="0">
                <a:solidFill>
                  <a:srgbClr val="222222"/>
                </a:solidFill>
                <a:latin typeface="Meiryo" pitchFamily="34" charset="0"/>
                <a:ea typeface="Meiryo" pitchFamily="34" charset="-122"/>
                <a:cs typeface="Meiryo" pitchFamily="34" charset="-120"/>
              </a:rPr>
              <a:t>被災地は1999年以後に再建されたコーヒー地帯である。1999年以降の建築物と旧来の建物が、性質の異なる揺れに対してどう応答したかの比較は、同地域にとっても、やや深発地震のリスクを抱える他国にとっても有益である。</a:t>
            </a:r>
            <a:endParaRPr lang="en-US" sz="780" dirty="0"/>
          </a:p>
          <a:p>
            <a:pPr algn="l" marL="342900" indent="-342900">
              <a:buSzPct val="100000"/>
              <a:buChar char="•"/>
            </a:pPr>
            <a:r>
              <a:rPr lang="en-US" sz="780" b="1" dirty="0">
                <a:solidFill>
                  <a:srgbClr val="1E7A34"/>
                </a:solidFill>
                <a:latin typeface="Meiryo" pitchFamily="34" charset="0"/>
                <a:ea typeface="Meiryo" pitchFamily="34" charset="-122"/>
                <a:cs typeface="Meiryo" pitchFamily="34" charset="-120"/>
              </a:rPr>
              <a:t>[公式] </a:t>
            </a:r>
            <a:pPr algn="l" indent="0" marL="0">
              <a:spcAft>
                <a:spcPts val="500"/>
              </a:spcAft>
              <a:buNone/>
            </a:pPr>
            <a:r>
              <a:rPr lang="en-US" sz="880" dirty="0">
                <a:solidFill>
                  <a:srgbClr val="222222"/>
                </a:solidFill>
                <a:latin typeface="Meiryo" pitchFamily="34" charset="0"/>
                <a:ea typeface="Meiryo" pitchFamily="34" charset="-122"/>
                <a:cs typeface="Meiryo" pitchFamily="34" charset="-120"/>
              </a:rPr>
              <a:t>評価は発災前から存在していた。カリのGEM-TREQリスクモデルと地域防災計画は、病院をはじめとする重要建築物の耐震補強を最優先課題として既に特定していた。2026年の地震は同市の想定シナリオよりはるかに弱い試練であったにもかかわらず、主要公立病院の約3割を失わせた。ここでの不足は知見ではなく、実施と財源である。</a:t>
            </a:r>
            <a:endParaRPr lang="en-US" sz="780" dirty="0"/>
          </a:p>
          <a:p>
            <a:pPr algn="l" marL="342900" indent="-342900">
              <a:buSzPct val="100000"/>
              <a:buChar char="•"/>
            </a:pPr>
            <a:r>
              <a:rPr lang="en-US" sz="780" b="1" dirty="0">
                <a:solidFill>
                  <a:srgbClr val="1E7A34"/>
                </a:solidFill>
                <a:latin typeface="Meiryo" pitchFamily="34" charset="0"/>
                <a:ea typeface="Meiryo" pitchFamily="34" charset="-122"/>
                <a:cs typeface="Meiryo" pitchFamily="34" charset="-120"/>
              </a:rPr>
              <a:t>[公式] </a:t>
            </a:r>
            <a:pPr algn="l" indent="0" marL="0">
              <a:spcAft>
                <a:spcPts val="500"/>
              </a:spcAft>
              <a:buNone/>
            </a:pPr>
            <a:r>
              <a:rPr lang="en-US" sz="880" dirty="0">
                <a:solidFill>
                  <a:srgbClr val="222222"/>
                </a:solidFill>
                <a:latin typeface="Meiryo" pitchFamily="34" charset="0"/>
                <a:ea typeface="Meiryo" pitchFamily="34" charset="-122"/>
                <a:cs typeface="Meiryo" pitchFamily="34" charset="-120"/>
              </a:rPr>
              <a:t>損傷建物に対する余震リスク。SGCは34時間で147回の地震を決定した。うち92%はM3.0未満、M4.0超は1回のみで、やや深発のスラブ内地震として想定される低調な推移である。ただし運用上の要点はこの統計ではない。8月10日のM4.8は広く有感となり、11日のM3.9でも複数の都市で建物からの避難が生じた。本震で損傷したまま倒壊を免れた建物は耐力を失っているため、余震の回数より、再入居前の応急危険度判定が重要である。</a:t>
            </a:r>
            <a:endParaRPr lang="en-US" sz="780" dirty="0"/>
          </a:p>
          <a:p>
            <a:pPr algn="l" marL="342900" indent="-342900">
              <a:buSzPct val="100000"/>
              <a:buChar char="•"/>
            </a:pPr>
            <a:r>
              <a:rPr lang="en-US" sz="780" b="1" dirty="0">
                <a:solidFill>
                  <a:srgbClr val="888888"/>
                </a:solidFill>
                <a:latin typeface="Meiryo" pitchFamily="34" charset="0"/>
                <a:ea typeface="Meiryo" pitchFamily="34" charset="-122"/>
                <a:cs typeface="Meiryo" pitchFamily="34" charset="-120"/>
              </a:rPr>
              <a:t>[確認中] </a:t>
            </a:r>
            <a:pPr algn="l" indent="0" marL="0">
              <a:spcAft>
                <a:spcPts val="500"/>
              </a:spcAft>
              <a:buNone/>
            </a:pPr>
            <a:r>
              <a:rPr lang="en-US" sz="880" dirty="0">
                <a:solidFill>
                  <a:srgbClr val="222222"/>
                </a:solidFill>
                <a:latin typeface="Meiryo" pitchFamily="34" charset="0"/>
                <a:ea typeface="Meiryo" pitchFamily="34" charset="-122"/>
                <a:cs typeface="Meiryo" pitchFamily="34" charset="-120"/>
              </a:rPr>
              <a:t>今後の注目点：整合の取れた全国の人的被害数、未公表の避難者数、チョコ県の水・電力の復旧、衛星による被害マッピングの結果、そして政府が既存の申し出を超えて国際支援を要請するかどうか。</a:t>
            </a:r>
            <a:endParaRPr lang="en-US" sz="780" dirty="0"/>
          </a:p>
        </p:txBody>
      </p:sp>
      <p:sp>
        <p:nvSpPr>
          <p:cNvPr id="5" name="Text 2"/>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Meiryo" pitchFamily="34" charset="0"/>
                <a:ea typeface="Meiryo" pitchFamily="34" charset="-122"/>
                <a:cs typeface="Meiryo" pitchFamily="34" charset="-120"/>
              </a:rPr>
              <a:t>出典：</a:t>
            </a:r>
            <a:pPr algn="l" indent="0" marL="0">
              <a:buNone/>
            </a:pPr>
            <a:r>
              <a:rPr lang="en-US" sz="850" u="sng" dirty="0">
                <a:solidFill>
                  <a:srgbClr val="0563C1"/>
                </a:solidFill>
                <a:latin typeface="Meiryo" pitchFamily="34" charset="0"/>
                <a:ea typeface="Meiryo" pitchFamily="34" charset="-122"/>
                <a:cs typeface="Meiryo" pitchFamily="34" charset="-120"/>
                <a:hlinkClick r:id="rId2" invalidUrl="" action="" tgtFrame="" tooltip="" history="1" highlightClick="0" endSnd="0">
                  <a:extLst>
                    <a:ext uri="{A12FA001-AC4F-418D-AE19-62706E023703}">
                      <ahyp:hlinkClr xmlns:ahyp="http://schemas.microsoft.com/office/drawing/2018/hyperlinkcolor" val="tx"/>
                    </a:ext>
                  </a:extLst>
                </a:hlinkClick>
              </a:rPr>
              <a:t>国家災害リスク管理ユニット（UNGRD）</a:t>
            </a:r>
            <a:pPr algn="l" indent="0" marL="0">
              <a:buNone/>
            </a:pPr>
            <a:r>
              <a:rPr lang="en-US" sz="850" dirty="0">
                <a:solidFill>
                  <a:srgbClr val="6A6A6A"/>
                </a:solidFill>
                <a:latin typeface="Meiryo" pitchFamily="34" charset="0"/>
                <a:ea typeface="Meiryo" pitchFamily="34" charset="-122"/>
                <a:cs typeface="Meiryo" pitchFamily="34" charset="-120"/>
              </a:rPr>
              <a:t>   ·   </a:t>
            </a:r>
            <a:pPr algn="l" indent="0" marL="0">
              <a:buNone/>
            </a:pPr>
            <a:r>
              <a:rPr lang="en-US" sz="850" u="sng" dirty="0">
                <a:solidFill>
                  <a:srgbClr val="0563C1"/>
                </a:solidFill>
                <a:latin typeface="Meiryo" pitchFamily="34" charset="0"/>
                <a:ea typeface="Meiryo" pitchFamily="34" charset="-122"/>
                <a:cs typeface="Meiryo" pitchFamily="34" charset="-120"/>
                <a:hlinkClick r:id="rId3" invalidUrl="" action="" tgtFrame="" tooltip="" history="1" highlightClick="0" endSnd="0">
                  <a:extLst>
                    <a:ext uri="{A12FA001-AC4F-418D-AE19-62706E023703}">
                      <ahyp:hlinkClr xmlns:ahyp="http://schemas.microsoft.com/office/drawing/2018/hyperlinkcolor" val="tx"/>
                    </a:ext>
                  </a:extLst>
                </a:hlinkClick>
              </a:rPr>
              <a:t>USGS 地震イベントページ</a:t>
            </a:r>
            <a:pPr algn="l" indent="0" marL="0">
              <a:buNone/>
            </a:pPr>
            <a:r>
              <a:rPr lang="en-US" sz="850" dirty="0">
                <a:solidFill>
                  <a:srgbClr val="6A6A6A"/>
                </a:solidFill>
                <a:latin typeface="Meiryo" pitchFamily="34" charset="0"/>
                <a:ea typeface="Meiryo" pitchFamily="34" charset="-122"/>
                <a:cs typeface="Meiryo" pitchFamily="34" charset="-120"/>
              </a:rPr>
              <a:t>   ·   </a:t>
            </a:r>
            <a:pPr algn="l" indent="0" marL="0">
              <a:buNone/>
            </a:pPr>
            <a:r>
              <a:rPr lang="en-US" sz="850" u="sng" dirty="0">
                <a:solidFill>
                  <a:srgbClr val="0563C1"/>
                </a:solidFill>
                <a:latin typeface="Meiryo" pitchFamily="34" charset="0"/>
                <a:ea typeface="Meiryo" pitchFamily="34" charset="-122"/>
                <a:cs typeface="Meiryo" pitchFamily="34" charset="-120"/>
                <a:hlinkClick r:id="rId4" invalidUrl="" action="" tgtFrame="" tooltip="" history="1" highlightClick="0" endSnd="0">
                  <a:extLst>
                    <a:ext uri="{A12FA001-AC4F-418D-AE19-62706E023703}">
                      <ahyp:hlinkClr xmlns:ahyp="http://schemas.microsoft.com/office/drawing/2018/hyperlinkcolor" val="tx"/>
                    </a:ext>
                  </a:extLst>
                </a:hlinkClick>
              </a:rPr>
              <a:t>ReliefWeb コロンビア</a:t>
            </a:r>
            <a:endParaRPr lang="en-US" sz="850" dirty="0"/>
          </a:p>
        </p:txBody>
      </p:sp>
      <p:sp>
        <p:nvSpPr>
          <p:cNvPr id="6" name="Shape 3"/>
          <p:cNvSpPr/>
          <p:nvPr/>
        </p:nvSpPr>
        <p:spPr>
          <a:xfrm>
            <a:off x="10268712" y="6510528"/>
            <a:ext cx="1554480" cy="274320"/>
          </a:xfrm>
          <a:prstGeom prst="rect">
            <a:avLst/>
          </a:prstGeom>
          <a:solidFill>
            <a:srgbClr val="E8A317"/>
          </a:solidFill>
          <a:ln w="12700">
            <a:solidFill>
              <a:srgbClr val="E8A317"/>
            </a:solidFill>
            <a:prstDash val="solid"/>
          </a:ln>
        </p:spPr>
      </p:sp>
      <p:sp>
        <p:nvSpPr>
          <p:cNvPr id="7" name="Text 4"/>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Meiryo" pitchFamily="34" charset="0"/>
                <a:ea typeface="Meiryo" pitchFamily="34" charset="-122"/>
                <a:cs typeface="Meiryo" pitchFamily="34" charset="-120"/>
              </a:rPr>
              <a:t>ADRC  12/08/2026</a:t>
            </a:r>
            <a:endParaRPr lang="en-US" sz="950" dirty="0"/>
          </a:p>
        </p:txBody>
      </p:sp>
      <p:sp>
        <p:nvSpPr>
          <p:cNvPr id="8" name="Text 5"/>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Meiryo" pitchFamily="34" charset="0"/>
                <a:ea typeface="Meiryo" pitchFamily="34" charset="-122"/>
                <a:cs typeface="Meiryo" pitchFamily="34" charset="-120"/>
              </a:rPr>
              <a:t>25</a:t>
            </a:r>
            <a:endParaRPr lang="en-US" sz="9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1900" b="1" dirty="0">
                <a:solidFill>
                  <a:srgbClr val="1F3864"/>
                </a:solidFill>
                <a:latin typeface="Meiryo" pitchFamily="34" charset="0"/>
                <a:ea typeface="Meiryo" pitchFamily="34" charset="-122"/>
                <a:cs typeface="Meiryo" pitchFamily="34" charset="-120"/>
              </a:rPr>
              <a:t>有用リンク・出典（1/3）</a:t>
            </a:r>
            <a:endParaRPr lang="en-US" sz="19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914400"/>
            <a:ext cx="11430000" cy="566928"/>
          </a:xfrm>
          <a:prstGeom prst="rect">
            <a:avLst/>
          </a:prstGeom>
          <a:noFill/>
          <a:ln/>
        </p:spPr>
        <p:txBody>
          <a:bodyPr wrap="square" lIns="25400" tIns="25400" rIns="25400" bIns="25400" rtlCol="0" anchor="t"/>
          <a:lstStyle/>
          <a:p>
            <a:pPr algn="l" indent="0" marL="0">
              <a:buNone/>
            </a:pPr>
            <a:r>
              <a:rPr lang="en-US" sz="950" b="1" dirty="0">
                <a:solidFill>
                  <a:srgbClr val="1F3864"/>
                </a:solidFill>
                <a:latin typeface="Meiryo" pitchFamily="34" charset="0"/>
                <a:ea typeface="Meiryo" pitchFamily="34" charset="-122"/>
                <a:cs typeface="Meiryo" pitchFamily="34" charset="-120"/>
              </a:rPr>
              <a:t>情報源方針：</a:t>
            </a:r>
            <a:pPr algn="l" indent="0" marL="0">
              <a:buNone/>
            </a:pPr>
            <a:r>
              <a:rPr lang="en-US" sz="900" dirty="0">
                <a:solidFill>
                  <a:srgbClr val="444444"/>
                </a:solidFill>
                <a:latin typeface="Meiryo" pitchFamily="34" charset="0"/>
                <a:ea typeface="Meiryo" pitchFamily="34" charset="-122"/>
                <a:cs typeface="Meiryo" pitchFamily="34" charset="-120"/>
              </a:rPr>
              <a:t>情報源の階層は「公式 &gt; 報道 &gt; 確認中」。政府・科学機関の数値を主とし、公式値が未公表の項目に限り報道を出典明示のうえ用いる。確認中の項目はTBCと表示する。速報値を、未確認のより大きな数値で安易に置き換えることはしない。</a:t>
            </a:r>
            <a:endParaRPr lang="en-US" sz="950" dirty="0"/>
          </a:p>
        </p:txBody>
      </p:sp>
      <p:graphicFrame>
        <p:nvGraphicFramePr>
          <p:cNvPr id="27" name="Table 0"/>
          <p:cNvGraphicFramePr>
            <a:graphicFrameLocks noGrp="1"/>
          </p:cNvGraphicFramePr>
          <p:nvPr>
            <p:extLst>
              <p:ext uri="{D42A27DB-BD31-4B8C-83A1-F6EECF244321}">
                <p14:modId xmlns:p14="http://schemas.microsoft.com/office/powerpoint/2010/main" val="1579011935"/>
              </p:ext>
            </p:extLst>
          </p:nvPr>
        </p:nvGraphicFramePr>
        <p:xfrm>
          <a:off x="365760" y="1536192"/>
          <a:ext cx="11430000" cy="914400"/>
        </p:xfrm>
        <a:graphic>
          <a:graphicData uri="http://schemas.openxmlformats.org/drawingml/2006/table">
            <a:tbl>
              <a:tblPr/>
              <a:tblGrid>
                <a:gridCol w="4206240"/>
                <a:gridCol w="822960"/>
                <a:gridCol w="6400800"/>
              </a:tblGrid>
              <a:tr h="292608">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情報源</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区分</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URL</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292608">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USGS 地震イベントページ</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公式</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2" invalidUrl="" action="" tgtFrame="" tooltip="" history="1" highlightClick="0" endSnd="0">
                            <a:extLst>
                              <a:ext uri="{A12FA001-AC4F-418D-AE19-62706E023703}">
                                <ahyp:hlinkClr xmlns:ahyp="http://schemas.microsoft.com/office/drawing/2018/hyperlinkcolor" val="tx"/>
                              </a:ext>
                            </a:extLst>
                          </a:hlinkClick>
                        </a:rPr>
                        <a:t>https://earthquake.usgs.gov/earthquakes/eventpage/us6000tjl2/executive</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92608">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コロンビア地質調査所（SGC）</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公式</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3" invalidUrl="" action="" tgtFrame="" tooltip="" history="1" highlightClick="0" endSnd="0">
                            <a:extLst>
                              <a:ext uri="{A12FA001-AC4F-418D-AE19-62706E023703}">
                                <ahyp:hlinkClr xmlns:ahyp="http://schemas.microsoft.com/office/drawing/2018/hyperlinkcolor" val="tx"/>
                              </a:ext>
                            </a:extLst>
                          </a:hlinkClick>
                        </a:rPr>
                        <a:t>https://www.sgc.gov.co/</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92608">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SGC 地震速報 SGC2026pqqmro（本地震）</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公式</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4" invalidUrl="" action="" tgtFrame="" tooltip="" history="1" highlightClick="0" endSnd="0">
                            <a:extLst>
                              <a:ext uri="{A12FA001-AC4F-418D-AE19-62706E023703}">
                                <ahyp:hlinkClr xmlns:ahyp="http://schemas.microsoft.com/office/drawing/2018/hyperlinkcolor" val="tx"/>
                              </a:ext>
                            </a:extLst>
                          </a:hlinkClick>
                        </a:rPr>
                        <a:t>https://www.sgc.gov.co/detallesismo/SGC2026pqqmro/</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92608">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SGC 体感震度図（ShakeMap・本地震）</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公式</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5" invalidUrl="" action="" tgtFrame="" tooltip="" history="1" highlightClick="0" endSnd="0">
                            <a:extLst>
                              <a:ext uri="{A12FA001-AC4F-418D-AE19-62706E023703}">
                                <ahyp:hlinkClr xmlns:ahyp="http://schemas.microsoft.com/office/drawing/2018/hyperlinkcolor" val="tx"/>
                              </a:ext>
                            </a:extLst>
                          </a:hlinkClick>
                        </a:rPr>
                        <a:t>https://www.sgc.gov.co/detallesismo/SGC2026pqqmro/mmi</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92608">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国家災害リスク管理ユニット（UNGRD）</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公式</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6" invalidUrl="" action="" tgtFrame="" tooltip="" history="1" highlightClick="0" endSnd="0">
                            <a:extLst>
                              <a:ext uri="{A12FA001-AC4F-418D-AE19-62706E023703}">
                                <ahyp:hlinkClr xmlns:ahyp="http://schemas.microsoft.com/office/drawing/2018/hyperlinkcolor" val="tx"/>
                              </a:ext>
                            </a:extLst>
                          </a:hlinkClick>
                        </a:rPr>
                        <a:t>https://portal.gestiondelriesgo.gov.co/</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92608">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GDACS オレンジ警報</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公式</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7" invalidUrl="" action="" tgtFrame="" tooltip="" history="1" highlightClick="0" endSnd="0">
                            <a:extLst>
                              <a:ext uri="{A12FA001-AC4F-418D-AE19-62706E023703}">
                                <ahyp:hlinkClr xmlns:ahyp="http://schemas.microsoft.com/office/drawing/2018/hyperlinkcolor" val="tx"/>
                              </a:ext>
                            </a:extLst>
                          </a:hlinkClick>
                        </a:rPr>
                        <a:t>https://gdacs.org/report.aspx?eventid=1557236&amp;eventtype=EQ</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92608">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国際災害チャーター 発動一覧</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公式</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8" invalidUrl="" action="" tgtFrame="" tooltip="" history="1" highlightClick="0" endSnd="0">
                            <a:extLst>
                              <a:ext uri="{A12FA001-AC4F-418D-AE19-62706E023703}">
                                <ahyp:hlinkClr xmlns:ahyp="http://schemas.microsoft.com/office/drawing/2018/hyperlinkcolor" val="tx"/>
                              </a:ext>
                            </a:extLst>
                          </a:hlinkClick>
                        </a:rPr>
                        <a:t>https://disasterscharter.org/activations</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92608">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コペルニクスEMS EMSR916「Earthquake in Colombia」（発動）</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公式</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9" invalidUrl="" action="" tgtFrame="" tooltip="" history="1" highlightClick="0" endSnd="0">
                            <a:extLst>
                              <a:ext uri="{A12FA001-AC4F-418D-AE19-62706E023703}">
                                <ahyp:hlinkClr xmlns:ahyp="http://schemas.microsoft.com/office/drawing/2018/hyperlinkcolor" val="tx"/>
                              </a:ext>
                            </a:extLst>
                          </a:hlinkClick>
                        </a:rPr>
                        <a:t>https://mapping.emergency.copernicus.eu/activations/EMSR916/</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92608">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ReliefWeb コロンビア</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公式</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10" invalidUrl="" action="" tgtFrame="" tooltip="" history="1" highlightClick="0" endSnd="0">
                            <a:extLst>
                              <a:ext uri="{A12FA001-AC4F-418D-AE19-62706E023703}">
                                <ahyp:hlinkClr xmlns:ahyp="http://schemas.microsoft.com/office/drawing/2018/hyperlinkcolor" val="tx"/>
                              </a:ext>
                            </a:extLst>
                          </a:hlinkClick>
                        </a:rPr>
                        <a:t>https://reliefweb.int/country/col</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92608">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PAHO/WHO コロンビア</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公式</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11" invalidUrl="" action="" tgtFrame="" tooltip="" history="1" highlightClick="0" endSnd="0">
                            <a:extLst>
                              <a:ext uri="{A12FA001-AC4F-418D-AE19-62706E023703}">
                                <ahyp:hlinkClr xmlns:ahyp="http://schemas.microsoft.com/office/drawing/2018/hyperlinkcolor" val="tx"/>
                              </a:ext>
                            </a:extLst>
                          </a:hlinkClick>
                        </a:rPr>
                        <a:t>https://www.paho.org/en/colombia</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92608">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PreventionWeb コロンビア国家防災計画</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公式</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12" invalidUrl="" action="" tgtFrame="" tooltip="" history="1" highlightClick="0" endSnd="0">
                            <a:extLst>
                              <a:ext uri="{A12FA001-AC4F-418D-AE19-62706E023703}">
                                <ahyp:hlinkClr xmlns:ahyp="http://schemas.microsoft.com/office/drawing/2018/hyperlinkcolor" val="tx"/>
                              </a:ext>
                            </a:extLst>
                          </a:hlinkClick>
                        </a:rPr>
                        <a:t>https://www.preventionweb.net/publication/colombia-plan-nacional-de-gestion-del-riesgo-de-desastres-pngrd-2015-2030</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92608">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GEM コロンビアの耐震規定（NSR-10）</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公式</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13" invalidUrl="" action="" tgtFrame="" tooltip="" history="1" highlightClick="0" endSnd="0">
                            <a:extLst>
                              <a:ext uri="{A12FA001-AC4F-418D-AE19-62706E023703}">
                                <ahyp:hlinkClr xmlns:ahyp="http://schemas.microsoft.com/office/drawing/2018/hyperlinkcolor" val="tx"/>
                              </a:ext>
                            </a:extLst>
                          </a:hlinkClick>
                        </a:rPr>
                        <a:t>https://www.globalquakemodel.org/seismic-regulations/colombia</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92608">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CNN 速報：死者132人に増加</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Meiryo" pitchFamily="34" charset="0"/>
                          <a:ea typeface="Meiryo" pitchFamily="34" charset="-122"/>
                          <a:cs typeface="Meiryo" pitchFamily="34" charset="-120"/>
                        </a:rPr>
                        <a:t>報道</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14" invalidUrl="" action="" tgtFrame="" tooltip="" history="1" highlightClick="0" endSnd="0">
                            <a:extLst>
                              <a:ext uri="{A12FA001-AC4F-418D-AE19-62706E023703}">
                                <ahyp:hlinkClr xmlns:ahyp="http://schemas.microsoft.com/office/drawing/2018/hyperlinkcolor" val="tx"/>
                              </a:ext>
                            </a:extLst>
                          </a:hlinkClick>
                        </a:rPr>
                        <a:t>https://www.cnn.com/2026/08/10/world/live-news/colombia-earthquake-san-jose-del-palmar</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92608">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El Colombiano チョコ県で負傷84人・死者12人（県政府）</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Meiryo" pitchFamily="34" charset="0"/>
                          <a:ea typeface="Meiryo" pitchFamily="34" charset="-122"/>
                          <a:cs typeface="Meiryo" pitchFamily="34" charset="-120"/>
                        </a:rPr>
                        <a:t>報道</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15" invalidUrl="" action="" tgtFrame="" tooltip="" history="1" highlightClick="0" endSnd="0">
                            <a:extLst>
                              <a:ext uri="{A12FA001-AC4F-418D-AE19-62706E023703}">
                                <ahyp:hlinkClr xmlns:ahyp="http://schemas.microsoft.com/office/drawing/2018/hyperlinkcolor" val="tx"/>
                              </a:ext>
                            </a:extLst>
                          </a:hlinkClick>
                        </a:rPr>
                        <a:t>https://www.elcolombiano.com/colombia/terremoto-temblor-hoy-colombia-choco-heridos-FL39761141</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92608">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UN-SPIDER UNGRD紹介</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公式</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16" invalidUrl="" action="" tgtFrame="" tooltip="" history="1" highlightClick="0" endSnd="0">
                            <a:extLst>
                              <a:ext uri="{A12FA001-AC4F-418D-AE19-62706E023703}">
                                <ahyp:hlinkClr xmlns:ahyp="http://schemas.microsoft.com/office/drawing/2018/hyperlinkcolor" val="tx"/>
                              </a:ext>
                            </a:extLst>
                          </a:hlinkClick>
                        </a:rPr>
                        <a:t>https://un-spider.org/national-unit-disaster-risk-management-ungrd-colombia</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6" name="Shape 2"/>
          <p:cNvSpPr/>
          <p:nvPr/>
        </p:nvSpPr>
        <p:spPr>
          <a:xfrm>
            <a:off x="10268712" y="6510528"/>
            <a:ext cx="1554480" cy="274320"/>
          </a:xfrm>
          <a:prstGeom prst="rect">
            <a:avLst/>
          </a:prstGeom>
          <a:solidFill>
            <a:srgbClr val="E8A317"/>
          </a:solidFill>
          <a:ln w="12700">
            <a:solidFill>
              <a:srgbClr val="E8A317"/>
            </a:solidFill>
            <a:prstDash val="solid"/>
          </a:ln>
        </p:spPr>
      </p:sp>
      <p:sp>
        <p:nvSpPr>
          <p:cNvPr id="7" name="Text 3"/>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Meiryo" pitchFamily="34" charset="0"/>
                <a:ea typeface="Meiryo" pitchFamily="34" charset="-122"/>
                <a:cs typeface="Meiryo" pitchFamily="34" charset="-120"/>
              </a:rPr>
              <a:t>ADRC  12/08/2026</a:t>
            </a:r>
            <a:endParaRPr lang="en-US" sz="950" dirty="0"/>
          </a:p>
        </p:txBody>
      </p:sp>
      <p:sp>
        <p:nvSpPr>
          <p:cNvPr id="8" name="Text 4"/>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Meiryo" pitchFamily="34" charset="0"/>
                <a:ea typeface="Meiryo" pitchFamily="34" charset="-122"/>
                <a:cs typeface="Meiryo" pitchFamily="34" charset="-120"/>
              </a:rPr>
              <a:t>26</a:t>
            </a:r>
            <a:endParaRPr lang="en-US" sz="9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1900" b="1" dirty="0">
                <a:solidFill>
                  <a:srgbClr val="1F3864"/>
                </a:solidFill>
                <a:latin typeface="Meiryo" pitchFamily="34" charset="0"/>
                <a:ea typeface="Meiryo" pitchFamily="34" charset="-122"/>
                <a:cs typeface="Meiryo" pitchFamily="34" charset="-120"/>
              </a:rPr>
              <a:t>有用リンク・出典（2/3）</a:t>
            </a:r>
            <a:endParaRPr lang="en-US" sz="19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graphicFrame>
        <p:nvGraphicFramePr>
          <p:cNvPr id="28" name="Table 0"/>
          <p:cNvGraphicFramePr>
            <a:graphicFrameLocks noGrp="1"/>
          </p:cNvGraphicFramePr>
          <p:nvPr>
            <p:extLst>
              <p:ext uri="{D42A27DB-BD31-4B8C-83A1-F6EECF244321}">
                <p14:modId xmlns:p14="http://schemas.microsoft.com/office/powerpoint/2010/main" val="1579011935"/>
              </p:ext>
            </p:extLst>
          </p:nvPr>
        </p:nvGraphicFramePr>
        <p:xfrm>
          <a:off x="365760" y="1024128"/>
          <a:ext cx="11430000" cy="914400"/>
        </p:xfrm>
        <a:graphic>
          <a:graphicData uri="http://schemas.openxmlformats.org/drawingml/2006/table">
            <a:tbl>
              <a:tblPr/>
              <a:tblGrid>
                <a:gridCol w="4206240"/>
                <a:gridCol w="822960"/>
                <a:gridCol w="6400800"/>
              </a:tblGrid>
              <a:tr h="292608">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情報源</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区分</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URL</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292608">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OECD コロンビアのリスクガバナンス評価</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公式</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2" invalidUrl="" action="" tgtFrame="" tooltip="" history="1" highlightClick="0" endSnd="0">
                            <a:extLst>
                              <a:ext uri="{A12FA001-AC4F-418D-AE19-62706E023703}">
                                <ahyp:hlinkClr xmlns:ahyp="http://schemas.microsoft.com/office/drawing/2018/hyperlinkcolor" val="tx"/>
                              </a:ext>
                            </a:extLst>
                          </a:hlinkClick>
                        </a:rPr>
                        <a:t>https://www.oecd.org/en/publications/risk-governance-scan-of-colombia_eeb81954-en.html</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92608">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CNN 速報（死者111人）</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Meiryo" pitchFamily="34" charset="0"/>
                          <a:ea typeface="Meiryo" pitchFamily="34" charset="-122"/>
                          <a:cs typeface="Meiryo" pitchFamily="34" charset="-120"/>
                        </a:rPr>
                        <a:t>報道</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3" invalidUrl="" action="" tgtFrame="" tooltip="" history="1" highlightClick="0" endSnd="0">
                            <a:extLst>
                              <a:ext uri="{A12FA001-AC4F-418D-AE19-62706E023703}">
                                <ahyp:hlinkClr xmlns:ahyp="http://schemas.microsoft.com/office/drawing/2018/hyperlinkcolor" val="tx"/>
                              </a:ext>
                            </a:extLst>
                          </a:hlinkClick>
                        </a:rPr>
                        <a:t>https://www.cnn.com/2026/08/10/world/live-news/colombia-earthquake-san-jose-del-palmar</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92608">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France 24 国家非常事態宣言</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Meiryo" pitchFamily="34" charset="0"/>
                          <a:ea typeface="Meiryo" pitchFamily="34" charset="-122"/>
                          <a:cs typeface="Meiryo" pitchFamily="34" charset="-120"/>
                        </a:rPr>
                        <a:t>報道</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4" invalidUrl="" action="" tgtFrame="" tooltip="" history="1" highlightClick="0" endSnd="0">
                            <a:extLst>
                              <a:ext uri="{A12FA001-AC4F-418D-AE19-62706E023703}">
                                <ahyp:hlinkClr xmlns:ahyp="http://schemas.microsoft.com/office/drawing/2018/hyperlinkcolor" val="tx"/>
                              </a:ext>
                            </a:extLst>
                          </a:hlinkClick>
                        </a:rPr>
                        <a:t>https://www.france24.com/en/americas/20260810-powerful-quake-rocks-colombia-causing-major-damage</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92608">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アルジャジーラ 報道</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Meiryo" pitchFamily="34" charset="0"/>
                          <a:ea typeface="Meiryo" pitchFamily="34" charset="-122"/>
                          <a:cs typeface="Meiryo" pitchFamily="34" charset="-120"/>
                        </a:rPr>
                        <a:t>報道</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5" invalidUrl="" action="" tgtFrame="" tooltip="" history="1" highlightClick="0" endSnd="0">
                            <a:extLst>
                              <a:ext uri="{A12FA001-AC4F-418D-AE19-62706E023703}">
                                <ahyp:hlinkClr xmlns:ahyp="http://schemas.microsoft.com/office/drawing/2018/hyperlinkcolor" val="tx"/>
                              </a:ext>
                            </a:extLst>
                          </a:hlinkClick>
                        </a:rPr>
                        <a:t>https://www.aljazeera.com/news/2026/8/10/7-4-magnitude-earthquake-hits-colombia-killing-at-least-20</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92608">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CBS ニュース</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Meiryo" pitchFamily="34" charset="0"/>
                          <a:ea typeface="Meiryo" pitchFamily="34" charset="-122"/>
                          <a:cs typeface="Meiryo" pitchFamily="34" charset="-120"/>
                        </a:rPr>
                        <a:t>報道</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6" invalidUrl="" action="" tgtFrame="" tooltip="" history="1" highlightClick="0" endSnd="0">
                            <a:extLst>
                              <a:ext uri="{A12FA001-AC4F-418D-AE19-62706E023703}">
                                <ahyp:hlinkClr xmlns:ahyp="http://schemas.microsoft.com/office/drawing/2018/hyperlinkcolor" val="tx"/>
                              </a:ext>
                            </a:extLst>
                          </a:hlinkClick>
                        </a:rPr>
                        <a:t>https://www.cbsnews.com/news/colombia-earthquake-western-region-evacuations/</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92608">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NBC ニュース</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Meiryo" pitchFamily="34" charset="0"/>
                          <a:ea typeface="Meiryo" pitchFamily="34" charset="-122"/>
                          <a:cs typeface="Meiryo" pitchFamily="34" charset="-120"/>
                        </a:rPr>
                        <a:t>報道</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7" invalidUrl="" action="" tgtFrame="" tooltip="" history="1" highlightClick="0" endSnd="0">
                            <a:extLst>
                              <a:ext uri="{A12FA001-AC4F-418D-AE19-62706E023703}">
                                <ahyp:hlinkClr xmlns:ahyp="http://schemas.microsoft.com/office/drawing/2018/hyperlinkcolor" val="tx"/>
                              </a:ext>
                            </a:extLst>
                          </a:hlinkClick>
                        </a:rPr>
                        <a:t>https://www.nbcnews.com/world/latin-america/strong-earthquake-colombia-ecuador-people-evacuating-homes-buildings-rcna591709</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92608">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Colombia One 政府第1次被害評価</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Meiryo" pitchFamily="34" charset="0"/>
                          <a:ea typeface="Meiryo" pitchFamily="34" charset="-122"/>
                          <a:cs typeface="Meiryo" pitchFamily="34" charset="-120"/>
                        </a:rPr>
                        <a:t>報道</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8" invalidUrl="" action="" tgtFrame="" tooltip="" history="1" highlightClick="0" endSnd="0">
                            <a:extLst>
                              <a:ext uri="{A12FA001-AC4F-418D-AE19-62706E023703}">
                                <ahyp:hlinkClr xmlns:ahyp="http://schemas.microsoft.com/office/drawing/2018/hyperlinkcolor" val="tx"/>
                              </a:ext>
                            </a:extLst>
                          </a:hlinkClick>
                        </a:rPr>
                        <a:t>https://colombiaone.com/2026/08/10/earthquake-colombia-official-details/</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92608">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Colombia One 国家災害宣言</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Meiryo" pitchFamily="34" charset="0"/>
                          <a:ea typeface="Meiryo" pitchFamily="34" charset="-122"/>
                          <a:cs typeface="Meiryo" pitchFamily="34" charset="-120"/>
                        </a:rPr>
                        <a:t>報道</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9" invalidUrl="" action="" tgtFrame="" tooltip="" history="1" highlightClick="0" endSnd="0">
                            <a:extLst>
                              <a:ext uri="{A12FA001-AC4F-418D-AE19-62706E023703}">
                                <ahyp:hlinkClr xmlns:ahyp="http://schemas.microsoft.com/office/drawing/2018/hyperlinkcolor" val="tx"/>
                              </a:ext>
                            </a:extLst>
                          </a:hlinkClick>
                        </a:rPr>
                        <a:t>https://colombiaone.com/2026/08/10/colombia-national-disaster/</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92608">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Infobae SGCによる長い揺れの解説</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Meiryo" pitchFamily="34" charset="0"/>
                          <a:ea typeface="Meiryo" pitchFamily="34" charset="-122"/>
                          <a:cs typeface="Meiryo" pitchFamily="34" charset="-120"/>
                        </a:rPr>
                        <a:t>報道</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10" invalidUrl="" action="" tgtFrame="" tooltip="" history="1" highlightClick="0" endSnd="0">
                            <a:extLst>
                              <a:ext uri="{A12FA001-AC4F-418D-AE19-62706E023703}">
                                <ahyp:hlinkClr xmlns:ahyp="http://schemas.microsoft.com/office/drawing/2018/hyperlinkcolor" val="tx"/>
                              </a:ext>
                            </a:extLst>
                          </a:hlinkClick>
                        </a:rPr>
                        <a:t>https://www.infobae.com/colombia/2026/08/10/por-que-el-temblor-en-colombia-de-este-lunes-10-de-agosto-duro-una-eternidad-el-servicio-geologico-explico-que-paso/</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92608">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NHK 大統領「111人死亡・87人けが」</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Meiryo" pitchFamily="34" charset="0"/>
                          <a:ea typeface="Meiryo" pitchFamily="34" charset="-122"/>
                          <a:cs typeface="Meiryo" pitchFamily="34" charset="-120"/>
                        </a:rPr>
                        <a:t>報道</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11" invalidUrl="" action="" tgtFrame="" tooltip="" history="1" highlightClick="0" endSnd="0">
                            <a:extLst>
                              <a:ext uri="{A12FA001-AC4F-418D-AE19-62706E023703}">
                                <ahyp:hlinkClr xmlns:ahyp="http://schemas.microsoft.com/office/drawing/2018/hyperlinkcolor" val="tx"/>
                              </a:ext>
                            </a:extLst>
                          </a:hlinkClick>
                        </a:rPr>
                        <a:t>https://www3.nhk.or.jp/news/</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92608">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日本経済新聞 コロンビア西部でM7.4</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Meiryo" pitchFamily="34" charset="0"/>
                          <a:ea typeface="Meiryo" pitchFamily="34" charset="-122"/>
                          <a:cs typeface="Meiryo" pitchFamily="34" charset="-120"/>
                        </a:rPr>
                        <a:t>報道</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12" invalidUrl="" action="" tgtFrame="" tooltip="" history="1" highlightClick="0" endSnd="0">
                            <a:extLst>
                              <a:ext uri="{A12FA001-AC4F-418D-AE19-62706E023703}">
                                <ahyp:hlinkClr xmlns:ahyp="http://schemas.microsoft.com/office/drawing/2018/hyperlinkcolor" val="tx"/>
                              </a:ext>
                            </a:extLst>
                          </a:hlinkClick>
                        </a:rPr>
                        <a:t>https://www.nikkei.com/article/DGXZQOGN108V30Q6A810C2000000/</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92608">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時事通信 コロンビアでM7.4</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Meiryo" pitchFamily="34" charset="0"/>
                          <a:ea typeface="Meiryo" pitchFamily="34" charset="-122"/>
                          <a:cs typeface="Meiryo" pitchFamily="34" charset="-120"/>
                        </a:rPr>
                        <a:t>報道</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13" invalidUrl="" action="" tgtFrame="" tooltip="" history="1" highlightClick="0" endSnd="0">
                            <a:extLst>
                              <a:ext uri="{A12FA001-AC4F-418D-AE19-62706E023703}">
                                <ahyp:hlinkClr xmlns:ahyp="http://schemas.microsoft.com/office/drawing/2018/hyperlinkcolor" val="tx"/>
                              </a:ext>
                            </a:extLst>
                          </a:hlinkClick>
                        </a:rPr>
                        <a:t>https://www.jiji.com/jc/article?k=2026081000878&amp;g=int</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92608">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セーブ・ザ・チルドレン 声明</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Meiryo" pitchFamily="34" charset="0"/>
                          <a:ea typeface="Meiryo" pitchFamily="34" charset="-122"/>
                          <a:cs typeface="Meiryo" pitchFamily="34" charset="-120"/>
                        </a:rPr>
                        <a:t>報道</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14" invalidUrl="" action="" tgtFrame="" tooltip="" history="1" highlightClick="0" endSnd="0">
                            <a:extLst>
                              <a:ext uri="{A12FA001-AC4F-418D-AE19-62706E023703}">
                                <ahyp:hlinkClr xmlns:ahyp="http://schemas.microsoft.com/office/drawing/2018/hyperlinkcolor" val="tx"/>
                              </a:ext>
                            </a:extLst>
                          </a:hlinkClick>
                        </a:rPr>
                        <a:t>https://www.savethechildren.org/us/about-us/media-and-news/2026-press-releases/children-at-risk-after-earthquake-strikes-colombia</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92608">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ダイレクト・リリーフ 医療支援</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Meiryo" pitchFamily="34" charset="0"/>
                          <a:ea typeface="Meiryo" pitchFamily="34" charset="-122"/>
                          <a:cs typeface="Meiryo" pitchFamily="34" charset="-120"/>
                        </a:rPr>
                        <a:t>報道</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15" invalidUrl="" action="" tgtFrame="" tooltip="" history="1" highlightClick="0" endSnd="0">
                            <a:extLst>
                              <a:ext uri="{A12FA001-AC4F-418D-AE19-62706E023703}">
                                <ahyp:hlinkClr xmlns:ahyp="http://schemas.microsoft.com/office/drawing/2018/hyperlinkcolor" val="tx"/>
                              </a:ext>
                            </a:extLst>
                          </a:hlinkClick>
                        </a:rPr>
                        <a:t>https://www.directrelief.org/2026/08/colombia-earthquake-7-4-magnitude-direct-relief-response/</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92608">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アメリケアズ 対応</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Meiryo" pitchFamily="34" charset="0"/>
                          <a:ea typeface="Meiryo" pitchFamily="34" charset="-122"/>
                          <a:cs typeface="Meiryo" pitchFamily="34" charset="-120"/>
                        </a:rPr>
                        <a:t>報道</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16" invalidUrl="" action="" tgtFrame="" tooltip="" history="1" highlightClick="0" endSnd="0">
                            <a:extLst>
                              <a:ext uri="{A12FA001-AC4F-418D-AE19-62706E023703}">
                                <ahyp:hlinkClr xmlns:ahyp="http://schemas.microsoft.com/office/drawing/2018/hyperlinkcolor" val="tx"/>
                              </a:ext>
                            </a:extLst>
                          </a:hlinkClick>
                        </a:rPr>
                        <a:t>https://www.americares.org/crisis-alerts/colombia-earthquake-august-2026/</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92608">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GLIDE番号 — EQ-2026-000146-COL（災害識別番号）</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公式</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17" invalidUrl="" action="" tgtFrame="" tooltip="" history="1" highlightClick="0" endSnd="0">
                            <a:extLst>
                              <a:ext uri="{A12FA001-AC4F-418D-AE19-62706E023703}">
                                <ahyp:hlinkClr xmlns:ahyp="http://schemas.microsoft.com/office/drawing/2018/hyperlinkcolor" val="tx"/>
                              </a:ext>
                            </a:extLst>
                          </a:hlinkClick>
                        </a:rPr>
                        <a:t>https://glidenumber.net/</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92608">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アジア防災センター（ADRC）</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公式</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18" invalidUrl="" action="" tgtFrame="" tooltip="" history="1" highlightClick="0" endSnd="0">
                            <a:extLst>
                              <a:ext uri="{A12FA001-AC4F-418D-AE19-62706E023703}">
                                <ahyp:hlinkClr xmlns:ahyp="http://schemas.microsoft.com/office/drawing/2018/hyperlinkcolor" val="tx"/>
                              </a:ext>
                            </a:extLst>
                          </a:hlinkClick>
                        </a:rPr>
                        <a:t>https://www.adrc.asia/</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5" name="Shape 1"/>
          <p:cNvSpPr/>
          <p:nvPr/>
        </p:nvSpPr>
        <p:spPr>
          <a:xfrm>
            <a:off x="10268712" y="6510528"/>
            <a:ext cx="1554480" cy="274320"/>
          </a:xfrm>
          <a:prstGeom prst="rect">
            <a:avLst/>
          </a:prstGeom>
          <a:solidFill>
            <a:srgbClr val="E8A317"/>
          </a:solidFill>
          <a:ln w="12700">
            <a:solidFill>
              <a:srgbClr val="E8A317"/>
            </a:solidFill>
            <a:prstDash val="solid"/>
          </a:ln>
        </p:spPr>
      </p:sp>
      <p:sp>
        <p:nvSpPr>
          <p:cNvPr id="6" name="Text 2"/>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Meiryo" pitchFamily="34" charset="0"/>
                <a:ea typeface="Meiryo" pitchFamily="34" charset="-122"/>
                <a:cs typeface="Meiryo" pitchFamily="34" charset="-120"/>
              </a:rPr>
              <a:t>ADRC  12/08/2026</a:t>
            </a:r>
            <a:endParaRPr lang="en-US" sz="950" dirty="0"/>
          </a:p>
        </p:txBody>
      </p:sp>
      <p:sp>
        <p:nvSpPr>
          <p:cNvPr id="7" name="Text 3"/>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Meiryo" pitchFamily="34" charset="0"/>
                <a:ea typeface="Meiryo" pitchFamily="34" charset="-122"/>
                <a:cs typeface="Meiryo" pitchFamily="34" charset="-120"/>
              </a:rPr>
              <a:t>27</a:t>
            </a:r>
            <a:endParaRPr lang="en-US" sz="90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1900" b="1" dirty="0">
                <a:solidFill>
                  <a:srgbClr val="1F3864"/>
                </a:solidFill>
                <a:latin typeface="Meiryo" pitchFamily="34" charset="0"/>
                <a:ea typeface="Meiryo" pitchFamily="34" charset="-122"/>
                <a:cs typeface="Meiryo" pitchFamily="34" charset="-120"/>
              </a:rPr>
              <a:t>有用リンク・出典（3/3）</a:t>
            </a:r>
            <a:endParaRPr lang="en-US" sz="19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graphicFrame>
        <p:nvGraphicFramePr>
          <p:cNvPr id="29" name="Table 0"/>
          <p:cNvGraphicFramePr>
            <a:graphicFrameLocks noGrp="1"/>
          </p:cNvGraphicFramePr>
          <p:nvPr>
            <p:extLst>
              <p:ext uri="{D42A27DB-BD31-4B8C-83A1-F6EECF244321}">
                <p14:modId xmlns:p14="http://schemas.microsoft.com/office/powerpoint/2010/main" val="1579011935"/>
              </p:ext>
            </p:extLst>
          </p:nvPr>
        </p:nvGraphicFramePr>
        <p:xfrm>
          <a:off x="365760" y="1024128"/>
          <a:ext cx="11430000" cy="914400"/>
        </p:xfrm>
        <a:graphic>
          <a:graphicData uri="http://schemas.openxmlformats.org/drawingml/2006/table">
            <a:tbl>
              <a:tblPr/>
              <a:tblGrid>
                <a:gridCol w="4206240"/>
                <a:gridCol w="822960"/>
                <a:gridCol w="6400800"/>
              </a:tblGrid>
              <a:tr h="292608">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情報源</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区分</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URL</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292608">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欧州委員会 コロンビア支援・コペルニクス発動</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Meiryo" pitchFamily="34" charset="0"/>
                          <a:ea typeface="Meiryo" pitchFamily="34" charset="-122"/>
                          <a:cs typeface="Meiryo" pitchFamily="34" charset="-120"/>
                        </a:rPr>
                        <a:t>報道</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2" invalidUrl="" action="" tgtFrame="" tooltip="" history="1" highlightClick="0" endSnd="0">
                            <a:extLst>
                              <a:ext uri="{A12FA001-AC4F-418D-AE19-62706E023703}">
                                <ahyp:hlinkClr xmlns:ahyp="http://schemas.microsoft.com/office/drawing/2018/hyperlinkcolor" val="tx"/>
                              </a:ext>
                            </a:extLst>
                          </a:hlinkClick>
                        </a:rPr>
                        <a:t>https://www.democrata.es/en/international/von-der-leyen-expresses-the-eu-s-support-for-colombia-and-activates-copernicus-after-the-earthquake/</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92608">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GEM財団 TREQプロジェクト（都市地震リスク：キト／カリ／サンティアゴ）</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公式</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3" invalidUrl="" action="" tgtFrame="" tooltip="" history="1" highlightClick="0" endSnd="0">
                            <a:extLst>
                              <a:ext uri="{A12FA001-AC4F-418D-AE19-62706E023703}">
                                <ahyp:hlinkClr xmlns:ahyp="http://schemas.microsoft.com/office/drawing/2018/hyperlinkcolor" val="tx"/>
                              </a:ext>
                            </a:extLst>
                          </a:hlinkClick>
                        </a:rPr>
                        <a:t>https://www.globalquakemodel.org/proj/treq</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92608">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GEM-TREQ カリ市地震リスク評価（技術報告 D2.6.2）</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公式</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4" invalidUrl="" action="" tgtFrame="" tooltip="" history="1" highlightClick="0" endSnd="0">
                            <a:extLst>
                              <a:ext uri="{A12FA001-AC4F-418D-AE19-62706E023703}">
                                <ahyp:hlinkClr xmlns:ahyp="http://schemas.microsoft.com/office/drawing/2018/hyperlinkcolor" val="tx"/>
                              </a:ext>
                            </a:extLst>
                          </a:hlinkClick>
                        </a:rPr>
                        <a:t>https://cloud-storage.globalquakemodel.org/public/wix-new-website/pdf-collections-wix/publications/TREQ%20deliverables/reports/TREQ_D262_Riesgo_Sismico_Cali_v1.00.pdf</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92608">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査読論文：カリ市の地震リスク理解とリスク管理への応用（2025）</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公式</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5" invalidUrl="" action="" tgtFrame="" tooltip="" history="1" highlightClick="0" endSnd="0">
                            <a:extLst>
                              <a:ext uri="{A12FA001-AC4F-418D-AE19-62706E023703}">
                                <ahyp:hlinkClr xmlns:ahyp="http://schemas.microsoft.com/office/drawing/2018/hyperlinkcolor" val="tx"/>
                              </a:ext>
                            </a:extLst>
                          </a:hlinkClick>
                        </a:rPr>
                        <a:t>https://www.sciencedirect.com/science/article/abs/pii/S2212420925003097</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92608">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SATIC カリ市の住民参加型早期警戒システム</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公式</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6" invalidUrl="" action="" tgtFrame="" tooltip="" history="1" highlightClick="0" endSnd="0">
                            <a:extLst>
                              <a:ext uri="{A12FA001-AC4F-418D-AE19-62706E023703}">
                                <ahyp:hlinkClr xmlns:ahyp="http://schemas.microsoft.com/office/drawing/2018/hyperlinkcolor" val="tx"/>
                              </a:ext>
                            </a:extLst>
                          </a:hlinkClick>
                        </a:rPr>
                        <a:t>https://satic.cali.gov.co/satic</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92608">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サンティアゴ・デ・カリ市 災害リスク管理</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公式</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7" invalidUrl="" action="" tgtFrame="" tooltip="" history="1" highlightClick="0" endSnd="0">
                            <a:extLst>
                              <a:ext uri="{A12FA001-AC4F-418D-AE19-62706E023703}">
                                <ahyp:hlinkClr xmlns:ahyp="http://schemas.microsoft.com/office/drawing/2018/hyperlinkcolor" val="tx"/>
                              </a:ext>
                            </a:extLst>
                          </a:hlinkClick>
                        </a:rPr>
                        <a:t>https://www.cali.gov.co/gestiondelriesgo/</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92608">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UNGRD 国家災害リスク管理計画（PNGRD）</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公式</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8" invalidUrl="" action="" tgtFrame="" tooltip="" history="1" highlightClick="0" endSnd="0">
                            <a:extLst>
                              <a:ext uri="{A12FA001-AC4F-418D-AE19-62706E023703}">
                                <ahyp:hlinkClr xmlns:ahyp="http://schemas.microsoft.com/office/drawing/2018/hyperlinkcolor" val="tx"/>
                              </a:ext>
                            </a:extLst>
                          </a:hlinkClick>
                        </a:rPr>
                        <a:t>https://portal.gestiondelriesgo.gov.co/Paginas/Plan-Nacional-de-Gestion-del-Riesgo.aspx</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92608">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2022年大統領令第1478号（PNGRD更新）</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公式</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9" invalidUrl="" action="" tgtFrame="" tooltip="" history="1" highlightClick="0" endSnd="0">
                            <a:extLst>
                              <a:ext uri="{A12FA001-AC4F-418D-AE19-62706E023703}">
                                <ahyp:hlinkClr xmlns:ahyp="http://schemas.microsoft.com/office/drawing/2018/hyperlinkcolor" val="tx"/>
                              </a:ext>
                            </a:extLst>
                          </a:hlinkClick>
                        </a:rPr>
                        <a:t>https://www.funcionpublica.gov.co/eva/gestornormativo/norma.php?i=191411</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92608">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EMSC-CSEM SeismicPortal 地震速報・FDSNイベントサービス</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公式</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10" invalidUrl="" action="" tgtFrame="" tooltip="" history="1" highlightClick="0" endSnd="0">
                            <a:extLst>
                              <a:ext uri="{A12FA001-AC4F-418D-AE19-62706E023703}">
                                <ahyp:hlinkClr xmlns:ahyp="http://schemas.microsoft.com/office/drawing/2018/hyperlinkcolor" val="tx"/>
                              </a:ext>
                            </a:extLst>
                          </a:hlinkClick>
                        </a:rPr>
                        <a:t>https://www.emsc-csem.org/</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92608">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SGC 地震カタログ閲覧（精査済みは2018年2月まで）</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公式</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11" invalidUrl="" action="" tgtFrame="" tooltip="" history="1" highlightClick="0" endSnd="0">
                            <a:extLst>
                              <a:ext uri="{A12FA001-AC4F-418D-AE19-62706E023703}">
                                <ahyp:hlinkClr xmlns:ahyp="http://schemas.microsoft.com/office/drawing/2018/hyperlinkcolor" val="tx"/>
                              </a:ext>
                            </a:extLst>
                          </a:hlinkClick>
                        </a:rPr>
                        <a:t>https://catalogosismico.sgc.gov.co/visor/index.html</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92608">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El Tiempo 速報（8月11日、カリの死者85人に）</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Meiryo" pitchFamily="34" charset="0"/>
                          <a:ea typeface="Meiryo" pitchFamily="34" charset="-122"/>
                          <a:cs typeface="Meiryo" pitchFamily="34" charset="-120"/>
                        </a:rPr>
                        <a:t>報道</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12" invalidUrl="" action="" tgtFrame="" tooltip="" history="1" highlightClick="0" endSnd="0">
                            <a:extLst>
                              <a:ext uri="{A12FA001-AC4F-418D-AE19-62706E023703}">
                                <ahyp:hlinkClr xmlns:ahyp="http://schemas.microsoft.com/office/drawing/2018/hyperlinkcolor" val="tx"/>
                              </a:ext>
                            </a:extLst>
                          </a:hlinkClick>
                        </a:rPr>
                        <a:t>https://www.eltiempo.com/colombia/otras-ciudades/terremoto-en-colombia-de-7-4-en-vivo-el-comandante-del-ejercito-nacional-se-encuentra-en-choco-coordinando-las-labores-de-atencion-de-la-emergencia-3577491</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92608">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Asocapitales 集計：死者132人・負傷570人超（都市別）</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Meiryo" pitchFamily="34" charset="0"/>
                          <a:ea typeface="Meiryo" pitchFamily="34" charset="-122"/>
                          <a:cs typeface="Meiryo" pitchFamily="34" charset="-120"/>
                        </a:rPr>
                        <a:t>報道</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13" invalidUrl="" action="" tgtFrame="" tooltip="" history="1" highlightClick="0" endSnd="0">
                            <a:extLst>
                              <a:ext uri="{A12FA001-AC4F-418D-AE19-62706E023703}">
                                <ahyp:hlinkClr xmlns:ahyp="http://schemas.microsoft.com/office/drawing/2018/hyperlinkcolor" val="tx"/>
                              </a:ext>
                            </a:extLst>
                          </a:hlinkClick>
                        </a:rPr>
                        <a:t>https://www.elespectador.com/colombia/mas-regiones/temblor-en-colombia-hoy-10-de-agosto-en-vivo-epicentro-y-reporte-de-afectaciones/</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92608">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Noticias Caracol UNGRD集計：死者182人・負傷2,542人・行方不明189人</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Meiryo" pitchFamily="34" charset="0"/>
                          <a:ea typeface="Meiryo" pitchFamily="34" charset="-122"/>
                          <a:cs typeface="Meiryo" pitchFamily="34" charset="-120"/>
                        </a:rPr>
                        <a:t>報道</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14" invalidUrl="" action="" tgtFrame="" tooltip="" history="1" highlightClick="0" endSnd="0">
                            <a:extLst>
                              <a:ext uri="{A12FA001-AC4F-418D-AE19-62706E023703}">
                                <ahyp:hlinkClr xmlns:ahyp="http://schemas.microsoft.com/office/drawing/2018/hyperlinkcolor" val="tx"/>
                              </a:ext>
                            </a:extLst>
                          </a:hlinkClick>
                        </a:rPr>
                        <a:t>https://www.noticiascaracol.com/colombia/en-vivo-colombia-hoy-tras-terremoto-de-magnitud-7-4-continuan-las-labores-de-rescate-so35</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92608">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RPP 大統領の181人は地方集計より59人少ない</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Meiryo" pitchFamily="34" charset="0"/>
                          <a:ea typeface="Meiryo" pitchFamily="34" charset="-122"/>
                          <a:cs typeface="Meiryo" pitchFamily="34" charset="-120"/>
                        </a:rPr>
                        <a:t>報道</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15" invalidUrl="" action="" tgtFrame="" tooltip="" history="1" highlightClick="0" endSnd="0">
                            <a:extLst>
                              <a:ext uri="{A12FA001-AC4F-418D-AE19-62706E023703}">
                                <ahyp:hlinkClr xmlns:ahyp="http://schemas.microsoft.com/office/drawing/2018/hyperlinkcolor" val="tx"/>
                              </a:ext>
                            </a:extLst>
                          </a:hlinkClick>
                        </a:rPr>
                        <a:t>https://rpp.pe/mundo/colombia/abelardo-de-la-espriella-cifra-en-181-los-muertos-por-el-terremoto-59-menos-que-datos-regionales-noticia-1701022</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92608">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El Tiempo 余震99回とその規模（SGC）</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Meiryo" pitchFamily="34" charset="0"/>
                          <a:ea typeface="Meiryo" pitchFamily="34" charset="-122"/>
                          <a:cs typeface="Meiryo" pitchFamily="34" charset="-120"/>
                        </a:rPr>
                        <a:t>報道</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16" invalidUrl="" action="" tgtFrame="" tooltip="" history="1" highlightClick="0" endSnd="0">
                            <a:extLst>
                              <a:ext uri="{A12FA001-AC4F-418D-AE19-62706E023703}">
                                <ahyp:hlinkClr xmlns:ahyp="http://schemas.microsoft.com/office/drawing/2018/hyperlinkcolor" val="tx"/>
                              </a:ext>
                            </a:extLst>
                          </a:hlinkClick>
                        </a:rPr>
                        <a:t>https://www.eltiempo.com/colombia/otras-ciudades/cuantas-replicas-se-han-registrado-tras-el-terremoto-de-7-4-en-colombia-estas-son-todas-las-magnitudes-3577711</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92608">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Semana SGC集計：8月11日15:00時点で余震103回</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Meiryo" pitchFamily="34" charset="0"/>
                          <a:ea typeface="Meiryo" pitchFamily="34" charset="-122"/>
                          <a:cs typeface="Meiryo" pitchFamily="34" charset="-120"/>
                        </a:rPr>
                        <a:t>報道</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17" invalidUrl="" action="" tgtFrame="" tooltip="" history="1" highlightClick="0" endSnd="0">
                            <a:extLst>
                              <a:ext uri="{A12FA001-AC4F-418D-AE19-62706E023703}">
                                <ahyp:hlinkClr xmlns:ahyp="http://schemas.microsoft.com/office/drawing/2018/hyperlinkcolor" val="tx"/>
                              </a:ext>
                            </a:extLst>
                          </a:hlinkClick>
                        </a:rPr>
                        <a:t>https://www.semana.com/tecnologia/articulo/servicio-geologico-revela-el-numero-total-de-replicas-que-ha-habido-en-colombia-tras-fuerte-terremoto-que-estremecio-al-pais/202641/</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bl>
          </a:graphicData>
        </a:graphic>
      </p:graphicFrame>
      <p:sp>
        <p:nvSpPr>
          <p:cNvPr id="5" name="Shape 1"/>
          <p:cNvSpPr/>
          <p:nvPr/>
        </p:nvSpPr>
        <p:spPr>
          <a:xfrm>
            <a:off x="10268712" y="6510528"/>
            <a:ext cx="1554480" cy="274320"/>
          </a:xfrm>
          <a:prstGeom prst="rect">
            <a:avLst/>
          </a:prstGeom>
          <a:solidFill>
            <a:srgbClr val="E8A317"/>
          </a:solidFill>
          <a:ln w="12700">
            <a:solidFill>
              <a:srgbClr val="E8A317"/>
            </a:solidFill>
            <a:prstDash val="solid"/>
          </a:ln>
        </p:spPr>
      </p:sp>
      <p:sp>
        <p:nvSpPr>
          <p:cNvPr id="6" name="Text 2"/>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Meiryo" pitchFamily="34" charset="0"/>
                <a:ea typeface="Meiryo" pitchFamily="34" charset="-122"/>
                <a:cs typeface="Meiryo" pitchFamily="34" charset="-120"/>
              </a:rPr>
              <a:t>ADRC  12/08/2026</a:t>
            </a:r>
            <a:endParaRPr lang="en-US" sz="950" dirty="0"/>
          </a:p>
        </p:txBody>
      </p:sp>
      <p:sp>
        <p:nvSpPr>
          <p:cNvPr id="7" name="Text 3"/>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Meiryo" pitchFamily="34" charset="0"/>
                <a:ea typeface="Meiryo" pitchFamily="34" charset="-122"/>
                <a:cs typeface="Meiryo" pitchFamily="34" charset="-120"/>
              </a:rPr>
              <a:t>28</a:t>
            </a:r>
            <a:endParaRPr lang="en-US" sz="90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FFF"/>
        </a:solidFill>
      </p:bgPr>
    </p:bg>
    <p:spTree>
      <p:nvGrpSpPr>
        <p:cNvPr id="1" name=""/>
        <p:cNvGrpSpPr/>
        <p:nvPr/>
      </p:nvGrpSpPr>
      <p:grpSpPr>
        <a:xfrm>
          <a:off x="0" y="0"/>
          <a:ext cx="0" cy="0"/>
          <a:chOff x="0" y="0"/>
          <a:chExt cx="0" cy="0"/>
        </a:xfrm>
      </p:grpSpPr>
      <p:pic>
        <p:nvPicPr>
          <p:cNvPr id="2" name="Image 0" descr="/home/user/whatsmap/reports/colombia_eq_20260810/images/adrc_logo.png">    </p:cNvPr>
          <p:cNvPicPr>
            <a:picLocks noChangeAspect="1"/>
          </p:cNvPicPr>
          <p:nvPr/>
        </p:nvPicPr>
        <p:blipFill>
          <a:blip r:embed="rId1"/>
          <a:stretch>
            <a:fillRect/>
          </a:stretch>
        </p:blipFill>
        <p:spPr>
          <a:xfrm>
            <a:off x="5454396" y="2194560"/>
            <a:ext cx="1280160" cy="1280160"/>
          </a:xfrm>
          <a:prstGeom prst="rect">
            <a:avLst/>
          </a:prstGeom>
        </p:spPr>
      </p:pic>
      <p:sp>
        <p:nvSpPr>
          <p:cNvPr id="3" name="Text 0"/>
          <p:cNvSpPr/>
          <p:nvPr/>
        </p:nvSpPr>
        <p:spPr>
          <a:xfrm>
            <a:off x="457200" y="3611880"/>
            <a:ext cx="11274552" cy="365760"/>
          </a:xfrm>
          <a:prstGeom prst="rect">
            <a:avLst/>
          </a:prstGeom>
          <a:noFill/>
          <a:ln/>
        </p:spPr>
        <p:txBody>
          <a:bodyPr wrap="square" rtlCol="0" anchor="ctr"/>
          <a:lstStyle/>
          <a:p>
            <a:pPr algn="ctr" indent="0" marL="0">
              <a:buNone/>
            </a:pPr>
            <a:r>
              <a:rPr lang="en-US" sz="1500" b="1" dirty="0">
                <a:solidFill>
                  <a:srgbClr val="1F3864"/>
                </a:solidFill>
                <a:latin typeface="Meiryo" pitchFamily="34" charset="0"/>
                <a:ea typeface="Meiryo" pitchFamily="34" charset="-122"/>
                <a:cs typeface="Meiryo" pitchFamily="34" charset="-120"/>
              </a:rPr>
              <a:t>アジア防災センター（ADRC）</a:t>
            </a:r>
            <a:endParaRPr lang="en-US" sz="1500" dirty="0"/>
          </a:p>
        </p:txBody>
      </p:sp>
      <p:sp>
        <p:nvSpPr>
          <p:cNvPr id="4" name="Text 1"/>
          <p:cNvSpPr/>
          <p:nvPr/>
        </p:nvSpPr>
        <p:spPr>
          <a:xfrm>
            <a:off x="1828800" y="4023360"/>
            <a:ext cx="8531352" cy="731520"/>
          </a:xfrm>
          <a:prstGeom prst="rect">
            <a:avLst/>
          </a:prstGeom>
          <a:noFill/>
          <a:ln/>
        </p:spPr>
        <p:txBody>
          <a:bodyPr wrap="square" rtlCol="0" anchor="ctr"/>
          <a:lstStyle/>
          <a:p>
            <a:pPr algn="ctr" indent="0" marL="0">
              <a:buNone/>
            </a:pPr>
            <a:r>
              <a:rPr lang="en-US" sz="1050" dirty="0">
                <a:solidFill>
                  <a:srgbClr val="6A6A6A"/>
                </a:solidFill>
                <a:latin typeface="Meiryo" pitchFamily="34" charset="0"/>
                <a:ea typeface="Meiryo" pitchFamily="34" charset="-122"/>
                <a:cs typeface="Meiryo" pitchFamily="34" charset="-120"/>
              </a:rPr>
              <a:t>国内外発信用の日英レポート。公的機関の情報を優先し、不足分は出典を明示したうえで報道で補完する。</a:t>
            </a:r>
            <a:endParaRPr lang="en-US" sz="1050" dirty="0"/>
          </a:p>
        </p:txBody>
      </p:sp>
      <p:sp>
        <p:nvSpPr>
          <p:cNvPr id="5" name="Text 2"/>
          <p:cNvSpPr/>
          <p:nvPr/>
        </p:nvSpPr>
        <p:spPr>
          <a:xfrm>
            <a:off x="1828800" y="4754880"/>
            <a:ext cx="8531352" cy="457200"/>
          </a:xfrm>
          <a:prstGeom prst="rect">
            <a:avLst/>
          </a:prstGeom>
          <a:noFill/>
          <a:ln/>
        </p:spPr>
        <p:txBody>
          <a:bodyPr wrap="square" rtlCol="0" anchor="ctr"/>
          <a:lstStyle/>
          <a:p>
            <a:pPr algn="ctr" indent="0" marL="0">
              <a:buNone/>
            </a:pPr>
            <a:r>
              <a:rPr lang="en-US" sz="950" i="1" dirty="0">
                <a:solidFill>
                  <a:srgbClr val="6A6A6A"/>
                </a:solidFill>
                <a:latin typeface="Meiryo" pitchFamily="34" charset="0"/>
                <a:ea typeface="Meiryo" pitchFamily="34" charset="-122"/>
                <a:cs typeface="Meiryo" pitchFamily="34" charset="-120"/>
              </a:rPr>
              <a:t>数値は2026年8月11日17:00（コロンビア時間、日本時間8月12日07:00）現在、発災から約33時間後。UNGRDの状況報告は死者182人・負傷2,542人・行方不明189人、大統領の集計は死者181人、県・市の発表を積み上げると240人となる。本報告は3つとも併記する。すべて速報値であり、なお増加中である。</a:t>
            </a:r>
            <a:endParaRPr lang="en-US" sz="950" dirty="0"/>
          </a:p>
        </p:txBody>
      </p:sp>
      <p:sp>
        <p:nvSpPr>
          <p:cNvPr id="6" name="Text 3">
            <a:hlinkClick r:id="rId2" tooltip=""/>
          </p:cNvPr>
          <p:cNvSpPr/>
          <p:nvPr/>
        </p:nvSpPr>
        <p:spPr>
          <a:xfrm>
            <a:off x="457200" y="5303520"/>
            <a:ext cx="11274552" cy="274320"/>
          </a:xfrm>
          <a:prstGeom prst="rect">
            <a:avLst/>
          </a:prstGeom>
          <a:noFill/>
          <a:ln/>
        </p:spPr>
        <p:txBody>
          <a:bodyPr wrap="square" rtlCol="0" anchor="ctr"/>
          <a:lstStyle/>
          <a:p>
            <a:pPr algn="ctr" indent="0" marL="0">
              <a:buNone/>
            </a:pPr>
            <a:r>
              <a:rPr lang="en-US" sz="1000" u="sng" dirty="0">
                <a:solidFill>
                  <a:srgbClr val="0563C1"/>
                </a:solidFill>
                <a:latin typeface="Meiryo" pitchFamily="34" charset="0"/>
                <a:ea typeface="Meiryo" pitchFamily="34" charset="-122"/>
                <a:cs typeface="Meiryo" pitchFamily="34" charset="-120"/>
                <a:hlinkClick r:id="rId2" invalidUrl="" action="" tgtFrame="" tooltip="" history="1" highlightClick="0" endSnd="0">
                  <a:extLst>
                    <a:ext uri="{A12FA001-AC4F-418D-AE19-62706E023703}">
                      <ahyp:hlinkClr xmlns:ahyp="http://schemas.microsoft.com/office/drawing/2018/hyperlinkcolor" val="tx"/>
                    </a:ext>
                  </a:extLst>
                </a:hlinkClick>
              </a:rPr>
              <a:t>https://www.adrc.asia/</a:t>
            </a:r>
            <a:endParaRPr lang="en-US" sz="1000" dirty="0"/>
          </a:p>
        </p:txBody>
      </p:sp>
      <p:sp>
        <p:nvSpPr>
          <p:cNvPr id="7" name="Shape 4"/>
          <p:cNvSpPr/>
          <p:nvPr/>
        </p:nvSpPr>
        <p:spPr>
          <a:xfrm>
            <a:off x="10268712" y="6510528"/>
            <a:ext cx="1554480" cy="274320"/>
          </a:xfrm>
          <a:prstGeom prst="rect">
            <a:avLst/>
          </a:prstGeom>
          <a:solidFill>
            <a:srgbClr val="E8A317"/>
          </a:solidFill>
          <a:ln w="12700">
            <a:solidFill>
              <a:srgbClr val="E8A317"/>
            </a:solidFill>
            <a:prstDash val="solid"/>
          </a:ln>
        </p:spPr>
      </p:sp>
      <p:sp>
        <p:nvSpPr>
          <p:cNvPr id="8" name="Text 5"/>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Meiryo" pitchFamily="34" charset="0"/>
                <a:ea typeface="Meiryo" pitchFamily="34" charset="-122"/>
                <a:cs typeface="Meiryo" pitchFamily="34" charset="-120"/>
              </a:rPr>
              <a:t>ADRC  12/08/2026</a:t>
            </a:r>
            <a:endParaRPr lang="en-US" sz="950" dirty="0"/>
          </a:p>
        </p:txBody>
      </p:sp>
      <p:sp>
        <p:nvSpPr>
          <p:cNvPr id="9" name="Text 6"/>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Meiryo" pitchFamily="34" charset="0"/>
                <a:ea typeface="Meiryo" pitchFamily="34" charset="-122"/>
                <a:cs typeface="Meiryo" pitchFamily="34" charset="-120"/>
              </a:rPr>
              <a:t>29</a:t>
            </a:r>
            <a:endParaRPr lang="en-US" sz="9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29</Slides>
  <Notes>29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29</vt:i4>
      </vt:variant>
    </vt:vector>
  </HeadingPairs>
  <TitlesOfParts>
    <vt:vector size="32"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2026-08-11T23:52:48Z</dcterms:created>
  <dcterms:modified xsi:type="dcterms:W3CDTF">2026-08-11T23:52:48Z</dcterms:modified>
</cp:coreProperties>
</file>