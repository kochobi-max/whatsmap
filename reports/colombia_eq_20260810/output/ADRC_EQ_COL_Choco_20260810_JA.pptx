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9-1.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5-1.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6-1.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portal.gestiondelriesgo.gov.co/" TargetMode="External"/><Relationship Id="rId5" Type="http://schemas.openxmlformats.org/officeDocument/2006/relationships/hyperlink" Target="https://gdacs.org/report.aspx?eventid=1557236&amp;eventtype=EQ" TargetMode="External"/><Relationship Id="rId6" Type="http://schemas.openxmlformats.org/officeDocument/2006/relationships/hyperlink" Target="https://disasterscharter.org/activations" TargetMode="External"/><Relationship Id="rId7" Type="http://schemas.openxmlformats.org/officeDocument/2006/relationships/hyperlink" Target="https://emergency.copernicus.eu/mapping/list-of-activations-rapid" TargetMode="External"/><Relationship Id="rId8" Type="http://schemas.openxmlformats.org/officeDocument/2006/relationships/hyperlink" Target="https://reliefweb.int/country/col" TargetMode="External"/><Relationship Id="rId9" Type="http://schemas.openxmlformats.org/officeDocument/2006/relationships/hyperlink" Target="https://www.paho.org/en/colombia" TargetMode="External"/><Relationship Id="rId10" Type="http://schemas.openxmlformats.org/officeDocument/2006/relationships/hyperlink" Target="https://www.preventionweb.net/publication/colombia-plan-nacional-de-gestion-del-riesgo-de-desastres-pngrd-2015-2030" TargetMode="External"/><Relationship Id="rId11" Type="http://schemas.openxmlformats.org/officeDocument/2006/relationships/hyperlink" Target="https://www.globalquakemodel.org/seismic-regulations/colombia" TargetMode="External"/><Relationship Id="rId12" Type="http://schemas.openxmlformats.org/officeDocument/2006/relationships/hyperlink" Target="https://un-spider.org/national-unit-disaster-risk-management-ungrd-colombia" TargetMode="External"/><Relationship Id="rId13" Type="http://schemas.openxmlformats.org/officeDocument/2006/relationships/hyperlink" Target="https://www.oecd.org/en/publications/risk-governance-scan-of-colombia_eeb81954-en.html"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france24.com/en/americas/20260810-powerful-quake-rocks-colombia-causing-major-damage" TargetMode="External"/><Relationship Id="rId16" Type="http://schemas.openxmlformats.org/officeDocument/2006/relationships/hyperlink" Target="https://www.aljazeera.com/news/2026/8/10/7-4-magnitude-earthquake-hits-colombia-killing-at-least-20" TargetMode="External"/><Relationship Id="rId1" Type="http://schemas.openxmlformats.org/officeDocument/2006/relationships/image" Target="../media/image-19-1.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cbsnews.com/news/colombia-earthquake-western-region-evacuations/" TargetMode="External"/><Relationship Id="rId3" Type="http://schemas.openxmlformats.org/officeDocument/2006/relationships/hyperlink" Target="https://www.nbcnews.com/world/latin-america/strong-earthquake-colombia-ecuador-people-evacuating-homes-buildings-rcna591709"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colombiaone.com/2026/08/10/colombia-national-disaster/" TargetMode="External"/><Relationship Id="rId6" Type="http://schemas.openxmlformats.org/officeDocument/2006/relationships/hyperlink" Target="https://www.infobae.com/colombia/2026/08/10/por-que-el-temblor-en-colombia-de-este-lunes-10-de-agosto-duro-una-eternidad-el-servicio-geologico-explico-que-paso/" TargetMode="External"/><Relationship Id="rId7" Type="http://schemas.openxmlformats.org/officeDocument/2006/relationships/hyperlink" Target="https://www3.nhk.or.jp/news/" TargetMode="External"/><Relationship Id="rId8" Type="http://schemas.openxmlformats.org/officeDocument/2006/relationships/hyperlink" Target="https://www.nikkei.com/article/DGXZQOGN108V30Q6A810C2000000/" TargetMode="External"/><Relationship Id="rId9" Type="http://schemas.openxmlformats.org/officeDocument/2006/relationships/hyperlink" Target="https://www.jiji.com/jc/article?k=2026081000878&amp;g=int" TargetMode="External"/><Relationship Id="rId10" Type="http://schemas.openxmlformats.org/officeDocument/2006/relationships/hyperlink" Target="https://www.savethechildren.org/us/about-us/media-and-news/2026-press-releases/children-at-risk-after-earthquake-strikes-colombia" TargetMode="External"/><Relationship Id="rId11" Type="http://schemas.openxmlformats.org/officeDocument/2006/relationships/hyperlink" Target="https://www.directrelief.org/2026/08/colombia-earthquake-7-4-magnitude-direct-relief-response/" TargetMode="External"/><Relationship Id="rId12" Type="http://schemas.openxmlformats.org/officeDocument/2006/relationships/hyperlink" Target="https://www.americares.org/crisis-alerts/colombia-earthquake-august-2026/" TargetMode="External"/><Relationship Id="rId13" Type="http://schemas.openxmlformats.org/officeDocument/2006/relationships/hyperlink" Target="https://glidenumber.net/" TargetMode="External"/><Relationship Id="rId14" Type="http://schemas.openxmlformats.org/officeDocument/2006/relationships/hyperlink" Target="https://www.adrc.asia/" TargetMode="External"/><Relationship Id="rId1" Type="http://schemas.openxmlformats.org/officeDocument/2006/relationships/image" Target="../media/image-20-1.png"/><Relationship Id="rId15" Type="http://schemas.openxmlformats.org/officeDocument/2006/relationships/slideLayout" Target="../slideLayouts/slideLayout1.xml"/><Relationship Id="rId1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1-1.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107 km   ·   改正メルカリ震度 MMI VII（非常に強い）／USGS ShakeMap   ·   GLIDE EQ-2026-XXXXXX-COL (TBC)</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ja.png">    </p:cNvPr>
          <p:cNvPicPr>
            <a:picLocks noChangeAspect="1"/>
          </p:cNvPicPr>
          <p:nvPr/>
        </p:nvPicPr>
        <p:blipFill>
          <a:blip r:embed="rId2"/>
          <a:stretch>
            <a:fillRect/>
          </a:stretch>
        </p:blipFill>
        <p:spPr>
          <a:xfrm>
            <a:off x="402336" y="2321025"/>
            <a:ext cx="3639312" cy="1722174"/>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ja.png">    </p:cNvPr>
          <p:cNvPicPr>
            <a:picLocks noChangeAspect="1"/>
          </p:cNvPicPr>
          <p:nvPr/>
        </p:nvPicPr>
        <p:blipFill>
          <a:blip r:embed="rId3"/>
          <a:stretch>
            <a:fillRect/>
          </a:stretch>
        </p:blipFill>
        <p:spPr>
          <a:xfrm>
            <a:off x="4819327" y="1975104"/>
            <a:ext cx="2742322"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ja.png">    </p:cNvPr>
          <p:cNvPicPr>
            <a:picLocks noChangeAspect="1"/>
          </p:cNvPicPr>
          <p:nvPr/>
        </p:nvPicPr>
        <p:blipFill>
          <a:blip r:embed="rId4"/>
          <a:stretch>
            <a:fillRect/>
          </a:stretch>
        </p:blipFill>
        <p:spPr>
          <a:xfrm>
            <a:off x="8576552" y="1975104"/>
            <a:ext cx="3164864"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ベースマップ：Natural Earth（110m）。距離は公表座標から計算。図は模式図であり公式のハザードマップではない。</a:t>
            </a:r>
            <a:endParaRPr lang="en-US" sz="750" dirty="0"/>
          </a:p>
        </p:txBody>
      </p:sp>
      <p:sp>
        <p:nvSpPr>
          <p:cNvPr id="18" name="Shape 12"/>
          <p:cNvSpPr/>
          <p:nvPr/>
        </p:nvSpPr>
        <p:spPr>
          <a:xfrm>
            <a:off x="0" y="4791456"/>
            <a:ext cx="12188952" cy="1371600"/>
          </a:xfrm>
          <a:prstGeom prst="rect">
            <a:avLst/>
          </a:prstGeom>
          <a:solidFill>
            <a:srgbClr val="262626"/>
          </a:solidFill>
          <a:ln w="12700">
            <a:solidFill>
              <a:srgbClr val="333333"/>
            </a:solidFill>
            <a:prstDash val="solid"/>
          </a:ln>
        </p:spPr>
      </p:sp>
      <p:sp>
        <p:nvSpPr>
          <p:cNvPr id="19" name="Text 13"/>
          <p:cNvSpPr/>
          <p:nvPr/>
        </p:nvSpPr>
        <p:spPr>
          <a:xfrm>
            <a:off x="457200" y="4873752"/>
            <a:ext cx="11274552" cy="1207008"/>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UTC）、コロンビア西部チョコ県サンホセ・デル・パルマルの東5kmを震源とするMww7.4の地震が発生した。深さは約107km（USGS）で、沈み込むナスカプレート内部のやや深発・横ずれ型。深いために強い揺れ（MMI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107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100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深さ約107km（USGS）。プレート境界の巨大地震ではなくスラブ内地震。</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USGS PAGERはオレンジ警報。推定死者は300人規模、推定経済損失は約8.8億米ドル（いずれもモデル推計であり実測値ではない）。</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050" dirty="0"/>
          </a:p>
          <a:p>
            <a:pPr algn="l" marL="342900" indent="-342900">
              <a:buSzPct val="100000"/>
              <a:buChar char="•"/>
            </a:pPr>
            <a:r>
              <a:rPr lang="en-US" sz="10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69264"/>
            <a:ext cx="11430000" cy="329184"/>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10 Aug 2026, 07:34 COT (UTC-5)  (10 Aug 2026, 12:34 UTC / 10 Aug 2026, 21:34 JST)    |    Mww 7.4    |    深さ 107 km    |    改正メルカリ震度 MMI VII（非常に強い）／USGS ShakeMap</a:t>
            </a:r>
            <a:endParaRPr lang="en-US" sz="1150" dirty="0"/>
          </a:p>
        </p:txBody>
      </p:sp>
      <p:sp>
        <p:nvSpPr>
          <p:cNvPr id="5" name="Text 2"/>
          <p:cNvSpPr/>
          <p:nvPr/>
        </p:nvSpPr>
        <p:spPr>
          <a:xfrm>
            <a:off x="365760" y="1280160"/>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27632"/>
            <a:ext cx="11430000" cy="4480560"/>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本稿執筆時点でGLIDE番号は確認できていない。付番され次第記載する。</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Mww7.4の地震発生。震央はチョコ県サンホセ・デル・パルマルの東5km、深さ約107km。ボゴタ、カリ、メデジンのほかエクアドル、パナマ、ベネズエラでも有感。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 / 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SGCが第1報を発表（当初M6.6・深さ79km、のちM7.4に修正）。被害評価のプロトコルを起動。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Mayor of Cali</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Mayor of Manizales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Aerocivil / media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Daytime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Government</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Daytime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Daytime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Daytime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Presidency</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Afternoon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Presidency / 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Afternoon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International media</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Same day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国際災害チャーター（Space and Major Disasters）の発動およびコペルニクス緊急管理サービスの動員が報じられている。詳細は確認中。</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Charter / Copernicus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震源が深さ107kmであるため、域内の都市はいずれも震源距離108〜200kmとほぼ同程度になり、極端に強い揺れが特定の都市に集中しない。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143000"/>
                <a:gridCol w="1234440"/>
                <a:gridCol w="658368"/>
                <a:gridCol w="457200"/>
                <a:gridCol w="2724912"/>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 / 102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55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166 / 35 / 147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70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235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40233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 Aug 2026, 07:34 COT (UTC-5)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 Aug 2026, 12:34 UTC  /  10 Aug 2026, 21:34 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チョコ県サンホセ・デル・パルマルの東5km（ボゴタの西約280km）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4.9031 N, 76.1885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 — USGSはMww7.4。コロンビア地質調査所（SGC）は当初M6.6・深さ79kmと発表し、その後M7.4に修正。SGCの深さは約96〜103kmとされる。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107km（USGS）、約96〜103km（SGC）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PAGER：オレンジ（相当数の人的被害・経済被害の可能性）。GDACS：オレンジ。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02336">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EQ-2026-XXXXXX-COL (TBC)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PAGERによる曝露推計。約1,050万人がMMI VI〜VII（強い〜非常に強い）の揺れを経験し、4か国で推計3,400万人が有感とされる。いずれもモデル推計値。</a:t>
            </a:r>
            <a:endParaRPr lang="en-US" sz="750" dirty="0"/>
          </a:p>
        </p:txBody>
      </p:sp>
      <p:sp>
        <p:nvSpPr>
          <p:cNvPr id="9"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オレンジ警報</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Infobae SGCによる長い揺れの解説</a:t>
            </a:r>
            <a:endParaRPr lang="en-US" sz="850" dirty="0"/>
          </a:p>
        </p:txBody>
      </p:sp>
      <p:sp>
        <p:nvSpPr>
          <p:cNvPr id="10"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報告された最大余震。広く有感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初期の発表でM4.8とともに報告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events</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SGCが記録した余震の累計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は本震後の数時間で20回以上の余震を観測したと発表。最大の有感余震はM4.8で、M2.8も報告され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本地震について国際災害チャーター（Space and Major Disasters）が発動され、コペルニクス緊急管理サービスが動員されたと報じられている。被害把握用の衛星画像が提供される見込み。発動番号や成果物は確認中。</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Reported / confirming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被災各県を対象にラピッドマッピングを動員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Reported / confirming</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Published</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Published</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Published</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n/a</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ラピッドマッピング</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PNGRD 2015-2030 — 仙台防災枠組に整合した国家災害リスク管理計画。</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ボゴタ、メデジン、カリ、ペレイラ、マニサレス、アルメニアなど主要都市で地震動微地形区分（マイクロゾーニング）が整備されている。1999年地震の直接の教訓による。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コロンビアのリスクガバナンス評価</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107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1906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エクアドル・コロンビア地震（太平洋岸）</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観測史上最大級。太平洋岸に破壊的な津波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1979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トゥマコ地震（ナリーニョ県）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M8.1</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プレート境界型で津波を伴う。数百人が死亡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1983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ポパヤン地震（カウカ県）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M5.5</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パエス地震（カウカ県）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2026年と同じ県で発生したやや深発地震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アルメニア（キンディオ）地震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M6.1-6.2</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2026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チョコ地震（本地震）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M7.4</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深い震源でありながら被害は浅発地震型。深さ107kmで地表地震断層も津波も生じなかったが、少なくとも6県で建物被害が出た。被害が集中せず分散するため、ニーズ把握・ロジスティクス・捜索救助の重点配分が難しく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ラピッドマッピング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GLIDE番号（付番後に参照）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2026-08-10T22:26:14Z</dcterms:created>
  <dcterms:modified xsi:type="dcterms:W3CDTF">2026-08-10T22:26:14Z</dcterms:modified>
</cp:coreProperties>
</file>