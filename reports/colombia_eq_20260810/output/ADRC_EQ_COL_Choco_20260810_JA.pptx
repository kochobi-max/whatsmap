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7" Type="http://schemas.openxmlformats.org/officeDocument/2006/relationships/hyperlink" Target="https://glidenumber.net/" TargetMode="External"/><Relationship Id="rId18" Type="http://schemas.openxmlformats.org/officeDocument/2006/relationships/hyperlink" Target="https://www.adrc.asia/" TargetMode="External"/><Relationship Id="rId1" Type="http://schemas.openxmlformats.org/officeDocument/2006/relationships/image" Target="../media/image-25-1.png"/><Relationship Id="rId19" Type="http://schemas.openxmlformats.org/officeDocument/2006/relationships/slideLayout" Target="../slideLayouts/slideLayout1.xml"/><Relationship Id="rId2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3" Type="http://schemas.openxmlformats.org/officeDocument/2006/relationships/hyperlink" Target="https://www.globalquakemodel.org/proj/treq"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sciencedirect.com/science/article/abs/pii/S2212420925003097" TargetMode="External"/><Relationship Id="rId6" Type="http://schemas.openxmlformats.org/officeDocument/2006/relationships/hyperlink" Target="https://satic.cali.gov.co/satic" TargetMode="External"/><Relationship Id="rId7" Type="http://schemas.openxmlformats.org/officeDocument/2006/relationships/hyperlink" Target="https://www.cali.gov.co/gestiondelriesgo/" TargetMode="External"/><Relationship Id="rId8" Type="http://schemas.openxmlformats.org/officeDocument/2006/relationships/hyperlink" Target="https://portal.gestiondelriesgo.gov.co/Paginas/Plan-Nacional-de-Gestion-del-Riesgo.aspx" TargetMode="External"/><Relationship Id="rId9" Type="http://schemas.openxmlformats.org/officeDocument/2006/relationships/hyperlink" Target="https://www.funcionpublica.gov.co/eva/gestornormativo/norma.php?i=191411" TargetMode="External"/><Relationship Id="rId10" Type="http://schemas.openxmlformats.org/officeDocument/2006/relationships/hyperlink" Target="https://www.emsc-csem.org/" TargetMode="External"/><Relationship Id="rId11" Type="http://schemas.openxmlformats.org/officeDocument/2006/relationships/hyperlink" Target="https://catalogosismico.sgc.gov.co/visor/index.html" TargetMode="External"/><Relationship Id="rId1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3" Type="http://schemas.openxmlformats.org/officeDocument/2006/relationships/hyperlink" Target="https://www.elespectador.com/colombia/mas-regiones/temblor-en-colombia-hoy-10-de-agosto-en-vivo-epicentro-y-reporte-de-afectaciones/" TargetMode="External"/><Relationship Id="rId14" Type="http://schemas.openxmlformats.org/officeDocument/2006/relationships/hyperlink" Target="https://www.noticiascaracol.com/colombia/en-vivo-colombia-hoy-tras-terremoto-de-magnitud-7-4-continuan-las-labores-de-rescate-so35" TargetMode="External"/><Relationship Id="rId15" Type="http://schemas.openxmlformats.org/officeDocument/2006/relationships/hyperlink" Target="https://rpp.pe/mundo/colombia/abelardo-de-la-espriella-cifra-en-181-los-muertos-por-el-terremoto-59-menos-que-datos-regionales-noticia-1701022" TargetMode="External"/><Relationship Id="rId16" Type="http://schemas.openxmlformats.org/officeDocument/2006/relationships/hyperlink" Target="https://www.eltiempo.com/colombia/otras-ciudades/cuantas-replicas-se-han-registrado-tras-el-terremoto-de-7-4-en-colombia-estas-son-todas-las-magnitudes-3577711" TargetMode="External"/><Relationship Id="rId17" Type="http://schemas.openxmlformats.org/officeDocument/2006/relationships/hyperlink" Target="https://www.semana.com/tecnologia/articulo/servicio-geologico-revela-el-numero-total-de-replicas-que-ha-habido-en-colombia-tras-fuerte-terremoto-que-estremecio-al-pais/202641/" TargetMode="External"/><Relationship Id="rId1" Type="http://schemas.openxmlformats.org/officeDocument/2006/relationships/image" Target="../media/image-26-1.png"/><Relationship Id="rId18" Type="http://schemas.openxmlformats.org/officeDocument/2006/relationships/slideLayout" Target="../slideLayouts/slideLayout1.xml"/><Relationship Id="rId1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11日17:00（コロンビア時間、日本時間8月12日07:00）現在、発災から約33時間後。UNGRDの状況報告は死者182人・負傷2,542人・行方不明189人、大統領の集計は死者181人、県・市の発表を積み上げると240人となる。本報告は3つとも併記する。すべて速報値であり、なお増加中である。</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対応の時系列（8月10〜11日）（1/2）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対応の時系列（8月10〜11日）（2/2）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　SGCの余震累積計数は15:00（現地）時点で103回に達する（M3.0以下97回、M3.0〜4.0が5回、M4.0超1回）。日中の有感余震により被災各都市で建物からの避難が行われた。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USGS：チョコ県サンホセ・デル・パルマルの南5km（ボゴタの西約280km）／SGC：同町から20km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5.04 N, 76.34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110.3km（USGS、PAGER第5版）／96km（SGC）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規模はUSGSとSGCで一致。SGCの第1報はM6.6・深さ79kmで、のちに修正された。両機関の震源位置は約20km、深さは約11km異なるが、観測網の異なるやや深発地震では通常の範囲である。本報告の震央距離はUSGSの震源位置から計算している。SGCのイベントSGC2026pqqmroは69観測点で決定されており、SGCは精査の進展に伴い速報値が変更されうるとしている。</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08:18 COT (13:18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 / mb 5.0</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最大余震。本震の44分後、サンホセ・デル・パルマル。SGCはM4.8・深さ88km、USGS us6000tjm4（精査済み）はmb5.0・深さ98.5km・同町の西16km。広く有感。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00:12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サンホセ・デル・パルマル、深さ84km</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10:43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サンホセ・デル・パルマル、深さ99km。8月11日には有感余震により被災各都市で建物からの避難が行われた。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to 11 Aug 15:00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103 in total</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SGCの累積値（本震の31.4時間後）。M3.0以下97回、M3.0〜4.0が5回、M4.0超が1回</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00" dirty="0">
                <a:solidFill>
                  <a:srgbClr val="222222"/>
                </a:solidFill>
                <a:latin typeface="Meiryo" pitchFamily="34" charset="0"/>
                <a:ea typeface="Meiryo" pitchFamily="34" charset="-122"/>
                <a:cs typeface="Meiryo" pitchFamily="34" charset="-120"/>
              </a:rPr>
              <a:t>SGCは本震後31時間で103回の余震を計数した。うち94%はM3.0以下で、M4.0を超えたのは44分後のM4.8の1回のみである。これは、やや深発のスラブ内地震に想定される、規模が小さく減衰の速い余震活動であり、本震に迫る余震が発生していない理由でもある。ただし油断の材料ではない。深さ88kmのM4.8でも8月11日には広く有感となり建物からの避難を招いており、本震で損傷したまま倒壊を免れた建物は耐力を失っている。</a:t>
            </a:r>
            <a:endParaRPr lang="en-US" sz="900" dirty="0"/>
          </a:p>
        </p:txBody>
      </p:sp>
      <p:pic>
        <p:nvPicPr>
          <p:cNvPr id="6" name="Image 1" descr="/home/user/whatsmap/reports/colombia_eq_20260810/images/aftershock_counts_ja.png">    </p:cNvPr>
          <p:cNvPicPr>
            <a:picLocks noChangeAspect="1"/>
          </p:cNvPicPr>
          <p:nvPr/>
        </p:nvPicPr>
        <p:blipFill>
          <a:blip r:embed="rId2"/>
          <a:stretch>
            <a:fillRect/>
          </a:stretch>
        </p:blipFill>
        <p:spPr>
          <a:xfrm>
            <a:off x="7609329" y="3200400"/>
            <a:ext cx="3563118"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SGC公表の余震回数と規模別内訳（ADRC作成）</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回数・規模：SGCの状況更新（コロンビア報道経由、2026年8月12日確認）。発震時刻・深さおよびmb5.0の解：USGS FDSN（images/query.csv）。SGCは個別の地震リストではなく累積回数を公表しており、公開の精査済みカタログは2018年2月28日で終わるため、103回を個別に取得することはできない。多機関速報にある8月10日15:01 UTCのM4.7（地域2機関）は、USGSのカタログにもSGCの計数にも整合せず、未確認の自動解として扱う。</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SGC集計：8月11日15:00時点で余震103回</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余震99回とその規模（SGC）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182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2,542</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住宅被害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15,568棟</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UNGRD状況報告（8月11日）。同日の大統領集計は死者181人、県・市の発表を積み上げると240人。住宅は損壊13,067棟・全壊2,501棟。</a:t>
            </a:r>
            <a:endParaRPr lang="en-US" sz="750" dirty="0"/>
          </a:p>
        </p:txBody>
      </p:sp>
      <p:graphicFrame>
        <p:nvGraphicFramePr>
          <p:cNvPr id="14"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キブドでは倒壊した学校の下に子ども4人が行方不明のまま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7" name="Text 12"/>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グラフは大統領による8月11日の内訳（合計181人、うち97.6%が県都）である。同日のUNGRD状況報告は182人。県・市が個別に発表した数値を積み上げると240人となり、大統領の値より59人多い。県都以外の市町村を含み、発表時刻も異なるためである。本報告はいずれか一つを選ばず3つとも残している。引用すべきは公式の全国値、今後の推移を先取りするのが県別の積み上げ値である。</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182人（UNGRD状況報告、8月11日）／181人（大統領。うち97.6%が県都）／県・市の発表を積み上げると240人。政府の8月10日13:00の集計は111人。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UNGRD、大統領府、県・市政府（報道経由）</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2,542人（UNGRD、8月11日）。同日の700人、8月10日集計の87人から増加。県・Asocapitalesの部分集計では1,310人。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UNGRD、大統領府、Asocapitales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189人（UNGRD、8月11日）。カリ、ペレイラ、マニサレス、キブドで捜索継続。キブドでは倒壊した学校の下に子ども4人。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チョコ、リサラルダ、カルダス、バジェ・デル・カウカ、キンディオ、アンティオキアの各県で20市町村超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住宅15,568棟が被害。内訳は損壊13,067棟、全壊2,501棟（UNGRD、8月11日）。8月10日の1,612棟から増加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13,067棟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2,501棟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全国で80棟超（8月11日）。8月10日の61棟から増加。カリは12か所の重要地点で25〜30棟、マニサレスは倒壊17棟・部分倒壊19棟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報道（8月11日）、UNGRD、カリ市長・マニサレス市長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93か所が被害（UNGRD、8月11日）。8月10日の18か所から増加。7施設が閉鎖。カリの大学病院は約30%が崩落し、小児科・内科・新生児室の一部を含む3フロアが被害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884か所が被害（UNGRD、8月11日）。8月10日の52か所から増加。被災各県で学校から避難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427か所が被害（UNGRD、8月11日）。8月10日の17か所から増加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道路77路線が被害（UNGRD、8月11日）。8月10日の18路線から増加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地方6空港が被害、7空港で運航停止。ペレイラのマテカニャ国際空港旅客ターミナルが一部倒壊。ペレイラ、マニサレス、キブド、アルメニア、カルタゴ、ブエナベントゥーラで運航停止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メキシコ大統領は「必要なすべての支援」を表明。中南米各国が救助隊・救助犬・人道支援を申し出ており、コロンビア外務省とUNGRDを通じて受け入れる。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本稿執筆時点で、日本政府による対応（お見舞い、緊急無償資金協力、国際緊急援助隊の派遣等）の発表は確認できていない。</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受け入れ窓口
</a:t>
            </a:r>
            <a:pPr algn="l" indent="0" marL="0">
              <a:buNone/>
            </a:pPr>
            <a:r>
              <a:rPr lang="en-US" sz="950" dirty="0">
                <a:solidFill>
                  <a:srgbClr val="7A2E0E"/>
                </a:solidFill>
                <a:latin typeface="Meiryo" pitchFamily="34" charset="0"/>
                <a:ea typeface="Meiryo" pitchFamily="34" charset="-122"/>
                <a:cs typeface="Meiryo" pitchFamily="34" charset="-120"/>
              </a:rPr>
              <a:t>支援の申し出は、コロンビア外務省とUNGRDを通じて受け入れることとされている。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調査が被害に追いついた分だけ数値は膨れ上がった。33時間で、UNGRDの発表ベースでも死者は111人から182人、負傷者は87人から2,542人、住宅被害は1,612棟から15,568棟、学校被害は52か所から884か所、道路被害は18路線から77路線に増えた。この急増を引き起こす新たな出来事があったわけではなく、調査隊がそれまで到達していなかった場所に入っただけである。初期値の読み方として二つ。初日の数値は災害の規模ではなく調査の到達範囲を表すこと、そして全国値は県別値に遅れること（本件では1日で死者59人分）である。</a:t>
            </a:r>
            <a:endParaRPr lang="en-US" sz="780" dirty="0"/>
          </a:p>
          <a:p>
            <a:pPr algn="l" marL="342900" indent="-342900">
              <a:buSzPct val="100000"/>
              <a:buChar char="•"/>
            </a:pPr>
            <a:r>
              <a:rPr lang="en-US" sz="78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損傷建物に対する余震リスク。余震活動はスラブ内地震として想定される範囲で低調である（31時間で103回、94%がM3.0以下、M4.0超は1回）。しかし44分後のM4.8は広く有感となり、8月11日の有感余震でも複数の都市で建物からの避難が生じた。本震で損傷したまま倒壊を免れた建物は耐力を失っているため、余震の統計そのものより、再入居前の応急危険度判定が重要である。</a:t>
            </a:r>
            <a:endParaRPr lang="en-US" sz="780" dirty="0"/>
          </a:p>
          <a:p>
            <a:pPr algn="l" marL="342900" indent="-342900">
              <a:buSzPct val="100000"/>
              <a:buChar char="•"/>
            </a:pPr>
            <a:r>
              <a:rPr lang="en-US" sz="78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78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8"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余震99回とその規模（SGC）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SGC集計：8月11日15:00時点で余震103回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11日17:00（コロンビア時間、日本時間8月12日07:00）現在、発災から約33時間後。UNGRDの状況報告は死者182人・負傷2,542人・行方不明189人、大統領の集計は死者181人、県・市の発表を積み上げると240人となる。本報告は3つとも併記する。すべて速報値であり、なお増加中である。</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2026-08-11T23:19:50Z</dcterms:created>
  <dcterms:modified xsi:type="dcterms:W3CDTF">2026-08-11T23:19:50Z</dcterms:modified>
</cp:coreProperties>
</file>