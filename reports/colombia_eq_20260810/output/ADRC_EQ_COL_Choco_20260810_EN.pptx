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5-1.png"/><Relationship Id="rId2" Type="http://schemas.openxmlformats.org/officeDocument/2006/relationships/image" Target="../media/image-15-2.jpg"/><Relationship Id="rId4" Type="http://schemas.openxmlformats.org/officeDocument/2006/relationships/image" Target="../media/image-15-3.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eltiempo.com/mundo/mas-regiones/la-comunidad-internacional-se-vuelca-en-ayudas-para-colombia-lista-de-paises-que-han-ofrecido-apoyo-tras-el-terremoto-de-magnitud-7-3577512" TargetMode="External"/><Relationship Id="rId3" Type="http://schemas.openxmlformats.org/officeDocument/2006/relationships/hyperlink" Target="https://colombia.un.org/es/320793-informaci%C3%B3n-y-actualizaciones-sobre-el-terremoto-en-colombia"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reliefweb.int/country/co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8-1.png"/><Relationship Id="rId2" Type="http://schemas.openxmlformats.org/officeDocument/2006/relationships/image" Target="../media/image-18-2.jp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3-1.png"/><Relationship Id="rId2" Type="http://schemas.openxmlformats.org/officeDocument/2006/relationships/image" Target="../media/image-23-2.jp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25-1.png"/><Relationship Id="rId16" Type="http://schemas.openxmlformats.org/officeDocument/2006/relationships/slideLayout" Target="../slideLayouts/slideLayout1.xml"/><Relationship Id="rId1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26-1.png"/><Relationship Id="rId16" Type="http://schemas.openxmlformats.org/officeDocument/2006/relationships/slideLayout" Target="../slideLayouts/slideLayout1.xm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27-1.png"/><Relationship Id="rId16" Type="http://schemas.openxmlformats.org/officeDocument/2006/relationships/slideLayout" Target="../slideLayouts/slideLayout1.xml"/><Relationship Id="rId1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 Type="http://schemas.openxmlformats.org/officeDocument/2006/relationships/image" Target="../media/image-28-1.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catalogue, 34 hours after the mainshock: 60 below M2.0, 76 at M2.0-2.9, 10 at M3.0-3.9, one at M4.0-4.9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The SGC located 147 events in the 34 hours after the mainshock. Only one exceeded M4.0 - the M4.8 that followed 44 minutes later - and 92% were below M3.0, so no aftershock has come close to the mainshock in size. Ninety-six of the 147 lie at 60 km depth or more within 80 km of the epicentre: that subset is the intraslab sequence itself, and its cumulative curve tracks the SGC's published aftershock totals. The remainder is background seismicity the same catalogue records, which is why a raw catalogue count runs ahead of the official aftershock figure. A modest, quickly-decaying sequence is what an intermediate-depth rupture is expected to produce.</a:t>
            </a:r>
            <a:endParaRPr lang="en-US" sz="9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Homes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situation report, 11 August. The President's balance the same day gives 181 deaths; adding up the departmental and city announcements gives 240. Homes: 13,067 damaged and 2,501 destroyed.</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chart shows the President's breakdown of 11 August, which totals 181 and puts 97.6% of the deaths in capital cities. UNGRD's own situation report of the same day gives 182. Adding up what the departments and cities announced separately gives 240 - 59 more than the President's figure - because those counts include municipalities outside the capitals and were issued at different hours. The report keeps all three rather than picking one: the official national figure is the one to cite, the departmental sum is the leading indicator of where it is heading. Cali is now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(UNGRD situation report, 11 Aug) / 181 (President, of which 97.6% in capital cities) / 240 when the departmental and city announcements are added up. The Government's 13:00 COT balance on 10 Aug was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departmental and municipal governments via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Aug), up from 700 earlier the same day and 87 in the 10 Aug balance. A partial regional and Asocapitales tally gives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nationally (UNGRD, 11 Aug). Cali city officials report 230 people trapped and 88 rescued in that city; four children are missing under a collapsed school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 de Cali;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across Chocó, Risaralda, Caldas, Valle del Cauca, Quindío and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homes affected: 13,067 damaged and 2,501 destroyed (UNGRD, 11 Aug), up from the 1,612 counted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80 nationally (11 Aug), up from 61 on 10 Aug. Cali city officials report 107 collapsed in that city alone, with 643 more structurally damaged and 18 under evacuation order;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11 Aug; UNGRD; Alcaldía de Cali; 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damaged (UNGRD, 11 Aug), up from 18 on 10 Aug;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damaged (UNGRD, 11 Aug), up from 52 on 10 Aug;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damaged (UNGRD, 11 Aug), up from 17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roads damaged (UNGRD, 11 Aug), up from 18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and operations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the UN had received no formal request for assistance from the Colombian authorities.</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Assistance is offered; Colombia has not asked
</a:t>
            </a:r>
            <a:pPr algn="l" indent="0" marL="0">
              <a:buNone/>
            </a:pPr>
            <a:r>
              <a:rPr lang="en-US" sz="950" dirty="0">
                <a:solidFill>
                  <a:srgbClr val="7A2E0E"/>
                </a:solidFill>
                <a:latin typeface="Calibri" pitchFamily="34" charset="0"/>
                <a:ea typeface="Calibri" pitchFamily="34" charset="-122"/>
                <a:cs typeface="Calibri" pitchFamily="34" charset="-120"/>
              </a:rPr>
              <a:t>Two days in, the pattern is a large volume of offers and a government that has not converted them into requests: the UN had no formal request as of 11 August, and the bilateral help that has actually moved is money (USD 15.5 million from the United States, EUR 100,000 from the EU, USD 500,000 from CAF) plus Ecuador's USAR team and satellite mapping. Under Ley 1523 the response is Colombia's to direct, and offers are channelled through the Foreign Ministry with UNGRD; the question for the coming days is whether the search-and-rescue caseload - 230 trapped in Cali alone - outruns national capacity fast enough to change that.</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toll multiplied as the assessment reached the damage. In 33 hours deaths went from 111 to 182 in UNGRD's own reporting, injured from 87 to 2,542, damaged homes from 1,612 to 15,568, damaged schools from 52 to 884 and damaged roads from 18 to 77. Nothing new happened to cause those jumps; the teams simply got to places they had not reached. Two lessons for reading early figures: the first-day numbers describe the reach of the assessment, not the size of the disaster, and the national total lags the departmental ones - here by 59 deaths in a single day.</a:t>
            </a:r>
            <a:endParaRPr lang="en-US" sz="1010" dirty="0"/>
          </a:p>
          <a:p>
            <a:pPr algn="l" marL="342900" indent="-342900">
              <a:buSzPct val="100000"/>
              <a:buChar char="•"/>
            </a:pPr>
            <a:r>
              <a:rPr lang="en-US" sz="101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1010" dirty="0"/>
          </a:p>
          <a:p>
            <a:pPr algn="l" marL="342900" indent="-342900">
              <a:buSzPct val="100000"/>
              <a:buChar char="•"/>
            </a:pPr>
            <a:r>
              <a:rPr lang="en-US" sz="101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01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2026-08-12T00:26:55Z</dcterms:created>
  <dcterms:modified xsi:type="dcterms:W3CDTF">2026-08-12T00:26:55Z</dcterms:modified>
</cp:coreProperties>
</file>