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2-1.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3-1.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5-1.png"/><Relationship Id="rId2" Type="http://schemas.openxmlformats.org/officeDocument/2006/relationships/image" Target="../media/image-25-2.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7-1.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28-1.png"/><Relationship Id="rId14" Type="http://schemas.openxmlformats.org/officeDocument/2006/relationships/slideLayout" Target="../slideLayouts/slideLayout1.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3" Type="http://schemas.openxmlformats.org/officeDocument/2006/relationships/hyperlink" Target="https://www.infobae.com/colombia/2026/08/10/por-que-el-temblor-en-colombia-de-este-lunes-10-de-agosto-duro-una-eternidad-el-servicio-geologico-explico-que-paso/" TargetMode="External"/><Relationship Id="rId1" Type="http://schemas.openxmlformats.org/officeDocument/2006/relationships/image" Target="../media/image-29-1.png"/><Relationship Id="rId14" Type="http://schemas.openxmlformats.org/officeDocument/2006/relationships/slideLayout" Target="../slideLayouts/slideLayout1.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3.nhk.or.jp/news/" TargetMode="External"/><Relationship Id="rId3" Type="http://schemas.openxmlformats.org/officeDocument/2006/relationships/hyperlink" Target="https://www.nikkei.com/article/DGXZQOGN108V30Q6A810C2000000/" TargetMode="External"/><Relationship Id="rId4" Type="http://schemas.openxmlformats.org/officeDocument/2006/relationships/hyperlink" Target="https://www.jiji.com/jc/article?k=2026081000878&amp;g=int" TargetMode="External"/><Relationship Id="rId5" Type="http://schemas.openxmlformats.org/officeDocument/2006/relationships/hyperlink" Target="https://www.savethechildren.org/us/about-us/media-and-news/2026-press-releases/children-at-risk-after-earthquake-strikes-colombia" TargetMode="External"/><Relationship Id="rId6" Type="http://schemas.openxmlformats.org/officeDocument/2006/relationships/hyperlink" Target="https://www.directrelief.org/2026/08/colombia-earthquake-7-4-magnitude-direct-relief-response/" TargetMode="External"/><Relationship Id="rId7" Type="http://schemas.openxmlformats.org/officeDocument/2006/relationships/hyperlink" Target="https://www.americares.org/crisis-alerts/colombia-earthquake-august-2026/" TargetMode="External"/><Relationship Id="rId8" Type="http://schemas.openxmlformats.org/officeDocument/2006/relationships/hyperlink" Target="https://glidenumber.net/" TargetMode="External"/><Relationship Id="rId9" Type="http://schemas.openxmlformats.org/officeDocument/2006/relationships/hyperlink" Target="https://www.adrc.asia/" TargetMode="External"/><Relationship Id="rId10" Type="http://schemas.openxmlformats.org/officeDocument/2006/relationships/hyperlink" Target="https://www.democrata.es/en/international/von-der-leyen-expresses-the-eu-s-support-for-colombia-and-activates-copernicus-after-the-earthquake/" TargetMode="External"/><Relationship Id="rId11" Type="http://schemas.openxmlformats.org/officeDocument/2006/relationships/hyperlink" Target="https://www.globalquakemodel.org/proj/treq" TargetMode="External"/><Relationship Id="rId12" Type="http://schemas.openxmlformats.org/officeDocument/2006/relationships/hyperlink" Target="https://cloud-storage.globalquakemodel.org/public/wix-new-website/pdf-collections-wix/publications/TREQ%20deliverables/reports/TREQ_D262_Riesgo_Sismico_Cali_v1.00.pdf" TargetMode="External"/><Relationship Id="rId13" Type="http://schemas.openxmlformats.org/officeDocument/2006/relationships/hyperlink" Target="https://www.sciencedirect.com/science/article/abs/pii/S2212420925003097" TargetMode="External"/><Relationship Id="rId1" Type="http://schemas.openxmlformats.org/officeDocument/2006/relationships/image" Target="../media/image-30-1.png"/><Relationship Id="rId14" Type="http://schemas.openxmlformats.org/officeDocument/2006/relationships/slideLayout" Target="../slideLayouts/slideLayout1.xml"/><Relationship Id="rId1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satic.cali.gov.co/satic" TargetMode="External"/><Relationship Id="rId3" Type="http://schemas.openxmlformats.org/officeDocument/2006/relationships/hyperlink" Target="https://www.cali.gov.co/gestiondelriesgo/" TargetMode="External"/><Relationship Id="rId4" Type="http://schemas.openxmlformats.org/officeDocument/2006/relationships/hyperlink" Target="https://portal.gestiondelriesgo.gov.co/Paginas/Plan-Nacional-de-Gestion-del-Riesgo.aspx" TargetMode="External"/><Relationship Id="rId5" Type="http://schemas.openxmlformats.org/officeDocument/2006/relationships/hyperlink" Target="https://www.funcionpublica.gov.co/eva/gestornormativo/norma.php?i=191411" TargetMode="External"/><Relationship Id="rId6" Type="http://schemas.openxmlformats.org/officeDocument/2006/relationships/hyperlink" Target="https://www.emsc-csem.org/" TargetMode="External"/><Relationship Id="rId7" Type="http://schemas.openxmlformats.org/officeDocument/2006/relationships/hyperlink" Target="https://catalogosismico.sgc.gov.co/visor/index.html" TargetMode="External"/><Relationship Id="rId8"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9" Type="http://schemas.openxmlformats.org/officeDocument/2006/relationships/hyperlink" Target="https://www.elespectador.com/colombia/mas-regiones/temblor-en-colombia-hoy-10-de-agosto-en-vivo-epicentro-y-reporte-de-afectaciones/" TargetMode="External"/><Relationship Id="rId10" Type="http://schemas.openxmlformats.org/officeDocument/2006/relationships/hyperlink" Target="https://www.noticiascaracol.com/colombia/en-vivo-colombia-hoy-tras-terremoto-de-magnitud-7-4-continuan-las-labores-de-rescate-so35" TargetMode="External"/><Relationship Id="rId11" Type="http://schemas.openxmlformats.org/officeDocument/2006/relationships/hyperlink" Target="https://rpp.pe/mundo/colombia/abelardo-de-la-espriella-cifra-en-181-los-muertos-por-el-terremoto-59-menos-que-datos-regionales-noticia-1701022" TargetMode="External"/><Relationship Id="rId12" Type="http://schemas.openxmlformats.org/officeDocument/2006/relationships/hyperlink" Target="https://www.eltiempo.com/colombia/otras-ciudades/cuantas-replicas-se-han-registrado-tras-el-terremoto-de-7-4-en-colombia-estas-son-todas-las-magnitudes-3577711" TargetMode="External"/><Relationship Id="rId13" Type="http://schemas.openxmlformats.org/officeDocument/2006/relationships/hyperlink" Target="https://www.semana.com/tecnologia/articulo/servicio-geologico-revela-el-numero-total-de-replicas-que-ha-habido-en-colombia-tras-fuerte-terremoto-que-estremecio-al-pais/202641/" TargetMode="External"/><Relationship Id="rId1" Type="http://schemas.openxmlformats.org/officeDocument/2006/relationships/image" Target="../media/image-31-1.png"/><Relationship Id="rId14" Type="http://schemas.openxmlformats.org/officeDocument/2006/relationships/slideLayout" Target="../slideLayouts/slideLayout1.xml"/><Relationship Id="rId1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mofa.go.jp/mofaj/la_c/sa/co/pageit_000001_00001.html" TargetMode="External"/><Relationship Id="rId3" Type="http://schemas.openxmlformats.org/officeDocument/2006/relationships/hyperlink" Target="https://x.com/MofaJapan_jp/status/2087155064855261537" TargetMode="External"/><Relationship Id="rId4" Type="http://schemas.openxmlformats.org/officeDocument/2006/relationships/hyperlink" Target="https://www.eltiempo.com/mundo/mas-regiones/la-comunidad-internacional-se-vuelca-en-ayudas-para-colombia-lista-de-paises-que-han-ofrecido-apoyo-tras-el-terremoto-de-magnitud-7-3577512" TargetMode="External"/><Relationship Id="rId5" Type="http://schemas.openxmlformats.org/officeDocument/2006/relationships/hyperlink" Target="https://colombia.un.org/es/320793-informaci%C3%B3n-y-actualizaciones-sobre-el-terremoto-en-colombia" TargetMode="External"/><Relationship Id="rId6" Type="http://schemas.openxmlformats.org/officeDocument/2006/relationships/hyperlink" Target="https://news.un.org/es/story/2026/08/1541792" TargetMode="External"/><Relationship Id="rId7" Type="http://schemas.openxmlformats.org/officeDocument/2006/relationships/hyperlink" Target="https://www.colombiatebusca.com/" TargetMode="External"/><Relationship Id="rId8" Type="http://schemas.openxmlformats.org/officeDocument/2006/relationships/hyperlink" Target="https://www.asocapitales.co/terremoto-colombia.html" TargetMode="External"/><Relationship Id="rId9" Type="http://schemas.openxmlformats.org/officeDocument/2006/relationships/hyperlink" Target="https://www.infobae.com/colombia/2026/08/12/de-la-espriella-anuncio-alivios-y-subsidios-tras-emergencia-en-el-eje-cafetero-por-el-terremoto-detallo-plan-de-choque-para-educacion-y-vivienda/" TargetMode="External"/><Relationship Id="rId10" Type="http://schemas.openxmlformats.org/officeDocument/2006/relationships/hyperlink" Target="https://www.pulzo.com/nacion/terremoto-en-colombia-ungrd-reporta-danos-y-victimas-en-valle-del-cauca-y-risaralda-PP5272829A" TargetMode="External"/><Relationship Id="rId11"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12" Type="http://schemas.openxmlformats.org/officeDocument/2006/relationships/hyperlink" Target="https://www.asocapitales.co/actualidad/noticias/ciudades-seguras/terremoto-deja-188-fallecidos-y-1677-heridos-en-ciudades" TargetMode="External"/><Relationship Id="rId1" Type="http://schemas.openxmlformats.org/officeDocument/2006/relationships/image" Target="../media/image-32-1.png"/><Relationship Id="rId13" Type="http://schemas.openxmlformats.org/officeDocument/2006/relationships/slideLayout" Target="../slideLayouts/slideLayout1.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3-1.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110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Locator maps © Google (Google Maps). Distances shown on later pages are computed from the published USGS coordinates.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87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110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The toll rose steeply through the first two days: 111 deaths in the Government's 13:00 COT balance on 10 August, 132 by that evening, and 182 deaths with 2,542 injured and 189 missing in UNGRD's situation report on 11 August, against 240 deaths when the departmental and city announcements are added up —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110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Focal mechanism (beachball)
</a:t>
            </a:r>
            <a:pPr algn="ctr" indent="0" marL="0">
              <a:buNone/>
            </a:pPr>
            <a:r>
              <a:rPr lang="en-US" sz="700" dirty="0">
                <a:solidFill>
                  <a:srgbClr val="6A6A6A"/>
                </a:solidFill>
                <a:latin typeface="Calibri" pitchFamily="34" charset="0"/>
                <a:ea typeface="Calibri" pitchFamily="34" charset="-122"/>
                <a:cs typeface="Calibri" pitchFamily="34" charset="-120"/>
              </a:rPr>
              <a:t>Both agencies report a strike-slip mechanism.</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Depth about 110 km (USGS, revised): an intraslab event, not a plate-interface megathrust.</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USGS PAGER (v5) Orange alert: the most likely fatality band is 1,000-10,000 and the most likely loss band USD 100-1,000 million — model estimates, not observations, and far above the figures reported so far.</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960" dirty="0"/>
          </a:p>
          <a:p>
            <a:pPr algn="l" marL="342900" indent="-342900">
              <a:buSzPct val="100000"/>
              <a:buChar char="•"/>
            </a:pPr>
            <a:r>
              <a:rPr lang="en-US" sz="96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960" dirty="0"/>
          </a:p>
          <a:p>
            <a:pPr algn="l" marL="342900" indent="-342900">
              <a:buSzPct val="100000"/>
              <a:buChar char="•"/>
            </a:pPr>
            <a:r>
              <a:rPr lang="en-US" sz="96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60" dirty="0">
                <a:solidFill>
                  <a:srgbClr val="222222"/>
                </a:solidFill>
                <a:latin typeface="Calibri" pitchFamily="34" charset="0"/>
                <a:ea typeface="Calibri" pitchFamily="34" charset="-122"/>
                <a:cs typeface="Calibri" pitchFamily="34" charset="-120"/>
              </a:rPr>
              <a:t>The Coffee Region has a history of both deep and shallow damaging events: M7.0 at 150 km depth in 1938, M6.5 at 64 km in 1962 and M6.1 at 15 km in 1999 (SGC/GEM national hazard model).</a:t>
            </a:r>
            <a:endParaRPr lang="en-US" sz="96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110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12 Aug 2026, 16:00 COT (13 Aug 06:00 JST), about 56 hours after the earthquake. UNGRD's consolidated report covers 14 departments and 403 municipalities: 239 deaths, 3,755 injured, 287 missing, 140 buildings collapsed, 24,324 families (49,214 people) affected and about 54,000 homes damaged or destroyed. All figures are preliminary; the territorial damage and needs assessment (EDAN) is still under way.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(10-12 August)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earthquake, epicentre 5 km S of San José del Palmar (Chocó), depth approx. 110 km. Felt in Bogotá, Cali,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(10-12 August)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Rapid Mapping activated as EMSR916 (17:13 UTC), requested by EC Services / DG ECHO, for earthquake damage assessment mapping.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reported national death toll rises to 132. Four people have been rescued alive from the rubble; more than 20 municipalities are reported affected, and power and telecommunications faults continue in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Search continues overnight. The President reports 700 injured nationally and about 5,000 homes damaged or destroyed, declares the missing the State's priority, and orders troops to Cali to maintain order. The mayor of Cali reports 85 deaths, 885 injured and 188 missing; Pereira's fire service reports 66 deaths; about 100 people are missing in Manizales. Five capital cities - Cali, Pereira, Quibdó, Manizales and Armenia - remain on red alert.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local authorities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situation report gives 182 deaths, 2,542 injured and 189 missing, with 13,067 homes damaged and 2,501 destroyed, 93 health facilities, 884 educational institutions, 427 community facilities and 77 roads affected. The President puts the toll at 181, of which 97.6% in capital cities. Ecuador, El Salvador and Russia are thanked for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(10-12 August)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PM</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SGC's published aftershock total reaches 103 at 15:00 COT - 97 at M3.0 or below, 5 between M3.0 and M4.0, one above M4.0 - and an M3.9 during the day prompts building evacuations in several affected cities. Its catalogue for the same period holds 147 located events, the wider figure including background seismicity.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SGC revises its solution for the mainshock to M7.4 at 103 km depth, 4.99 N 76.29 W, located with 119 stations and 208 phases. Its first bulletin had given M6.6 at 79 km and its second 7.4 at 96 km with 69 stations.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Japan's Prime Minister posts condolences (21:31 JST) and Foreign Minister Motegi issues a message offering condolences and stating that the Government of Japan also stands ready to provide the necessary assistance and that Japan stands in strong solidarity with the people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Japan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city officials report 107 buildings collapsed, 643 with structural damage and 18 under evacuation order; 230 people trapped, 88 rescued, 69 dead and 1,008 injured in the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OCHA states the humanitarian system is ready to support Colombia and names drinking water, hygiene and household items, health, food and shelter as the priority needs; no formal request for assistance has been received from the Colombian authorities.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provisional national balance passes 224 deaths and more than 2,500 injured, with 279 taken to hospital and 243 people rescued alive; 195 are reported missing to the authorities. The citizen platform “Colombia te busca” holds 4,084 registrations, 3,653 of them still unresolved. Search continues in Pereira with about 300 rescuers, and much of Chocó remains reachable only by boat or aircraft.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President tours Pereira, Dosquebradas, Manizales and Armenia after Quibdó and Cali, announcing three months of relief on utility bills for affected households, rent subsidies for those who lost their homes and a shock plan for education and housing; an economic emergency decree is being prepared.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Aug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UNGRD's consolidated report covers 14 departments and 403 municipalities: 239 deaths, 3,755 injured, 287 missing, 140 buildings collapsed, 24,324 families (49,214 people) affected, 9,215 homes destroyed and 45,457 seriously damaged. Colombia accepts INSARAG-classified USAR teams from Israel, Ecuador, El Salvador and the United States; El Salvador sends 100 tonnes of relief supplies. A woman is rescued in Pereira after 36 hours under the rubble.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110 km-deep source puts every city in the region at a broadly similar hypocentral distance (110-205 km), so no single city sits in a narrow zone of extreme shaking.</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12:34:28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S of San José del Palmar, Chocó Department (approx. 280 km W of Bogotá) — SGC: 12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revised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(version 5). Most likely fatality band 1,000-10,000 (35% probability); economic losses most likely USD 100-1,000 million (34%), less than 1% of Colombia's GDP.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USGS and SGC agree on size. The SGC revised its solution at 14:20 UTC on 11 August to 103 km with 119 stations and 208 phases; the revised location is 17 km from the USGS one and their depths differ by 7 km, so the two have converged as more stations were read. Epicentral distances in this report are measured from the USGS location. SGC bulletins remain subject to change.</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Official SGC intensity map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241 km from the epicentre, in a low one. The elongated pattern along the valleys, rather than a compact circle around the epicentre, is the signature of a 96-110 km-deep source combined with soft valley sediments.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USGS PAGER Assessment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version 5 (public domain,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is the USGS rapid impact estimate, issued within minutes and revised as the event is refined; version 5 was created 2 hours 8 minutes after the earthquake. It is a probability distribution, not a forecast of a single number: the orange alert means significant casualties and damage are likely and that past orange alerts have required a regional or national response. Its most likely fatality band, 1,000-10,000, sat far above the 111 deaths reported nine hours after the event; 33 hours in the reported toll had risen to 182-240, into PAGER's 100-1,000 band, which the model gave a lower but substantial probability. The gap is normal at this stage and narrows as ground truth replaces modelled losses.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Exposed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Very 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Light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(version 5) exposure estimates. About 10.5 million people were exposed to Strong or Very Strong shaking (MMI VI-VII) and about 34 million to MMI IV or above across four countries. These are model estimates.</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largest aftershock, 44 minutes after the mainshock: San José del Palmar, depth 94 km, 19 km from the epicentre (SGC2026pqryij). USGS catalogues the same event as mb 5.0 at 98.5 km.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 88 km. This is the event two regional agencies published as M4.7 in the multi-agency bulletin; the SGC solution is 0.9 units smaller.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depths 96 km and 92 km. The 10:43 event was felt strongly enough for buildings to be evacuated in several of the affected cities.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SGC catalogue, 34 hours after the mainshock: 60 below M2.0, 76 at M2.0-2.9, 10 at M3.0-3.9, one at M4.0-4.9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The SGC located 147 events in the 34 hours after the mainshock. Only one exceeded M4.0 - the M4.8 that followed 44 minutes later - and 92% were below M3.0, so no aftershock has come close to the mainshock in size. Ninety-six of the 147 lie at 60 km depth or more within 80 km of the epicentre: that subset is the intraslab sequence itself, and its cumulative curve tracks the SGC's published aftershock totals. The remainder is background seismicity the same catalogue records, which is why a raw catalogue count runs ahead of the official aftershock figure. A modest, quickly-decaying sequence is what an intermediate-depth rupture is expected to produce.</a:t>
            </a:r>
            <a:endParaRPr lang="en-US" sz="950" dirty="0"/>
          </a:p>
        </p:txBody>
      </p:sp>
      <p:pic>
        <p:nvPicPr>
          <p:cNvPr id="6" name="Image 1" descr="/home/user/whatsmap/reports/colombia_eq_20260810/images/aftershock_counts.png">    </p:cNvPr>
          <p:cNvPicPr>
            <a:picLocks noChangeAspect="1"/>
          </p:cNvPicPr>
          <p:nvPr/>
        </p:nvPicPr>
        <p:blipFill>
          <a:blip r:embed="rId2"/>
          <a:stretch>
            <a:fillRect/>
          </a:stretch>
        </p:blipFill>
        <p:spPr>
          <a:xfrm>
            <a:off x="7623520" y="3200400"/>
            <a:ext cx="3534736"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SGC-located events after the mainshock (ADRC, from the SGC catalogue)</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How much the agencies differ
</a:t>
            </a:r>
            <a:pPr algn="l" indent="0" marL="0">
              <a:buNone/>
            </a:pPr>
            <a:r>
              <a:rPr lang="en-US" sz="950" dirty="0">
                <a:solidFill>
                  <a:srgbClr val="7A2E0E"/>
                </a:solidFill>
                <a:latin typeface="Calibri" pitchFamily="34" charset="0"/>
                <a:ea typeface="Calibri" pitchFamily="34" charset="-122"/>
                <a:cs typeface="Calibri" pitchFamily="34" charset="-120"/>
              </a:rPr>
              <a:t>More than 30 agencies published a solution for the mainshock within minutes. Their magnitudes span Mw 7.0-7.7 and their depths 74-121 km; several automatic solutions defaulted to 10 km before revision. This report uses the USGS/NEIC solution (Mw 7.4, 110 km), which matches PAGER v5, and shows the SGC solution beside it. The spread is normal for a deep event recorded at teleseismic distances, and it is the reason early media figures for depth and magnitude disagreed.</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Data: SGC catalogue extract for the region, 10 Aug 07:34 to 11 Aug 17:24 COT, 148 rows including the mainshock, each with an SGC event id and reviewed (“manual”) status; supplied by the author and held in this repository as images/sgc_aftershocks.csv. Both panels are generated from that file, so the figure can be reproduced and each event checked against sgc.gov.co by its id. The extract's mainshock row (103 km at 4.99 N 76.29 W) matches the SGC event page as revised on 11 August, which is a check on the extract as a whole.</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SGC total: 103 aftershocks to 15:00 on 11 Aug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aftershocks and their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239</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3,755</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Missing</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287</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UNGRD consolidated report, 12 August, covering 14 departments and 403 municipalities. Medicina Legal had received 202 bodies at 07:00 that day, 121 of them identified. Homes: 9,215 destroyed and 45,457 seriously damaged.</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government's count is higher: 95 in Cali plus 35 in other municipalities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 11 Aug. The department reports around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Four children still missing under a collapsed school in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then 4, then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The chart is the President's breakdown of 11 August, which totals 181 and has not been reissued; UNGRD's consolidated figure reached 239 on 12 August across 14 departments and 403 municipalities, so read the chart as the shape of the distribution rather than a current tally. The deaths are concentrated in Risaralda (Pereira) and Valle del Cauca (Cali). Two narrower counts run alongside it: Medicina Legal had received 202 bodies at 07:00 on 12 August, 121 of them identified, and Asocapitales counts 188 in the capital cities alone.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UNGRD balance: 182 deaths, 2,542 injured, 189 missing</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the President's 181 is 59 fewer than the regional data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Asocapitales balance — 132 deaths, 570+ injured, by city</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Missing Persons: two counts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Reported to the authorities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287</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Unresolved on the citizen platform</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Located through the platform</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Two different “missing” numbers
</a:t>
            </a:r>
            <a:pPr algn="l" indent="0" marL="0">
              <a:buNone/>
            </a:pPr>
            <a:r>
              <a:rPr lang="en-US" sz="950" dirty="0">
                <a:solidFill>
                  <a:srgbClr val="7A2E0E"/>
                </a:solidFill>
                <a:latin typeface="Calibri" pitchFamily="34" charset="0"/>
                <a:ea typeface="Calibri" pitchFamily="34" charset="-122"/>
                <a:cs typeface="Calibri" pitchFamily="34" charset="-120"/>
              </a:rPr>
              <a:t>287 and 3,653 are not the same measure and neither is wrong. 287 is what UNGRD holds as reported missing on 12 August, up from 195 the day before; it is tied to search sites and official reports. 3,653 is the number of people on the citizen platform “Colombia te busca” whom families have registered and not yet found - a community initiative, not a state register, which does not replace a report to the police or the prosecutor's office and will contain duplicates and people simply out of contact where power and telephone service are down. Expect the platform figure to fall as communications return, and the official figure to keep rising as reports are verified. Cite 287 as the missing count; cite 3,653 as the volume of family enquiries, which is the better measure of how many households do not yet know.</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The registrations cluster in Valle del Cauca, Risaralda, Caldas and Chocó - the same four departments that hold the deaths. Asocapitales, the association of capital cities, has launched a second platform, so the enquiry volume is now split across two registers and the totals should not be added together.</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citizen missing-persons platform</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earthquake missing-persons tool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municipal damage report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Officials of the Alcaldía de Santiago de Cali. City figures; they are not a subset of any national cut-off.</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Deaths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Injured</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trapped</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People rescued</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collapsed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with structural damage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Buildings under evacuation order</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trapped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People rescued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Deaths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Injured</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these against the other Cali figures
</a:t>
            </a:r>
            <a:pPr algn="l" indent="0" marL="0">
              <a:buNone/>
            </a:pPr>
            <a:r>
              <a:rPr lang="en-US" sz="950" dirty="0">
                <a:solidFill>
                  <a:srgbClr val="7A2E0E"/>
                </a:solidFill>
                <a:latin typeface="Calibri" pitchFamily="34" charset="0"/>
                <a:ea typeface="Calibri" pitchFamily="34" charset="-122"/>
                <a:cs typeface="Calibri" pitchFamily="34" charset="-120"/>
              </a:rPr>
              <a:t>The city's own count of 69 deaths sits below the 85 the mayor gave on 11 August and the 97 in the President's breakdown the same day, and its 1,008 injured sits above the mayor's 885. The municipal report carries no cut-off time, so it cannot be placed in that sequence: it may be an earlier snapshot, or a narrower count of deaths confirmed by the city itself. Until the city states its cut-off, cite the national figures for the national picture and use these for what only the municipality reports - collapsed and structurally damaged buildings, evacuation orders, and the trapped-versus-rescued balance.</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people trapped against 88 rescued is the number that drives the next 48 hours in Cali: it is the search-and-rescue caseload, and it is larger than the city's death toll.</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Officials of the Alcaldía de Santiago de Cali, received 12 August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live updates, 11 August (Cali toll rises to 85)</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239 (UNGRD consolidated report, 12 Aug). Medicina Legal had received 202 bodies at 07:00 COT that day, of which 121 identified including five children. Asocapitales counts 188 in the capital cities alone.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 INMLCF (Medicina Legal);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3,755 (UNGRD, 12 Aug), up from 2,542 the day before. Most are being treated in Valle del Cauca, Risaralda, Quindío and Chocó. Asocapitales counts 1,677 in the capital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(reported to the authorities)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287 (UNGRD, 12 Aug), up from 195 the day before. Four children remain missing under a collapsed school in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Unresolved reports on citizen platforms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people registered on “Colombia te busca”, of whom 3,653 are still to be located and 429 have been found - concentrated in Valle del Cauca, Risaralda, Caldas and Chocó. Asocapitales has launched a second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(citizen initiative);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Rescued alive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 (as of 20:00 COT on 11 Aug), including a woman recovered in Cali almost 30 hours after the earthquake and a baby pulled from an apartment block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Provisional national balance,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Municipalities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403 municipalities across 14 departments (UNGRD, 12 Aug), against “more than 20”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People affected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24,324 families - 49,214 people - directly affected (UNGRD, 12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About 54,000: 9,215 destroyed and 45,457 seriously damaged (UNGRD, 12 Aug), against 15,568 the day before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seriously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45,457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of which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9,215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140 nationally (UNGRD, 12 Aug), against more than 80 on 11 Aug and 61 on 10 Aug. Asocapitales counts 243 collapsed structures in the capital cities; Cali city officials report 107 collapsed and 643 structurally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Aug;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damaged (UNGRD, 11 Aug), up from 18 on 10 Aug;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damaged (UNGRD, 11 Aug), up from 52 on 10 Aug;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damaged (UNGRD, 11 Aug), up from 17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roads damaged (UNGRD, 11 Aug), up from 18 on 10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and operations suspended at seven;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death toll rises to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920" dirty="0"/>
          </a:p>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920" dirty="0"/>
          </a:p>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920" dirty="0"/>
          </a:p>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920" dirty="0"/>
          </a:p>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920" dirty="0"/>
          </a:p>
          <a:p>
            <a:pPr algn="l" marL="342900" indent="-342900">
              <a:buSzPct val="100000"/>
              <a:buChar char="•"/>
            </a:pPr>
            <a:r>
              <a:rPr lang="en-US" sz="92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920" dirty="0"/>
          </a:p>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The President toured the affected regions on 11-12 August - Quibdó, then Cali, then Pereira, Dosquebradas, Manizales and Armenia - and said he would direct the response from the field rather than Bogotá.</a:t>
            </a:r>
            <a:endParaRPr lang="en-US" sz="920" dirty="0"/>
          </a:p>
          <a:p>
            <a:pPr algn="l" marL="342900" indent="-342900">
              <a:buSzPct val="100000"/>
              <a:buChar char="•"/>
            </a:pPr>
            <a:r>
              <a:rPr lang="en-US" sz="92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20" dirty="0">
                <a:solidFill>
                  <a:srgbClr val="222222"/>
                </a:solidFill>
                <a:latin typeface="Calibri" pitchFamily="34" charset="0"/>
                <a:ea typeface="Calibri" pitchFamily="34" charset="-122"/>
                <a:cs typeface="Calibri" pitchFamily="34" charset="-120"/>
              </a:rPr>
              <a:t>Relief measures announced during the tour: three months of relief on public-utility bills for households registered as affected, a rent subsidy for those who lost their homes, a census and characterisation of damaged housing ahead of repairs, and a shock plan for education and housing. An economic emergency decree is being prepared, with international credit and tax relief under consideration.</a:t>
            </a:r>
            <a:endParaRPr lang="en-US" sz="92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President Abelardo de la Espriella chairs the national response meeting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Cali fire service at a collapsed building in the city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 12 August Colombia accepted international search-and-rescue assistance, from countries whose teams meet the INSARAG classification: Israel, Ecuador, El Salvador and the United States. At Colombia's request the US State Department mobilised the Fairfax County (Virginia) and Los Angeles County (California) USAR task forces. El Salvador sent 100 tonnes of relief supplies and a Mexican aid flight has arrived.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States: USD 15.5 million in emergency assistance announced on 10 August, for emergency shelter, food, protection and damage assessment.</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European Union: the EU Civil Protection Mechanism was activated and an initial EUR 100,000 in humanitarian funding released, channelled through the German Red Cross, whose teams were already in the country. Copernicus was placed at the disposal of the Colombian authorities and the EU consular crisis mechanism was activated for EU citizens in the affected area. The Commission President and the High Representative stated the EU is ready to provide more if needed.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Japan: on 11 August at 21:31 JST (07:31 COT) the Prime Minister, Takaichi Sanae, posted condolences - “Japan stands with Colombia in this difficult time”. Foreign Minister Motegi issued a message: “In the wake of the earthquake that struck the Republic of Colombia on August 10, I express my deepest condolences to those who lost their lives and extend my heartfelt sympathies to all those affected. The Government of Japan also stands ready to provide the necessary assistance. Japan stands in strong solidarity with the people of Colombia.” No dispatch of the Japan Disaster Relief team and no emergency grant aid had been announced at the time of writing.</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Offers of assistance were also reported from Chile, Peru, Panama, Argentina, Brazil, Venezuela, Bolivia, Guatemala, Cuba, El Salvador, Spain, Italy, France, Germany, Switzerland, Israel and Ukraine - USAR teams, medical and paramedic personnel, relief items and satellite observation. The CAF development bank announced a USD 500,000 donation.</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Copernicus EMS Rapid Mapping activated as EMSR916 'Earthquake in Colombia' at 17:13 UTC on 10 August (12:13 COT), requested by EC Services / DG ECHO, to provide earthquake damage assessment emergency mapping. Status ongoing, with 3 areas of interest and 3 products at the time of writing. The activation reason names Quibdó, Pereira, Manizales and Cali as cities with significant damage and collapsed buildings.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United Nations: OCHA stated the humanitarian system is ready to support Colombia, and its preliminary needs analysis names drinking water, hygiene kits and household items, health care, food assistance and shelter. As of 11 August no formal request had been made; on 12 August the Government accepted international search-and-rescue assistance.</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The International Charter 'Space and Major Disasters' is also reported to have been activated for this earthquake; the activation number had not been confirmed at the time of writing.</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From offers to acceptance
</a:t>
            </a:r>
            <a:pPr algn="l" indent="0" marL="0">
              <a:buNone/>
            </a:pPr>
            <a:r>
              <a:rPr lang="en-US" sz="950" dirty="0">
                <a:solidFill>
                  <a:srgbClr val="7A2E0E"/>
                </a:solidFill>
                <a:latin typeface="Calibri" pitchFamily="34" charset="0"/>
                <a:ea typeface="Calibri" pitchFamily="34" charset="-122"/>
                <a:cs typeface="Calibri" pitchFamily="34" charset="-120"/>
              </a:rPr>
              <a:t>For two days Colombia took money and satellite mapping but not foreign rescuers, and the UN had no formal request. That changed on 12 August: with the missing count at 287 and about 54,000 homes damaged, the Government accepted USAR teams from Israel, Ecuador, El Salvador and the United States - and specified INSARAG classification as the condition, which is the right filter for teams that must be self-sufficient and interoperable. The lesson is not that the delay was a mistake but that the threshold is national capacity: under Ley 1523 the response is Colombia's to direct, and the request came when the search caseload outran the teams available.</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SAR teams arriving from Israel, Ecuador, El Salvador and the US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 of countries that have offered assistance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 in Colombia — earthquake information and updates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number pending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Rapid Mapping for damage assessment; requested by EC Services / DG ECHO; 3 AOIs, 3 products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Ongoing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Copernicus EMS Rapid Mapping: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Activation page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time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Event type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Affected country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Authorised user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Service output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Activation reason (verbatim)
</a:t>
            </a:r>
            <a:pPr algn="l" indent="0" marL="0">
              <a:buNone/>
            </a:pPr>
            <a:r>
              <a:rPr lang="en-US" sz="900" i="1" dirty="0">
                <a:solidFill>
                  <a:srgbClr val="222222"/>
                </a:solidFill>
                <a:latin typeface="Calibri" pitchFamily="34" charset="0"/>
                <a:ea typeface="Calibri" pitchFamily="34" charset="-122"/>
                <a:cs typeface="Calibri" pitchFamily="34" charset="-120"/>
              </a:rPr>
              <a:t>“On the 10 August 2026 at 12:30 UTC, a major earthquake with a magnitude of 7.4 is reported to have affected western and central Colombia, with the epicentre near San José del Palmar. The event has caused significant damage in several cities, including Quibdó, Pereira, Manizales and Cali, with collapsed buildings reported. Copernicus EMS Rapid Mapping is requested to provide earthquake damage assessment emergency mapping.”</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What Rapid Mapping delivers
</a:t>
            </a:r>
            <a:pPr algn="l" indent="0" marL="0">
              <a:buNone/>
            </a:pPr>
            <a:r>
              <a:rPr lang="en-US" sz="950" dirty="0">
                <a:solidFill>
                  <a:srgbClr val="7A2E0E"/>
                </a:solidFill>
                <a:latin typeface="Calibri" pitchFamily="34" charset="0"/>
                <a:ea typeface="Calibri" pitchFamily="34" charset="-122"/>
                <a:cs typeface="Calibri" pitchFamily="34" charset="-120"/>
              </a:rPr>
              <a:t>Rapid Mapping delivers reference and grading products over selected areas of interest, not nationwide coverage. Products are published on the activation page as they are produced and are free to use.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(activation)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European Commission — EU support for Colombia, Copernicus activated</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PNGRD 2015-2030 — the national disaster risk management plan, adopted by Decree 308 of 2016 and updated by Decree 1478 of 3 August 2022; aligned with the Sendai Framework and monitored annually by UNGRD.</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 In Cali the microzonation is binding on structural design through Decree 411.0.20.0158 of 2014.</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090" dirty="0"/>
          </a:p>
          <a:p>
            <a:pPr algn="l" marL="342900" indent="-342900">
              <a:spcAft>
                <a:spcPts val="500"/>
              </a:spcAft>
              <a:buSzPct val="100000"/>
              <a:buChar char="•"/>
            </a:pPr>
            <a:r>
              <a:rPr lang="en-US" sz="1090" dirty="0">
                <a:solidFill>
                  <a:srgbClr val="222222"/>
                </a:solidFill>
                <a:latin typeface="Calibri" pitchFamily="34" charset="0"/>
                <a:ea typeface="Calibri" pitchFamily="34" charset="-122"/>
                <a:cs typeface="Calibri" pitchFamily="34" charset="-120"/>
              </a:rPr>
              <a:t>Cities run their own instruments alongside the national system: Cali's SATIC community-and-sensor early warning system (from 2018, formalised by Municipal Decree 0858 of 2022), Medellín's DAGRD and its municipal plan, and municipal risk-management funds created under Law 1523.</a:t>
            </a:r>
            <a:endParaRPr lang="en-US" sz="109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update of the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Cali's intelligent and community early warning system</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110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Pre-event Risk Assessment: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Cali did not lack a risk assessment. Between 2020 and 2022 the city built a full urban earthquake risk model with the GEM Foundation under the USAID-supported TREQ project, one of three pilot cities alongside Quito and Santiago de los Caballeros. The modelled scenario is a shallow local one — magnitude 6.5 at 10 km depth on the Dagua-Calima fault — and its estimates dwarf what the city actually experienced on 10 August 2026.</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Modelled scenario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Modelled scenario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depth, Dagua-Calima fault, urban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Population exposed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Estimated deaths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Seriously injured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Displaced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Buildings collapsed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1,800 of 348,000 (0.5%)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Residual risk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assessed at about 40% after existing measures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Figures from the GEM-TREQ urban risk assessment for Santiago de Cali and from the city's local disaster risk management plan, as compiled by the Municipality of Santiago de Cali (Secretaría de Gestión del Riesgo de Emergencias y Desastres) for a JICA training course.</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What the city had already prioritised</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studies of indispensable buildings — hospitals, schools, fire stations — to the NSR-10 code (budgeted at about USD 1.7 million, short term).</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Structural retrofitting of indispensable buildings and of basic-service infrastructure, to keep essential services running after an earthquake.</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Seismic vulnerability assessment of the EMCALI water, sewerage and power networks and of the city gas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Updating the local soil-response model and the seismic microzonation, in force since INGEOMINAS/DAGMA (2005) and adopted by Decree 411.0.20.0158 of 2014 for structural design.</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Maintaining and extending the Cali accelerograph network (RAC) and its interoperability with the SGC national network.</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Insuring public infrastructure against seismic risk, and retrofitting low-income housing through subsidies and safe self-build programmes.</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Financing model for the priority measures: local government 30-50%, national disaster fund (FNGRD/UNGRD) 30-50%, international partners including JICA, the GEM Foundation and the IDB about 20%.</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The 2026 earthquake was not this scenario
</a:t>
            </a:r>
            <a:pPr algn="l" indent="0" marL="0">
              <a:buNone/>
            </a:pPr>
            <a:r>
              <a:rPr lang="en-US" sz="950" dirty="0">
                <a:solidFill>
                  <a:srgbClr val="7A2E0E"/>
                </a:solidFill>
                <a:latin typeface="Calibri" pitchFamily="34" charset="0"/>
                <a:ea typeface="Calibri" pitchFamily="34" charset="-122"/>
                <a:cs typeface="Calibri" pitchFamily="34" charset="-120"/>
              </a:rPr>
              <a:t>The 10 August event was larger in magnitude (M7.4) but 110 km deep and 158 km from Cali, giving the city MMI VI rather than the near-field shaking of the modelled M6.5. Cali recorded 27 deaths and 25-30 collapsed structures — two orders of magnitude below the scenario. What it did test is exactly the weakness the local plan had flagged: about 30% of the University Hospital collapsed and seven health institutions closed. The city's own worst case remains ahead of it, and the case for retrofitting indispensable buildings is now evidential rather than theoretical.</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disaster risk management</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GEM-TREQ City Profile: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GEM-TREQ city profile for Cali: the M6.5 / 10 km Dagua-Calima scenario. 2.3 million people and 312,000 residential, 22,000 commercial, 5,300 industrial and 8,000 institutional buildings are exposed, with COP 220 trillion of exposed capital. The bars give, per comuna, the collapse index, fatalities, serious injuries, displaced people and economic losses; the histograms give the city totals with their modelled ranges.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(technical report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Ecuador-Colombia earthquake (Pacific coast)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earthquake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The reference historical event for Cali; the city was also shaken in 1995 and 2004, the latter damaging clinics and residential buildings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Coffee Region earthquake (deep,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An intermediate-depth event beneath the same coffee-growing departments — the closest historical analogue to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Tumaco earthquake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Popayán earthquake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Páez (Cauca)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(Quindío) earthquake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Chocó earthquake (this event)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SGC / GEM national seismic hazard model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National seismic hazard, 475-year return period</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GEM Foundation — TREQ project (urban earthquake risk,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 deep source with shallow-disaster consequences. At 110 km depth the earthquake produced no surface rupture and no tsunami, yet it damaged buildings in at least six departments. Damage is dispersed rather than concentrated, which complicates needs assessment, logistics and the targeting of search and rescue.</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toll multiplied as the assessment reached the damage. In 56 hours deaths went from 111 to 239, injured from 87 to 3,755, missing from none counted to 287, damaged homes from 1,612 to about 54,000, and the affected area from “more than 20 municipalities” to 403 across 14 departments. Nothing new happened to cause those jumps; the assessment reached places it had not reached, and much of Chocó is still accessible only by boat or aircraft. Two lessons for reading early figures: the first-day numbers describe the reach of the assessment, not the size of the disaster; and where two counts of the same thing exist, check what each is counting before comparing them.</a:t>
            </a:r>
            <a:endParaRPr lang="en-US" sz="970" dirty="0"/>
          </a:p>
          <a:p>
            <a:pPr algn="l" marL="342900" indent="-342900">
              <a:buSzPct val="100000"/>
              <a:buChar char="•"/>
            </a:pPr>
            <a:r>
              <a:rPr lang="en-US" sz="97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The assessments existed before the event. Cali's GEM-TREQ risk model and its local plan had already named hospitals and other indispensable buildings as the priority to retrofit, and the 2026 earthquake — a far weaker test than the city's own modelled scenario — still took out roughly 30% of its main public hospital. The gap here is not knowledge but implementation and financing.</a:t>
            </a:r>
            <a:endParaRPr lang="en-US" sz="970" dirty="0"/>
          </a:p>
          <a:p>
            <a:pPr algn="l" marL="342900" indent="-342900">
              <a:buSzPct val="100000"/>
              <a:buChar char="•"/>
            </a:pPr>
            <a:r>
              <a:rPr lang="en-US" sz="97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Aftershock risk to damaged buildings. The SGC located 147 events in 34 hours, 92% of them below M3.0 and only one above M4.0 - as modest as an intermediate-depth intraslab rupture predicts. That statistic is not the operational point: the M4.8 of 10 August was felt widely, and the M3.9 of 11 August emptied buildings again in several cities. Structures the mainshock left standing but damaged have lost capacity, so rapid habitability assessment before re-occupancy matters more than the aftershock numbers.</a:t>
            </a:r>
            <a:endParaRPr lang="en-US" sz="970" dirty="0"/>
          </a:p>
          <a:p>
            <a:pPr algn="l" marL="342900" indent="-342900">
              <a:buSzPct val="100000"/>
              <a:buChar char="•"/>
            </a:pPr>
            <a:r>
              <a:rPr lang="en-US" sz="97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07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97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(activation)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death toll rises to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injured and 12 dead in Chocó (department government)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European Commission — EU support for Colombia, Copernicus activated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Foundation — TREQ project (urban earthquake risk,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(technical report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(peer-reviewed,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Cali's intelligent and community early warning system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update of the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bulletin and FDSN event service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seismic catalogue viewer (reviewed catalogue ends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live updates, 11 August (Cali toll rises to 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balance — 132 deaths, 570+ injured, by city</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UNGRD balance: 182 deaths, 2,542 injured, 189 missing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the President's 181 is 59 fewer than the regional data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aftershocks and their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SGC total: 103 aftershocks to 15:00 on 11 Aug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 Foreign Minister Motegi's message on the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Japan on X — post of 11 August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 of countries that have offered assistance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in Colombia — earthquake information and updates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 News — the UN offers support to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citizen missing-persons platform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earthquake missing-persons tool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relief and subsidies announced on the Coffee Region tour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UNGRD damage and casualty report across 14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SAR teams arriving from Israel, Ecuador, El Salvador and the US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deaths and 1,677 injured in capital cities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12 Aug 2026, 16:00 COT (13 Aug 06:00 JST), about 56 hours after the earthquake. UNGRD's consolidated report covers 14 departments and 403 municipalities: 239 deaths, 3,755 injured, 287 missing, 140 buildings collapsed, 24,324 families (49,214 people) affected and about 54,000 homes damaged or destroyed. All figures are preliminary; the territorial damage and needs assessment (EDAN) is still under way.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2026-08-12T20:39:13Z</dcterms:created>
  <dcterms:modified xsi:type="dcterms:W3CDTF">2026-08-12T20:39:13Z</dcterms:modified>
</cp:coreProperties>
</file>