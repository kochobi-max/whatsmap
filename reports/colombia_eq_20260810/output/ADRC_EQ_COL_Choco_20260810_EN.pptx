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Population exposed by shaking level (millions, USGS PAGER)</a:t>
            </a:r>
          </a:p>
        </c:rich>
      </c:tx>
      <c:layout/>
      <c:overlay val="0"/>
    </c:title>
    <c:autoTitleDeleted val="0"/>
    <c:plotArea>
      <c:layout/>
      <c:barChart>
        <c:barDir val="col"/>
        <c:grouping val="clustered"/>
        <c:varyColors val="0"/>
        <c:ser>
          <c:idx val="0"/>
          <c:order val="0"/>
          <c:tx>
            <c:strRef>
              <c:f>Sheet1!$B$1</c:f>
              <c:strCache>
                <c:ptCount val="1"/>
                <c:pt idx="0">
                  <c:v>People exposed</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MMI VII</c:v>
                  </c:pt>
                  <c:pt idx="1">
                    <c:v>MMI VI</c:v>
                  </c:pt>
                  <c:pt idx="2">
                    <c:v>MMI V</c:v>
                  </c:pt>
                  <c:pt idx="3">
                    <c:v>MMI IV</c:v>
                  </c:pt>
                </c:lvl>
              </c:multiLvlStrCache>
            </c:multiLvlStrRef>
          </c:cat>
          <c:val>
            <c:numRef>
              <c:f>Sheet1!$B$2:$B$5</c:f>
              <c:numCache>
                <c:formatCode>General</c:formatCode>
                <c:ptCount val="4"/>
                <c:pt idx="0">
                  <c:v>1.6</c:v>
                </c:pt>
                <c:pt idx="1">
                  <c:v>8.9</c:v>
                </c:pt>
                <c:pt idx="2">
                  <c:v>17.1</c:v>
                </c:pt>
                <c:pt idx="3">
                  <c:v>6.5</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Reported deaths by department (provisional)</a:t>
            </a:r>
          </a:p>
        </c:rich>
      </c:tx>
      <c:layout/>
      <c:overlay val="0"/>
    </c:title>
    <c:autoTitleDeleted val="0"/>
    <c:plotArea>
      <c:layout/>
      <c:barChart>
        <c:barDir val="bar"/>
        <c:grouping val="clustered"/>
        <c:varyColors val="0"/>
        <c:ser>
          <c:idx val="0"/>
          <c:order val="0"/>
          <c:tx>
            <c:strRef>
              <c:f>Sheet1!$B$1</c:f>
              <c:strCache>
                <c:ptCount val="1"/>
                <c:pt idx="0">
                  <c:v>Deaths</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Valle del Cauca (Cali)</c:v>
                  </c:pt>
                  <c:pt idx="1">
                    <c:v>Risaralda (Pereira)</c:v>
                  </c:pt>
                  <c:pt idx="2">
                    <c:v>Chocó (Quibdó)</c:v>
                  </c:pt>
                  <c:pt idx="3">
                    <c:v>Caldas (Manizales)</c:v>
                  </c:pt>
                  <c:pt idx="4">
                    <c:v>Antioquia</c:v>
                  </c:pt>
                </c:lvl>
              </c:multiLvlStrCache>
            </c:multiLvlStrRef>
          </c:cat>
          <c:val>
            <c:numRef>
              <c:f>Sheet1!$B$2:$B$6</c:f>
              <c:numCache>
                <c:formatCode>General</c:formatCode>
                <c:ptCount val="5"/>
                <c:pt idx="0">
                  <c:v>97</c:v>
                </c:pt>
                <c:pt idx="1">
                  <c:v>66</c:v>
                </c:pt>
                <c:pt idx="2">
                  <c:v>9</c:v>
                </c:pt>
                <c:pt idx="3">
                  <c:v>5</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detallesismo/SGC2026pqqmro/" TargetMode="External"/><Relationship Id="rId7" Type="http://schemas.openxmlformats.org/officeDocument/2006/relationships/hyperlink" Target="https://portal.gestiondelriesgo.gov.co/" TargetMode="External"/><Relationship Id="rId8" Type="http://schemas.openxmlformats.org/officeDocument/2006/relationships/hyperlink" Target="https://www.google.com/maps/"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9" Type="http://schemas.openxmlformats.org/officeDocument/2006/relationships/slideLayout" Target="../slideLayouts/slideLayout1.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6-1.png"/><Relationship Id="rId2" Type="http://schemas.openxmlformats.org/officeDocument/2006/relationships/image" Target="../media/image-6-2.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3" Type="http://schemas.openxmlformats.org/officeDocument/2006/relationships/chart" Target="/ppt/charts/chart1.xml"/><Relationship Id="rId1" Type="http://schemas.openxmlformats.org/officeDocument/2006/relationships/image" Target="../media/image-7-1.png"/><Relationship Id="rId2" Type="http://schemas.openxmlformats.org/officeDocument/2006/relationships/image" Target="../media/image-7-2.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www.sgc.gov.co/detallesismo/SGC2026pqqmro/mmi" TargetMode="External"/><Relationship Id="rId4" Type="http://schemas.openxmlformats.org/officeDocument/2006/relationships/hyperlink" Target="https://www.sgc.gov.co/detallesismo/SGC2026pqqmro/mmi"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8-1.png"/><Relationship Id="rId2" Type="http://schemas.openxmlformats.org/officeDocument/2006/relationships/image" Target="../media/image-8-2.jp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earthquake.usgs.gov/earthquakes/eventpage/us6000tjl2/pager"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gdacs.org/report.aspx?eventid=1557236&amp;eventtype=EQ" TargetMode="External"/><Relationship Id="rId1" Type="http://schemas.openxmlformats.org/officeDocument/2006/relationships/image" Target="../media/image-9-1.png"/><Relationship Id="rId2" Type="http://schemas.openxmlformats.org/officeDocument/2006/relationships/image" Target="../media/image-9-2.jp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www.sgc.gov.co/" TargetMode="External"/><Relationship Id="rId4" Type="http://schemas.openxmlformats.org/officeDocument/2006/relationships/hyperlink" Target="https://www.semana.com/tecnologia/articulo/servicio-geologico-revela-el-numero-total-de-replicas-que-ha-habido-en-colombia-tras-fuerte-terremoto-que-estremecio-al-pais/202641/" TargetMode="External"/><Relationship Id="rId5" Type="http://schemas.openxmlformats.org/officeDocument/2006/relationships/hyperlink" Target="https://www.eltiempo.com/colombia/otras-ciudades/cuantas-replicas-se-han-registrado-tras-el-terremoto-de-7-4-en-colombia-estas-son-todas-las-magnitudes-3577711"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10-1.png"/><Relationship Id="rId2" Type="http://schemas.openxmlformats.org/officeDocument/2006/relationships/image" Target="../media/image-10-2.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www.noticiascaracol.com/colombia/en-vivo-colombia-hoy-tras-terremoto-de-magnitud-7-4-continuan-las-labores-de-rescate-so35" TargetMode="External"/><Relationship Id="rId4" Type="http://schemas.openxmlformats.org/officeDocument/2006/relationships/hyperlink" Target="https://rpp.pe/mundo/colombia/abelardo-de-la-espriella-cifra-en-181-los-muertos-por-el-terremoto-59-menos-que-datos-regionales-noticia-1701022" TargetMode="External"/><Relationship Id="rId5"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6" Type="http://schemas.openxmlformats.org/officeDocument/2006/relationships/hyperlink" Target="https://www.elespectador.com/colombia/mas-regiones/temblor-en-colombia-hoy-10-de-agosto-en-vivo-epicentro-y-reporte-de-afectaciones/" TargetMode="External"/><Relationship Id="rId2" Type="http://schemas.openxmlformats.org/officeDocument/2006/relationships/chart" Target="/ppt/charts/chart2.xml"/><Relationship Id="rId1" Type="http://schemas.openxmlformats.org/officeDocument/2006/relationships/image" Target="../media/image-11-1.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2-1.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3-1.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5" Type="http://schemas.openxmlformats.org/officeDocument/2006/relationships/hyperlink" Target="https://www.cali.gov.co/gestiondelriesgo/" TargetMode="External"/><Relationship Id="rId6" Type="http://schemas.openxmlformats.org/officeDocument/2006/relationships/hyperlink" Target="https://portal.gestiondelriesgo.gov.co/" TargetMode="External"/><Relationship Id="rId7" Type="http://schemas.openxmlformats.org/officeDocument/2006/relationships/hyperlink" Target="https://colombiaone.com/2026/08/10/colombia-national-disaster/" TargetMode="External"/><Relationship Id="rId8"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4-1.png"/><Relationship Id="rId2" Type="http://schemas.openxmlformats.org/officeDocument/2006/relationships/image" Target="../media/image-14-2.jpg"/><Relationship Id="rId4" Type="http://schemas.openxmlformats.org/officeDocument/2006/relationships/image" Target="../media/image-14-3.jpg"/><Relationship Id="rId9" Type="http://schemas.openxmlformats.org/officeDocument/2006/relationships/slideLayout" Target="../slideLayouts/slideLayout1.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reliefweb.int/country/col" TargetMode="External"/><Relationship Id="rId1" Type="http://schemas.openxmlformats.org/officeDocument/2006/relationships/image" Target="../media/image-15-1.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16-1.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3" Type="http://schemas.openxmlformats.org/officeDocument/2006/relationships/hyperlink" Target="https://mapping.emergency.copernicus.eu/activations/EMSR916/" TargetMode="External"/><Relationship Id="rId4" Type="http://schemas.openxmlformats.org/officeDocument/2006/relationships/hyperlink" Target="https://mapping.emergency.copernicus.eu/activations/EMSR916/" TargetMode="External"/><Relationship Id="rId5" Type="http://schemas.openxmlformats.org/officeDocument/2006/relationships/hyperlink" Target="https://www.democrata.es/en/international/von-der-leyen-expresses-the-eu-s-support-for-colombia-and-activates-copernicus-after-the-earthquake/" TargetMode="External"/><Relationship Id="rId1" Type="http://schemas.openxmlformats.org/officeDocument/2006/relationships/image" Target="../media/image-17-1.png"/><Relationship Id="rId2" Type="http://schemas.openxmlformats.org/officeDocument/2006/relationships/image" Target="../media/image-17-2.jpg"/><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portal.gestiondelriesgo.gov.co/Paginas/Plan-Nacional-de-Gestion-del-Riesgo.aspx" TargetMode="External"/><Relationship Id="rId4" Type="http://schemas.openxmlformats.org/officeDocument/2006/relationships/hyperlink" Target="https://www.funcionpublica.gov.co/eva/gestornormativo/norma.php?i=191411" TargetMode="External"/><Relationship Id="rId5" Type="http://schemas.openxmlformats.org/officeDocument/2006/relationships/hyperlink" Target="https://satic.cali.gov.co/satic" TargetMode="External"/><Relationship Id="rId1" Type="http://schemas.openxmlformats.org/officeDocument/2006/relationships/image" Target="../media/image-18-1.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9-1.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www.globalquakemodel.org/proj/treq" TargetMode="External"/><Relationship Id="rId3" Type="http://schemas.openxmlformats.org/officeDocument/2006/relationships/hyperlink" Target="https://cloud-storage.globalquakemodel.org/public/wix-new-website/pdf-collections-wix/publications/TREQ%20deliverables/reports/TREQ_D262_Riesgo_Sismico_Cali_v1.00.pdf" TargetMode="External"/><Relationship Id="rId4" Type="http://schemas.openxmlformats.org/officeDocument/2006/relationships/hyperlink" Target="https://www.cali.gov.co/gestiondelriesgo/" TargetMode="External"/><Relationship Id="rId1" Type="http://schemas.openxmlformats.org/officeDocument/2006/relationships/image" Target="../media/image-20-1.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3" Type="http://schemas.openxmlformats.org/officeDocument/2006/relationships/hyperlink" Target="https://github.com/gem/treq-riesgo-urbano" TargetMode="External"/><Relationship Id="rId4" Type="http://schemas.openxmlformats.org/officeDocument/2006/relationships/hyperlink" Target="https://cloud-storage.globalquakemodel.org/public/wix-new-website/pdf-collections-wix/publications/TREQ%20deliverables/reports/TREQ_D262_Riesgo_Sismico_Cali_v1.00.pdf" TargetMode="External"/><Relationship Id="rId5" Type="http://schemas.openxmlformats.org/officeDocument/2006/relationships/hyperlink" Target="https://www.globalquakemodel.org/proj/treq" TargetMode="External"/><Relationship Id="rId1" Type="http://schemas.openxmlformats.org/officeDocument/2006/relationships/image" Target="../media/image-21-1.png"/><Relationship Id="rId2" Type="http://schemas.openxmlformats.org/officeDocument/2006/relationships/image" Target="../media/image-21-2.jp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3" Type="http://schemas.openxmlformats.org/officeDocument/2006/relationships/hyperlink" Target="https://amenazasismica.sgc.gov.co/"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 TargetMode="External"/><Relationship Id="rId6" Type="http://schemas.openxmlformats.org/officeDocument/2006/relationships/hyperlink" Target="https://www.globalquakemodel.org/proj/treq" TargetMode="External"/><Relationship Id="rId1" Type="http://schemas.openxmlformats.org/officeDocument/2006/relationships/image" Target="../media/image-22-1.png"/><Relationship Id="rId2" Type="http://schemas.openxmlformats.org/officeDocument/2006/relationships/image" Target="../media/image-22-2.jp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23-1.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4" Type="http://schemas.openxmlformats.org/officeDocument/2006/relationships/hyperlink" Target="https://www.cnn.com/2026/08/10/world/live-news/colombia-earthquake-san-jose-del-palmar" TargetMode="External"/><Relationship Id="rId15" Type="http://schemas.openxmlformats.org/officeDocument/2006/relationships/hyperlink" Target="https://www.elcolombiano.com/colombia/terremoto-temblor-hoy-colombia-choco-heridos-FL39761141" TargetMode="External"/><Relationship Id="rId16" Type="http://schemas.openxmlformats.org/officeDocument/2006/relationships/hyperlink" Target="https://un-spider.org/national-unit-disaster-risk-management-ungrd-colombia" TargetMode="External"/><Relationship Id="rId1" Type="http://schemas.openxmlformats.org/officeDocument/2006/relationships/image" Target="../media/image-24-1.png"/><Relationship Id="rId17" Type="http://schemas.openxmlformats.org/officeDocument/2006/relationships/slideLayout" Target="../slideLayouts/slideLayout1.xml"/><Relationship Id="rId1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2" Type="http://schemas.openxmlformats.org/officeDocument/2006/relationships/hyperlink" Target="https://www.oecd.org/en/publications/risk-governance-scan-of-colombia_eeb81954-en.html" TargetMode="External"/><Relationship Id="rId3" Type="http://schemas.openxmlformats.org/officeDocument/2006/relationships/hyperlink" Target="https://www.cnn.com/2026/08/10/world/live-news/colombia-earthquake-san-jose-del-palmar" TargetMode="External"/><Relationship Id="rId4" Type="http://schemas.openxmlformats.org/officeDocument/2006/relationships/hyperlink" Target="https://www.france24.com/en/americas/20260810-powerful-quake-rocks-colombia-causing-major-damage" TargetMode="External"/><Relationship Id="rId5" Type="http://schemas.openxmlformats.org/officeDocument/2006/relationships/hyperlink" Target="https://www.aljazeera.com/news/2026/8/10/7-4-magnitude-earthquake-hits-colombia-killing-at-least-20" TargetMode="External"/><Relationship Id="rId6" Type="http://schemas.openxmlformats.org/officeDocument/2006/relationships/hyperlink" Target="https://www.cbsnews.com/news/colombia-earthquake-western-region-evacuations/" TargetMode="External"/><Relationship Id="rId7" Type="http://schemas.openxmlformats.org/officeDocument/2006/relationships/hyperlink" Target="https://www.nbcnews.com/world/latin-america/strong-earthquake-colombia-ecuador-people-evacuating-homes-buildings-rcna591709" TargetMode="External"/><Relationship Id="rId8" Type="http://schemas.openxmlformats.org/officeDocument/2006/relationships/hyperlink" Target="https://colombiaone.com/2026/08/10/earthquake-colombia-official-details/" TargetMode="External"/><Relationship Id="rId9" Type="http://schemas.openxmlformats.org/officeDocument/2006/relationships/hyperlink" Target="https://colombiaone.com/2026/08/10/colombia-national-disaster/" TargetMode="External"/><Relationship Id="rId10" Type="http://schemas.openxmlformats.org/officeDocument/2006/relationships/hyperlink" Target="https://www.infobae.com/colombia/2026/08/10/por-que-el-temblor-en-colombia-de-este-lunes-10-de-agosto-duro-una-eternidad-el-servicio-geologico-explico-que-paso/" TargetMode="External"/><Relationship Id="rId11" Type="http://schemas.openxmlformats.org/officeDocument/2006/relationships/hyperlink" Target="https://www3.nhk.or.jp/news/" TargetMode="External"/><Relationship Id="rId12" Type="http://schemas.openxmlformats.org/officeDocument/2006/relationships/hyperlink" Target="https://www.nikkei.com/article/DGXZQOGN108V30Q6A810C2000000/" TargetMode="External"/><Relationship Id="rId13" Type="http://schemas.openxmlformats.org/officeDocument/2006/relationships/hyperlink" Target="https://www.jiji.com/jc/article?k=2026081000878&amp;g=int" TargetMode="External"/><Relationship Id="rId14" Type="http://schemas.openxmlformats.org/officeDocument/2006/relationships/hyperlink" Target="https://www.savethechildren.org/us/about-us/media-and-news/2026-press-releases/children-at-risk-after-earthquake-strikes-colombia" TargetMode="External"/><Relationship Id="rId15" Type="http://schemas.openxmlformats.org/officeDocument/2006/relationships/hyperlink" Target="https://www.directrelief.org/2026/08/colombia-earthquake-7-4-magnitude-direct-relief-response/" TargetMode="External"/><Relationship Id="rId16" Type="http://schemas.openxmlformats.org/officeDocument/2006/relationships/hyperlink" Target="https://www.americares.org/crisis-alerts/colombia-earthquake-august-2026/" TargetMode="External"/><Relationship Id="rId17" Type="http://schemas.openxmlformats.org/officeDocument/2006/relationships/hyperlink" Target="https://glidenumber.net/" TargetMode="External"/><Relationship Id="rId18" Type="http://schemas.openxmlformats.org/officeDocument/2006/relationships/hyperlink" Target="https://www.adrc.asia/" TargetMode="External"/><Relationship Id="rId1" Type="http://schemas.openxmlformats.org/officeDocument/2006/relationships/image" Target="../media/image-25-1.png"/><Relationship Id="rId19" Type="http://schemas.openxmlformats.org/officeDocument/2006/relationships/slideLayout" Target="../slideLayouts/slideLayout1.xml"/><Relationship Id="rId20"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2" Type="http://schemas.openxmlformats.org/officeDocument/2006/relationships/hyperlink" Target="https://www.democrata.es/en/international/von-der-leyen-expresses-the-eu-s-support-for-colombia-and-activates-copernicus-after-the-earthquake/" TargetMode="External"/><Relationship Id="rId3" Type="http://schemas.openxmlformats.org/officeDocument/2006/relationships/hyperlink" Target="https://www.globalquakemodel.org/proj/treq" TargetMode="External"/><Relationship Id="rId4" Type="http://schemas.openxmlformats.org/officeDocument/2006/relationships/hyperlink" Target="https://cloud-storage.globalquakemodel.org/public/wix-new-website/pdf-collections-wix/publications/TREQ%20deliverables/reports/TREQ_D262_Riesgo_Sismico_Cali_v1.00.pdf" TargetMode="External"/><Relationship Id="rId5" Type="http://schemas.openxmlformats.org/officeDocument/2006/relationships/hyperlink" Target="https://www.sciencedirect.com/science/article/abs/pii/S2212420925003097" TargetMode="External"/><Relationship Id="rId6" Type="http://schemas.openxmlformats.org/officeDocument/2006/relationships/hyperlink" Target="https://satic.cali.gov.co/satic" TargetMode="External"/><Relationship Id="rId7" Type="http://schemas.openxmlformats.org/officeDocument/2006/relationships/hyperlink" Target="https://www.cali.gov.co/gestiondelriesgo/" TargetMode="External"/><Relationship Id="rId8" Type="http://schemas.openxmlformats.org/officeDocument/2006/relationships/hyperlink" Target="https://portal.gestiondelriesgo.gov.co/Paginas/Plan-Nacional-de-Gestion-del-Riesgo.aspx" TargetMode="External"/><Relationship Id="rId9" Type="http://schemas.openxmlformats.org/officeDocument/2006/relationships/hyperlink" Target="https://www.funcionpublica.gov.co/eva/gestornormativo/norma.php?i=191411" TargetMode="External"/><Relationship Id="rId10" Type="http://schemas.openxmlformats.org/officeDocument/2006/relationships/hyperlink" Target="https://www.emsc-csem.org/" TargetMode="External"/><Relationship Id="rId11" Type="http://schemas.openxmlformats.org/officeDocument/2006/relationships/hyperlink" Target="https://catalogosismico.sgc.gov.co/visor/index.html" TargetMode="External"/><Relationship Id="rId12"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13" Type="http://schemas.openxmlformats.org/officeDocument/2006/relationships/hyperlink" Target="https://www.elespectador.com/colombia/mas-regiones/temblor-en-colombia-hoy-10-de-agosto-en-vivo-epicentro-y-reporte-de-afectaciones/" TargetMode="External"/><Relationship Id="rId14" Type="http://schemas.openxmlformats.org/officeDocument/2006/relationships/hyperlink" Target="https://www.noticiascaracol.com/colombia/en-vivo-colombia-hoy-tras-terremoto-de-magnitud-7-4-continuan-las-labores-de-rescate-so35" TargetMode="External"/><Relationship Id="rId15" Type="http://schemas.openxmlformats.org/officeDocument/2006/relationships/hyperlink" Target="https://rpp.pe/mundo/colombia/abelardo-de-la-espriella-cifra-en-181-los-muertos-por-el-terremoto-59-menos-que-datos-regionales-noticia-1701022" TargetMode="External"/><Relationship Id="rId16" Type="http://schemas.openxmlformats.org/officeDocument/2006/relationships/hyperlink" Target="https://www.eltiempo.com/colombia/otras-ciudades/cuantas-replicas-se-han-registrado-tras-el-terremoto-de-7-4-en-colombia-estas-son-todas-las-magnitudes-3577711" TargetMode="External"/><Relationship Id="rId17" Type="http://schemas.openxmlformats.org/officeDocument/2006/relationships/hyperlink" Target="https://www.semana.com/tecnologia/articulo/servicio-geologico-revela-el-numero-total-de-replicas-que-ha-habido-en-colombia-tras-fuerte-terremoto-que-estremecio-al-pais/202641/" TargetMode="External"/><Relationship Id="rId1" Type="http://schemas.openxmlformats.org/officeDocument/2006/relationships/image" Target="../media/image-26-1.png"/><Relationship Id="rId18" Type="http://schemas.openxmlformats.org/officeDocument/2006/relationships/slideLayout" Target="../slideLayouts/slideLayout1.xml"/><Relationship Id="rId19"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27-1.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Calibri" pitchFamily="34" charset="0"/>
                <a:ea typeface="Calibri" pitchFamily="34" charset="-122"/>
                <a:cs typeface="Calibri" pitchFamily="34" charset="-120"/>
              </a:rPr>
              <a:t>Disaster Report</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600" b="1" dirty="0">
                <a:solidFill>
                  <a:srgbClr val="111111"/>
                </a:solidFill>
                <a:latin typeface="Cambria" pitchFamily="34" charset="0"/>
                <a:ea typeface="Cambria" pitchFamily="34" charset="-122"/>
                <a:cs typeface="Cambria" pitchFamily="34" charset="-120"/>
              </a:rPr>
              <a:t>2026 Chocó Earthquake (Colombia)</a:t>
            </a:r>
            <a:endParaRPr lang="en-US" sz="26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Calibri" pitchFamily="34" charset="0"/>
                <a:ea typeface="Calibri" pitchFamily="34" charset="-122"/>
                <a:cs typeface="Calibri" pitchFamily="34" charset="-120"/>
              </a:rPr>
              <a:t>M7.4, San José del Palmar, Chocó Department - 10 August 2026</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Calibri" pitchFamily="34" charset="0"/>
                <a:ea typeface="Calibri" pitchFamily="34" charset="-122"/>
                <a:cs typeface="Calibri" pitchFamily="34" charset="-120"/>
              </a:rPr>
              <a:t>Mww 7.4   ·   depth 110 km   ·   MMI VII (Very strong) — USGS ShakeMap; the SGC macroseismic intensity map agrees   ·   GLIDE EQ-2026-000146-COL</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(1) World / Colombia</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_manual.jpg">    </p:cNvPr>
          <p:cNvPicPr>
            <a:picLocks noChangeAspect="1"/>
          </p:cNvPicPr>
          <p:nvPr/>
        </p:nvPicPr>
        <p:blipFill>
          <a:blip r:embed="rId2"/>
          <a:stretch>
            <a:fillRect/>
          </a:stretch>
        </p:blipFill>
        <p:spPr>
          <a:xfrm>
            <a:off x="723410" y="1975104"/>
            <a:ext cx="2997165" cy="2414016"/>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(2) NW South America</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_manual.jpg">    </p:cNvPr>
          <p:cNvPicPr>
            <a:picLocks noChangeAspect="1"/>
          </p:cNvPicPr>
          <p:nvPr/>
        </p:nvPicPr>
        <p:blipFill>
          <a:blip r:embed="rId3"/>
          <a:stretch>
            <a:fillRect/>
          </a:stretch>
        </p:blipFill>
        <p:spPr>
          <a:xfrm>
            <a:off x="5119058" y="1975104"/>
            <a:ext cx="2142859"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(3) Epicentre &amp; affected cities</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_manual.jpg">    </p:cNvPr>
          <p:cNvPicPr>
            <a:picLocks noChangeAspect="1"/>
          </p:cNvPicPr>
          <p:nvPr/>
        </p:nvPicPr>
        <p:blipFill>
          <a:blip r:embed="rId4"/>
          <a:stretch>
            <a:fillRect/>
          </a:stretch>
        </p:blipFill>
        <p:spPr>
          <a:xfrm>
            <a:off x="8339328" y="2121025"/>
            <a:ext cx="3639312" cy="2122174"/>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Calibri" pitchFamily="34" charset="0"/>
                <a:ea typeface="Calibri" pitchFamily="34" charset="-122"/>
                <a:cs typeface="Calibri" pitchFamily="34" charset="-120"/>
              </a:rPr>
              <a:t>Locator maps © Google (Google Maps). Distances shown on later pages are computed from the published USGS coordinates.</a:t>
            </a:r>
            <a:endParaRPr lang="en-US" sz="750" dirty="0"/>
          </a:p>
        </p:txBody>
      </p:sp>
      <p:sp>
        <p:nvSpPr>
          <p:cNvPr id="18" name="Shape 12"/>
          <p:cNvSpPr/>
          <p:nvPr/>
        </p:nvSpPr>
        <p:spPr>
          <a:xfrm>
            <a:off x="0" y="4663440"/>
            <a:ext cx="12188952" cy="1499616"/>
          </a:xfrm>
          <a:prstGeom prst="rect">
            <a:avLst/>
          </a:prstGeom>
          <a:solidFill>
            <a:srgbClr val="262626"/>
          </a:solidFill>
          <a:ln w="12700">
            <a:solidFill>
              <a:srgbClr val="333333"/>
            </a:solidFill>
            <a:prstDash val="solid"/>
          </a:ln>
        </p:spPr>
      </p:sp>
      <p:sp>
        <p:nvSpPr>
          <p:cNvPr id="19" name="Text 13"/>
          <p:cNvSpPr/>
          <p:nvPr/>
        </p:nvSpPr>
        <p:spPr>
          <a:xfrm>
            <a:off x="457200" y="4745736"/>
            <a:ext cx="11274552" cy="1335024"/>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Calibri" pitchFamily="34" charset="0"/>
                <a:ea typeface="Calibri" pitchFamily="34" charset="-122"/>
                <a:cs typeface="Calibri" pitchFamily="34" charset="-120"/>
              </a:rPr>
              <a:t>Overview   </a:t>
            </a:r>
            <a:pPr algn="l" indent="0" marL="0">
              <a:buNone/>
            </a:pPr>
            <a:r>
              <a:rPr lang="en-US" sz="870" dirty="0">
                <a:solidFill>
                  <a:srgbClr val="FFFFFF"/>
                </a:solidFill>
                <a:latin typeface="Calibri" pitchFamily="34" charset="0"/>
                <a:ea typeface="Calibri" pitchFamily="34" charset="-122"/>
                <a:cs typeface="Calibri" pitchFamily="34" charset="-120"/>
              </a:rPr>
              <a:t>At 07:34 local time (12:34 UTC) on 10 August 2026, an Mww 7.4 earthquake struck western Colombia with its epicentre 5 km east of San José del Palmar in Chocó Department, at a depth of about 110 km (USGS). The event was an intermediate-depth, strike-slip rupture inside the subducting Nazca slab; because of its depth, strong shaking (MMI VI-VII) was spread over a wide area of the Andean Coffee Region rather than concentrated near the epicentre, and about 10.5 million people were exposed to it. The SGC describes it as the largest-magnitude earthquake recorded in Colombia in the past decade. The toll rose steeply through the first two days: 111 deaths in the Government's 13:00 COT balance on 10 August, 132 by that evening, and 182 deaths with 2,542 injured and 189 missing in UNGRD's situation report on 11 August, against 240 deaths when the departmental and city announcements are added up — more than 1,600 buildings damaged (1,575 homes damaged, 37 destroyed, 61 buildings collapsed), together with damage to 18 health facilities, 52 educational facilities, 18 major roads and six regional airports. The passenger terminal of Matecaña International Airport in Pereira partially collapsed, a tower of the neo-Gothic cathedral in Manizales fell onto the nave, and about 30% of the University Hospital in Cali collapsed. The President declared a national disaster, set up a Unified Command Post in Chocó and deployed four USAR teams and the armed forces. There was no tsunami. All figures are preliminary and are expected to change as assessment proceeds.</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Google Maps</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Seismotectonic Setting: an intraslab earthquake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png">    </p:cNvPr>
          <p:cNvPicPr>
            <a:picLocks noChangeAspect="1"/>
          </p:cNvPicPr>
          <p:nvPr/>
        </p:nvPicPr>
        <p:blipFill>
          <a:blip r:embed="rId2"/>
          <a:stretch>
            <a:fillRect/>
          </a:stretch>
        </p:blipFill>
        <p:spPr>
          <a:xfrm>
            <a:off x="365760" y="1040572"/>
            <a:ext cx="6858000" cy="2948056"/>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Schematic cross-section (ADRC)</a:t>
            </a:r>
            <a:endParaRPr lang="en-US" sz="800" dirty="0"/>
          </a:p>
        </p:txBody>
      </p:sp>
      <p:sp>
        <p:nvSpPr>
          <p:cNvPr id="6" name="Text 2"/>
          <p:cNvSpPr/>
          <p:nvPr/>
        </p:nvSpPr>
        <p:spPr>
          <a:xfrm>
            <a:off x="365760" y="4315968"/>
            <a:ext cx="5669280" cy="1828800"/>
          </a:xfrm>
          <a:prstGeom prst="rect">
            <a:avLst/>
          </a:prstGeom>
          <a:noFill/>
          <a:ln/>
        </p:spPr>
        <p:txBody>
          <a:bodyPr wrap="square" lIns="50800" tIns="50800" rIns="50800" bIns="50800" rtlCol="0" anchor="t"/>
          <a:lstStyle/>
          <a:p>
            <a:pPr algn="l" indent="0" marL="0">
              <a:buNone/>
            </a:pPr>
            <a:r>
              <a:rPr lang="en-US" sz="1000" dirty="0">
                <a:solidFill>
                  <a:srgbClr val="222222"/>
                </a:solidFill>
                <a:latin typeface="Calibri" pitchFamily="34" charset="0"/>
                <a:ea typeface="Calibri" pitchFamily="34" charset="-122"/>
                <a:cs typeface="Calibri" pitchFamily="34" charset="-120"/>
              </a:rPr>
              <a:t>Colombia lies at the junction of the Nazca, Caribbean and South America plates. Off the Pacific coast the Nazca plate subducts eastward beneath South America at roughly 50-60 mm/yr, and the descending slab reaches intermediate depths (70-300 km) beneath the Western and Central Cordilleras. This event ruptured inside that slab at about 110 km depth, which is why the shaking was felt over hundreds of kilometres - as far as Bogotá, Quito and Panamá City - while surface faulting and tsunami generation were absent. Intermediate-depth events radiate high-frequency energy efficiently and attenuate slowly, so damage tends to be distributed across many cities rather than concentrated in a narrow epicentral zone.</a:t>
            </a:r>
            <a:endParaRPr lang="en-US" sz="1000" dirty="0"/>
          </a:p>
        </p:txBody>
      </p:sp>
      <p:pic>
        <p:nvPicPr>
          <p:cNvPr id="7" name="Image 2" descr="/home/user/whatsmap/reports/colombia_eq_20260810/images/beachball_manual.png">    </p:cNvPr>
          <p:cNvPicPr>
            <a:picLocks noChangeAspect="1"/>
          </p:cNvPicPr>
          <p:nvPr/>
        </p:nvPicPr>
        <p:blipFill>
          <a:blip r:embed="rId3"/>
          <a:stretch>
            <a:fillRect/>
          </a:stretch>
        </p:blipFill>
        <p:spPr>
          <a:xfrm>
            <a:off x="6172200" y="4439412"/>
            <a:ext cx="1051560" cy="1051560"/>
          </a:xfrm>
          <a:prstGeom prst="rect">
            <a:avLst/>
          </a:prstGeom>
        </p:spPr>
      </p:pic>
      <p:sp>
        <p:nvSpPr>
          <p:cNvPr id="8" name="Text 3"/>
          <p:cNvSpPr/>
          <p:nvPr/>
        </p:nvSpPr>
        <p:spPr>
          <a:xfrm>
            <a:off x="5943600" y="5614416"/>
            <a:ext cx="1508760" cy="457200"/>
          </a:xfrm>
          <a:prstGeom prst="rect">
            <a:avLst/>
          </a:prstGeom>
          <a:noFill/>
          <a:ln/>
        </p:spPr>
        <p:txBody>
          <a:bodyPr wrap="square" lIns="0" tIns="0" rIns="0" bIns="0" rtlCol="0" anchor="t"/>
          <a:lstStyle/>
          <a:p>
            <a:pPr algn="ctr" indent="0" marL="0">
              <a:buNone/>
            </a:pPr>
            <a:r>
              <a:rPr lang="en-US" sz="750" b="1" dirty="0">
                <a:solidFill>
                  <a:srgbClr val="6A6A6A"/>
                </a:solidFill>
                <a:latin typeface="Calibri" pitchFamily="34" charset="0"/>
                <a:ea typeface="Calibri" pitchFamily="34" charset="-122"/>
                <a:cs typeface="Calibri" pitchFamily="34" charset="-120"/>
              </a:rPr>
              <a:t>Focal mechanism (beachball)
</a:t>
            </a:r>
            <a:pPr algn="ctr" indent="0" marL="0">
              <a:buNone/>
            </a:pPr>
            <a:r>
              <a:rPr lang="en-US" sz="700" dirty="0">
                <a:solidFill>
                  <a:srgbClr val="6A6A6A"/>
                </a:solidFill>
                <a:latin typeface="Calibri" pitchFamily="34" charset="0"/>
                <a:ea typeface="Calibri" pitchFamily="34" charset="-122"/>
                <a:cs typeface="Calibri" pitchFamily="34" charset="-120"/>
              </a:rPr>
              <a:t>Both agencies report a strike-slip mechanism.</a:t>
            </a:r>
            <a:endParaRPr lang="en-US" sz="750" dirty="0"/>
          </a:p>
        </p:txBody>
      </p:sp>
      <p:sp>
        <p:nvSpPr>
          <p:cNvPr id="9" name="Text 4"/>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Depth about 110 km (USGS, revised): an intraslab event, not a plate-interface megathrust.</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Strike-slip mechanism within the descending Nazca slab (USGS tectonic summary).</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Maximum shaking MMI VII (Very strong); about 10.5 million people exposed to MMI VI-VII.</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USGS PAGER (v5) Orange alert: the most likely fatality band is 1,000-10,000 and the most likely loss band USD 100-1,000 million — model estimates, not observations, and far above the figures reported so far.</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The SGC assesses this as the largest-magnitude earthquake recorded in Colombia in the past decade.</a:t>
            </a:r>
            <a:endParaRPr lang="en-US" sz="960" dirty="0"/>
          </a:p>
          <a:p>
            <a:pPr algn="l" marL="342900" indent="-342900">
              <a:buSzPct val="100000"/>
              <a:buChar char="•"/>
            </a:pPr>
            <a:r>
              <a:rPr lang="en-US" sz="96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Shaking was reported as unusually long in duration in cities far from the epicentre - a characteristic of deep events recorded on soft valley sediments.</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The Coffee Region has a history of both deep and shallow damaging events: M7.0 at 150 km depth in 1938, M6.5 at 64 km in 1962 and M6.1 at 15 km in 1999 (SGC/GEM national hazard model).</a:t>
            </a:r>
            <a:endParaRPr lang="en-US" sz="96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Overview of the Earthquake &amp; Response Measures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50976"/>
            <a:ext cx="11430000" cy="384048"/>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Calibri" pitchFamily="34" charset="0"/>
                <a:ea typeface="Calibri" pitchFamily="34" charset="-122"/>
                <a:cs typeface="Calibri" pitchFamily="34" charset="-120"/>
              </a:rPr>
              <a:t>10 Aug 2026, 07:34 COT (12:34 UTC / 21:34 JST)    |    Mww 7.4    |    depth 110 km    |    MMI VII (Very strong) — USGS ShakeMap; the SGC macroseismic intensity map agrees</a:t>
            </a:r>
            <a:endParaRPr lang="en-US" sz="1150" dirty="0"/>
          </a:p>
        </p:txBody>
      </p:sp>
      <p:sp>
        <p:nvSpPr>
          <p:cNvPr id="5" name="Text 2"/>
          <p:cNvSpPr/>
          <p:nvPr/>
        </p:nvSpPr>
        <p:spPr>
          <a:xfrm>
            <a:off x="365760" y="1335024"/>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Calibri" pitchFamily="34" charset="0"/>
                <a:ea typeface="Calibri" pitchFamily="34" charset="-122"/>
                <a:cs typeface="Calibri" pitchFamily="34" charset="-120"/>
              </a:rPr>
              <a:t>Figures as of 11 Aug 2026, 17:00 COT (12 Aug 07:00 JST), about 33 hours after the earthquake. UNGRD's situation report gives 182 deaths, 2,542 injured and 189 missing; the President's balance gives 181 deaths; adding up what the departments and cities have announced gives 240. All three are shown. Figures are preliminary and still rising.</a:t>
            </a:r>
            <a:endParaRPr lang="en-US" sz="950" dirty="0"/>
          </a:p>
        </p:txBody>
      </p:sp>
      <p:sp>
        <p:nvSpPr>
          <p:cNvPr id="6" name="Text 3"/>
          <p:cNvSpPr/>
          <p:nvPr/>
        </p:nvSpPr>
        <p:spPr>
          <a:xfrm>
            <a:off x="365760" y="1664208"/>
            <a:ext cx="11430000" cy="4443984"/>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The Government declared a national disaster (desastre nacional), enabling extraordinary mobilisation and coordination of the response.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President Abelardo de la Espriella - in office for three days - ordered a Unified Command Post (PMU) in Chocó to coordinate the emergency, and travelled to Pereira, one of the worst-hit cities.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The National Unit for Disaster Risk Management (UNGRD) activated the national system, verified damage with departmental and municipal authorities, and channelled offers of assistance together with the Ministry of Foreign Affairs.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Four USAR (urban search and rescue) groups were deployed from Bogotá, Envigado, Yopal and Medellín to reinforce search and rescue.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Soldiers were deployed to the affected departments for search, rescue and route clearance.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Civil aviation suspended flights at Pereira, Manizales, Quibdó, Armenia, Cartago and Buenaventura while runways and terminals were inspected.</a:t>
            </a:r>
            <a:endParaRPr lang="en-US" sz="1250" dirty="0"/>
          </a:p>
          <a:p>
            <a:pPr algn="l" marL="342900" indent="-342900">
              <a:buSzPct val="100000"/>
              <a:buChar char="•"/>
            </a:pPr>
            <a:r>
              <a:rPr lang="en-US" sz="125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Damaged buildings, power outages and communications disruption are slowing assessment in parts of Chocó closest to the epicentre.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GLIDE number assigned for this event: EQ-2026-000146-COL.</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Government declares national disaster</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 Colombia declares national emergency as quake toll hits 111</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the Response (10-11 August)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Times are Colombia time (COT, UTC-5). The earthquake occurred at 07:34 COT = 21:34 JST on 10 August.</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188720"/>
                <a:gridCol w="8412480"/>
                <a:gridCol w="1828800"/>
              </a:tblGrid>
              <a:tr h="53035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Action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Mww 7.4 earthquake, epicentre 5 km S of San José del Palmar (Chocó), depth approx. 110 km. Felt in Bogotá, Cali, Medellín, and in Ecuador, Panama and Venezuela.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USGS / 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07:40s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The SGC issues a first bulletin (initially M6.6, 79 km depth), later revised to M7.4 at 96 km, located with 69 stations (event SGC2026pqqmro); damage-assessment protocols activated.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UNGRD reports first damage indications in 9 municipalities of Chocó, 8 of Caldas, 2 of Valle del Cauca and 2 of Risaralda, plus localities in Quindío.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Cali reports collapsed structures at 12 critical points with people trapped; part of the University Hospital collapses.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Mayor of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Manizales reports 17 buildings collapsed and 19 partially collapsed; a tower of the neo-Gothic cathedral falls onto the nave. Residents asked to stay outdoors because of aftershocks.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Mayor of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Passenger terminal of Matecaña International Airport (Pereira) partially collapses; flights suspended at six regional airports.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Aerocivil /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National disaster declared; Unified Command Post established in Chocó; armed forces deployed.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Government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Four USAR teams deployed from Bogotá, Envigado, Yopal and Medellín.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the Response (10-11 August)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Times are Colombia time (COT, UTC-5). The earthquake occurred at 07:34 COT = 21:34 JST on 10 August.</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188720"/>
                <a:gridCol w="8412480"/>
                <a:gridCol w="1828800"/>
              </a:tblGrid>
              <a:tr h="53035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Action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More than 20 aftershocks recorded; the largest widely felt aftershock is M4.8.</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President travels to Pereira to lead the response on the ground.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12:13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Copernicus EMS Rapid Mapping activated as EMSR916 (17:13 UTC), requested by EC Services / DG ECHO, for earthquake damage assessment mapping.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Copernicus EMS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Afternoon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First national damage report: 111 deaths, 87 injured; 1,575 homes damaged, 37 destroyed, 61 buildings collapsed; 18 health facilities, 52 educational facilities, 17 community facilities, 18 major roads and 6 regional airports damaged.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 / 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Afternoon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Ecuador mobilises a 47-person USAR team with canine units; Mexico and other governments offer assistance, to be channelled through the Foreign Ministry and UNGRD.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International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Evening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The reported national death toll rises to 132. Four people have been rescued alive from the rubble; more than 20 municipalities are reported affected, and power and telecommunications faults continue in Chocó.</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International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Search continues overnight. The President reports 700 injured nationally and about 5,000 homes damaged or destroyed, declares the missing the State's priority, and orders troops to Cali to maintain order. The mayor of Cali reports 85 deaths, 885 injured and 188 missing; Pereira's fire service reports 66 deaths; about 100 people are missing in Manizales. Five capital cities - Cali, Pereira, Quibdó, Manizales and Armenia - remain on red alert.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 / local authorities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 PM</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UNGRD's situation report gives 182 deaths, 2,542 injured and 189 missing, with 13,067 homes damaged and 2,501 destroyed, 93 health facilities, 884 educational institutions, 427 community facilities and 77 roads affected. The President puts the toll at 181, of which 97.6% in capital cities. Ecuador, El Salvador and Russia are thanked for assistance. The SGC's running total reaches 103 aftershocks at 15:00 COT - 97 at M3.0 or below, 5 between M3.0 and M4.0, one above M4.0 - and a felt M3.9 during the day prompts building evacuations in several affected cities. The SGC catalogue for the same period holds 147 located events, the wider figure including background seismicity.</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 / 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Affected Departments &amp; Cities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distance_map.png">    </p:cNvPr>
          <p:cNvPicPr>
            <a:picLocks noChangeAspect="1"/>
          </p:cNvPicPr>
          <p:nvPr/>
        </p:nvPicPr>
        <p:blipFill>
          <a:blip r:embed="rId2"/>
          <a:stretch>
            <a:fillRect/>
          </a:stretch>
        </p:blipFill>
        <p:spPr>
          <a:xfrm>
            <a:off x="601085" y="1024128"/>
            <a:ext cx="4558549"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Epicentral distances (ADRC)</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Why damage is dispersed
</a:t>
            </a:r>
            <a:pPr algn="l" indent="0" marL="0">
              <a:buNone/>
            </a:pPr>
            <a:r>
              <a:rPr lang="en-US" sz="950" dirty="0">
                <a:solidFill>
                  <a:srgbClr val="7A2E0E"/>
                </a:solidFill>
                <a:latin typeface="Calibri" pitchFamily="34" charset="0"/>
                <a:ea typeface="Calibri" pitchFamily="34" charset="-122"/>
                <a:cs typeface="Calibri" pitchFamily="34" charset="-120"/>
              </a:rPr>
              <a:t>A 110 km-deep source puts every city in the region at a broadly similar hypocentral distance (110-205 km), so no single city sits in a narrow zone of extreme shaking.</a:t>
            </a:r>
            <a:endParaRPr lang="en-US" sz="10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298448"/>
                <a:gridCol w="1152144"/>
                <a:gridCol w="621792"/>
                <a:gridCol w="566928"/>
                <a:gridCol w="2578608"/>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Department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Main cities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Dist.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Situation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San José del Palmar / Quibdó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 / 105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 / 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Epicentral department; 9 municipalities with reported damage; access, power and communications constrained.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Risaralda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Pereira, Dosquebradas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Highest reported death toll (at least 40; the governor cites at least 42). Airport terminal partially collapsed.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Valle del Cauca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Cali, Cartago, Buenaventura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158 / 38 / 138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27 deaths reported; 25-30 collapsed structures at 12 critical points in Cali; University Hospital heavily damaged.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Caldas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Manizales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84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8 municipalities affected; 17 buildings collapsed and 19 partially collapsed in Manizales; cathedral tower fell onto the nave.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Armenia and other localities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Several localities reported affected; the same Coffee Region devastated by the 1999 Armenia earthquake.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Antioquia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Medellín and surroundings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172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One death reported (a 73-year-old); structural damage under inspection.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Cundinamarca / Bogotá</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Bogotá, Nilo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241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IV-V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Widely felt; buildings evacuated; structural damage to a school in Nilo reported.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News - Strong earthquake strikes western Colombia</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Event Parameters &amp; Observed Shaking</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36576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Origin time (local)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Aug 2026, 07:34:28 COT (UTC-5)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Origin time (UTC /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Aug 2026, 12:34:28 UTC  /  10 Aug 2026, 21:34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Epicentre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5 km S of San José del Palmar, Chocó Department (approx. 280 km W of Bogotá) — SGC: 20 km from San José del Palmar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Coordinates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4.8436 N, 76.2422 W   ·   SGC 5.04 N, 76.34 W</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Magnitude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Mww 7.4 (USGS)   ·   7.4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Depth</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110.3 km (USGS, PAGER v5) / 96 km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Mechanism</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Strike-slip faulting at intermediate depth, within the subducting Nazca slab (not on the shallow plate interface)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Max. shaking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MMI VII (Very strong) — USGS ShakeMap; the SGC macroseismic intensity map agrees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Felt area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Felt across western and central Colombia including Bogotá, Cali and Medellín, and in Ecuador, Panama and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Tsunami</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 tsunami. The event was inland and at intermediate depth; no tsunami warning was issued for the Pacific coast.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Alert level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PAGER: Orange (version 5). Most likely fatality band 1,000-10,000 (35% probability); economic losses most likely USD 100-1,000 million (34%), less than 1% of Colombia's GDP. GDACS: Orange.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GLIDE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EQ-2026-000146-COL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png">    </p:cNvPr>
          <p:cNvPicPr>
            <a:picLocks noChangeAspect="1"/>
          </p:cNvPicPr>
          <p:nvPr/>
        </p:nvPicPr>
        <p:blipFill>
          <a:blip r:embed="rId2"/>
          <a:stretch>
            <a:fillRect/>
          </a:stretch>
        </p:blipFill>
        <p:spPr>
          <a:xfrm>
            <a:off x="7418059" y="1024128"/>
            <a:ext cx="4183403"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Distance vs. reported MMI (ADRC)</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USGS PAGER (version 5) exposure estimates. About 10.5 million people were exposed to Strong or Very Strong shaking (MMI VI-VII) and about 34 million to MMI IV or above across four countries. These are model estimates.</a:t>
            </a:r>
            <a:endParaRPr lang="en-US" sz="750" dirty="0"/>
          </a:p>
        </p:txBody>
      </p:sp>
      <p:sp>
        <p:nvSpPr>
          <p:cNvPr id="9" name="Text 3"/>
          <p:cNvSpPr/>
          <p:nvPr/>
        </p:nvSpPr>
        <p:spPr>
          <a:xfrm>
            <a:off x="365760" y="5815584"/>
            <a:ext cx="6675120" cy="420624"/>
          </a:xfrm>
          <a:prstGeom prst="rect">
            <a:avLst/>
          </a:prstGeom>
          <a:noFill/>
          <a:ln/>
        </p:spPr>
        <p:txBody>
          <a:bodyPr wrap="square" lIns="0" tIns="0" rIns="0" bIns="0" rtlCol="0" anchor="t"/>
          <a:lstStyle/>
          <a:p>
            <a:pPr indent="0" marL="0">
              <a:buNone/>
            </a:pPr>
            <a:r>
              <a:rPr lang="en-US" sz="700" i="1" dirty="0">
                <a:solidFill>
                  <a:srgbClr val="6A6A6A"/>
                </a:solidFill>
                <a:latin typeface="Calibri" pitchFamily="34" charset="0"/>
                <a:ea typeface="Calibri" pitchFamily="34" charset="-122"/>
                <a:cs typeface="Calibri" pitchFamily="34" charset="-120"/>
              </a:rPr>
              <a:t>USGS and SGC agree on size; the SGC's first bulletin gave M6.6 at 79 km before revision. The two locations differ by about 20 km and their depths by about 11 km — normal for an intermediate-depth event recorded by different networks. Epicentral distances in this report are measured from the USGS location. SGC event SGC2026pqqmro was located with 69 stations; the SGC states its bulletins are subject to change as review continues.</a:t>
            </a:r>
            <a:endParaRPr lang="en-US" sz="700" dirty="0"/>
          </a:p>
        </p:txBody>
      </p:sp>
      <p:sp>
        <p:nvSpPr>
          <p:cNvPr id="10"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11"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3"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Macroseismic Intensity (SGC)</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gc_shakemap_manual.jpg">    </p:cNvPr>
          <p:cNvPicPr>
            <a:picLocks noChangeAspect="1"/>
          </p:cNvPicPr>
          <p:nvPr/>
        </p:nvPicPr>
        <p:blipFill>
          <a:blip r:embed="rId2"/>
          <a:stretch>
            <a:fillRect/>
          </a:stretch>
        </p:blipFill>
        <p:spPr>
          <a:xfrm>
            <a:off x="1067167" y="1024128"/>
            <a:ext cx="3809266" cy="4626864"/>
          </a:xfrm>
          <a:prstGeom prst="rect">
            <a:avLst/>
          </a:prstGeom>
        </p:spPr>
      </p:pic>
      <p:sp>
        <p:nvSpPr>
          <p:cNvPr id="5" name="Text 1"/>
          <p:cNvSpPr/>
          <p:nvPr/>
        </p:nvSpPr>
        <p:spPr>
          <a:xfrm>
            <a:off x="365760" y="5669280"/>
            <a:ext cx="52120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Official SGC intensity map  (© SGC)</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https://www.sgc.gov.co/detallesismo/SGC2026pqqmro/mmi</a:t>
            </a:r>
            <a:endParaRPr lang="en-US" sz="800" dirty="0"/>
          </a:p>
        </p:txBody>
      </p:sp>
      <p:sp>
        <p:nvSpPr>
          <p:cNvPr id="6" name="Text 2"/>
          <p:cNvSpPr/>
          <p:nvPr/>
        </p:nvSpPr>
        <p:spPr>
          <a:xfrm>
            <a:off x="5852160" y="1024128"/>
            <a:ext cx="5943600" cy="566928"/>
          </a:xfrm>
          <a:prstGeom prst="rect">
            <a:avLst/>
          </a:prstGeom>
          <a:noFill/>
          <a:ln/>
        </p:spPr>
        <p:txBody>
          <a:bodyPr wrap="square" lIns="0" tIns="0" rIns="0" bIns="0" rtlCol="0" anchor="t"/>
          <a:lstStyle/>
          <a:p>
            <a:pPr indent="0" marL="0">
              <a:buNone/>
            </a:pPr>
            <a:r>
              <a:rPr lang="en-US" sz="800" dirty="0">
                <a:solidFill>
                  <a:srgbClr val="6A6A6A"/>
                </a:solidFill>
                <a:latin typeface="Calibri" pitchFamily="34" charset="0"/>
                <a:ea typeface="Calibri" pitchFamily="34" charset="-122"/>
                <a:cs typeface="Calibri" pitchFamily="34" charset="-120"/>
              </a:rPr>
              <a:t>ShakeMap: San José del Palmar - Chocó, Colombia · 10 Aug 2026 12:34:29 UTC · M7.4 · N5.04 W76.34 · depth 96.0 km · ID SGC2026pqqmro · Version 1, processed 2026-08-10T13:12:28Z · scale after Worden et al. (2012)</a:t>
            </a:r>
            <a:endParaRPr lang="en-US" sz="800" dirty="0"/>
          </a:p>
        </p:txBody>
      </p:sp>
      <p:sp>
        <p:nvSpPr>
          <p:cNvPr id="7" name="Text 3"/>
          <p:cNvSpPr/>
          <p:nvPr/>
        </p:nvSpPr>
        <p:spPr>
          <a:xfrm>
            <a:off x="5852160" y="1645920"/>
            <a:ext cx="5943600" cy="1536192"/>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The SGC map shows the strongest band (MMI VII, 'Muy Fuerte') over the epicentral area of Chocó and along the inter-Andean corridor through Risaralda, Caldas, Quindío and northern Valle del Cauca — the belt in which the collapses in Pereira, Manizales, Armenia and Cartago occurred. Intensity falls away eastward: Medellín and Cali sit in the moderate-to-strong bands and Bogotá, 241 km from the epicentre, in a low one. The elongated pattern along the valleys, rather than a compact circle around the epicentre, is the signature of a 96-110 km-deep source combined with soft valley sediments.</a:t>
            </a:r>
            <a:endParaRPr lang="en-US" sz="1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852160" y="3255264"/>
          <a:ext cx="5943600" cy="914400"/>
        </p:xfrm>
        <a:graphic>
          <a:graphicData uri="http://schemas.openxmlformats.org/drawingml/2006/table">
            <a:tbl>
              <a:tblPr/>
              <a:tblGrid>
                <a:gridCol w="658368"/>
                <a:gridCol w="1572768"/>
                <a:gridCol w="1517904"/>
                <a:gridCol w="1097280"/>
                <a:gridCol w="1097280"/>
              </a:tblGrid>
              <a:tr h="25603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Perceived shaking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Potential damage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PGA (%g)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PGV (cm/s)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Not felt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None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&lt;0.0464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II-III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Weak</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None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0.297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0.135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Light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None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2.76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1.41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Very light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6.2</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4.65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Strong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Light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9.64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Very strong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Severe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Moderate/heavy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40.1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41.4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Violent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Heavy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74.7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85.8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Extreme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Very heavy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&gt;139</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&gt;178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5852160" y="5870448"/>
            <a:ext cx="5943600" cy="201168"/>
          </a:xfrm>
          <a:prstGeom prst="rect">
            <a:avLst/>
          </a:prstGeom>
          <a:noFill/>
          <a:ln/>
        </p:spPr>
        <p:txBody>
          <a:bodyPr wrap="square" lIns="0" tIns="0" rIns="0" bIns="0" rtlCol="0" anchor="ctr"/>
          <a:lstStyle/>
          <a:p>
            <a:pPr indent="0" marL="0">
              <a:buNone/>
            </a:pPr>
            <a:r>
              <a:rPr lang="en-US" sz="750" i="1" dirty="0">
                <a:solidFill>
                  <a:srgbClr val="6A6A6A"/>
                </a:solidFill>
                <a:latin typeface="Calibri" pitchFamily="34" charset="0"/>
                <a:ea typeface="Calibri" pitchFamily="34" charset="-122"/>
                <a:cs typeface="Calibri" pitchFamily="34" charset="-120"/>
              </a:rPr>
              <a:t>Modified Mercalli scale (Worden et al., 2012), as printed on the SGC map</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SGC — macroseismic intensity map (ShakeMap) for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USGS PAGER Assessment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usgs_pager_manual.jpg">    </p:cNvPr>
          <p:cNvPicPr>
            <a:picLocks noChangeAspect="1"/>
          </p:cNvPicPr>
          <p:nvPr/>
        </p:nvPicPr>
        <p:blipFill>
          <a:blip r:embed="rId2"/>
          <a:stretch>
            <a:fillRect/>
          </a:stretch>
        </p:blipFill>
        <p:spPr>
          <a:xfrm>
            <a:off x="1092708" y="1024128"/>
            <a:ext cx="3575304" cy="4626864"/>
          </a:xfrm>
          <a:prstGeom prst="rect">
            <a:avLst/>
          </a:prstGeom>
        </p:spPr>
      </p:pic>
      <p:sp>
        <p:nvSpPr>
          <p:cNvPr id="5" name="Text 1"/>
          <p:cNvSpPr/>
          <p:nvPr/>
        </p:nvSpPr>
        <p:spPr>
          <a:xfrm>
            <a:off x="365760" y="566928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onePAGER, version 5 (public domain,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https://earthquake.usgs.gov/earthquakes/eventpage/us6000tjl2/pager</a:t>
            </a:r>
            <a:endParaRPr lang="en-US" sz="800" dirty="0"/>
          </a:p>
        </p:txBody>
      </p:sp>
      <p:sp>
        <p:nvSpPr>
          <p:cNvPr id="6" name="Text 2"/>
          <p:cNvSpPr/>
          <p:nvPr/>
        </p:nvSpPr>
        <p:spPr>
          <a:xfrm>
            <a:off x="5669280" y="1024128"/>
            <a:ext cx="6126480" cy="19659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PAGER is the USGS rapid impact estimate, issued within minutes and revised as the event is refined; version 5 was created 2 hours 8 minutes after the earthquake. It is a probability distribution, not a forecast of a single number: the orange alert means significant casualties and damage are likely and that past orange alerts have required a regional or national response. Its most likely fatality band, 1,000-10,000, sat far above the 111 deaths reported nine hours after the event; 33 hours in the reported toll had risen to 182-240, into PAGER's 100-1,000 band, which the model gave a lower but substantial probability. The gap is normal at this stage and narrows as ground truth replaces modelled losses.</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0" y="3127248"/>
          <a:ext cx="6126480" cy="914400"/>
        </p:xfrm>
        <a:graphic>
          <a:graphicData uri="http://schemas.openxmlformats.org/drawingml/2006/table">
            <a:tbl>
              <a:tblPr/>
              <a:tblGrid>
                <a:gridCol w="914400"/>
                <a:gridCol w="3017520"/>
                <a:gridCol w="2194560"/>
              </a:tblGrid>
              <a:tr h="3108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Perceived shaking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Exposed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Severe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Very strong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1,564k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Strong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8,888k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Moderate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17,076k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IV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Light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6,465k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8" name="Text 3"/>
          <p:cNvSpPr/>
          <p:nvPr/>
        </p:nvSpPr>
        <p:spPr>
          <a:xfrm>
            <a:off x="5669280" y="5084064"/>
            <a:ext cx="6126480" cy="548640"/>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USGS PAGER (version 5) exposure estimates. About 10.5 million people were exposed to Strong or Very Strong shaking (MMI VI-VII) and about 34 million to MMI IV or above across four countries. These are model estimates.</a:t>
            </a:r>
            <a:endParaRPr lang="en-US" sz="750" dirty="0"/>
          </a:p>
        </p:txBody>
      </p:sp>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Seismicity: Aftershocks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42062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Magnitude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Note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2062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08:18 COT (13:18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M4.8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The largest aftershock, 44 minutes after the mainshock: San José del Palmar, depth 94 km, 19 km from the epicentre (SGC2026pqryij). USGS catalogues the same event as mb 5.0 at 98.5 km. Widely felt.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10:01 COT (15:01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M3.8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San José del Palmar, depth 88 km. This is the event two regional agencies published as M4.7 in the multi-agency bulletin; the SGC solution is 0.9 units smaller.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11 Aug 00:12 / 10:43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M3.6 / M3.9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San José del Palmar, depths 96 km and 92 km. The 10:43 event was felt strongly enough for buildings to be evacuated in several of the affected cities.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to 11 Aug 17:24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147 located</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SGC catalogue, 34 hours after the mainshock: 60 below M2.0, 76 at M2.0-2.9, 10 at M3.0-3.9, one at M4.0-4.9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Text 1"/>
          <p:cNvSpPr/>
          <p:nvPr/>
        </p:nvSpPr>
        <p:spPr>
          <a:xfrm>
            <a:off x="365760" y="3310128"/>
            <a:ext cx="6675120" cy="1627632"/>
          </a:xfrm>
          <a:prstGeom prst="rect">
            <a:avLst/>
          </a:prstGeom>
          <a:noFill/>
          <a:ln/>
        </p:spPr>
        <p:txBody>
          <a:bodyPr wrap="square" lIns="0" tIns="0" rIns="0" bIns="0" rtlCol="0" anchor="t"/>
          <a:lstStyle/>
          <a:p>
            <a:pPr indent="0" marL="0">
              <a:buNone/>
            </a:pPr>
            <a:r>
              <a:rPr lang="en-US" sz="950" dirty="0">
                <a:solidFill>
                  <a:srgbClr val="222222"/>
                </a:solidFill>
                <a:latin typeface="Calibri" pitchFamily="34" charset="0"/>
                <a:ea typeface="Calibri" pitchFamily="34" charset="-122"/>
                <a:cs typeface="Calibri" pitchFamily="34" charset="-120"/>
              </a:rPr>
              <a:t>The SGC located 147 events in the 34 hours after the mainshock. Only one exceeded M4.0 - the M4.8 that followed 44 minutes later - and 92% were below M3.0, so no aftershock has come close to the mainshock in size. Ninety-six of the 147 lie at 60 km depth or more within 80 km of the epicentre: that subset is the intraslab sequence itself, and its cumulative curve tracks the SGC's published aftershock totals. The remainder is background seismicity the same catalogue records, which is why a raw catalogue count runs ahead of the official aftershock figure. A modest, quickly-decaying sequence is what an intermediate-depth rupture is expected to produce.</a:t>
            </a:r>
            <a:endParaRPr lang="en-US" sz="950" dirty="0"/>
          </a:p>
        </p:txBody>
      </p:sp>
      <p:pic>
        <p:nvPicPr>
          <p:cNvPr id="6" name="Image 1" descr="/home/user/whatsmap/reports/colombia_eq_20260810/images/aftershock_counts.png">    </p:cNvPr>
          <p:cNvPicPr>
            <a:picLocks noChangeAspect="1"/>
          </p:cNvPicPr>
          <p:nvPr/>
        </p:nvPicPr>
        <p:blipFill>
          <a:blip r:embed="rId2"/>
          <a:stretch>
            <a:fillRect/>
          </a:stretch>
        </p:blipFill>
        <p:spPr>
          <a:xfrm>
            <a:off x="7623520" y="3200400"/>
            <a:ext cx="3534736" cy="1481328"/>
          </a:xfrm>
          <a:prstGeom prst="rect">
            <a:avLst/>
          </a:prstGeom>
        </p:spPr>
      </p:pic>
      <p:sp>
        <p:nvSpPr>
          <p:cNvPr id="7" name="Text 2"/>
          <p:cNvSpPr/>
          <p:nvPr/>
        </p:nvSpPr>
        <p:spPr>
          <a:xfrm>
            <a:off x="6967728" y="4700016"/>
            <a:ext cx="484632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147 SGC-located events after the mainshock (ADRC, from the SGC catalogue)</a:t>
            </a:r>
            <a:endParaRPr lang="en-US" sz="800" dirty="0"/>
          </a:p>
        </p:txBody>
      </p:sp>
      <p:sp>
        <p:nvSpPr>
          <p:cNvPr id="8" name="Shape 3"/>
          <p:cNvSpPr/>
          <p:nvPr/>
        </p:nvSpPr>
        <p:spPr>
          <a:xfrm>
            <a:off x="365760" y="4937760"/>
            <a:ext cx="11430000" cy="786384"/>
          </a:xfrm>
          <a:prstGeom prst="roundRect">
            <a:avLst>
              <a:gd name="adj" fmla="val 5814"/>
            </a:avLst>
          </a:prstGeom>
          <a:solidFill>
            <a:srgbClr val="FCE9DC"/>
          </a:solidFill>
          <a:ln w="12700">
            <a:solidFill>
              <a:srgbClr val="E8A317"/>
            </a:solidFill>
            <a:prstDash val="solid"/>
          </a:ln>
        </p:spPr>
      </p:sp>
      <p:sp>
        <p:nvSpPr>
          <p:cNvPr id="9" name="Text 4"/>
          <p:cNvSpPr/>
          <p:nvPr/>
        </p:nvSpPr>
        <p:spPr>
          <a:xfrm>
            <a:off x="530352" y="4992624"/>
            <a:ext cx="11100816" cy="67665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How much the agencies differ
</a:t>
            </a:r>
            <a:pPr algn="l" indent="0" marL="0">
              <a:buNone/>
            </a:pPr>
            <a:r>
              <a:rPr lang="en-US" sz="950" dirty="0">
                <a:solidFill>
                  <a:srgbClr val="7A2E0E"/>
                </a:solidFill>
                <a:latin typeface="Calibri" pitchFamily="34" charset="0"/>
                <a:ea typeface="Calibri" pitchFamily="34" charset="-122"/>
                <a:cs typeface="Calibri" pitchFamily="34" charset="-120"/>
              </a:rPr>
              <a:t>More than 30 agencies published a solution for the mainshock within minutes. Their magnitudes span Mw 7.0-7.7 and their depths 74-121 km; several automatic solutions defaulted to 10 km before revision. This report uses the USGS/NEIC solution (Mw 7.4, 110 km), which matches PAGER v5, and shows the SGC solution beside it. The spread is normal for a deep event recorded at teleseismic distances, and it is the reason early media figures for depth and magnitude disagreed.</a:t>
            </a:r>
            <a:endParaRPr lang="en-US" sz="1050" dirty="0"/>
          </a:p>
        </p:txBody>
      </p:sp>
      <p:sp>
        <p:nvSpPr>
          <p:cNvPr id="10" name="Text 5"/>
          <p:cNvSpPr/>
          <p:nvPr/>
        </p:nvSpPr>
        <p:spPr>
          <a:xfrm>
            <a:off x="365760" y="5724144"/>
            <a:ext cx="11430000" cy="347472"/>
          </a:xfrm>
          <a:prstGeom prst="rect">
            <a:avLst/>
          </a:prstGeom>
          <a:noFill/>
          <a:ln/>
        </p:spPr>
        <p:txBody>
          <a:bodyPr wrap="square" lIns="0" tIns="0" rIns="0" bIns="0" rtlCol="0" anchor="t"/>
          <a:lstStyle/>
          <a:p>
            <a:pPr indent="0" marL="0">
              <a:buNone/>
            </a:pPr>
            <a:r>
              <a:rPr lang="en-US" sz="700" i="1" dirty="0">
                <a:solidFill>
                  <a:srgbClr val="6A6A6A"/>
                </a:solidFill>
                <a:latin typeface="Calibri" pitchFamily="34" charset="0"/>
                <a:ea typeface="Calibri" pitchFamily="34" charset="-122"/>
                <a:cs typeface="Calibri" pitchFamily="34" charset="-120"/>
              </a:rPr>
              <a:t>Data: SGC catalogue extract for the region, 10 Aug 07:34 to 11 Aug 17:24 COT, 148 rows including the mainshock, each with an SGC event id and reviewed (“manual”) status; supplied by the author and held in this repository as images/sgc_aftershocks.csv. Both panels are generated from that file, so the figure can be reproduced and each event checked against sgc.gov.co by its id. One caveat: the extract gives the mainshock as depth 103 km at 4.991 N 76.292 W, which differs from the SGC event page used elsewhere in this report (96 km, 5.04 N 76.34 W); the event-page values are kept until the difference is confirmed.</a:t>
            </a:r>
            <a:endParaRPr lang="en-US" sz="70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Semana — SGC total: 103 aftershocks to 15:00 on 11 Aug</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 99 aftershocks and their magnitudes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Human Damage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Deaths</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Cambria" pitchFamily="34" charset="0"/>
                <a:ea typeface="Cambria" pitchFamily="34" charset="-122"/>
                <a:cs typeface="Cambria" pitchFamily="34" charset="-120"/>
              </a:rPr>
              <a:t>182</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Injured</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Cambria" pitchFamily="34" charset="0"/>
                <a:ea typeface="Cambria" pitchFamily="34" charset="-122"/>
                <a:cs typeface="Cambria" pitchFamily="34" charset="-120"/>
              </a:rPr>
              <a:t>2,542</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Homes damaged</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Cambria" pitchFamily="34" charset="0"/>
                <a:ea typeface="Cambria" pitchFamily="34" charset="-122"/>
                <a:cs typeface="Cambria" pitchFamily="34" charset="-120"/>
              </a:rPr>
              <a:t>15,568</a:t>
            </a:r>
            <a:endParaRPr lang="en-US" sz="3400" dirty="0"/>
          </a:p>
        </p:txBody>
      </p:sp>
      <p:sp>
        <p:nvSpPr>
          <p:cNvPr id="13" name="Text 10"/>
          <p:cNvSpPr/>
          <p:nvPr/>
        </p:nvSpPr>
        <p:spPr>
          <a:xfrm>
            <a:off x="365760" y="2157984"/>
            <a:ext cx="11430000" cy="182880"/>
          </a:xfrm>
          <a:prstGeom prst="rect">
            <a:avLst/>
          </a:prstGeom>
          <a:noFill/>
          <a:ln/>
        </p:spPr>
        <p:txBody>
          <a:bodyPr wrap="square" lIns="0" tIns="0" rIns="0" bIns="0" rtlCol="0" anchor="t"/>
          <a:lstStyle/>
          <a:p>
            <a:pPr indent="0" marL="0">
              <a:buNone/>
            </a:pPr>
            <a:r>
              <a:rPr lang="en-US" sz="750" i="1" dirty="0">
                <a:solidFill>
                  <a:srgbClr val="6A6A6A"/>
                </a:solidFill>
                <a:latin typeface="Calibri" pitchFamily="34" charset="0"/>
                <a:ea typeface="Calibri" pitchFamily="34" charset="-122"/>
                <a:cs typeface="Calibri" pitchFamily="34" charset="-120"/>
              </a:rPr>
              <a:t>UNGRD situation report, 11 August. The President's balance the same day gives 181 deaths; adding up the departmental and city announcements gives 240. Homes: 13,067 damaged and 2,501 destroyed.</a:t>
            </a:r>
            <a:endParaRPr lang="en-US" sz="750" dirty="0"/>
          </a:p>
        </p:txBody>
      </p:sp>
      <p:graphicFrame>
        <p:nvGraphicFramePr>
          <p:cNvPr id="14" name="Chart 0" descr=""/>
          <p:cNvGraphicFramePr/>
          <p:nvPr/>
        </p:nvGraphicFramePr>
        <p:xfrm>
          <a:off x="365760" y="2377440"/>
          <a:ext cx="6035040" cy="2926080"/>
        </p:xfrm>
        <a:graphic xmlns:a="http://schemas.openxmlformats.org/drawingml/2006/main">
          <a:graphicData uri="http://schemas.openxmlformats.org/drawingml/2006/chart">
            <c:chart xmlns:c="http://schemas.openxmlformats.org/drawingml/2006/chart" r:id="rId2"/>
          </a:graphicData>
        </a:graphic>
      </p:graphicFrame>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1965960"/>
                <a:gridCol w="960120"/>
                <a:gridCol w="2286000"/>
              </a:tblGrid>
              <a:tr h="45720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Department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Deaths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Note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Valle del Cauca (Cali)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97</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President, 11 Aug. The department government's count is higher: 95 in Cali plus 35 in other municipalities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Risaralda (Pereira)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66</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President, 11 Aug. The department reports around 90</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Chocó (Quibdó)</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Four children still missing under a collapsed school in Quibdó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Caldas (Manizales)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Reported as 2, then 4, then 5</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Antioquia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73-year-old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6" name="Shape 11"/>
          <p:cNvSpPr/>
          <p:nvPr/>
        </p:nvSpPr>
        <p:spPr>
          <a:xfrm>
            <a:off x="365760" y="5431536"/>
            <a:ext cx="11430000" cy="713232"/>
          </a:xfrm>
          <a:prstGeom prst="roundRect">
            <a:avLst>
              <a:gd name="adj" fmla="val 6410"/>
            </a:avLst>
          </a:prstGeom>
          <a:solidFill>
            <a:srgbClr val="FCE9DC"/>
          </a:solidFill>
          <a:ln w="12700">
            <a:solidFill>
              <a:srgbClr val="E8A317"/>
            </a:solidFill>
            <a:prstDash val="solid"/>
          </a:ln>
        </p:spPr>
      </p:sp>
      <p:sp>
        <p:nvSpPr>
          <p:cNvPr id="17" name="Text 12"/>
          <p:cNvSpPr/>
          <p:nvPr/>
        </p:nvSpPr>
        <p:spPr>
          <a:xfrm>
            <a:off x="530352" y="5486400"/>
            <a:ext cx="11100816" cy="60350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Reading the numbers
</a:t>
            </a:r>
            <a:pPr algn="l" indent="0" marL="0">
              <a:buNone/>
            </a:pPr>
            <a:r>
              <a:rPr lang="en-US" sz="950" dirty="0">
                <a:solidFill>
                  <a:srgbClr val="7A2E0E"/>
                </a:solidFill>
                <a:latin typeface="Calibri" pitchFamily="34" charset="0"/>
                <a:ea typeface="Calibri" pitchFamily="34" charset="-122"/>
                <a:cs typeface="Calibri" pitchFamily="34" charset="-120"/>
              </a:rPr>
              <a:t>The chart shows the President's breakdown of 11 August, which totals 181 and puts 97.6% of the deaths in capital cities. UNGRD's own situation report of the same day gives 182. Adding up what the departments and cities announced separately gives 240 - 59 more than the President's figure - because those counts include municipalities outside the capitals and were issued at different hours. The report keeps all three rather than picking one: the official national figure is the one to cite, the departmental sum is the leading indicator of where it is heading.</a:t>
            </a:r>
            <a:endParaRPr lang="en-US" sz="1050" dirty="0"/>
          </a:p>
        </p:txBody>
      </p:sp>
      <p:sp>
        <p:nvSpPr>
          <p:cNvPr id="18"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Noticias Caracol — UNGRD balance: 182 deaths, 2,542 injured, 189 missing</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RPP — the President's 181 is 59 fewer than the regional data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 live updates, 11 August (Cali toll rises to 85)</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Asocapitales balance — 132 deaths, 570+ injured, by city</a:t>
            </a:r>
            <a:endParaRPr lang="en-US" sz="850" dirty="0"/>
          </a:p>
        </p:txBody>
      </p:sp>
      <p:sp>
        <p:nvSpPr>
          <p:cNvPr id="19"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20"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21"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Buildings, Services &amp; Lifelines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All figures preliminary. Official (government) figures are primary; media-sourced items are labelled.</a:t>
            </a:r>
            <a:endParaRPr lang="en-US" sz="9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Deaths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182 (UNGRD situation report, 11 Aug) / 181 (President, of which 97.6% in capital cities) / 240 when the departmental and city announcements are added up. The Government's 13:00 COT balance on 10 Aug was 111.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Presidency; departmental and municipal governments via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Injured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2,542 (UNGRD, 11 Aug), up from 700 earlier the same day and 87 in the 10 Aug balance. A partial regional and Asocapitales tally gives 1,310.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Presidency; Asocapitales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Missing / trapped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189 (UNGRD, 11 Aug). Search continues in Cali, Pereira, Manizales and Quibdó, where four children are missing under a collapsed school.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Municipalities affected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More than 20 across Chocó, Risaralda, Caldas, Valle del Cauca, Quindío and Antioquia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Media, 10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Homes damaged or destroyed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15,568 homes affected: 13,067 damaged and 2,501 destroyed (UNGRD, 11 Aug), up from the 1,612 counted on 10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of which damaged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13,067</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of which destroyed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2,501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Buildings collapsed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More than 80 nationally (11 Aug), up from 61 on 10 Aug; Cali 25-30 at 12 critical points, Manizales 17 collapsed + 19 partial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Media, 11 Aug; UNGRD; mayors of Cali and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Buildings, Services &amp; Lifelines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All figures preliminary. Official (government) figures are primary; media-sourced items are labelled.</a:t>
            </a:r>
            <a:endParaRPr lang="en-US" sz="9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Health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93 damaged (UNGRD, 11 Aug), up from 18 on 10 Aug; 7 health institutions closed; about 30% of the University Hospital in Cali collapsed, including three floors (paediatrics, internal medicine, part of the neonatal unit)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Valle del Cauca government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Educational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884 damaged (UNGRD, 11 Aug), up from 52 on 10 Aug; schools evacuated across the affected departments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Community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427 damaged (UNGRD, 11 Aug), up from 17 on 10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Roads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77 roads damaged (UNGRD, 11 Aug), up from 18 on 10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Airports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6 regional airports damaged and operations suspended at seven; Matecaña International (Pereira) passenger terminal partially collapsed; flights suspended at Pereira, Manizales, Quibdó, Armenia, Cartago and Buenaventura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civil aviation authority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Cultural heritage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 tower of the neo-Gothic Cathedral of Manizales collapsed onto the nave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Mayor of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Lifelines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Power outages and communications disruption reported in areas near the epicentre; systematic figures not yet published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Media / humanitarian agencies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Displacement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Thousands reported to have left their homes; shelter figures not yet published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Media / humanitarian agencies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National Response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6858000" cy="402336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National disaster declaration activating the National Disaster Risk Management System (SNGRD) under Law 1523 of 2012.</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Unified Command Post (PMU) established in Chocó; UNGRD coordinating with departmental and municipal risk-management councils.</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Four USAR teams (Bogotá, Envigado, Yopal, Medellín) deployed for search and rescue in collapsed structures.</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Armed forces deployed for search, rescue, route clearance and security in the affected departments.</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Rapid structural inspection of hospitals, schools and airports; seven health institutions closed and six airports suspended pending assessment.</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Patients transferred from the damaged University Hospital in Cali to other facilities; the city reported casualties concentrated at 12 critical collapse sites.</a:t>
            </a:r>
            <a:endParaRPr lang="en-US" sz="1200" dirty="0"/>
          </a:p>
        </p:txBody>
      </p:sp>
      <p:pic>
        <p:nvPicPr>
          <p:cNvPr id="5" name="Image 1" descr="/home/user/whatsmap/reports/colombia_eq_20260810/images/photo_ungrd.jpg">    </p:cNvPr>
          <p:cNvPicPr>
            <a:picLocks noChangeAspect="1"/>
          </p:cNvPicPr>
          <p:nvPr/>
        </p:nvPicPr>
        <p:blipFill>
          <a:blip r:embed="rId2"/>
          <a:stretch>
            <a:fillRect/>
          </a:stretch>
        </p:blipFill>
        <p:spPr>
          <a:xfrm>
            <a:off x="8028756" y="1024128"/>
            <a:ext cx="3190607" cy="1792224"/>
          </a:xfrm>
          <a:prstGeom prst="rect">
            <a:avLst/>
          </a:prstGeom>
        </p:spPr>
      </p:pic>
      <p:sp>
        <p:nvSpPr>
          <p:cNvPr id="6" name="Text 2"/>
          <p:cNvSpPr/>
          <p:nvPr/>
        </p:nvSpPr>
        <p:spPr>
          <a:xfrm>
            <a:off x="7452360" y="283464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President Abelardo de la Espriella chairs the national response meeting   © UNGRD</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https://portal.gestiondelriesgo.gov.co/</a:t>
            </a:r>
            <a:endParaRPr lang="en-US" sz="800" dirty="0"/>
          </a:p>
        </p:txBody>
      </p:sp>
      <p:pic>
        <p:nvPicPr>
          <p:cNvPr id="7" name="Image 2" descr="/home/user/whatsmap/reports/colombia_eq_20260810/images/photo_bomberos_cali.jpg">    </p:cNvPr>
          <p:cNvPicPr>
            <a:picLocks noChangeAspect="1"/>
          </p:cNvPicPr>
          <p:nvPr/>
        </p:nvPicPr>
        <p:blipFill>
          <a:blip r:embed="rId4"/>
          <a:stretch>
            <a:fillRect/>
          </a:stretch>
        </p:blipFill>
        <p:spPr>
          <a:xfrm>
            <a:off x="8145475" y="3172968"/>
            <a:ext cx="2957170" cy="1792224"/>
          </a:xfrm>
          <a:prstGeom prst="rect">
            <a:avLst/>
          </a:prstGeom>
        </p:spPr>
      </p:pic>
      <p:sp>
        <p:nvSpPr>
          <p:cNvPr id="8" name="Text 3"/>
          <p:cNvSpPr/>
          <p:nvPr/>
        </p:nvSpPr>
        <p:spPr>
          <a:xfrm>
            <a:off x="7452360" y="498348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Cali fire service at a collapsed building in the city   © Alcaldía de Santiago de Cali</a:t>
            </a:r>
            <a:pPr algn="ctr" indent="0" marL="0">
              <a:buNone/>
            </a:pPr>
            <a:r>
              <a:rPr lang="en-US" sz="7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  —  https://www.cali.gov.co/gestiondelriesgo/</a:t>
            </a:r>
            <a:endParaRPr lang="en-US" sz="800" dirty="0"/>
          </a:p>
        </p:txBody>
      </p:sp>
      <p:sp>
        <p:nvSpPr>
          <p:cNvPr id="9" name="Shape 4"/>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10" name="Text 5"/>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Legal basis
</a:t>
            </a:r>
            <a:pPr algn="l" indent="0" marL="0">
              <a:buNone/>
            </a:pPr>
            <a:r>
              <a:rPr lang="en-US" sz="950" dirty="0">
                <a:solidFill>
                  <a:srgbClr val="7A2E0E"/>
                </a:solidFill>
                <a:latin typeface="Calibri" pitchFamily="34" charset="0"/>
                <a:ea typeface="Calibri" pitchFamily="34" charset="-122"/>
                <a:cs typeface="Calibri" pitchFamily="34" charset="-120"/>
              </a:rPr>
              <a:t>The national disaster declaration activates the SNGRD established by Law 1523 of 2012, allowing UNGRD to direct resources and the national disaster fund (FNGRD) to be used without the ordinary procurement timelines.</a:t>
            </a:r>
            <a:endParaRPr lang="en-US" sz="105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Colombia One - Government declares national disaster</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PreventionWeb - Colombia PNGRD 2015-2030</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International Support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457200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Ecuador mobilised a specialised USAR team of 47 personnel with canine units and self-sufficient equipment.</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Mexico's President pledged 'all the support required'; several Latin American governments offered rescuers, canine teams and humanitarian aid, to be channelled through Colombia's Foreign Ministry and UNGRD.</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Copernicus EMS Rapid Mapping activated as EMSR916 'Earthquake in Colombia' at 17:13 UTC on 10 August (12:13 COT), requested by EC Services / DG ECHO, to provide earthquake damage assessment emergency mapping. Status ongoing, with 3 areas of interest and 3 products at the time of writing. The activation reason names Quibdó, Pereira, Manizales and Cali as cities with significant damage and collapsed buildings.</a:t>
            </a:r>
            <a:endParaRPr lang="en-US" sz="1200" dirty="0"/>
          </a:p>
          <a:p>
            <a:pPr algn="l" marL="342900" indent="-342900">
              <a:buSzPct val="100000"/>
              <a:buChar char="•"/>
            </a:pPr>
            <a:r>
              <a:rPr lang="en-US" sz="1200" b="1" dirty="0">
                <a:solidFill>
                  <a:srgbClr val="888888"/>
                </a:solidFill>
                <a:latin typeface="Calibri" pitchFamily="34" charset="0"/>
                <a:ea typeface="Calibri" pitchFamily="34" charset="-122"/>
                <a:cs typeface="Calibri" pitchFamily="34" charset="-120"/>
              </a:rPr>
              <a:t>[TBC]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The International Charter 'Space and Major Disasters' is also reported to have been activated for this earthquake; the activation number had not been confirmed at the time of writing.</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International NGOs mobilising: Direct Relief and Americares (medical supplies), Save the Children (child protection and education), International Rescue Committee (assessment near the epicentre in Chocó), Convoy of Hope (relief goods).</a:t>
            </a:r>
            <a:endParaRPr lang="en-US" sz="1200" dirty="0"/>
          </a:p>
          <a:p>
            <a:pPr algn="l" marL="342900" indent="-342900">
              <a:buSzPct val="100000"/>
              <a:buChar char="•"/>
            </a:pPr>
            <a:r>
              <a:rPr lang="en-US" sz="1200" b="1" dirty="0">
                <a:solidFill>
                  <a:srgbClr val="888888"/>
                </a:solidFill>
                <a:latin typeface="Calibri" pitchFamily="34" charset="0"/>
                <a:ea typeface="Calibri" pitchFamily="34" charset="-122"/>
                <a:cs typeface="Calibri" pitchFamily="34" charset="-120"/>
              </a:rPr>
              <a:t>[TBC]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No announcement by the Government of Japan (message of condolence, emergency grant aid or JDR dispatch) had been identified at the time of writing.</a:t>
            </a:r>
            <a:endParaRPr lang="en-US" sz="1200" dirty="0"/>
          </a:p>
        </p:txBody>
      </p:sp>
      <p:sp>
        <p:nvSpPr>
          <p:cNvPr id="5" name="Shape 2"/>
          <p:cNvSpPr/>
          <p:nvPr/>
        </p:nvSpPr>
        <p:spPr>
          <a:xfrm>
            <a:off x="365760" y="5669280"/>
            <a:ext cx="11430000" cy="475488"/>
          </a:xfrm>
          <a:prstGeom prst="roundRect">
            <a:avLst>
              <a:gd name="adj" fmla="val 9615"/>
            </a:avLst>
          </a:prstGeom>
          <a:solidFill>
            <a:srgbClr val="FCE9DC"/>
          </a:solidFill>
          <a:ln w="12700">
            <a:solidFill>
              <a:srgbClr val="E8A317"/>
            </a:solidFill>
            <a:prstDash val="solid"/>
          </a:ln>
        </p:spPr>
      </p:sp>
      <p:sp>
        <p:nvSpPr>
          <p:cNvPr id="6" name="Text 3"/>
          <p:cNvSpPr/>
          <p:nvPr/>
        </p:nvSpPr>
        <p:spPr>
          <a:xfrm>
            <a:off x="530352" y="5724144"/>
            <a:ext cx="11100816" cy="36576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Channelling
</a:t>
            </a:r>
            <a:pPr algn="l" indent="0" marL="0">
              <a:buNone/>
            </a:pPr>
            <a:r>
              <a:rPr lang="en-US" sz="950" dirty="0">
                <a:solidFill>
                  <a:srgbClr val="7A2E0E"/>
                </a:solidFill>
                <a:latin typeface="Calibri" pitchFamily="34" charset="0"/>
                <a:ea typeface="Calibri" pitchFamily="34" charset="-122"/>
                <a:cs typeface="Calibri" pitchFamily="34" charset="-120"/>
              </a:rPr>
              <a:t>Offers of assistance are to be channelled through Colombia's Ministry of Foreign Affairs together with UNGRD.</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International Charter 'Space and Major Disasters' - activations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(activation)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 Colombia</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Satellite &amp; Analytical Support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Organisation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Contribution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Status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International Charter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Activation for the Colombia earthquake reported; wide-area optical/SAR imagery for damage assessment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Reported / number pending</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Calibri" pitchFamily="34" charset="0"/>
                          <a:ea typeface="Calibri" pitchFamily="34" charset="-122"/>
                          <a:cs typeface="Calibri" pitchFamily="34" charset="-120"/>
                        </a:rPr>
                        <a:t>TBC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Copernicus EMS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'Earthquake in Colombia' — Rapid Mapping for damage assessment; requested by EC Services / DG ECHO; 3 AOIs, 3 products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Ongoing (EMSR916)</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USGS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ShakeMap, PAGER (Orange), finite-fault and aftershock catalogue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GDACS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Overall Orange alert; population exposure and impact estimates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SGC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National seismic network: hypocentre, magnitude revision, aftershock bulletins, accelerographic records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Sentinel Asia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 applicable - the mechanism covers the Asia-Pacific region; Colombia is served by the International Charter and Copernicus EMS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n/a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Note on Sentinel Asia
</a:t>
            </a:r>
            <a:pPr algn="l" indent="0" marL="0">
              <a:buNone/>
            </a:pPr>
            <a:r>
              <a:rPr lang="en-US" sz="950" dirty="0">
                <a:solidFill>
                  <a:srgbClr val="7A2E0E"/>
                </a:solidFill>
                <a:latin typeface="Calibri" pitchFamily="34" charset="0"/>
                <a:ea typeface="Calibri" pitchFamily="34" charset="-122"/>
                <a:cs typeface="Calibri" pitchFamily="34" charset="-120"/>
              </a:rPr>
              <a:t>Sentinel Asia, for which ADRC serves as a joint project team member, covers the Asia-Pacific region. For a disaster in Colombia the equivalent international mechanisms are the International Charter 'Space and Major Disasters' and the Copernicus Emergency Management Service; UNOSAT/UNITAR rapid mapping is also commonly used in Latin America.</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International Charter 'Space and Major Disasters' - activations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(activation)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Copernicus EMS Rapid Mapping: EMSR916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emsr916_manual.jpg">    </p:cNvPr>
          <p:cNvPicPr>
            <a:picLocks noChangeAspect="1"/>
          </p:cNvPicPr>
          <p:nvPr/>
        </p:nvPicPr>
        <p:blipFill>
          <a:blip r:embed="rId2"/>
          <a:stretch>
            <a:fillRect/>
          </a:stretch>
        </p:blipFill>
        <p:spPr>
          <a:xfrm>
            <a:off x="365760" y="1318736"/>
            <a:ext cx="6858000" cy="4037647"/>
          </a:xfrm>
          <a:prstGeom prst="rect">
            <a:avLst/>
          </a:prstGeom>
        </p:spPr>
      </p:pic>
      <p:sp>
        <p:nvSpPr>
          <p:cNvPr id="5" name="Text 1"/>
          <p:cNvSpPr/>
          <p:nvPr/>
        </p:nvSpPr>
        <p:spPr>
          <a:xfrm>
            <a:off x="365760" y="566928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Activation page (© Copernicus EMS)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https://mapping.emergency.copernicus.eu/activations/EMSR916/</a:t>
            </a:r>
            <a:endParaRPr lang="en-US" sz="8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7406640" y="1024128"/>
          <a:ext cx="4389120" cy="914400"/>
        </p:xfrm>
        <a:graphic>
          <a:graphicData uri="http://schemas.openxmlformats.org/drawingml/2006/table">
            <a:tbl>
              <a:tblPr/>
              <a:tblGrid>
                <a:gridCol w="1554480"/>
                <a:gridCol w="2834640"/>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Activation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 Earthquake in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Event time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afternoon (UTC)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Activation time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17:13 (UTC) = 12:13 COT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Event type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Earthquake / Ground shaking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Affected country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Authorised user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EC Services | DG ECHO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Service output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 AOIs · 3 products · 0 maps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Status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ONGOING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7" name="Text 2"/>
          <p:cNvSpPr/>
          <p:nvPr/>
        </p:nvSpPr>
        <p:spPr>
          <a:xfrm>
            <a:off x="7406640" y="4041648"/>
            <a:ext cx="4389120" cy="1463040"/>
          </a:xfrm>
          <a:prstGeom prst="rect">
            <a:avLst/>
          </a:prstGeom>
          <a:noFill/>
          <a:ln/>
        </p:spPr>
        <p:txBody>
          <a:bodyPr wrap="square" lIns="0" tIns="0" rIns="0" bIns="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Activation reason (verbatim)
</a:t>
            </a:r>
            <a:pPr algn="l" indent="0" marL="0">
              <a:buNone/>
            </a:pPr>
            <a:r>
              <a:rPr lang="en-US" sz="900" i="1" dirty="0">
                <a:solidFill>
                  <a:srgbClr val="222222"/>
                </a:solidFill>
                <a:latin typeface="Calibri" pitchFamily="34" charset="0"/>
                <a:ea typeface="Calibri" pitchFamily="34" charset="-122"/>
                <a:cs typeface="Calibri" pitchFamily="34" charset="-120"/>
              </a:rPr>
              <a:t>“On the 10 August 2026 at 12:30 UTC, a major earthquake with a magnitude of 7.4 is reported to have affected western and central Colombia, with the epicentre near San José del Palmar. The event has caused significant damage in several cities, including Quibdó, Pereira, Manizales and Cali, with collapsed buildings reported. Copernicus EMS Rapid Mapping is requested to provide earthquake damage assessment emergency mapping.”</a:t>
            </a:r>
            <a:endParaRPr lang="en-US" sz="950" dirty="0"/>
          </a:p>
        </p:txBody>
      </p:sp>
      <p:sp>
        <p:nvSpPr>
          <p:cNvPr id="8" name="Shape 3"/>
          <p:cNvSpPr/>
          <p:nvPr/>
        </p:nvSpPr>
        <p:spPr>
          <a:xfrm>
            <a:off x="7406640" y="5541264"/>
            <a:ext cx="4389120" cy="566928"/>
          </a:xfrm>
          <a:prstGeom prst="roundRect">
            <a:avLst>
              <a:gd name="adj" fmla="val 8065"/>
            </a:avLst>
          </a:prstGeom>
          <a:solidFill>
            <a:srgbClr val="FCE9DC"/>
          </a:solidFill>
          <a:ln w="12700">
            <a:solidFill>
              <a:srgbClr val="E8A317"/>
            </a:solidFill>
            <a:prstDash val="solid"/>
          </a:ln>
        </p:spPr>
      </p:sp>
      <p:sp>
        <p:nvSpPr>
          <p:cNvPr id="9" name="Text 4"/>
          <p:cNvSpPr/>
          <p:nvPr/>
        </p:nvSpPr>
        <p:spPr>
          <a:xfrm>
            <a:off x="7571232" y="5596128"/>
            <a:ext cx="4059936" cy="4572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What Rapid Mapping delivers
</a:t>
            </a:r>
            <a:pPr algn="l" indent="0" marL="0">
              <a:buNone/>
            </a:pPr>
            <a:r>
              <a:rPr lang="en-US" sz="950" dirty="0">
                <a:solidFill>
                  <a:srgbClr val="7A2E0E"/>
                </a:solidFill>
                <a:latin typeface="Calibri" pitchFamily="34" charset="0"/>
                <a:ea typeface="Calibri" pitchFamily="34" charset="-122"/>
                <a:cs typeface="Calibri" pitchFamily="34" charset="-120"/>
              </a:rPr>
              <a:t>Rapid Mapping delivers reference and grading products over selected areas of interest, not nationwide coverage. Products are published on the activation page as they are produced and are free to use.</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(activation)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European Commission — EU support for Colombia, Copernicus activated</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Colombia's Disaster Risk Management System</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150" dirty="0">
                <a:solidFill>
                  <a:srgbClr val="222222"/>
                </a:solidFill>
                <a:latin typeface="Calibri" pitchFamily="34" charset="0"/>
                <a:ea typeface="Calibri" pitchFamily="34" charset="-122"/>
                <a:cs typeface="Calibri" pitchFamily="34" charset="-120"/>
              </a:rPr>
              <a:t>Colombia rebuilt its disaster risk management framework after the 1985 Armero volcanic disaster and again after the 1999 Armenia earthquake. Law 1523 of 2012 created the National Disaster Risk Management System (SNGRD), led by the National Unit for Disaster Risk Management (UNGRD), which reports to the Presidency.</a:t>
            </a:r>
            <a:endParaRPr lang="en-US" sz="11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Law 1523 of 2012 - national policy on disaster risk management; defines the SNGRD and makes risk management a mandatory duty of every public authority and, in part, of private actors.</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UNGRD - national coordinating agency under the Presidency; runs the national response, the disaster fund (FNGRD) and the national information system.</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Departmental and municipal risk management councils (CDGRD / CMGRD) carry out first response; UNGRD reinforces when local capacity is exceeded.</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PNGRD 2015-2030 — the national disaster risk management plan, adopted by Decree 308 of 2016 and updated by Decree 1478 of 3 August 2022; aligned with the Sendai Framework and monitored annually by UNGRD.</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NSR-10 - the national seismic building code (in force since 2010, technical annexes updated since). Buildings predating modern code enforcement, and non-engineered masonry and earthen construction, remain the dominant source of risk.</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Seismic microzonation studies exist for major cities including Bogotá, Medellín, Cali, Pereira, Manizales and Armenia — a direct legacy of the 1999 earthquake. In Cali the microzonation is binding on structural design through Decree 411.0.20.0158 of 2014.</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The SGC operates the National Seismological Network and the national accelerograph network, and issues public bulletins within minutes.</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Cities run their own instruments alongside the national system: Cali's SATIC community-and-sensor early warning system (from 2018, formalised by Municipal Decree 0858 of 2022), Medellín's DAGRD and its municipal plan, and municipal risk-management funds created under Law 1523.</a:t>
            </a:r>
            <a:endParaRPr lang="en-US" sz="109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 UNGRD of Colombia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Plan Nacional de Gestión del Riesgo de Desastres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Decreto 1478 de 2022 — update of the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SATIC — Cali's intelligent and community early warning system</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The 1999 Armenia (Quindío) Earthquake &amp; Recovery</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Calibri" pitchFamily="34" charset="0"/>
                <a:ea typeface="Calibri" pitchFamily="34" charset="-122"/>
                <a:cs typeface="Calibri" pitchFamily="34" charset="-120"/>
              </a:rPr>
              <a:t>The 1999 Armenia (Quindío) Earthquake - the same Coffee Region
</a:t>
            </a:r>
            <a:pPr algn="l" indent="0" marL="0">
              <a:buNone/>
            </a:pPr>
            <a:r>
              <a:rPr lang="en-US" sz="1050" dirty="0">
                <a:solidFill>
                  <a:srgbClr val="222222"/>
                </a:solidFill>
                <a:latin typeface="Calibri" pitchFamily="34" charset="0"/>
                <a:ea typeface="Calibri" pitchFamily="34" charset="-122"/>
                <a:cs typeface="Calibri" pitchFamily="34" charset="-120"/>
              </a:rPr>
              <a:t>On 25 January 1999 an M6.1-6.2 earthquake at about 30 km depth struck the Quindío coffee-growing region. It killed about 1,185 people, injured over 5,000 and damaged or destroyed some 50,000 structures; roughly 60% of the buildings in the city of Armenia collapsed or were severely damaged, and more than 200,000 people were displaced. Although far smaller in magnitude than the 2026 event, it was much shallower and much closer to the cities, which is why its local destructiveness was far greater.</a:t>
            </a:r>
            <a:endParaRPr lang="en-US" sz="1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1999 impact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Figure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Deaths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1,185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Injured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 5,000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Structures damaged or destroyed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50,000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Displaced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 200,000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Coffee sector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8,000 farms and 1,200 processing facilities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Calibri" pitchFamily="34" charset="0"/>
                <a:ea typeface="Calibri" pitchFamily="34" charset="-122"/>
                <a:cs typeface="Calibri" pitchFamily="34" charset="-120"/>
              </a:rPr>
              <a:t>What followed / lessons</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Reconstruction was managed through a dedicated temporary body for the Coffee Region, an early example in Latin America of a purpose-built reconstruction agency.</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disaster drove enforcement of the national seismic code and the seismic microzonation studies that now cover Pereira, Manizales and Armenia.</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Recovery of the coffee economy took roughly a decade - the economic tail of the disaster far outlasted the emergency phase.</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2026 earthquake shook the same cities, but as a deep, distant source rather than a shallow local one: a different loading of the same building stock.</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Why this matters now
</a:t>
            </a:r>
            <a:pPr algn="l" indent="0" marL="0">
              <a:buNone/>
            </a:pPr>
            <a:r>
              <a:rPr lang="en-US" sz="950" dirty="0">
                <a:solidFill>
                  <a:srgbClr val="7A2E0E"/>
                </a:solidFill>
                <a:latin typeface="Calibri" pitchFamily="34" charset="0"/>
                <a:ea typeface="Calibri" pitchFamily="34" charset="-122"/>
                <a:cs typeface="Calibri" pitchFamily="34" charset="-120"/>
              </a:rPr>
              <a:t>The cities hit hardest in 2026 - Pereira, Manizales, Armenia - are the same cities that rebuilt after 1999. How that rebuilt stock performed under long-period, long-duration shaking from a 110 km-deep source is the key question for post-event assessment.</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 Seismic regulations for Colombia (NSR-10)</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 Colombia PNGRD 2015-2030</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Pre-event Risk Assessment: Santiago de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87552"/>
            <a:ext cx="5760720" cy="10515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Cali did not lack a risk assessment. Between 2020 and 2022 the city built a full urban earthquake risk model with the GEM Foundation under the USAID-supported TREQ project, one of three pilot cities alongside Quito and Santiago de los Caballeros. The modelled scenario is a shallow local one — magnitude 6.5 at 10 km depth on the Dagua-Calima fault — and its estimates dwarf what the city actually experienced on 10 August 2026.</a:t>
            </a:r>
            <a:endParaRPr lang="en-US" sz="1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2139696"/>
          <a:ext cx="5760720" cy="914400"/>
        </p:xfrm>
        <a:graphic>
          <a:graphicData uri="http://schemas.openxmlformats.org/drawingml/2006/table">
            <a:tbl>
              <a:tblPr/>
              <a:tblGrid>
                <a:gridCol w="2103120"/>
                <a:gridCol w="3657600"/>
              </a:tblGrid>
              <a:tr h="30175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Modelled scenario (GEM-TREQ, 2022)</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Modelled scenario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M6.5, 10 km depth, Dagua-Calima fault, urban area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Population exposed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2,300,000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Estimated deaths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1,200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Seriously injured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36,300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Displaced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181,000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Buildings collapsed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1,800 of 348,000 (0.5%)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Residual risk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assessed at about 40% after existing measures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4864608"/>
            <a:ext cx="5760720" cy="347472"/>
          </a:xfrm>
          <a:prstGeom prst="rect">
            <a:avLst/>
          </a:prstGeom>
          <a:noFill/>
          <a:ln/>
        </p:spPr>
        <p:txBody>
          <a:bodyPr wrap="square" lIns="0" tIns="0" rIns="0" bIns="0" rtlCol="0" anchor="t"/>
          <a:lstStyle/>
          <a:p>
            <a:pPr indent="0" marL="0">
              <a:buNone/>
            </a:pPr>
            <a:r>
              <a:rPr lang="en-US" sz="680" i="1" dirty="0">
                <a:solidFill>
                  <a:srgbClr val="6A6A6A"/>
                </a:solidFill>
                <a:latin typeface="Calibri" pitchFamily="34" charset="0"/>
                <a:ea typeface="Calibri" pitchFamily="34" charset="-122"/>
                <a:cs typeface="Calibri" pitchFamily="34" charset="-120"/>
              </a:rPr>
              <a:t>Figures from the GEM-TREQ urban risk assessment for Santiago de Cali and from the city's local disaster risk management plan, as compiled by the Municipality of Santiago de Cali (Secretaría de Gestión del Riesgo de Emergencias y Desastres) for a JICA training course.</a:t>
            </a:r>
            <a:endParaRPr lang="en-US" sz="680" dirty="0"/>
          </a:p>
        </p:txBody>
      </p:sp>
      <p:sp>
        <p:nvSpPr>
          <p:cNvPr id="7" name="Text 3"/>
          <p:cNvSpPr/>
          <p:nvPr/>
        </p:nvSpPr>
        <p:spPr>
          <a:xfrm>
            <a:off x="6309360" y="987552"/>
            <a:ext cx="5486400" cy="256032"/>
          </a:xfrm>
          <a:prstGeom prst="rect">
            <a:avLst/>
          </a:prstGeom>
          <a:noFill/>
          <a:ln/>
        </p:spPr>
        <p:txBody>
          <a:bodyPr wrap="square" lIns="0" tIns="0" rIns="0" bIns="0" rtlCol="0" anchor="ctr"/>
          <a:lstStyle/>
          <a:p>
            <a:pPr indent="0" marL="0">
              <a:buNone/>
            </a:pPr>
            <a:r>
              <a:rPr lang="en-US" sz="1150" b="1" dirty="0">
                <a:solidFill>
                  <a:srgbClr val="1F3864"/>
                </a:solidFill>
                <a:latin typeface="Calibri" pitchFamily="34" charset="0"/>
                <a:ea typeface="Calibri" pitchFamily="34" charset="-122"/>
                <a:cs typeface="Calibri" pitchFamily="34" charset="-120"/>
              </a:rPr>
              <a:t>What the city had already prioritised</a:t>
            </a:r>
            <a:endParaRPr lang="en-US" sz="1150" dirty="0"/>
          </a:p>
        </p:txBody>
      </p:sp>
      <p:sp>
        <p:nvSpPr>
          <p:cNvPr id="8" name="Text 4"/>
          <p:cNvSpPr/>
          <p:nvPr/>
        </p:nvSpPr>
        <p:spPr>
          <a:xfrm>
            <a:off x="6309360" y="1280160"/>
            <a:ext cx="5486400" cy="3877056"/>
          </a:xfrm>
          <a:prstGeom prst="rect">
            <a:avLst/>
          </a:prstGeom>
          <a:noFill/>
          <a:ln/>
        </p:spPr>
        <p:txBody>
          <a:bodyPr wrap="square" lIns="50800" tIns="50800" rIns="50800" bIns="50800" rtlCol="0" anchor="t"/>
          <a:lstStyle/>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Seismic vulnerability studies of indispensable buildings — hospitals, schools, fire stations — to the NSR-10 code (budgeted at about USD 1.7 million, short term).</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Structural retrofitting of indispensable buildings and of basic-service infrastructure, to keep essential services running after an earthquake.</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Seismic vulnerability assessment of the EMCALI water, sewerage and power networks and of the city gas network.</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Updating the local soil-response model and the seismic microzonation, in force since INGEOMINAS/DAGMA (2005) and adopted by Decree 411.0.20.0158 of 2014 for structural design.</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Maintaining and extending the Cali accelerograph network (RAC) and its interoperability with the SGC national network.</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Insuring public infrastructure against seismic risk, and retrofitting low-income housing through subsidies and safe self-build programmes.</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Financing model for the priority measures: local government 30-50%, national disaster fund (FNGRD/UNGRD) 30-50%, international partners including JICA, the GEM Foundation and the IDB about 20%.</a:t>
            </a:r>
            <a:endParaRPr lang="en-US" sz="850" dirty="0"/>
          </a:p>
        </p:txBody>
      </p:sp>
      <p:sp>
        <p:nvSpPr>
          <p:cNvPr id="9" name="Shape 5"/>
          <p:cNvSpPr/>
          <p:nvPr/>
        </p:nvSpPr>
        <p:spPr>
          <a:xfrm>
            <a:off x="365760" y="5248656"/>
            <a:ext cx="11430000" cy="859536"/>
          </a:xfrm>
          <a:prstGeom prst="roundRect">
            <a:avLst>
              <a:gd name="adj" fmla="val 5319"/>
            </a:avLst>
          </a:prstGeom>
          <a:solidFill>
            <a:srgbClr val="FCE9DC"/>
          </a:solidFill>
          <a:ln w="12700">
            <a:solidFill>
              <a:srgbClr val="E8A317"/>
            </a:solidFill>
            <a:prstDash val="solid"/>
          </a:ln>
        </p:spPr>
      </p:sp>
      <p:sp>
        <p:nvSpPr>
          <p:cNvPr id="10" name="Text 6"/>
          <p:cNvSpPr/>
          <p:nvPr/>
        </p:nvSpPr>
        <p:spPr>
          <a:xfrm>
            <a:off x="530352" y="5303520"/>
            <a:ext cx="11100816" cy="74980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The 2026 earthquake was not this scenario
</a:t>
            </a:r>
            <a:pPr algn="l" indent="0" marL="0">
              <a:buNone/>
            </a:pPr>
            <a:r>
              <a:rPr lang="en-US" sz="950" dirty="0">
                <a:solidFill>
                  <a:srgbClr val="7A2E0E"/>
                </a:solidFill>
                <a:latin typeface="Calibri" pitchFamily="34" charset="0"/>
                <a:ea typeface="Calibri" pitchFamily="34" charset="-122"/>
                <a:cs typeface="Calibri" pitchFamily="34" charset="-120"/>
              </a:rPr>
              <a:t>The 10 August event was larger in magnitude (M7.4) but 110 km deep and 158 km from Cali, giving the city MMI VI rather than the near-field shaking of the modelled M6.5. Cali recorded 27 deaths and 25-30 collapsed structures — two orders of magnitude below the scenario. What it did test is exactly the weakness the local plan had flagged: about 30% of the University Hospital collapsed and seven health institutions closed. The city's own worst case remains ahead of it, and the case for retrofitting indispensable buildings is now evidential rather than theoretical.</a:t>
            </a:r>
            <a:endParaRPr lang="en-US" sz="1050" dirty="0"/>
          </a:p>
        </p:txBody>
      </p:sp>
      <p:sp>
        <p:nvSpPr>
          <p:cNvPr id="11" name="Text 7"/>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Foundation — TREQ project (urban earthquake risk, Quito / Cali / Santiago de los Caballeros)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(technical report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Alcaldía de Santiago de Cali — disaster risk management</a:t>
            </a:r>
            <a:endParaRPr lang="en-US" sz="850" dirty="0"/>
          </a:p>
        </p:txBody>
      </p:sp>
      <p:sp>
        <p:nvSpPr>
          <p:cNvPr id="12" name="Shape 8"/>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9"/>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4" name="Text 10"/>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GEM-TREQ City Profile: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gem_treq_cali_manual.jpg">    </p:cNvPr>
          <p:cNvPicPr>
            <a:picLocks noChangeAspect="1"/>
          </p:cNvPicPr>
          <p:nvPr/>
        </p:nvPicPr>
        <p:blipFill>
          <a:blip r:embed="rId2"/>
          <a:stretch>
            <a:fillRect/>
          </a:stretch>
        </p:blipFill>
        <p:spPr>
          <a:xfrm>
            <a:off x="3006914" y="969264"/>
            <a:ext cx="6147692" cy="4352544"/>
          </a:xfrm>
          <a:prstGeom prst="rect">
            <a:avLst/>
          </a:prstGeom>
        </p:spPr>
      </p:pic>
      <p:sp>
        <p:nvSpPr>
          <p:cNvPr id="5" name="Text 1"/>
          <p:cNvSpPr/>
          <p:nvPr/>
        </p:nvSpPr>
        <p:spPr>
          <a:xfrm>
            <a:off x="1051560" y="5340096"/>
            <a:ext cx="10058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 GEM Foundation / USAID / Alcaldía de Santiago de Cali /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https://github.com/gem/treq-riesgo-urbano</a:t>
            </a:r>
            <a:endParaRPr lang="en-US" sz="800" dirty="0"/>
          </a:p>
        </p:txBody>
      </p:sp>
      <p:sp>
        <p:nvSpPr>
          <p:cNvPr id="6" name="Text 2"/>
          <p:cNvSpPr/>
          <p:nvPr/>
        </p:nvSpPr>
        <p:spPr>
          <a:xfrm>
            <a:off x="1051560" y="5596128"/>
            <a:ext cx="10058400" cy="548640"/>
          </a:xfrm>
          <a:prstGeom prst="rect">
            <a:avLst/>
          </a:prstGeom>
          <a:noFill/>
          <a:ln/>
        </p:spPr>
        <p:txBody>
          <a:bodyPr wrap="square" lIns="0" tIns="0" rIns="0" bIns="0" rtlCol="0" anchor="t"/>
          <a:lstStyle/>
          <a:p>
            <a:pPr algn="l" indent="0" marL="0">
              <a:buNone/>
            </a:pPr>
            <a:r>
              <a:rPr lang="en-US" sz="900" dirty="0">
                <a:solidFill>
                  <a:srgbClr val="222222"/>
                </a:solidFill>
                <a:latin typeface="Calibri" pitchFamily="34" charset="0"/>
                <a:ea typeface="Calibri" pitchFamily="34" charset="-122"/>
                <a:cs typeface="Calibri" pitchFamily="34" charset="-120"/>
              </a:rPr>
              <a:t>GEM-TREQ city profile for Cali: the M6.5 / 10 km Dagua-Calima scenario. 2.3 million people and 312,000 residential, 22,000 commercial, 5,300 industrial and 8,000 institutional buildings are exposed, with COP 220 trillion of exposed capital. The bars give, per comuna, the collapse index, fatalities, serious injuries, displaced people and economic losses; the histograms give the city totals with their modelled ranges.</a:t>
            </a:r>
            <a:endParaRPr lang="en-US" sz="90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(technical report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GEM Foundation — TREQ project (urban earthquake risk, Quito / Cali / Santiago de los Caballeros)</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Historical Earthquakes in Colombia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7863840" cy="914400"/>
        </p:xfrm>
        <a:graphic>
          <a:graphicData uri="http://schemas.openxmlformats.org/drawingml/2006/table">
            <a:tbl>
              <a:tblPr/>
              <a:tblGrid>
                <a:gridCol w="731520"/>
                <a:gridCol w="2286000"/>
                <a:gridCol w="731520"/>
                <a:gridCol w="4114800"/>
              </a:tblGrid>
              <a:tr h="36576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Year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Event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Impact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1906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Ecuador-Colombia earthquake (Pacific coast)</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One of the largest earthquakes ever recorded; destructive tsunami on the Pacific coast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1925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Cali earthquake (Valle del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The reference historical event for Cali; the city was also shaken in 1995 and 2004, the latter damaging clinics and residential buildings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1938</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Coffee Region earthquake (deep, 150 km)</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An intermediate-depth event beneath the same coffee-growing departments — the closest historical analogue to the 2026 earthquake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1979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Tumaco earthquake (Nariño)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Subduction-interface event with tsunami; several hundred deaths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1983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Popayán earthquake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M5.5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About 250-300 deaths; historic city centre heavily damaged - a small but shallow, urban event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Páez (Cauca) earthquake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About 1,100 deaths, most caused by earthquake-triggered landslides and debris flows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Chocó earthquake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Intermediate-depth event in the same department as the 2026 earthquake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Armenia (Quindío) earthquake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M6.1-6.2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About 1,185 deaths; Colombia's costliest earthquake disaster; drove the modern DRM reforms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2026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Chocó earthquake (this event)</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M7.4</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Largest magnitude recorded in Colombia in the past decade (SGC); intermediate depth, wide-area damage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pic>
        <p:nvPicPr>
          <p:cNvPr id="5" name="Image 1" descr="/home/user/whatsmap/reports/colombia_eq_20260810/images/sgc_hazard_manual.jpg">    </p:cNvPr>
          <p:cNvPicPr>
            <a:picLocks noChangeAspect="1"/>
          </p:cNvPicPr>
          <p:nvPr/>
        </p:nvPicPr>
        <p:blipFill>
          <a:blip r:embed="rId2"/>
          <a:stretch>
            <a:fillRect/>
          </a:stretch>
        </p:blipFill>
        <p:spPr>
          <a:xfrm>
            <a:off x="8412480" y="1048131"/>
            <a:ext cx="3383280" cy="3298698"/>
          </a:xfrm>
          <a:prstGeom prst="rect">
            <a:avLst/>
          </a:prstGeom>
        </p:spPr>
      </p:pic>
      <p:sp>
        <p:nvSpPr>
          <p:cNvPr id="6" name="Text 1"/>
          <p:cNvSpPr/>
          <p:nvPr/>
        </p:nvSpPr>
        <p:spPr>
          <a:xfrm>
            <a:off x="8412480" y="4389120"/>
            <a:ext cx="33832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PGA (g), SGC / GEM national seismic hazard model (2020)</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https://amenazasismica.sgc.gov.co/</a:t>
            </a:r>
            <a:endParaRPr lang="en-US" sz="800" dirty="0"/>
          </a:p>
        </p:txBody>
      </p:sp>
      <p:sp>
        <p:nvSpPr>
          <p:cNvPr id="7" name="Text 2"/>
          <p:cNvSpPr/>
          <p:nvPr/>
        </p:nvSpPr>
        <p:spPr>
          <a:xfrm>
            <a:off x="8412480" y="4645152"/>
            <a:ext cx="3383280" cy="457200"/>
          </a:xfrm>
          <a:prstGeom prst="rect">
            <a:avLst/>
          </a:prstGeom>
          <a:noFill/>
          <a:ln/>
        </p:spPr>
        <p:txBody>
          <a:bodyPr wrap="square" lIns="0" tIns="0" rIns="0" bIns="0" rtlCol="0" anchor="t"/>
          <a:lstStyle/>
          <a:p>
            <a:pPr algn="ctr" indent="0" marL="0">
              <a:buNone/>
            </a:pPr>
            <a:r>
              <a:rPr lang="en-US" sz="850" b="1" dirty="0">
                <a:solidFill>
                  <a:srgbClr val="1F3864"/>
                </a:solidFill>
                <a:latin typeface="Calibri" pitchFamily="34" charset="0"/>
                <a:ea typeface="Calibri" pitchFamily="34" charset="-122"/>
                <a:cs typeface="Calibri" pitchFamily="34" charset="-120"/>
              </a:rPr>
              <a:t>National seismic hazard, 475-year return period</a:t>
            </a:r>
            <a:endParaRPr lang="en-US" sz="850" dirty="0"/>
          </a:p>
        </p:txBody>
      </p:sp>
      <p:sp>
        <p:nvSpPr>
          <p:cNvPr id="8" name="Shape 3"/>
          <p:cNvSpPr/>
          <p:nvPr/>
        </p:nvSpPr>
        <p:spPr>
          <a:xfrm>
            <a:off x="365760" y="5230368"/>
            <a:ext cx="7863840" cy="877824"/>
          </a:xfrm>
          <a:prstGeom prst="roundRect">
            <a:avLst>
              <a:gd name="adj" fmla="val 5208"/>
            </a:avLst>
          </a:prstGeom>
          <a:solidFill>
            <a:srgbClr val="FCE9DC"/>
          </a:solidFill>
          <a:ln w="12700">
            <a:solidFill>
              <a:srgbClr val="E8A317"/>
            </a:solidFill>
            <a:prstDash val="solid"/>
          </a:ln>
        </p:spPr>
      </p:sp>
      <p:sp>
        <p:nvSpPr>
          <p:cNvPr id="9" name="Text 4"/>
          <p:cNvSpPr/>
          <p:nvPr/>
        </p:nvSpPr>
        <p:spPr>
          <a:xfrm>
            <a:off x="530352" y="5285232"/>
            <a:ext cx="753465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Pattern
</a:t>
            </a:r>
            <a:pPr algn="l" indent="0" marL="0">
              <a:buNone/>
            </a:pPr>
            <a:r>
              <a:rPr lang="en-US" sz="950" dirty="0">
                <a:solidFill>
                  <a:srgbClr val="7A2E0E"/>
                </a:solidFill>
                <a:latin typeface="Calibri" pitchFamily="34" charset="0"/>
                <a:ea typeface="Calibri" pitchFamily="34" charset="-122"/>
                <a:cs typeface="Calibri" pitchFamily="34" charset="-120"/>
              </a:rPr>
              <a:t>Colombia's deadliest earthquakes have not been its largest. Popayán 1983 (M5.5), Páez 1994 (M6.8) and Armenia 1999 (M6.1-6.2) were all shallow and close to towns; the largest events, offshore in 1906 and 1979, killed fewer people. Depth and proximity, not magnitude alone, drive the toll.</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GEM Foundation — TREQ project (urban earthquake risk, Quito / Cali / Santiago de los Caballeros)</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Observations &amp; Points to Watch</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101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110" dirty="0">
                <a:solidFill>
                  <a:srgbClr val="222222"/>
                </a:solidFill>
                <a:latin typeface="Calibri" pitchFamily="34" charset="0"/>
                <a:ea typeface="Calibri" pitchFamily="34" charset="-122"/>
                <a:cs typeface="Calibri" pitchFamily="34" charset="-120"/>
              </a:rPr>
              <a:t>A deep source with shallow-disaster consequences. At 110 km depth the earthquake produced no surface rupture and no tsunami, yet it damaged buildings in at least six departments. Damage is dispersed rather than concentrated, which complicates needs assessment, logistics and the targeting of search and rescue.</a:t>
            </a:r>
            <a:endParaRPr lang="en-US" sz="1010" dirty="0"/>
          </a:p>
          <a:p>
            <a:pPr algn="l" marL="342900" indent="-342900">
              <a:buSzPct val="100000"/>
              <a:buChar char="•"/>
            </a:pPr>
            <a:r>
              <a:rPr lang="en-US" sz="101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110" dirty="0">
                <a:solidFill>
                  <a:srgbClr val="222222"/>
                </a:solidFill>
                <a:latin typeface="Calibri" pitchFamily="34" charset="0"/>
                <a:ea typeface="Calibri" pitchFamily="34" charset="-122"/>
                <a:cs typeface="Calibri" pitchFamily="34" charset="-120"/>
              </a:rPr>
              <a:t>Critical facilities failed. The collapse of about 30% of Cali's University Hospital, the closure of seven health institutions, damage to 52 schools and the partial collapse of an international airport terminal all reduce response capacity exactly where it is needed. Seismic performance of hospitals, schools and transport terminals is the clearest lesson emerging so far.</a:t>
            </a:r>
            <a:endParaRPr lang="en-US" sz="1010" dirty="0"/>
          </a:p>
          <a:p>
            <a:pPr algn="l" marL="342900" indent="-342900">
              <a:buSzPct val="100000"/>
              <a:buChar char="•"/>
            </a:pPr>
            <a:r>
              <a:rPr lang="en-US" sz="101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110" dirty="0">
                <a:solidFill>
                  <a:srgbClr val="222222"/>
                </a:solidFill>
                <a:latin typeface="Calibri" pitchFamily="34" charset="0"/>
                <a:ea typeface="Calibri" pitchFamily="34" charset="-122"/>
                <a:cs typeface="Calibri" pitchFamily="34" charset="-120"/>
              </a:rPr>
              <a:t>The toll multiplied as the assessment reached the damage. In 33 hours deaths went from 111 to 182 in UNGRD's own reporting, injured from 87 to 2,542, damaged homes from 1,612 to 15,568, damaged schools from 52 to 884 and damaged roads from 18 to 77. Nothing new happened to cause those jumps; the teams simply got to places they had not reached. Two lessons for reading early figures: the first-day numbers describe the reach of the assessment, not the size of the disaster, and the national total lags the departmental ones - here by 59 deaths in a single day.</a:t>
            </a:r>
            <a:endParaRPr lang="en-US" sz="1010" dirty="0"/>
          </a:p>
          <a:p>
            <a:pPr algn="l" marL="342900" indent="-342900">
              <a:buSzPct val="100000"/>
              <a:buChar char="•"/>
            </a:pPr>
            <a:r>
              <a:rPr lang="en-US" sz="101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110" dirty="0">
                <a:solidFill>
                  <a:srgbClr val="222222"/>
                </a:solidFill>
                <a:latin typeface="Calibri" pitchFamily="34" charset="0"/>
                <a:ea typeface="Calibri" pitchFamily="34" charset="-122"/>
                <a:cs typeface="Calibri" pitchFamily="34" charset="-120"/>
              </a:rPr>
              <a:t>The affected area is the Coffee Region rebuilt after 1999. Comparing how post-1999 construction performed against older stock, under a very different type of shaking, will be valuable for the region and for other countries with intermediate-depth seismic sources.</a:t>
            </a:r>
            <a:endParaRPr lang="en-US" sz="1010" dirty="0"/>
          </a:p>
          <a:p>
            <a:pPr algn="l" marL="342900" indent="-342900">
              <a:buSzPct val="100000"/>
              <a:buChar char="•"/>
            </a:pPr>
            <a:r>
              <a:rPr lang="en-US" sz="101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110" dirty="0">
                <a:solidFill>
                  <a:srgbClr val="222222"/>
                </a:solidFill>
                <a:latin typeface="Calibri" pitchFamily="34" charset="0"/>
                <a:ea typeface="Calibri" pitchFamily="34" charset="-122"/>
                <a:cs typeface="Calibri" pitchFamily="34" charset="-120"/>
              </a:rPr>
              <a:t>The assessments existed before the event. Cali's GEM-TREQ risk model and its local plan had already named hospitals and other indispensable buildings as the priority to retrofit, and the 2026 earthquake — a far weaker test than the city's own modelled scenario — still took out roughly 30% of its main public hospital. The gap here is not knowledge but implementation and financing.</a:t>
            </a:r>
            <a:endParaRPr lang="en-US" sz="1010" dirty="0"/>
          </a:p>
          <a:p>
            <a:pPr algn="l" marL="342900" indent="-342900">
              <a:buSzPct val="100000"/>
              <a:buChar char="•"/>
            </a:pPr>
            <a:r>
              <a:rPr lang="en-US" sz="101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110" dirty="0">
                <a:solidFill>
                  <a:srgbClr val="222222"/>
                </a:solidFill>
                <a:latin typeface="Calibri" pitchFamily="34" charset="0"/>
                <a:ea typeface="Calibri" pitchFamily="34" charset="-122"/>
                <a:cs typeface="Calibri" pitchFamily="34" charset="-120"/>
              </a:rPr>
              <a:t>Aftershock risk to damaged buildings. The SGC located 147 events in 34 hours, 92% of them below M3.0 and only one above M4.0 - as modest as an intermediate-depth intraslab rupture predicts. That statistic is not the operational point: the M4.8 of 10 August was felt widely, and the M3.9 of 11 August emptied buildings again in several cities. Structures the mainshock left standing but damaged have lost capacity, so rapid habitability assessment before re-occupancy matters more than the aftershock numbers.</a:t>
            </a:r>
            <a:endParaRPr lang="en-US" sz="1010" dirty="0"/>
          </a:p>
          <a:p>
            <a:pPr algn="l" marL="342900" indent="-342900">
              <a:buSzPct val="100000"/>
              <a:buChar char="•"/>
            </a:pPr>
            <a:r>
              <a:rPr lang="en-US" sz="1010" b="1" dirty="0">
                <a:solidFill>
                  <a:srgbClr val="888888"/>
                </a:solidFill>
                <a:latin typeface="Calibri" pitchFamily="34" charset="0"/>
                <a:ea typeface="Calibri" pitchFamily="34" charset="-122"/>
                <a:cs typeface="Calibri" pitchFamily="34" charset="-120"/>
              </a:rPr>
              <a:t>[TBC] </a:t>
            </a:r>
            <a:pPr algn="l" indent="0" marL="0">
              <a:spcAft>
                <a:spcPts val="500"/>
              </a:spcAft>
              <a:buNone/>
            </a:pPr>
            <a:r>
              <a:rPr lang="en-US" sz="1110" dirty="0">
                <a:solidFill>
                  <a:srgbClr val="222222"/>
                </a:solidFill>
                <a:latin typeface="Calibri" pitchFamily="34" charset="0"/>
                <a:ea typeface="Calibri" pitchFamily="34" charset="-122"/>
                <a:cs typeface="Calibri" pitchFamily="34" charset="-120"/>
              </a:rPr>
              <a:t>Points to watch: the reconciled national casualty figures; shelter and displacement numbers, which have not yet been published; water and power restoration in Chocó; the results of satellite-based damage mapping; and whether the Government requests international assistance beyond the offers already made.</a:t>
            </a:r>
            <a:endParaRPr lang="en-US" sz="101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 Colombia</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(1/3)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Source policy: </a:t>
            </a:r>
            <a:pPr algn="l" indent="0" marL="0">
              <a:buNone/>
            </a:pPr>
            <a:r>
              <a:rPr lang="en-US" sz="900" dirty="0">
                <a:solidFill>
                  <a:srgbClr val="444444"/>
                </a:solidFill>
                <a:latin typeface="Calibri" pitchFamily="34" charset="0"/>
                <a:ea typeface="Calibri" pitchFamily="34" charset="-122"/>
                <a:cs typeface="Calibri" pitchFamily="34" charset="-120"/>
              </a:rPr>
              <a:t>Source hierarchy: official &gt; media &gt; TBC. Government and scientific-agency figures are used as primary; media reports are used only where official figures are not yet published and are labelled as such. Items still being verified are marked TBC. Preliminary figures are never replaced by larger unverified numbers.</a:t>
            </a:r>
            <a:endParaRPr lang="en-US" sz="9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 M 7.4 San José del Palmar, Colombia (event page)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Servicio Geológico Colombiano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event bulletin SGC2026pqqmro (this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macroseismic intensity map (ShakeMap) for this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 National Unit for Disaster Risk Management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GDACS - Orange earthquake alert, Colombia, 10 Aug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International Charter 'Space and Major Disasters' - activations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Copernicus EMS — EMSR916 'Earthquake in Colombia' (activation)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ReliefWeb -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PAHO/WHO -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PreventionWeb - Colombia PNGRD 2015-2030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 - Seismic regulations for Colombia (NSR-10)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 live updates: death toll rises to 132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Colombiano — 84 injured and 12 dead in Chocó (department government)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https://www.elcolombiano.com/colombia/terremoto-temblor-hoy-colombia-choco-heridos-FL39761141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UN-SPIDER - UNGRD of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(2/3)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OECD - Risk governance scan of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 Live updates: at least 111 dead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France 24 - Colombia declares national emergency as quake toll hits 111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 Jazeera - M7.4 earthquake hits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CBS News - Strong earthquake strikes western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NBC News - Deaths, injuries and collapsed buildings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 First official assessment: widespread structural damage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 Government declares national disaster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SGC explains why the shaking lasted so long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NHK - President reports 111 dead, 87 injured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Nikkei - M7.4 earthquake in western Colombia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Jiji Press - M7.4 earthquake in Colombia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Save the Children - Children at risk after the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Direct Relief - Mobilising medical aid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Americares - Colombia earthquake, August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GLIDEnumber — EQ-2026-000146-COL (event identifier)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7"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ADRC - Asian Disaster Reduction Center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8"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(3/3)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European Commission — EU support for Colombia, Copernicus activated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 Foundation — TREQ project (urban earthquake risk, Quito / Cali / Santiago de los Caballeros)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https://www.globalquakemodel.org/proj/treq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GEM-TREQ — Evaluación de riesgo sísmico para Santiago de Cali (technical report D2.6.2)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https://cloud-storage.globalquakemodel.org/public/wix-new-website/pdf-collections-wix/publications/TREQ%20deliverables/reports/TREQ_D262_Riesgo_Sismico_Cali_v1.00.pdf</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Understanding seismic risk in Santiago de Cali for its application in risk management (peer-reviewed, 2025)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https://www.sciencedirect.com/science/article/abs/pii/S2212420925003097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SATIC — Cali's intelligent and community early warning system</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https://satic.cali.gov.co/satic</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Alcaldía de Santiago de Cali — disaster risk management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https://www.cali.gov.co/gestiondelriesgo/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 Plan Nacional de Gestión del Riesgo de Desastres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https://portal.gestiondelriesgo.gov.co/Paginas/Plan-Nacional-de-Gestion-del-Riesgo.aspx</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Decreto 1478 de 2022 — update of the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https://www.funcionpublica.gov.co/eva/gestornormativo/norma.php?i=191411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EMSC-CSEM SeismicPortal — bulletin and FDSN event service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https://www.emsc-csem.org/</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seismic catalogue viewer (reviewed catalogue ends Feb 2018)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https://catalogosismico.sgc.gov.co/visor/index.html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live updates, 11 August (Cali toll rises to 85)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https://www.eltiempo.com/colombia/otras-ciudades/terremoto-en-colombia-de-7-4-en-vivo-el-comandante-del-ejercito-nacional-se-encuentra-en-choco-coordinando-las-labores-de-atencion-de-la-emergencia-3577491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Asocapitales balance — 132 deaths, 570+ injured, by city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https://www.elespectador.com/colombia/mas-regiones/temblor-en-colombia-hoy-10-de-agosto-en-vivo-epicentro-y-reporte-de-afectaciones/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Noticias Caracol — UNGRD balance: 182 deaths, 2,542 injured, 189 missing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https://www.noticiascaracol.com/colombia/en-vivo-colombia-hoy-tras-terremoto-de-magnitud-7-4-continuan-las-labores-de-rescate-so35</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RPP — the President's 181 is 59 fewer than the regional data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https://rpp.pe/mundo/colombia/abelardo-de-la-espriella-cifra-en-181-los-muertos-por-el-terremoto-59-menos-que-datos-regionales-noticia-1701022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99 aftershocks and their magnitudes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https://www.eltiempo.com/colombia/otras-ciudades/cuantas-replicas-se-han-registrado-tras-el-terremoto-de-7-4-en-colombia-estas-son-todas-las-magnitudes-3577711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Semana — SGC total: 103 aftershocks to 15:00 on 11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7" invalidUrl="" action="" tgtFrame="" tooltip="" history="1" highlightClick="0" endSnd="0">
                            <a:extLst>
                              <a:ext uri="{A12FA001-AC4F-418D-AE19-62706E023703}">
                                <ahyp:hlinkClr xmlns:ahyp="http://schemas.microsoft.com/office/drawing/2018/hyperlinkcolor" val="tx"/>
                              </a:ext>
                            </a:extLst>
                          </a:hlinkClick>
                        </a:rPr>
                        <a:t>https://www.semana.com/tecnologia/articulo/servicio-geologico-revela-el-numero-total-de-replicas-que-ha-habido-en-colombia-tras-fuerte-terremoto-que-estremecio-al-pais/202641/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Cambria" pitchFamily="34" charset="0"/>
                <a:ea typeface="Cambria" pitchFamily="34" charset="-122"/>
                <a:cs typeface="Cambria" pitchFamily="34" charset="-120"/>
              </a:rPr>
              <a:t>Asian Disaster Reduction Center (ADRC)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Calibri" pitchFamily="34" charset="0"/>
                <a:ea typeface="Calibri" pitchFamily="34" charset="-122"/>
                <a:cs typeface="Calibri" pitchFamily="34" charset="-120"/>
              </a:rPr>
              <a:t>Bilingual (EN/JA) report for domestic and international dissemination. Public-agency sources take priority; gaps are filled with clearly-labelled media reports.</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Calibri" pitchFamily="34" charset="0"/>
                <a:ea typeface="Calibri" pitchFamily="34" charset="-122"/>
                <a:cs typeface="Calibri" pitchFamily="34" charset="-120"/>
              </a:rPr>
              <a:t>Figures as of 11 Aug 2026, 17:00 COT (12 Aug 07:00 JST), about 33 hours after the earthquake. UNGRD's situation report gives 182 deaths, 2,542 injured and 189 missing; the President's balance gives 181 deaths; adding up what the departments and cities have announced gives 240. All three are shown. Figures are preliminary and still rising.</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2026-08-11T23:40:30Z</dcterms:created>
  <dcterms:modified xsi:type="dcterms:W3CDTF">2026-08-11T23:40:30Z</dcterms:modified>
</cp:coreProperties>
</file>