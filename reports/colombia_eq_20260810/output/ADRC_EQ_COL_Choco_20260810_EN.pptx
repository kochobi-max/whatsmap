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charts/chart1.xml" ContentType="application/vnd.openxmlformats-officedocument.drawingml.chart+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charts/chart2.xml" ContentType="application/vnd.openxmlformats-officedocument.drawingml.chart+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Lst>
  <p:notesMasterIdLst>
    <p:notesMasterId r:id="rId29"/>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notesMaster" Target="notesMasters/notesMaster1.xml"/><Relationship Id="rId30" Type="http://schemas.openxmlformats.org/officeDocument/2006/relationships/presProps" Target="presProps.xml"/><Relationship Id="rId31" Type="http://schemas.openxmlformats.org/officeDocument/2006/relationships/viewProps" Target="viewProps.xml"/><Relationship Id="rId32" Type="http://schemas.openxmlformats.org/officeDocument/2006/relationships/theme" Target="theme/theme1.xml"/><Relationship Id="rId33"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_rels/chart2.xml.rels><?xml version="1.0" encoding="UTF-8" standalone="yes"?><Relationships xmlns="http://schemas.openxmlformats.org/package/2006/relationships"><Relationship Id="rId1" Type="http://schemas.openxmlformats.org/officeDocument/2006/relationships/package" Target="../embeddings/Microsoft_Excel_Worksheet2.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950" b="0" i="0" u="none" strike="noStrike">
                <a:solidFill>
                  <a:srgbClr val="1F3864"/>
                </a:solidFill>
                <a:latin typeface="Arial"/>
              </a:defRPr>
            </a:pPr>
            <a:r>
              <a:rPr sz="950" b="0" i="0" u="none" strike="noStrike">
                <a:solidFill>
                  <a:srgbClr val="1F3864"/>
                </a:solidFill>
                <a:latin typeface="Arial"/>
              </a:rPr>
              <a:t>Population exposed by shaking level (millions, USGS PAGER)</a:t>
            </a:r>
          </a:p>
        </c:rich>
      </c:tx>
      <c:layout/>
      <c:overlay val="0"/>
    </c:title>
    <c:autoTitleDeleted val="0"/>
    <c:plotArea>
      <c:layout/>
      <c:barChart>
        <c:barDir val="col"/>
        <c:grouping val="clustered"/>
        <c:varyColors val="0"/>
        <c:ser>
          <c:idx val="0"/>
          <c:order val="0"/>
          <c:tx>
            <c:strRef>
              <c:f>Sheet1!$B$1</c:f>
              <c:strCache>
                <c:ptCount val="1"/>
                <c:pt idx="0">
                  <c:v>People exposed</c:v>
                </c:pt>
              </c:strCache>
            </c:strRef>
          </c:tx>
          <c:spPr>
            <a:solidFill>
              <a:srgbClr val="2E5496"/>
            </a:solidFill>
            <a:effectLst/>
          </c:spPr>
          <c:invertIfNegative val="0"/>
          <c:dLbls>
            <c:numFmt formatCode="#,##0" sourceLinked="0"/>
            <c:txPr>
              <a:bodyPr/>
              <a:lstStyle/>
              <a:p>
                <a:pPr>
                  <a:defRPr b="0" i="0" strike="noStrike" sz="800" u="none">
                    <a:solidFill>
                      <a:srgbClr val="000000"/>
                    </a:solidFill>
                    <a:latin typeface="Arial"/>
                  </a:defRPr>
                </a:pPr>
              </a:p>
            </c:txPr>
            <c:showLegendKey val="0"/>
            <c:showVal val="1"/>
            <c:showCatName val="0"/>
            <c:showSerName val="0"/>
            <c:showPercent val="0"/>
            <c:showBubbleSize val="0"/>
            <c:showLeaderLines val="0"/>
          </c:dLbls>
          <c:cat>
            <c:multiLvlStrRef>
              <c:f>Sheet1!$A$2:$A$5</c:f>
              <c:multiLvlStrCache>
                <c:ptCount val="4"/>
                <c:lvl>
                  <c:pt idx="0">
                    <c:v>MMI VII</c:v>
                  </c:pt>
                  <c:pt idx="1">
                    <c:v>MMI VI</c:v>
                  </c:pt>
                  <c:pt idx="2">
                    <c:v>MMI V</c:v>
                  </c:pt>
                  <c:pt idx="3">
                    <c:v>MMI IV</c:v>
                  </c:pt>
                </c:lvl>
              </c:multiLvlStrCache>
            </c:multiLvlStrRef>
          </c:cat>
          <c:val>
            <c:numRef>
              <c:f>Sheet1!$B$2:$B$5</c:f>
              <c:numCache>
                <c:formatCode>General</c:formatCode>
                <c:ptCount val="4"/>
                <c:pt idx="0">
                  <c:v>1.6</c:v>
                </c:pt>
                <c:pt idx="1">
                  <c:v>8.9</c:v>
                </c:pt>
                <c:pt idx="2">
                  <c:v>17.1</c:v>
                </c:pt>
                <c:pt idx="3">
                  <c:v>6.5</c:v>
                </c:pt>
              </c:numCache>
            </c:numRef>
          </c:val>
        </c:ser>
        <c:dLbls>
          <c:numFmt formatCode="#,##0" sourceLinked="0"/>
          <c:txPr>
            <a:bodyPr/>
            <a:lstStyle/>
            <a:p>
              <a:pPr>
                <a:defRPr b="0" i="0" strike="noStrike" sz="800" u="none">
                  <a:solidFill>
                    <a:srgbClr val="000000"/>
                  </a:solidFill>
                  <a:latin typeface="Arial"/>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900" b="0" i="0" u="none" strike="noStrike">
                <a:solidFill>
                  <a:srgbClr val="6A6A6A"/>
                </a:solidFill>
                <a:latin typeface="Arial"/>
              </a:defRPr>
            </a:pPr>
            <a:endParaRPr lang="en-US"/>
          </a:p>
        </c:txPr>
        <c:crossAx val="2094734552"/>
        <c:crosses val="autoZero"/>
        <c:auto val="1"/>
        <c:lblAlgn val="ctr"/>
        <c:noMultiLvlLbl val="1"/>
      </c:catAx>
      <c:valAx>
        <c:axId val="2094734552"/>
        <c:scaling>
          <c:orientation val="minMax"/>
        </c:scaling>
        <c:delete val="0"/>
        <c:axPos val="l"/>
        <c:majorGridlines>
          <c:spPr>
            <a:ln w="6350" cap="flat">
              <a:solidFill>
                <a:srgbClr val="D9D9D9"/>
              </a:solidFill>
              <a:prstDash val="solid"/>
              <a:round/>
            </a:ln>
          </c:spPr>
        </c:majorGridlines>
        <c:numFmt formatCode="General" sourceLinked="0"/>
        <c:majorTickMark val="out"/>
        <c:minorTickMark val="none"/>
        <c:tickLblPos val="nextTo"/>
        <c:spPr>
          <a:ln w="12700" cap="flat">
            <a:solidFill>
              <a:srgbClr val="888888"/>
            </a:solidFill>
            <a:prstDash val="solid"/>
            <a:round/>
          </a:ln>
        </c:spPr>
        <c:txPr>
          <a:bodyPr/>
          <a:lstStyle/>
          <a:p>
            <a:pPr>
              <a:defRPr sz="800" b="0" i="0" u="none" strike="noStrike">
                <a:solidFill>
                  <a:srgbClr val="6A6A6A"/>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050" b="0" i="0" u="none" strike="noStrike">
                <a:solidFill>
                  <a:srgbClr val="1F3864"/>
                </a:solidFill>
                <a:latin typeface="Arial"/>
              </a:defRPr>
            </a:pPr>
            <a:r>
              <a:rPr sz="1050" b="0" i="0" u="none" strike="noStrike">
                <a:solidFill>
                  <a:srgbClr val="1F3864"/>
                </a:solidFill>
                <a:latin typeface="Arial"/>
              </a:rPr>
              <a:t>Reported deaths by department (provisional)</a:t>
            </a:r>
          </a:p>
        </c:rich>
      </c:tx>
      <c:layout/>
      <c:overlay val="0"/>
    </c:title>
    <c:autoTitleDeleted val="0"/>
    <c:plotArea>
      <c:layout/>
      <c:barChart>
        <c:barDir val="bar"/>
        <c:grouping val="clustered"/>
        <c:varyColors val="0"/>
        <c:ser>
          <c:idx val="0"/>
          <c:order val="0"/>
          <c:tx>
            <c:strRef>
              <c:f>Sheet1!$B$1</c:f>
              <c:strCache>
                <c:ptCount val="1"/>
                <c:pt idx="0">
                  <c:v>Deaths</c:v>
                </c:pt>
              </c:strCache>
            </c:strRef>
          </c:tx>
          <c:spPr>
            <a:solidFill>
              <a:srgbClr val="C00000"/>
            </a:solidFill>
            <a:effectLst/>
          </c:spPr>
          <c:invertIfNegative val="0"/>
          <c:dLbls>
            <c:numFmt formatCode="#,##0" sourceLinked="0"/>
            <c:txPr>
              <a:bodyPr/>
              <a:lstStyle/>
              <a:p>
                <a:pPr>
                  <a:defRPr b="0" i="0" strike="noStrike" sz="900" u="none">
                    <a:solidFill>
                      <a:srgbClr val="000000"/>
                    </a:solidFill>
                    <a:latin typeface="Arial"/>
                  </a:defRPr>
                </a:pPr>
              </a:p>
            </c:txPr>
            <c:showLegendKey val="0"/>
            <c:showVal val="1"/>
            <c:showCatName val="0"/>
            <c:showSerName val="0"/>
            <c:showPercent val="0"/>
            <c:showBubbleSize val="0"/>
            <c:showLeaderLines val="0"/>
          </c:dLbls>
          <c:cat>
            <c:multiLvlStrRef>
              <c:f>Sheet1!$A$2:$A$6</c:f>
              <c:multiLvlStrCache>
                <c:ptCount val="5"/>
                <c:lvl>
                  <c:pt idx="0">
                    <c:v>Valle del Cauca (Cali)</c:v>
                  </c:pt>
                  <c:pt idx="1">
                    <c:v>Risaralda (Pereira)</c:v>
                  </c:pt>
                  <c:pt idx="2">
                    <c:v>Chocó (Quibdó)</c:v>
                  </c:pt>
                  <c:pt idx="3">
                    <c:v>Caldas (Manizales)</c:v>
                  </c:pt>
                  <c:pt idx="4">
                    <c:v>Antioquia</c:v>
                  </c:pt>
                </c:lvl>
              </c:multiLvlStrCache>
            </c:multiLvlStrRef>
          </c:cat>
          <c:val>
            <c:numRef>
              <c:f>Sheet1!$B$2:$B$6</c:f>
              <c:numCache>
                <c:formatCode>General</c:formatCode>
                <c:ptCount val="5"/>
                <c:pt idx="0">
                  <c:v>97</c:v>
                </c:pt>
                <c:pt idx="1">
                  <c:v>66</c:v>
                </c:pt>
                <c:pt idx="2">
                  <c:v>9</c:v>
                </c:pt>
                <c:pt idx="3">
                  <c:v>5</c:v>
                </c:pt>
                <c:pt idx="4">
                  <c:v>1</c:v>
                </c:pt>
              </c:numCache>
            </c:numRef>
          </c:val>
        </c:ser>
        <c:dLbls>
          <c:numFmt formatCode="#,##0" sourceLinked="0"/>
          <c:txPr>
            <a:bodyPr/>
            <a:lstStyle/>
            <a:p>
              <a:pPr>
                <a:defRPr b="0" i="0" strike="noStrike" sz="900" u="none">
                  <a:solidFill>
                    <a:srgbClr val="000000"/>
                  </a:solidFill>
                  <a:latin typeface="Arial"/>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l"/>
        <c:numFmt formatCode="General" sourceLinked="1"/>
        <c:majorTickMark val="out"/>
        <c:minorTickMark val="none"/>
        <c:tickLblPos val="nextTo"/>
        <c:spPr>
          <a:ln w="12700" cap="flat">
            <a:solidFill>
              <a:srgbClr val="888888"/>
            </a:solidFill>
            <a:prstDash val="solid"/>
            <a:round/>
          </a:ln>
        </c:spPr>
        <c:txPr>
          <a:bodyPr/>
          <a:lstStyle/>
          <a:p>
            <a:pPr>
              <a:defRPr sz="900" b="0" i="0" u="none" strike="noStrike">
                <a:solidFill>
                  <a:srgbClr val="222222"/>
                </a:solidFill>
                <a:latin typeface="Arial"/>
              </a:defRPr>
            </a:pPr>
            <a:endParaRPr lang="en-US"/>
          </a:p>
        </c:txPr>
        <c:crossAx val="2094734552"/>
        <c:crosses val="autoZero"/>
        <c:auto val="1"/>
        <c:lblAlgn val="ctr"/>
        <c:noMultiLvlLbl val="1"/>
      </c:catAx>
      <c:valAx>
        <c:axId val="2094734552"/>
        <c:scaling>
          <c:orientation val="minMax"/>
        </c:scaling>
        <c:delete val="0"/>
        <c:axPos val="b"/>
        <c:majorGridlines>
          <c:spPr>
            <a:ln w="6350" cap="flat">
              <a:solidFill>
                <a:srgbClr val="D9D9D9"/>
              </a:solidFill>
              <a:prstDash val="solid"/>
              <a:round/>
            </a:ln>
          </c:spPr>
        </c:majorGridlines>
        <c:numFmt formatCode="General" sourceLinked="0"/>
        <c:majorTickMark val="out"/>
        <c:minorTickMark val="none"/>
        <c:tickLblPos val="low"/>
        <c:spPr>
          <a:ln w="12700" cap="flat">
            <a:solidFill>
              <a:srgbClr val="888888"/>
            </a:solidFill>
            <a:prstDash val="solid"/>
            <a:round/>
          </a:ln>
        </c:spPr>
        <c:txPr>
          <a:bodyPr/>
          <a:lstStyle/>
          <a:p>
            <a:pPr>
              <a:defRPr sz="800" b="0" i="0" u="none" strike="noStrike">
                <a:solidFill>
                  <a:srgbClr val="6A6A6A"/>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5" Type="http://schemas.openxmlformats.org/officeDocument/2006/relationships/hyperlink" Target="https://earthquake.usgs.gov/earthquakes/eventpage/us6000tjl2/executive" TargetMode="External"/><Relationship Id="rId6" Type="http://schemas.openxmlformats.org/officeDocument/2006/relationships/hyperlink" Target="https://www.sgc.gov.co/detallesismo/SGC2026pqqmro/" TargetMode="External"/><Relationship Id="rId7" Type="http://schemas.openxmlformats.org/officeDocument/2006/relationships/hyperlink" Target="https://portal.gestiondelriesgo.gov.co/" TargetMode="External"/><Relationship Id="rId8" Type="http://schemas.openxmlformats.org/officeDocument/2006/relationships/hyperlink" Target="https://www.google.com/maps/" TargetMode="External"/><Relationship Id="rId1" Type="http://schemas.openxmlformats.org/officeDocument/2006/relationships/image" Target="../media/image-1-1.png"/><Relationship Id="rId2" Type="http://schemas.openxmlformats.org/officeDocument/2006/relationships/image" Target="../media/image-1-2.jpg"/><Relationship Id="rId3" Type="http://schemas.openxmlformats.org/officeDocument/2006/relationships/image" Target="../media/image-1-3.jpg"/><Relationship Id="rId4" Type="http://schemas.openxmlformats.org/officeDocument/2006/relationships/image" Target="../media/image-1-4.jpg"/><Relationship Id="rId9" Type="http://schemas.openxmlformats.org/officeDocument/2006/relationships/slideLayout" Target="../slideLayouts/slideLayout1.xml"/><Relationship Id="rId10"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4" Type="http://schemas.openxmlformats.org/officeDocument/2006/relationships/hyperlink" Target="https://earthquake.usgs.gov/earthquakes/eventpage/us6000tjl2/executive" TargetMode="External"/><Relationship Id="rId5" Type="http://schemas.openxmlformats.org/officeDocument/2006/relationships/hyperlink" Target="https://www.sgc.gov.co/detallesismo/SGC2026pqqmro/" TargetMode="External"/><Relationship Id="rId6" Type="http://schemas.openxmlformats.org/officeDocument/2006/relationships/hyperlink" Target="https://gdacs.org/report.aspx?eventid=1557236&amp;eventtype=EQ" TargetMode="External"/><Relationship Id="rId1" Type="http://schemas.openxmlformats.org/officeDocument/2006/relationships/image" Target="../media/image-2-1.png"/><Relationship Id="rId2" Type="http://schemas.openxmlformats.org/officeDocument/2006/relationships/image" Target="../media/image-2-2.png"/><Relationship Id="rId3" Type="http://schemas.openxmlformats.org/officeDocument/2006/relationships/image" Target="../media/image-2-3.png"/><Relationship Id="rId7" Type="http://schemas.openxmlformats.org/officeDocument/2006/relationships/slideLayout" Target="../slideLayouts/slideLayout1.xml"/><Relationship Id="rId8"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2" Type="http://schemas.openxmlformats.org/officeDocument/2006/relationships/hyperlink" Target="https://portal.gestiondelriesgo.gov.co/" TargetMode="External"/><Relationship Id="rId3" Type="http://schemas.openxmlformats.org/officeDocument/2006/relationships/hyperlink" Target="https://colombiaone.com/2026/08/10/colombia-national-disaster/" TargetMode="External"/><Relationship Id="rId4" Type="http://schemas.openxmlformats.org/officeDocument/2006/relationships/hyperlink" Target="https://www.france24.com/en/americas/20260810-powerful-quake-rocks-colombia-causing-major-damage" TargetMode="External"/><Relationship Id="rId1" Type="http://schemas.openxmlformats.org/officeDocument/2006/relationships/image" Target="../media/image-3-1.png"/><Relationship Id="rId5" Type="http://schemas.openxmlformats.org/officeDocument/2006/relationships/slideLayout" Target="../slideLayouts/slideLayout1.xml"/><Relationship Id="rId6"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2" Type="http://schemas.openxmlformats.org/officeDocument/2006/relationships/hyperlink" Target="https://earthquake.usgs.gov/earthquakes/eventpage/us6000tjl2/executive" TargetMode="External"/><Relationship Id="rId3" Type="http://schemas.openxmlformats.org/officeDocument/2006/relationships/hyperlink" Target="https://portal.gestiondelriesgo.gov.co/" TargetMode="External"/><Relationship Id="rId4" Type="http://schemas.openxmlformats.org/officeDocument/2006/relationships/hyperlink" Target="https://www.cnn.com/2026/08/10/world/live-news/colombia-earthquake-san-jose-del-palmar" TargetMode="External"/><Relationship Id="rId5" Type="http://schemas.openxmlformats.org/officeDocument/2006/relationships/hyperlink" Target="https://colombiaone.com/2026/08/10/earthquake-colombia-official-details/" TargetMode="External"/><Relationship Id="rId1" Type="http://schemas.openxmlformats.org/officeDocument/2006/relationships/image" Target="../media/image-4-1.png"/><Relationship Id="rId6" Type="http://schemas.openxmlformats.org/officeDocument/2006/relationships/slideLayout" Target="../slideLayouts/slideLayout1.xml"/><Relationship Id="rId7"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2" Type="http://schemas.openxmlformats.org/officeDocument/2006/relationships/hyperlink" Target="https://earthquake.usgs.gov/earthquakes/eventpage/us6000tjl2/executive" TargetMode="External"/><Relationship Id="rId3" Type="http://schemas.openxmlformats.org/officeDocument/2006/relationships/hyperlink" Target="https://portal.gestiondelriesgo.gov.co/" TargetMode="External"/><Relationship Id="rId4" Type="http://schemas.openxmlformats.org/officeDocument/2006/relationships/hyperlink" Target="https://www.cnn.com/2026/08/10/world/live-news/colombia-earthquake-san-jose-del-palmar" TargetMode="External"/><Relationship Id="rId5" Type="http://schemas.openxmlformats.org/officeDocument/2006/relationships/hyperlink" Target="https://colombiaone.com/2026/08/10/earthquake-colombia-official-details/" TargetMode="External"/><Relationship Id="rId1" Type="http://schemas.openxmlformats.org/officeDocument/2006/relationships/image" Target="../media/image-5-1.png"/><Relationship Id="rId6" Type="http://schemas.openxmlformats.org/officeDocument/2006/relationships/slideLayout" Target="../slideLayouts/slideLayout1.xml"/><Relationship Id="rId7"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3" Type="http://schemas.openxmlformats.org/officeDocument/2006/relationships/hyperlink" Target="https://portal.gestiondelriesgo.gov.co/" TargetMode="External"/><Relationship Id="rId4" Type="http://schemas.openxmlformats.org/officeDocument/2006/relationships/hyperlink" Target="https://colombiaone.com/2026/08/10/earthquake-colombia-official-details/" TargetMode="External"/><Relationship Id="rId5" Type="http://schemas.openxmlformats.org/officeDocument/2006/relationships/hyperlink" Target="https://www.cbsnews.com/news/colombia-earthquake-western-region-evacuations/" TargetMode="External"/><Relationship Id="rId1" Type="http://schemas.openxmlformats.org/officeDocument/2006/relationships/image" Target="../media/image-6-1.png"/><Relationship Id="rId2" Type="http://schemas.openxmlformats.org/officeDocument/2006/relationships/image" Target="../media/image-6-2.png"/><Relationship Id="rId6" Type="http://schemas.openxmlformats.org/officeDocument/2006/relationships/slideLayout" Target="../slideLayouts/slideLayout1.xml"/><Relationship Id="rId7"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4" Type="http://schemas.openxmlformats.org/officeDocument/2006/relationships/hyperlink" Target="https://earthquake.usgs.gov/earthquakes/eventpage/us6000tjl2/executive" TargetMode="External"/><Relationship Id="rId5" Type="http://schemas.openxmlformats.org/officeDocument/2006/relationships/hyperlink" Target="https://www.sgc.gov.co/detallesismo/SGC2026pqqmro/" TargetMode="External"/><Relationship Id="rId6" Type="http://schemas.openxmlformats.org/officeDocument/2006/relationships/hyperlink" Target="https://gdacs.org/report.aspx?eventid=1557236&amp;eventtype=EQ" TargetMode="External"/><Relationship Id="rId3" Type="http://schemas.openxmlformats.org/officeDocument/2006/relationships/chart" Target="/ppt/charts/chart1.xml"/><Relationship Id="rId1" Type="http://schemas.openxmlformats.org/officeDocument/2006/relationships/image" Target="../media/image-7-1.png"/><Relationship Id="rId2" Type="http://schemas.openxmlformats.org/officeDocument/2006/relationships/image" Target="../media/image-7-2.png"/><Relationship Id="rId7" Type="http://schemas.openxmlformats.org/officeDocument/2006/relationships/slideLayout" Target="../slideLayouts/slideLayout1.xml"/><Relationship Id="rId8"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3" Type="http://schemas.openxmlformats.org/officeDocument/2006/relationships/hyperlink" Target="https://www.sgc.gov.co/detallesismo/SGC2026pqqmro/mmi" TargetMode="External"/><Relationship Id="rId4" Type="http://schemas.openxmlformats.org/officeDocument/2006/relationships/hyperlink" Target="https://www.sgc.gov.co/detallesismo/SGC2026pqqmro/mmi" TargetMode="External"/><Relationship Id="rId5" Type="http://schemas.openxmlformats.org/officeDocument/2006/relationships/hyperlink" Target="https://www.sgc.gov.co/detallesismo/SGC2026pqqmro/" TargetMode="External"/><Relationship Id="rId6" Type="http://schemas.openxmlformats.org/officeDocument/2006/relationships/hyperlink" Target="https://earthquake.usgs.gov/earthquakes/eventpage/us6000tjl2/executive" TargetMode="External"/><Relationship Id="rId1" Type="http://schemas.openxmlformats.org/officeDocument/2006/relationships/image" Target="../media/image-8-1.png"/><Relationship Id="rId2" Type="http://schemas.openxmlformats.org/officeDocument/2006/relationships/image" Target="../media/image-8-2.jpg"/><Relationship Id="rId7" Type="http://schemas.openxmlformats.org/officeDocument/2006/relationships/slideLayout" Target="../slideLayouts/slideLayout1.xml"/><Relationship Id="rId8"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3" Type="http://schemas.openxmlformats.org/officeDocument/2006/relationships/hyperlink" Target="https://earthquake.usgs.gov/earthquakes/eventpage/us6000tjl2/pager" TargetMode="External"/><Relationship Id="rId4" Type="http://schemas.openxmlformats.org/officeDocument/2006/relationships/hyperlink" Target="https://earthquake.usgs.gov/earthquakes/eventpage/us6000tjl2/executive" TargetMode="External"/><Relationship Id="rId5" Type="http://schemas.openxmlformats.org/officeDocument/2006/relationships/hyperlink" Target="https://gdacs.org/report.aspx?eventid=1557236&amp;eventtype=EQ" TargetMode="External"/><Relationship Id="rId1" Type="http://schemas.openxmlformats.org/officeDocument/2006/relationships/image" Target="../media/image-9-1.png"/><Relationship Id="rId2" Type="http://schemas.openxmlformats.org/officeDocument/2006/relationships/image" Target="../media/image-9-2.jpg"/><Relationship Id="rId6" Type="http://schemas.openxmlformats.org/officeDocument/2006/relationships/slideLayout" Target="../slideLayouts/slideLayout1.xml"/><Relationship Id="rId7"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2" Type="http://schemas.openxmlformats.org/officeDocument/2006/relationships/hyperlink" Target="https://www.sgc.gov.co/" TargetMode="External"/><Relationship Id="rId3" Type="http://schemas.openxmlformats.org/officeDocument/2006/relationships/hyperlink" Target="https://earthquake.usgs.gov/earthquakes/eventpage/us6000tjl2/executive" TargetMode="External"/><Relationship Id="rId4" Type="http://schemas.openxmlformats.org/officeDocument/2006/relationships/hyperlink" Target="https://www.emsc-csem.org/" TargetMode="External"/><Relationship Id="rId1" Type="http://schemas.openxmlformats.org/officeDocument/2006/relationships/image" Target="../media/image-10-1.png"/><Relationship Id="rId5" Type="http://schemas.openxmlformats.org/officeDocument/2006/relationships/slideLayout" Target="../slideLayouts/slideLayout1.xml"/><Relationship Id="rId6"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3" Type="http://schemas.openxmlformats.org/officeDocument/2006/relationships/hyperlink" Target="https://www.noticiascaracol.com/colombia/en-vivo-colombia-hoy-tras-terremoto-de-magnitud-7-4-continuan-las-labores-de-rescate-so35" TargetMode="External"/><Relationship Id="rId4" Type="http://schemas.openxmlformats.org/officeDocument/2006/relationships/hyperlink" Target="https://rpp.pe/mundo/colombia/abelardo-de-la-espriella-cifra-en-181-los-muertos-por-el-terremoto-59-menos-que-datos-regionales-noticia-1701022" TargetMode="External"/><Relationship Id="rId5" Type="http://schemas.openxmlformats.org/officeDocument/2006/relationships/hyperlink" Target="https://www.eltiempo.com/colombia/otras-ciudades/terremoto-en-colombia-de-7-4-en-vivo-el-comandante-del-ejercito-nacional-se-encuentra-en-choco-coordinando-las-labores-de-atencion-de-la-emergencia-3577491" TargetMode="External"/><Relationship Id="rId6" Type="http://schemas.openxmlformats.org/officeDocument/2006/relationships/hyperlink" Target="https://www.elespectador.com/colombia/mas-regiones/temblor-en-colombia-hoy-10-de-agosto-en-vivo-epicentro-y-reporte-de-afectaciones/" TargetMode="External"/><Relationship Id="rId2" Type="http://schemas.openxmlformats.org/officeDocument/2006/relationships/chart" Target="/ppt/charts/chart2.xml"/><Relationship Id="rId1" Type="http://schemas.openxmlformats.org/officeDocument/2006/relationships/image" Target="../media/image-11-1.png"/><Relationship Id="rId7" Type="http://schemas.openxmlformats.org/officeDocument/2006/relationships/slideLayout" Target="../slideLayouts/slideLayout1.xml"/><Relationship Id="rId8"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2" Type="http://schemas.openxmlformats.org/officeDocument/2006/relationships/hyperlink" Target="https://portal.gestiondelriesgo.gov.co/" TargetMode="External"/><Relationship Id="rId3" Type="http://schemas.openxmlformats.org/officeDocument/2006/relationships/hyperlink" Target="https://colombiaone.com/2026/08/10/earthquake-colombia-official-details/" TargetMode="External"/><Relationship Id="rId4" Type="http://schemas.openxmlformats.org/officeDocument/2006/relationships/hyperlink" Target="https://www.cnn.com/2026/08/10/world/live-news/colombia-earthquake-san-jose-del-palmar" TargetMode="External"/><Relationship Id="rId1" Type="http://schemas.openxmlformats.org/officeDocument/2006/relationships/image" Target="../media/image-12-1.png"/><Relationship Id="rId5" Type="http://schemas.openxmlformats.org/officeDocument/2006/relationships/slideLayout" Target="../slideLayouts/slideLayout1.xml"/><Relationship Id="rId6"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2" Type="http://schemas.openxmlformats.org/officeDocument/2006/relationships/hyperlink" Target="https://portal.gestiondelriesgo.gov.co/" TargetMode="External"/><Relationship Id="rId3" Type="http://schemas.openxmlformats.org/officeDocument/2006/relationships/hyperlink" Target="https://colombiaone.com/2026/08/10/earthquake-colombia-official-details/" TargetMode="External"/><Relationship Id="rId4" Type="http://schemas.openxmlformats.org/officeDocument/2006/relationships/hyperlink" Target="https://www.cnn.com/2026/08/10/world/live-news/colombia-earthquake-san-jose-del-palmar" TargetMode="External"/><Relationship Id="rId1" Type="http://schemas.openxmlformats.org/officeDocument/2006/relationships/image" Target="../media/image-13-1.png"/><Relationship Id="rId5" Type="http://schemas.openxmlformats.org/officeDocument/2006/relationships/slideLayout" Target="../slideLayouts/slideLayout1.xml"/><Relationship Id="rId6"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3" Type="http://schemas.openxmlformats.org/officeDocument/2006/relationships/hyperlink" Target="https://portal.gestiondelriesgo.gov.co/" TargetMode="External"/><Relationship Id="rId5" Type="http://schemas.openxmlformats.org/officeDocument/2006/relationships/hyperlink" Target="https://www.cali.gov.co/gestiondelriesgo/" TargetMode="External"/><Relationship Id="rId6" Type="http://schemas.openxmlformats.org/officeDocument/2006/relationships/hyperlink" Target="https://portal.gestiondelriesgo.gov.co/" TargetMode="External"/><Relationship Id="rId7" Type="http://schemas.openxmlformats.org/officeDocument/2006/relationships/hyperlink" Target="https://colombiaone.com/2026/08/10/colombia-national-disaster/" TargetMode="External"/><Relationship Id="rId8" Type="http://schemas.openxmlformats.org/officeDocument/2006/relationships/hyperlink" Target="https://www.preventionweb.net/publication/colombia-plan-nacional-de-gestion-del-riesgo-de-desastres-pngrd-2015-2030" TargetMode="External"/><Relationship Id="rId1" Type="http://schemas.openxmlformats.org/officeDocument/2006/relationships/image" Target="../media/image-14-1.png"/><Relationship Id="rId2" Type="http://schemas.openxmlformats.org/officeDocument/2006/relationships/image" Target="../media/image-14-2.jpg"/><Relationship Id="rId4" Type="http://schemas.openxmlformats.org/officeDocument/2006/relationships/image" Target="../media/image-14-3.jpg"/><Relationship Id="rId9" Type="http://schemas.openxmlformats.org/officeDocument/2006/relationships/slideLayout" Target="../slideLayouts/slideLayout1.xml"/><Relationship Id="rId10"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2" Type="http://schemas.openxmlformats.org/officeDocument/2006/relationships/hyperlink" Target="https://disasterscharter.org/activations" TargetMode="External"/><Relationship Id="rId3" Type="http://schemas.openxmlformats.org/officeDocument/2006/relationships/hyperlink" Target="https://mapping.emergency.copernicus.eu/activations/EMSR916/" TargetMode="External"/><Relationship Id="rId4" Type="http://schemas.openxmlformats.org/officeDocument/2006/relationships/hyperlink" Target="https://reliefweb.int/country/col" TargetMode="External"/><Relationship Id="rId1" Type="http://schemas.openxmlformats.org/officeDocument/2006/relationships/image" Target="../media/image-15-1.png"/><Relationship Id="rId5" Type="http://schemas.openxmlformats.org/officeDocument/2006/relationships/slideLayout" Target="../slideLayouts/slideLayout1.xml"/><Relationship Id="rId6"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2" Type="http://schemas.openxmlformats.org/officeDocument/2006/relationships/hyperlink" Target="https://disasterscharter.org/activations" TargetMode="External"/><Relationship Id="rId3" Type="http://schemas.openxmlformats.org/officeDocument/2006/relationships/hyperlink" Target="https://mapping.emergency.copernicus.eu/activations/EMSR916/" TargetMode="External"/><Relationship Id="rId4" Type="http://schemas.openxmlformats.org/officeDocument/2006/relationships/hyperlink" Target="https://gdacs.org/report.aspx?eventid=1557236&amp;eventtype=EQ" TargetMode="External"/><Relationship Id="rId1" Type="http://schemas.openxmlformats.org/officeDocument/2006/relationships/image" Target="../media/image-16-1.png"/><Relationship Id="rId5" Type="http://schemas.openxmlformats.org/officeDocument/2006/relationships/slideLayout" Target="../slideLayouts/slideLayout1.xml"/><Relationship Id="rId6"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3" Type="http://schemas.openxmlformats.org/officeDocument/2006/relationships/hyperlink" Target="https://mapping.emergency.copernicus.eu/activations/EMSR916/" TargetMode="External"/><Relationship Id="rId4" Type="http://schemas.openxmlformats.org/officeDocument/2006/relationships/hyperlink" Target="https://mapping.emergency.copernicus.eu/activations/EMSR916/" TargetMode="External"/><Relationship Id="rId5" Type="http://schemas.openxmlformats.org/officeDocument/2006/relationships/hyperlink" Target="https://www.democrata.es/en/international/von-der-leyen-expresses-the-eu-s-support-for-colombia-and-activates-copernicus-after-the-earthquake/" TargetMode="External"/><Relationship Id="rId1" Type="http://schemas.openxmlformats.org/officeDocument/2006/relationships/image" Target="../media/image-17-1.png"/><Relationship Id="rId2" Type="http://schemas.openxmlformats.org/officeDocument/2006/relationships/image" Target="../media/image-17-2.jpg"/><Relationship Id="rId6" Type="http://schemas.openxmlformats.org/officeDocument/2006/relationships/slideLayout" Target="../slideLayouts/slideLayout1.xml"/><Relationship Id="rId7"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2" Type="http://schemas.openxmlformats.org/officeDocument/2006/relationships/hyperlink" Target="https://un-spider.org/national-unit-disaster-risk-management-ungrd-colombia" TargetMode="External"/><Relationship Id="rId3" Type="http://schemas.openxmlformats.org/officeDocument/2006/relationships/hyperlink" Target="https://portal.gestiondelriesgo.gov.co/Paginas/Plan-Nacional-de-Gestion-del-Riesgo.aspx" TargetMode="External"/><Relationship Id="rId4" Type="http://schemas.openxmlformats.org/officeDocument/2006/relationships/hyperlink" Target="https://www.funcionpublica.gov.co/eva/gestornormativo/norma.php?i=191411" TargetMode="External"/><Relationship Id="rId5" Type="http://schemas.openxmlformats.org/officeDocument/2006/relationships/hyperlink" Target="https://satic.cali.gov.co/satic" TargetMode="External"/><Relationship Id="rId1" Type="http://schemas.openxmlformats.org/officeDocument/2006/relationships/image" Target="../media/image-18-1.png"/><Relationship Id="rId6" Type="http://schemas.openxmlformats.org/officeDocument/2006/relationships/slideLayout" Target="../slideLayouts/slideLayout1.xml"/><Relationship Id="rId7"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2" Type="http://schemas.openxmlformats.org/officeDocument/2006/relationships/hyperlink" Target="https://www.globalquakemodel.org/seismic-regulations/colombia" TargetMode="External"/><Relationship Id="rId3" Type="http://schemas.openxmlformats.org/officeDocument/2006/relationships/hyperlink" Target="https://www.preventionweb.net/publication/colombia-plan-nacional-de-gestion-del-riesgo-de-desastres-pngrd-2015-2030" TargetMode="External"/><Relationship Id="rId1" Type="http://schemas.openxmlformats.org/officeDocument/2006/relationships/image" Target="../media/image-19-1.png"/><Relationship Id="rId4" Type="http://schemas.openxmlformats.org/officeDocument/2006/relationships/slideLayout" Target="../slideLayouts/slideLayout1.xml"/><Relationship Id="rId5"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2" Type="http://schemas.openxmlformats.org/officeDocument/2006/relationships/hyperlink" Target="https://www.globalquakemodel.org/proj/treq" TargetMode="External"/><Relationship Id="rId3" Type="http://schemas.openxmlformats.org/officeDocument/2006/relationships/hyperlink" Target="https://cloud-storage.globalquakemodel.org/public/wix-new-website/pdf-collections-wix/publications/TREQ%20deliverables/reports/TREQ_D262_Riesgo_Sismico_Cali_v1.00.pdf" TargetMode="External"/><Relationship Id="rId4" Type="http://schemas.openxmlformats.org/officeDocument/2006/relationships/hyperlink" Target="https://www.cali.gov.co/gestiondelriesgo/" TargetMode="External"/><Relationship Id="rId1" Type="http://schemas.openxmlformats.org/officeDocument/2006/relationships/image" Target="../media/image-20-1.png"/><Relationship Id="rId5" Type="http://schemas.openxmlformats.org/officeDocument/2006/relationships/slideLayout" Target="../slideLayouts/slideLayout1.xml"/><Relationship Id="rId6"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3" Type="http://schemas.openxmlformats.org/officeDocument/2006/relationships/hyperlink" Target="https://github.com/gem/treq-riesgo-urbano" TargetMode="External"/><Relationship Id="rId4" Type="http://schemas.openxmlformats.org/officeDocument/2006/relationships/hyperlink" Target="https://cloud-storage.globalquakemodel.org/public/wix-new-website/pdf-collections-wix/publications/TREQ%20deliverables/reports/TREQ_D262_Riesgo_Sismico_Cali_v1.00.pdf" TargetMode="External"/><Relationship Id="rId5" Type="http://schemas.openxmlformats.org/officeDocument/2006/relationships/hyperlink" Target="https://www.globalquakemodel.org/proj/treq" TargetMode="External"/><Relationship Id="rId1" Type="http://schemas.openxmlformats.org/officeDocument/2006/relationships/image" Target="../media/image-21-1.png"/><Relationship Id="rId2" Type="http://schemas.openxmlformats.org/officeDocument/2006/relationships/image" Target="../media/image-21-2.jpg"/><Relationship Id="rId6" Type="http://schemas.openxmlformats.org/officeDocument/2006/relationships/slideLayout" Target="../slideLayouts/slideLayout1.xml"/><Relationship Id="rId7"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3" Type="http://schemas.openxmlformats.org/officeDocument/2006/relationships/hyperlink" Target="https://amenazasismica.sgc.gov.co/" TargetMode="External"/><Relationship Id="rId4" Type="http://schemas.openxmlformats.org/officeDocument/2006/relationships/hyperlink" Target="https://earthquake.usgs.gov/earthquakes/eventpage/us6000tjl2/executive" TargetMode="External"/><Relationship Id="rId5" Type="http://schemas.openxmlformats.org/officeDocument/2006/relationships/hyperlink" Target="https://www.sgc.gov.co/" TargetMode="External"/><Relationship Id="rId6" Type="http://schemas.openxmlformats.org/officeDocument/2006/relationships/hyperlink" Target="https://www.globalquakemodel.org/proj/treq" TargetMode="External"/><Relationship Id="rId1" Type="http://schemas.openxmlformats.org/officeDocument/2006/relationships/image" Target="../media/image-22-1.png"/><Relationship Id="rId2" Type="http://schemas.openxmlformats.org/officeDocument/2006/relationships/image" Target="../media/image-22-2.jpg"/><Relationship Id="rId7" Type="http://schemas.openxmlformats.org/officeDocument/2006/relationships/slideLayout" Target="../slideLayouts/slideLayout1.xml"/><Relationship Id="rId8"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2" Type="http://schemas.openxmlformats.org/officeDocument/2006/relationships/hyperlink" Target="https://portal.gestiondelriesgo.gov.co/" TargetMode="External"/><Relationship Id="rId3" Type="http://schemas.openxmlformats.org/officeDocument/2006/relationships/hyperlink" Target="https://earthquake.usgs.gov/earthquakes/eventpage/us6000tjl2/executive" TargetMode="External"/><Relationship Id="rId4" Type="http://schemas.openxmlformats.org/officeDocument/2006/relationships/hyperlink" Target="https://reliefweb.int/country/col" TargetMode="External"/><Relationship Id="rId1" Type="http://schemas.openxmlformats.org/officeDocument/2006/relationships/image" Target="../media/image-23-1.png"/><Relationship Id="rId5" Type="http://schemas.openxmlformats.org/officeDocument/2006/relationships/slideLayout" Target="../slideLayouts/slideLayout1.xml"/><Relationship Id="rId6"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2" Type="http://schemas.openxmlformats.org/officeDocument/2006/relationships/hyperlink" Target="https://earthquake.usgs.gov/earthquakes/eventpage/us6000tjl2/executive" TargetMode="External"/><Relationship Id="rId3" Type="http://schemas.openxmlformats.org/officeDocument/2006/relationships/hyperlink" Target="https://www.sgc.gov.co/" TargetMode="External"/><Relationship Id="rId4" Type="http://schemas.openxmlformats.org/officeDocument/2006/relationships/hyperlink" Target="https://www.sgc.gov.co/detallesismo/SGC2026pqqmro/" TargetMode="External"/><Relationship Id="rId5" Type="http://schemas.openxmlformats.org/officeDocument/2006/relationships/hyperlink" Target="https://www.sgc.gov.co/detallesismo/SGC2026pqqmro/mmi" TargetMode="External"/><Relationship Id="rId6" Type="http://schemas.openxmlformats.org/officeDocument/2006/relationships/hyperlink" Target="https://portal.gestiondelriesgo.gov.co/" TargetMode="External"/><Relationship Id="rId7" Type="http://schemas.openxmlformats.org/officeDocument/2006/relationships/hyperlink" Target="https://gdacs.org/report.aspx?eventid=1557236&amp;eventtype=EQ" TargetMode="External"/><Relationship Id="rId8" Type="http://schemas.openxmlformats.org/officeDocument/2006/relationships/hyperlink" Target="https://disasterscharter.org/activations" TargetMode="External"/><Relationship Id="rId9" Type="http://schemas.openxmlformats.org/officeDocument/2006/relationships/hyperlink" Target="https://mapping.emergency.copernicus.eu/activations/EMSR916/" TargetMode="External"/><Relationship Id="rId10" Type="http://schemas.openxmlformats.org/officeDocument/2006/relationships/hyperlink" Target="https://reliefweb.int/country/col" TargetMode="External"/><Relationship Id="rId11" Type="http://schemas.openxmlformats.org/officeDocument/2006/relationships/hyperlink" Target="https://www.paho.org/en/colombia" TargetMode="External"/><Relationship Id="rId12" Type="http://schemas.openxmlformats.org/officeDocument/2006/relationships/hyperlink" Target="https://www.preventionweb.net/publication/colombia-plan-nacional-de-gestion-del-riesgo-de-desastres-pngrd-2015-2030" TargetMode="External"/><Relationship Id="rId13" Type="http://schemas.openxmlformats.org/officeDocument/2006/relationships/hyperlink" Target="https://www.globalquakemodel.org/seismic-regulations/colombia" TargetMode="External"/><Relationship Id="rId14" Type="http://schemas.openxmlformats.org/officeDocument/2006/relationships/hyperlink" Target="https://www.cnn.com/2026/08/10/world/live-news/colombia-earthquake-san-jose-del-palmar" TargetMode="External"/><Relationship Id="rId15" Type="http://schemas.openxmlformats.org/officeDocument/2006/relationships/hyperlink" Target="https://www.elcolombiano.com/colombia/terremoto-temblor-hoy-colombia-choco-heridos-FL39761141" TargetMode="External"/><Relationship Id="rId16" Type="http://schemas.openxmlformats.org/officeDocument/2006/relationships/hyperlink" Target="https://un-spider.org/national-unit-disaster-risk-management-ungrd-colombia" TargetMode="External"/><Relationship Id="rId1" Type="http://schemas.openxmlformats.org/officeDocument/2006/relationships/image" Target="../media/image-24-1.png"/><Relationship Id="rId17" Type="http://schemas.openxmlformats.org/officeDocument/2006/relationships/slideLayout" Target="../slideLayouts/slideLayout1.xml"/><Relationship Id="rId18"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2" Type="http://schemas.openxmlformats.org/officeDocument/2006/relationships/hyperlink" Target="https://www.oecd.org/en/publications/risk-governance-scan-of-colombia_eeb81954-en.html" TargetMode="External"/><Relationship Id="rId3" Type="http://schemas.openxmlformats.org/officeDocument/2006/relationships/hyperlink" Target="https://www.cnn.com/2026/08/10/world/live-news/colombia-earthquake-san-jose-del-palmar" TargetMode="External"/><Relationship Id="rId4" Type="http://schemas.openxmlformats.org/officeDocument/2006/relationships/hyperlink" Target="https://www.france24.com/en/americas/20260810-powerful-quake-rocks-colombia-causing-major-damage" TargetMode="External"/><Relationship Id="rId5" Type="http://schemas.openxmlformats.org/officeDocument/2006/relationships/hyperlink" Target="https://www.aljazeera.com/news/2026/8/10/7-4-magnitude-earthquake-hits-colombia-killing-at-least-20" TargetMode="External"/><Relationship Id="rId6" Type="http://schemas.openxmlformats.org/officeDocument/2006/relationships/hyperlink" Target="https://www.cbsnews.com/news/colombia-earthquake-western-region-evacuations/" TargetMode="External"/><Relationship Id="rId7" Type="http://schemas.openxmlformats.org/officeDocument/2006/relationships/hyperlink" Target="https://www.nbcnews.com/world/latin-america/strong-earthquake-colombia-ecuador-people-evacuating-homes-buildings-rcna591709" TargetMode="External"/><Relationship Id="rId8" Type="http://schemas.openxmlformats.org/officeDocument/2006/relationships/hyperlink" Target="https://colombiaone.com/2026/08/10/earthquake-colombia-official-details/" TargetMode="External"/><Relationship Id="rId9" Type="http://schemas.openxmlformats.org/officeDocument/2006/relationships/hyperlink" Target="https://colombiaone.com/2026/08/10/colombia-national-disaster/" TargetMode="External"/><Relationship Id="rId10" Type="http://schemas.openxmlformats.org/officeDocument/2006/relationships/hyperlink" Target="https://www.infobae.com/colombia/2026/08/10/por-que-el-temblor-en-colombia-de-este-lunes-10-de-agosto-duro-una-eternidad-el-servicio-geologico-explico-que-paso/" TargetMode="External"/><Relationship Id="rId11" Type="http://schemas.openxmlformats.org/officeDocument/2006/relationships/hyperlink" Target="https://www3.nhk.or.jp/news/" TargetMode="External"/><Relationship Id="rId12" Type="http://schemas.openxmlformats.org/officeDocument/2006/relationships/hyperlink" Target="https://www.nikkei.com/article/DGXZQOGN108V30Q6A810C2000000/" TargetMode="External"/><Relationship Id="rId13" Type="http://schemas.openxmlformats.org/officeDocument/2006/relationships/hyperlink" Target="https://www.jiji.com/jc/article?k=2026081000878&amp;g=int" TargetMode="External"/><Relationship Id="rId14" Type="http://schemas.openxmlformats.org/officeDocument/2006/relationships/hyperlink" Target="https://www.savethechildren.org/us/about-us/media-and-news/2026-press-releases/children-at-risk-after-earthquake-strikes-colombia" TargetMode="External"/><Relationship Id="rId15" Type="http://schemas.openxmlformats.org/officeDocument/2006/relationships/hyperlink" Target="https://www.directrelief.org/2026/08/colombia-earthquake-7-4-magnitude-direct-relief-response/" TargetMode="External"/><Relationship Id="rId16" Type="http://schemas.openxmlformats.org/officeDocument/2006/relationships/hyperlink" Target="https://www.americares.org/crisis-alerts/colombia-earthquake-august-2026/" TargetMode="External"/><Relationship Id="rId17" Type="http://schemas.openxmlformats.org/officeDocument/2006/relationships/hyperlink" Target="https://glidenumber.net/" TargetMode="External"/><Relationship Id="rId1" Type="http://schemas.openxmlformats.org/officeDocument/2006/relationships/image" Target="../media/image-25-1.png"/><Relationship Id="rId18" Type="http://schemas.openxmlformats.org/officeDocument/2006/relationships/slideLayout" Target="../slideLayouts/slideLayout1.xml"/><Relationship Id="rId19"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2" Type="http://schemas.openxmlformats.org/officeDocument/2006/relationships/hyperlink" Target="https://www.adrc.asia/" TargetMode="External"/><Relationship Id="rId3" Type="http://schemas.openxmlformats.org/officeDocument/2006/relationships/hyperlink" Target="https://www.democrata.es/en/international/von-der-leyen-expresses-the-eu-s-support-for-colombia-and-activates-copernicus-after-the-earthquake/" TargetMode="External"/><Relationship Id="rId4" Type="http://schemas.openxmlformats.org/officeDocument/2006/relationships/hyperlink" Target="https://www.globalquakemodel.org/proj/treq" TargetMode="External"/><Relationship Id="rId5" Type="http://schemas.openxmlformats.org/officeDocument/2006/relationships/hyperlink" Target="https://cloud-storage.globalquakemodel.org/public/wix-new-website/pdf-collections-wix/publications/TREQ%20deliverables/reports/TREQ_D262_Riesgo_Sismico_Cali_v1.00.pdf" TargetMode="External"/><Relationship Id="rId6" Type="http://schemas.openxmlformats.org/officeDocument/2006/relationships/hyperlink" Target="https://www.sciencedirect.com/science/article/abs/pii/S2212420925003097" TargetMode="External"/><Relationship Id="rId7" Type="http://schemas.openxmlformats.org/officeDocument/2006/relationships/hyperlink" Target="https://satic.cali.gov.co/satic" TargetMode="External"/><Relationship Id="rId8" Type="http://schemas.openxmlformats.org/officeDocument/2006/relationships/hyperlink" Target="https://www.cali.gov.co/gestiondelriesgo/" TargetMode="External"/><Relationship Id="rId9" Type="http://schemas.openxmlformats.org/officeDocument/2006/relationships/hyperlink" Target="https://portal.gestiondelriesgo.gov.co/Paginas/Plan-Nacional-de-Gestion-del-Riesgo.aspx" TargetMode="External"/><Relationship Id="rId10" Type="http://schemas.openxmlformats.org/officeDocument/2006/relationships/hyperlink" Target="https://www.funcionpublica.gov.co/eva/gestornormativo/norma.php?i=191411" TargetMode="External"/><Relationship Id="rId11" Type="http://schemas.openxmlformats.org/officeDocument/2006/relationships/hyperlink" Target="https://www.emsc-csem.org/" TargetMode="External"/><Relationship Id="rId12" Type="http://schemas.openxmlformats.org/officeDocument/2006/relationships/hyperlink" Target="https://catalogosismico.sgc.gov.co/visor/index.html" TargetMode="External"/><Relationship Id="rId13" Type="http://schemas.openxmlformats.org/officeDocument/2006/relationships/hyperlink" Target="https://www.eltiempo.com/colombia/otras-ciudades/terremoto-en-colombia-de-7-4-en-vivo-el-comandante-del-ejercito-nacional-se-encuentra-en-choco-coordinando-las-labores-de-atencion-de-la-emergencia-3577491" TargetMode="External"/><Relationship Id="rId14" Type="http://schemas.openxmlformats.org/officeDocument/2006/relationships/hyperlink" Target="https://www.elespectador.com/colombia/mas-regiones/temblor-en-colombia-hoy-10-de-agosto-en-vivo-epicentro-y-reporte-de-afectaciones/" TargetMode="External"/><Relationship Id="rId15" Type="http://schemas.openxmlformats.org/officeDocument/2006/relationships/hyperlink" Target="https://www.noticiascaracol.com/colombia/en-vivo-colombia-hoy-tras-terremoto-de-magnitud-7-4-continuan-las-labores-de-rescate-so35" TargetMode="External"/><Relationship Id="rId16" Type="http://schemas.openxmlformats.org/officeDocument/2006/relationships/hyperlink" Target="https://rpp.pe/mundo/colombia/abelardo-de-la-espriella-cifra-en-181-los-muertos-por-el-terremoto-59-menos-que-datos-regionales-noticia-1701022" TargetMode="External"/><Relationship Id="rId1" Type="http://schemas.openxmlformats.org/officeDocument/2006/relationships/image" Target="../media/image-26-1.png"/><Relationship Id="rId17" Type="http://schemas.openxmlformats.org/officeDocument/2006/relationships/slideLayout" Target="../slideLayouts/slideLayout1.xml"/><Relationship Id="rId18"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2" Type="http://schemas.openxmlformats.org/officeDocument/2006/relationships/hyperlink" Target="https://www.adrc.asia/" TargetMode="External"/><Relationship Id="rId1" Type="http://schemas.openxmlformats.org/officeDocument/2006/relationships/image" Target="../media/image-27-1.png"/><Relationship Id="rId3" Type="http://schemas.openxmlformats.org/officeDocument/2006/relationships/slideLayout" Target="../slideLayouts/slideLayout1.xml"/><Relationship Id="rId4" Type="http://schemas.openxmlformats.org/officeDocument/2006/relationships/notesSlide" Target="../notesSlides/notesSlide27.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FFFFFF"/>
        </a:solidFill>
      </p:bgPr>
    </p:bg>
    <p:spTree>
      <p:nvGrpSpPr>
        <p:cNvPr id="1" name=""/>
        <p:cNvGrpSpPr/>
        <p:nvPr/>
      </p:nvGrpSpPr>
      <p:grpSpPr>
        <a:xfrm>
          <a:off x="0" y="0"/>
          <a:ext cx="0" cy="0"/>
          <a:chOff x="0" y="0"/>
          <a:chExt cx="0" cy="0"/>
        </a:xfrm>
      </p:grpSpPr>
      <p:pic>
        <p:nvPicPr>
          <p:cNvPr id="2" name="Image 0" descr="/home/user/whatsmap/reports/colombia_eq_20260810/images/adrc_logo.png">    </p:cNvPr>
          <p:cNvPicPr>
            <a:picLocks noChangeAspect="1"/>
          </p:cNvPicPr>
          <p:nvPr/>
        </p:nvPicPr>
        <p:blipFill>
          <a:blip r:embed="rId1"/>
          <a:stretch>
            <a:fillRect/>
          </a:stretch>
        </p:blipFill>
        <p:spPr>
          <a:xfrm>
            <a:off x="10954512" y="182880"/>
            <a:ext cx="896112" cy="896112"/>
          </a:xfrm>
          <a:prstGeom prst="rect">
            <a:avLst/>
          </a:prstGeom>
        </p:spPr>
      </p:pic>
      <p:sp>
        <p:nvSpPr>
          <p:cNvPr id="3" name="Text 0"/>
          <p:cNvSpPr/>
          <p:nvPr/>
        </p:nvSpPr>
        <p:spPr>
          <a:xfrm>
            <a:off x="365760" y="256032"/>
            <a:ext cx="5486400" cy="274320"/>
          </a:xfrm>
          <a:prstGeom prst="rect">
            <a:avLst/>
          </a:prstGeom>
          <a:noFill/>
          <a:ln/>
        </p:spPr>
        <p:txBody>
          <a:bodyPr wrap="square" rtlCol="0" anchor="ctr"/>
          <a:lstStyle/>
          <a:p>
            <a:pPr indent="0" marL="0">
              <a:buNone/>
            </a:pPr>
            <a:r>
              <a:rPr lang="en-US" sz="1100" i="1" dirty="0">
                <a:solidFill>
                  <a:srgbClr val="6A6A6A"/>
                </a:solidFill>
                <a:latin typeface="Calibri" pitchFamily="34" charset="0"/>
                <a:ea typeface="Calibri" pitchFamily="34" charset="-122"/>
                <a:cs typeface="Calibri" pitchFamily="34" charset="-120"/>
              </a:rPr>
              <a:t>Disaster Report</a:t>
            </a:r>
            <a:endParaRPr lang="en-US" sz="1100" dirty="0"/>
          </a:p>
        </p:txBody>
      </p:sp>
      <p:sp>
        <p:nvSpPr>
          <p:cNvPr id="4" name="Text 1"/>
          <p:cNvSpPr/>
          <p:nvPr/>
        </p:nvSpPr>
        <p:spPr>
          <a:xfrm>
            <a:off x="457200" y="566928"/>
            <a:ext cx="11274552" cy="566928"/>
          </a:xfrm>
          <a:prstGeom prst="rect">
            <a:avLst/>
          </a:prstGeom>
          <a:noFill/>
          <a:ln/>
        </p:spPr>
        <p:txBody>
          <a:bodyPr wrap="square" rtlCol="0" anchor="ctr"/>
          <a:lstStyle/>
          <a:p>
            <a:pPr algn="ctr" indent="0" marL="0">
              <a:buNone/>
            </a:pPr>
            <a:r>
              <a:rPr lang="en-US" sz="2600" b="1" dirty="0">
                <a:solidFill>
                  <a:srgbClr val="111111"/>
                </a:solidFill>
                <a:latin typeface="Cambria" pitchFamily="34" charset="0"/>
                <a:ea typeface="Cambria" pitchFamily="34" charset="-122"/>
                <a:cs typeface="Cambria" pitchFamily="34" charset="-120"/>
              </a:rPr>
              <a:t>2026 Chocó Earthquake (Colombia)</a:t>
            </a:r>
            <a:endParaRPr lang="en-US" sz="2600" dirty="0"/>
          </a:p>
        </p:txBody>
      </p:sp>
      <p:sp>
        <p:nvSpPr>
          <p:cNvPr id="5" name="Text 2"/>
          <p:cNvSpPr/>
          <p:nvPr/>
        </p:nvSpPr>
        <p:spPr>
          <a:xfrm>
            <a:off x="457200" y="1115568"/>
            <a:ext cx="11274552" cy="292608"/>
          </a:xfrm>
          <a:prstGeom prst="rect">
            <a:avLst/>
          </a:prstGeom>
          <a:noFill/>
          <a:ln/>
        </p:spPr>
        <p:txBody>
          <a:bodyPr wrap="square" rtlCol="0" anchor="ctr"/>
          <a:lstStyle/>
          <a:p>
            <a:pPr algn="ctr" indent="0" marL="0">
              <a:buNone/>
            </a:pPr>
            <a:r>
              <a:rPr lang="en-US" sz="1300" dirty="0">
                <a:solidFill>
                  <a:srgbClr val="222222"/>
                </a:solidFill>
                <a:latin typeface="Calibri" pitchFamily="34" charset="0"/>
                <a:ea typeface="Calibri" pitchFamily="34" charset="-122"/>
                <a:cs typeface="Calibri" pitchFamily="34" charset="-120"/>
              </a:rPr>
              <a:t>M7.4, San José del Palmar, Chocó Department - 10 August 2026</a:t>
            </a:r>
            <a:endParaRPr lang="en-US" sz="1300" dirty="0"/>
          </a:p>
        </p:txBody>
      </p:sp>
      <p:sp>
        <p:nvSpPr>
          <p:cNvPr id="6" name="Text 3"/>
          <p:cNvSpPr/>
          <p:nvPr/>
        </p:nvSpPr>
        <p:spPr>
          <a:xfrm>
            <a:off x="457200" y="1408176"/>
            <a:ext cx="11274552" cy="274320"/>
          </a:xfrm>
          <a:prstGeom prst="rect">
            <a:avLst/>
          </a:prstGeom>
          <a:noFill/>
          <a:ln/>
        </p:spPr>
        <p:txBody>
          <a:bodyPr wrap="square" rtlCol="0" anchor="ctr"/>
          <a:lstStyle/>
          <a:p>
            <a:pPr algn="ctr" indent="0" marL="0">
              <a:buNone/>
            </a:pPr>
            <a:r>
              <a:rPr lang="en-US" sz="1150" dirty="0">
                <a:solidFill>
                  <a:srgbClr val="6A6A6A"/>
                </a:solidFill>
                <a:latin typeface="Calibri" pitchFamily="34" charset="0"/>
                <a:ea typeface="Calibri" pitchFamily="34" charset="-122"/>
                <a:cs typeface="Calibri" pitchFamily="34" charset="-120"/>
              </a:rPr>
              <a:t>Mww 7.4   ·   depth 110 km   ·   MMI VII (Very strong) — USGS ShakeMap; the SGC macroseismic intensity map agrees   ·   GLIDE EQ-2026-000146-COL</a:t>
            </a:r>
            <a:endParaRPr lang="en-US" sz="1150" dirty="0"/>
          </a:p>
        </p:txBody>
      </p:sp>
      <p:sp>
        <p:nvSpPr>
          <p:cNvPr id="7" name="Shape 4"/>
          <p:cNvSpPr/>
          <p:nvPr/>
        </p:nvSpPr>
        <p:spPr>
          <a:xfrm>
            <a:off x="365760" y="1755648"/>
            <a:ext cx="11457432" cy="0"/>
          </a:xfrm>
          <a:prstGeom prst="line">
            <a:avLst/>
          </a:prstGeom>
          <a:noFill/>
          <a:ln w="12700">
            <a:solidFill>
              <a:srgbClr val="D9D9D9"/>
            </a:solidFill>
            <a:prstDash val="solid"/>
          </a:ln>
        </p:spPr>
      </p:sp>
      <p:sp>
        <p:nvSpPr>
          <p:cNvPr id="8" name="Text 5"/>
          <p:cNvSpPr/>
          <p:nvPr/>
        </p:nvSpPr>
        <p:spPr>
          <a:xfrm>
            <a:off x="365760" y="1700784"/>
            <a:ext cx="3712464" cy="219456"/>
          </a:xfrm>
          <a:prstGeom prst="rect">
            <a:avLst/>
          </a:prstGeom>
          <a:noFill/>
          <a:ln/>
        </p:spPr>
        <p:txBody>
          <a:bodyPr wrap="square" lIns="0" tIns="0" rIns="0" bIns="0" rtlCol="0" anchor="ctr"/>
          <a:lstStyle/>
          <a:p>
            <a:pPr algn="l" indent="0" marL="0">
              <a:buNone/>
            </a:pPr>
            <a:r>
              <a:rPr lang="en-US" sz="1000" b="1" dirty="0">
                <a:solidFill>
                  <a:srgbClr val="1F3864"/>
                </a:solidFill>
                <a:latin typeface="Calibri" pitchFamily="34" charset="0"/>
                <a:ea typeface="Calibri" pitchFamily="34" charset="-122"/>
                <a:cs typeface="Calibri" pitchFamily="34" charset="-120"/>
              </a:rPr>
              <a:t>(1) World / Colombia</a:t>
            </a:r>
            <a:endParaRPr lang="en-US" sz="1000" dirty="0"/>
          </a:p>
        </p:txBody>
      </p:sp>
      <p:sp>
        <p:nvSpPr>
          <p:cNvPr id="9" name="Shape 6"/>
          <p:cNvSpPr/>
          <p:nvPr/>
        </p:nvSpPr>
        <p:spPr>
          <a:xfrm>
            <a:off x="365760" y="1938528"/>
            <a:ext cx="3712464" cy="2487168"/>
          </a:xfrm>
          <a:prstGeom prst="rect">
            <a:avLst/>
          </a:prstGeom>
          <a:solidFill>
            <a:srgbClr val="F7F7F7"/>
          </a:solidFill>
          <a:ln w="9525">
            <a:solidFill>
              <a:srgbClr val="D9D9D9"/>
            </a:solidFill>
            <a:prstDash val="solid"/>
          </a:ln>
        </p:spPr>
      </p:sp>
      <p:pic>
        <p:nvPicPr>
          <p:cNvPr id="10" name="Image 1" descr="/home/user/whatsmap/reports/colombia_eq_20260810/images/locator_world_manual.jpg">    </p:cNvPr>
          <p:cNvPicPr>
            <a:picLocks noChangeAspect="1"/>
          </p:cNvPicPr>
          <p:nvPr/>
        </p:nvPicPr>
        <p:blipFill>
          <a:blip r:embed="rId2"/>
          <a:stretch>
            <a:fillRect/>
          </a:stretch>
        </p:blipFill>
        <p:spPr>
          <a:xfrm>
            <a:off x="723410" y="1975104"/>
            <a:ext cx="2997165" cy="2414016"/>
          </a:xfrm>
          <a:prstGeom prst="rect">
            <a:avLst/>
          </a:prstGeom>
        </p:spPr>
      </p:pic>
      <p:sp>
        <p:nvSpPr>
          <p:cNvPr id="11" name="Text 7"/>
          <p:cNvSpPr/>
          <p:nvPr/>
        </p:nvSpPr>
        <p:spPr>
          <a:xfrm>
            <a:off x="4334256" y="1700784"/>
            <a:ext cx="3712464" cy="219456"/>
          </a:xfrm>
          <a:prstGeom prst="rect">
            <a:avLst/>
          </a:prstGeom>
          <a:noFill/>
          <a:ln/>
        </p:spPr>
        <p:txBody>
          <a:bodyPr wrap="square" lIns="0" tIns="0" rIns="0" bIns="0" rtlCol="0" anchor="ctr"/>
          <a:lstStyle/>
          <a:p>
            <a:pPr algn="l" indent="0" marL="0">
              <a:buNone/>
            </a:pPr>
            <a:r>
              <a:rPr lang="en-US" sz="1000" b="1" dirty="0">
                <a:solidFill>
                  <a:srgbClr val="1F3864"/>
                </a:solidFill>
                <a:latin typeface="Calibri" pitchFamily="34" charset="0"/>
                <a:ea typeface="Calibri" pitchFamily="34" charset="-122"/>
                <a:cs typeface="Calibri" pitchFamily="34" charset="-120"/>
              </a:rPr>
              <a:t>(2) NW South America</a:t>
            </a:r>
            <a:endParaRPr lang="en-US" sz="1000" dirty="0"/>
          </a:p>
        </p:txBody>
      </p:sp>
      <p:sp>
        <p:nvSpPr>
          <p:cNvPr id="12" name="Shape 8"/>
          <p:cNvSpPr/>
          <p:nvPr/>
        </p:nvSpPr>
        <p:spPr>
          <a:xfrm>
            <a:off x="4334256" y="1938528"/>
            <a:ext cx="3712464" cy="2487168"/>
          </a:xfrm>
          <a:prstGeom prst="rect">
            <a:avLst/>
          </a:prstGeom>
          <a:solidFill>
            <a:srgbClr val="F7F7F7"/>
          </a:solidFill>
          <a:ln w="9525">
            <a:solidFill>
              <a:srgbClr val="D9D9D9"/>
            </a:solidFill>
            <a:prstDash val="solid"/>
          </a:ln>
        </p:spPr>
      </p:sp>
      <p:pic>
        <p:nvPicPr>
          <p:cNvPr id="13" name="Image 2" descr="/home/user/whatsmap/reports/colombia_eq_20260810/images/locator_region_manual.jpg">    </p:cNvPr>
          <p:cNvPicPr>
            <a:picLocks noChangeAspect="1"/>
          </p:cNvPicPr>
          <p:nvPr/>
        </p:nvPicPr>
        <p:blipFill>
          <a:blip r:embed="rId3"/>
          <a:stretch>
            <a:fillRect/>
          </a:stretch>
        </p:blipFill>
        <p:spPr>
          <a:xfrm>
            <a:off x="5119058" y="1975104"/>
            <a:ext cx="2142859" cy="2414016"/>
          </a:xfrm>
          <a:prstGeom prst="rect">
            <a:avLst/>
          </a:prstGeom>
        </p:spPr>
      </p:pic>
      <p:sp>
        <p:nvSpPr>
          <p:cNvPr id="14" name="Text 9"/>
          <p:cNvSpPr/>
          <p:nvPr/>
        </p:nvSpPr>
        <p:spPr>
          <a:xfrm>
            <a:off x="8302752" y="1700784"/>
            <a:ext cx="3712464" cy="219456"/>
          </a:xfrm>
          <a:prstGeom prst="rect">
            <a:avLst/>
          </a:prstGeom>
          <a:noFill/>
          <a:ln/>
        </p:spPr>
        <p:txBody>
          <a:bodyPr wrap="square" lIns="0" tIns="0" rIns="0" bIns="0" rtlCol="0" anchor="ctr"/>
          <a:lstStyle/>
          <a:p>
            <a:pPr algn="l" indent="0" marL="0">
              <a:buNone/>
            </a:pPr>
            <a:r>
              <a:rPr lang="en-US" sz="1000" b="1" dirty="0">
                <a:solidFill>
                  <a:srgbClr val="1F3864"/>
                </a:solidFill>
                <a:latin typeface="Calibri" pitchFamily="34" charset="0"/>
                <a:ea typeface="Calibri" pitchFamily="34" charset="-122"/>
                <a:cs typeface="Calibri" pitchFamily="34" charset="-120"/>
              </a:rPr>
              <a:t>(3) Epicentre &amp; affected cities</a:t>
            </a:r>
            <a:endParaRPr lang="en-US" sz="1000" dirty="0"/>
          </a:p>
        </p:txBody>
      </p:sp>
      <p:sp>
        <p:nvSpPr>
          <p:cNvPr id="15" name="Shape 10"/>
          <p:cNvSpPr/>
          <p:nvPr/>
        </p:nvSpPr>
        <p:spPr>
          <a:xfrm>
            <a:off x="8302752" y="1938528"/>
            <a:ext cx="3712464" cy="2487168"/>
          </a:xfrm>
          <a:prstGeom prst="rect">
            <a:avLst/>
          </a:prstGeom>
          <a:solidFill>
            <a:srgbClr val="F7F7F7"/>
          </a:solidFill>
          <a:ln w="9525">
            <a:solidFill>
              <a:srgbClr val="D9D9D9"/>
            </a:solidFill>
            <a:prstDash val="solid"/>
          </a:ln>
        </p:spPr>
      </p:sp>
      <p:pic>
        <p:nvPicPr>
          <p:cNvPr id="16" name="Image 3" descr="/home/user/whatsmap/reports/colombia_eq_20260810/images/locator_epicentre_manual.jpg">    </p:cNvPr>
          <p:cNvPicPr>
            <a:picLocks noChangeAspect="1"/>
          </p:cNvPicPr>
          <p:nvPr/>
        </p:nvPicPr>
        <p:blipFill>
          <a:blip r:embed="rId4"/>
          <a:stretch>
            <a:fillRect/>
          </a:stretch>
        </p:blipFill>
        <p:spPr>
          <a:xfrm>
            <a:off x="8339328" y="2121025"/>
            <a:ext cx="3639312" cy="2122174"/>
          </a:xfrm>
          <a:prstGeom prst="rect">
            <a:avLst/>
          </a:prstGeom>
        </p:spPr>
      </p:pic>
      <p:sp>
        <p:nvSpPr>
          <p:cNvPr id="17" name="Text 11"/>
          <p:cNvSpPr/>
          <p:nvPr/>
        </p:nvSpPr>
        <p:spPr>
          <a:xfrm>
            <a:off x="365760" y="4462272"/>
            <a:ext cx="11430000" cy="201168"/>
          </a:xfrm>
          <a:prstGeom prst="rect">
            <a:avLst/>
          </a:prstGeom>
          <a:noFill/>
          <a:ln/>
        </p:spPr>
        <p:txBody>
          <a:bodyPr wrap="square" lIns="0" tIns="0" rIns="0" bIns="0" rtlCol="0" anchor="ctr"/>
          <a:lstStyle/>
          <a:p>
            <a:pPr algn="l" indent="0" marL="0">
              <a:buNone/>
            </a:pPr>
            <a:r>
              <a:rPr lang="en-US" sz="750" i="1" dirty="0">
                <a:solidFill>
                  <a:srgbClr val="6A6A6A"/>
                </a:solidFill>
                <a:latin typeface="Calibri" pitchFamily="34" charset="0"/>
                <a:ea typeface="Calibri" pitchFamily="34" charset="-122"/>
                <a:cs typeface="Calibri" pitchFamily="34" charset="-120"/>
              </a:rPr>
              <a:t>Locator maps © Google (Google Maps). Distances shown on later pages are computed from the published USGS coordinates.</a:t>
            </a:r>
            <a:endParaRPr lang="en-US" sz="750" dirty="0"/>
          </a:p>
        </p:txBody>
      </p:sp>
      <p:sp>
        <p:nvSpPr>
          <p:cNvPr id="18" name="Shape 12"/>
          <p:cNvSpPr/>
          <p:nvPr/>
        </p:nvSpPr>
        <p:spPr>
          <a:xfrm>
            <a:off x="0" y="4663440"/>
            <a:ext cx="12188952" cy="1499616"/>
          </a:xfrm>
          <a:prstGeom prst="rect">
            <a:avLst/>
          </a:prstGeom>
          <a:solidFill>
            <a:srgbClr val="262626"/>
          </a:solidFill>
          <a:ln w="12700">
            <a:solidFill>
              <a:srgbClr val="333333"/>
            </a:solidFill>
            <a:prstDash val="solid"/>
          </a:ln>
        </p:spPr>
      </p:sp>
      <p:sp>
        <p:nvSpPr>
          <p:cNvPr id="19" name="Text 13"/>
          <p:cNvSpPr/>
          <p:nvPr/>
        </p:nvSpPr>
        <p:spPr>
          <a:xfrm>
            <a:off x="457200" y="4745736"/>
            <a:ext cx="11274552" cy="1335024"/>
          </a:xfrm>
          <a:prstGeom prst="rect">
            <a:avLst/>
          </a:prstGeom>
          <a:noFill/>
          <a:ln/>
        </p:spPr>
        <p:txBody>
          <a:bodyPr wrap="square" lIns="38100" tIns="38100" rIns="38100" bIns="38100" rtlCol="0" anchor="t"/>
          <a:lstStyle/>
          <a:p>
            <a:pPr algn="l" indent="0" marL="0">
              <a:buNone/>
            </a:pPr>
            <a:r>
              <a:rPr lang="en-US" sz="1150" b="1" dirty="0">
                <a:solidFill>
                  <a:srgbClr val="FFC000"/>
                </a:solidFill>
                <a:latin typeface="Calibri" pitchFamily="34" charset="0"/>
                <a:ea typeface="Calibri" pitchFamily="34" charset="-122"/>
                <a:cs typeface="Calibri" pitchFamily="34" charset="-120"/>
              </a:rPr>
              <a:t>Overview   </a:t>
            </a:r>
            <a:pPr algn="l" indent="0" marL="0">
              <a:buNone/>
            </a:pPr>
            <a:r>
              <a:rPr lang="en-US" sz="870" dirty="0">
                <a:solidFill>
                  <a:srgbClr val="FFFFFF"/>
                </a:solidFill>
                <a:latin typeface="Calibri" pitchFamily="34" charset="0"/>
                <a:ea typeface="Calibri" pitchFamily="34" charset="-122"/>
                <a:cs typeface="Calibri" pitchFamily="34" charset="-120"/>
              </a:rPr>
              <a:t>At 07:34 local time (12:34 UTC) on 10 August 2026, an Mww 7.4 earthquake struck western Colombia with its epicentre 5 km east of San José del Palmar in Chocó Department, at a depth of about 110 km (USGS). The event was an intermediate-depth, strike-slip rupture inside the subducting Nazca slab; because of its depth, strong shaking (MMI VI-VII) was spread over a wide area of the Andean Coffee Region rather than concentrated near the epicentre, and about 10.5 million people were exposed to it. The SGC describes it as the largest-magnitude earthquake recorded in Colombia in the past decade. The toll rose steeply through the first two days: 111 deaths in the Government's 13:00 COT balance on 10 August, 132 by that evening, and 182 deaths with 2,542 injured and 189 missing in UNGRD's situation report on 11 August, against 240 deaths when the departmental and city announcements are added up — more than 1,600 buildings damaged (1,575 homes damaged, 37 destroyed, 61 buildings collapsed), together with damage to 18 health facilities, 52 educational facilities, 18 major roads and six regional airports. The passenger terminal of Matecaña International Airport in Pereira partially collapsed, a tower of the neo-Gothic cathedral in Manizales fell onto the nave, and about 30% of the University Hospital in Cali collapsed. The President declared a national disaster, set up a Unified Command Post in Chocó and deployed four USAR teams and the armed forces. There was no tsunami. All figures are preliminary and are expected to change as assessment proceeds.</a:t>
            </a:r>
            <a:endParaRPr lang="en-US" sz="1150" dirty="0"/>
          </a:p>
        </p:txBody>
      </p:sp>
      <p:sp>
        <p:nvSpPr>
          <p:cNvPr id="20" name="Text 14"/>
          <p:cNvSpPr/>
          <p:nvPr/>
        </p:nvSpPr>
        <p:spPr>
          <a:xfrm>
            <a:off x="365760" y="6272784"/>
            <a:ext cx="11430000" cy="219456"/>
          </a:xfrm>
          <a:prstGeom prst="rect">
            <a:avLst/>
          </a:prstGeom>
          <a:noFill/>
          <a:ln/>
        </p:spPr>
        <p:txBody>
          <a:bodyPr wrap="square" lIns="0" tIns="0" rIns="0" bIns="0" rtlCol="0" anchor="ctr"/>
          <a:lstStyle/>
          <a:p>
            <a:pPr algn="l" indent="0" marL="0">
              <a:buNone/>
            </a:pPr>
            <a:r>
              <a:rPr lang="en-US" sz="850" b="1" dirty="0">
                <a:solidFill>
                  <a:srgbClr val="6A6A6A"/>
                </a:solidFill>
                <a:latin typeface="Calibri" pitchFamily="34" charset="0"/>
                <a:ea typeface="Calibri" pitchFamily="34" charset="-122"/>
                <a:cs typeface="Calibri" pitchFamily="34" charset="-120"/>
              </a:rPr>
              <a:t>Sources: </a:t>
            </a:r>
            <a:pPr algn="l" indent="0" marL="0">
              <a:buNone/>
            </a:pPr>
            <a:r>
              <a:rPr lang="en-US" sz="850" u="sng" dirty="0">
                <a:solidFill>
                  <a:srgbClr val="0563C1"/>
                </a:solidFill>
                <a:latin typeface="Calibri" pitchFamily="34" charset="0"/>
                <a:ea typeface="Calibri" pitchFamily="34" charset="-122"/>
                <a:cs typeface="Calibri" pitchFamily="34" charset="-120"/>
                <a:hlinkClick r:id="rId5" invalidUrl="" action="" tgtFrame="" tooltip="" history="1" highlightClick="0" endSnd="0">
                  <a:extLst>
                    <a:ext uri="{A12FA001-AC4F-418D-AE19-62706E023703}">
                      <ahyp:hlinkClr xmlns:ahyp="http://schemas.microsoft.com/office/drawing/2018/hyperlinkcolor" val="tx"/>
                    </a:ext>
                  </a:extLst>
                </a:hlinkClick>
              </a:rPr>
              <a:t>USGS - M 7.4 San José del Palmar, Colombia (event page)</a:t>
            </a:r>
            <a:pPr algn="l" indent="0" marL="0">
              <a:buNone/>
            </a:pPr>
            <a:r>
              <a:rPr lang="en-US" sz="850" dirty="0">
                <a:solidFill>
                  <a:srgbClr val="6A6A6A"/>
                </a:solidFill>
                <a:latin typeface="Calibri" pitchFamily="34" charset="0"/>
                <a:ea typeface="Calibri" pitchFamily="34" charset="-122"/>
                <a:cs typeface="Calibri" pitchFamily="34" charset="-120"/>
              </a:rPr>
              <a:t>   ·   </a:t>
            </a:r>
            <a:pPr algn="l" indent="0" marL="0">
              <a:buNone/>
            </a:pPr>
            <a:r>
              <a:rPr lang="en-US" sz="850" u="sng" dirty="0">
                <a:solidFill>
                  <a:srgbClr val="0563C1"/>
                </a:solidFill>
                <a:latin typeface="Calibri" pitchFamily="34" charset="0"/>
                <a:ea typeface="Calibri" pitchFamily="34" charset="-122"/>
                <a:cs typeface="Calibri" pitchFamily="34" charset="-120"/>
                <a:hlinkClick r:id="rId6" invalidUrl="" action="" tgtFrame="" tooltip="" history="1" highlightClick="0" endSnd="0">
                  <a:extLst>
                    <a:ext uri="{A12FA001-AC4F-418D-AE19-62706E023703}">
                      <ahyp:hlinkClr xmlns:ahyp="http://schemas.microsoft.com/office/drawing/2018/hyperlinkcolor" val="tx"/>
                    </a:ext>
                  </a:extLst>
                </a:hlinkClick>
              </a:rPr>
              <a:t>SGC — event bulletin SGC2026pqqmro (this earthquake)</a:t>
            </a:r>
            <a:pPr algn="l" indent="0" marL="0">
              <a:buNone/>
            </a:pPr>
            <a:r>
              <a:rPr lang="en-US" sz="850" dirty="0">
                <a:solidFill>
                  <a:srgbClr val="6A6A6A"/>
                </a:solidFill>
                <a:latin typeface="Calibri" pitchFamily="34" charset="0"/>
                <a:ea typeface="Calibri" pitchFamily="34" charset="-122"/>
                <a:cs typeface="Calibri" pitchFamily="34" charset="-120"/>
              </a:rPr>
              <a:t>   ·   </a:t>
            </a:r>
            <a:pPr algn="l" indent="0" marL="0">
              <a:buNone/>
            </a:pPr>
            <a:r>
              <a:rPr lang="en-US" sz="850" u="sng" dirty="0">
                <a:solidFill>
                  <a:srgbClr val="0563C1"/>
                </a:solidFill>
                <a:latin typeface="Calibri" pitchFamily="34" charset="0"/>
                <a:ea typeface="Calibri" pitchFamily="34" charset="-122"/>
                <a:cs typeface="Calibri" pitchFamily="34" charset="-120"/>
                <a:hlinkClick r:id="rId7" invalidUrl="" action="" tgtFrame="" tooltip="" history="1" highlightClick="0" endSnd="0">
                  <a:extLst>
                    <a:ext uri="{A12FA001-AC4F-418D-AE19-62706E023703}">
                      <ahyp:hlinkClr xmlns:ahyp="http://schemas.microsoft.com/office/drawing/2018/hyperlinkcolor" val="tx"/>
                    </a:ext>
                  </a:extLst>
                </a:hlinkClick>
              </a:rPr>
              <a:t>UNGRD - National Unit for Disaster Risk Management</a:t>
            </a:r>
            <a:pPr algn="l" indent="0" marL="0">
              <a:buNone/>
            </a:pPr>
            <a:r>
              <a:rPr lang="en-US" sz="850" dirty="0">
                <a:solidFill>
                  <a:srgbClr val="6A6A6A"/>
                </a:solidFill>
                <a:latin typeface="Calibri" pitchFamily="34" charset="0"/>
                <a:ea typeface="Calibri" pitchFamily="34" charset="-122"/>
                <a:cs typeface="Calibri" pitchFamily="34" charset="-120"/>
              </a:rPr>
              <a:t>   ·   </a:t>
            </a:r>
            <a:pPr algn="l" indent="0" marL="0">
              <a:buNone/>
            </a:pPr>
            <a:r>
              <a:rPr lang="en-US" sz="850" u="sng" dirty="0">
                <a:solidFill>
                  <a:srgbClr val="0563C1"/>
                </a:solidFill>
                <a:latin typeface="Calibri" pitchFamily="34" charset="0"/>
                <a:ea typeface="Calibri" pitchFamily="34" charset="-122"/>
                <a:cs typeface="Calibri" pitchFamily="34" charset="-120"/>
                <a:hlinkClick r:id="rId8" invalidUrl="" action="" tgtFrame="" tooltip="" history="1" highlightClick="0" endSnd="0">
                  <a:extLst>
                    <a:ext uri="{A12FA001-AC4F-418D-AE19-62706E023703}">
                      <ahyp:hlinkClr xmlns:ahyp="http://schemas.microsoft.com/office/drawing/2018/hyperlinkcolor" val="tx"/>
                    </a:ext>
                  </a:extLst>
                </a:hlinkClick>
              </a:rPr>
              <a:t>Google Maps</a:t>
            </a:r>
            <a:endParaRPr lang="en-US" sz="850" dirty="0"/>
          </a:p>
        </p:txBody>
      </p:sp>
      <p:sp>
        <p:nvSpPr>
          <p:cNvPr id="21" name="Shape 15"/>
          <p:cNvSpPr/>
          <p:nvPr/>
        </p:nvSpPr>
        <p:spPr>
          <a:xfrm>
            <a:off x="10268712" y="6510528"/>
            <a:ext cx="1554480" cy="274320"/>
          </a:xfrm>
          <a:prstGeom prst="rect">
            <a:avLst/>
          </a:prstGeom>
          <a:solidFill>
            <a:srgbClr val="E8A317"/>
          </a:solidFill>
          <a:ln w="12700">
            <a:solidFill>
              <a:srgbClr val="E8A317"/>
            </a:solidFill>
            <a:prstDash val="solid"/>
          </a:ln>
        </p:spPr>
      </p:sp>
      <p:sp>
        <p:nvSpPr>
          <p:cNvPr id="22" name="Text 16"/>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950" b="1" dirty="0">
                <a:solidFill>
                  <a:srgbClr val="000000"/>
                </a:solidFill>
                <a:latin typeface="Calibri" pitchFamily="34" charset="0"/>
                <a:ea typeface="Calibri" pitchFamily="34" charset="-122"/>
                <a:cs typeface="Calibri" pitchFamily="34" charset="-120"/>
              </a:rPr>
              <a:t>ADRC  12/08/2026</a:t>
            </a:r>
            <a:endParaRPr lang="en-US" sz="950" dirty="0"/>
          </a:p>
        </p:txBody>
      </p:sp>
      <p:sp>
        <p:nvSpPr>
          <p:cNvPr id="23" name="Text 17"/>
          <p:cNvSpPr/>
          <p:nvPr/>
        </p:nvSpPr>
        <p:spPr>
          <a:xfrm>
            <a:off x="365760" y="6547104"/>
            <a:ext cx="548640" cy="219456"/>
          </a:xfrm>
          <a:prstGeom prst="rect">
            <a:avLst/>
          </a:prstGeom>
          <a:noFill/>
          <a:ln/>
        </p:spPr>
        <p:txBody>
          <a:bodyPr wrap="square" lIns="0" tIns="0" rIns="0" bIns="0" rtlCol="0" anchor="ctr"/>
          <a:lstStyle/>
          <a:p>
            <a:pPr algn="l" indent="0" marL="0">
              <a:buNone/>
            </a:pPr>
            <a:r>
              <a:rPr lang="en-US" sz="900" dirty="0">
                <a:solidFill>
                  <a:srgbClr val="6A6A6A"/>
                </a:solidFill>
                <a:latin typeface="Calibri" pitchFamily="34" charset="0"/>
                <a:ea typeface="Calibri" pitchFamily="34" charset="-122"/>
                <a:cs typeface="Calibri" pitchFamily="34" charset="-120"/>
              </a:rPr>
              <a:t>1</a:t>
            </a:r>
            <a:endParaRPr lang="en-US" sz="9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92608"/>
            <a:ext cx="10332720" cy="566928"/>
          </a:xfrm>
          <a:prstGeom prst="rect">
            <a:avLst/>
          </a:prstGeom>
          <a:noFill/>
          <a:ln/>
        </p:spPr>
        <p:txBody>
          <a:bodyPr wrap="none" lIns="0" tIns="0" rIns="0" bIns="0" rtlCol="0" anchor="ctr">
            <a:normAutofit/>
          </a:bodyPr>
          <a:lstStyle/>
          <a:p>
            <a:pPr algn="l" indent="0" marL="0">
              <a:buNone/>
            </a:pPr>
            <a:r>
              <a:rPr lang="en-US" sz="2100" b="1" dirty="0">
                <a:solidFill>
                  <a:srgbClr val="1F3864"/>
                </a:solidFill>
                <a:latin typeface="Cambria" pitchFamily="34" charset="0"/>
                <a:ea typeface="Cambria" pitchFamily="34" charset="-122"/>
                <a:cs typeface="Cambria" pitchFamily="34" charset="-120"/>
              </a:rPr>
              <a:t>Seismotectonic Setting: an intraslab earthquake</a:t>
            </a:r>
            <a:endParaRPr lang="en-US" sz="2100" dirty="0"/>
          </a:p>
        </p:txBody>
      </p:sp>
      <p:pic>
        <p:nvPicPr>
          <p:cNvPr id="3" name="Image 0" descr="/home/user/whatsmap/reports/colombia_eq_20260810/images/adrc_logo.png">    </p:cNvPr>
          <p:cNvPicPr>
            <a:picLocks noChangeAspect="1"/>
          </p:cNvPicPr>
          <p:nvPr/>
        </p:nvPicPr>
        <p:blipFill>
          <a:blip r:embed="rId1"/>
          <a:stretch>
            <a:fillRect/>
          </a:stretch>
        </p:blipFill>
        <p:spPr>
          <a:xfrm>
            <a:off x="10945368" y="73152"/>
            <a:ext cx="877824" cy="877824"/>
          </a:xfrm>
          <a:prstGeom prst="rect">
            <a:avLst/>
          </a:prstGeom>
        </p:spPr>
      </p:pic>
      <p:pic>
        <p:nvPicPr>
          <p:cNvPr id="4" name="Image 1" descr="/home/user/whatsmap/reports/colombia_eq_20260810/images/slab_section.png">    </p:cNvPr>
          <p:cNvPicPr>
            <a:picLocks noChangeAspect="1"/>
          </p:cNvPicPr>
          <p:nvPr/>
        </p:nvPicPr>
        <p:blipFill>
          <a:blip r:embed="rId2"/>
          <a:stretch>
            <a:fillRect/>
          </a:stretch>
        </p:blipFill>
        <p:spPr>
          <a:xfrm>
            <a:off x="365760" y="1040572"/>
            <a:ext cx="6858000" cy="2948056"/>
          </a:xfrm>
          <a:prstGeom prst="rect">
            <a:avLst/>
          </a:prstGeom>
        </p:spPr>
      </p:pic>
      <p:sp>
        <p:nvSpPr>
          <p:cNvPr id="5" name="Text 1"/>
          <p:cNvSpPr/>
          <p:nvPr/>
        </p:nvSpPr>
        <p:spPr>
          <a:xfrm>
            <a:off x="365760" y="4023360"/>
            <a:ext cx="6858000" cy="201168"/>
          </a:xfrm>
          <a:prstGeom prst="rect">
            <a:avLst/>
          </a:prstGeom>
          <a:noFill/>
          <a:ln/>
        </p:spPr>
        <p:txBody>
          <a:bodyPr wrap="square" lIns="0" tIns="0" rIns="0" bIns="0" rtlCol="0" anchor="ctr"/>
          <a:lstStyle/>
          <a:p>
            <a:pPr algn="ctr" indent="0" marL="0">
              <a:buNone/>
            </a:pPr>
            <a:r>
              <a:rPr lang="en-US" sz="800" dirty="0">
                <a:solidFill>
                  <a:srgbClr val="6A6A6A"/>
                </a:solidFill>
                <a:latin typeface="Calibri" pitchFamily="34" charset="0"/>
                <a:ea typeface="Calibri" pitchFamily="34" charset="-122"/>
                <a:cs typeface="Calibri" pitchFamily="34" charset="-120"/>
              </a:rPr>
              <a:t>Schematic cross-section (ADRC)</a:t>
            </a:r>
            <a:endParaRPr lang="en-US" sz="800" dirty="0"/>
          </a:p>
        </p:txBody>
      </p:sp>
      <p:sp>
        <p:nvSpPr>
          <p:cNvPr id="6" name="Text 2"/>
          <p:cNvSpPr/>
          <p:nvPr/>
        </p:nvSpPr>
        <p:spPr>
          <a:xfrm>
            <a:off x="365760" y="4315968"/>
            <a:ext cx="5669280" cy="1828800"/>
          </a:xfrm>
          <a:prstGeom prst="rect">
            <a:avLst/>
          </a:prstGeom>
          <a:noFill/>
          <a:ln/>
        </p:spPr>
        <p:txBody>
          <a:bodyPr wrap="square" lIns="50800" tIns="50800" rIns="50800" bIns="50800" rtlCol="0" anchor="t"/>
          <a:lstStyle/>
          <a:p>
            <a:pPr algn="l" indent="0" marL="0">
              <a:buNone/>
            </a:pPr>
            <a:r>
              <a:rPr lang="en-US" sz="1000" dirty="0">
                <a:solidFill>
                  <a:srgbClr val="222222"/>
                </a:solidFill>
                <a:latin typeface="Calibri" pitchFamily="34" charset="0"/>
                <a:ea typeface="Calibri" pitchFamily="34" charset="-122"/>
                <a:cs typeface="Calibri" pitchFamily="34" charset="-120"/>
              </a:rPr>
              <a:t>Colombia lies at the junction of the Nazca, Caribbean and South America plates. Off the Pacific coast the Nazca plate subducts eastward beneath South America at roughly 50-60 mm/yr, and the descending slab reaches intermediate depths (70-300 km) beneath the Western and Central Cordilleras. This event ruptured inside that slab at about 110 km depth, which is why the shaking was felt over hundreds of kilometres - as far as Bogotá, Quito and Panamá City - while surface faulting and tsunami generation were absent. Intermediate-depth events radiate high-frequency energy efficiently and attenuate slowly, so damage tends to be distributed across many cities rather than concentrated in a narrow epicentral zone.</a:t>
            </a:r>
            <a:endParaRPr lang="en-US" sz="1000" dirty="0"/>
          </a:p>
        </p:txBody>
      </p:sp>
      <p:pic>
        <p:nvPicPr>
          <p:cNvPr id="7" name="Image 2" descr="/home/user/whatsmap/reports/colombia_eq_20260810/images/beachball_manual.png">    </p:cNvPr>
          <p:cNvPicPr>
            <a:picLocks noChangeAspect="1"/>
          </p:cNvPicPr>
          <p:nvPr/>
        </p:nvPicPr>
        <p:blipFill>
          <a:blip r:embed="rId3"/>
          <a:stretch>
            <a:fillRect/>
          </a:stretch>
        </p:blipFill>
        <p:spPr>
          <a:xfrm>
            <a:off x="6172200" y="4439412"/>
            <a:ext cx="1051560" cy="1051560"/>
          </a:xfrm>
          <a:prstGeom prst="rect">
            <a:avLst/>
          </a:prstGeom>
        </p:spPr>
      </p:pic>
      <p:sp>
        <p:nvSpPr>
          <p:cNvPr id="8" name="Text 3"/>
          <p:cNvSpPr/>
          <p:nvPr/>
        </p:nvSpPr>
        <p:spPr>
          <a:xfrm>
            <a:off x="5943600" y="5614416"/>
            <a:ext cx="1508760" cy="457200"/>
          </a:xfrm>
          <a:prstGeom prst="rect">
            <a:avLst/>
          </a:prstGeom>
          <a:noFill/>
          <a:ln/>
        </p:spPr>
        <p:txBody>
          <a:bodyPr wrap="square" lIns="0" tIns="0" rIns="0" bIns="0" rtlCol="0" anchor="t"/>
          <a:lstStyle/>
          <a:p>
            <a:pPr algn="ctr" indent="0" marL="0">
              <a:buNone/>
            </a:pPr>
            <a:r>
              <a:rPr lang="en-US" sz="750" b="1" dirty="0">
                <a:solidFill>
                  <a:srgbClr val="6A6A6A"/>
                </a:solidFill>
                <a:latin typeface="Calibri" pitchFamily="34" charset="0"/>
                <a:ea typeface="Calibri" pitchFamily="34" charset="-122"/>
                <a:cs typeface="Calibri" pitchFamily="34" charset="-120"/>
              </a:rPr>
              <a:t>Focal mechanism (beachball)
</a:t>
            </a:r>
            <a:pPr algn="ctr" indent="0" marL="0">
              <a:buNone/>
            </a:pPr>
            <a:r>
              <a:rPr lang="en-US" sz="700" dirty="0">
                <a:solidFill>
                  <a:srgbClr val="6A6A6A"/>
                </a:solidFill>
                <a:latin typeface="Calibri" pitchFamily="34" charset="0"/>
                <a:ea typeface="Calibri" pitchFamily="34" charset="-122"/>
                <a:cs typeface="Calibri" pitchFamily="34" charset="-120"/>
              </a:rPr>
              <a:t>Both agencies report a strike-slip mechanism.</a:t>
            </a:r>
            <a:endParaRPr lang="en-US" sz="750" dirty="0"/>
          </a:p>
        </p:txBody>
      </p:sp>
      <p:sp>
        <p:nvSpPr>
          <p:cNvPr id="9" name="Text 4"/>
          <p:cNvSpPr/>
          <p:nvPr/>
        </p:nvSpPr>
        <p:spPr>
          <a:xfrm>
            <a:off x="7406640" y="1024128"/>
            <a:ext cx="4389120" cy="5120640"/>
          </a:xfrm>
          <a:prstGeom prst="rect">
            <a:avLst/>
          </a:prstGeom>
          <a:noFill/>
          <a:ln/>
        </p:spPr>
        <p:txBody>
          <a:bodyPr wrap="square" lIns="50800" tIns="50800" rIns="50800" bIns="50800" rtlCol="0" anchor="t"/>
          <a:lstStyle/>
          <a:p>
            <a:pPr algn="l" marL="342900" indent="-342900">
              <a:buSzPct val="100000"/>
              <a:buChar char="•"/>
            </a:pPr>
            <a:r>
              <a:rPr lang="en-US" sz="960" b="1" dirty="0">
                <a:solidFill>
                  <a:srgbClr val="1E7A34"/>
                </a:solidFill>
                <a:latin typeface="Calibri" pitchFamily="34" charset="0"/>
                <a:ea typeface="Calibri" pitchFamily="34" charset="-122"/>
                <a:cs typeface="Calibri" pitchFamily="34" charset="-120"/>
              </a:rPr>
              <a:t>[Official] </a:t>
            </a:r>
            <a:pPr algn="l" indent="0" marL="0">
              <a:spcAft>
                <a:spcPts val="500"/>
              </a:spcAft>
              <a:buNone/>
            </a:pPr>
            <a:r>
              <a:rPr lang="en-US" sz="1060" dirty="0">
                <a:solidFill>
                  <a:srgbClr val="222222"/>
                </a:solidFill>
                <a:latin typeface="Calibri" pitchFamily="34" charset="0"/>
                <a:ea typeface="Calibri" pitchFamily="34" charset="-122"/>
                <a:cs typeface="Calibri" pitchFamily="34" charset="-120"/>
              </a:rPr>
              <a:t>Depth about 110 km (USGS, revised): an intraslab event, not a plate-interface megathrust.</a:t>
            </a:r>
            <a:endParaRPr lang="en-US" sz="960" dirty="0"/>
          </a:p>
          <a:p>
            <a:pPr algn="l" marL="342900" indent="-342900">
              <a:buSzPct val="100000"/>
              <a:buChar char="•"/>
            </a:pPr>
            <a:r>
              <a:rPr lang="en-US" sz="960" b="1" dirty="0">
                <a:solidFill>
                  <a:srgbClr val="1E7A34"/>
                </a:solidFill>
                <a:latin typeface="Calibri" pitchFamily="34" charset="0"/>
                <a:ea typeface="Calibri" pitchFamily="34" charset="-122"/>
                <a:cs typeface="Calibri" pitchFamily="34" charset="-120"/>
              </a:rPr>
              <a:t>[Official] </a:t>
            </a:r>
            <a:pPr algn="l" indent="0" marL="0">
              <a:spcAft>
                <a:spcPts val="500"/>
              </a:spcAft>
              <a:buNone/>
            </a:pPr>
            <a:r>
              <a:rPr lang="en-US" sz="1060" dirty="0">
                <a:solidFill>
                  <a:srgbClr val="222222"/>
                </a:solidFill>
                <a:latin typeface="Calibri" pitchFamily="34" charset="0"/>
                <a:ea typeface="Calibri" pitchFamily="34" charset="-122"/>
                <a:cs typeface="Calibri" pitchFamily="34" charset="-120"/>
              </a:rPr>
              <a:t>Strike-slip mechanism within the descending Nazca slab (USGS tectonic summary).</a:t>
            </a:r>
            <a:endParaRPr lang="en-US" sz="960" dirty="0"/>
          </a:p>
          <a:p>
            <a:pPr algn="l" marL="342900" indent="-342900">
              <a:buSzPct val="100000"/>
              <a:buChar char="•"/>
            </a:pPr>
            <a:r>
              <a:rPr lang="en-US" sz="960" b="1" dirty="0">
                <a:solidFill>
                  <a:srgbClr val="1E7A34"/>
                </a:solidFill>
                <a:latin typeface="Calibri" pitchFamily="34" charset="0"/>
                <a:ea typeface="Calibri" pitchFamily="34" charset="-122"/>
                <a:cs typeface="Calibri" pitchFamily="34" charset="-120"/>
              </a:rPr>
              <a:t>[Official] </a:t>
            </a:r>
            <a:pPr algn="l" indent="0" marL="0">
              <a:spcAft>
                <a:spcPts val="500"/>
              </a:spcAft>
              <a:buNone/>
            </a:pPr>
            <a:r>
              <a:rPr lang="en-US" sz="1060" dirty="0">
                <a:solidFill>
                  <a:srgbClr val="222222"/>
                </a:solidFill>
                <a:latin typeface="Calibri" pitchFamily="34" charset="0"/>
                <a:ea typeface="Calibri" pitchFamily="34" charset="-122"/>
                <a:cs typeface="Calibri" pitchFamily="34" charset="-120"/>
              </a:rPr>
              <a:t>Maximum shaking MMI VII (Very strong); about 10.5 million people exposed to MMI VI-VII.</a:t>
            </a:r>
            <a:endParaRPr lang="en-US" sz="960" dirty="0"/>
          </a:p>
          <a:p>
            <a:pPr algn="l" marL="342900" indent="-342900">
              <a:buSzPct val="100000"/>
              <a:buChar char="•"/>
            </a:pPr>
            <a:r>
              <a:rPr lang="en-US" sz="960" b="1" dirty="0">
                <a:solidFill>
                  <a:srgbClr val="1E7A34"/>
                </a:solidFill>
                <a:latin typeface="Calibri" pitchFamily="34" charset="0"/>
                <a:ea typeface="Calibri" pitchFamily="34" charset="-122"/>
                <a:cs typeface="Calibri" pitchFamily="34" charset="-120"/>
              </a:rPr>
              <a:t>[Official] </a:t>
            </a:r>
            <a:pPr algn="l" indent="0" marL="0">
              <a:spcAft>
                <a:spcPts val="500"/>
              </a:spcAft>
              <a:buNone/>
            </a:pPr>
            <a:r>
              <a:rPr lang="en-US" sz="1060" dirty="0">
                <a:solidFill>
                  <a:srgbClr val="222222"/>
                </a:solidFill>
                <a:latin typeface="Calibri" pitchFamily="34" charset="0"/>
                <a:ea typeface="Calibri" pitchFamily="34" charset="-122"/>
                <a:cs typeface="Calibri" pitchFamily="34" charset="-120"/>
              </a:rPr>
              <a:t>USGS PAGER (v5) Orange alert: the most likely fatality band is 1,000-10,000 and the most likely loss band USD 100-1,000 million — model estimates, not observations, and far above the figures reported so far.</a:t>
            </a:r>
            <a:endParaRPr lang="en-US" sz="960" dirty="0"/>
          </a:p>
          <a:p>
            <a:pPr algn="l" marL="342900" indent="-342900">
              <a:buSzPct val="100000"/>
              <a:buChar char="•"/>
            </a:pPr>
            <a:r>
              <a:rPr lang="en-US" sz="960" b="1" dirty="0">
                <a:solidFill>
                  <a:srgbClr val="1E7A34"/>
                </a:solidFill>
                <a:latin typeface="Calibri" pitchFamily="34" charset="0"/>
                <a:ea typeface="Calibri" pitchFamily="34" charset="-122"/>
                <a:cs typeface="Calibri" pitchFamily="34" charset="-120"/>
              </a:rPr>
              <a:t>[Official] </a:t>
            </a:r>
            <a:pPr algn="l" indent="0" marL="0">
              <a:spcAft>
                <a:spcPts val="500"/>
              </a:spcAft>
              <a:buNone/>
            </a:pPr>
            <a:r>
              <a:rPr lang="en-US" sz="1060" dirty="0">
                <a:solidFill>
                  <a:srgbClr val="222222"/>
                </a:solidFill>
                <a:latin typeface="Calibri" pitchFamily="34" charset="0"/>
                <a:ea typeface="Calibri" pitchFamily="34" charset="-122"/>
                <a:cs typeface="Calibri" pitchFamily="34" charset="-120"/>
              </a:rPr>
              <a:t>The SGC assesses this as the largest-magnitude earthquake recorded in Colombia in the past decade.</a:t>
            </a:r>
            <a:endParaRPr lang="en-US" sz="960" dirty="0"/>
          </a:p>
          <a:p>
            <a:pPr algn="l" marL="342900" indent="-342900">
              <a:buSzPct val="100000"/>
              <a:buChar char="•"/>
            </a:pPr>
            <a:r>
              <a:rPr lang="en-US" sz="960" b="1" dirty="0">
                <a:solidFill>
                  <a:srgbClr val="B8860B"/>
                </a:solidFill>
                <a:latin typeface="Calibri" pitchFamily="34" charset="0"/>
                <a:ea typeface="Calibri" pitchFamily="34" charset="-122"/>
                <a:cs typeface="Calibri" pitchFamily="34" charset="-120"/>
              </a:rPr>
              <a:t>[Media] </a:t>
            </a:r>
            <a:pPr algn="l" indent="0" marL="0">
              <a:spcAft>
                <a:spcPts val="500"/>
              </a:spcAft>
              <a:buNone/>
            </a:pPr>
            <a:r>
              <a:rPr lang="en-US" sz="1060" dirty="0">
                <a:solidFill>
                  <a:srgbClr val="222222"/>
                </a:solidFill>
                <a:latin typeface="Calibri" pitchFamily="34" charset="0"/>
                <a:ea typeface="Calibri" pitchFamily="34" charset="-122"/>
                <a:cs typeface="Calibri" pitchFamily="34" charset="-120"/>
              </a:rPr>
              <a:t>Shaking was reported as unusually long in duration in cities far from the epicentre - a characteristic of deep events recorded on soft valley sediments.</a:t>
            </a:r>
            <a:endParaRPr lang="en-US" sz="960" dirty="0"/>
          </a:p>
          <a:p>
            <a:pPr algn="l" marL="342900" indent="-342900">
              <a:buSzPct val="100000"/>
              <a:buChar char="•"/>
            </a:pPr>
            <a:r>
              <a:rPr lang="en-US" sz="960" b="1" dirty="0">
                <a:solidFill>
                  <a:srgbClr val="1E7A34"/>
                </a:solidFill>
                <a:latin typeface="Calibri" pitchFamily="34" charset="0"/>
                <a:ea typeface="Calibri" pitchFamily="34" charset="-122"/>
                <a:cs typeface="Calibri" pitchFamily="34" charset="-120"/>
              </a:rPr>
              <a:t>[Official] </a:t>
            </a:r>
            <a:pPr algn="l" indent="0" marL="0">
              <a:spcAft>
                <a:spcPts val="500"/>
              </a:spcAft>
              <a:buNone/>
            </a:pPr>
            <a:r>
              <a:rPr lang="en-US" sz="1060" dirty="0">
                <a:solidFill>
                  <a:srgbClr val="222222"/>
                </a:solidFill>
                <a:latin typeface="Calibri" pitchFamily="34" charset="0"/>
                <a:ea typeface="Calibri" pitchFamily="34" charset="-122"/>
                <a:cs typeface="Calibri" pitchFamily="34" charset="-120"/>
              </a:rPr>
              <a:t>The Coffee Region has a history of both deep and shallow damaging events: M7.0 at 150 km depth in 1938, M6.5 at 64 km in 1962 and M6.1 at 15 km in 1999 (SGC/GEM national hazard model).</a:t>
            </a:r>
            <a:endParaRPr lang="en-US" sz="960" dirty="0"/>
          </a:p>
        </p:txBody>
      </p:sp>
      <p:sp>
        <p:nvSpPr>
          <p:cNvPr id="10" name="Text 5"/>
          <p:cNvSpPr/>
          <p:nvPr/>
        </p:nvSpPr>
        <p:spPr>
          <a:xfrm>
            <a:off x="365760" y="6272784"/>
            <a:ext cx="11430000" cy="219456"/>
          </a:xfrm>
          <a:prstGeom prst="rect">
            <a:avLst/>
          </a:prstGeom>
          <a:noFill/>
          <a:ln/>
        </p:spPr>
        <p:txBody>
          <a:bodyPr wrap="square" lIns="0" tIns="0" rIns="0" bIns="0" rtlCol="0" anchor="ctr"/>
          <a:lstStyle/>
          <a:p>
            <a:pPr algn="l" indent="0" marL="0">
              <a:buNone/>
            </a:pPr>
            <a:r>
              <a:rPr lang="en-US" sz="850" b="1" dirty="0">
                <a:solidFill>
                  <a:srgbClr val="6A6A6A"/>
                </a:solidFill>
                <a:latin typeface="Calibri" pitchFamily="34" charset="0"/>
                <a:ea typeface="Calibri" pitchFamily="34" charset="-122"/>
                <a:cs typeface="Calibri" pitchFamily="34" charset="-120"/>
              </a:rPr>
              <a:t>Sources: </a:t>
            </a:r>
            <a:pPr algn="l" indent="0" marL="0">
              <a:buNone/>
            </a:pPr>
            <a:r>
              <a:rPr lang="en-US" sz="850" u="sng" dirty="0">
                <a:solidFill>
                  <a:srgbClr val="0563C1"/>
                </a:solidFill>
                <a:latin typeface="Calibri" pitchFamily="34" charset="0"/>
                <a:ea typeface="Calibri" pitchFamily="34" charset="-122"/>
                <a:cs typeface="Calibri" pitchFamily="34" charset="-120"/>
                <a:hlinkClick r:id="rId4" invalidUrl="" action="" tgtFrame="" tooltip="" history="1" highlightClick="0" endSnd="0">
                  <a:extLst>
                    <a:ext uri="{A12FA001-AC4F-418D-AE19-62706E023703}">
                      <ahyp:hlinkClr xmlns:ahyp="http://schemas.microsoft.com/office/drawing/2018/hyperlinkcolor" val="tx"/>
                    </a:ext>
                  </a:extLst>
                </a:hlinkClick>
              </a:rPr>
              <a:t>USGS - M 7.4 San José del Palmar, Colombia (event page)</a:t>
            </a:r>
            <a:pPr algn="l" indent="0" marL="0">
              <a:buNone/>
            </a:pPr>
            <a:r>
              <a:rPr lang="en-US" sz="850" dirty="0">
                <a:solidFill>
                  <a:srgbClr val="6A6A6A"/>
                </a:solidFill>
                <a:latin typeface="Calibri" pitchFamily="34" charset="0"/>
                <a:ea typeface="Calibri" pitchFamily="34" charset="-122"/>
                <a:cs typeface="Calibri" pitchFamily="34" charset="-120"/>
              </a:rPr>
              <a:t>   ·   </a:t>
            </a:r>
            <a:pPr algn="l" indent="0" marL="0">
              <a:buNone/>
            </a:pPr>
            <a:r>
              <a:rPr lang="en-US" sz="850" u="sng" dirty="0">
                <a:solidFill>
                  <a:srgbClr val="0563C1"/>
                </a:solidFill>
                <a:latin typeface="Calibri" pitchFamily="34" charset="0"/>
                <a:ea typeface="Calibri" pitchFamily="34" charset="-122"/>
                <a:cs typeface="Calibri" pitchFamily="34" charset="-120"/>
                <a:hlinkClick r:id="rId5" invalidUrl="" action="" tgtFrame="" tooltip="" history="1" highlightClick="0" endSnd="0">
                  <a:extLst>
                    <a:ext uri="{A12FA001-AC4F-418D-AE19-62706E023703}">
                      <ahyp:hlinkClr xmlns:ahyp="http://schemas.microsoft.com/office/drawing/2018/hyperlinkcolor" val="tx"/>
                    </a:ext>
                  </a:extLst>
                </a:hlinkClick>
              </a:rPr>
              <a:t>SGC — event bulletin SGC2026pqqmro (this earthquake)</a:t>
            </a:r>
            <a:pPr algn="l" indent="0" marL="0">
              <a:buNone/>
            </a:pPr>
            <a:r>
              <a:rPr lang="en-US" sz="850" dirty="0">
                <a:solidFill>
                  <a:srgbClr val="6A6A6A"/>
                </a:solidFill>
                <a:latin typeface="Calibri" pitchFamily="34" charset="0"/>
                <a:ea typeface="Calibri" pitchFamily="34" charset="-122"/>
                <a:cs typeface="Calibri" pitchFamily="34" charset="-120"/>
              </a:rPr>
              <a:t>   ·   </a:t>
            </a:r>
            <a:pPr algn="l" indent="0" marL="0">
              <a:buNone/>
            </a:pPr>
            <a:r>
              <a:rPr lang="en-US" sz="850" u="sng" dirty="0">
                <a:solidFill>
                  <a:srgbClr val="0563C1"/>
                </a:solidFill>
                <a:latin typeface="Calibri" pitchFamily="34" charset="0"/>
                <a:ea typeface="Calibri" pitchFamily="34" charset="-122"/>
                <a:cs typeface="Calibri" pitchFamily="34" charset="-120"/>
                <a:hlinkClick r:id="rId6" invalidUrl="" action="" tgtFrame="" tooltip="" history="1" highlightClick="0" endSnd="0">
                  <a:extLst>
                    <a:ext uri="{A12FA001-AC4F-418D-AE19-62706E023703}">
                      <ahyp:hlinkClr xmlns:ahyp="http://schemas.microsoft.com/office/drawing/2018/hyperlinkcolor" val="tx"/>
                    </a:ext>
                  </a:extLst>
                </a:hlinkClick>
              </a:rPr>
              <a:t>GDACS - Orange earthquake alert, Colombia, 10 Aug 2026</a:t>
            </a:r>
            <a:endParaRPr lang="en-US" sz="850" dirty="0"/>
          </a:p>
        </p:txBody>
      </p:sp>
      <p:sp>
        <p:nvSpPr>
          <p:cNvPr id="11" name="Shape 6"/>
          <p:cNvSpPr/>
          <p:nvPr/>
        </p:nvSpPr>
        <p:spPr>
          <a:xfrm>
            <a:off x="10268712" y="6510528"/>
            <a:ext cx="1554480" cy="274320"/>
          </a:xfrm>
          <a:prstGeom prst="rect">
            <a:avLst/>
          </a:prstGeom>
          <a:solidFill>
            <a:srgbClr val="E8A317"/>
          </a:solidFill>
          <a:ln w="12700">
            <a:solidFill>
              <a:srgbClr val="E8A317"/>
            </a:solidFill>
            <a:prstDash val="solid"/>
          </a:ln>
        </p:spPr>
      </p:sp>
      <p:sp>
        <p:nvSpPr>
          <p:cNvPr id="12" name="Text 7"/>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950" b="1" dirty="0">
                <a:solidFill>
                  <a:srgbClr val="000000"/>
                </a:solidFill>
                <a:latin typeface="Calibri" pitchFamily="34" charset="0"/>
                <a:ea typeface="Calibri" pitchFamily="34" charset="-122"/>
                <a:cs typeface="Calibri" pitchFamily="34" charset="-120"/>
              </a:rPr>
              <a:t>ADRC  12/08/2026</a:t>
            </a:r>
            <a:endParaRPr lang="en-US" sz="950" dirty="0"/>
          </a:p>
        </p:txBody>
      </p:sp>
      <p:sp>
        <p:nvSpPr>
          <p:cNvPr id="13" name="Text 8"/>
          <p:cNvSpPr/>
          <p:nvPr/>
        </p:nvSpPr>
        <p:spPr>
          <a:xfrm>
            <a:off x="365760" y="6547104"/>
            <a:ext cx="548640" cy="219456"/>
          </a:xfrm>
          <a:prstGeom prst="rect">
            <a:avLst/>
          </a:prstGeom>
          <a:noFill/>
          <a:ln/>
        </p:spPr>
        <p:txBody>
          <a:bodyPr wrap="square" lIns="0" tIns="0" rIns="0" bIns="0" rtlCol="0" anchor="ctr"/>
          <a:lstStyle/>
          <a:p>
            <a:pPr algn="l" indent="0" marL="0">
              <a:buNone/>
            </a:pPr>
            <a:r>
              <a:rPr lang="en-US" sz="900" dirty="0">
                <a:solidFill>
                  <a:srgbClr val="6A6A6A"/>
                </a:solidFill>
                <a:latin typeface="Calibri" pitchFamily="34" charset="0"/>
                <a:ea typeface="Calibri" pitchFamily="34" charset="-122"/>
                <a:cs typeface="Calibri" pitchFamily="34" charset="-120"/>
              </a:rPr>
              <a:t>2</a:t>
            </a:r>
            <a:endParaRPr lang="en-US" sz="9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92608"/>
            <a:ext cx="10332720" cy="566928"/>
          </a:xfrm>
          <a:prstGeom prst="rect">
            <a:avLst/>
          </a:prstGeom>
          <a:noFill/>
          <a:ln/>
        </p:spPr>
        <p:txBody>
          <a:bodyPr wrap="none" lIns="0" tIns="0" rIns="0" bIns="0" rtlCol="0" anchor="ctr">
            <a:normAutofit/>
          </a:bodyPr>
          <a:lstStyle/>
          <a:p>
            <a:pPr algn="l" indent="0" marL="0">
              <a:buNone/>
            </a:pPr>
            <a:r>
              <a:rPr lang="en-US" sz="2100" b="1" dirty="0">
                <a:solidFill>
                  <a:srgbClr val="1F3864"/>
                </a:solidFill>
                <a:latin typeface="Cambria" pitchFamily="34" charset="0"/>
                <a:ea typeface="Cambria" pitchFamily="34" charset="-122"/>
                <a:cs typeface="Cambria" pitchFamily="34" charset="-120"/>
              </a:rPr>
              <a:t>Overview of the Earthquake &amp; Response Measures</a:t>
            </a:r>
            <a:endParaRPr lang="en-US" sz="2100" dirty="0"/>
          </a:p>
        </p:txBody>
      </p:sp>
      <p:pic>
        <p:nvPicPr>
          <p:cNvPr id="3" name="Image 0" descr="/home/user/whatsmap/reports/colombia_eq_20260810/images/adrc_logo.png">    </p:cNvPr>
          <p:cNvPicPr>
            <a:picLocks noChangeAspect="1"/>
          </p:cNvPicPr>
          <p:nvPr/>
        </p:nvPicPr>
        <p:blipFill>
          <a:blip r:embed="rId1"/>
          <a:stretch>
            <a:fillRect/>
          </a:stretch>
        </p:blipFill>
        <p:spPr>
          <a:xfrm>
            <a:off x="10945368" y="73152"/>
            <a:ext cx="877824" cy="877824"/>
          </a:xfrm>
          <a:prstGeom prst="rect">
            <a:avLst/>
          </a:prstGeom>
        </p:spPr>
      </p:pic>
      <p:sp>
        <p:nvSpPr>
          <p:cNvPr id="4" name="Text 1"/>
          <p:cNvSpPr/>
          <p:nvPr/>
        </p:nvSpPr>
        <p:spPr>
          <a:xfrm>
            <a:off x="365760" y="950976"/>
            <a:ext cx="11430000" cy="384048"/>
          </a:xfrm>
          <a:prstGeom prst="rect">
            <a:avLst/>
          </a:prstGeom>
          <a:noFill/>
          <a:ln/>
        </p:spPr>
        <p:txBody>
          <a:bodyPr wrap="square" lIns="25400" tIns="25400" rIns="25400" bIns="25400" rtlCol="0" anchor="ctr"/>
          <a:lstStyle/>
          <a:p>
            <a:pPr algn="l" indent="0" marL="0">
              <a:buNone/>
            </a:pPr>
            <a:r>
              <a:rPr lang="en-US" sz="1150" b="1" dirty="0">
                <a:solidFill>
                  <a:srgbClr val="1F3864"/>
                </a:solidFill>
                <a:latin typeface="Calibri" pitchFamily="34" charset="0"/>
                <a:ea typeface="Calibri" pitchFamily="34" charset="-122"/>
                <a:cs typeface="Calibri" pitchFamily="34" charset="-120"/>
              </a:rPr>
              <a:t>10 Aug 2026, 07:34 COT (12:34 UTC / 21:34 JST)    |    Mww 7.4    |    depth 110 km    |    MMI VII (Very strong) — USGS ShakeMap; the SGC macroseismic intensity map agrees</a:t>
            </a:r>
            <a:endParaRPr lang="en-US" sz="1150" dirty="0"/>
          </a:p>
        </p:txBody>
      </p:sp>
      <p:sp>
        <p:nvSpPr>
          <p:cNvPr id="5" name="Text 2"/>
          <p:cNvSpPr/>
          <p:nvPr/>
        </p:nvSpPr>
        <p:spPr>
          <a:xfrm>
            <a:off x="365760" y="1335024"/>
            <a:ext cx="11430000" cy="274320"/>
          </a:xfrm>
          <a:prstGeom prst="rect">
            <a:avLst/>
          </a:prstGeom>
          <a:noFill/>
          <a:ln/>
        </p:spPr>
        <p:txBody>
          <a:bodyPr wrap="square" lIns="25400" tIns="25400" rIns="25400" bIns="25400" rtlCol="0" anchor="ctr"/>
          <a:lstStyle/>
          <a:p>
            <a:pPr indent="0" marL="0">
              <a:buNone/>
            </a:pPr>
            <a:r>
              <a:rPr lang="en-US" sz="950" i="1" dirty="0">
                <a:solidFill>
                  <a:srgbClr val="6A6A6A"/>
                </a:solidFill>
                <a:latin typeface="Calibri" pitchFamily="34" charset="0"/>
                <a:ea typeface="Calibri" pitchFamily="34" charset="-122"/>
                <a:cs typeface="Calibri" pitchFamily="34" charset="-120"/>
              </a:rPr>
              <a:t>Figures as of 11 Aug 2026, 17:00 COT (12 Aug 07:00 JST), about 33 hours after the earthquake. UNGRD's situation report gives 182 deaths, 2,542 injured and 189 missing; the President's balance gives 181 deaths; adding up what the departments and cities have announced gives 240. All three are shown. Figures are preliminary and still rising.</a:t>
            </a:r>
            <a:endParaRPr lang="en-US" sz="950" dirty="0"/>
          </a:p>
        </p:txBody>
      </p:sp>
      <p:sp>
        <p:nvSpPr>
          <p:cNvPr id="6" name="Text 3"/>
          <p:cNvSpPr/>
          <p:nvPr/>
        </p:nvSpPr>
        <p:spPr>
          <a:xfrm>
            <a:off x="365760" y="1664208"/>
            <a:ext cx="11430000" cy="4443984"/>
          </a:xfrm>
          <a:prstGeom prst="rect">
            <a:avLst/>
          </a:prstGeom>
          <a:noFill/>
          <a:ln/>
        </p:spPr>
        <p:txBody>
          <a:bodyPr wrap="square" lIns="50800" tIns="50800" rIns="50800" bIns="50800" rtlCol="0" anchor="t"/>
          <a:lstStyle/>
          <a:p>
            <a:pPr algn="l" marL="342900" indent="-342900">
              <a:buSzPct val="100000"/>
              <a:buChar char="•"/>
            </a:pPr>
            <a:r>
              <a:rPr lang="en-US" sz="1250" b="1" dirty="0">
                <a:solidFill>
                  <a:srgbClr val="1E7A34"/>
                </a:solidFill>
                <a:latin typeface="Calibri" pitchFamily="34" charset="0"/>
                <a:ea typeface="Calibri" pitchFamily="34" charset="-122"/>
                <a:cs typeface="Calibri" pitchFamily="34" charset="-120"/>
              </a:rPr>
              <a:t>[Official] </a:t>
            </a:r>
            <a:pPr algn="l" indent="0" marL="0">
              <a:spcAft>
                <a:spcPts val="500"/>
              </a:spcAft>
              <a:buNone/>
            </a:pPr>
            <a:r>
              <a:rPr lang="en-US" sz="1350" dirty="0">
                <a:solidFill>
                  <a:srgbClr val="222222"/>
                </a:solidFill>
                <a:latin typeface="Calibri" pitchFamily="34" charset="0"/>
                <a:ea typeface="Calibri" pitchFamily="34" charset="-122"/>
                <a:cs typeface="Calibri" pitchFamily="34" charset="-120"/>
              </a:rPr>
              <a:t>The Government declared a national disaster (desastre nacional), enabling extraordinary mobilisation and coordination of the response.</a:t>
            </a:r>
            <a:endParaRPr lang="en-US" sz="1250" dirty="0"/>
          </a:p>
          <a:p>
            <a:pPr algn="l" marL="342900" indent="-342900">
              <a:buSzPct val="100000"/>
              <a:buChar char="•"/>
            </a:pPr>
            <a:r>
              <a:rPr lang="en-US" sz="1250" b="1" dirty="0">
                <a:solidFill>
                  <a:srgbClr val="1E7A34"/>
                </a:solidFill>
                <a:latin typeface="Calibri" pitchFamily="34" charset="0"/>
                <a:ea typeface="Calibri" pitchFamily="34" charset="-122"/>
                <a:cs typeface="Calibri" pitchFamily="34" charset="-120"/>
              </a:rPr>
              <a:t>[Official] </a:t>
            </a:r>
            <a:pPr algn="l" indent="0" marL="0">
              <a:spcAft>
                <a:spcPts val="500"/>
              </a:spcAft>
              <a:buNone/>
            </a:pPr>
            <a:r>
              <a:rPr lang="en-US" sz="1350" dirty="0">
                <a:solidFill>
                  <a:srgbClr val="222222"/>
                </a:solidFill>
                <a:latin typeface="Calibri" pitchFamily="34" charset="0"/>
                <a:ea typeface="Calibri" pitchFamily="34" charset="-122"/>
                <a:cs typeface="Calibri" pitchFamily="34" charset="-120"/>
              </a:rPr>
              <a:t>President Abelardo de la Espriella - in office for three days - ordered a Unified Command Post (PMU) in Chocó to coordinate the emergency, and travelled to Pereira, one of the worst-hit cities.</a:t>
            </a:r>
            <a:endParaRPr lang="en-US" sz="1250" dirty="0"/>
          </a:p>
          <a:p>
            <a:pPr algn="l" marL="342900" indent="-342900">
              <a:buSzPct val="100000"/>
              <a:buChar char="•"/>
            </a:pPr>
            <a:r>
              <a:rPr lang="en-US" sz="1250" b="1" dirty="0">
                <a:solidFill>
                  <a:srgbClr val="1E7A34"/>
                </a:solidFill>
                <a:latin typeface="Calibri" pitchFamily="34" charset="0"/>
                <a:ea typeface="Calibri" pitchFamily="34" charset="-122"/>
                <a:cs typeface="Calibri" pitchFamily="34" charset="-120"/>
              </a:rPr>
              <a:t>[Official] </a:t>
            </a:r>
            <a:pPr algn="l" indent="0" marL="0">
              <a:spcAft>
                <a:spcPts val="500"/>
              </a:spcAft>
              <a:buNone/>
            </a:pPr>
            <a:r>
              <a:rPr lang="en-US" sz="1350" dirty="0">
                <a:solidFill>
                  <a:srgbClr val="222222"/>
                </a:solidFill>
                <a:latin typeface="Calibri" pitchFamily="34" charset="0"/>
                <a:ea typeface="Calibri" pitchFamily="34" charset="-122"/>
                <a:cs typeface="Calibri" pitchFamily="34" charset="-120"/>
              </a:rPr>
              <a:t>The National Unit for Disaster Risk Management (UNGRD) activated the national system, verified damage with departmental and municipal authorities, and channelled offers of assistance together with the Ministry of Foreign Affairs.</a:t>
            </a:r>
            <a:endParaRPr lang="en-US" sz="1250" dirty="0"/>
          </a:p>
          <a:p>
            <a:pPr algn="l" marL="342900" indent="-342900">
              <a:buSzPct val="100000"/>
              <a:buChar char="•"/>
            </a:pPr>
            <a:r>
              <a:rPr lang="en-US" sz="1250" b="1" dirty="0">
                <a:solidFill>
                  <a:srgbClr val="1E7A34"/>
                </a:solidFill>
                <a:latin typeface="Calibri" pitchFamily="34" charset="0"/>
                <a:ea typeface="Calibri" pitchFamily="34" charset="-122"/>
                <a:cs typeface="Calibri" pitchFamily="34" charset="-120"/>
              </a:rPr>
              <a:t>[Official] </a:t>
            </a:r>
            <a:pPr algn="l" indent="0" marL="0">
              <a:spcAft>
                <a:spcPts val="500"/>
              </a:spcAft>
              <a:buNone/>
            </a:pPr>
            <a:r>
              <a:rPr lang="en-US" sz="1350" dirty="0">
                <a:solidFill>
                  <a:srgbClr val="222222"/>
                </a:solidFill>
                <a:latin typeface="Calibri" pitchFamily="34" charset="0"/>
                <a:ea typeface="Calibri" pitchFamily="34" charset="-122"/>
                <a:cs typeface="Calibri" pitchFamily="34" charset="-120"/>
              </a:rPr>
              <a:t>Four USAR (urban search and rescue) groups were deployed from Bogotá, Envigado, Yopal and Medellín to reinforce search and rescue.</a:t>
            </a:r>
            <a:endParaRPr lang="en-US" sz="1250" dirty="0"/>
          </a:p>
          <a:p>
            <a:pPr algn="l" marL="342900" indent="-342900">
              <a:buSzPct val="100000"/>
              <a:buChar char="•"/>
            </a:pPr>
            <a:r>
              <a:rPr lang="en-US" sz="1250" b="1" dirty="0">
                <a:solidFill>
                  <a:srgbClr val="1E7A34"/>
                </a:solidFill>
                <a:latin typeface="Calibri" pitchFamily="34" charset="0"/>
                <a:ea typeface="Calibri" pitchFamily="34" charset="-122"/>
                <a:cs typeface="Calibri" pitchFamily="34" charset="-120"/>
              </a:rPr>
              <a:t>[Official] </a:t>
            </a:r>
            <a:pPr algn="l" indent="0" marL="0">
              <a:spcAft>
                <a:spcPts val="500"/>
              </a:spcAft>
              <a:buNone/>
            </a:pPr>
            <a:r>
              <a:rPr lang="en-US" sz="1350" dirty="0">
                <a:solidFill>
                  <a:srgbClr val="222222"/>
                </a:solidFill>
                <a:latin typeface="Calibri" pitchFamily="34" charset="0"/>
                <a:ea typeface="Calibri" pitchFamily="34" charset="-122"/>
                <a:cs typeface="Calibri" pitchFamily="34" charset="-120"/>
              </a:rPr>
              <a:t>Soldiers were deployed to the affected departments for search, rescue and route clearance.</a:t>
            </a:r>
            <a:endParaRPr lang="en-US" sz="1250" dirty="0"/>
          </a:p>
          <a:p>
            <a:pPr algn="l" marL="342900" indent="-342900">
              <a:buSzPct val="100000"/>
              <a:buChar char="•"/>
            </a:pPr>
            <a:r>
              <a:rPr lang="en-US" sz="1250" b="1" dirty="0">
                <a:solidFill>
                  <a:srgbClr val="1E7A34"/>
                </a:solidFill>
                <a:latin typeface="Calibri" pitchFamily="34" charset="0"/>
                <a:ea typeface="Calibri" pitchFamily="34" charset="-122"/>
                <a:cs typeface="Calibri" pitchFamily="34" charset="-120"/>
              </a:rPr>
              <a:t>[Official] </a:t>
            </a:r>
            <a:pPr algn="l" indent="0" marL="0">
              <a:spcAft>
                <a:spcPts val="500"/>
              </a:spcAft>
              <a:buNone/>
            </a:pPr>
            <a:r>
              <a:rPr lang="en-US" sz="1350" dirty="0">
                <a:solidFill>
                  <a:srgbClr val="222222"/>
                </a:solidFill>
                <a:latin typeface="Calibri" pitchFamily="34" charset="0"/>
                <a:ea typeface="Calibri" pitchFamily="34" charset="-122"/>
                <a:cs typeface="Calibri" pitchFamily="34" charset="-120"/>
              </a:rPr>
              <a:t>Civil aviation suspended flights at Pereira, Manizales, Quibdó, Armenia, Cartago and Buenaventura while runways and terminals were inspected.</a:t>
            </a:r>
            <a:endParaRPr lang="en-US" sz="1250" dirty="0"/>
          </a:p>
          <a:p>
            <a:pPr algn="l" marL="342900" indent="-342900">
              <a:buSzPct val="100000"/>
              <a:buChar char="•"/>
            </a:pPr>
            <a:r>
              <a:rPr lang="en-US" sz="1250" b="1" dirty="0">
                <a:solidFill>
                  <a:srgbClr val="B8860B"/>
                </a:solidFill>
                <a:latin typeface="Calibri" pitchFamily="34" charset="0"/>
                <a:ea typeface="Calibri" pitchFamily="34" charset="-122"/>
                <a:cs typeface="Calibri" pitchFamily="34" charset="-120"/>
              </a:rPr>
              <a:t>[Media] </a:t>
            </a:r>
            <a:pPr algn="l" indent="0" marL="0">
              <a:spcAft>
                <a:spcPts val="500"/>
              </a:spcAft>
              <a:buNone/>
            </a:pPr>
            <a:r>
              <a:rPr lang="en-US" sz="1350" dirty="0">
                <a:solidFill>
                  <a:srgbClr val="222222"/>
                </a:solidFill>
                <a:latin typeface="Calibri" pitchFamily="34" charset="0"/>
                <a:ea typeface="Calibri" pitchFamily="34" charset="-122"/>
                <a:cs typeface="Calibri" pitchFamily="34" charset="-120"/>
              </a:rPr>
              <a:t>Damaged buildings, power outages and communications disruption are slowing assessment in parts of Chocó closest to the epicentre.</a:t>
            </a:r>
            <a:endParaRPr lang="en-US" sz="1250" dirty="0"/>
          </a:p>
          <a:p>
            <a:pPr algn="l" marL="342900" indent="-342900">
              <a:buSzPct val="100000"/>
              <a:buChar char="•"/>
            </a:pPr>
            <a:r>
              <a:rPr lang="en-US" sz="1250" b="1" dirty="0">
                <a:solidFill>
                  <a:srgbClr val="1E7A34"/>
                </a:solidFill>
                <a:latin typeface="Calibri" pitchFamily="34" charset="0"/>
                <a:ea typeface="Calibri" pitchFamily="34" charset="-122"/>
                <a:cs typeface="Calibri" pitchFamily="34" charset="-120"/>
              </a:rPr>
              <a:t>[Official] </a:t>
            </a:r>
            <a:pPr algn="l" indent="0" marL="0">
              <a:spcAft>
                <a:spcPts val="500"/>
              </a:spcAft>
              <a:buNone/>
            </a:pPr>
            <a:r>
              <a:rPr lang="en-US" sz="1350" dirty="0">
                <a:solidFill>
                  <a:srgbClr val="222222"/>
                </a:solidFill>
                <a:latin typeface="Calibri" pitchFamily="34" charset="0"/>
                <a:ea typeface="Calibri" pitchFamily="34" charset="-122"/>
                <a:cs typeface="Calibri" pitchFamily="34" charset="-120"/>
              </a:rPr>
              <a:t>GLIDE number assigned for this event: EQ-2026-000146-COL.</a:t>
            </a:r>
            <a:endParaRPr lang="en-US" sz="1250" dirty="0"/>
          </a:p>
        </p:txBody>
      </p:sp>
      <p:sp>
        <p:nvSpPr>
          <p:cNvPr id="7" name="Text 4"/>
          <p:cNvSpPr/>
          <p:nvPr/>
        </p:nvSpPr>
        <p:spPr>
          <a:xfrm>
            <a:off x="365760" y="6272784"/>
            <a:ext cx="11430000" cy="219456"/>
          </a:xfrm>
          <a:prstGeom prst="rect">
            <a:avLst/>
          </a:prstGeom>
          <a:noFill/>
          <a:ln/>
        </p:spPr>
        <p:txBody>
          <a:bodyPr wrap="square" lIns="0" tIns="0" rIns="0" bIns="0" rtlCol="0" anchor="ctr"/>
          <a:lstStyle/>
          <a:p>
            <a:pPr algn="l" indent="0" marL="0">
              <a:buNone/>
            </a:pPr>
            <a:r>
              <a:rPr lang="en-US" sz="850" b="1" dirty="0">
                <a:solidFill>
                  <a:srgbClr val="6A6A6A"/>
                </a:solidFill>
                <a:latin typeface="Calibri" pitchFamily="34" charset="0"/>
                <a:ea typeface="Calibri" pitchFamily="34" charset="-122"/>
                <a:cs typeface="Calibri" pitchFamily="34" charset="-120"/>
              </a:rPr>
              <a:t>Sources: </a:t>
            </a:r>
            <a:pPr algn="l" indent="0" marL="0">
              <a:buNone/>
            </a:pPr>
            <a:r>
              <a:rPr lang="en-US" sz="850" u="sng" dirty="0">
                <a:solidFill>
                  <a:srgbClr val="0563C1"/>
                </a:solidFill>
                <a:latin typeface="Calibri" pitchFamily="34" charset="0"/>
                <a:ea typeface="Calibri" pitchFamily="34" charset="-122"/>
                <a:cs typeface="Calibri" pitchFamily="34" charset="-120"/>
                <a:hlinkClick r:id="rId2" invalidUrl="" action="" tgtFrame="" tooltip="" history="1" highlightClick="0" endSnd="0">
                  <a:extLst>
                    <a:ext uri="{A12FA001-AC4F-418D-AE19-62706E023703}">
                      <ahyp:hlinkClr xmlns:ahyp="http://schemas.microsoft.com/office/drawing/2018/hyperlinkcolor" val="tx"/>
                    </a:ext>
                  </a:extLst>
                </a:hlinkClick>
              </a:rPr>
              <a:t>UNGRD - National Unit for Disaster Risk Management</a:t>
            </a:r>
            <a:pPr algn="l" indent="0" marL="0">
              <a:buNone/>
            </a:pPr>
            <a:r>
              <a:rPr lang="en-US" sz="850" dirty="0">
                <a:solidFill>
                  <a:srgbClr val="6A6A6A"/>
                </a:solidFill>
                <a:latin typeface="Calibri" pitchFamily="34" charset="0"/>
                <a:ea typeface="Calibri" pitchFamily="34" charset="-122"/>
                <a:cs typeface="Calibri" pitchFamily="34" charset="-120"/>
              </a:rPr>
              <a:t>   ·   </a:t>
            </a:r>
            <a:pPr algn="l" indent="0" marL="0">
              <a:buNone/>
            </a:pPr>
            <a:r>
              <a:rPr lang="en-US" sz="850" u="sng" dirty="0">
                <a:solidFill>
                  <a:srgbClr val="0563C1"/>
                </a:solidFill>
                <a:latin typeface="Calibri" pitchFamily="34" charset="0"/>
                <a:ea typeface="Calibri" pitchFamily="34" charset="-122"/>
                <a:cs typeface="Calibri" pitchFamily="34" charset="-120"/>
                <a:hlinkClick r:id="rId3" invalidUrl="" action="" tgtFrame="" tooltip="" history="1" highlightClick="0" endSnd="0">
                  <a:extLst>
                    <a:ext uri="{A12FA001-AC4F-418D-AE19-62706E023703}">
                      <ahyp:hlinkClr xmlns:ahyp="http://schemas.microsoft.com/office/drawing/2018/hyperlinkcolor" val="tx"/>
                    </a:ext>
                  </a:extLst>
                </a:hlinkClick>
              </a:rPr>
              <a:t>Colombia One - Government declares national disaster</a:t>
            </a:r>
            <a:pPr algn="l" indent="0" marL="0">
              <a:buNone/>
            </a:pPr>
            <a:r>
              <a:rPr lang="en-US" sz="850" dirty="0">
                <a:solidFill>
                  <a:srgbClr val="6A6A6A"/>
                </a:solidFill>
                <a:latin typeface="Calibri" pitchFamily="34" charset="0"/>
                <a:ea typeface="Calibri" pitchFamily="34" charset="-122"/>
                <a:cs typeface="Calibri" pitchFamily="34" charset="-120"/>
              </a:rPr>
              <a:t>   ·   </a:t>
            </a:r>
            <a:pPr algn="l" indent="0" marL="0">
              <a:buNone/>
            </a:pPr>
            <a:r>
              <a:rPr lang="en-US" sz="850" u="sng" dirty="0">
                <a:solidFill>
                  <a:srgbClr val="0563C1"/>
                </a:solidFill>
                <a:latin typeface="Calibri" pitchFamily="34" charset="0"/>
                <a:ea typeface="Calibri" pitchFamily="34" charset="-122"/>
                <a:cs typeface="Calibri" pitchFamily="34" charset="-120"/>
                <a:hlinkClick r:id="rId4" invalidUrl="" action="" tgtFrame="" tooltip="" history="1" highlightClick="0" endSnd="0">
                  <a:extLst>
                    <a:ext uri="{A12FA001-AC4F-418D-AE19-62706E023703}">
                      <ahyp:hlinkClr xmlns:ahyp="http://schemas.microsoft.com/office/drawing/2018/hyperlinkcolor" val="tx"/>
                    </a:ext>
                  </a:extLst>
                </a:hlinkClick>
              </a:rPr>
              <a:t>France 24 - Colombia declares national emergency as quake toll hits 111</a:t>
            </a:r>
            <a:endParaRPr lang="en-US" sz="850" dirty="0"/>
          </a:p>
        </p:txBody>
      </p:sp>
      <p:sp>
        <p:nvSpPr>
          <p:cNvPr id="8" name="Shape 5"/>
          <p:cNvSpPr/>
          <p:nvPr/>
        </p:nvSpPr>
        <p:spPr>
          <a:xfrm>
            <a:off x="10268712" y="6510528"/>
            <a:ext cx="1554480" cy="274320"/>
          </a:xfrm>
          <a:prstGeom prst="rect">
            <a:avLst/>
          </a:prstGeom>
          <a:solidFill>
            <a:srgbClr val="E8A317"/>
          </a:solidFill>
          <a:ln w="12700">
            <a:solidFill>
              <a:srgbClr val="E8A317"/>
            </a:solidFill>
            <a:prstDash val="solid"/>
          </a:ln>
        </p:spPr>
      </p:sp>
      <p:sp>
        <p:nvSpPr>
          <p:cNvPr id="9" name="Text 6"/>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950" b="1" dirty="0">
                <a:solidFill>
                  <a:srgbClr val="000000"/>
                </a:solidFill>
                <a:latin typeface="Calibri" pitchFamily="34" charset="0"/>
                <a:ea typeface="Calibri" pitchFamily="34" charset="-122"/>
                <a:cs typeface="Calibri" pitchFamily="34" charset="-120"/>
              </a:rPr>
              <a:t>ADRC  12/08/2026</a:t>
            </a:r>
            <a:endParaRPr lang="en-US" sz="950" dirty="0"/>
          </a:p>
        </p:txBody>
      </p:sp>
      <p:sp>
        <p:nvSpPr>
          <p:cNvPr id="10" name="Text 7"/>
          <p:cNvSpPr/>
          <p:nvPr/>
        </p:nvSpPr>
        <p:spPr>
          <a:xfrm>
            <a:off x="365760" y="6547104"/>
            <a:ext cx="548640" cy="219456"/>
          </a:xfrm>
          <a:prstGeom prst="rect">
            <a:avLst/>
          </a:prstGeom>
          <a:noFill/>
          <a:ln/>
        </p:spPr>
        <p:txBody>
          <a:bodyPr wrap="square" lIns="0" tIns="0" rIns="0" bIns="0" rtlCol="0" anchor="ctr"/>
          <a:lstStyle/>
          <a:p>
            <a:pPr algn="l" indent="0" marL="0">
              <a:buNone/>
            </a:pPr>
            <a:r>
              <a:rPr lang="en-US" sz="900" dirty="0">
                <a:solidFill>
                  <a:srgbClr val="6A6A6A"/>
                </a:solidFill>
                <a:latin typeface="Calibri" pitchFamily="34" charset="0"/>
                <a:ea typeface="Calibri" pitchFamily="34" charset="-122"/>
                <a:cs typeface="Calibri" pitchFamily="34" charset="-120"/>
              </a:rPr>
              <a:t>3</a:t>
            </a:r>
            <a:endParaRPr lang="en-US" sz="9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92608"/>
            <a:ext cx="10332720" cy="566928"/>
          </a:xfrm>
          <a:prstGeom prst="rect">
            <a:avLst/>
          </a:prstGeom>
          <a:noFill/>
          <a:ln/>
        </p:spPr>
        <p:txBody>
          <a:bodyPr wrap="none" lIns="0" tIns="0" rIns="0" bIns="0" rtlCol="0" anchor="ctr">
            <a:normAutofit/>
          </a:bodyPr>
          <a:lstStyle/>
          <a:p>
            <a:pPr algn="l" indent="0" marL="0">
              <a:buNone/>
            </a:pPr>
            <a:r>
              <a:rPr lang="en-US" sz="2100" b="1" dirty="0">
                <a:solidFill>
                  <a:srgbClr val="1F3864"/>
                </a:solidFill>
                <a:latin typeface="Cambria" pitchFamily="34" charset="0"/>
                <a:ea typeface="Cambria" pitchFamily="34" charset="-122"/>
                <a:cs typeface="Cambria" pitchFamily="34" charset="-120"/>
              </a:rPr>
              <a:t>Chronology of the Response (10-11 August) (1/2)</a:t>
            </a:r>
            <a:endParaRPr lang="en-US" sz="2100" dirty="0"/>
          </a:p>
        </p:txBody>
      </p:sp>
      <p:pic>
        <p:nvPicPr>
          <p:cNvPr id="3" name="Image 0" descr="/home/user/whatsmap/reports/colombia_eq_20260810/images/adrc_logo.png">    </p:cNvPr>
          <p:cNvPicPr>
            <a:picLocks noChangeAspect="1"/>
          </p:cNvPicPr>
          <p:nvPr/>
        </p:nvPicPr>
        <p:blipFill>
          <a:blip r:embed="rId1"/>
          <a:stretch>
            <a:fillRect/>
          </a:stretch>
        </p:blipFill>
        <p:spPr>
          <a:xfrm>
            <a:off x="10945368" y="73152"/>
            <a:ext cx="877824" cy="877824"/>
          </a:xfrm>
          <a:prstGeom prst="rect">
            <a:avLst/>
          </a:prstGeom>
        </p:spPr>
      </p:pic>
      <p:sp>
        <p:nvSpPr>
          <p:cNvPr id="4" name="Text 1"/>
          <p:cNvSpPr/>
          <p:nvPr/>
        </p:nvSpPr>
        <p:spPr>
          <a:xfrm>
            <a:off x="365760" y="896112"/>
            <a:ext cx="11430000" cy="274320"/>
          </a:xfrm>
          <a:prstGeom prst="rect">
            <a:avLst/>
          </a:prstGeom>
          <a:noFill/>
          <a:ln/>
        </p:spPr>
        <p:txBody>
          <a:bodyPr wrap="square" lIns="0" tIns="0" rIns="0" bIns="0" rtlCol="0" anchor="t"/>
          <a:lstStyle/>
          <a:p>
            <a:pPr indent="0" marL="0">
              <a:buNone/>
            </a:pPr>
            <a:r>
              <a:rPr lang="en-US" sz="950" i="1" dirty="0">
                <a:solidFill>
                  <a:srgbClr val="6A6A6A"/>
                </a:solidFill>
                <a:latin typeface="Calibri" pitchFamily="34" charset="0"/>
                <a:ea typeface="Calibri" pitchFamily="34" charset="-122"/>
                <a:cs typeface="Calibri" pitchFamily="34" charset="-120"/>
              </a:rPr>
              <a:t>Times are Colombia time (COT, UTC-5). The earthquake occurred at 07:34 COT = 21:34 JST on 10 August.</a:t>
            </a:r>
            <a:endParaRPr lang="en-US" sz="950" dirty="0"/>
          </a:p>
        </p:txBody>
      </p:sp>
      <p:graphicFrame>
        <p:nvGraphicFramePr>
          <p:cNvPr id="5" name="Table 0"/>
          <p:cNvGraphicFramePr>
            <a:graphicFrameLocks noGrp="1"/>
          </p:cNvGraphicFramePr>
          <p:nvPr>
            <p:extLst>
              <p:ext uri="{D42A27DB-BD31-4B8C-83A1-F6EECF244321}">
                <p14:modId xmlns:p14="http://schemas.microsoft.com/office/powerpoint/2010/main" val="1579011935"/>
              </p:ext>
            </p:extLst>
          </p:nvPr>
        </p:nvGraphicFramePr>
        <p:xfrm>
          <a:off x="365760" y="1225296"/>
          <a:ext cx="11430000" cy="914400"/>
        </p:xfrm>
        <a:graphic>
          <a:graphicData uri="http://schemas.openxmlformats.org/drawingml/2006/table">
            <a:tbl>
              <a:tblPr/>
              <a:tblGrid>
                <a:gridCol w="1188720"/>
                <a:gridCol w="8412480"/>
                <a:gridCol w="1828800"/>
              </a:tblGrid>
              <a:tr h="530352">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Time</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Action</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Source</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r>
              <a:tr h="530352">
                <a:tc>
                  <a:txBody>
                    <a:bodyPr/>
                    <a:lstStyle/>
                    <a:p>
                      <a:pPr algn="ctr" indent="0" marL="0">
                        <a:buNone/>
                      </a:pPr>
                      <a:r>
                        <a:rPr lang="en-US" sz="1000" b="1" dirty="0">
                          <a:solidFill>
                            <a:srgbClr val="1F3864"/>
                          </a:solidFill>
                          <a:latin typeface="Calibri" pitchFamily="34" charset="0"/>
                          <a:ea typeface="Calibri" pitchFamily="34" charset="-122"/>
                          <a:cs typeface="Calibri" pitchFamily="34" charset="-120"/>
                        </a:rPr>
                        <a:t>07:34</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1000" dirty="0">
                          <a:solidFill>
                            <a:srgbClr val="222222"/>
                          </a:solidFill>
                          <a:latin typeface="Calibri" pitchFamily="34" charset="0"/>
                          <a:ea typeface="Calibri" pitchFamily="34" charset="-122"/>
                          <a:cs typeface="Calibri" pitchFamily="34" charset="-120"/>
                        </a:rPr>
                        <a:t>Mww 7.4 earthquake, epicentre 5 km S of San José del Palmar (Chocó), depth approx. 110 km. Felt in Bogotá, Cali, Medellín, and in Ecuador, Panama and Venezuela.</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1E7A34"/>
                          </a:solidFill>
                          <a:latin typeface="Calibri" pitchFamily="34" charset="0"/>
                          <a:ea typeface="Calibri" pitchFamily="34" charset="-122"/>
                          <a:cs typeface="Calibri" pitchFamily="34" charset="-120"/>
                        </a:rPr>
                        <a:t>USGS / SGC</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530352">
                <a:tc>
                  <a:txBody>
                    <a:bodyPr/>
                    <a:lstStyle/>
                    <a:p>
                      <a:pPr algn="ctr" indent="0" marL="0">
                        <a:buNone/>
                      </a:pPr>
                      <a:r>
                        <a:rPr lang="en-US" sz="1000" b="1" dirty="0">
                          <a:solidFill>
                            <a:srgbClr val="1F3864"/>
                          </a:solidFill>
                          <a:latin typeface="Calibri" pitchFamily="34" charset="0"/>
                          <a:ea typeface="Calibri" pitchFamily="34" charset="-122"/>
                          <a:cs typeface="Calibri" pitchFamily="34" charset="-120"/>
                        </a:rPr>
                        <a:t>07:40s</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1000" dirty="0">
                          <a:solidFill>
                            <a:srgbClr val="222222"/>
                          </a:solidFill>
                          <a:latin typeface="Calibri" pitchFamily="34" charset="0"/>
                          <a:ea typeface="Calibri" pitchFamily="34" charset="-122"/>
                          <a:cs typeface="Calibri" pitchFamily="34" charset="-120"/>
                        </a:rPr>
                        <a:t>The SGC issues a first bulletin (initially M6.6, 79 km depth), later revised to M7.4 at 96 km, located with 69 stations (event SGC2026pqqmro); damage-assessment protocols activated.</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1E7A34"/>
                          </a:solidFill>
                          <a:latin typeface="Calibri" pitchFamily="34" charset="0"/>
                          <a:ea typeface="Calibri" pitchFamily="34" charset="-122"/>
                          <a:cs typeface="Calibri" pitchFamily="34" charset="-120"/>
                        </a:rPr>
                        <a:t>SGC</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530352">
                <a:tc>
                  <a:txBody>
                    <a:bodyPr/>
                    <a:lstStyle/>
                    <a:p>
                      <a:pPr algn="ctr" indent="0" marL="0">
                        <a:buNone/>
                      </a:pPr>
                      <a:r>
                        <a:rPr lang="en-US" sz="1000" b="1" dirty="0">
                          <a:solidFill>
                            <a:srgbClr val="1F3864"/>
                          </a:solidFill>
                          <a:latin typeface="Calibri" pitchFamily="34" charset="0"/>
                          <a:ea typeface="Calibri" pitchFamily="34" charset="-122"/>
                          <a:cs typeface="Calibri" pitchFamily="34" charset="-120"/>
                        </a:rPr>
                        <a:t>Morning</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1000" dirty="0">
                          <a:solidFill>
                            <a:srgbClr val="222222"/>
                          </a:solidFill>
                          <a:latin typeface="Calibri" pitchFamily="34" charset="0"/>
                          <a:ea typeface="Calibri" pitchFamily="34" charset="-122"/>
                          <a:cs typeface="Calibri" pitchFamily="34" charset="-120"/>
                        </a:rPr>
                        <a:t>UNGRD reports first damage indications in 9 municipalities of Chocó, 8 of Caldas, 2 of Valle del Cauca and 2 of Risaralda, plus localities in Quindío.</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1E7A34"/>
                          </a:solidFill>
                          <a:latin typeface="Calibri" pitchFamily="34" charset="0"/>
                          <a:ea typeface="Calibri" pitchFamily="34" charset="-122"/>
                          <a:cs typeface="Calibri" pitchFamily="34" charset="-120"/>
                        </a:rPr>
                        <a:t>UNGRD</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530352">
                <a:tc>
                  <a:txBody>
                    <a:bodyPr/>
                    <a:lstStyle/>
                    <a:p>
                      <a:pPr algn="ctr" indent="0" marL="0">
                        <a:buNone/>
                      </a:pPr>
                      <a:r>
                        <a:rPr lang="en-US" sz="1000" b="1" dirty="0">
                          <a:solidFill>
                            <a:srgbClr val="1F3864"/>
                          </a:solidFill>
                          <a:latin typeface="Calibri" pitchFamily="34" charset="0"/>
                          <a:ea typeface="Calibri" pitchFamily="34" charset="-122"/>
                          <a:cs typeface="Calibri" pitchFamily="34" charset="-120"/>
                        </a:rPr>
                        <a:t>Morning</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1000" dirty="0">
                          <a:solidFill>
                            <a:srgbClr val="222222"/>
                          </a:solidFill>
                          <a:latin typeface="Calibri" pitchFamily="34" charset="0"/>
                          <a:ea typeface="Calibri" pitchFamily="34" charset="-122"/>
                          <a:cs typeface="Calibri" pitchFamily="34" charset="-120"/>
                        </a:rPr>
                        <a:t>Cali reports collapsed structures at 12 critical points with people trapped; part of the University Hospital collapses.</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B8860B"/>
                          </a:solidFill>
                          <a:latin typeface="Calibri" pitchFamily="34" charset="0"/>
                          <a:ea typeface="Calibri" pitchFamily="34" charset="-122"/>
                          <a:cs typeface="Calibri" pitchFamily="34" charset="-120"/>
                        </a:rPr>
                        <a:t>Mayor of Cali</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530352">
                <a:tc>
                  <a:txBody>
                    <a:bodyPr/>
                    <a:lstStyle/>
                    <a:p>
                      <a:pPr algn="ctr" indent="0" marL="0">
                        <a:buNone/>
                      </a:pPr>
                      <a:r>
                        <a:rPr lang="en-US" sz="1000" b="1" dirty="0">
                          <a:solidFill>
                            <a:srgbClr val="1F3864"/>
                          </a:solidFill>
                          <a:latin typeface="Calibri" pitchFamily="34" charset="0"/>
                          <a:ea typeface="Calibri" pitchFamily="34" charset="-122"/>
                          <a:cs typeface="Calibri" pitchFamily="34" charset="-120"/>
                        </a:rPr>
                        <a:t>Morning</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1000" dirty="0">
                          <a:solidFill>
                            <a:srgbClr val="222222"/>
                          </a:solidFill>
                          <a:latin typeface="Calibri" pitchFamily="34" charset="0"/>
                          <a:ea typeface="Calibri" pitchFamily="34" charset="-122"/>
                          <a:cs typeface="Calibri" pitchFamily="34" charset="-120"/>
                        </a:rPr>
                        <a:t>Manizales reports 17 buildings collapsed and 19 partially collapsed; a tower of the neo-Gothic cathedral falls onto the nave. Residents asked to stay outdoors because of aftershocks.</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B8860B"/>
                          </a:solidFill>
                          <a:latin typeface="Calibri" pitchFamily="34" charset="0"/>
                          <a:ea typeface="Calibri" pitchFamily="34" charset="-122"/>
                          <a:cs typeface="Calibri" pitchFamily="34" charset="-120"/>
                        </a:rPr>
                        <a:t>Mayor of Manizales</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530352">
                <a:tc>
                  <a:txBody>
                    <a:bodyPr/>
                    <a:lstStyle/>
                    <a:p>
                      <a:pPr algn="ctr" indent="0" marL="0">
                        <a:buNone/>
                      </a:pPr>
                      <a:r>
                        <a:rPr lang="en-US" sz="1000" b="1" dirty="0">
                          <a:solidFill>
                            <a:srgbClr val="1F3864"/>
                          </a:solidFill>
                          <a:latin typeface="Calibri" pitchFamily="34" charset="0"/>
                          <a:ea typeface="Calibri" pitchFamily="34" charset="-122"/>
                          <a:cs typeface="Calibri" pitchFamily="34" charset="-120"/>
                        </a:rPr>
                        <a:t>Morning</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1000" dirty="0">
                          <a:solidFill>
                            <a:srgbClr val="222222"/>
                          </a:solidFill>
                          <a:latin typeface="Calibri" pitchFamily="34" charset="0"/>
                          <a:ea typeface="Calibri" pitchFamily="34" charset="-122"/>
                          <a:cs typeface="Calibri" pitchFamily="34" charset="-120"/>
                        </a:rPr>
                        <a:t>Passenger terminal of Matecaña International Airport (Pereira) partially collapses; flights suspended at six regional airports.</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B8860B"/>
                          </a:solidFill>
                          <a:latin typeface="Calibri" pitchFamily="34" charset="0"/>
                          <a:ea typeface="Calibri" pitchFamily="34" charset="-122"/>
                          <a:cs typeface="Calibri" pitchFamily="34" charset="-120"/>
                        </a:rPr>
                        <a:t>Aerocivil / media</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530352">
                <a:tc>
                  <a:txBody>
                    <a:bodyPr/>
                    <a:lstStyle/>
                    <a:p>
                      <a:pPr algn="ctr" indent="0" marL="0">
                        <a:buNone/>
                      </a:pPr>
                      <a:r>
                        <a:rPr lang="en-US" sz="1000" b="1" dirty="0">
                          <a:solidFill>
                            <a:srgbClr val="1F3864"/>
                          </a:solidFill>
                          <a:latin typeface="Calibri" pitchFamily="34" charset="0"/>
                          <a:ea typeface="Calibri" pitchFamily="34" charset="-122"/>
                          <a:cs typeface="Calibri" pitchFamily="34" charset="-120"/>
                        </a:rPr>
                        <a:t>Daytime</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1000" dirty="0">
                          <a:solidFill>
                            <a:srgbClr val="222222"/>
                          </a:solidFill>
                          <a:latin typeface="Calibri" pitchFamily="34" charset="0"/>
                          <a:ea typeface="Calibri" pitchFamily="34" charset="-122"/>
                          <a:cs typeface="Calibri" pitchFamily="34" charset="-120"/>
                        </a:rPr>
                        <a:t>National disaster declared; Unified Command Post established in Chocó; armed forces deployed.</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1E7A34"/>
                          </a:solidFill>
                          <a:latin typeface="Calibri" pitchFamily="34" charset="0"/>
                          <a:ea typeface="Calibri" pitchFamily="34" charset="-122"/>
                          <a:cs typeface="Calibri" pitchFamily="34" charset="-120"/>
                        </a:rPr>
                        <a:t>Government</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530352">
                <a:tc>
                  <a:txBody>
                    <a:bodyPr/>
                    <a:lstStyle/>
                    <a:p>
                      <a:pPr algn="ctr" indent="0" marL="0">
                        <a:buNone/>
                      </a:pPr>
                      <a:r>
                        <a:rPr lang="en-US" sz="1000" b="1" dirty="0">
                          <a:solidFill>
                            <a:srgbClr val="1F3864"/>
                          </a:solidFill>
                          <a:latin typeface="Calibri" pitchFamily="34" charset="0"/>
                          <a:ea typeface="Calibri" pitchFamily="34" charset="-122"/>
                          <a:cs typeface="Calibri" pitchFamily="34" charset="-120"/>
                        </a:rPr>
                        <a:t>Daytime</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1000" dirty="0">
                          <a:solidFill>
                            <a:srgbClr val="222222"/>
                          </a:solidFill>
                          <a:latin typeface="Calibri" pitchFamily="34" charset="0"/>
                          <a:ea typeface="Calibri" pitchFamily="34" charset="-122"/>
                          <a:cs typeface="Calibri" pitchFamily="34" charset="-120"/>
                        </a:rPr>
                        <a:t>Four USAR teams deployed from Bogotá, Envigado, Yopal and Medellín.</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1E7A34"/>
                          </a:solidFill>
                          <a:latin typeface="Calibri" pitchFamily="34" charset="0"/>
                          <a:ea typeface="Calibri" pitchFamily="34" charset="-122"/>
                          <a:cs typeface="Calibri" pitchFamily="34" charset="-120"/>
                        </a:rPr>
                        <a:t>UNGRD</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bl>
          </a:graphicData>
        </a:graphic>
      </p:graphicFrame>
      <p:sp>
        <p:nvSpPr>
          <p:cNvPr id="6" name="Text 2"/>
          <p:cNvSpPr/>
          <p:nvPr/>
        </p:nvSpPr>
        <p:spPr>
          <a:xfrm>
            <a:off x="365760" y="6272784"/>
            <a:ext cx="11430000" cy="219456"/>
          </a:xfrm>
          <a:prstGeom prst="rect">
            <a:avLst/>
          </a:prstGeom>
          <a:noFill/>
          <a:ln/>
        </p:spPr>
        <p:txBody>
          <a:bodyPr wrap="square" lIns="0" tIns="0" rIns="0" bIns="0" rtlCol="0" anchor="ctr"/>
          <a:lstStyle/>
          <a:p>
            <a:pPr algn="l" indent="0" marL="0">
              <a:buNone/>
            </a:pPr>
            <a:r>
              <a:rPr lang="en-US" sz="850" b="1" dirty="0">
                <a:solidFill>
                  <a:srgbClr val="6A6A6A"/>
                </a:solidFill>
                <a:latin typeface="Calibri" pitchFamily="34" charset="0"/>
                <a:ea typeface="Calibri" pitchFamily="34" charset="-122"/>
                <a:cs typeface="Calibri" pitchFamily="34" charset="-120"/>
              </a:rPr>
              <a:t>Sources: </a:t>
            </a:r>
            <a:pPr algn="l" indent="0" marL="0">
              <a:buNone/>
            </a:pPr>
            <a:r>
              <a:rPr lang="en-US" sz="850" u="sng" dirty="0">
                <a:solidFill>
                  <a:srgbClr val="0563C1"/>
                </a:solidFill>
                <a:latin typeface="Calibri" pitchFamily="34" charset="0"/>
                <a:ea typeface="Calibri" pitchFamily="34" charset="-122"/>
                <a:cs typeface="Calibri" pitchFamily="34" charset="-120"/>
                <a:hlinkClick r:id="rId2" invalidUrl="" action="" tgtFrame="" tooltip="" history="1" highlightClick="0" endSnd="0">
                  <a:extLst>
                    <a:ext uri="{A12FA001-AC4F-418D-AE19-62706E023703}">
                      <ahyp:hlinkClr xmlns:ahyp="http://schemas.microsoft.com/office/drawing/2018/hyperlinkcolor" val="tx"/>
                    </a:ext>
                  </a:extLst>
                </a:hlinkClick>
              </a:rPr>
              <a:t>USGS - M 7.4 San José del Palmar, Colombia (event page)</a:t>
            </a:r>
            <a:pPr algn="l" indent="0" marL="0">
              <a:buNone/>
            </a:pPr>
            <a:r>
              <a:rPr lang="en-US" sz="850" dirty="0">
                <a:solidFill>
                  <a:srgbClr val="6A6A6A"/>
                </a:solidFill>
                <a:latin typeface="Calibri" pitchFamily="34" charset="0"/>
                <a:ea typeface="Calibri" pitchFamily="34" charset="-122"/>
                <a:cs typeface="Calibri" pitchFamily="34" charset="-120"/>
              </a:rPr>
              <a:t>   ·   </a:t>
            </a:r>
            <a:pPr algn="l" indent="0" marL="0">
              <a:buNone/>
            </a:pPr>
            <a:r>
              <a:rPr lang="en-US" sz="850" u="sng" dirty="0">
                <a:solidFill>
                  <a:srgbClr val="0563C1"/>
                </a:solidFill>
                <a:latin typeface="Calibri" pitchFamily="34" charset="0"/>
                <a:ea typeface="Calibri" pitchFamily="34" charset="-122"/>
                <a:cs typeface="Calibri" pitchFamily="34" charset="-120"/>
                <a:hlinkClick r:id="rId3" invalidUrl="" action="" tgtFrame="" tooltip="" history="1" highlightClick="0" endSnd="0">
                  <a:extLst>
                    <a:ext uri="{A12FA001-AC4F-418D-AE19-62706E023703}">
                      <ahyp:hlinkClr xmlns:ahyp="http://schemas.microsoft.com/office/drawing/2018/hyperlinkcolor" val="tx"/>
                    </a:ext>
                  </a:extLst>
                </a:hlinkClick>
              </a:rPr>
              <a:t>UNGRD - National Unit for Disaster Risk Management</a:t>
            </a:r>
            <a:pPr algn="l" indent="0" marL="0">
              <a:buNone/>
            </a:pPr>
            <a:r>
              <a:rPr lang="en-US" sz="850" dirty="0">
                <a:solidFill>
                  <a:srgbClr val="6A6A6A"/>
                </a:solidFill>
                <a:latin typeface="Calibri" pitchFamily="34" charset="0"/>
                <a:ea typeface="Calibri" pitchFamily="34" charset="-122"/>
                <a:cs typeface="Calibri" pitchFamily="34" charset="-120"/>
              </a:rPr>
              <a:t>   ·   </a:t>
            </a:r>
            <a:pPr algn="l" indent="0" marL="0">
              <a:buNone/>
            </a:pPr>
            <a:r>
              <a:rPr lang="en-US" sz="850" u="sng" dirty="0">
                <a:solidFill>
                  <a:srgbClr val="0563C1"/>
                </a:solidFill>
                <a:latin typeface="Calibri" pitchFamily="34" charset="0"/>
                <a:ea typeface="Calibri" pitchFamily="34" charset="-122"/>
                <a:cs typeface="Calibri" pitchFamily="34" charset="-120"/>
                <a:hlinkClick r:id="rId4" invalidUrl="" action="" tgtFrame="" tooltip="" history="1" highlightClick="0" endSnd="0">
                  <a:extLst>
                    <a:ext uri="{A12FA001-AC4F-418D-AE19-62706E023703}">
                      <ahyp:hlinkClr xmlns:ahyp="http://schemas.microsoft.com/office/drawing/2018/hyperlinkcolor" val="tx"/>
                    </a:ext>
                  </a:extLst>
                </a:hlinkClick>
              </a:rPr>
              <a:t>CNN — live updates: death toll rises to 132</a:t>
            </a:r>
            <a:pPr algn="l" indent="0" marL="0">
              <a:buNone/>
            </a:pPr>
            <a:r>
              <a:rPr lang="en-US" sz="850" dirty="0">
                <a:solidFill>
                  <a:srgbClr val="6A6A6A"/>
                </a:solidFill>
                <a:latin typeface="Calibri" pitchFamily="34" charset="0"/>
                <a:ea typeface="Calibri" pitchFamily="34" charset="-122"/>
                <a:cs typeface="Calibri" pitchFamily="34" charset="-120"/>
              </a:rPr>
              <a:t>   ·   </a:t>
            </a:r>
            <a:pPr algn="l" indent="0" marL="0">
              <a:buNone/>
            </a:pPr>
            <a:r>
              <a:rPr lang="en-US" sz="850" u="sng" dirty="0">
                <a:solidFill>
                  <a:srgbClr val="0563C1"/>
                </a:solidFill>
                <a:latin typeface="Calibri" pitchFamily="34" charset="0"/>
                <a:ea typeface="Calibri" pitchFamily="34" charset="-122"/>
                <a:cs typeface="Calibri" pitchFamily="34" charset="-120"/>
                <a:hlinkClick r:id="rId5" invalidUrl="" action="" tgtFrame="" tooltip="" history="1" highlightClick="0" endSnd="0">
                  <a:extLst>
                    <a:ext uri="{A12FA001-AC4F-418D-AE19-62706E023703}">
                      <ahyp:hlinkClr xmlns:ahyp="http://schemas.microsoft.com/office/drawing/2018/hyperlinkcolor" val="tx"/>
                    </a:ext>
                  </a:extLst>
                </a:hlinkClick>
              </a:rPr>
              <a:t>Colombia One - First official assessment: widespread structural damage</a:t>
            </a:r>
            <a:endParaRPr lang="en-US" sz="850" dirty="0"/>
          </a:p>
        </p:txBody>
      </p:sp>
      <p:sp>
        <p:nvSpPr>
          <p:cNvPr id="7" name="Shape 3"/>
          <p:cNvSpPr/>
          <p:nvPr/>
        </p:nvSpPr>
        <p:spPr>
          <a:xfrm>
            <a:off x="10268712" y="6510528"/>
            <a:ext cx="1554480" cy="274320"/>
          </a:xfrm>
          <a:prstGeom prst="rect">
            <a:avLst/>
          </a:prstGeom>
          <a:solidFill>
            <a:srgbClr val="E8A317"/>
          </a:solidFill>
          <a:ln w="12700">
            <a:solidFill>
              <a:srgbClr val="E8A317"/>
            </a:solidFill>
            <a:prstDash val="solid"/>
          </a:ln>
        </p:spPr>
      </p:sp>
      <p:sp>
        <p:nvSpPr>
          <p:cNvPr id="8" name="Text 4"/>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950" b="1" dirty="0">
                <a:solidFill>
                  <a:srgbClr val="000000"/>
                </a:solidFill>
                <a:latin typeface="Calibri" pitchFamily="34" charset="0"/>
                <a:ea typeface="Calibri" pitchFamily="34" charset="-122"/>
                <a:cs typeface="Calibri" pitchFamily="34" charset="-120"/>
              </a:rPr>
              <a:t>ADRC  12/08/2026</a:t>
            </a:r>
            <a:endParaRPr lang="en-US" sz="950" dirty="0"/>
          </a:p>
        </p:txBody>
      </p:sp>
      <p:sp>
        <p:nvSpPr>
          <p:cNvPr id="9" name="Text 5"/>
          <p:cNvSpPr/>
          <p:nvPr/>
        </p:nvSpPr>
        <p:spPr>
          <a:xfrm>
            <a:off x="365760" y="6547104"/>
            <a:ext cx="548640" cy="219456"/>
          </a:xfrm>
          <a:prstGeom prst="rect">
            <a:avLst/>
          </a:prstGeom>
          <a:noFill/>
          <a:ln/>
        </p:spPr>
        <p:txBody>
          <a:bodyPr wrap="square" lIns="0" tIns="0" rIns="0" bIns="0" rtlCol="0" anchor="ctr"/>
          <a:lstStyle/>
          <a:p>
            <a:pPr algn="l" indent="0" marL="0">
              <a:buNone/>
            </a:pPr>
            <a:r>
              <a:rPr lang="en-US" sz="900" dirty="0">
                <a:solidFill>
                  <a:srgbClr val="6A6A6A"/>
                </a:solidFill>
                <a:latin typeface="Calibri" pitchFamily="34" charset="0"/>
                <a:ea typeface="Calibri" pitchFamily="34" charset="-122"/>
                <a:cs typeface="Calibri" pitchFamily="34" charset="-120"/>
              </a:rPr>
              <a:t>4</a:t>
            </a:r>
            <a:endParaRPr lang="en-US" sz="9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92608"/>
            <a:ext cx="10332720" cy="566928"/>
          </a:xfrm>
          <a:prstGeom prst="rect">
            <a:avLst/>
          </a:prstGeom>
          <a:noFill/>
          <a:ln/>
        </p:spPr>
        <p:txBody>
          <a:bodyPr wrap="none" lIns="0" tIns="0" rIns="0" bIns="0" rtlCol="0" anchor="ctr">
            <a:normAutofit/>
          </a:bodyPr>
          <a:lstStyle/>
          <a:p>
            <a:pPr algn="l" indent="0" marL="0">
              <a:buNone/>
            </a:pPr>
            <a:r>
              <a:rPr lang="en-US" sz="2100" b="1" dirty="0">
                <a:solidFill>
                  <a:srgbClr val="1F3864"/>
                </a:solidFill>
                <a:latin typeface="Cambria" pitchFamily="34" charset="0"/>
                <a:ea typeface="Cambria" pitchFamily="34" charset="-122"/>
                <a:cs typeface="Cambria" pitchFamily="34" charset="-120"/>
              </a:rPr>
              <a:t>Chronology of the Response (10-11 August) (2/2)</a:t>
            </a:r>
            <a:endParaRPr lang="en-US" sz="2100" dirty="0"/>
          </a:p>
        </p:txBody>
      </p:sp>
      <p:pic>
        <p:nvPicPr>
          <p:cNvPr id="3" name="Image 0" descr="/home/user/whatsmap/reports/colombia_eq_20260810/images/adrc_logo.png">    </p:cNvPr>
          <p:cNvPicPr>
            <a:picLocks noChangeAspect="1"/>
          </p:cNvPicPr>
          <p:nvPr/>
        </p:nvPicPr>
        <p:blipFill>
          <a:blip r:embed="rId1"/>
          <a:stretch>
            <a:fillRect/>
          </a:stretch>
        </p:blipFill>
        <p:spPr>
          <a:xfrm>
            <a:off x="10945368" y="73152"/>
            <a:ext cx="877824" cy="877824"/>
          </a:xfrm>
          <a:prstGeom prst="rect">
            <a:avLst/>
          </a:prstGeom>
        </p:spPr>
      </p:pic>
      <p:sp>
        <p:nvSpPr>
          <p:cNvPr id="4" name="Text 1"/>
          <p:cNvSpPr/>
          <p:nvPr/>
        </p:nvSpPr>
        <p:spPr>
          <a:xfrm>
            <a:off x="365760" y="896112"/>
            <a:ext cx="11430000" cy="274320"/>
          </a:xfrm>
          <a:prstGeom prst="rect">
            <a:avLst/>
          </a:prstGeom>
          <a:noFill/>
          <a:ln/>
        </p:spPr>
        <p:txBody>
          <a:bodyPr wrap="square" lIns="0" tIns="0" rIns="0" bIns="0" rtlCol="0" anchor="t"/>
          <a:lstStyle/>
          <a:p>
            <a:pPr indent="0" marL="0">
              <a:buNone/>
            </a:pPr>
            <a:r>
              <a:rPr lang="en-US" sz="950" i="1" dirty="0">
                <a:solidFill>
                  <a:srgbClr val="6A6A6A"/>
                </a:solidFill>
                <a:latin typeface="Calibri" pitchFamily="34" charset="0"/>
                <a:ea typeface="Calibri" pitchFamily="34" charset="-122"/>
                <a:cs typeface="Calibri" pitchFamily="34" charset="-120"/>
              </a:rPr>
              <a:t>Times are Colombia time (COT, UTC-5). The earthquake occurred at 07:34 COT = 21:34 JST on 10 August.</a:t>
            </a:r>
            <a:endParaRPr lang="en-US" sz="950" dirty="0"/>
          </a:p>
        </p:txBody>
      </p:sp>
      <p:graphicFrame>
        <p:nvGraphicFramePr>
          <p:cNvPr id="6" name="Table 0"/>
          <p:cNvGraphicFramePr>
            <a:graphicFrameLocks noGrp="1"/>
          </p:cNvGraphicFramePr>
          <p:nvPr>
            <p:extLst>
              <p:ext uri="{D42A27DB-BD31-4B8C-83A1-F6EECF244321}">
                <p14:modId xmlns:p14="http://schemas.microsoft.com/office/powerpoint/2010/main" val="1579011935"/>
              </p:ext>
            </p:extLst>
          </p:nvPr>
        </p:nvGraphicFramePr>
        <p:xfrm>
          <a:off x="365760" y="1225296"/>
          <a:ext cx="11430000" cy="914400"/>
        </p:xfrm>
        <a:graphic>
          <a:graphicData uri="http://schemas.openxmlformats.org/drawingml/2006/table">
            <a:tbl>
              <a:tblPr/>
              <a:tblGrid>
                <a:gridCol w="1188720"/>
                <a:gridCol w="8412480"/>
                <a:gridCol w="1828800"/>
              </a:tblGrid>
              <a:tr h="530352">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Time</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Action</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Source</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r>
              <a:tr h="530352">
                <a:tc>
                  <a:txBody>
                    <a:bodyPr/>
                    <a:lstStyle/>
                    <a:p>
                      <a:pPr algn="ctr" indent="0" marL="0">
                        <a:buNone/>
                      </a:pPr>
                      <a:r>
                        <a:rPr lang="en-US" sz="1000" b="1" dirty="0">
                          <a:solidFill>
                            <a:srgbClr val="1F3864"/>
                          </a:solidFill>
                          <a:latin typeface="Calibri" pitchFamily="34" charset="0"/>
                          <a:ea typeface="Calibri" pitchFamily="34" charset="-122"/>
                          <a:cs typeface="Calibri" pitchFamily="34" charset="-120"/>
                        </a:rPr>
                        <a:t>Daytime</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1000" dirty="0">
                          <a:solidFill>
                            <a:srgbClr val="222222"/>
                          </a:solidFill>
                          <a:latin typeface="Calibri" pitchFamily="34" charset="0"/>
                          <a:ea typeface="Calibri" pitchFamily="34" charset="-122"/>
                          <a:cs typeface="Calibri" pitchFamily="34" charset="-120"/>
                        </a:rPr>
                        <a:t>More than 20 aftershocks recorded; the largest widely felt aftershock is M4.8.</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1E7A34"/>
                          </a:solidFill>
                          <a:latin typeface="Calibri" pitchFamily="34" charset="0"/>
                          <a:ea typeface="Calibri" pitchFamily="34" charset="-122"/>
                          <a:cs typeface="Calibri" pitchFamily="34" charset="-120"/>
                        </a:rPr>
                        <a:t>SGC</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530352">
                <a:tc>
                  <a:txBody>
                    <a:bodyPr/>
                    <a:lstStyle/>
                    <a:p>
                      <a:pPr algn="ctr" indent="0" marL="0">
                        <a:buNone/>
                      </a:pPr>
                      <a:r>
                        <a:rPr lang="en-US" sz="1000" b="1" dirty="0">
                          <a:solidFill>
                            <a:srgbClr val="1F3864"/>
                          </a:solidFill>
                          <a:latin typeface="Calibri" pitchFamily="34" charset="0"/>
                          <a:ea typeface="Calibri" pitchFamily="34" charset="-122"/>
                          <a:cs typeface="Calibri" pitchFamily="34" charset="-120"/>
                        </a:rPr>
                        <a:t>Daytime</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1000" dirty="0">
                          <a:solidFill>
                            <a:srgbClr val="222222"/>
                          </a:solidFill>
                          <a:latin typeface="Calibri" pitchFamily="34" charset="0"/>
                          <a:ea typeface="Calibri" pitchFamily="34" charset="-122"/>
                          <a:cs typeface="Calibri" pitchFamily="34" charset="-120"/>
                        </a:rPr>
                        <a:t>President travels to Pereira to lead the response on the ground.</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1E7A34"/>
                          </a:solidFill>
                          <a:latin typeface="Calibri" pitchFamily="34" charset="0"/>
                          <a:ea typeface="Calibri" pitchFamily="34" charset="-122"/>
                          <a:cs typeface="Calibri" pitchFamily="34" charset="-120"/>
                        </a:rPr>
                        <a:t>Presidency</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530352">
                <a:tc>
                  <a:txBody>
                    <a:bodyPr/>
                    <a:lstStyle/>
                    <a:p>
                      <a:pPr algn="ctr" indent="0" marL="0">
                        <a:buNone/>
                      </a:pPr>
                      <a:r>
                        <a:rPr lang="en-US" sz="1000" b="1" dirty="0">
                          <a:solidFill>
                            <a:srgbClr val="1F3864"/>
                          </a:solidFill>
                          <a:latin typeface="Calibri" pitchFamily="34" charset="0"/>
                          <a:ea typeface="Calibri" pitchFamily="34" charset="-122"/>
                          <a:cs typeface="Calibri" pitchFamily="34" charset="-120"/>
                        </a:rPr>
                        <a:t>12:13</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1000" dirty="0">
                          <a:solidFill>
                            <a:srgbClr val="222222"/>
                          </a:solidFill>
                          <a:latin typeface="Calibri" pitchFamily="34" charset="0"/>
                          <a:ea typeface="Calibri" pitchFamily="34" charset="-122"/>
                          <a:cs typeface="Calibri" pitchFamily="34" charset="-120"/>
                        </a:rPr>
                        <a:t>Copernicus EMS Rapid Mapping activated as EMSR916 (17:13 UTC), requested by EC Services / DG ECHO, for earthquake damage assessment mapping.</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1E7A34"/>
                          </a:solidFill>
                          <a:latin typeface="Calibri" pitchFamily="34" charset="0"/>
                          <a:ea typeface="Calibri" pitchFamily="34" charset="-122"/>
                          <a:cs typeface="Calibri" pitchFamily="34" charset="-120"/>
                        </a:rPr>
                        <a:t>Copernicus EMS</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530352">
                <a:tc>
                  <a:txBody>
                    <a:bodyPr/>
                    <a:lstStyle/>
                    <a:p>
                      <a:pPr algn="ctr" indent="0" marL="0">
                        <a:buNone/>
                      </a:pPr>
                      <a:r>
                        <a:rPr lang="en-US" sz="1000" b="1" dirty="0">
                          <a:solidFill>
                            <a:srgbClr val="1F3864"/>
                          </a:solidFill>
                          <a:latin typeface="Calibri" pitchFamily="34" charset="0"/>
                          <a:ea typeface="Calibri" pitchFamily="34" charset="-122"/>
                          <a:cs typeface="Calibri" pitchFamily="34" charset="-120"/>
                        </a:rPr>
                        <a:t>Afternoon</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1000" dirty="0">
                          <a:solidFill>
                            <a:srgbClr val="222222"/>
                          </a:solidFill>
                          <a:latin typeface="Calibri" pitchFamily="34" charset="0"/>
                          <a:ea typeface="Calibri" pitchFamily="34" charset="-122"/>
                          <a:cs typeface="Calibri" pitchFamily="34" charset="-120"/>
                        </a:rPr>
                        <a:t>First national damage report: 111 deaths, 87 injured; 1,575 homes damaged, 37 destroyed, 61 buildings collapsed; 18 health facilities, 52 educational facilities, 17 community facilities, 18 major roads and 6 regional airports damaged.</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1E7A34"/>
                          </a:solidFill>
                          <a:latin typeface="Calibri" pitchFamily="34" charset="0"/>
                          <a:ea typeface="Calibri" pitchFamily="34" charset="-122"/>
                          <a:cs typeface="Calibri" pitchFamily="34" charset="-120"/>
                        </a:rPr>
                        <a:t>Presidency / UNGRD</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530352">
                <a:tc>
                  <a:txBody>
                    <a:bodyPr/>
                    <a:lstStyle/>
                    <a:p>
                      <a:pPr algn="ctr" indent="0" marL="0">
                        <a:buNone/>
                      </a:pPr>
                      <a:r>
                        <a:rPr lang="en-US" sz="1000" b="1" dirty="0">
                          <a:solidFill>
                            <a:srgbClr val="1F3864"/>
                          </a:solidFill>
                          <a:latin typeface="Calibri" pitchFamily="34" charset="0"/>
                          <a:ea typeface="Calibri" pitchFamily="34" charset="-122"/>
                          <a:cs typeface="Calibri" pitchFamily="34" charset="-120"/>
                        </a:rPr>
                        <a:t>Afternoon</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1000" dirty="0">
                          <a:solidFill>
                            <a:srgbClr val="222222"/>
                          </a:solidFill>
                          <a:latin typeface="Calibri" pitchFamily="34" charset="0"/>
                          <a:ea typeface="Calibri" pitchFamily="34" charset="-122"/>
                          <a:cs typeface="Calibri" pitchFamily="34" charset="-120"/>
                        </a:rPr>
                        <a:t>Ecuador mobilises a 47-person USAR team with canine units; Mexico and other governments offer assistance, to be channelled through the Foreign Ministry and UNGRD.</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B8860B"/>
                          </a:solidFill>
                          <a:latin typeface="Calibri" pitchFamily="34" charset="0"/>
                          <a:ea typeface="Calibri" pitchFamily="34" charset="-122"/>
                          <a:cs typeface="Calibri" pitchFamily="34" charset="-120"/>
                        </a:rPr>
                        <a:t>International media</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530352">
                <a:tc>
                  <a:txBody>
                    <a:bodyPr/>
                    <a:lstStyle/>
                    <a:p>
                      <a:pPr algn="ctr" indent="0" marL="0">
                        <a:buNone/>
                      </a:pPr>
                      <a:r>
                        <a:rPr lang="en-US" sz="1000" b="1" dirty="0">
                          <a:solidFill>
                            <a:srgbClr val="1F3864"/>
                          </a:solidFill>
                          <a:latin typeface="Calibri" pitchFamily="34" charset="0"/>
                          <a:ea typeface="Calibri" pitchFamily="34" charset="-122"/>
                          <a:cs typeface="Calibri" pitchFamily="34" charset="-120"/>
                        </a:rPr>
                        <a:t>Evening</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1000" dirty="0">
                          <a:solidFill>
                            <a:srgbClr val="222222"/>
                          </a:solidFill>
                          <a:latin typeface="Calibri" pitchFamily="34" charset="0"/>
                          <a:ea typeface="Calibri" pitchFamily="34" charset="-122"/>
                          <a:cs typeface="Calibri" pitchFamily="34" charset="-120"/>
                        </a:rPr>
                        <a:t>The reported national death toll rises to 132. Four people have been rescued alive from the rubble; more than 20 municipalities are reported affected, and power and telecommunications faults continue in Chocó.</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B8860B"/>
                          </a:solidFill>
                          <a:latin typeface="Calibri" pitchFamily="34" charset="0"/>
                          <a:ea typeface="Calibri" pitchFamily="34" charset="-122"/>
                          <a:cs typeface="Calibri" pitchFamily="34" charset="-120"/>
                        </a:rPr>
                        <a:t>International media</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530352">
                <a:tc>
                  <a:txBody>
                    <a:bodyPr/>
                    <a:lstStyle/>
                    <a:p>
                      <a:pPr algn="ctr" indent="0" marL="0">
                        <a:buNone/>
                      </a:pPr>
                      <a:r>
                        <a:rPr lang="en-US" sz="1000" b="1" dirty="0">
                          <a:solidFill>
                            <a:srgbClr val="1F3864"/>
                          </a:solidFill>
                          <a:latin typeface="Calibri" pitchFamily="34" charset="0"/>
                          <a:ea typeface="Calibri" pitchFamily="34" charset="-122"/>
                          <a:cs typeface="Calibri" pitchFamily="34" charset="-120"/>
                        </a:rPr>
                        <a:t>11 Aug</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1000" dirty="0">
                          <a:solidFill>
                            <a:srgbClr val="222222"/>
                          </a:solidFill>
                          <a:latin typeface="Calibri" pitchFamily="34" charset="0"/>
                          <a:ea typeface="Calibri" pitchFamily="34" charset="-122"/>
                          <a:cs typeface="Calibri" pitchFamily="34" charset="-120"/>
                        </a:rPr>
                        <a:t>Search continues overnight. The President reports 700 injured nationally and about 5,000 homes damaged or destroyed, declares the missing the State's priority, and orders troops to Cali to maintain order. The mayor of Cali reports 85 deaths, 885 injured and 188 missing; Pereira's fire service reports 66 deaths; about 100 people are missing in Manizales. Five capital cities - Cali, Pereira, Quibdó, Manizales and Armenia - remain on red alert.</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1E7A34"/>
                          </a:solidFill>
                          <a:latin typeface="Calibri" pitchFamily="34" charset="0"/>
                          <a:ea typeface="Calibri" pitchFamily="34" charset="-122"/>
                          <a:cs typeface="Calibri" pitchFamily="34" charset="-120"/>
                        </a:rPr>
                        <a:t>Presidency / local authorities</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530352">
                <a:tc>
                  <a:txBody>
                    <a:bodyPr/>
                    <a:lstStyle/>
                    <a:p>
                      <a:pPr algn="ctr" indent="0" marL="0">
                        <a:buNone/>
                      </a:pPr>
                      <a:r>
                        <a:rPr lang="en-US" sz="1000" b="1" dirty="0">
                          <a:solidFill>
                            <a:srgbClr val="1F3864"/>
                          </a:solidFill>
                          <a:latin typeface="Calibri" pitchFamily="34" charset="0"/>
                          <a:ea typeface="Calibri" pitchFamily="34" charset="-122"/>
                          <a:cs typeface="Calibri" pitchFamily="34" charset="-120"/>
                        </a:rPr>
                        <a:t>11 Aug PM</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1000" dirty="0">
                          <a:solidFill>
                            <a:srgbClr val="222222"/>
                          </a:solidFill>
                          <a:latin typeface="Calibri" pitchFamily="34" charset="0"/>
                          <a:ea typeface="Calibri" pitchFamily="34" charset="-122"/>
                          <a:cs typeface="Calibri" pitchFamily="34" charset="-120"/>
                        </a:rPr>
                        <a:t>UNGRD's situation report gives 182 deaths, 2,542 injured and 189 missing, with 13,067 homes damaged and 2,501 destroyed, 93 health facilities, 884 educational institutions, 427 community facilities and 77 roads affected. The President puts the toll at 181, of which 97.6% in capital cities. Ecuador, El Salvador and Russia are thanked for assistance.</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1E7A34"/>
                          </a:solidFill>
                          <a:latin typeface="Calibri" pitchFamily="34" charset="0"/>
                          <a:ea typeface="Calibri" pitchFamily="34" charset="-122"/>
                          <a:cs typeface="Calibri" pitchFamily="34" charset="-120"/>
                        </a:rPr>
                        <a:t>UNGRD</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bl>
          </a:graphicData>
        </a:graphic>
      </p:graphicFrame>
      <p:sp>
        <p:nvSpPr>
          <p:cNvPr id="6" name="Text 2"/>
          <p:cNvSpPr/>
          <p:nvPr/>
        </p:nvSpPr>
        <p:spPr>
          <a:xfrm>
            <a:off x="365760" y="6272784"/>
            <a:ext cx="11430000" cy="219456"/>
          </a:xfrm>
          <a:prstGeom prst="rect">
            <a:avLst/>
          </a:prstGeom>
          <a:noFill/>
          <a:ln/>
        </p:spPr>
        <p:txBody>
          <a:bodyPr wrap="square" lIns="0" tIns="0" rIns="0" bIns="0" rtlCol="0" anchor="ctr"/>
          <a:lstStyle/>
          <a:p>
            <a:pPr algn="l" indent="0" marL="0">
              <a:buNone/>
            </a:pPr>
            <a:r>
              <a:rPr lang="en-US" sz="850" b="1" dirty="0">
                <a:solidFill>
                  <a:srgbClr val="6A6A6A"/>
                </a:solidFill>
                <a:latin typeface="Calibri" pitchFamily="34" charset="0"/>
                <a:ea typeface="Calibri" pitchFamily="34" charset="-122"/>
                <a:cs typeface="Calibri" pitchFamily="34" charset="-120"/>
              </a:rPr>
              <a:t>Sources: </a:t>
            </a:r>
            <a:pPr algn="l" indent="0" marL="0">
              <a:buNone/>
            </a:pPr>
            <a:r>
              <a:rPr lang="en-US" sz="850" u="sng" dirty="0">
                <a:solidFill>
                  <a:srgbClr val="0563C1"/>
                </a:solidFill>
                <a:latin typeface="Calibri" pitchFamily="34" charset="0"/>
                <a:ea typeface="Calibri" pitchFamily="34" charset="-122"/>
                <a:cs typeface="Calibri" pitchFamily="34" charset="-120"/>
                <a:hlinkClick r:id="rId2" invalidUrl="" action="" tgtFrame="" tooltip="" history="1" highlightClick="0" endSnd="0">
                  <a:extLst>
                    <a:ext uri="{A12FA001-AC4F-418D-AE19-62706E023703}">
                      <ahyp:hlinkClr xmlns:ahyp="http://schemas.microsoft.com/office/drawing/2018/hyperlinkcolor" val="tx"/>
                    </a:ext>
                  </a:extLst>
                </a:hlinkClick>
              </a:rPr>
              <a:t>USGS - M 7.4 San José del Palmar, Colombia (event page)</a:t>
            </a:r>
            <a:pPr algn="l" indent="0" marL="0">
              <a:buNone/>
            </a:pPr>
            <a:r>
              <a:rPr lang="en-US" sz="850" dirty="0">
                <a:solidFill>
                  <a:srgbClr val="6A6A6A"/>
                </a:solidFill>
                <a:latin typeface="Calibri" pitchFamily="34" charset="0"/>
                <a:ea typeface="Calibri" pitchFamily="34" charset="-122"/>
                <a:cs typeface="Calibri" pitchFamily="34" charset="-120"/>
              </a:rPr>
              <a:t>   ·   </a:t>
            </a:r>
            <a:pPr algn="l" indent="0" marL="0">
              <a:buNone/>
            </a:pPr>
            <a:r>
              <a:rPr lang="en-US" sz="850" u="sng" dirty="0">
                <a:solidFill>
                  <a:srgbClr val="0563C1"/>
                </a:solidFill>
                <a:latin typeface="Calibri" pitchFamily="34" charset="0"/>
                <a:ea typeface="Calibri" pitchFamily="34" charset="-122"/>
                <a:cs typeface="Calibri" pitchFamily="34" charset="-120"/>
                <a:hlinkClick r:id="rId3" invalidUrl="" action="" tgtFrame="" tooltip="" history="1" highlightClick="0" endSnd="0">
                  <a:extLst>
                    <a:ext uri="{A12FA001-AC4F-418D-AE19-62706E023703}">
                      <ahyp:hlinkClr xmlns:ahyp="http://schemas.microsoft.com/office/drawing/2018/hyperlinkcolor" val="tx"/>
                    </a:ext>
                  </a:extLst>
                </a:hlinkClick>
              </a:rPr>
              <a:t>UNGRD - National Unit for Disaster Risk Management</a:t>
            </a:r>
            <a:pPr algn="l" indent="0" marL="0">
              <a:buNone/>
            </a:pPr>
            <a:r>
              <a:rPr lang="en-US" sz="850" dirty="0">
                <a:solidFill>
                  <a:srgbClr val="6A6A6A"/>
                </a:solidFill>
                <a:latin typeface="Calibri" pitchFamily="34" charset="0"/>
                <a:ea typeface="Calibri" pitchFamily="34" charset="-122"/>
                <a:cs typeface="Calibri" pitchFamily="34" charset="-120"/>
              </a:rPr>
              <a:t>   ·   </a:t>
            </a:r>
            <a:pPr algn="l" indent="0" marL="0">
              <a:buNone/>
            </a:pPr>
            <a:r>
              <a:rPr lang="en-US" sz="850" u="sng" dirty="0">
                <a:solidFill>
                  <a:srgbClr val="0563C1"/>
                </a:solidFill>
                <a:latin typeface="Calibri" pitchFamily="34" charset="0"/>
                <a:ea typeface="Calibri" pitchFamily="34" charset="-122"/>
                <a:cs typeface="Calibri" pitchFamily="34" charset="-120"/>
                <a:hlinkClick r:id="rId4" invalidUrl="" action="" tgtFrame="" tooltip="" history="1" highlightClick="0" endSnd="0">
                  <a:extLst>
                    <a:ext uri="{A12FA001-AC4F-418D-AE19-62706E023703}">
                      <ahyp:hlinkClr xmlns:ahyp="http://schemas.microsoft.com/office/drawing/2018/hyperlinkcolor" val="tx"/>
                    </a:ext>
                  </a:extLst>
                </a:hlinkClick>
              </a:rPr>
              <a:t>CNN — live updates: death toll rises to 132</a:t>
            </a:r>
            <a:pPr algn="l" indent="0" marL="0">
              <a:buNone/>
            </a:pPr>
            <a:r>
              <a:rPr lang="en-US" sz="850" dirty="0">
                <a:solidFill>
                  <a:srgbClr val="6A6A6A"/>
                </a:solidFill>
                <a:latin typeface="Calibri" pitchFamily="34" charset="0"/>
                <a:ea typeface="Calibri" pitchFamily="34" charset="-122"/>
                <a:cs typeface="Calibri" pitchFamily="34" charset="-120"/>
              </a:rPr>
              <a:t>   ·   </a:t>
            </a:r>
            <a:pPr algn="l" indent="0" marL="0">
              <a:buNone/>
            </a:pPr>
            <a:r>
              <a:rPr lang="en-US" sz="850" u="sng" dirty="0">
                <a:solidFill>
                  <a:srgbClr val="0563C1"/>
                </a:solidFill>
                <a:latin typeface="Calibri" pitchFamily="34" charset="0"/>
                <a:ea typeface="Calibri" pitchFamily="34" charset="-122"/>
                <a:cs typeface="Calibri" pitchFamily="34" charset="-120"/>
                <a:hlinkClick r:id="rId5" invalidUrl="" action="" tgtFrame="" tooltip="" history="1" highlightClick="0" endSnd="0">
                  <a:extLst>
                    <a:ext uri="{A12FA001-AC4F-418D-AE19-62706E023703}">
                      <ahyp:hlinkClr xmlns:ahyp="http://schemas.microsoft.com/office/drawing/2018/hyperlinkcolor" val="tx"/>
                    </a:ext>
                  </a:extLst>
                </a:hlinkClick>
              </a:rPr>
              <a:t>Colombia One - First official assessment: widespread structural damage</a:t>
            </a:r>
            <a:endParaRPr lang="en-US" sz="850" dirty="0"/>
          </a:p>
        </p:txBody>
      </p:sp>
      <p:sp>
        <p:nvSpPr>
          <p:cNvPr id="7" name="Shape 3"/>
          <p:cNvSpPr/>
          <p:nvPr/>
        </p:nvSpPr>
        <p:spPr>
          <a:xfrm>
            <a:off x="10268712" y="6510528"/>
            <a:ext cx="1554480" cy="274320"/>
          </a:xfrm>
          <a:prstGeom prst="rect">
            <a:avLst/>
          </a:prstGeom>
          <a:solidFill>
            <a:srgbClr val="E8A317"/>
          </a:solidFill>
          <a:ln w="12700">
            <a:solidFill>
              <a:srgbClr val="E8A317"/>
            </a:solidFill>
            <a:prstDash val="solid"/>
          </a:ln>
        </p:spPr>
      </p:sp>
      <p:sp>
        <p:nvSpPr>
          <p:cNvPr id="8" name="Text 4"/>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950" b="1" dirty="0">
                <a:solidFill>
                  <a:srgbClr val="000000"/>
                </a:solidFill>
                <a:latin typeface="Calibri" pitchFamily="34" charset="0"/>
                <a:ea typeface="Calibri" pitchFamily="34" charset="-122"/>
                <a:cs typeface="Calibri" pitchFamily="34" charset="-120"/>
              </a:rPr>
              <a:t>ADRC  12/08/2026</a:t>
            </a:r>
            <a:endParaRPr lang="en-US" sz="950" dirty="0"/>
          </a:p>
        </p:txBody>
      </p:sp>
      <p:sp>
        <p:nvSpPr>
          <p:cNvPr id="9" name="Text 5"/>
          <p:cNvSpPr/>
          <p:nvPr/>
        </p:nvSpPr>
        <p:spPr>
          <a:xfrm>
            <a:off x="365760" y="6547104"/>
            <a:ext cx="548640" cy="219456"/>
          </a:xfrm>
          <a:prstGeom prst="rect">
            <a:avLst/>
          </a:prstGeom>
          <a:noFill/>
          <a:ln/>
        </p:spPr>
        <p:txBody>
          <a:bodyPr wrap="square" lIns="0" tIns="0" rIns="0" bIns="0" rtlCol="0" anchor="ctr"/>
          <a:lstStyle/>
          <a:p>
            <a:pPr algn="l" indent="0" marL="0">
              <a:buNone/>
            </a:pPr>
            <a:r>
              <a:rPr lang="en-US" sz="900" dirty="0">
                <a:solidFill>
                  <a:srgbClr val="6A6A6A"/>
                </a:solidFill>
                <a:latin typeface="Calibri" pitchFamily="34" charset="0"/>
                <a:ea typeface="Calibri" pitchFamily="34" charset="-122"/>
                <a:cs typeface="Calibri" pitchFamily="34" charset="-120"/>
              </a:rPr>
              <a:t>5</a:t>
            </a:r>
            <a:endParaRPr lang="en-US" sz="9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92608"/>
            <a:ext cx="10332720" cy="566928"/>
          </a:xfrm>
          <a:prstGeom prst="rect">
            <a:avLst/>
          </a:prstGeom>
          <a:noFill/>
          <a:ln/>
        </p:spPr>
        <p:txBody>
          <a:bodyPr wrap="none" lIns="0" tIns="0" rIns="0" bIns="0" rtlCol="0" anchor="ctr">
            <a:normAutofit/>
          </a:bodyPr>
          <a:lstStyle/>
          <a:p>
            <a:pPr algn="l" indent="0" marL="0">
              <a:buNone/>
            </a:pPr>
            <a:r>
              <a:rPr lang="en-US" sz="2100" b="1" dirty="0">
                <a:solidFill>
                  <a:srgbClr val="1F3864"/>
                </a:solidFill>
                <a:latin typeface="Cambria" pitchFamily="34" charset="0"/>
                <a:ea typeface="Cambria" pitchFamily="34" charset="-122"/>
                <a:cs typeface="Cambria" pitchFamily="34" charset="-120"/>
              </a:rPr>
              <a:t>Affected Departments &amp; Cities</a:t>
            </a:r>
            <a:endParaRPr lang="en-US" sz="2100" dirty="0"/>
          </a:p>
        </p:txBody>
      </p:sp>
      <p:pic>
        <p:nvPicPr>
          <p:cNvPr id="3" name="Image 0" descr="/home/user/whatsmap/reports/colombia_eq_20260810/images/adrc_logo.png">    </p:cNvPr>
          <p:cNvPicPr>
            <a:picLocks noChangeAspect="1"/>
          </p:cNvPicPr>
          <p:nvPr/>
        </p:nvPicPr>
        <p:blipFill>
          <a:blip r:embed="rId1"/>
          <a:stretch>
            <a:fillRect/>
          </a:stretch>
        </p:blipFill>
        <p:spPr>
          <a:xfrm>
            <a:off x="10945368" y="73152"/>
            <a:ext cx="877824" cy="877824"/>
          </a:xfrm>
          <a:prstGeom prst="rect">
            <a:avLst/>
          </a:prstGeom>
        </p:spPr>
      </p:pic>
      <p:pic>
        <p:nvPicPr>
          <p:cNvPr id="4" name="Image 1" descr="/home/user/whatsmap/reports/colombia_eq_20260810/images/distance_map.png">    </p:cNvPr>
          <p:cNvPicPr>
            <a:picLocks noChangeAspect="1"/>
          </p:cNvPicPr>
          <p:nvPr/>
        </p:nvPicPr>
        <p:blipFill>
          <a:blip r:embed="rId2"/>
          <a:stretch>
            <a:fillRect/>
          </a:stretch>
        </p:blipFill>
        <p:spPr>
          <a:xfrm>
            <a:off x="601085" y="1024128"/>
            <a:ext cx="4558549" cy="3803904"/>
          </a:xfrm>
          <a:prstGeom prst="rect">
            <a:avLst/>
          </a:prstGeom>
        </p:spPr>
      </p:pic>
      <p:sp>
        <p:nvSpPr>
          <p:cNvPr id="5" name="Text 1"/>
          <p:cNvSpPr/>
          <p:nvPr/>
        </p:nvSpPr>
        <p:spPr>
          <a:xfrm>
            <a:off x="365760" y="4846320"/>
            <a:ext cx="5029200" cy="201168"/>
          </a:xfrm>
          <a:prstGeom prst="rect">
            <a:avLst/>
          </a:prstGeom>
          <a:noFill/>
          <a:ln/>
        </p:spPr>
        <p:txBody>
          <a:bodyPr wrap="square" lIns="0" tIns="0" rIns="0" bIns="0" rtlCol="0" anchor="ctr"/>
          <a:lstStyle/>
          <a:p>
            <a:pPr algn="ctr" indent="0" marL="0">
              <a:buNone/>
            </a:pPr>
            <a:r>
              <a:rPr lang="en-US" sz="800" dirty="0">
                <a:solidFill>
                  <a:srgbClr val="6A6A6A"/>
                </a:solidFill>
                <a:latin typeface="Calibri" pitchFamily="34" charset="0"/>
                <a:ea typeface="Calibri" pitchFamily="34" charset="-122"/>
                <a:cs typeface="Calibri" pitchFamily="34" charset="-120"/>
              </a:rPr>
              <a:t>Epicentral distances (ADRC)</a:t>
            </a:r>
            <a:endParaRPr lang="en-US" sz="800" dirty="0"/>
          </a:p>
        </p:txBody>
      </p:sp>
      <p:sp>
        <p:nvSpPr>
          <p:cNvPr id="6" name="Shape 2"/>
          <p:cNvSpPr/>
          <p:nvPr/>
        </p:nvSpPr>
        <p:spPr>
          <a:xfrm>
            <a:off x="365760" y="5175504"/>
            <a:ext cx="5029200" cy="914400"/>
          </a:xfrm>
          <a:prstGeom prst="roundRect">
            <a:avLst>
              <a:gd name="adj" fmla="val 5000"/>
            </a:avLst>
          </a:prstGeom>
          <a:solidFill>
            <a:srgbClr val="FCE9DC"/>
          </a:solidFill>
          <a:ln w="12700">
            <a:solidFill>
              <a:srgbClr val="E8A317"/>
            </a:solidFill>
            <a:prstDash val="solid"/>
          </a:ln>
        </p:spPr>
      </p:sp>
      <p:sp>
        <p:nvSpPr>
          <p:cNvPr id="7" name="Text 3"/>
          <p:cNvSpPr/>
          <p:nvPr/>
        </p:nvSpPr>
        <p:spPr>
          <a:xfrm>
            <a:off x="530352" y="5230368"/>
            <a:ext cx="4700016" cy="804672"/>
          </a:xfrm>
          <a:prstGeom prst="rect">
            <a:avLst/>
          </a:prstGeom>
          <a:noFill/>
          <a:ln/>
        </p:spPr>
        <p:txBody>
          <a:bodyPr wrap="square" lIns="25400" tIns="25400" rIns="25400" bIns="25400" rtlCol="0" anchor="ctr"/>
          <a:lstStyle/>
          <a:p>
            <a:pPr algn="l" indent="0" marL="0">
              <a:buNone/>
            </a:pPr>
            <a:r>
              <a:rPr lang="en-US" sz="1050" b="1" dirty="0">
                <a:solidFill>
                  <a:srgbClr val="9A3B12"/>
                </a:solidFill>
                <a:latin typeface="Calibri" pitchFamily="34" charset="0"/>
                <a:ea typeface="Calibri" pitchFamily="34" charset="-122"/>
                <a:cs typeface="Calibri" pitchFamily="34" charset="-120"/>
              </a:rPr>
              <a:t>Why damage is dispersed
</a:t>
            </a:r>
            <a:pPr algn="l" indent="0" marL="0">
              <a:buNone/>
            </a:pPr>
            <a:r>
              <a:rPr lang="en-US" sz="950" dirty="0">
                <a:solidFill>
                  <a:srgbClr val="7A2E0E"/>
                </a:solidFill>
                <a:latin typeface="Calibri" pitchFamily="34" charset="0"/>
                <a:ea typeface="Calibri" pitchFamily="34" charset="-122"/>
                <a:cs typeface="Calibri" pitchFamily="34" charset="-120"/>
              </a:rPr>
              <a:t>A 110 km-deep source puts every city in the region at a broadly similar hypocentral distance (110-205 km), so no single city sits in a narrow zone of extreme shaking.</a:t>
            </a:r>
            <a:endParaRPr lang="en-US" sz="1050" dirty="0"/>
          </a:p>
        </p:txBody>
      </p:sp>
      <p:graphicFrame>
        <p:nvGraphicFramePr>
          <p:cNvPr id="7" name="Table 0"/>
          <p:cNvGraphicFramePr>
            <a:graphicFrameLocks noGrp="1"/>
          </p:cNvGraphicFramePr>
          <p:nvPr>
            <p:extLst>
              <p:ext uri="{D42A27DB-BD31-4B8C-83A1-F6EECF244321}">
                <p14:modId xmlns:p14="http://schemas.microsoft.com/office/powerpoint/2010/main" val="1579011935"/>
              </p:ext>
            </p:extLst>
          </p:nvPr>
        </p:nvGraphicFramePr>
        <p:xfrm>
          <a:off x="5577840" y="1024128"/>
          <a:ext cx="6217920" cy="914400"/>
        </p:xfrm>
        <a:graphic>
          <a:graphicData uri="http://schemas.openxmlformats.org/drawingml/2006/table">
            <a:tbl>
              <a:tblPr/>
              <a:tblGrid>
                <a:gridCol w="1298448"/>
                <a:gridCol w="1152144"/>
                <a:gridCol w="621792"/>
                <a:gridCol w="566928"/>
                <a:gridCol w="2578608"/>
              </a:tblGrid>
              <a:tr h="621792">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Department</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Main cities</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Dist.</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MMI</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Situation</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r>
              <a:tr h="621792">
                <a:tc>
                  <a:txBody>
                    <a:bodyPr/>
                    <a:lstStyle/>
                    <a:p>
                      <a:pPr algn="l" indent="0" marL="0">
                        <a:buNone/>
                      </a:pPr>
                      <a:r>
                        <a:rPr lang="en-US" sz="950" b="1" dirty="0">
                          <a:solidFill>
                            <a:srgbClr val="1F3864"/>
                          </a:solidFill>
                          <a:latin typeface="Calibri" pitchFamily="34" charset="0"/>
                          <a:ea typeface="Calibri" pitchFamily="34" charset="-122"/>
                          <a:cs typeface="Calibri" pitchFamily="34" charset="-120"/>
                        </a:rPr>
                        <a:t>Chocó</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00" dirty="0">
                          <a:solidFill>
                            <a:srgbClr val="222222"/>
                          </a:solidFill>
                          <a:latin typeface="Calibri" pitchFamily="34" charset="0"/>
                          <a:ea typeface="Calibri" pitchFamily="34" charset="-122"/>
                          <a:cs typeface="Calibri" pitchFamily="34" charset="-120"/>
                        </a:rPr>
                        <a:t>San José del Palmar / Quibdó</a:t>
                      </a:r>
                      <a:endParaRPr lang="en-US" sz="9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dirty="0">
                          <a:solidFill>
                            <a:srgbClr val="222222"/>
                          </a:solidFill>
                          <a:latin typeface="Calibri" pitchFamily="34" charset="0"/>
                          <a:ea typeface="Calibri" pitchFamily="34" charset="-122"/>
                          <a:cs typeface="Calibri" pitchFamily="34" charset="-120"/>
                        </a:rPr>
                        <a:t>6 / 105 km</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900" b="1" dirty="0">
                          <a:solidFill>
                            <a:srgbClr val="C00000"/>
                          </a:solidFill>
                          <a:latin typeface="Calibri" pitchFamily="34" charset="0"/>
                          <a:ea typeface="Calibri" pitchFamily="34" charset="-122"/>
                          <a:cs typeface="Calibri" pitchFamily="34" charset="-120"/>
                        </a:rPr>
                        <a:t>VII / VI</a:t>
                      </a:r>
                      <a:endParaRPr lang="en-US" sz="9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dirty="0">
                          <a:solidFill>
                            <a:srgbClr val="222222"/>
                          </a:solidFill>
                          <a:latin typeface="Calibri" pitchFamily="34" charset="0"/>
                          <a:ea typeface="Calibri" pitchFamily="34" charset="-122"/>
                          <a:cs typeface="Calibri" pitchFamily="34" charset="-120"/>
                        </a:rPr>
                        <a:t>Epicentral department; 9 municipalities with reported damage; access, power and communications constrained.</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621792">
                <a:tc>
                  <a:txBody>
                    <a:bodyPr/>
                    <a:lstStyle/>
                    <a:p>
                      <a:pPr algn="l" indent="0" marL="0">
                        <a:buNone/>
                      </a:pPr>
                      <a:r>
                        <a:rPr lang="en-US" sz="950" b="1" dirty="0">
                          <a:solidFill>
                            <a:srgbClr val="1F3864"/>
                          </a:solidFill>
                          <a:latin typeface="Calibri" pitchFamily="34" charset="0"/>
                          <a:ea typeface="Calibri" pitchFamily="34" charset="-122"/>
                          <a:cs typeface="Calibri" pitchFamily="34" charset="-120"/>
                        </a:rPr>
                        <a:t>Risaralda</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00" dirty="0">
                          <a:solidFill>
                            <a:srgbClr val="222222"/>
                          </a:solidFill>
                          <a:latin typeface="Calibri" pitchFamily="34" charset="0"/>
                          <a:ea typeface="Calibri" pitchFamily="34" charset="-122"/>
                          <a:cs typeface="Calibri" pitchFamily="34" charset="-120"/>
                        </a:rPr>
                        <a:t>Pereira, Dosquebradas</a:t>
                      </a:r>
                      <a:endParaRPr lang="en-US" sz="9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dirty="0">
                          <a:solidFill>
                            <a:srgbClr val="222222"/>
                          </a:solidFill>
                          <a:latin typeface="Calibri" pitchFamily="34" charset="0"/>
                          <a:ea typeface="Calibri" pitchFamily="34" charset="-122"/>
                          <a:cs typeface="Calibri" pitchFamily="34" charset="-120"/>
                        </a:rPr>
                        <a:t>61 km</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900" b="1" dirty="0">
                          <a:solidFill>
                            <a:srgbClr val="C00000"/>
                          </a:solidFill>
                          <a:latin typeface="Calibri" pitchFamily="34" charset="0"/>
                          <a:ea typeface="Calibri" pitchFamily="34" charset="-122"/>
                          <a:cs typeface="Calibri" pitchFamily="34" charset="-120"/>
                        </a:rPr>
                        <a:t>VII</a:t>
                      </a:r>
                      <a:endParaRPr lang="en-US" sz="9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50" dirty="0">
                          <a:solidFill>
                            <a:srgbClr val="222222"/>
                          </a:solidFill>
                          <a:latin typeface="Calibri" pitchFamily="34" charset="0"/>
                          <a:ea typeface="Calibri" pitchFamily="34" charset="-122"/>
                          <a:cs typeface="Calibri" pitchFamily="34" charset="-120"/>
                        </a:rPr>
                        <a:t>Highest reported death toll (at least 40; the governor cites at least 42). Airport terminal partially collapsed.</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621792">
                <a:tc>
                  <a:txBody>
                    <a:bodyPr/>
                    <a:lstStyle/>
                    <a:p>
                      <a:pPr algn="l" indent="0" marL="0">
                        <a:buNone/>
                      </a:pPr>
                      <a:r>
                        <a:rPr lang="en-US" sz="950" b="1" dirty="0">
                          <a:solidFill>
                            <a:srgbClr val="1F3864"/>
                          </a:solidFill>
                          <a:latin typeface="Calibri" pitchFamily="34" charset="0"/>
                          <a:ea typeface="Calibri" pitchFamily="34" charset="-122"/>
                          <a:cs typeface="Calibri" pitchFamily="34" charset="-120"/>
                        </a:rPr>
                        <a:t>Valle del Cauca</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00" dirty="0">
                          <a:solidFill>
                            <a:srgbClr val="222222"/>
                          </a:solidFill>
                          <a:latin typeface="Calibri" pitchFamily="34" charset="0"/>
                          <a:ea typeface="Calibri" pitchFamily="34" charset="-122"/>
                          <a:cs typeface="Calibri" pitchFamily="34" charset="-120"/>
                        </a:rPr>
                        <a:t>Cali, Cartago, Buenaventura</a:t>
                      </a:r>
                      <a:endParaRPr lang="en-US" sz="9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dirty="0">
                          <a:solidFill>
                            <a:srgbClr val="222222"/>
                          </a:solidFill>
                          <a:latin typeface="Calibri" pitchFamily="34" charset="0"/>
                          <a:ea typeface="Calibri" pitchFamily="34" charset="-122"/>
                          <a:cs typeface="Calibri" pitchFamily="34" charset="-120"/>
                        </a:rPr>
                        <a:t>158 / 38 / 138 km</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900" b="1" dirty="0">
                          <a:solidFill>
                            <a:srgbClr val="C00000"/>
                          </a:solidFill>
                          <a:latin typeface="Calibri" pitchFamily="34" charset="0"/>
                          <a:ea typeface="Calibri" pitchFamily="34" charset="-122"/>
                          <a:cs typeface="Calibri" pitchFamily="34" charset="-120"/>
                        </a:rPr>
                        <a:t>VI-VII</a:t>
                      </a:r>
                      <a:endParaRPr lang="en-US" sz="9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dirty="0">
                          <a:solidFill>
                            <a:srgbClr val="222222"/>
                          </a:solidFill>
                          <a:latin typeface="Calibri" pitchFamily="34" charset="0"/>
                          <a:ea typeface="Calibri" pitchFamily="34" charset="-122"/>
                          <a:cs typeface="Calibri" pitchFamily="34" charset="-120"/>
                        </a:rPr>
                        <a:t>27 deaths reported; 25-30 collapsed structures at 12 critical points in Cali; University Hospital heavily damaged.</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621792">
                <a:tc>
                  <a:txBody>
                    <a:bodyPr/>
                    <a:lstStyle/>
                    <a:p>
                      <a:pPr algn="l" indent="0" marL="0">
                        <a:buNone/>
                      </a:pPr>
                      <a:r>
                        <a:rPr lang="en-US" sz="950" b="1" dirty="0">
                          <a:solidFill>
                            <a:srgbClr val="1F3864"/>
                          </a:solidFill>
                          <a:latin typeface="Calibri" pitchFamily="34" charset="0"/>
                          <a:ea typeface="Calibri" pitchFamily="34" charset="-122"/>
                          <a:cs typeface="Calibri" pitchFamily="34" charset="-120"/>
                        </a:rPr>
                        <a:t>Caldas</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00" dirty="0">
                          <a:solidFill>
                            <a:srgbClr val="222222"/>
                          </a:solidFill>
                          <a:latin typeface="Calibri" pitchFamily="34" charset="0"/>
                          <a:ea typeface="Calibri" pitchFamily="34" charset="-122"/>
                          <a:cs typeface="Calibri" pitchFamily="34" charset="-120"/>
                        </a:rPr>
                        <a:t>Manizales</a:t>
                      </a:r>
                      <a:endParaRPr lang="en-US" sz="9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dirty="0">
                          <a:solidFill>
                            <a:srgbClr val="222222"/>
                          </a:solidFill>
                          <a:latin typeface="Calibri" pitchFamily="34" charset="0"/>
                          <a:ea typeface="Calibri" pitchFamily="34" charset="-122"/>
                          <a:cs typeface="Calibri" pitchFamily="34" charset="-120"/>
                        </a:rPr>
                        <a:t>84 km</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900" b="1" dirty="0">
                          <a:solidFill>
                            <a:srgbClr val="C00000"/>
                          </a:solidFill>
                          <a:latin typeface="Calibri" pitchFamily="34" charset="0"/>
                          <a:ea typeface="Calibri" pitchFamily="34" charset="-122"/>
                          <a:cs typeface="Calibri" pitchFamily="34" charset="-120"/>
                        </a:rPr>
                        <a:t>VI-VII</a:t>
                      </a:r>
                      <a:endParaRPr lang="en-US" sz="9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50" dirty="0">
                          <a:solidFill>
                            <a:srgbClr val="222222"/>
                          </a:solidFill>
                          <a:latin typeface="Calibri" pitchFamily="34" charset="0"/>
                          <a:ea typeface="Calibri" pitchFamily="34" charset="-122"/>
                          <a:cs typeface="Calibri" pitchFamily="34" charset="-120"/>
                        </a:rPr>
                        <a:t>8 municipalities affected; 17 buildings collapsed and 19 partially collapsed in Manizales; cathedral tower fell onto the nave.</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621792">
                <a:tc>
                  <a:txBody>
                    <a:bodyPr/>
                    <a:lstStyle/>
                    <a:p>
                      <a:pPr algn="l" indent="0" marL="0">
                        <a:buNone/>
                      </a:pPr>
                      <a:r>
                        <a:rPr lang="en-US" sz="950" b="1" dirty="0">
                          <a:solidFill>
                            <a:srgbClr val="1F3864"/>
                          </a:solidFill>
                          <a:latin typeface="Calibri" pitchFamily="34" charset="0"/>
                          <a:ea typeface="Calibri" pitchFamily="34" charset="-122"/>
                          <a:cs typeface="Calibri" pitchFamily="34" charset="-120"/>
                        </a:rPr>
                        <a:t>Quindío</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00" dirty="0">
                          <a:solidFill>
                            <a:srgbClr val="222222"/>
                          </a:solidFill>
                          <a:latin typeface="Calibri" pitchFamily="34" charset="0"/>
                          <a:ea typeface="Calibri" pitchFamily="34" charset="-122"/>
                          <a:cs typeface="Calibri" pitchFamily="34" charset="-120"/>
                        </a:rPr>
                        <a:t>Armenia and other localities</a:t>
                      </a:r>
                      <a:endParaRPr lang="en-US" sz="9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dirty="0">
                          <a:solidFill>
                            <a:srgbClr val="222222"/>
                          </a:solidFill>
                          <a:latin typeface="Calibri" pitchFamily="34" charset="0"/>
                          <a:ea typeface="Calibri" pitchFamily="34" charset="-122"/>
                          <a:cs typeface="Calibri" pitchFamily="34" charset="-120"/>
                        </a:rPr>
                        <a:t>71 km</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900" b="1" dirty="0">
                          <a:solidFill>
                            <a:srgbClr val="C00000"/>
                          </a:solidFill>
                          <a:latin typeface="Calibri" pitchFamily="34" charset="0"/>
                          <a:ea typeface="Calibri" pitchFamily="34" charset="-122"/>
                          <a:cs typeface="Calibri" pitchFamily="34" charset="-120"/>
                        </a:rPr>
                        <a:t>VII</a:t>
                      </a:r>
                      <a:endParaRPr lang="en-US" sz="9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dirty="0">
                          <a:solidFill>
                            <a:srgbClr val="222222"/>
                          </a:solidFill>
                          <a:latin typeface="Calibri" pitchFamily="34" charset="0"/>
                          <a:ea typeface="Calibri" pitchFamily="34" charset="-122"/>
                          <a:cs typeface="Calibri" pitchFamily="34" charset="-120"/>
                        </a:rPr>
                        <a:t>Several localities reported affected; the same Coffee Region devastated by the 1999 Armenia earthquake.</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621792">
                <a:tc>
                  <a:txBody>
                    <a:bodyPr/>
                    <a:lstStyle/>
                    <a:p>
                      <a:pPr algn="l" indent="0" marL="0">
                        <a:buNone/>
                      </a:pPr>
                      <a:r>
                        <a:rPr lang="en-US" sz="950" b="1" dirty="0">
                          <a:solidFill>
                            <a:srgbClr val="1F3864"/>
                          </a:solidFill>
                          <a:latin typeface="Calibri" pitchFamily="34" charset="0"/>
                          <a:ea typeface="Calibri" pitchFamily="34" charset="-122"/>
                          <a:cs typeface="Calibri" pitchFamily="34" charset="-120"/>
                        </a:rPr>
                        <a:t>Antioquia</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00" dirty="0">
                          <a:solidFill>
                            <a:srgbClr val="222222"/>
                          </a:solidFill>
                          <a:latin typeface="Calibri" pitchFamily="34" charset="0"/>
                          <a:ea typeface="Calibri" pitchFamily="34" charset="-122"/>
                          <a:cs typeface="Calibri" pitchFamily="34" charset="-120"/>
                        </a:rPr>
                        <a:t>Medellín and surroundings</a:t>
                      </a:r>
                      <a:endParaRPr lang="en-US" sz="9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dirty="0">
                          <a:solidFill>
                            <a:srgbClr val="222222"/>
                          </a:solidFill>
                          <a:latin typeface="Calibri" pitchFamily="34" charset="0"/>
                          <a:ea typeface="Calibri" pitchFamily="34" charset="-122"/>
                          <a:cs typeface="Calibri" pitchFamily="34" charset="-120"/>
                        </a:rPr>
                        <a:t>172 km</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900" b="1" dirty="0">
                          <a:solidFill>
                            <a:srgbClr val="C00000"/>
                          </a:solidFill>
                          <a:latin typeface="Calibri" pitchFamily="34" charset="0"/>
                          <a:ea typeface="Calibri" pitchFamily="34" charset="-122"/>
                          <a:cs typeface="Calibri" pitchFamily="34" charset="-120"/>
                        </a:rPr>
                        <a:t>V-VI</a:t>
                      </a:r>
                      <a:endParaRPr lang="en-US" sz="9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50" dirty="0">
                          <a:solidFill>
                            <a:srgbClr val="222222"/>
                          </a:solidFill>
                          <a:latin typeface="Calibri" pitchFamily="34" charset="0"/>
                          <a:ea typeface="Calibri" pitchFamily="34" charset="-122"/>
                          <a:cs typeface="Calibri" pitchFamily="34" charset="-120"/>
                        </a:rPr>
                        <a:t>One death reported (a 73-year-old); structural damage under inspection.</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621792">
                <a:tc>
                  <a:txBody>
                    <a:bodyPr/>
                    <a:lstStyle/>
                    <a:p>
                      <a:pPr algn="l" indent="0" marL="0">
                        <a:buNone/>
                      </a:pPr>
                      <a:r>
                        <a:rPr lang="en-US" sz="950" b="1" dirty="0">
                          <a:solidFill>
                            <a:srgbClr val="1F3864"/>
                          </a:solidFill>
                          <a:latin typeface="Calibri" pitchFamily="34" charset="0"/>
                          <a:ea typeface="Calibri" pitchFamily="34" charset="-122"/>
                          <a:cs typeface="Calibri" pitchFamily="34" charset="-120"/>
                        </a:rPr>
                        <a:t>Cundinamarca / Bogotá</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00" dirty="0">
                          <a:solidFill>
                            <a:srgbClr val="222222"/>
                          </a:solidFill>
                          <a:latin typeface="Calibri" pitchFamily="34" charset="0"/>
                          <a:ea typeface="Calibri" pitchFamily="34" charset="-122"/>
                          <a:cs typeface="Calibri" pitchFamily="34" charset="-120"/>
                        </a:rPr>
                        <a:t>Bogotá, Nilo</a:t>
                      </a:r>
                      <a:endParaRPr lang="en-US" sz="9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dirty="0">
                          <a:solidFill>
                            <a:srgbClr val="222222"/>
                          </a:solidFill>
                          <a:latin typeface="Calibri" pitchFamily="34" charset="0"/>
                          <a:ea typeface="Calibri" pitchFamily="34" charset="-122"/>
                          <a:cs typeface="Calibri" pitchFamily="34" charset="-120"/>
                        </a:rPr>
                        <a:t>241 km</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900" b="1" dirty="0">
                          <a:solidFill>
                            <a:srgbClr val="C00000"/>
                          </a:solidFill>
                          <a:latin typeface="Calibri" pitchFamily="34" charset="0"/>
                          <a:ea typeface="Calibri" pitchFamily="34" charset="-122"/>
                          <a:cs typeface="Calibri" pitchFamily="34" charset="-120"/>
                        </a:rPr>
                        <a:t>IV-V</a:t>
                      </a:r>
                      <a:endParaRPr lang="en-US" sz="9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dirty="0">
                          <a:solidFill>
                            <a:srgbClr val="222222"/>
                          </a:solidFill>
                          <a:latin typeface="Calibri" pitchFamily="34" charset="0"/>
                          <a:ea typeface="Calibri" pitchFamily="34" charset="-122"/>
                          <a:cs typeface="Calibri" pitchFamily="34" charset="-120"/>
                        </a:rPr>
                        <a:t>Widely felt; buildings evacuated; structural damage to a school in Nilo reported.</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bl>
          </a:graphicData>
        </a:graphic>
      </p:graphicFrame>
      <p:sp>
        <p:nvSpPr>
          <p:cNvPr id="9" name="Text 4"/>
          <p:cNvSpPr/>
          <p:nvPr/>
        </p:nvSpPr>
        <p:spPr>
          <a:xfrm>
            <a:off x="365760" y="6272784"/>
            <a:ext cx="11430000" cy="219456"/>
          </a:xfrm>
          <a:prstGeom prst="rect">
            <a:avLst/>
          </a:prstGeom>
          <a:noFill/>
          <a:ln/>
        </p:spPr>
        <p:txBody>
          <a:bodyPr wrap="square" lIns="0" tIns="0" rIns="0" bIns="0" rtlCol="0" anchor="ctr"/>
          <a:lstStyle/>
          <a:p>
            <a:pPr algn="l" indent="0" marL="0">
              <a:buNone/>
            </a:pPr>
            <a:r>
              <a:rPr lang="en-US" sz="850" b="1" dirty="0">
                <a:solidFill>
                  <a:srgbClr val="6A6A6A"/>
                </a:solidFill>
                <a:latin typeface="Calibri" pitchFamily="34" charset="0"/>
                <a:ea typeface="Calibri" pitchFamily="34" charset="-122"/>
                <a:cs typeface="Calibri" pitchFamily="34" charset="-120"/>
              </a:rPr>
              <a:t>Sources: </a:t>
            </a:r>
            <a:pPr algn="l" indent="0" marL="0">
              <a:buNone/>
            </a:pPr>
            <a:r>
              <a:rPr lang="en-US" sz="850" u="sng" dirty="0">
                <a:solidFill>
                  <a:srgbClr val="0563C1"/>
                </a:solidFill>
                <a:latin typeface="Calibri" pitchFamily="34" charset="0"/>
                <a:ea typeface="Calibri" pitchFamily="34" charset="-122"/>
                <a:cs typeface="Calibri" pitchFamily="34" charset="-120"/>
                <a:hlinkClick r:id="rId3" invalidUrl="" action="" tgtFrame="" tooltip="" history="1" highlightClick="0" endSnd="0">
                  <a:extLst>
                    <a:ext uri="{A12FA001-AC4F-418D-AE19-62706E023703}">
                      <ahyp:hlinkClr xmlns:ahyp="http://schemas.microsoft.com/office/drawing/2018/hyperlinkcolor" val="tx"/>
                    </a:ext>
                  </a:extLst>
                </a:hlinkClick>
              </a:rPr>
              <a:t>UNGRD - National Unit for Disaster Risk Management</a:t>
            </a:r>
            <a:pPr algn="l" indent="0" marL="0">
              <a:buNone/>
            </a:pPr>
            <a:r>
              <a:rPr lang="en-US" sz="850" dirty="0">
                <a:solidFill>
                  <a:srgbClr val="6A6A6A"/>
                </a:solidFill>
                <a:latin typeface="Calibri" pitchFamily="34" charset="0"/>
                <a:ea typeface="Calibri" pitchFamily="34" charset="-122"/>
                <a:cs typeface="Calibri" pitchFamily="34" charset="-120"/>
              </a:rPr>
              <a:t>   ·   </a:t>
            </a:r>
            <a:pPr algn="l" indent="0" marL="0">
              <a:buNone/>
            </a:pPr>
            <a:r>
              <a:rPr lang="en-US" sz="850" u="sng" dirty="0">
                <a:solidFill>
                  <a:srgbClr val="0563C1"/>
                </a:solidFill>
                <a:latin typeface="Calibri" pitchFamily="34" charset="0"/>
                <a:ea typeface="Calibri" pitchFamily="34" charset="-122"/>
                <a:cs typeface="Calibri" pitchFamily="34" charset="-120"/>
                <a:hlinkClick r:id="rId4" invalidUrl="" action="" tgtFrame="" tooltip="" history="1" highlightClick="0" endSnd="0">
                  <a:extLst>
                    <a:ext uri="{A12FA001-AC4F-418D-AE19-62706E023703}">
                      <ahyp:hlinkClr xmlns:ahyp="http://schemas.microsoft.com/office/drawing/2018/hyperlinkcolor" val="tx"/>
                    </a:ext>
                  </a:extLst>
                </a:hlinkClick>
              </a:rPr>
              <a:t>Colombia One - First official assessment: widespread structural damage</a:t>
            </a:r>
            <a:pPr algn="l" indent="0" marL="0">
              <a:buNone/>
            </a:pPr>
            <a:r>
              <a:rPr lang="en-US" sz="850" dirty="0">
                <a:solidFill>
                  <a:srgbClr val="6A6A6A"/>
                </a:solidFill>
                <a:latin typeface="Calibri" pitchFamily="34" charset="0"/>
                <a:ea typeface="Calibri" pitchFamily="34" charset="-122"/>
                <a:cs typeface="Calibri" pitchFamily="34" charset="-120"/>
              </a:rPr>
              <a:t>   ·   </a:t>
            </a:r>
            <a:pPr algn="l" indent="0" marL="0">
              <a:buNone/>
            </a:pPr>
            <a:r>
              <a:rPr lang="en-US" sz="850" u="sng" dirty="0">
                <a:solidFill>
                  <a:srgbClr val="0563C1"/>
                </a:solidFill>
                <a:latin typeface="Calibri" pitchFamily="34" charset="0"/>
                <a:ea typeface="Calibri" pitchFamily="34" charset="-122"/>
                <a:cs typeface="Calibri" pitchFamily="34" charset="-120"/>
                <a:hlinkClick r:id="rId5" invalidUrl="" action="" tgtFrame="" tooltip="" history="1" highlightClick="0" endSnd="0">
                  <a:extLst>
                    <a:ext uri="{A12FA001-AC4F-418D-AE19-62706E023703}">
                      <ahyp:hlinkClr xmlns:ahyp="http://schemas.microsoft.com/office/drawing/2018/hyperlinkcolor" val="tx"/>
                    </a:ext>
                  </a:extLst>
                </a:hlinkClick>
              </a:rPr>
              <a:t>CBS News - Strong earthquake strikes western Colombia</a:t>
            </a:r>
            <a:endParaRPr lang="en-US" sz="850" dirty="0"/>
          </a:p>
        </p:txBody>
      </p:sp>
      <p:sp>
        <p:nvSpPr>
          <p:cNvPr id="10" name="Shape 5"/>
          <p:cNvSpPr/>
          <p:nvPr/>
        </p:nvSpPr>
        <p:spPr>
          <a:xfrm>
            <a:off x="10268712" y="6510528"/>
            <a:ext cx="1554480" cy="274320"/>
          </a:xfrm>
          <a:prstGeom prst="rect">
            <a:avLst/>
          </a:prstGeom>
          <a:solidFill>
            <a:srgbClr val="E8A317"/>
          </a:solidFill>
          <a:ln w="12700">
            <a:solidFill>
              <a:srgbClr val="E8A317"/>
            </a:solidFill>
            <a:prstDash val="solid"/>
          </a:ln>
        </p:spPr>
      </p:sp>
      <p:sp>
        <p:nvSpPr>
          <p:cNvPr id="11" name="Text 6"/>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950" b="1" dirty="0">
                <a:solidFill>
                  <a:srgbClr val="000000"/>
                </a:solidFill>
                <a:latin typeface="Calibri" pitchFamily="34" charset="0"/>
                <a:ea typeface="Calibri" pitchFamily="34" charset="-122"/>
                <a:cs typeface="Calibri" pitchFamily="34" charset="-120"/>
              </a:rPr>
              <a:t>ADRC  12/08/2026</a:t>
            </a:r>
            <a:endParaRPr lang="en-US" sz="950" dirty="0"/>
          </a:p>
        </p:txBody>
      </p:sp>
      <p:sp>
        <p:nvSpPr>
          <p:cNvPr id="12" name="Text 7"/>
          <p:cNvSpPr/>
          <p:nvPr/>
        </p:nvSpPr>
        <p:spPr>
          <a:xfrm>
            <a:off x="365760" y="6547104"/>
            <a:ext cx="548640" cy="219456"/>
          </a:xfrm>
          <a:prstGeom prst="rect">
            <a:avLst/>
          </a:prstGeom>
          <a:noFill/>
          <a:ln/>
        </p:spPr>
        <p:txBody>
          <a:bodyPr wrap="square" lIns="0" tIns="0" rIns="0" bIns="0" rtlCol="0" anchor="ctr"/>
          <a:lstStyle/>
          <a:p>
            <a:pPr algn="l" indent="0" marL="0">
              <a:buNone/>
            </a:pPr>
            <a:r>
              <a:rPr lang="en-US" sz="900" dirty="0">
                <a:solidFill>
                  <a:srgbClr val="6A6A6A"/>
                </a:solidFill>
                <a:latin typeface="Calibri" pitchFamily="34" charset="0"/>
                <a:ea typeface="Calibri" pitchFamily="34" charset="-122"/>
                <a:cs typeface="Calibri" pitchFamily="34" charset="-120"/>
              </a:rPr>
              <a:t>6</a:t>
            </a:r>
            <a:endParaRPr lang="en-US" sz="9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92608"/>
            <a:ext cx="10332720" cy="566928"/>
          </a:xfrm>
          <a:prstGeom prst="rect">
            <a:avLst/>
          </a:prstGeom>
          <a:noFill/>
          <a:ln/>
        </p:spPr>
        <p:txBody>
          <a:bodyPr wrap="none" lIns="0" tIns="0" rIns="0" bIns="0" rtlCol="0" anchor="ctr">
            <a:normAutofit/>
          </a:bodyPr>
          <a:lstStyle/>
          <a:p>
            <a:pPr algn="l" indent="0" marL="0">
              <a:buNone/>
            </a:pPr>
            <a:r>
              <a:rPr lang="en-US" sz="2100" b="1" dirty="0">
                <a:solidFill>
                  <a:srgbClr val="1F3864"/>
                </a:solidFill>
                <a:latin typeface="Cambria" pitchFamily="34" charset="0"/>
                <a:ea typeface="Cambria" pitchFamily="34" charset="-122"/>
                <a:cs typeface="Cambria" pitchFamily="34" charset="-120"/>
              </a:rPr>
              <a:t>Event Parameters &amp; Observed Shaking</a:t>
            </a:r>
            <a:endParaRPr lang="en-US" sz="2100" dirty="0"/>
          </a:p>
        </p:txBody>
      </p:sp>
      <p:pic>
        <p:nvPicPr>
          <p:cNvPr id="3" name="Image 0" descr="/home/user/whatsmap/reports/colombia_eq_20260810/images/adrc_logo.png">    </p:cNvPr>
          <p:cNvPicPr>
            <a:picLocks noChangeAspect="1"/>
          </p:cNvPicPr>
          <p:nvPr/>
        </p:nvPicPr>
        <p:blipFill>
          <a:blip r:embed="rId1"/>
          <a:stretch>
            <a:fillRect/>
          </a:stretch>
        </p:blipFill>
        <p:spPr>
          <a:xfrm>
            <a:off x="10945368" y="73152"/>
            <a:ext cx="877824" cy="877824"/>
          </a:xfrm>
          <a:prstGeom prst="rect">
            <a:avLst/>
          </a:prstGeom>
        </p:spPr>
      </p:pic>
      <p:graphicFrame>
        <p:nvGraphicFramePr>
          <p:cNvPr id="8" name="Table 0"/>
          <p:cNvGraphicFramePr>
            <a:graphicFrameLocks noGrp="1"/>
          </p:cNvGraphicFramePr>
          <p:nvPr>
            <p:extLst>
              <p:ext uri="{D42A27DB-BD31-4B8C-83A1-F6EECF244321}">
                <p14:modId xmlns:p14="http://schemas.microsoft.com/office/powerpoint/2010/main" val="1579011935"/>
              </p:ext>
            </p:extLst>
          </p:nvPr>
        </p:nvGraphicFramePr>
        <p:xfrm>
          <a:off x="365760" y="1024128"/>
          <a:ext cx="6675120" cy="914400"/>
        </p:xfrm>
        <a:graphic>
          <a:graphicData uri="http://schemas.openxmlformats.org/drawingml/2006/table">
            <a:tbl>
              <a:tblPr/>
              <a:tblGrid>
                <a:gridCol w="1828800"/>
                <a:gridCol w="4846320"/>
              </a:tblGrid>
              <a:tr h="365760">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Item</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Value</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r>
              <a:tr h="365760">
                <a:tc>
                  <a:txBody>
                    <a:bodyPr/>
                    <a:lstStyle/>
                    <a:p>
                      <a:pPr algn="l" indent="0" marL="0">
                        <a:buNone/>
                      </a:pPr>
                      <a:r>
                        <a:rPr lang="en-US" sz="950" b="1" dirty="0">
                          <a:solidFill>
                            <a:srgbClr val="1F3864"/>
                          </a:solidFill>
                          <a:latin typeface="Calibri" pitchFamily="34" charset="0"/>
                          <a:ea typeface="Calibri" pitchFamily="34" charset="-122"/>
                          <a:cs typeface="Calibri" pitchFamily="34" charset="-120"/>
                        </a:rPr>
                        <a:t>Origin time (local)</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10 Aug 2026, 07:34:28 COT (UTC-5)</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365760">
                <a:tc>
                  <a:txBody>
                    <a:bodyPr/>
                    <a:lstStyle/>
                    <a:p>
                      <a:pPr algn="l" indent="0" marL="0">
                        <a:buNone/>
                      </a:pPr>
                      <a:r>
                        <a:rPr lang="en-US" sz="950" b="1" dirty="0">
                          <a:solidFill>
                            <a:srgbClr val="1F3864"/>
                          </a:solidFill>
                          <a:latin typeface="Calibri" pitchFamily="34" charset="0"/>
                          <a:ea typeface="Calibri" pitchFamily="34" charset="-122"/>
                          <a:cs typeface="Calibri" pitchFamily="34" charset="-120"/>
                        </a:rPr>
                        <a:t>Origin time (UTC / JST)</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10 Aug 2026, 12:34:28 UTC  /  10 Aug 2026, 21:34 JST</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365760">
                <a:tc>
                  <a:txBody>
                    <a:bodyPr/>
                    <a:lstStyle/>
                    <a:p>
                      <a:pPr algn="l" indent="0" marL="0">
                        <a:buNone/>
                      </a:pPr>
                      <a:r>
                        <a:rPr lang="en-US" sz="950" b="1" dirty="0">
                          <a:solidFill>
                            <a:srgbClr val="1F3864"/>
                          </a:solidFill>
                          <a:latin typeface="Calibri" pitchFamily="34" charset="0"/>
                          <a:ea typeface="Calibri" pitchFamily="34" charset="-122"/>
                          <a:cs typeface="Calibri" pitchFamily="34" charset="-120"/>
                        </a:rPr>
                        <a:t>Epicentre</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USGS: 5 km S of San José del Palmar, Chocó Department (approx. 280 km W of Bogotá) — SGC: 20 km from San José del Palmar</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365760">
                <a:tc>
                  <a:txBody>
                    <a:bodyPr/>
                    <a:lstStyle/>
                    <a:p>
                      <a:pPr algn="l" indent="0" marL="0">
                        <a:buNone/>
                      </a:pPr>
                      <a:r>
                        <a:rPr lang="en-US" sz="950" b="1" dirty="0">
                          <a:solidFill>
                            <a:srgbClr val="1F3864"/>
                          </a:solidFill>
                          <a:latin typeface="Calibri" pitchFamily="34" charset="0"/>
                          <a:ea typeface="Calibri" pitchFamily="34" charset="-122"/>
                          <a:cs typeface="Calibri" pitchFamily="34" charset="-120"/>
                        </a:rPr>
                        <a:t>Coordinates</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USGS 4.8436 N, 76.2422 W   ·   SGC 5.04 N, 76.34 W</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365760">
                <a:tc>
                  <a:txBody>
                    <a:bodyPr/>
                    <a:lstStyle/>
                    <a:p>
                      <a:pPr algn="l" indent="0" marL="0">
                        <a:buNone/>
                      </a:pPr>
                      <a:r>
                        <a:rPr lang="en-US" sz="950" b="1" dirty="0">
                          <a:solidFill>
                            <a:srgbClr val="1F3864"/>
                          </a:solidFill>
                          <a:latin typeface="Calibri" pitchFamily="34" charset="0"/>
                          <a:ea typeface="Calibri" pitchFamily="34" charset="-122"/>
                          <a:cs typeface="Calibri" pitchFamily="34" charset="-120"/>
                        </a:rPr>
                        <a:t>Magnitude</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Mww 7.4 (USGS)   ·   7.4 (SGC)</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365760">
                <a:tc>
                  <a:txBody>
                    <a:bodyPr/>
                    <a:lstStyle/>
                    <a:p>
                      <a:pPr algn="l" indent="0" marL="0">
                        <a:buNone/>
                      </a:pPr>
                      <a:r>
                        <a:rPr lang="en-US" sz="950" b="1" dirty="0">
                          <a:solidFill>
                            <a:srgbClr val="1F3864"/>
                          </a:solidFill>
                          <a:latin typeface="Calibri" pitchFamily="34" charset="0"/>
                          <a:ea typeface="Calibri" pitchFamily="34" charset="-122"/>
                          <a:cs typeface="Calibri" pitchFamily="34" charset="-120"/>
                        </a:rPr>
                        <a:t>Depth</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110.3 km (USGS, PAGER v5) / 96 km (SGC)</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365760">
                <a:tc>
                  <a:txBody>
                    <a:bodyPr/>
                    <a:lstStyle/>
                    <a:p>
                      <a:pPr algn="l" indent="0" marL="0">
                        <a:buNone/>
                      </a:pPr>
                      <a:r>
                        <a:rPr lang="en-US" sz="950" b="1" dirty="0">
                          <a:solidFill>
                            <a:srgbClr val="1F3864"/>
                          </a:solidFill>
                          <a:latin typeface="Calibri" pitchFamily="34" charset="0"/>
                          <a:ea typeface="Calibri" pitchFamily="34" charset="-122"/>
                          <a:cs typeface="Calibri" pitchFamily="34" charset="-120"/>
                        </a:rPr>
                        <a:t>Mechanism</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Strike-slip faulting at intermediate depth, within the subducting Nazca slab (not on the shallow plate interface)</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365760">
                <a:tc>
                  <a:txBody>
                    <a:bodyPr/>
                    <a:lstStyle/>
                    <a:p>
                      <a:pPr algn="l" indent="0" marL="0">
                        <a:buNone/>
                      </a:pPr>
                      <a:r>
                        <a:rPr lang="en-US" sz="950" b="1" dirty="0">
                          <a:solidFill>
                            <a:srgbClr val="1F3864"/>
                          </a:solidFill>
                          <a:latin typeface="Calibri" pitchFamily="34" charset="0"/>
                          <a:ea typeface="Calibri" pitchFamily="34" charset="-122"/>
                          <a:cs typeface="Calibri" pitchFamily="34" charset="-120"/>
                        </a:rPr>
                        <a:t>Max. shaking</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MMI VII (Very strong) — USGS ShakeMap; the SGC macroseismic intensity map agrees</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365760">
                <a:tc>
                  <a:txBody>
                    <a:bodyPr/>
                    <a:lstStyle/>
                    <a:p>
                      <a:pPr algn="l" indent="0" marL="0">
                        <a:buNone/>
                      </a:pPr>
                      <a:r>
                        <a:rPr lang="en-US" sz="950" b="1" dirty="0">
                          <a:solidFill>
                            <a:srgbClr val="1F3864"/>
                          </a:solidFill>
                          <a:latin typeface="Calibri" pitchFamily="34" charset="0"/>
                          <a:ea typeface="Calibri" pitchFamily="34" charset="-122"/>
                          <a:cs typeface="Calibri" pitchFamily="34" charset="-120"/>
                        </a:rPr>
                        <a:t>Felt area</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Felt across western and central Colombia including Bogotá, Cali and Medellín, and in Ecuador, Panama and Venezuela</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365760">
                <a:tc>
                  <a:txBody>
                    <a:bodyPr/>
                    <a:lstStyle/>
                    <a:p>
                      <a:pPr algn="l" indent="0" marL="0">
                        <a:buNone/>
                      </a:pPr>
                      <a:r>
                        <a:rPr lang="en-US" sz="950" b="1" dirty="0">
                          <a:solidFill>
                            <a:srgbClr val="1F3864"/>
                          </a:solidFill>
                          <a:latin typeface="Calibri" pitchFamily="34" charset="0"/>
                          <a:ea typeface="Calibri" pitchFamily="34" charset="-122"/>
                          <a:cs typeface="Calibri" pitchFamily="34" charset="-120"/>
                        </a:rPr>
                        <a:t>Tsunami</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No tsunami. The event was inland and at intermediate depth; no tsunami warning was issued for the Pacific coast.</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365760">
                <a:tc>
                  <a:txBody>
                    <a:bodyPr/>
                    <a:lstStyle/>
                    <a:p>
                      <a:pPr algn="l" indent="0" marL="0">
                        <a:buNone/>
                      </a:pPr>
                      <a:r>
                        <a:rPr lang="en-US" sz="950" b="1" dirty="0">
                          <a:solidFill>
                            <a:srgbClr val="1F3864"/>
                          </a:solidFill>
                          <a:latin typeface="Calibri" pitchFamily="34" charset="0"/>
                          <a:ea typeface="Calibri" pitchFamily="34" charset="-122"/>
                          <a:cs typeface="Calibri" pitchFamily="34" charset="-120"/>
                        </a:rPr>
                        <a:t>Alert level</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USGS PAGER: Orange (version 5). Most likely fatality band 1,000-10,000 (35% probability); economic losses most likely USD 100-1,000 million (34%), less than 1% of Colombia's GDP. GDACS: Orange.</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365760">
                <a:tc>
                  <a:txBody>
                    <a:bodyPr/>
                    <a:lstStyle/>
                    <a:p>
                      <a:pPr algn="l" indent="0" marL="0">
                        <a:buNone/>
                      </a:pPr>
                      <a:r>
                        <a:rPr lang="en-US" sz="950" b="1" dirty="0">
                          <a:solidFill>
                            <a:srgbClr val="1F3864"/>
                          </a:solidFill>
                          <a:latin typeface="Calibri" pitchFamily="34" charset="0"/>
                          <a:ea typeface="Calibri" pitchFamily="34" charset="-122"/>
                          <a:cs typeface="Calibri" pitchFamily="34" charset="-120"/>
                        </a:rPr>
                        <a:t>GLIDE</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EQ-2026-000146-COL</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bl>
          </a:graphicData>
        </a:graphic>
      </p:graphicFrame>
      <p:pic>
        <p:nvPicPr>
          <p:cNvPr id="5" name="Image 1" descr="/home/user/whatsmap/reports/colombia_eq_20260810/images/mmi_distance.png">    </p:cNvPr>
          <p:cNvPicPr>
            <a:picLocks noChangeAspect="1"/>
          </p:cNvPicPr>
          <p:nvPr/>
        </p:nvPicPr>
        <p:blipFill>
          <a:blip r:embed="rId2"/>
          <a:stretch>
            <a:fillRect/>
          </a:stretch>
        </p:blipFill>
        <p:spPr>
          <a:xfrm>
            <a:off x="7418059" y="1024128"/>
            <a:ext cx="4183403" cy="2432304"/>
          </a:xfrm>
          <a:prstGeom prst="rect">
            <a:avLst/>
          </a:prstGeom>
        </p:spPr>
      </p:pic>
      <p:sp>
        <p:nvSpPr>
          <p:cNvPr id="6" name="Text 1"/>
          <p:cNvSpPr/>
          <p:nvPr/>
        </p:nvSpPr>
        <p:spPr>
          <a:xfrm>
            <a:off x="7223760" y="3474720"/>
            <a:ext cx="4572000" cy="201168"/>
          </a:xfrm>
          <a:prstGeom prst="rect">
            <a:avLst/>
          </a:prstGeom>
          <a:noFill/>
          <a:ln/>
        </p:spPr>
        <p:txBody>
          <a:bodyPr wrap="square" lIns="0" tIns="0" rIns="0" bIns="0" rtlCol="0" anchor="ctr"/>
          <a:lstStyle/>
          <a:p>
            <a:pPr algn="ctr" indent="0" marL="0">
              <a:buNone/>
            </a:pPr>
            <a:r>
              <a:rPr lang="en-US" sz="800" dirty="0">
                <a:solidFill>
                  <a:srgbClr val="6A6A6A"/>
                </a:solidFill>
                <a:latin typeface="Calibri" pitchFamily="34" charset="0"/>
                <a:ea typeface="Calibri" pitchFamily="34" charset="-122"/>
                <a:cs typeface="Calibri" pitchFamily="34" charset="-120"/>
              </a:rPr>
              <a:t>Distance vs. reported MMI (ADRC)</a:t>
            </a:r>
            <a:endParaRPr lang="en-US" sz="800" dirty="0"/>
          </a:p>
        </p:txBody>
      </p:sp>
      <p:graphicFrame>
        <p:nvGraphicFramePr>
          <p:cNvPr id="7" name="Chart 0" descr=""/>
          <p:cNvGraphicFramePr/>
          <p:nvPr/>
        </p:nvGraphicFramePr>
        <p:xfrm>
          <a:off x="7223760" y="3767328"/>
          <a:ext cx="4572000" cy="1920240"/>
        </p:xfrm>
        <a:graphic xmlns:a="http://schemas.openxmlformats.org/drawingml/2006/main">
          <a:graphicData uri="http://schemas.openxmlformats.org/drawingml/2006/chart">
            <c:chart xmlns:c="http://schemas.openxmlformats.org/drawingml/2006/chart" r:id="rId3"/>
          </a:graphicData>
        </a:graphic>
      </p:graphicFrame>
      <p:sp>
        <p:nvSpPr>
          <p:cNvPr id="8" name="Text 2"/>
          <p:cNvSpPr/>
          <p:nvPr/>
        </p:nvSpPr>
        <p:spPr>
          <a:xfrm>
            <a:off x="7223760" y="5705856"/>
            <a:ext cx="4572000" cy="512064"/>
          </a:xfrm>
          <a:prstGeom prst="rect">
            <a:avLst/>
          </a:prstGeom>
          <a:noFill/>
          <a:ln/>
        </p:spPr>
        <p:txBody>
          <a:bodyPr wrap="square" lIns="0" tIns="0" rIns="0" bIns="0" rtlCol="0" anchor="t"/>
          <a:lstStyle/>
          <a:p>
            <a:pPr indent="0" marL="0">
              <a:buNone/>
            </a:pPr>
            <a:r>
              <a:rPr lang="en-US" sz="750" dirty="0">
                <a:solidFill>
                  <a:srgbClr val="6A6A6A"/>
                </a:solidFill>
                <a:latin typeface="Calibri" pitchFamily="34" charset="0"/>
                <a:ea typeface="Calibri" pitchFamily="34" charset="-122"/>
                <a:cs typeface="Calibri" pitchFamily="34" charset="-120"/>
              </a:rPr>
              <a:t>USGS PAGER (version 5) exposure estimates. About 10.5 million people were exposed to Strong or Very Strong shaking (MMI VI-VII) and about 34 million to MMI IV or above across four countries. These are model estimates.</a:t>
            </a:r>
            <a:endParaRPr lang="en-US" sz="750" dirty="0"/>
          </a:p>
        </p:txBody>
      </p:sp>
      <p:sp>
        <p:nvSpPr>
          <p:cNvPr id="9" name="Text 3"/>
          <p:cNvSpPr/>
          <p:nvPr/>
        </p:nvSpPr>
        <p:spPr>
          <a:xfrm>
            <a:off x="365760" y="5815584"/>
            <a:ext cx="6675120" cy="420624"/>
          </a:xfrm>
          <a:prstGeom prst="rect">
            <a:avLst/>
          </a:prstGeom>
          <a:noFill/>
          <a:ln/>
        </p:spPr>
        <p:txBody>
          <a:bodyPr wrap="square" lIns="0" tIns="0" rIns="0" bIns="0" rtlCol="0" anchor="t"/>
          <a:lstStyle/>
          <a:p>
            <a:pPr indent="0" marL="0">
              <a:buNone/>
            </a:pPr>
            <a:r>
              <a:rPr lang="en-US" sz="700" i="1" dirty="0">
                <a:solidFill>
                  <a:srgbClr val="6A6A6A"/>
                </a:solidFill>
                <a:latin typeface="Calibri" pitchFamily="34" charset="0"/>
                <a:ea typeface="Calibri" pitchFamily="34" charset="-122"/>
                <a:cs typeface="Calibri" pitchFamily="34" charset="-120"/>
              </a:rPr>
              <a:t>USGS and SGC agree on size; the SGC's first bulletin gave M6.6 at 79 km before revision. The two locations differ by about 20 km and their depths by about 11 km — normal for an intermediate-depth event recorded by different networks. Epicentral distances in this report are measured from the USGS location. SGC event SGC2026pqqmro was located with 69 stations; the SGC states its bulletins are subject to change as review continues.</a:t>
            </a:r>
            <a:endParaRPr lang="en-US" sz="700" dirty="0"/>
          </a:p>
        </p:txBody>
      </p:sp>
      <p:sp>
        <p:nvSpPr>
          <p:cNvPr id="10" name="Text 4"/>
          <p:cNvSpPr/>
          <p:nvPr/>
        </p:nvSpPr>
        <p:spPr>
          <a:xfrm>
            <a:off x="365760" y="6272784"/>
            <a:ext cx="11430000" cy="219456"/>
          </a:xfrm>
          <a:prstGeom prst="rect">
            <a:avLst/>
          </a:prstGeom>
          <a:noFill/>
          <a:ln/>
        </p:spPr>
        <p:txBody>
          <a:bodyPr wrap="square" lIns="0" tIns="0" rIns="0" bIns="0" rtlCol="0" anchor="ctr"/>
          <a:lstStyle/>
          <a:p>
            <a:pPr algn="l" indent="0" marL="0">
              <a:buNone/>
            </a:pPr>
            <a:r>
              <a:rPr lang="en-US" sz="850" b="1" dirty="0">
                <a:solidFill>
                  <a:srgbClr val="6A6A6A"/>
                </a:solidFill>
                <a:latin typeface="Calibri" pitchFamily="34" charset="0"/>
                <a:ea typeface="Calibri" pitchFamily="34" charset="-122"/>
                <a:cs typeface="Calibri" pitchFamily="34" charset="-120"/>
              </a:rPr>
              <a:t>Sources: </a:t>
            </a:r>
            <a:pPr algn="l" indent="0" marL="0">
              <a:buNone/>
            </a:pPr>
            <a:r>
              <a:rPr lang="en-US" sz="850" u="sng" dirty="0">
                <a:solidFill>
                  <a:srgbClr val="0563C1"/>
                </a:solidFill>
                <a:latin typeface="Calibri" pitchFamily="34" charset="0"/>
                <a:ea typeface="Calibri" pitchFamily="34" charset="-122"/>
                <a:cs typeface="Calibri" pitchFamily="34" charset="-120"/>
                <a:hlinkClick r:id="rId4" invalidUrl="" action="" tgtFrame="" tooltip="" history="1" highlightClick="0" endSnd="0">
                  <a:extLst>
                    <a:ext uri="{A12FA001-AC4F-418D-AE19-62706E023703}">
                      <ahyp:hlinkClr xmlns:ahyp="http://schemas.microsoft.com/office/drawing/2018/hyperlinkcolor" val="tx"/>
                    </a:ext>
                  </a:extLst>
                </a:hlinkClick>
              </a:rPr>
              <a:t>USGS - M 7.4 San José del Palmar, Colombia (event page)</a:t>
            </a:r>
            <a:pPr algn="l" indent="0" marL="0">
              <a:buNone/>
            </a:pPr>
            <a:r>
              <a:rPr lang="en-US" sz="850" dirty="0">
                <a:solidFill>
                  <a:srgbClr val="6A6A6A"/>
                </a:solidFill>
                <a:latin typeface="Calibri" pitchFamily="34" charset="0"/>
                <a:ea typeface="Calibri" pitchFamily="34" charset="-122"/>
                <a:cs typeface="Calibri" pitchFamily="34" charset="-120"/>
              </a:rPr>
              <a:t>   ·   </a:t>
            </a:r>
            <a:pPr algn="l" indent="0" marL="0">
              <a:buNone/>
            </a:pPr>
            <a:r>
              <a:rPr lang="en-US" sz="850" u="sng" dirty="0">
                <a:solidFill>
                  <a:srgbClr val="0563C1"/>
                </a:solidFill>
                <a:latin typeface="Calibri" pitchFamily="34" charset="0"/>
                <a:ea typeface="Calibri" pitchFamily="34" charset="-122"/>
                <a:cs typeface="Calibri" pitchFamily="34" charset="-120"/>
                <a:hlinkClick r:id="rId5" invalidUrl="" action="" tgtFrame="" tooltip="" history="1" highlightClick="0" endSnd="0">
                  <a:extLst>
                    <a:ext uri="{A12FA001-AC4F-418D-AE19-62706E023703}">
                      <ahyp:hlinkClr xmlns:ahyp="http://schemas.microsoft.com/office/drawing/2018/hyperlinkcolor" val="tx"/>
                    </a:ext>
                  </a:extLst>
                </a:hlinkClick>
              </a:rPr>
              <a:t>SGC — event bulletin SGC2026pqqmro (this earthquake)</a:t>
            </a:r>
            <a:pPr algn="l" indent="0" marL="0">
              <a:buNone/>
            </a:pPr>
            <a:r>
              <a:rPr lang="en-US" sz="850" dirty="0">
                <a:solidFill>
                  <a:srgbClr val="6A6A6A"/>
                </a:solidFill>
                <a:latin typeface="Calibri" pitchFamily="34" charset="0"/>
                <a:ea typeface="Calibri" pitchFamily="34" charset="-122"/>
                <a:cs typeface="Calibri" pitchFamily="34" charset="-120"/>
              </a:rPr>
              <a:t>   ·   </a:t>
            </a:r>
            <a:pPr algn="l" indent="0" marL="0">
              <a:buNone/>
            </a:pPr>
            <a:r>
              <a:rPr lang="en-US" sz="850" u="sng" dirty="0">
                <a:solidFill>
                  <a:srgbClr val="0563C1"/>
                </a:solidFill>
                <a:latin typeface="Calibri" pitchFamily="34" charset="0"/>
                <a:ea typeface="Calibri" pitchFamily="34" charset="-122"/>
                <a:cs typeface="Calibri" pitchFamily="34" charset="-120"/>
                <a:hlinkClick r:id="rId6" invalidUrl="" action="" tgtFrame="" tooltip="" history="1" highlightClick="0" endSnd="0">
                  <a:extLst>
                    <a:ext uri="{A12FA001-AC4F-418D-AE19-62706E023703}">
                      <ahyp:hlinkClr xmlns:ahyp="http://schemas.microsoft.com/office/drawing/2018/hyperlinkcolor" val="tx"/>
                    </a:ext>
                  </a:extLst>
                </a:hlinkClick>
              </a:rPr>
              <a:t>GDACS - Orange earthquake alert, Colombia, 10 Aug 2026</a:t>
            </a:r>
            <a:endParaRPr lang="en-US" sz="850" dirty="0"/>
          </a:p>
        </p:txBody>
      </p:sp>
      <p:sp>
        <p:nvSpPr>
          <p:cNvPr id="11" name="Shape 5"/>
          <p:cNvSpPr/>
          <p:nvPr/>
        </p:nvSpPr>
        <p:spPr>
          <a:xfrm>
            <a:off x="10268712" y="6510528"/>
            <a:ext cx="1554480" cy="274320"/>
          </a:xfrm>
          <a:prstGeom prst="rect">
            <a:avLst/>
          </a:prstGeom>
          <a:solidFill>
            <a:srgbClr val="E8A317"/>
          </a:solidFill>
          <a:ln w="12700">
            <a:solidFill>
              <a:srgbClr val="E8A317"/>
            </a:solidFill>
            <a:prstDash val="solid"/>
          </a:ln>
        </p:spPr>
      </p:sp>
      <p:sp>
        <p:nvSpPr>
          <p:cNvPr id="12" name="Text 6"/>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950" b="1" dirty="0">
                <a:solidFill>
                  <a:srgbClr val="000000"/>
                </a:solidFill>
                <a:latin typeface="Calibri" pitchFamily="34" charset="0"/>
                <a:ea typeface="Calibri" pitchFamily="34" charset="-122"/>
                <a:cs typeface="Calibri" pitchFamily="34" charset="-120"/>
              </a:rPr>
              <a:t>ADRC  12/08/2026</a:t>
            </a:r>
            <a:endParaRPr lang="en-US" sz="950" dirty="0"/>
          </a:p>
        </p:txBody>
      </p:sp>
      <p:sp>
        <p:nvSpPr>
          <p:cNvPr id="13" name="Text 7"/>
          <p:cNvSpPr/>
          <p:nvPr/>
        </p:nvSpPr>
        <p:spPr>
          <a:xfrm>
            <a:off x="365760" y="6547104"/>
            <a:ext cx="548640" cy="219456"/>
          </a:xfrm>
          <a:prstGeom prst="rect">
            <a:avLst/>
          </a:prstGeom>
          <a:noFill/>
          <a:ln/>
        </p:spPr>
        <p:txBody>
          <a:bodyPr wrap="square" lIns="0" tIns="0" rIns="0" bIns="0" rtlCol="0" anchor="ctr"/>
          <a:lstStyle/>
          <a:p>
            <a:pPr algn="l" indent="0" marL="0">
              <a:buNone/>
            </a:pPr>
            <a:r>
              <a:rPr lang="en-US" sz="900" dirty="0">
                <a:solidFill>
                  <a:srgbClr val="6A6A6A"/>
                </a:solidFill>
                <a:latin typeface="Calibri" pitchFamily="34" charset="0"/>
                <a:ea typeface="Calibri" pitchFamily="34" charset="-122"/>
                <a:cs typeface="Calibri" pitchFamily="34" charset="-120"/>
              </a:rPr>
              <a:t>7</a:t>
            </a:r>
            <a:endParaRPr lang="en-US" sz="9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92608"/>
            <a:ext cx="10332720" cy="566928"/>
          </a:xfrm>
          <a:prstGeom prst="rect">
            <a:avLst/>
          </a:prstGeom>
          <a:noFill/>
          <a:ln/>
        </p:spPr>
        <p:txBody>
          <a:bodyPr wrap="none" lIns="0" tIns="0" rIns="0" bIns="0" rtlCol="0" anchor="ctr">
            <a:normAutofit/>
          </a:bodyPr>
          <a:lstStyle/>
          <a:p>
            <a:pPr algn="l" indent="0" marL="0">
              <a:buNone/>
            </a:pPr>
            <a:r>
              <a:rPr lang="en-US" sz="2100" b="1" dirty="0">
                <a:solidFill>
                  <a:srgbClr val="1F3864"/>
                </a:solidFill>
                <a:latin typeface="Cambria" pitchFamily="34" charset="0"/>
                <a:ea typeface="Cambria" pitchFamily="34" charset="-122"/>
                <a:cs typeface="Cambria" pitchFamily="34" charset="-120"/>
              </a:rPr>
              <a:t>Macroseismic Intensity (SGC)</a:t>
            </a:r>
            <a:endParaRPr lang="en-US" sz="2100" dirty="0"/>
          </a:p>
        </p:txBody>
      </p:sp>
      <p:pic>
        <p:nvPicPr>
          <p:cNvPr id="3" name="Image 0" descr="/home/user/whatsmap/reports/colombia_eq_20260810/images/adrc_logo.png">    </p:cNvPr>
          <p:cNvPicPr>
            <a:picLocks noChangeAspect="1"/>
          </p:cNvPicPr>
          <p:nvPr/>
        </p:nvPicPr>
        <p:blipFill>
          <a:blip r:embed="rId1"/>
          <a:stretch>
            <a:fillRect/>
          </a:stretch>
        </p:blipFill>
        <p:spPr>
          <a:xfrm>
            <a:off x="10945368" y="73152"/>
            <a:ext cx="877824" cy="877824"/>
          </a:xfrm>
          <a:prstGeom prst="rect">
            <a:avLst/>
          </a:prstGeom>
        </p:spPr>
      </p:pic>
      <p:pic>
        <p:nvPicPr>
          <p:cNvPr id="4" name="Image 1" descr="/home/user/whatsmap/reports/colombia_eq_20260810/images/sgc_shakemap_manual.jpg">    </p:cNvPr>
          <p:cNvPicPr>
            <a:picLocks noChangeAspect="1"/>
          </p:cNvPicPr>
          <p:nvPr/>
        </p:nvPicPr>
        <p:blipFill>
          <a:blip r:embed="rId2"/>
          <a:stretch>
            <a:fillRect/>
          </a:stretch>
        </p:blipFill>
        <p:spPr>
          <a:xfrm>
            <a:off x="1067167" y="1024128"/>
            <a:ext cx="3809266" cy="4626864"/>
          </a:xfrm>
          <a:prstGeom prst="rect">
            <a:avLst/>
          </a:prstGeom>
        </p:spPr>
      </p:pic>
      <p:sp>
        <p:nvSpPr>
          <p:cNvPr id="5" name="Text 1"/>
          <p:cNvSpPr/>
          <p:nvPr/>
        </p:nvSpPr>
        <p:spPr>
          <a:xfrm>
            <a:off x="365760" y="5669280"/>
            <a:ext cx="5212080" cy="201168"/>
          </a:xfrm>
          <a:prstGeom prst="rect">
            <a:avLst/>
          </a:prstGeom>
          <a:noFill/>
          <a:ln/>
        </p:spPr>
        <p:txBody>
          <a:bodyPr wrap="square" lIns="0" tIns="0" rIns="0" bIns="0" rtlCol="0" anchor="ctr"/>
          <a:lstStyle/>
          <a:p>
            <a:pPr algn="ctr" indent="0" marL="0">
              <a:buNone/>
            </a:pPr>
            <a:r>
              <a:rPr lang="en-US" sz="800" dirty="0">
                <a:solidFill>
                  <a:srgbClr val="6A6A6A"/>
                </a:solidFill>
                <a:latin typeface="Calibri" pitchFamily="34" charset="0"/>
                <a:ea typeface="Calibri" pitchFamily="34" charset="-122"/>
                <a:cs typeface="Calibri" pitchFamily="34" charset="-120"/>
              </a:rPr>
              <a:t>Official SGC intensity map  (© SGC)</a:t>
            </a:r>
            <a:pPr algn="ctr" indent="0" marL="0">
              <a:buNone/>
            </a:pPr>
            <a:r>
              <a:rPr lang="en-US" sz="700" u="sng" dirty="0">
                <a:solidFill>
                  <a:srgbClr val="0563C1"/>
                </a:solidFill>
                <a:latin typeface="Calibri" pitchFamily="34" charset="0"/>
                <a:ea typeface="Calibri" pitchFamily="34" charset="-122"/>
                <a:cs typeface="Calibri" pitchFamily="34" charset="-120"/>
                <a:hlinkClick r:id="rId3" invalidUrl="" action="" tgtFrame="" tooltip="" history="1" highlightClick="0" endSnd="0">
                  <a:extLst>
                    <a:ext uri="{A12FA001-AC4F-418D-AE19-62706E023703}">
                      <ahyp:hlinkClr xmlns:ahyp="http://schemas.microsoft.com/office/drawing/2018/hyperlinkcolor" val="tx"/>
                    </a:ext>
                  </a:extLst>
                </a:hlinkClick>
              </a:rPr>
              <a:t>  —  https://www.sgc.gov.co/detallesismo/SGC2026pqqmro/mmi</a:t>
            </a:r>
            <a:endParaRPr lang="en-US" sz="800" dirty="0"/>
          </a:p>
        </p:txBody>
      </p:sp>
      <p:sp>
        <p:nvSpPr>
          <p:cNvPr id="6" name="Text 2"/>
          <p:cNvSpPr/>
          <p:nvPr/>
        </p:nvSpPr>
        <p:spPr>
          <a:xfrm>
            <a:off x="5852160" y="1024128"/>
            <a:ext cx="5943600" cy="566928"/>
          </a:xfrm>
          <a:prstGeom prst="rect">
            <a:avLst/>
          </a:prstGeom>
          <a:noFill/>
          <a:ln/>
        </p:spPr>
        <p:txBody>
          <a:bodyPr wrap="square" lIns="0" tIns="0" rIns="0" bIns="0" rtlCol="0" anchor="t"/>
          <a:lstStyle/>
          <a:p>
            <a:pPr indent="0" marL="0">
              <a:buNone/>
            </a:pPr>
            <a:r>
              <a:rPr lang="en-US" sz="800" dirty="0">
                <a:solidFill>
                  <a:srgbClr val="6A6A6A"/>
                </a:solidFill>
                <a:latin typeface="Calibri" pitchFamily="34" charset="0"/>
                <a:ea typeface="Calibri" pitchFamily="34" charset="-122"/>
                <a:cs typeface="Calibri" pitchFamily="34" charset="-120"/>
              </a:rPr>
              <a:t>ShakeMap: San José del Palmar - Chocó, Colombia · 10 Aug 2026 12:34:29 UTC · M7.4 · N5.04 W76.34 · depth 96.0 km · ID SGC2026pqqmro · Version 1, processed 2026-08-10T13:12:28Z · scale after Worden et al. (2012)</a:t>
            </a:r>
            <a:endParaRPr lang="en-US" sz="800" dirty="0"/>
          </a:p>
        </p:txBody>
      </p:sp>
      <p:sp>
        <p:nvSpPr>
          <p:cNvPr id="7" name="Text 3"/>
          <p:cNvSpPr/>
          <p:nvPr/>
        </p:nvSpPr>
        <p:spPr>
          <a:xfrm>
            <a:off x="5852160" y="1645920"/>
            <a:ext cx="5943600" cy="1536192"/>
          </a:xfrm>
          <a:prstGeom prst="rect">
            <a:avLst/>
          </a:prstGeom>
          <a:noFill/>
          <a:ln/>
        </p:spPr>
        <p:txBody>
          <a:bodyPr wrap="square" lIns="0" tIns="0" rIns="0" bIns="0" rtlCol="0" anchor="t"/>
          <a:lstStyle/>
          <a:p>
            <a:pPr indent="0" marL="0">
              <a:buNone/>
            </a:pPr>
            <a:r>
              <a:rPr lang="en-US" sz="1000" dirty="0">
                <a:solidFill>
                  <a:srgbClr val="222222"/>
                </a:solidFill>
                <a:latin typeface="Calibri" pitchFamily="34" charset="0"/>
                <a:ea typeface="Calibri" pitchFamily="34" charset="-122"/>
                <a:cs typeface="Calibri" pitchFamily="34" charset="-120"/>
              </a:rPr>
              <a:t>The SGC map shows the strongest band (MMI VII, 'Muy Fuerte') over the epicentral area of Chocó and along the inter-Andean corridor through Risaralda, Caldas, Quindío and northern Valle del Cauca — the belt in which the collapses in Pereira, Manizales, Armenia and Cartago occurred. Intensity falls away eastward: Medellín and Cali sit in the moderate-to-strong bands and Bogotá, 241 km from the epicentre, in a low one. The elongated pattern along the valleys, rather than a compact circle around the epicentre, is the signature of a 96-110 km-deep source combined with soft valley sediments.</a:t>
            </a:r>
            <a:endParaRPr lang="en-US" sz="1000" dirty="0"/>
          </a:p>
        </p:txBody>
      </p:sp>
      <p:graphicFrame>
        <p:nvGraphicFramePr>
          <p:cNvPr id="9" name="Table 0"/>
          <p:cNvGraphicFramePr>
            <a:graphicFrameLocks noGrp="1"/>
          </p:cNvGraphicFramePr>
          <p:nvPr>
            <p:extLst>
              <p:ext uri="{D42A27DB-BD31-4B8C-83A1-F6EECF244321}">
                <p14:modId xmlns:p14="http://schemas.microsoft.com/office/powerpoint/2010/main" val="1579011935"/>
              </p:ext>
            </p:extLst>
          </p:nvPr>
        </p:nvGraphicFramePr>
        <p:xfrm>
          <a:off x="5852160" y="3255264"/>
          <a:ext cx="5943600" cy="914400"/>
        </p:xfrm>
        <a:graphic>
          <a:graphicData uri="http://schemas.openxmlformats.org/drawingml/2006/table">
            <a:tbl>
              <a:tblPr/>
              <a:tblGrid>
                <a:gridCol w="658368"/>
                <a:gridCol w="1572768"/>
                <a:gridCol w="1517904"/>
                <a:gridCol w="1097280"/>
                <a:gridCol w="1097280"/>
              </a:tblGrid>
              <a:tr h="256032">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MMI</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Perceived shaking</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Potential damage</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PGA (%g)</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PGV (cm/s)</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r>
              <a:tr h="256032">
                <a:tc>
                  <a:txBody>
                    <a:bodyPr/>
                    <a:lstStyle/>
                    <a:p>
                      <a:pPr algn="ctr" indent="0" marL="0">
                        <a:buNone/>
                      </a:pPr>
                      <a:r>
                        <a:rPr lang="en-US" sz="900" b="1" dirty="0">
                          <a:solidFill>
                            <a:srgbClr val="1F3864"/>
                          </a:solidFill>
                          <a:latin typeface="Calibri" pitchFamily="34" charset="0"/>
                          <a:ea typeface="Calibri" pitchFamily="34" charset="-122"/>
                          <a:cs typeface="Calibri" pitchFamily="34" charset="-120"/>
                        </a:rPr>
                        <a:t>I</a:t>
                      </a:r>
                      <a:endParaRPr lang="en-US" sz="9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dirty="0">
                          <a:solidFill>
                            <a:srgbClr val="222222"/>
                          </a:solidFill>
                          <a:latin typeface="Calibri" pitchFamily="34" charset="0"/>
                          <a:ea typeface="Calibri" pitchFamily="34" charset="-122"/>
                          <a:cs typeface="Calibri" pitchFamily="34" charset="-120"/>
                        </a:rPr>
                        <a:t>Not felt</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dirty="0">
                          <a:solidFill>
                            <a:srgbClr val="222222"/>
                          </a:solidFill>
                          <a:latin typeface="Calibri" pitchFamily="34" charset="0"/>
                          <a:ea typeface="Calibri" pitchFamily="34" charset="-122"/>
                          <a:cs typeface="Calibri" pitchFamily="34" charset="-120"/>
                        </a:rPr>
                        <a:t>None</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dirty="0">
                          <a:solidFill>
                            <a:srgbClr val="222222"/>
                          </a:solidFill>
                          <a:latin typeface="Calibri" pitchFamily="34" charset="0"/>
                          <a:ea typeface="Calibri" pitchFamily="34" charset="-122"/>
                          <a:cs typeface="Calibri" pitchFamily="34" charset="-120"/>
                        </a:rPr>
                        <a:t>&lt;0.0464</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dirty="0">
                          <a:solidFill>
                            <a:srgbClr val="222222"/>
                          </a:solidFill>
                          <a:latin typeface="Calibri" pitchFamily="34" charset="0"/>
                          <a:ea typeface="Calibri" pitchFamily="34" charset="-122"/>
                          <a:cs typeface="Calibri" pitchFamily="34" charset="-120"/>
                        </a:rPr>
                        <a:t>&lt;0.0215</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56032">
                <a:tc>
                  <a:txBody>
                    <a:bodyPr/>
                    <a:lstStyle/>
                    <a:p>
                      <a:pPr algn="ctr" indent="0" marL="0">
                        <a:buNone/>
                      </a:pPr>
                      <a:r>
                        <a:rPr lang="en-US" sz="900" b="1" dirty="0">
                          <a:solidFill>
                            <a:srgbClr val="1F3864"/>
                          </a:solidFill>
                          <a:latin typeface="Calibri" pitchFamily="34" charset="0"/>
                          <a:ea typeface="Calibri" pitchFamily="34" charset="-122"/>
                          <a:cs typeface="Calibri" pitchFamily="34" charset="-120"/>
                        </a:rPr>
                        <a:t>II-III</a:t>
                      </a:r>
                      <a:endParaRPr lang="en-US" sz="9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50" dirty="0">
                          <a:solidFill>
                            <a:srgbClr val="222222"/>
                          </a:solidFill>
                          <a:latin typeface="Calibri" pitchFamily="34" charset="0"/>
                          <a:ea typeface="Calibri" pitchFamily="34" charset="-122"/>
                          <a:cs typeface="Calibri" pitchFamily="34" charset="-120"/>
                        </a:rPr>
                        <a:t>Weak</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50" dirty="0">
                          <a:solidFill>
                            <a:srgbClr val="222222"/>
                          </a:solidFill>
                          <a:latin typeface="Calibri" pitchFamily="34" charset="0"/>
                          <a:ea typeface="Calibri" pitchFamily="34" charset="-122"/>
                          <a:cs typeface="Calibri" pitchFamily="34" charset="-120"/>
                        </a:rPr>
                        <a:t>None</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dirty="0">
                          <a:solidFill>
                            <a:srgbClr val="222222"/>
                          </a:solidFill>
                          <a:latin typeface="Calibri" pitchFamily="34" charset="0"/>
                          <a:ea typeface="Calibri" pitchFamily="34" charset="-122"/>
                          <a:cs typeface="Calibri" pitchFamily="34" charset="-120"/>
                        </a:rPr>
                        <a:t>0.297</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dirty="0">
                          <a:solidFill>
                            <a:srgbClr val="222222"/>
                          </a:solidFill>
                          <a:latin typeface="Calibri" pitchFamily="34" charset="0"/>
                          <a:ea typeface="Calibri" pitchFamily="34" charset="-122"/>
                          <a:cs typeface="Calibri" pitchFamily="34" charset="-120"/>
                        </a:rPr>
                        <a:t>0.135</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256032">
                <a:tc>
                  <a:txBody>
                    <a:bodyPr/>
                    <a:lstStyle/>
                    <a:p>
                      <a:pPr algn="ctr" indent="0" marL="0">
                        <a:buNone/>
                      </a:pPr>
                      <a:r>
                        <a:rPr lang="en-US" sz="900" b="1" dirty="0">
                          <a:solidFill>
                            <a:srgbClr val="1F3864"/>
                          </a:solidFill>
                          <a:latin typeface="Calibri" pitchFamily="34" charset="0"/>
                          <a:ea typeface="Calibri" pitchFamily="34" charset="-122"/>
                          <a:cs typeface="Calibri" pitchFamily="34" charset="-120"/>
                        </a:rPr>
                        <a:t>IV</a:t>
                      </a:r>
                      <a:endParaRPr lang="en-US" sz="9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dirty="0">
                          <a:solidFill>
                            <a:srgbClr val="222222"/>
                          </a:solidFill>
                          <a:latin typeface="Calibri" pitchFamily="34" charset="0"/>
                          <a:ea typeface="Calibri" pitchFamily="34" charset="-122"/>
                          <a:cs typeface="Calibri" pitchFamily="34" charset="-120"/>
                        </a:rPr>
                        <a:t>Light</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dirty="0">
                          <a:solidFill>
                            <a:srgbClr val="222222"/>
                          </a:solidFill>
                          <a:latin typeface="Calibri" pitchFamily="34" charset="0"/>
                          <a:ea typeface="Calibri" pitchFamily="34" charset="-122"/>
                          <a:cs typeface="Calibri" pitchFamily="34" charset="-120"/>
                        </a:rPr>
                        <a:t>None</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dirty="0">
                          <a:solidFill>
                            <a:srgbClr val="222222"/>
                          </a:solidFill>
                          <a:latin typeface="Calibri" pitchFamily="34" charset="0"/>
                          <a:ea typeface="Calibri" pitchFamily="34" charset="-122"/>
                          <a:cs typeface="Calibri" pitchFamily="34" charset="-120"/>
                        </a:rPr>
                        <a:t>2.76</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dirty="0">
                          <a:solidFill>
                            <a:srgbClr val="222222"/>
                          </a:solidFill>
                          <a:latin typeface="Calibri" pitchFamily="34" charset="0"/>
                          <a:ea typeface="Calibri" pitchFamily="34" charset="-122"/>
                          <a:cs typeface="Calibri" pitchFamily="34" charset="-120"/>
                        </a:rPr>
                        <a:t>1.41</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56032">
                <a:tc>
                  <a:txBody>
                    <a:bodyPr/>
                    <a:lstStyle/>
                    <a:p>
                      <a:pPr algn="ctr" indent="0" marL="0">
                        <a:buNone/>
                      </a:pPr>
                      <a:r>
                        <a:rPr lang="en-US" sz="900" b="1" dirty="0">
                          <a:solidFill>
                            <a:srgbClr val="1F3864"/>
                          </a:solidFill>
                          <a:latin typeface="Calibri" pitchFamily="34" charset="0"/>
                          <a:ea typeface="Calibri" pitchFamily="34" charset="-122"/>
                          <a:cs typeface="Calibri" pitchFamily="34" charset="-120"/>
                        </a:rPr>
                        <a:t>V</a:t>
                      </a:r>
                      <a:endParaRPr lang="en-US" sz="9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50" dirty="0">
                          <a:solidFill>
                            <a:srgbClr val="222222"/>
                          </a:solidFill>
                          <a:latin typeface="Calibri" pitchFamily="34" charset="0"/>
                          <a:ea typeface="Calibri" pitchFamily="34" charset="-122"/>
                          <a:cs typeface="Calibri" pitchFamily="34" charset="-120"/>
                        </a:rPr>
                        <a:t>Moderate</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50" dirty="0">
                          <a:solidFill>
                            <a:srgbClr val="222222"/>
                          </a:solidFill>
                          <a:latin typeface="Calibri" pitchFamily="34" charset="0"/>
                          <a:ea typeface="Calibri" pitchFamily="34" charset="-122"/>
                          <a:cs typeface="Calibri" pitchFamily="34" charset="-120"/>
                        </a:rPr>
                        <a:t>Very light</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dirty="0">
                          <a:solidFill>
                            <a:srgbClr val="222222"/>
                          </a:solidFill>
                          <a:latin typeface="Calibri" pitchFamily="34" charset="0"/>
                          <a:ea typeface="Calibri" pitchFamily="34" charset="-122"/>
                          <a:cs typeface="Calibri" pitchFamily="34" charset="-120"/>
                        </a:rPr>
                        <a:t>6.2</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dirty="0">
                          <a:solidFill>
                            <a:srgbClr val="222222"/>
                          </a:solidFill>
                          <a:latin typeface="Calibri" pitchFamily="34" charset="0"/>
                          <a:ea typeface="Calibri" pitchFamily="34" charset="-122"/>
                          <a:cs typeface="Calibri" pitchFamily="34" charset="-120"/>
                        </a:rPr>
                        <a:t>4.65</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256032">
                <a:tc>
                  <a:txBody>
                    <a:bodyPr/>
                    <a:lstStyle/>
                    <a:p>
                      <a:pPr algn="ctr" indent="0" marL="0">
                        <a:buNone/>
                      </a:pPr>
                      <a:r>
                        <a:rPr lang="en-US" sz="900" b="1" dirty="0">
                          <a:solidFill>
                            <a:srgbClr val="1F3864"/>
                          </a:solidFill>
                          <a:latin typeface="Calibri" pitchFamily="34" charset="0"/>
                          <a:ea typeface="Calibri" pitchFamily="34" charset="-122"/>
                          <a:cs typeface="Calibri" pitchFamily="34" charset="-120"/>
                        </a:rPr>
                        <a:t>VI</a:t>
                      </a:r>
                      <a:endParaRPr lang="en-US" sz="9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dirty="0">
                          <a:solidFill>
                            <a:srgbClr val="222222"/>
                          </a:solidFill>
                          <a:latin typeface="Calibri" pitchFamily="34" charset="0"/>
                          <a:ea typeface="Calibri" pitchFamily="34" charset="-122"/>
                          <a:cs typeface="Calibri" pitchFamily="34" charset="-120"/>
                        </a:rPr>
                        <a:t>Strong</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dirty="0">
                          <a:solidFill>
                            <a:srgbClr val="222222"/>
                          </a:solidFill>
                          <a:latin typeface="Calibri" pitchFamily="34" charset="0"/>
                          <a:ea typeface="Calibri" pitchFamily="34" charset="-122"/>
                          <a:cs typeface="Calibri" pitchFamily="34" charset="-120"/>
                        </a:rPr>
                        <a:t>Light</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dirty="0">
                          <a:solidFill>
                            <a:srgbClr val="222222"/>
                          </a:solidFill>
                          <a:latin typeface="Calibri" pitchFamily="34" charset="0"/>
                          <a:ea typeface="Calibri" pitchFamily="34" charset="-122"/>
                          <a:cs typeface="Calibri" pitchFamily="34" charset="-120"/>
                        </a:rPr>
                        <a:t>11.5</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dirty="0">
                          <a:solidFill>
                            <a:srgbClr val="222222"/>
                          </a:solidFill>
                          <a:latin typeface="Calibri" pitchFamily="34" charset="0"/>
                          <a:ea typeface="Calibri" pitchFamily="34" charset="-122"/>
                          <a:cs typeface="Calibri" pitchFamily="34" charset="-120"/>
                        </a:rPr>
                        <a:t>9.64</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56032">
                <a:tc>
                  <a:txBody>
                    <a:bodyPr/>
                    <a:lstStyle/>
                    <a:p>
                      <a:pPr algn="ctr" indent="0" marL="0">
                        <a:buNone/>
                      </a:pPr>
                      <a:r>
                        <a:rPr lang="en-US" sz="900" b="1" dirty="0">
                          <a:solidFill>
                            <a:srgbClr val="1F3864"/>
                          </a:solidFill>
                          <a:latin typeface="Calibri" pitchFamily="34" charset="0"/>
                          <a:ea typeface="Calibri" pitchFamily="34" charset="-122"/>
                          <a:cs typeface="Calibri" pitchFamily="34" charset="-120"/>
                        </a:rPr>
                        <a:t>VII</a:t>
                      </a:r>
                      <a:endParaRPr lang="en-US" sz="9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50" dirty="0">
                          <a:solidFill>
                            <a:srgbClr val="222222"/>
                          </a:solidFill>
                          <a:latin typeface="Calibri" pitchFamily="34" charset="0"/>
                          <a:ea typeface="Calibri" pitchFamily="34" charset="-122"/>
                          <a:cs typeface="Calibri" pitchFamily="34" charset="-120"/>
                        </a:rPr>
                        <a:t>Very strong</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50" dirty="0">
                          <a:solidFill>
                            <a:srgbClr val="222222"/>
                          </a:solidFill>
                          <a:latin typeface="Calibri" pitchFamily="34" charset="0"/>
                          <a:ea typeface="Calibri" pitchFamily="34" charset="-122"/>
                          <a:cs typeface="Calibri" pitchFamily="34" charset="-120"/>
                        </a:rPr>
                        <a:t>Moderate</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dirty="0">
                          <a:solidFill>
                            <a:srgbClr val="222222"/>
                          </a:solidFill>
                          <a:latin typeface="Calibri" pitchFamily="34" charset="0"/>
                          <a:ea typeface="Calibri" pitchFamily="34" charset="-122"/>
                          <a:cs typeface="Calibri" pitchFamily="34" charset="-120"/>
                        </a:rPr>
                        <a:t>21.5</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dirty="0">
                          <a:solidFill>
                            <a:srgbClr val="222222"/>
                          </a:solidFill>
                          <a:latin typeface="Calibri" pitchFamily="34" charset="0"/>
                          <a:ea typeface="Calibri" pitchFamily="34" charset="-122"/>
                          <a:cs typeface="Calibri" pitchFamily="34" charset="-120"/>
                        </a:rPr>
                        <a:t>20</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256032">
                <a:tc>
                  <a:txBody>
                    <a:bodyPr/>
                    <a:lstStyle/>
                    <a:p>
                      <a:pPr algn="ctr" indent="0" marL="0">
                        <a:buNone/>
                      </a:pPr>
                      <a:r>
                        <a:rPr lang="en-US" sz="900" b="1" dirty="0">
                          <a:solidFill>
                            <a:srgbClr val="1F3864"/>
                          </a:solidFill>
                          <a:latin typeface="Calibri" pitchFamily="34" charset="0"/>
                          <a:ea typeface="Calibri" pitchFamily="34" charset="-122"/>
                          <a:cs typeface="Calibri" pitchFamily="34" charset="-120"/>
                        </a:rPr>
                        <a:t>VIII</a:t>
                      </a:r>
                      <a:endParaRPr lang="en-US" sz="9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dirty="0">
                          <a:solidFill>
                            <a:srgbClr val="222222"/>
                          </a:solidFill>
                          <a:latin typeface="Calibri" pitchFamily="34" charset="0"/>
                          <a:ea typeface="Calibri" pitchFamily="34" charset="-122"/>
                          <a:cs typeface="Calibri" pitchFamily="34" charset="-120"/>
                        </a:rPr>
                        <a:t>Severe</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dirty="0">
                          <a:solidFill>
                            <a:srgbClr val="222222"/>
                          </a:solidFill>
                          <a:latin typeface="Calibri" pitchFamily="34" charset="0"/>
                          <a:ea typeface="Calibri" pitchFamily="34" charset="-122"/>
                          <a:cs typeface="Calibri" pitchFamily="34" charset="-120"/>
                        </a:rPr>
                        <a:t>Moderate/heavy</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dirty="0">
                          <a:solidFill>
                            <a:srgbClr val="222222"/>
                          </a:solidFill>
                          <a:latin typeface="Calibri" pitchFamily="34" charset="0"/>
                          <a:ea typeface="Calibri" pitchFamily="34" charset="-122"/>
                          <a:cs typeface="Calibri" pitchFamily="34" charset="-120"/>
                        </a:rPr>
                        <a:t>40.1</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dirty="0">
                          <a:solidFill>
                            <a:srgbClr val="222222"/>
                          </a:solidFill>
                          <a:latin typeface="Calibri" pitchFamily="34" charset="0"/>
                          <a:ea typeface="Calibri" pitchFamily="34" charset="-122"/>
                          <a:cs typeface="Calibri" pitchFamily="34" charset="-120"/>
                        </a:rPr>
                        <a:t>41.4</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56032">
                <a:tc>
                  <a:txBody>
                    <a:bodyPr/>
                    <a:lstStyle/>
                    <a:p>
                      <a:pPr algn="ctr" indent="0" marL="0">
                        <a:buNone/>
                      </a:pPr>
                      <a:r>
                        <a:rPr lang="en-US" sz="900" b="1" dirty="0">
                          <a:solidFill>
                            <a:srgbClr val="1F3864"/>
                          </a:solidFill>
                          <a:latin typeface="Calibri" pitchFamily="34" charset="0"/>
                          <a:ea typeface="Calibri" pitchFamily="34" charset="-122"/>
                          <a:cs typeface="Calibri" pitchFamily="34" charset="-120"/>
                        </a:rPr>
                        <a:t>IX</a:t>
                      </a:r>
                      <a:endParaRPr lang="en-US" sz="9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50" dirty="0">
                          <a:solidFill>
                            <a:srgbClr val="222222"/>
                          </a:solidFill>
                          <a:latin typeface="Calibri" pitchFamily="34" charset="0"/>
                          <a:ea typeface="Calibri" pitchFamily="34" charset="-122"/>
                          <a:cs typeface="Calibri" pitchFamily="34" charset="-120"/>
                        </a:rPr>
                        <a:t>Violent</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50" dirty="0">
                          <a:solidFill>
                            <a:srgbClr val="222222"/>
                          </a:solidFill>
                          <a:latin typeface="Calibri" pitchFamily="34" charset="0"/>
                          <a:ea typeface="Calibri" pitchFamily="34" charset="-122"/>
                          <a:cs typeface="Calibri" pitchFamily="34" charset="-120"/>
                        </a:rPr>
                        <a:t>Heavy</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dirty="0">
                          <a:solidFill>
                            <a:srgbClr val="222222"/>
                          </a:solidFill>
                          <a:latin typeface="Calibri" pitchFamily="34" charset="0"/>
                          <a:ea typeface="Calibri" pitchFamily="34" charset="-122"/>
                          <a:cs typeface="Calibri" pitchFamily="34" charset="-120"/>
                        </a:rPr>
                        <a:t>74.7</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dirty="0">
                          <a:solidFill>
                            <a:srgbClr val="222222"/>
                          </a:solidFill>
                          <a:latin typeface="Calibri" pitchFamily="34" charset="0"/>
                          <a:ea typeface="Calibri" pitchFamily="34" charset="-122"/>
                          <a:cs typeface="Calibri" pitchFamily="34" charset="-120"/>
                        </a:rPr>
                        <a:t>85.8</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256032">
                <a:tc>
                  <a:txBody>
                    <a:bodyPr/>
                    <a:lstStyle/>
                    <a:p>
                      <a:pPr algn="ctr" indent="0" marL="0">
                        <a:buNone/>
                      </a:pPr>
                      <a:r>
                        <a:rPr lang="en-US" sz="900" b="1" dirty="0">
                          <a:solidFill>
                            <a:srgbClr val="1F3864"/>
                          </a:solidFill>
                          <a:latin typeface="Calibri" pitchFamily="34" charset="0"/>
                          <a:ea typeface="Calibri" pitchFamily="34" charset="-122"/>
                          <a:cs typeface="Calibri" pitchFamily="34" charset="-120"/>
                        </a:rPr>
                        <a:t>X+</a:t>
                      </a:r>
                      <a:endParaRPr lang="en-US" sz="9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dirty="0">
                          <a:solidFill>
                            <a:srgbClr val="222222"/>
                          </a:solidFill>
                          <a:latin typeface="Calibri" pitchFamily="34" charset="0"/>
                          <a:ea typeface="Calibri" pitchFamily="34" charset="-122"/>
                          <a:cs typeface="Calibri" pitchFamily="34" charset="-120"/>
                        </a:rPr>
                        <a:t>Extreme</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dirty="0">
                          <a:solidFill>
                            <a:srgbClr val="222222"/>
                          </a:solidFill>
                          <a:latin typeface="Calibri" pitchFamily="34" charset="0"/>
                          <a:ea typeface="Calibri" pitchFamily="34" charset="-122"/>
                          <a:cs typeface="Calibri" pitchFamily="34" charset="-120"/>
                        </a:rPr>
                        <a:t>Very heavy</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dirty="0">
                          <a:solidFill>
                            <a:srgbClr val="222222"/>
                          </a:solidFill>
                          <a:latin typeface="Calibri" pitchFamily="34" charset="0"/>
                          <a:ea typeface="Calibri" pitchFamily="34" charset="-122"/>
                          <a:cs typeface="Calibri" pitchFamily="34" charset="-120"/>
                        </a:rPr>
                        <a:t>&gt;139</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dirty="0">
                          <a:solidFill>
                            <a:srgbClr val="222222"/>
                          </a:solidFill>
                          <a:latin typeface="Calibri" pitchFamily="34" charset="0"/>
                          <a:ea typeface="Calibri" pitchFamily="34" charset="-122"/>
                          <a:cs typeface="Calibri" pitchFamily="34" charset="-120"/>
                        </a:rPr>
                        <a:t>&gt;178</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bl>
          </a:graphicData>
        </a:graphic>
      </p:graphicFrame>
      <p:sp>
        <p:nvSpPr>
          <p:cNvPr id="9" name="Text 4"/>
          <p:cNvSpPr/>
          <p:nvPr/>
        </p:nvSpPr>
        <p:spPr>
          <a:xfrm>
            <a:off x="5852160" y="5870448"/>
            <a:ext cx="5943600" cy="201168"/>
          </a:xfrm>
          <a:prstGeom prst="rect">
            <a:avLst/>
          </a:prstGeom>
          <a:noFill/>
          <a:ln/>
        </p:spPr>
        <p:txBody>
          <a:bodyPr wrap="square" lIns="0" tIns="0" rIns="0" bIns="0" rtlCol="0" anchor="ctr"/>
          <a:lstStyle/>
          <a:p>
            <a:pPr indent="0" marL="0">
              <a:buNone/>
            </a:pPr>
            <a:r>
              <a:rPr lang="en-US" sz="750" i="1" dirty="0">
                <a:solidFill>
                  <a:srgbClr val="6A6A6A"/>
                </a:solidFill>
                <a:latin typeface="Calibri" pitchFamily="34" charset="0"/>
                <a:ea typeface="Calibri" pitchFamily="34" charset="-122"/>
                <a:cs typeface="Calibri" pitchFamily="34" charset="-120"/>
              </a:rPr>
              <a:t>Modified Mercalli scale (Worden et al., 2012), as printed on the SGC map</a:t>
            </a:r>
            <a:endParaRPr lang="en-US" sz="750" dirty="0"/>
          </a:p>
        </p:txBody>
      </p:sp>
      <p:sp>
        <p:nvSpPr>
          <p:cNvPr id="10" name="Text 5"/>
          <p:cNvSpPr/>
          <p:nvPr/>
        </p:nvSpPr>
        <p:spPr>
          <a:xfrm>
            <a:off x="365760" y="6272784"/>
            <a:ext cx="11430000" cy="219456"/>
          </a:xfrm>
          <a:prstGeom prst="rect">
            <a:avLst/>
          </a:prstGeom>
          <a:noFill/>
          <a:ln/>
        </p:spPr>
        <p:txBody>
          <a:bodyPr wrap="square" lIns="0" tIns="0" rIns="0" bIns="0" rtlCol="0" anchor="ctr"/>
          <a:lstStyle/>
          <a:p>
            <a:pPr algn="l" indent="0" marL="0">
              <a:buNone/>
            </a:pPr>
            <a:r>
              <a:rPr lang="en-US" sz="850" b="1" dirty="0">
                <a:solidFill>
                  <a:srgbClr val="6A6A6A"/>
                </a:solidFill>
                <a:latin typeface="Calibri" pitchFamily="34" charset="0"/>
                <a:ea typeface="Calibri" pitchFamily="34" charset="-122"/>
                <a:cs typeface="Calibri" pitchFamily="34" charset="-120"/>
              </a:rPr>
              <a:t>Sources: </a:t>
            </a:r>
            <a:pPr algn="l" indent="0" marL="0">
              <a:buNone/>
            </a:pPr>
            <a:r>
              <a:rPr lang="en-US" sz="850" u="sng" dirty="0">
                <a:solidFill>
                  <a:srgbClr val="0563C1"/>
                </a:solidFill>
                <a:latin typeface="Calibri" pitchFamily="34" charset="0"/>
                <a:ea typeface="Calibri" pitchFamily="34" charset="-122"/>
                <a:cs typeface="Calibri" pitchFamily="34" charset="-120"/>
                <a:hlinkClick r:id="rId4" invalidUrl="" action="" tgtFrame="" tooltip="" history="1" highlightClick="0" endSnd="0">
                  <a:extLst>
                    <a:ext uri="{A12FA001-AC4F-418D-AE19-62706E023703}">
                      <ahyp:hlinkClr xmlns:ahyp="http://schemas.microsoft.com/office/drawing/2018/hyperlinkcolor" val="tx"/>
                    </a:ext>
                  </a:extLst>
                </a:hlinkClick>
              </a:rPr>
              <a:t>SGC — macroseismic intensity map (ShakeMap) for this earthquake</a:t>
            </a:r>
            <a:pPr algn="l" indent="0" marL="0">
              <a:buNone/>
            </a:pPr>
            <a:r>
              <a:rPr lang="en-US" sz="850" dirty="0">
                <a:solidFill>
                  <a:srgbClr val="6A6A6A"/>
                </a:solidFill>
                <a:latin typeface="Calibri" pitchFamily="34" charset="0"/>
                <a:ea typeface="Calibri" pitchFamily="34" charset="-122"/>
                <a:cs typeface="Calibri" pitchFamily="34" charset="-120"/>
              </a:rPr>
              <a:t>   ·   </a:t>
            </a:r>
            <a:pPr algn="l" indent="0" marL="0">
              <a:buNone/>
            </a:pPr>
            <a:r>
              <a:rPr lang="en-US" sz="850" u="sng" dirty="0">
                <a:solidFill>
                  <a:srgbClr val="0563C1"/>
                </a:solidFill>
                <a:latin typeface="Calibri" pitchFamily="34" charset="0"/>
                <a:ea typeface="Calibri" pitchFamily="34" charset="-122"/>
                <a:cs typeface="Calibri" pitchFamily="34" charset="-120"/>
                <a:hlinkClick r:id="rId5" invalidUrl="" action="" tgtFrame="" tooltip="" history="1" highlightClick="0" endSnd="0">
                  <a:extLst>
                    <a:ext uri="{A12FA001-AC4F-418D-AE19-62706E023703}">
                      <ahyp:hlinkClr xmlns:ahyp="http://schemas.microsoft.com/office/drawing/2018/hyperlinkcolor" val="tx"/>
                    </a:ext>
                  </a:extLst>
                </a:hlinkClick>
              </a:rPr>
              <a:t>SGC — event bulletin SGC2026pqqmro (this earthquake)</a:t>
            </a:r>
            <a:pPr algn="l" indent="0" marL="0">
              <a:buNone/>
            </a:pPr>
            <a:r>
              <a:rPr lang="en-US" sz="850" dirty="0">
                <a:solidFill>
                  <a:srgbClr val="6A6A6A"/>
                </a:solidFill>
                <a:latin typeface="Calibri" pitchFamily="34" charset="0"/>
                <a:ea typeface="Calibri" pitchFamily="34" charset="-122"/>
                <a:cs typeface="Calibri" pitchFamily="34" charset="-120"/>
              </a:rPr>
              <a:t>   ·   </a:t>
            </a:r>
            <a:pPr algn="l" indent="0" marL="0">
              <a:buNone/>
            </a:pPr>
            <a:r>
              <a:rPr lang="en-US" sz="850" u="sng" dirty="0">
                <a:solidFill>
                  <a:srgbClr val="0563C1"/>
                </a:solidFill>
                <a:latin typeface="Calibri" pitchFamily="34" charset="0"/>
                <a:ea typeface="Calibri" pitchFamily="34" charset="-122"/>
                <a:cs typeface="Calibri" pitchFamily="34" charset="-120"/>
                <a:hlinkClick r:id="rId6" invalidUrl="" action="" tgtFrame="" tooltip="" history="1" highlightClick="0" endSnd="0">
                  <a:extLst>
                    <a:ext uri="{A12FA001-AC4F-418D-AE19-62706E023703}">
                      <ahyp:hlinkClr xmlns:ahyp="http://schemas.microsoft.com/office/drawing/2018/hyperlinkcolor" val="tx"/>
                    </a:ext>
                  </a:extLst>
                </a:hlinkClick>
              </a:rPr>
              <a:t>USGS - M 7.4 San José del Palmar, Colombia (event page)</a:t>
            </a:r>
            <a:endParaRPr lang="en-US" sz="850" dirty="0"/>
          </a:p>
        </p:txBody>
      </p:sp>
      <p:sp>
        <p:nvSpPr>
          <p:cNvPr id="11" name="Shape 6"/>
          <p:cNvSpPr/>
          <p:nvPr/>
        </p:nvSpPr>
        <p:spPr>
          <a:xfrm>
            <a:off x="10268712" y="6510528"/>
            <a:ext cx="1554480" cy="274320"/>
          </a:xfrm>
          <a:prstGeom prst="rect">
            <a:avLst/>
          </a:prstGeom>
          <a:solidFill>
            <a:srgbClr val="E8A317"/>
          </a:solidFill>
          <a:ln w="12700">
            <a:solidFill>
              <a:srgbClr val="E8A317"/>
            </a:solidFill>
            <a:prstDash val="solid"/>
          </a:ln>
        </p:spPr>
      </p:sp>
      <p:sp>
        <p:nvSpPr>
          <p:cNvPr id="12" name="Text 7"/>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950" b="1" dirty="0">
                <a:solidFill>
                  <a:srgbClr val="000000"/>
                </a:solidFill>
                <a:latin typeface="Calibri" pitchFamily="34" charset="0"/>
                <a:ea typeface="Calibri" pitchFamily="34" charset="-122"/>
                <a:cs typeface="Calibri" pitchFamily="34" charset="-120"/>
              </a:rPr>
              <a:t>ADRC  12/08/2026</a:t>
            </a:r>
            <a:endParaRPr lang="en-US" sz="950" dirty="0"/>
          </a:p>
        </p:txBody>
      </p:sp>
      <p:sp>
        <p:nvSpPr>
          <p:cNvPr id="13" name="Text 8"/>
          <p:cNvSpPr/>
          <p:nvPr/>
        </p:nvSpPr>
        <p:spPr>
          <a:xfrm>
            <a:off x="365760" y="6547104"/>
            <a:ext cx="548640" cy="219456"/>
          </a:xfrm>
          <a:prstGeom prst="rect">
            <a:avLst/>
          </a:prstGeom>
          <a:noFill/>
          <a:ln/>
        </p:spPr>
        <p:txBody>
          <a:bodyPr wrap="square" lIns="0" tIns="0" rIns="0" bIns="0" rtlCol="0" anchor="ctr"/>
          <a:lstStyle/>
          <a:p>
            <a:pPr algn="l" indent="0" marL="0">
              <a:buNone/>
            </a:pPr>
            <a:r>
              <a:rPr lang="en-US" sz="900" dirty="0">
                <a:solidFill>
                  <a:srgbClr val="6A6A6A"/>
                </a:solidFill>
                <a:latin typeface="Calibri" pitchFamily="34" charset="0"/>
                <a:ea typeface="Calibri" pitchFamily="34" charset="-122"/>
                <a:cs typeface="Calibri" pitchFamily="34" charset="-120"/>
              </a:rPr>
              <a:t>8</a:t>
            </a:r>
            <a:endParaRPr lang="en-US" sz="9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92608"/>
            <a:ext cx="10332720" cy="566928"/>
          </a:xfrm>
          <a:prstGeom prst="rect">
            <a:avLst/>
          </a:prstGeom>
          <a:noFill/>
          <a:ln/>
        </p:spPr>
        <p:txBody>
          <a:bodyPr wrap="none" lIns="0" tIns="0" rIns="0" bIns="0" rtlCol="0" anchor="ctr">
            <a:normAutofit/>
          </a:bodyPr>
          <a:lstStyle/>
          <a:p>
            <a:pPr algn="l" indent="0" marL="0">
              <a:buNone/>
            </a:pPr>
            <a:r>
              <a:rPr lang="en-US" sz="2100" b="1" dirty="0">
                <a:solidFill>
                  <a:srgbClr val="1F3864"/>
                </a:solidFill>
                <a:latin typeface="Cambria" pitchFamily="34" charset="0"/>
                <a:ea typeface="Cambria" pitchFamily="34" charset="-122"/>
                <a:cs typeface="Cambria" pitchFamily="34" charset="-120"/>
              </a:rPr>
              <a:t>USGS PAGER Assessment</a:t>
            </a:r>
            <a:endParaRPr lang="en-US" sz="2100" dirty="0"/>
          </a:p>
        </p:txBody>
      </p:sp>
      <p:pic>
        <p:nvPicPr>
          <p:cNvPr id="3" name="Image 0" descr="/home/user/whatsmap/reports/colombia_eq_20260810/images/adrc_logo.png">    </p:cNvPr>
          <p:cNvPicPr>
            <a:picLocks noChangeAspect="1"/>
          </p:cNvPicPr>
          <p:nvPr/>
        </p:nvPicPr>
        <p:blipFill>
          <a:blip r:embed="rId1"/>
          <a:stretch>
            <a:fillRect/>
          </a:stretch>
        </p:blipFill>
        <p:spPr>
          <a:xfrm>
            <a:off x="10945368" y="73152"/>
            <a:ext cx="877824" cy="877824"/>
          </a:xfrm>
          <a:prstGeom prst="rect">
            <a:avLst/>
          </a:prstGeom>
        </p:spPr>
      </p:pic>
      <p:pic>
        <p:nvPicPr>
          <p:cNvPr id="4" name="Image 1" descr="/home/user/whatsmap/reports/colombia_eq_20260810/images/usgs_pager_manual.jpg">    </p:cNvPr>
          <p:cNvPicPr>
            <a:picLocks noChangeAspect="1"/>
          </p:cNvPicPr>
          <p:nvPr/>
        </p:nvPicPr>
        <p:blipFill>
          <a:blip r:embed="rId2"/>
          <a:stretch>
            <a:fillRect/>
          </a:stretch>
        </p:blipFill>
        <p:spPr>
          <a:xfrm>
            <a:off x="1092708" y="1024128"/>
            <a:ext cx="3575304" cy="4626864"/>
          </a:xfrm>
          <a:prstGeom prst="rect">
            <a:avLst/>
          </a:prstGeom>
        </p:spPr>
      </p:pic>
      <p:sp>
        <p:nvSpPr>
          <p:cNvPr id="5" name="Text 1"/>
          <p:cNvSpPr/>
          <p:nvPr/>
        </p:nvSpPr>
        <p:spPr>
          <a:xfrm>
            <a:off x="365760" y="5669280"/>
            <a:ext cx="5029200" cy="201168"/>
          </a:xfrm>
          <a:prstGeom prst="rect">
            <a:avLst/>
          </a:prstGeom>
          <a:noFill/>
          <a:ln/>
        </p:spPr>
        <p:txBody>
          <a:bodyPr wrap="square" lIns="0" tIns="0" rIns="0" bIns="0" rtlCol="0" anchor="ctr"/>
          <a:lstStyle/>
          <a:p>
            <a:pPr algn="ctr" indent="0" marL="0">
              <a:buNone/>
            </a:pPr>
            <a:r>
              <a:rPr lang="en-US" sz="800" dirty="0">
                <a:solidFill>
                  <a:srgbClr val="6A6A6A"/>
                </a:solidFill>
                <a:latin typeface="Calibri" pitchFamily="34" charset="0"/>
                <a:ea typeface="Calibri" pitchFamily="34" charset="-122"/>
                <a:cs typeface="Calibri" pitchFamily="34" charset="-120"/>
              </a:rPr>
              <a:t>onePAGER, version 5 (public domain, USGS)</a:t>
            </a:r>
            <a:pPr algn="ctr" indent="0" marL="0">
              <a:buNone/>
            </a:pPr>
            <a:r>
              <a:rPr lang="en-US" sz="700" u="sng" dirty="0">
                <a:solidFill>
                  <a:srgbClr val="0563C1"/>
                </a:solidFill>
                <a:latin typeface="Calibri" pitchFamily="34" charset="0"/>
                <a:ea typeface="Calibri" pitchFamily="34" charset="-122"/>
                <a:cs typeface="Calibri" pitchFamily="34" charset="-120"/>
                <a:hlinkClick r:id="rId3" invalidUrl="" action="" tgtFrame="" tooltip="" history="1" highlightClick="0" endSnd="0">
                  <a:extLst>
                    <a:ext uri="{A12FA001-AC4F-418D-AE19-62706E023703}">
                      <ahyp:hlinkClr xmlns:ahyp="http://schemas.microsoft.com/office/drawing/2018/hyperlinkcolor" val="tx"/>
                    </a:ext>
                  </a:extLst>
                </a:hlinkClick>
              </a:rPr>
              <a:t>  —  https://earthquake.usgs.gov/earthquakes/eventpage/us6000tjl2/pager</a:t>
            </a:r>
            <a:endParaRPr lang="en-US" sz="800" dirty="0"/>
          </a:p>
        </p:txBody>
      </p:sp>
      <p:sp>
        <p:nvSpPr>
          <p:cNvPr id="6" name="Text 2"/>
          <p:cNvSpPr/>
          <p:nvPr/>
        </p:nvSpPr>
        <p:spPr>
          <a:xfrm>
            <a:off x="5669280" y="1024128"/>
            <a:ext cx="6126480" cy="1965960"/>
          </a:xfrm>
          <a:prstGeom prst="rect">
            <a:avLst/>
          </a:prstGeom>
          <a:noFill/>
          <a:ln/>
        </p:spPr>
        <p:txBody>
          <a:bodyPr wrap="square" lIns="0" tIns="0" rIns="0" bIns="0" rtlCol="0" anchor="t"/>
          <a:lstStyle/>
          <a:p>
            <a:pPr indent="0" marL="0">
              <a:buNone/>
            </a:pPr>
            <a:r>
              <a:rPr lang="en-US" sz="1000" dirty="0">
                <a:solidFill>
                  <a:srgbClr val="222222"/>
                </a:solidFill>
                <a:latin typeface="Calibri" pitchFamily="34" charset="0"/>
                <a:ea typeface="Calibri" pitchFamily="34" charset="-122"/>
                <a:cs typeface="Calibri" pitchFamily="34" charset="-120"/>
              </a:rPr>
              <a:t>PAGER is the USGS rapid impact estimate, issued within minutes and revised as the event is refined; version 5 was created 2 hours 8 minutes after the earthquake. It is a probability distribution, not a forecast of a single number: the orange alert means significant casualties and damage are likely and that past orange alerts have required a regional or national response. Its most likely fatality band, 1,000-10,000, sat far above the 111 deaths reported nine hours after the event; 33 hours in the reported toll had risen to 182-240, into PAGER's 100-1,000 band, which the model gave a lower but substantial probability. The gap is normal at this stage and narrows as ground truth replaces modelled losses.</a:t>
            </a:r>
            <a:endParaRPr lang="en-US" sz="1000" dirty="0"/>
          </a:p>
        </p:txBody>
      </p:sp>
      <p:graphicFrame>
        <p:nvGraphicFramePr>
          <p:cNvPr id="10" name="Table 0"/>
          <p:cNvGraphicFramePr>
            <a:graphicFrameLocks noGrp="1"/>
          </p:cNvGraphicFramePr>
          <p:nvPr>
            <p:extLst>
              <p:ext uri="{D42A27DB-BD31-4B8C-83A1-F6EECF244321}">
                <p14:modId xmlns:p14="http://schemas.microsoft.com/office/powerpoint/2010/main" val="1579011935"/>
              </p:ext>
            </p:extLst>
          </p:nvPr>
        </p:nvGraphicFramePr>
        <p:xfrm>
          <a:off x="5669280" y="3127248"/>
          <a:ext cx="6126480" cy="914400"/>
        </p:xfrm>
        <a:graphic>
          <a:graphicData uri="http://schemas.openxmlformats.org/drawingml/2006/table">
            <a:tbl>
              <a:tblPr/>
              <a:tblGrid>
                <a:gridCol w="914400"/>
                <a:gridCol w="3017520"/>
                <a:gridCol w="2194560"/>
              </a:tblGrid>
              <a:tr h="310896">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MMI</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Perceived shaking</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Exposed</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r>
              <a:tr h="310896">
                <a:tc>
                  <a:txBody>
                    <a:bodyPr/>
                    <a:lstStyle/>
                    <a:p>
                      <a:pPr algn="ctr" indent="0" marL="0">
                        <a:buNone/>
                      </a:pPr>
                      <a:r>
                        <a:rPr lang="en-US" sz="1000" b="1" dirty="0">
                          <a:solidFill>
                            <a:srgbClr val="1F3864"/>
                          </a:solidFill>
                          <a:latin typeface="Calibri" pitchFamily="34" charset="0"/>
                          <a:ea typeface="Calibri" pitchFamily="34" charset="-122"/>
                          <a:cs typeface="Calibri" pitchFamily="34" charset="-120"/>
                        </a:rPr>
                        <a:t>VIII+</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Severe</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r" indent="0" marL="0">
                        <a:buNone/>
                      </a:pPr>
                      <a:r>
                        <a:rPr lang="en-US" sz="950" dirty="0">
                          <a:solidFill>
                            <a:srgbClr val="222222"/>
                          </a:solidFill>
                          <a:latin typeface="Calibri" pitchFamily="34" charset="0"/>
                          <a:ea typeface="Calibri" pitchFamily="34" charset="-122"/>
                          <a:cs typeface="Calibri" pitchFamily="34" charset="-120"/>
                        </a:rPr>
                        <a:t>-</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310896">
                <a:tc>
                  <a:txBody>
                    <a:bodyPr/>
                    <a:lstStyle/>
                    <a:p>
                      <a:pPr algn="ctr" indent="0" marL="0">
                        <a:buNone/>
                      </a:pPr>
                      <a:r>
                        <a:rPr lang="en-US" sz="1000" b="1" dirty="0">
                          <a:solidFill>
                            <a:srgbClr val="1F3864"/>
                          </a:solidFill>
                          <a:latin typeface="Calibri" pitchFamily="34" charset="0"/>
                          <a:ea typeface="Calibri" pitchFamily="34" charset="-122"/>
                          <a:cs typeface="Calibri" pitchFamily="34" charset="-120"/>
                        </a:rPr>
                        <a:t>VII</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Very strong</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r" indent="0" marL="0">
                        <a:buNone/>
                      </a:pPr>
                      <a:r>
                        <a:rPr lang="en-US" sz="950" dirty="0">
                          <a:solidFill>
                            <a:srgbClr val="222222"/>
                          </a:solidFill>
                          <a:latin typeface="Calibri" pitchFamily="34" charset="0"/>
                          <a:ea typeface="Calibri" pitchFamily="34" charset="-122"/>
                          <a:cs typeface="Calibri" pitchFamily="34" charset="-120"/>
                        </a:rPr>
                        <a:t>1,564k</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310896">
                <a:tc>
                  <a:txBody>
                    <a:bodyPr/>
                    <a:lstStyle/>
                    <a:p>
                      <a:pPr algn="ctr" indent="0" marL="0">
                        <a:buNone/>
                      </a:pPr>
                      <a:r>
                        <a:rPr lang="en-US" sz="1000" b="1" dirty="0">
                          <a:solidFill>
                            <a:srgbClr val="1F3864"/>
                          </a:solidFill>
                          <a:latin typeface="Calibri" pitchFamily="34" charset="0"/>
                          <a:ea typeface="Calibri" pitchFamily="34" charset="-122"/>
                          <a:cs typeface="Calibri" pitchFamily="34" charset="-120"/>
                        </a:rPr>
                        <a:t>VI</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Strong</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r" indent="0" marL="0">
                        <a:buNone/>
                      </a:pPr>
                      <a:r>
                        <a:rPr lang="en-US" sz="950" dirty="0">
                          <a:solidFill>
                            <a:srgbClr val="222222"/>
                          </a:solidFill>
                          <a:latin typeface="Calibri" pitchFamily="34" charset="0"/>
                          <a:ea typeface="Calibri" pitchFamily="34" charset="-122"/>
                          <a:cs typeface="Calibri" pitchFamily="34" charset="-120"/>
                        </a:rPr>
                        <a:t>8,888k</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310896">
                <a:tc>
                  <a:txBody>
                    <a:bodyPr/>
                    <a:lstStyle/>
                    <a:p>
                      <a:pPr algn="ctr" indent="0" marL="0">
                        <a:buNone/>
                      </a:pPr>
                      <a:r>
                        <a:rPr lang="en-US" sz="1000" b="1" dirty="0">
                          <a:solidFill>
                            <a:srgbClr val="1F3864"/>
                          </a:solidFill>
                          <a:latin typeface="Calibri" pitchFamily="34" charset="0"/>
                          <a:ea typeface="Calibri" pitchFamily="34" charset="-122"/>
                          <a:cs typeface="Calibri" pitchFamily="34" charset="-120"/>
                        </a:rPr>
                        <a:t>V</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Moderate</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r" indent="0" marL="0">
                        <a:buNone/>
                      </a:pPr>
                      <a:r>
                        <a:rPr lang="en-US" sz="950" dirty="0">
                          <a:solidFill>
                            <a:srgbClr val="222222"/>
                          </a:solidFill>
                          <a:latin typeface="Calibri" pitchFamily="34" charset="0"/>
                          <a:ea typeface="Calibri" pitchFamily="34" charset="-122"/>
                          <a:cs typeface="Calibri" pitchFamily="34" charset="-120"/>
                        </a:rPr>
                        <a:t>17,076k</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310896">
                <a:tc>
                  <a:txBody>
                    <a:bodyPr/>
                    <a:lstStyle/>
                    <a:p>
                      <a:pPr algn="ctr" indent="0" marL="0">
                        <a:buNone/>
                      </a:pPr>
                      <a:r>
                        <a:rPr lang="en-US" sz="1000" b="1" dirty="0">
                          <a:solidFill>
                            <a:srgbClr val="1F3864"/>
                          </a:solidFill>
                          <a:latin typeface="Calibri" pitchFamily="34" charset="0"/>
                          <a:ea typeface="Calibri" pitchFamily="34" charset="-122"/>
                          <a:cs typeface="Calibri" pitchFamily="34" charset="-120"/>
                        </a:rPr>
                        <a:t>IV</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Light</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r" indent="0" marL="0">
                        <a:buNone/>
                      </a:pPr>
                      <a:r>
                        <a:rPr lang="en-US" sz="950" dirty="0">
                          <a:solidFill>
                            <a:srgbClr val="222222"/>
                          </a:solidFill>
                          <a:latin typeface="Calibri" pitchFamily="34" charset="0"/>
                          <a:ea typeface="Calibri" pitchFamily="34" charset="-122"/>
                          <a:cs typeface="Calibri" pitchFamily="34" charset="-120"/>
                        </a:rPr>
                        <a:t>6,465k</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bl>
          </a:graphicData>
        </a:graphic>
      </p:graphicFrame>
      <p:sp>
        <p:nvSpPr>
          <p:cNvPr id="8" name="Text 3"/>
          <p:cNvSpPr/>
          <p:nvPr/>
        </p:nvSpPr>
        <p:spPr>
          <a:xfrm>
            <a:off x="5669280" y="5084064"/>
            <a:ext cx="6126480" cy="548640"/>
          </a:xfrm>
          <a:prstGeom prst="rect">
            <a:avLst/>
          </a:prstGeom>
          <a:noFill/>
          <a:ln/>
        </p:spPr>
        <p:txBody>
          <a:bodyPr wrap="square" lIns="0" tIns="0" rIns="0" bIns="0" rtlCol="0" anchor="t"/>
          <a:lstStyle/>
          <a:p>
            <a:pPr indent="0" marL="0">
              <a:buNone/>
            </a:pPr>
            <a:r>
              <a:rPr lang="en-US" sz="750" dirty="0">
                <a:solidFill>
                  <a:srgbClr val="6A6A6A"/>
                </a:solidFill>
                <a:latin typeface="Calibri" pitchFamily="34" charset="0"/>
                <a:ea typeface="Calibri" pitchFamily="34" charset="-122"/>
                <a:cs typeface="Calibri" pitchFamily="34" charset="-120"/>
              </a:rPr>
              <a:t>USGS PAGER (version 5) exposure estimates. About 10.5 million people were exposed to Strong or Very Strong shaking (MMI VI-VII) and about 34 million to MMI IV or above across four countries. These are model estimates.</a:t>
            </a:r>
            <a:endParaRPr lang="en-US" sz="750" dirty="0"/>
          </a:p>
        </p:txBody>
      </p:sp>
      <p:sp>
        <p:nvSpPr>
          <p:cNvPr id="9" name="Text 4"/>
          <p:cNvSpPr/>
          <p:nvPr/>
        </p:nvSpPr>
        <p:spPr>
          <a:xfrm>
            <a:off x="365760" y="6272784"/>
            <a:ext cx="11430000" cy="219456"/>
          </a:xfrm>
          <a:prstGeom prst="rect">
            <a:avLst/>
          </a:prstGeom>
          <a:noFill/>
          <a:ln/>
        </p:spPr>
        <p:txBody>
          <a:bodyPr wrap="square" lIns="0" tIns="0" rIns="0" bIns="0" rtlCol="0" anchor="ctr"/>
          <a:lstStyle/>
          <a:p>
            <a:pPr algn="l" indent="0" marL="0">
              <a:buNone/>
            </a:pPr>
            <a:r>
              <a:rPr lang="en-US" sz="850" b="1" dirty="0">
                <a:solidFill>
                  <a:srgbClr val="6A6A6A"/>
                </a:solidFill>
                <a:latin typeface="Calibri" pitchFamily="34" charset="0"/>
                <a:ea typeface="Calibri" pitchFamily="34" charset="-122"/>
                <a:cs typeface="Calibri" pitchFamily="34" charset="-120"/>
              </a:rPr>
              <a:t>Sources: </a:t>
            </a:r>
            <a:pPr algn="l" indent="0" marL="0">
              <a:buNone/>
            </a:pPr>
            <a:r>
              <a:rPr lang="en-US" sz="850" u="sng" dirty="0">
                <a:solidFill>
                  <a:srgbClr val="0563C1"/>
                </a:solidFill>
                <a:latin typeface="Calibri" pitchFamily="34" charset="0"/>
                <a:ea typeface="Calibri" pitchFamily="34" charset="-122"/>
                <a:cs typeface="Calibri" pitchFamily="34" charset="-120"/>
                <a:hlinkClick r:id="rId4" invalidUrl="" action="" tgtFrame="" tooltip="" history="1" highlightClick="0" endSnd="0">
                  <a:extLst>
                    <a:ext uri="{A12FA001-AC4F-418D-AE19-62706E023703}">
                      <ahyp:hlinkClr xmlns:ahyp="http://schemas.microsoft.com/office/drawing/2018/hyperlinkcolor" val="tx"/>
                    </a:ext>
                  </a:extLst>
                </a:hlinkClick>
              </a:rPr>
              <a:t>USGS - M 7.4 San José del Palmar, Colombia (event page)</a:t>
            </a:r>
            <a:pPr algn="l" indent="0" marL="0">
              <a:buNone/>
            </a:pPr>
            <a:r>
              <a:rPr lang="en-US" sz="850" dirty="0">
                <a:solidFill>
                  <a:srgbClr val="6A6A6A"/>
                </a:solidFill>
                <a:latin typeface="Calibri" pitchFamily="34" charset="0"/>
                <a:ea typeface="Calibri" pitchFamily="34" charset="-122"/>
                <a:cs typeface="Calibri" pitchFamily="34" charset="-120"/>
              </a:rPr>
              <a:t>   ·   </a:t>
            </a:r>
            <a:pPr algn="l" indent="0" marL="0">
              <a:buNone/>
            </a:pPr>
            <a:r>
              <a:rPr lang="en-US" sz="850" u="sng" dirty="0">
                <a:solidFill>
                  <a:srgbClr val="0563C1"/>
                </a:solidFill>
                <a:latin typeface="Calibri" pitchFamily="34" charset="0"/>
                <a:ea typeface="Calibri" pitchFamily="34" charset="-122"/>
                <a:cs typeface="Calibri" pitchFamily="34" charset="-120"/>
                <a:hlinkClick r:id="rId5" invalidUrl="" action="" tgtFrame="" tooltip="" history="1" highlightClick="0" endSnd="0">
                  <a:extLst>
                    <a:ext uri="{A12FA001-AC4F-418D-AE19-62706E023703}">
                      <ahyp:hlinkClr xmlns:ahyp="http://schemas.microsoft.com/office/drawing/2018/hyperlinkcolor" val="tx"/>
                    </a:ext>
                  </a:extLst>
                </a:hlinkClick>
              </a:rPr>
              <a:t>GDACS - Orange earthquake alert, Colombia, 10 Aug 2026</a:t>
            </a:r>
            <a:endParaRPr lang="en-US" sz="850" dirty="0"/>
          </a:p>
        </p:txBody>
      </p:sp>
      <p:sp>
        <p:nvSpPr>
          <p:cNvPr id="10" name="Shape 5"/>
          <p:cNvSpPr/>
          <p:nvPr/>
        </p:nvSpPr>
        <p:spPr>
          <a:xfrm>
            <a:off x="10268712" y="6510528"/>
            <a:ext cx="1554480" cy="274320"/>
          </a:xfrm>
          <a:prstGeom prst="rect">
            <a:avLst/>
          </a:prstGeom>
          <a:solidFill>
            <a:srgbClr val="E8A317"/>
          </a:solidFill>
          <a:ln w="12700">
            <a:solidFill>
              <a:srgbClr val="E8A317"/>
            </a:solidFill>
            <a:prstDash val="solid"/>
          </a:ln>
        </p:spPr>
      </p:sp>
      <p:sp>
        <p:nvSpPr>
          <p:cNvPr id="11" name="Text 6"/>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950" b="1" dirty="0">
                <a:solidFill>
                  <a:srgbClr val="000000"/>
                </a:solidFill>
                <a:latin typeface="Calibri" pitchFamily="34" charset="0"/>
                <a:ea typeface="Calibri" pitchFamily="34" charset="-122"/>
                <a:cs typeface="Calibri" pitchFamily="34" charset="-120"/>
              </a:rPr>
              <a:t>ADRC  12/08/2026</a:t>
            </a:r>
            <a:endParaRPr lang="en-US" sz="950" dirty="0"/>
          </a:p>
        </p:txBody>
      </p:sp>
      <p:sp>
        <p:nvSpPr>
          <p:cNvPr id="12" name="Text 7"/>
          <p:cNvSpPr/>
          <p:nvPr/>
        </p:nvSpPr>
        <p:spPr>
          <a:xfrm>
            <a:off x="365760" y="6547104"/>
            <a:ext cx="548640" cy="219456"/>
          </a:xfrm>
          <a:prstGeom prst="rect">
            <a:avLst/>
          </a:prstGeom>
          <a:noFill/>
          <a:ln/>
        </p:spPr>
        <p:txBody>
          <a:bodyPr wrap="square" lIns="0" tIns="0" rIns="0" bIns="0" rtlCol="0" anchor="ctr"/>
          <a:lstStyle/>
          <a:p>
            <a:pPr algn="l" indent="0" marL="0">
              <a:buNone/>
            </a:pPr>
            <a:r>
              <a:rPr lang="en-US" sz="900" dirty="0">
                <a:solidFill>
                  <a:srgbClr val="6A6A6A"/>
                </a:solidFill>
                <a:latin typeface="Calibri" pitchFamily="34" charset="0"/>
                <a:ea typeface="Calibri" pitchFamily="34" charset="-122"/>
                <a:cs typeface="Calibri" pitchFamily="34" charset="-120"/>
              </a:rPr>
              <a:t>9</a:t>
            </a:r>
            <a:endParaRPr lang="en-US" sz="9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92608"/>
            <a:ext cx="10332720" cy="566928"/>
          </a:xfrm>
          <a:prstGeom prst="rect">
            <a:avLst/>
          </a:prstGeom>
          <a:noFill/>
          <a:ln/>
        </p:spPr>
        <p:txBody>
          <a:bodyPr wrap="none" lIns="0" tIns="0" rIns="0" bIns="0" rtlCol="0" anchor="ctr">
            <a:normAutofit/>
          </a:bodyPr>
          <a:lstStyle/>
          <a:p>
            <a:pPr algn="l" indent="0" marL="0">
              <a:buNone/>
            </a:pPr>
            <a:r>
              <a:rPr lang="en-US" sz="2100" b="1" dirty="0">
                <a:solidFill>
                  <a:srgbClr val="1F3864"/>
                </a:solidFill>
                <a:latin typeface="Cambria" pitchFamily="34" charset="0"/>
                <a:ea typeface="Cambria" pitchFamily="34" charset="-122"/>
                <a:cs typeface="Cambria" pitchFamily="34" charset="-120"/>
              </a:rPr>
              <a:t>Seismicity: Aftershocks</a:t>
            </a:r>
            <a:endParaRPr lang="en-US" sz="2100" dirty="0"/>
          </a:p>
        </p:txBody>
      </p:sp>
      <p:pic>
        <p:nvPicPr>
          <p:cNvPr id="3" name="Image 0" descr="/home/user/whatsmap/reports/colombia_eq_20260810/images/adrc_logo.png">    </p:cNvPr>
          <p:cNvPicPr>
            <a:picLocks noChangeAspect="1"/>
          </p:cNvPicPr>
          <p:nvPr/>
        </p:nvPicPr>
        <p:blipFill>
          <a:blip r:embed="rId1"/>
          <a:stretch>
            <a:fillRect/>
          </a:stretch>
        </p:blipFill>
        <p:spPr>
          <a:xfrm>
            <a:off x="10945368" y="73152"/>
            <a:ext cx="877824" cy="877824"/>
          </a:xfrm>
          <a:prstGeom prst="rect">
            <a:avLst/>
          </a:prstGeom>
        </p:spPr>
      </p:pic>
      <p:graphicFrame>
        <p:nvGraphicFramePr>
          <p:cNvPr id="11" name="Table 0"/>
          <p:cNvGraphicFramePr>
            <a:graphicFrameLocks noGrp="1"/>
          </p:cNvGraphicFramePr>
          <p:nvPr>
            <p:extLst>
              <p:ext uri="{D42A27DB-BD31-4B8C-83A1-F6EECF244321}">
                <p14:modId xmlns:p14="http://schemas.microsoft.com/office/powerpoint/2010/main" val="1579011935"/>
              </p:ext>
            </p:extLst>
          </p:nvPr>
        </p:nvGraphicFramePr>
        <p:xfrm>
          <a:off x="365760" y="1024128"/>
          <a:ext cx="11430000" cy="914400"/>
        </p:xfrm>
        <a:graphic>
          <a:graphicData uri="http://schemas.openxmlformats.org/drawingml/2006/table">
            <a:tbl>
              <a:tblPr/>
              <a:tblGrid>
                <a:gridCol w="2377440"/>
                <a:gridCol w="1371600"/>
                <a:gridCol w="6583680"/>
                <a:gridCol w="1097280"/>
              </a:tblGrid>
              <a:tr h="457200">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Time</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Magnitude</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Note</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Tier</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r>
              <a:tr h="457200">
                <a:tc>
                  <a:txBody>
                    <a:bodyPr/>
                    <a:lstStyle/>
                    <a:p>
                      <a:pPr algn="l" indent="0" marL="0">
                        <a:buNone/>
                      </a:pPr>
                      <a:r>
                        <a:rPr lang="en-US" sz="1000" b="1" dirty="0">
                          <a:solidFill>
                            <a:srgbClr val="1F3864"/>
                          </a:solidFill>
                          <a:latin typeface="Calibri" pitchFamily="34" charset="0"/>
                          <a:ea typeface="Calibri" pitchFamily="34" charset="-122"/>
                          <a:cs typeface="Calibri" pitchFamily="34" charset="-120"/>
                        </a:rPr>
                        <a:t>10 Aug 13:18:10 UTC (08:18 COT)</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1100" b="1" dirty="0">
                          <a:solidFill>
                            <a:srgbClr val="C00000"/>
                          </a:solidFill>
                          <a:latin typeface="Calibri" pitchFamily="34" charset="0"/>
                          <a:ea typeface="Calibri" pitchFamily="34" charset="-122"/>
                          <a:cs typeface="Calibri" pitchFamily="34" charset="-120"/>
                        </a:rPr>
                        <a:t>mb 5.0</a:t>
                      </a:r>
                      <a:endParaRPr lang="en-US" sz="11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1000" dirty="0">
                          <a:solidFill>
                            <a:srgbClr val="222222"/>
                          </a:solidFill>
                          <a:latin typeface="Calibri" pitchFamily="34" charset="0"/>
                          <a:ea typeface="Calibri" pitchFamily="34" charset="-122"/>
                          <a:cs typeface="Calibri" pitchFamily="34" charset="-120"/>
                        </a:rPr>
                        <a:t>USGS us6000tjm4, reviewed: 16 km W of San José del Palmar, depth 98.5 km — 44 minutes after the mainshock and at the same intermediate depth. Other agencies report 5.0-5.7 for this event.</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900" b="1" dirty="0">
                          <a:solidFill>
                            <a:srgbClr val="1E7A34"/>
                          </a:solidFill>
                          <a:latin typeface="Calibri" pitchFamily="34" charset="0"/>
                          <a:ea typeface="Calibri" pitchFamily="34" charset="-122"/>
                          <a:cs typeface="Calibri" pitchFamily="34" charset="-120"/>
                        </a:rPr>
                        <a:t>Official</a:t>
                      </a:r>
                      <a:endParaRPr lang="en-US" sz="9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457200">
                <a:tc>
                  <a:txBody>
                    <a:bodyPr/>
                    <a:lstStyle/>
                    <a:p>
                      <a:pPr algn="l" indent="0" marL="0">
                        <a:buNone/>
                      </a:pPr>
                      <a:r>
                        <a:rPr lang="en-US" sz="1000" b="1" dirty="0">
                          <a:solidFill>
                            <a:srgbClr val="1F3864"/>
                          </a:solidFill>
                          <a:latin typeface="Calibri" pitchFamily="34" charset="0"/>
                          <a:ea typeface="Calibri" pitchFamily="34" charset="-122"/>
                          <a:cs typeface="Calibri" pitchFamily="34" charset="-120"/>
                        </a:rPr>
                        <a:t>10 Aug 15:01 UTC (10:01 COT)</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1100" b="1" dirty="0">
                          <a:solidFill>
                            <a:srgbClr val="C00000"/>
                          </a:solidFill>
                          <a:latin typeface="Calibri" pitchFamily="34" charset="0"/>
                          <a:ea typeface="Calibri" pitchFamily="34" charset="-122"/>
                          <a:cs typeface="Calibri" pitchFamily="34" charset="-120"/>
                        </a:rPr>
                        <a:t>M4.7</a:t>
                      </a:r>
                      <a:endParaRPr lang="en-US" sz="11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1000" dirty="0">
                          <a:solidFill>
                            <a:srgbClr val="222222"/>
                          </a:solidFill>
                          <a:latin typeface="Calibri" pitchFamily="34" charset="0"/>
                          <a:ea typeface="Calibri" pitchFamily="34" charset="-122"/>
                          <a:cs typeface="Calibri" pitchFamily="34" charset="-120"/>
                        </a:rPr>
                        <a:t>Reported by the regional agencies IGC (M4.7) and INET (M4.3); it does not appear in the USGS catalogue at the M2.5 threshold</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900" b="1" dirty="0">
                          <a:solidFill>
                            <a:srgbClr val="1E7A34"/>
                          </a:solidFill>
                          <a:latin typeface="Calibri" pitchFamily="34" charset="0"/>
                          <a:ea typeface="Calibri" pitchFamily="34" charset="-122"/>
                          <a:cs typeface="Calibri" pitchFamily="34" charset="-120"/>
                        </a:rPr>
                        <a:t>Official</a:t>
                      </a:r>
                      <a:endParaRPr lang="en-US" sz="9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457200">
                <a:tc>
                  <a:txBody>
                    <a:bodyPr/>
                    <a:lstStyle/>
                    <a:p>
                      <a:pPr algn="l" indent="0" marL="0">
                        <a:buNone/>
                      </a:pPr>
                      <a:r>
                        <a:rPr lang="en-US" sz="1000" b="1" dirty="0">
                          <a:solidFill>
                            <a:srgbClr val="1F3864"/>
                          </a:solidFill>
                          <a:latin typeface="Calibri" pitchFamily="34" charset="0"/>
                          <a:ea typeface="Calibri" pitchFamily="34" charset="-122"/>
                          <a:cs typeface="Calibri" pitchFamily="34" charset="-120"/>
                        </a:rPr>
                        <a:t>10 Aug (SGC bulletin)</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1100" b="1" dirty="0">
                          <a:solidFill>
                            <a:srgbClr val="C00000"/>
                          </a:solidFill>
                          <a:latin typeface="Calibri" pitchFamily="34" charset="0"/>
                          <a:ea typeface="Calibri" pitchFamily="34" charset="-122"/>
                          <a:cs typeface="Calibri" pitchFamily="34" charset="-120"/>
                        </a:rPr>
                        <a:t>M4.8 / M2.8</a:t>
                      </a:r>
                      <a:endParaRPr lang="en-US" sz="11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1000" dirty="0">
                          <a:solidFill>
                            <a:srgbClr val="222222"/>
                          </a:solidFill>
                          <a:latin typeface="Calibri" pitchFamily="34" charset="0"/>
                          <a:ea typeface="Calibri" pitchFamily="34" charset="-122"/>
                          <a:cs typeface="Calibri" pitchFamily="34" charset="-120"/>
                        </a:rPr>
                        <a:t>The two aftershocks listed on the SGC event bulletin; the M4.8 was widely felt</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900" b="1" dirty="0">
                          <a:solidFill>
                            <a:srgbClr val="1E7A34"/>
                          </a:solidFill>
                          <a:latin typeface="Calibri" pitchFamily="34" charset="0"/>
                          <a:ea typeface="Calibri" pitchFamily="34" charset="-122"/>
                          <a:cs typeface="Calibri" pitchFamily="34" charset="-120"/>
                        </a:rPr>
                        <a:t>Official</a:t>
                      </a:r>
                      <a:endParaRPr lang="en-US" sz="9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457200">
                <a:tc>
                  <a:txBody>
                    <a:bodyPr/>
                    <a:lstStyle/>
                    <a:p>
                      <a:pPr algn="l" indent="0" marL="0">
                        <a:buNone/>
                      </a:pPr>
                      <a:r>
                        <a:rPr lang="en-US" sz="1000" b="1" dirty="0">
                          <a:solidFill>
                            <a:srgbClr val="1F3864"/>
                          </a:solidFill>
                          <a:latin typeface="Calibri" pitchFamily="34" charset="0"/>
                          <a:ea typeface="Calibri" pitchFamily="34" charset="-122"/>
                          <a:cs typeface="Calibri" pitchFamily="34" charset="-120"/>
                        </a:rPr>
                        <a:t>10 Aug (to 22:00 COT)</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1100" b="1" dirty="0">
                          <a:solidFill>
                            <a:srgbClr val="C00000"/>
                          </a:solidFill>
                          <a:latin typeface="Calibri" pitchFamily="34" charset="0"/>
                          <a:ea typeface="Calibri" pitchFamily="34" charset="-122"/>
                          <a:cs typeface="Calibri" pitchFamily="34" charset="-120"/>
                        </a:rPr>
                        <a:t>20+ reported</a:t>
                      </a:r>
                      <a:endParaRPr lang="en-US" sz="11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1000" dirty="0">
                          <a:solidFill>
                            <a:srgbClr val="222222"/>
                          </a:solidFill>
                          <a:latin typeface="Calibri" pitchFamily="34" charset="0"/>
                          <a:ea typeface="Calibri" pitchFamily="34" charset="-122"/>
                          <a:cs typeface="Calibri" pitchFamily="34" charset="-120"/>
                        </a:rPr>
                        <a:t>Media reported more than 20 aftershocks during the day; no consolidated official count had been published</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900" b="1" dirty="0">
                          <a:solidFill>
                            <a:srgbClr val="B8860B"/>
                          </a:solidFill>
                          <a:latin typeface="Calibri" pitchFamily="34" charset="0"/>
                          <a:ea typeface="Calibri" pitchFamily="34" charset="-122"/>
                          <a:cs typeface="Calibri" pitchFamily="34" charset="-120"/>
                        </a:rPr>
                        <a:t>Media</a:t>
                      </a:r>
                      <a:endParaRPr lang="en-US" sz="9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bl>
          </a:graphicData>
        </a:graphic>
      </p:graphicFrame>
      <p:sp>
        <p:nvSpPr>
          <p:cNvPr id="5" name="Text 1"/>
          <p:cNvSpPr/>
          <p:nvPr/>
        </p:nvSpPr>
        <p:spPr>
          <a:xfrm>
            <a:off x="365760" y="3328416"/>
            <a:ext cx="11430000" cy="822960"/>
          </a:xfrm>
          <a:prstGeom prst="rect">
            <a:avLst/>
          </a:prstGeom>
          <a:noFill/>
          <a:ln/>
        </p:spPr>
        <p:txBody>
          <a:bodyPr wrap="square" lIns="50800" tIns="50800" rIns="50800" bIns="50800" rtlCol="0" anchor="t"/>
          <a:lstStyle/>
          <a:p>
            <a:pPr indent="0" marL="0">
              <a:buNone/>
            </a:pPr>
            <a:r>
              <a:rPr lang="en-US" sz="950" dirty="0">
                <a:solidFill>
                  <a:srgbClr val="222222"/>
                </a:solidFill>
                <a:latin typeface="Calibri" pitchFamily="34" charset="0"/>
                <a:ea typeface="Calibri" pitchFamily="34" charset="-122"/>
                <a:cs typeface="Calibri" pitchFamily="34" charset="-120"/>
              </a:rPr>
              <a:t>Three independent catalogues - the USGS FDSN service, the EMSC SeismicPortal and the SGC's public query tools - return the same two events for this region: the mainshock and a single mb 5.0 aftershock 44 minutes later. The SGC bulletin adds M4.8 and M2.8 and media reported more than 20 events during the day, but those smaller shocks are not publicly retrievable: they sit below the global catalogues' completeness here, and the SGC's reviewed catalogue ends on 28 February 2018. A sparse sequence of larger aftershocks is what an intermediate-depth intraslab rupture is expected to produce; but an M5 while search and rescue is under way is enough to bring down structures the mainshock already weakened.</a:t>
            </a:r>
            <a:endParaRPr lang="en-US" sz="950" dirty="0"/>
          </a:p>
        </p:txBody>
      </p:sp>
      <p:sp>
        <p:nvSpPr>
          <p:cNvPr id="6" name="Shape 2"/>
          <p:cNvSpPr/>
          <p:nvPr/>
        </p:nvSpPr>
        <p:spPr>
          <a:xfrm>
            <a:off x="365760" y="4169664"/>
            <a:ext cx="11430000" cy="969264"/>
          </a:xfrm>
          <a:prstGeom prst="roundRect">
            <a:avLst>
              <a:gd name="adj" fmla="val 4717"/>
            </a:avLst>
          </a:prstGeom>
          <a:solidFill>
            <a:srgbClr val="FCE9DC"/>
          </a:solidFill>
          <a:ln w="12700">
            <a:solidFill>
              <a:srgbClr val="E8A317"/>
            </a:solidFill>
            <a:prstDash val="solid"/>
          </a:ln>
        </p:spPr>
      </p:sp>
      <p:sp>
        <p:nvSpPr>
          <p:cNvPr id="7" name="Text 3"/>
          <p:cNvSpPr/>
          <p:nvPr/>
        </p:nvSpPr>
        <p:spPr>
          <a:xfrm>
            <a:off x="530352" y="4224528"/>
            <a:ext cx="11100816" cy="859536"/>
          </a:xfrm>
          <a:prstGeom prst="rect">
            <a:avLst/>
          </a:prstGeom>
          <a:noFill/>
          <a:ln/>
        </p:spPr>
        <p:txBody>
          <a:bodyPr wrap="square" lIns="25400" tIns="25400" rIns="25400" bIns="25400" rtlCol="0" anchor="ctr"/>
          <a:lstStyle/>
          <a:p>
            <a:pPr algn="l" indent="0" marL="0">
              <a:buNone/>
            </a:pPr>
            <a:r>
              <a:rPr lang="en-US" sz="1050" b="1" dirty="0">
                <a:solidFill>
                  <a:srgbClr val="9A3B12"/>
                </a:solidFill>
                <a:latin typeface="Calibri" pitchFamily="34" charset="0"/>
                <a:ea typeface="Calibri" pitchFamily="34" charset="-122"/>
                <a:cs typeface="Calibri" pitchFamily="34" charset="-120"/>
              </a:rPr>
              <a:t>How much the agencies differ
</a:t>
            </a:r>
            <a:pPr algn="l" indent="0" marL="0">
              <a:buNone/>
            </a:pPr>
            <a:r>
              <a:rPr lang="en-US" sz="950" dirty="0">
                <a:solidFill>
                  <a:srgbClr val="7A2E0E"/>
                </a:solidFill>
                <a:latin typeface="Calibri" pitchFamily="34" charset="0"/>
                <a:ea typeface="Calibri" pitchFamily="34" charset="-122"/>
                <a:cs typeface="Calibri" pitchFamily="34" charset="-120"/>
              </a:rPr>
              <a:t>More than 30 agencies published a solution for the mainshock within minutes. Their magnitudes span Mw 7.0-7.7 and their depths 74-121 km; several automatic solutions defaulted to 10 km before revision. This report uses the USGS/NEIC solution (Mw 7.4, 110 km), which matches PAGER v5, and shows the SGC solution beside it. The spread is normal for a deep event recorded at teleseismic distances, and it is the reason early media figures for depth and magnitude disagreed.</a:t>
            </a:r>
            <a:endParaRPr lang="en-US" sz="1050" dirty="0"/>
          </a:p>
        </p:txBody>
      </p:sp>
      <p:sp>
        <p:nvSpPr>
          <p:cNvPr id="8" name="Shape 4"/>
          <p:cNvSpPr/>
          <p:nvPr/>
        </p:nvSpPr>
        <p:spPr>
          <a:xfrm>
            <a:off x="365760" y="5212080"/>
            <a:ext cx="11430000" cy="731520"/>
          </a:xfrm>
          <a:prstGeom prst="roundRect">
            <a:avLst>
              <a:gd name="adj" fmla="val 6250"/>
            </a:avLst>
          </a:prstGeom>
          <a:solidFill>
            <a:srgbClr val="FCE9DC"/>
          </a:solidFill>
          <a:ln w="12700">
            <a:solidFill>
              <a:srgbClr val="E8A317"/>
            </a:solidFill>
            <a:prstDash val="solid"/>
          </a:ln>
        </p:spPr>
      </p:sp>
      <p:sp>
        <p:nvSpPr>
          <p:cNvPr id="9" name="Text 5"/>
          <p:cNvSpPr/>
          <p:nvPr/>
        </p:nvSpPr>
        <p:spPr>
          <a:xfrm>
            <a:off x="530352" y="5266944"/>
            <a:ext cx="11100816" cy="621792"/>
          </a:xfrm>
          <a:prstGeom prst="rect">
            <a:avLst/>
          </a:prstGeom>
          <a:noFill/>
          <a:ln/>
        </p:spPr>
        <p:txBody>
          <a:bodyPr wrap="square" lIns="25400" tIns="25400" rIns="25400" bIns="25400" rtlCol="0" anchor="ctr"/>
          <a:lstStyle/>
          <a:p>
            <a:pPr algn="l" indent="0" marL="0">
              <a:buNone/>
            </a:pPr>
            <a:r>
              <a:rPr lang="en-US" sz="1050" b="1" dirty="0">
                <a:solidFill>
                  <a:srgbClr val="9A3B12"/>
                </a:solidFill>
                <a:latin typeface="Calibri" pitchFamily="34" charset="0"/>
                <a:ea typeface="Calibri" pitchFamily="34" charset="-122"/>
                <a:cs typeface="Calibri" pitchFamily="34" charset="-120"/>
              </a:rPr>
              <a:t>Operational implication
</a:t>
            </a:r>
            <a:pPr algn="l" indent="0" marL="0">
              <a:buNone/>
            </a:pPr>
            <a:r>
              <a:rPr lang="en-US" sz="950" dirty="0">
                <a:solidFill>
                  <a:srgbClr val="7A2E0E"/>
                </a:solidFill>
                <a:latin typeface="Calibri" pitchFamily="34" charset="0"/>
                <a:ea typeface="Calibri" pitchFamily="34" charset="-122"/>
                <a:cs typeface="Calibri" pitchFamily="34" charset="-120"/>
              </a:rPr>
              <a:t>Buildings that survived the mainshock in a damaged state have lost capacity. Even moderate aftershocks can bring them down, so rapid habitability assessment before re-occupancy - and keeping people out of visibly damaged structures - matters as much as the aftershock statistics themselves.</a:t>
            </a:r>
            <a:endParaRPr lang="en-US" sz="1050" dirty="0"/>
          </a:p>
        </p:txBody>
      </p:sp>
      <p:sp>
        <p:nvSpPr>
          <p:cNvPr id="10" name="Text 6"/>
          <p:cNvSpPr/>
          <p:nvPr/>
        </p:nvSpPr>
        <p:spPr>
          <a:xfrm>
            <a:off x="365760" y="5980176"/>
            <a:ext cx="11430000" cy="256032"/>
          </a:xfrm>
          <a:prstGeom prst="rect">
            <a:avLst/>
          </a:prstGeom>
          <a:noFill/>
          <a:ln/>
        </p:spPr>
        <p:txBody>
          <a:bodyPr wrap="square" lIns="0" tIns="0" rIns="0" bIns="0" rtlCol="0" anchor="t"/>
          <a:lstStyle/>
          <a:p>
            <a:pPr indent="0" marL="0">
              <a:buNone/>
            </a:pPr>
            <a:r>
              <a:rPr lang="en-US" sz="700" i="1" dirty="0">
                <a:solidFill>
                  <a:srgbClr val="6A6A6A"/>
                </a:solidFill>
                <a:latin typeface="Calibri" pitchFamily="34" charset="0"/>
                <a:ea typeface="Calibri" pitchFamily="34" charset="-122"/>
                <a:cs typeface="Calibri" pitchFamily="34" charset="-120"/>
              </a:rPr>
              <a:t>Data availability, checked 11 Aug 2026: USGS FDSN event service (region 3-7 N / 78-74.5 W, from the origin time; query.csv in this repository) and EMSC SeismicPortal FDSN each return two events at M2.5+ and at M2+; the SGC's public catalogue viewer and expert query form serve only the reviewed historical catalogue (1 Jun 1993 - 28 Feb 2018) and return nothing for 2026. No time-series plot is drawn because no time series is publicly available - the sparseness is the finding.</a:t>
            </a:r>
            <a:endParaRPr lang="en-US" sz="700" dirty="0"/>
          </a:p>
        </p:txBody>
      </p:sp>
      <p:sp>
        <p:nvSpPr>
          <p:cNvPr id="11" name="Text 7"/>
          <p:cNvSpPr/>
          <p:nvPr/>
        </p:nvSpPr>
        <p:spPr>
          <a:xfrm>
            <a:off x="365760" y="6272784"/>
            <a:ext cx="11430000" cy="219456"/>
          </a:xfrm>
          <a:prstGeom prst="rect">
            <a:avLst/>
          </a:prstGeom>
          <a:noFill/>
          <a:ln/>
        </p:spPr>
        <p:txBody>
          <a:bodyPr wrap="square" lIns="0" tIns="0" rIns="0" bIns="0" rtlCol="0" anchor="ctr"/>
          <a:lstStyle/>
          <a:p>
            <a:pPr algn="l" indent="0" marL="0">
              <a:buNone/>
            </a:pPr>
            <a:r>
              <a:rPr lang="en-US" sz="850" b="1" dirty="0">
                <a:solidFill>
                  <a:srgbClr val="6A6A6A"/>
                </a:solidFill>
                <a:latin typeface="Calibri" pitchFamily="34" charset="0"/>
                <a:ea typeface="Calibri" pitchFamily="34" charset="-122"/>
                <a:cs typeface="Calibri" pitchFamily="34" charset="-120"/>
              </a:rPr>
              <a:t>Sources: </a:t>
            </a:r>
            <a:pPr algn="l" indent="0" marL="0">
              <a:buNone/>
            </a:pPr>
            <a:r>
              <a:rPr lang="en-US" sz="850" u="sng" dirty="0">
                <a:solidFill>
                  <a:srgbClr val="0563C1"/>
                </a:solidFill>
                <a:latin typeface="Calibri" pitchFamily="34" charset="0"/>
                <a:ea typeface="Calibri" pitchFamily="34" charset="-122"/>
                <a:cs typeface="Calibri" pitchFamily="34" charset="-120"/>
                <a:hlinkClick r:id="rId2" invalidUrl="" action="" tgtFrame="" tooltip="" history="1" highlightClick="0" endSnd="0">
                  <a:extLst>
                    <a:ext uri="{A12FA001-AC4F-418D-AE19-62706E023703}">
                      <ahyp:hlinkClr xmlns:ahyp="http://schemas.microsoft.com/office/drawing/2018/hyperlinkcolor" val="tx"/>
                    </a:ext>
                  </a:extLst>
                </a:hlinkClick>
              </a:rPr>
              <a:t>Servicio Geológico Colombiano (SGC)</a:t>
            </a:r>
            <a:pPr algn="l" indent="0" marL="0">
              <a:buNone/>
            </a:pPr>
            <a:r>
              <a:rPr lang="en-US" sz="850" dirty="0">
                <a:solidFill>
                  <a:srgbClr val="6A6A6A"/>
                </a:solidFill>
                <a:latin typeface="Calibri" pitchFamily="34" charset="0"/>
                <a:ea typeface="Calibri" pitchFamily="34" charset="-122"/>
                <a:cs typeface="Calibri" pitchFamily="34" charset="-120"/>
              </a:rPr>
              <a:t>   ·   </a:t>
            </a:r>
            <a:pPr algn="l" indent="0" marL="0">
              <a:buNone/>
            </a:pPr>
            <a:r>
              <a:rPr lang="en-US" sz="850" u="sng" dirty="0">
                <a:solidFill>
                  <a:srgbClr val="0563C1"/>
                </a:solidFill>
                <a:latin typeface="Calibri" pitchFamily="34" charset="0"/>
                <a:ea typeface="Calibri" pitchFamily="34" charset="-122"/>
                <a:cs typeface="Calibri" pitchFamily="34" charset="-120"/>
                <a:hlinkClick r:id="rId3" invalidUrl="" action="" tgtFrame="" tooltip="" history="1" highlightClick="0" endSnd="0">
                  <a:extLst>
                    <a:ext uri="{A12FA001-AC4F-418D-AE19-62706E023703}">
                      <ahyp:hlinkClr xmlns:ahyp="http://schemas.microsoft.com/office/drawing/2018/hyperlinkcolor" val="tx"/>
                    </a:ext>
                  </a:extLst>
                </a:hlinkClick>
              </a:rPr>
              <a:t>USGS - M 7.4 San José del Palmar, Colombia (event page)</a:t>
            </a:r>
            <a:pPr algn="l" indent="0" marL="0">
              <a:buNone/>
            </a:pPr>
            <a:r>
              <a:rPr lang="en-US" sz="850" dirty="0">
                <a:solidFill>
                  <a:srgbClr val="6A6A6A"/>
                </a:solidFill>
                <a:latin typeface="Calibri" pitchFamily="34" charset="0"/>
                <a:ea typeface="Calibri" pitchFamily="34" charset="-122"/>
                <a:cs typeface="Calibri" pitchFamily="34" charset="-120"/>
              </a:rPr>
              <a:t>   ·   </a:t>
            </a:r>
            <a:pPr algn="l" indent="0" marL="0">
              <a:buNone/>
            </a:pPr>
            <a:r>
              <a:rPr lang="en-US" sz="850" u="sng" dirty="0">
                <a:solidFill>
                  <a:srgbClr val="0563C1"/>
                </a:solidFill>
                <a:latin typeface="Calibri" pitchFamily="34" charset="0"/>
                <a:ea typeface="Calibri" pitchFamily="34" charset="-122"/>
                <a:cs typeface="Calibri" pitchFamily="34" charset="-120"/>
                <a:hlinkClick r:id="rId4" invalidUrl="" action="" tgtFrame="" tooltip="" history="1" highlightClick="0" endSnd="0">
                  <a:extLst>
                    <a:ext uri="{A12FA001-AC4F-418D-AE19-62706E023703}">
                      <ahyp:hlinkClr xmlns:ahyp="http://schemas.microsoft.com/office/drawing/2018/hyperlinkcolor" val="tx"/>
                    </a:ext>
                  </a:extLst>
                </a:hlinkClick>
              </a:rPr>
              <a:t>EMSC-CSEM SeismicPortal — bulletin and FDSN event service</a:t>
            </a:r>
            <a:endParaRPr lang="en-US" sz="850" dirty="0"/>
          </a:p>
        </p:txBody>
      </p:sp>
      <p:sp>
        <p:nvSpPr>
          <p:cNvPr id="12" name="Shape 8"/>
          <p:cNvSpPr/>
          <p:nvPr/>
        </p:nvSpPr>
        <p:spPr>
          <a:xfrm>
            <a:off x="10268712" y="6510528"/>
            <a:ext cx="1554480" cy="274320"/>
          </a:xfrm>
          <a:prstGeom prst="rect">
            <a:avLst/>
          </a:prstGeom>
          <a:solidFill>
            <a:srgbClr val="E8A317"/>
          </a:solidFill>
          <a:ln w="12700">
            <a:solidFill>
              <a:srgbClr val="E8A317"/>
            </a:solidFill>
            <a:prstDash val="solid"/>
          </a:ln>
        </p:spPr>
      </p:sp>
      <p:sp>
        <p:nvSpPr>
          <p:cNvPr id="13" name="Text 9"/>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950" b="1" dirty="0">
                <a:solidFill>
                  <a:srgbClr val="000000"/>
                </a:solidFill>
                <a:latin typeface="Calibri" pitchFamily="34" charset="0"/>
                <a:ea typeface="Calibri" pitchFamily="34" charset="-122"/>
                <a:cs typeface="Calibri" pitchFamily="34" charset="-120"/>
              </a:rPr>
              <a:t>ADRC  12/08/2026</a:t>
            </a:r>
            <a:endParaRPr lang="en-US" sz="950" dirty="0"/>
          </a:p>
        </p:txBody>
      </p:sp>
      <p:sp>
        <p:nvSpPr>
          <p:cNvPr id="14" name="Text 10"/>
          <p:cNvSpPr/>
          <p:nvPr/>
        </p:nvSpPr>
        <p:spPr>
          <a:xfrm>
            <a:off x="365760" y="6547104"/>
            <a:ext cx="548640" cy="219456"/>
          </a:xfrm>
          <a:prstGeom prst="rect">
            <a:avLst/>
          </a:prstGeom>
          <a:noFill/>
          <a:ln/>
        </p:spPr>
        <p:txBody>
          <a:bodyPr wrap="square" lIns="0" tIns="0" rIns="0" bIns="0" rtlCol="0" anchor="ctr"/>
          <a:lstStyle/>
          <a:p>
            <a:pPr algn="l" indent="0" marL="0">
              <a:buNone/>
            </a:pPr>
            <a:r>
              <a:rPr lang="en-US" sz="900" dirty="0">
                <a:solidFill>
                  <a:srgbClr val="6A6A6A"/>
                </a:solidFill>
                <a:latin typeface="Calibri" pitchFamily="34" charset="0"/>
                <a:ea typeface="Calibri" pitchFamily="34" charset="-122"/>
                <a:cs typeface="Calibri" pitchFamily="34" charset="-120"/>
              </a:rPr>
              <a:t>10</a:t>
            </a:r>
            <a:endParaRPr lang="en-US" sz="9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92608"/>
            <a:ext cx="10332720" cy="566928"/>
          </a:xfrm>
          <a:prstGeom prst="rect">
            <a:avLst/>
          </a:prstGeom>
          <a:noFill/>
          <a:ln/>
        </p:spPr>
        <p:txBody>
          <a:bodyPr wrap="none" lIns="0" tIns="0" rIns="0" bIns="0" rtlCol="0" anchor="ctr">
            <a:normAutofit/>
          </a:bodyPr>
          <a:lstStyle/>
          <a:p>
            <a:pPr algn="l" indent="0" marL="0">
              <a:buNone/>
            </a:pPr>
            <a:r>
              <a:rPr lang="en-US" sz="2100" b="1" dirty="0">
                <a:solidFill>
                  <a:srgbClr val="1F3864"/>
                </a:solidFill>
                <a:latin typeface="Cambria" pitchFamily="34" charset="0"/>
                <a:ea typeface="Cambria" pitchFamily="34" charset="-122"/>
                <a:cs typeface="Cambria" pitchFamily="34" charset="-120"/>
              </a:rPr>
              <a:t>Human Damage</a:t>
            </a:r>
            <a:endParaRPr lang="en-US" sz="2100" dirty="0"/>
          </a:p>
        </p:txBody>
      </p:sp>
      <p:pic>
        <p:nvPicPr>
          <p:cNvPr id="3" name="Image 0" descr="/home/user/whatsmap/reports/colombia_eq_20260810/images/adrc_logo.png">    </p:cNvPr>
          <p:cNvPicPr>
            <a:picLocks noChangeAspect="1"/>
          </p:cNvPicPr>
          <p:nvPr/>
        </p:nvPicPr>
        <p:blipFill>
          <a:blip r:embed="rId1"/>
          <a:stretch>
            <a:fillRect/>
          </a:stretch>
        </p:blipFill>
        <p:spPr>
          <a:xfrm>
            <a:off x="10945368" y="73152"/>
            <a:ext cx="877824" cy="877824"/>
          </a:xfrm>
          <a:prstGeom prst="rect">
            <a:avLst/>
          </a:prstGeom>
        </p:spPr>
      </p:pic>
      <p:sp>
        <p:nvSpPr>
          <p:cNvPr id="4" name="Shape 1"/>
          <p:cNvSpPr/>
          <p:nvPr/>
        </p:nvSpPr>
        <p:spPr>
          <a:xfrm>
            <a:off x="365760" y="1005840"/>
            <a:ext cx="3611880" cy="1143000"/>
          </a:xfrm>
          <a:prstGeom prst="roundRect">
            <a:avLst>
              <a:gd name="adj" fmla="val 4800"/>
            </a:avLst>
          </a:prstGeom>
          <a:solidFill>
            <a:srgbClr val="EAF2F8"/>
          </a:solidFill>
          <a:ln w="12700">
            <a:solidFill>
              <a:srgbClr val="D9D9D9"/>
            </a:solidFill>
            <a:prstDash val="solid"/>
          </a:ln>
        </p:spPr>
      </p:sp>
      <p:sp>
        <p:nvSpPr>
          <p:cNvPr id="5" name="Text 2"/>
          <p:cNvSpPr/>
          <p:nvPr/>
        </p:nvSpPr>
        <p:spPr>
          <a:xfrm>
            <a:off x="502920" y="1078992"/>
            <a:ext cx="3337560" cy="292608"/>
          </a:xfrm>
          <a:prstGeom prst="rect">
            <a:avLst/>
          </a:prstGeom>
          <a:noFill/>
          <a:ln/>
        </p:spPr>
        <p:txBody>
          <a:bodyPr wrap="square" lIns="0" tIns="0" rIns="0" bIns="0" rtlCol="0" anchor="ctr"/>
          <a:lstStyle/>
          <a:p>
            <a:pPr indent="0" marL="0">
              <a:buNone/>
            </a:pPr>
            <a:r>
              <a:rPr lang="en-US" sz="1100" dirty="0">
                <a:solidFill>
                  <a:srgbClr val="6A6A6A"/>
                </a:solidFill>
                <a:latin typeface="Calibri" pitchFamily="34" charset="0"/>
                <a:ea typeface="Calibri" pitchFamily="34" charset="-122"/>
                <a:cs typeface="Calibri" pitchFamily="34" charset="-120"/>
              </a:rPr>
              <a:t>Deaths</a:t>
            </a:r>
            <a:endParaRPr lang="en-US" sz="1100" dirty="0"/>
          </a:p>
        </p:txBody>
      </p:sp>
      <p:sp>
        <p:nvSpPr>
          <p:cNvPr id="6" name="Text 3"/>
          <p:cNvSpPr/>
          <p:nvPr/>
        </p:nvSpPr>
        <p:spPr>
          <a:xfrm>
            <a:off x="502920" y="1335024"/>
            <a:ext cx="3337560" cy="731520"/>
          </a:xfrm>
          <a:prstGeom prst="rect">
            <a:avLst/>
          </a:prstGeom>
          <a:noFill/>
          <a:ln/>
        </p:spPr>
        <p:txBody>
          <a:bodyPr wrap="square" lIns="0" tIns="0" rIns="0" bIns="0" rtlCol="0" anchor="ctr"/>
          <a:lstStyle/>
          <a:p>
            <a:pPr indent="0" marL="0">
              <a:buNone/>
            </a:pPr>
            <a:r>
              <a:rPr lang="en-US" sz="3400" b="1" dirty="0">
                <a:solidFill>
                  <a:srgbClr val="C00000"/>
                </a:solidFill>
                <a:latin typeface="Cambria" pitchFamily="34" charset="0"/>
                <a:ea typeface="Cambria" pitchFamily="34" charset="-122"/>
                <a:cs typeface="Cambria" pitchFamily="34" charset="-120"/>
              </a:rPr>
              <a:t>182</a:t>
            </a:r>
            <a:endParaRPr lang="en-US" sz="3400" dirty="0"/>
          </a:p>
        </p:txBody>
      </p:sp>
      <p:sp>
        <p:nvSpPr>
          <p:cNvPr id="7" name="Shape 4"/>
          <p:cNvSpPr/>
          <p:nvPr/>
        </p:nvSpPr>
        <p:spPr>
          <a:xfrm>
            <a:off x="4206240" y="1005840"/>
            <a:ext cx="3611880" cy="1143000"/>
          </a:xfrm>
          <a:prstGeom prst="roundRect">
            <a:avLst>
              <a:gd name="adj" fmla="val 4800"/>
            </a:avLst>
          </a:prstGeom>
          <a:solidFill>
            <a:srgbClr val="EAF2F8"/>
          </a:solidFill>
          <a:ln w="12700">
            <a:solidFill>
              <a:srgbClr val="D9D9D9"/>
            </a:solidFill>
            <a:prstDash val="solid"/>
          </a:ln>
        </p:spPr>
      </p:sp>
      <p:sp>
        <p:nvSpPr>
          <p:cNvPr id="8" name="Text 5"/>
          <p:cNvSpPr/>
          <p:nvPr/>
        </p:nvSpPr>
        <p:spPr>
          <a:xfrm>
            <a:off x="4343400" y="1078992"/>
            <a:ext cx="3337560" cy="292608"/>
          </a:xfrm>
          <a:prstGeom prst="rect">
            <a:avLst/>
          </a:prstGeom>
          <a:noFill/>
          <a:ln/>
        </p:spPr>
        <p:txBody>
          <a:bodyPr wrap="square" lIns="0" tIns="0" rIns="0" bIns="0" rtlCol="0" anchor="ctr"/>
          <a:lstStyle/>
          <a:p>
            <a:pPr indent="0" marL="0">
              <a:buNone/>
            </a:pPr>
            <a:r>
              <a:rPr lang="en-US" sz="1100" dirty="0">
                <a:solidFill>
                  <a:srgbClr val="6A6A6A"/>
                </a:solidFill>
                <a:latin typeface="Calibri" pitchFamily="34" charset="0"/>
                <a:ea typeface="Calibri" pitchFamily="34" charset="-122"/>
                <a:cs typeface="Calibri" pitchFamily="34" charset="-120"/>
              </a:rPr>
              <a:t>Injured</a:t>
            </a:r>
            <a:endParaRPr lang="en-US" sz="1100" dirty="0"/>
          </a:p>
        </p:txBody>
      </p:sp>
      <p:sp>
        <p:nvSpPr>
          <p:cNvPr id="9" name="Text 6"/>
          <p:cNvSpPr/>
          <p:nvPr/>
        </p:nvSpPr>
        <p:spPr>
          <a:xfrm>
            <a:off x="4343400" y="1335024"/>
            <a:ext cx="3337560" cy="731520"/>
          </a:xfrm>
          <a:prstGeom prst="rect">
            <a:avLst/>
          </a:prstGeom>
          <a:noFill/>
          <a:ln/>
        </p:spPr>
        <p:txBody>
          <a:bodyPr wrap="square" lIns="0" tIns="0" rIns="0" bIns="0" rtlCol="0" anchor="ctr"/>
          <a:lstStyle/>
          <a:p>
            <a:pPr indent="0" marL="0">
              <a:buNone/>
            </a:pPr>
            <a:r>
              <a:rPr lang="en-US" sz="3400" b="1" dirty="0">
                <a:solidFill>
                  <a:srgbClr val="9A3B12"/>
                </a:solidFill>
                <a:latin typeface="Cambria" pitchFamily="34" charset="0"/>
                <a:ea typeface="Cambria" pitchFamily="34" charset="-122"/>
                <a:cs typeface="Cambria" pitchFamily="34" charset="-120"/>
              </a:rPr>
              <a:t>2,542</a:t>
            </a:r>
            <a:endParaRPr lang="en-US" sz="3400" dirty="0"/>
          </a:p>
        </p:txBody>
      </p:sp>
      <p:sp>
        <p:nvSpPr>
          <p:cNvPr id="10" name="Shape 7"/>
          <p:cNvSpPr/>
          <p:nvPr/>
        </p:nvSpPr>
        <p:spPr>
          <a:xfrm>
            <a:off x="8046720" y="1005840"/>
            <a:ext cx="3611880" cy="1143000"/>
          </a:xfrm>
          <a:prstGeom prst="roundRect">
            <a:avLst>
              <a:gd name="adj" fmla="val 4800"/>
            </a:avLst>
          </a:prstGeom>
          <a:solidFill>
            <a:srgbClr val="EAF2F8"/>
          </a:solidFill>
          <a:ln w="12700">
            <a:solidFill>
              <a:srgbClr val="D9D9D9"/>
            </a:solidFill>
            <a:prstDash val="solid"/>
          </a:ln>
        </p:spPr>
      </p:sp>
      <p:sp>
        <p:nvSpPr>
          <p:cNvPr id="11" name="Text 8"/>
          <p:cNvSpPr/>
          <p:nvPr/>
        </p:nvSpPr>
        <p:spPr>
          <a:xfrm>
            <a:off x="8183880" y="1078992"/>
            <a:ext cx="3337560" cy="292608"/>
          </a:xfrm>
          <a:prstGeom prst="rect">
            <a:avLst/>
          </a:prstGeom>
          <a:noFill/>
          <a:ln/>
        </p:spPr>
        <p:txBody>
          <a:bodyPr wrap="square" lIns="0" tIns="0" rIns="0" bIns="0" rtlCol="0" anchor="ctr"/>
          <a:lstStyle/>
          <a:p>
            <a:pPr indent="0" marL="0">
              <a:buNone/>
            </a:pPr>
            <a:r>
              <a:rPr lang="en-US" sz="1100" dirty="0">
                <a:solidFill>
                  <a:srgbClr val="6A6A6A"/>
                </a:solidFill>
                <a:latin typeface="Calibri" pitchFamily="34" charset="0"/>
                <a:ea typeface="Calibri" pitchFamily="34" charset="-122"/>
                <a:cs typeface="Calibri" pitchFamily="34" charset="-120"/>
              </a:rPr>
              <a:t>Homes damaged</a:t>
            </a:r>
            <a:endParaRPr lang="en-US" sz="1100" dirty="0"/>
          </a:p>
        </p:txBody>
      </p:sp>
      <p:sp>
        <p:nvSpPr>
          <p:cNvPr id="12" name="Text 9"/>
          <p:cNvSpPr/>
          <p:nvPr/>
        </p:nvSpPr>
        <p:spPr>
          <a:xfrm>
            <a:off x="8183880" y="1335024"/>
            <a:ext cx="3337560" cy="731520"/>
          </a:xfrm>
          <a:prstGeom prst="rect">
            <a:avLst/>
          </a:prstGeom>
          <a:noFill/>
          <a:ln/>
        </p:spPr>
        <p:txBody>
          <a:bodyPr wrap="square" lIns="0" tIns="0" rIns="0" bIns="0" rtlCol="0" anchor="ctr"/>
          <a:lstStyle/>
          <a:p>
            <a:pPr indent="0" marL="0">
              <a:buNone/>
            </a:pPr>
            <a:r>
              <a:rPr lang="en-US" sz="3400" b="1" dirty="0">
                <a:solidFill>
                  <a:srgbClr val="1F3864"/>
                </a:solidFill>
                <a:latin typeface="Cambria" pitchFamily="34" charset="0"/>
                <a:ea typeface="Cambria" pitchFamily="34" charset="-122"/>
                <a:cs typeface="Cambria" pitchFamily="34" charset="-120"/>
              </a:rPr>
              <a:t>15,568</a:t>
            </a:r>
            <a:endParaRPr lang="en-US" sz="3400" dirty="0"/>
          </a:p>
        </p:txBody>
      </p:sp>
      <p:sp>
        <p:nvSpPr>
          <p:cNvPr id="13" name="Text 10"/>
          <p:cNvSpPr/>
          <p:nvPr/>
        </p:nvSpPr>
        <p:spPr>
          <a:xfrm>
            <a:off x="365760" y="2157984"/>
            <a:ext cx="11430000" cy="182880"/>
          </a:xfrm>
          <a:prstGeom prst="rect">
            <a:avLst/>
          </a:prstGeom>
          <a:noFill/>
          <a:ln/>
        </p:spPr>
        <p:txBody>
          <a:bodyPr wrap="square" lIns="0" tIns="0" rIns="0" bIns="0" rtlCol="0" anchor="t"/>
          <a:lstStyle/>
          <a:p>
            <a:pPr indent="0" marL="0">
              <a:buNone/>
            </a:pPr>
            <a:r>
              <a:rPr lang="en-US" sz="750" i="1" dirty="0">
                <a:solidFill>
                  <a:srgbClr val="6A6A6A"/>
                </a:solidFill>
                <a:latin typeface="Calibri" pitchFamily="34" charset="0"/>
                <a:ea typeface="Calibri" pitchFamily="34" charset="-122"/>
                <a:cs typeface="Calibri" pitchFamily="34" charset="-120"/>
              </a:rPr>
              <a:t>UNGRD situation report, 11 August. The President's balance the same day gives 181 deaths; adding up the departmental and city announcements gives 240. Homes: 13,067 damaged and 2,501 destroyed.</a:t>
            </a:r>
            <a:endParaRPr lang="en-US" sz="750" dirty="0"/>
          </a:p>
        </p:txBody>
      </p:sp>
      <p:graphicFrame>
        <p:nvGraphicFramePr>
          <p:cNvPr id="14" name="Chart 0" descr=""/>
          <p:cNvGraphicFramePr/>
          <p:nvPr/>
        </p:nvGraphicFramePr>
        <p:xfrm>
          <a:off x="365760" y="2377440"/>
          <a:ext cx="6035040" cy="2926080"/>
        </p:xfrm>
        <a:graphic xmlns:a="http://schemas.openxmlformats.org/drawingml/2006/main">
          <a:graphicData uri="http://schemas.openxmlformats.org/drawingml/2006/chart">
            <c:chart xmlns:c="http://schemas.openxmlformats.org/drawingml/2006/chart" r:id="rId2"/>
          </a:graphicData>
        </a:graphic>
      </p:graphicFrame>
      <p:graphicFrame>
        <p:nvGraphicFramePr>
          <p:cNvPr id="12" name="Table 0"/>
          <p:cNvGraphicFramePr>
            <a:graphicFrameLocks noGrp="1"/>
          </p:cNvGraphicFramePr>
          <p:nvPr>
            <p:extLst>
              <p:ext uri="{D42A27DB-BD31-4B8C-83A1-F6EECF244321}">
                <p14:modId xmlns:p14="http://schemas.microsoft.com/office/powerpoint/2010/main" val="1579011935"/>
              </p:ext>
            </p:extLst>
          </p:nvPr>
        </p:nvGraphicFramePr>
        <p:xfrm>
          <a:off x="6583680" y="2377440"/>
          <a:ext cx="5212080" cy="914400"/>
        </p:xfrm>
        <a:graphic>
          <a:graphicData uri="http://schemas.openxmlformats.org/drawingml/2006/table">
            <a:tbl>
              <a:tblPr/>
              <a:tblGrid>
                <a:gridCol w="1965960"/>
                <a:gridCol w="960120"/>
                <a:gridCol w="2286000"/>
              </a:tblGrid>
              <a:tr h="457200">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Department</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Deaths</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Note</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r>
              <a:tr h="457200">
                <a:tc>
                  <a:txBody>
                    <a:bodyPr/>
                    <a:lstStyle/>
                    <a:p>
                      <a:pPr algn="l" indent="0" marL="0">
                        <a:buNone/>
                      </a:pPr>
                      <a:r>
                        <a:rPr lang="en-US" sz="1000" dirty="0">
                          <a:solidFill>
                            <a:srgbClr val="222222"/>
                          </a:solidFill>
                          <a:latin typeface="Calibri" pitchFamily="34" charset="0"/>
                          <a:ea typeface="Calibri" pitchFamily="34" charset="-122"/>
                          <a:cs typeface="Calibri" pitchFamily="34" charset="-120"/>
                        </a:rPr>
                        <a:t>Valle del Cauca (Cali)</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1100" b="1" dirty="0">
                          <a:solidFill>
                            <a:srgbClr val="C00000"/>
                          </a:solidFill>
                          <a:latin typeface="Calibri" pitchFamily="34" charset="0"/>
                          <a:ea typeface="Calibri" pitchFamily="34" charset="-122"/>
                          <a:cs typeface="Calibri" pitchFamily="34" charset="-120"/>
                        </a:rPr>
                        <a:t>97</a:t>
                      </a:r>
                      <a:endParaRPr lang="en-US" sz="11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00" dirty="0">
                          <a:solidFill>
                            <a:srgbClr val="6A6A6A"/>
                          </a:solidFill>
                          <a:latin typeface="Calibri" pitchFamily="34" charset="0"/>
                          <a:ea typeface="Calibri" pitchFamily="34" charset="-122"/>
                          <a:cs typeface="Calibri" pitchFamily="34" charset="-120"/>
                        </a:rPr>
                        <a:t>President, 11 Aug. The department government's count is higher: 95 in Cali plus 35 in other municipalities</a:t>
                      </a:r>
                      <a:endParaRPr lang="en-US" sz="9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457200">
                <a:tc>
                  <a:txBody>
                    <a:bodyPr/>
                    <a:lstStyle/>
                    <a:p>
                      <a:pPr algn="l" indent="0" marL="0">
                        <a:buNone/>
                      </a:pPr>
                      <a:r>
                        <a:rPr lang="en-US" sz="1000" dirty="0">
                          <a:solidFill>
                            <a:srgbClr val="222222"/>
                          </a:solidFill>
                          <a:latin typeface="Calibri" pitchFamily="34" charset="0"/>
                          <a:ea typeface="Calibri" pitchFamily="34" charset="-122"/>
                          <a:cs typeface="Calibri" pitchFamily="34" charset="-120"/>
                        </a:rPr>
                        <a:t>Risaralda (Pereira)</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1100" b="1" dirty="0">
                          <a:solidFill>
                            <a:srgbClr val="C00000"/>
                          </a:solidFill>
                          <a:latin typeface="Calibri" pitchFamily="34" charset="0"/>
                          <a:ea typeface="Calibri" pitchFamily="34" charset="-122"/>
                          <a:cs typeface="Calibri" pitchFamily="34" charset="-120"/>
                        </a:rPr>
                        <a:t>66</a:t>
                      </a:r>
                      <a:endParaRPr lang="en-US" sz="11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00" dirty="0">
                          <a:solidFill>
                            <a:srgbClr val="6A6A6A"/>
                          </a:solidFill>
                          <a:latin typeface="Calibri" pitchFamily="34" charset="0"/>
                          <a:ea typeface="Calibri" pitchFamily="34" charset="-122"/>
                          <a:cs typeface="Calibri" pitchFamily="34" charset="-120"/>
                        </a:rPr>
                        <a:t>President, 11 Aug. The department reports around 90</a:t>
                      </a:r>
                      <a:endParaRPr lang="en-US" sz="9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457200">
                <a:tc>
                  <a:txBody>
                    <a:bodyPr/>
                    <a:lstStyle/>
                    <a:p>
                      <a:pPr algn="l" indent="0" marL="0">
                        <a:buNone/>
                      </a:pPr>
                      <a:r>
                        <a:rPr lang="en-US" sz="1000" dirty="0">
                          <a:solidFill>
                            <a:srgbClr val="222222"/>
                          </a:solidFill>
                          <a:latin typeface="Calibri" pitchFamily="34" charset="0"/>
                          <a:ea typeface="Calibri" pitchFamily="34" charset="-122"/>
                          <a:cs typeface="Calibri" pitchFamily="34" charset="-120"/>
                        </a:rPr>
                        <a:t>Chocó (Quibdó)</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1100" b="1" dirty="0">
                          <a:solidFill>
                            <a:srgbClr val="C00000"/>
                          </a:solidFill>
                          <a:latin typeface="Calibri" pitchFamily="34" charset="0"/>
                          <a:ea typeface="Calibri" pitchFamily="34" charset="-122"/>
                          <a:cs typeface="Calibri" pitchFamily="34" charset="-120"/>
                        </a:rPr>
                        <a:t>9</a:t>
                      </a:r>
                      <a:endParaRPr lang="en-US" sz="11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00" dirty="0">
                          <a:solidFill>
                            <a:srgbClr val="6A6A6A"/>
                          </a:solidFill>
                          <a:latin typeface="Calibri" pitchFamily="34" charset="0"/>
                          <a:ea typeface="Calibri" pitchFamily="34" charset="-122"/>
                          <a:cs typeface="Calibri" pitchFamily="34" charset="-120"/>
                        </a:rPr>
                        <a:t>Four children still missing under a collapsed school in Quibdó</a:t>
                      </a:r>
                      <a:endParaRPr lang="en-US" sz="9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457200">
                <a:tc>
                  <a:txBody>
                    <a:bodyPr/>
                    <a:lstStyle/>
                    <a:p>
                      <a:pPr algn="l" indent="0" marL="0">
                        <a:buNone/>
                      </a:pPr>
                      <a:r>
                        <a:rPr lang="en-US" sz="1000" dirty="0">
                          <a:solidFill>
                            <a:srgbClr val="222222"/>
                          </a:solidFill>
                          <a:latin typeface="Calibri" pitchFamily="34" charset="0"/>
                          <a:ea typeface="Calibri" pitchFamily="34" charset="-122"/>
                          <a:cs typeface="Calibri" pitchFamily="34" charset="-120"/>
                        </a:rPr>
                        <a:t>Caldas (Manizales)</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1100" b="1" dirty="0">
                          <a:solidFill>
                            <a:srgbClr val="C00000"/>
                          </a:solidFill>
                          <a:latin typeface="Calibri" pitchFamily="34" charset="0"/>
                          <a:ea typeface="Calibri" pitchFamily="34" charset="-122"/>
                          <a:cs typeface="Calibri" pitchFamily="34" charset="-120"/>
                        </a:rPr>
                        <a:t>5</a:t>
                      </a:r>
                      <a:endParaRPr lang="en-US" sz="11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00" dirty="0">
                          <a:solidFill>
                            <a:srgbClr val="6A6A6A"/>
                          </a:solidFill>
                          <a:latin typeface="Calibri" pitchFamily="34" charset="0"/>
                          <a:ea typeface="Calibri" pitchFamily="34" charset="-122"/>
                          <a:cs typeface="Calibri" pitchFamily="34" charset="-120"/>
                        </a:rPr>
                        <a:t>Reported as 2, then 4, then 5</a:t>
                      </a:r>
                      <a:endParaRPr lang="en-US" sz="9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457200">
                <a:tc>
                  <a:txBody>
                    <a:bodyPr/>
                    <a:lstStyle/>
                    <a:p>
                      <a:pPr algn="l" indent="0" marL="0">
                        <a:buNone/>
                      </a:pPr>
                      <a:r>
                        <a:rPr lang="en-US" sz="1000" dirty="0">
                          <a:solidFill>
                            <a:srgbClr val="222222"/>
                          </a:solidFill>
                          <a:latin typeface="Calibri" pitchFamily="34" charset="0"/>
                          <a:ea typeface="Calibri" pitchFamily="34" charset="-122"/>
                          <a:cs typeface="Calibri" pitchFamily="34" charset="-120"/>
                        </a:rPr>
                        <a:t>Antioquia</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1100" b="1" dirty="0">
                          <a:solidFill>
                            <a:srgbClr val="C00000"/>
                          </a:solidFill>
                          <a:latin typeface="Calibri" pitchFamily="34" charset="0"/>
                          <a:ea typeface="Calibri" pitchFamily="34" charset="-122"/>
                          <a:cs typeface="Calibri" pitchFamily="34" charset="-120"/>
                        </a:rPr>
                        <a:t>1</a:t>
                      </a:r>
                      <a:endParaRPr lang="en-US" sz="11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00" dirty="0">
                          <a:solidFill>
                            <a:srgbClr val="6A6A6A"/>
                          </a:solidFill>
                          <a:latin typeface="Calibri" pitchFamily="34" charset="0"/>
                          <a:ea typeface="Calibri" pitchFamily="34" charset="-122"/>
                          <a:cs typeface="Calibri" pitchFamily="34" charset="-120"/>
                        </a:rPr>
                        <a:t>73-year-old</a:t>
                      </a:r>
                      <a:endParaRPr lang="en-US" sz="9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bl>
          </a:graphicData>
        </a:graphic>
      </p:graphicFrame>
      <p:sp>
        <p:nvSpPr>
          <p:cNvPr id="16" name="Shape 11"/>
          <p:cNvSpPr/>
          <p:nvPr/>
        </p:nvSpPr>
        <p:spPr>
          <a:xfrm>
            <a:off x="365760" y="5431536"/>
            <a:ext cx="11430000" cy="713232"/>
          </a:xfrm>
          <a:prstGeom prst="roundRect">
            <a:avLst>
              <a:gd name="adj" fmla="val 6410"/>
            </a:avLst>
          </a:prstGeom>
          <a:solidFill>
            <a:srgbClr val="FCE9DC"/>
          </a:solidFill>
          <a:ln w="12700">
            <a:solidFill>
              <a:srgbClr val="E8A317"/>
            </a:solidFill>
            <a:prstDash val="solid"/>
          </a:ln>
        </p:spPr>
      </p:sp>
      <p:sp>
        <p:nvSpPr>
          <p:cNvPr id="17" name="Text 12"/>
          <p:cNvSpPr/>
          <p:nvPr/>
        </p:nvSpPr>
        <p:spPr>
          <a:xfrm>
            <a:off x="530352" y="5486400"/>
            <a:ext cx="11100816" cy="603504"/>
          </a:xfrm>
          <a:prstGeom prst="rect">
            <a:avLst/>
          </a:prstGeom>
          <a:noFill/>
          <a:ln/>
        </p:spPr>
        <p:txBody>
          <a:bodyPr wrap="square" lIns="25400" tIns="25400" rIns="25400" bIns="25400" rtlCol="0" anchor="ctr"/>
          <a:lstStyle/>
          <a:p>
            <a:pPr algn="l" indent="0" marL="0">
              <a:buNone/>
            </a:pPr>
            <a:r>
              <a:rPr lang="en-US" sz="1050" b="1" dirty="0">
                <a:solidFill>
                  <a:srgbClr val="9A3B12"/>
                </a:solidFill>
                <a:latin typeface="Calibri" pitchFamily="34" charset="0"/>
                <a:ea typeface="Calibri" pitchFamily="34" charset="-122"/>
                <a:cs typeface="Calibri" pitchFamily="34" charset="-120"/>
              </a:rPr>
              <a:t>Reading the numbers
</a:t>
            </a:r>
            <a:pPr algn="l" indent="0" marL="0">
              <a:buNone/>
            </a:pPr>
            <a:r>
              <a:rPr lang="en-US" sz="950" dirty="0">
                <a:solidFill>
                  <a:srgbClr val="7A2E0E"/>
                </a:solidFill>
                <a:latin typeface="Calibri" pitchFamily="34" charset="0"/>
                <a:ea typeface="Calibri" pitchFamily="34" charset="-122"/>
                <a:cs typeface="Calibri" pitchFamily="34" charset="-120"/>
              </a:rPr>
              <a:t>The chart shows the President's breakdown of 11 August, which totals 181 and puts 97.6% of the deaths in capital cities. UNGRD's own situation report of the same day gives 182. Adding up what the departments and cities announced separately gives 240 - 59 more than the President's figure - because those counts include municipalities outside the capitals and were issued at different hours. The report keeps all three rather than picking one: the official national figure is the one to cite, the departmental sum is the leading indicator of where it is heading.</a:t>
            </a:r>
            <a:endParaRPr lang="en-US" sz="1050" dirty="0"/>
          </a:p>
        </p:txBody>
      </p:sp>
      <p:sp>
        <p:nvSpPr>
          <p:cNvPr id="18" name="Text 13"/>
          <p:cNvSpPr/>
          <p:nvPr/>
        </p:nvSpPr>
        <p:spPr>
          <a:xfrm>
            <a:off x="365760" y="6272784"/>
            <a:ext cx="11430000" cy="219456"/>
          </a:xfrm>
          <a:prstGeom prst="rect">
            <a:avLst/>
          </a:prstGeom>
          <a:noFill/>
          <a:ln/>
        </p:spPr>
        <p:txBody>
          <a:bodyPr wrap="square" lIns="0" tIns="0" rIns="0" bIns="0" rtlCol="0" anchor="ctr"/>
          <a:lstStyle/>
          <a:p>
            <a:pPr algn="l" indent="0" marL="0">
              <a:buNone/>
            </a:pPr>
            <a:r>
              <a:rPr lang="en-US" sz="850" b="1" dirty="0">
                <a:solidFill>
                  <a:srgbClr val="6A6A6A"/>
                </a:solidFill>
                <a:latin typeface="Calibri" pitchFamily="34" charset="0"/>
                <a:ea typeface="Calibri" pitchFamily="34" charset="-122"/>
                <a:cs typeface="Calibri" pitchFamily="34" charset="-120"/>
              </a:rPr>
              <a:t>Sources: </a:t>
            </a:r>
            <a:pPr algn="l" indent="0" marL="0">
              <a:buNone/>
            </a:pPr>
            <a:r>
              <a:rPr lang="en-US" sz="850" u="sng" dirty="0">
                <a:solidFill>
                  <a:srgbClr val="0563C1"/>
                </a:solidFill>
                <a:latin typeface="Calibri" pitchFamily="34" charset="0"/>
                <a:ea typeface="Calibri" pitchFamily="34" charset="-122"/>
                <a:cs typeface="Calibri" pitchFamily="34" charset="-120"/>
                <a:hlinkClick r:id="rId3" invalidUrl="" action="" tgtFrame="" tooltip="" history="1" highlightClick="0" endSnd="0">
                  <a:extLst>
                    <a:ext uri="{A12FA001-AC4F-418D-AE19-62706E023703}">
                      <ahyp:hlinkClr xmlns:ahyp="http://schemas.microsoft.com/office/drawing/2018/hyperlinkcolor" val="tx"/>
                    </a:ext>
                  </a:extLst>
                </a:hlinkClick>
              </a:rPr>
              <a:t>Noticias Caracol — UNGRD balance: 182 deaths, 2,542 injured, 189 missing</a:t>
            </a:r>
            <a:pPr algn="l" indent="0" marL="0">
              <a:buNone/>
            </a:pPr>
            <a:r>
              <a:rPr lang="en-US" sz="850" dirty="0">
                <a:solidFill>
                  <a:srgbClr val="6A6A6A"/>
                </a:solidFill>
                <a:latin typeface="Calibri" pitchFamily="34" charset="0"/>
                <a:ea typeface="Calibri" pitchFamily="34" charset="-122"/>
                <a:cs typeface="Calibri" pitchFamily="34" charset="-120"/>
              </a:rPr>
              <a:t>   ·   </a:t>
            </a:r>
            <a:pPr algn="l" indent="0" marL="0">
              <a:buNone/>
            </a:pPr>
            <a:r>
              <a:rPr lang="en-US" sz="850" u="sng" dirty="0">
                <a:solidFill>
                  <a:srgbClr val="0563C1"/>
                </a:solidFill>
                <a:latin typeface="Calibri" pitchFamily="34" charset="0"/>
                <a:ea typeface="Calibri" pitchFamily="34" charset="-122"/>
                <a:cs typeface="Calibri" pitchFamily="34" charset="-120"/>
                <a:hlinkClick r:id="rId4" invalidUrl="" action="" tgtFrame="" tooltip="" history="1" highlightClick="0" endSnd="0">
                  <a:extLst>
                    <a:ext uri="{A12FA001-AC4F-418D-AE19-62706E023703}">
                      <ahyp:hlinkClr xmlns:ahyp="http://schemas.microsoft.com/office/drawing/2018/hyperlinkcolor" val="tx"/>
                    </a:ext>
                  </a:extLst>
                </a:hlinkClick>
              </a:rPr>
              <a:t>RPP — the President's 181 is 59 fewer than the regional data</a:t>
            </a:r>
            <a:pPr algn="l" indent="0" marL="0">
              <a:buNone/>
            </a:pPr>
            <a:r>
              <a:rPr lang="en-US" sz="850" dirty="0">
                <a:solidFill>
                  <a:srgbClr val="6A6A6A"/>
                </a:solidFill>
                <a:latin typeface="Calibri" pitchFamily="34" charset="0"/>
                <a:ea typeface="Calibri" pitchFamily="34" charset="-122"/>
                <a:cs typeface="Calibri" pitchFamily="34" charset="-120"/>
              </a:rPr>
              <a:t>   ·   </a:t>
            </a:r>
            <a:pPr algn="l" indent="0" marL="0">
              <a:buNone/>
            </a:pPr>
            <a:r>
              <a:rPr lang="en-US" sz="850" u="sng" dirty="0">
                <a:solidFill>
                  <a:srgbClr val="0563C1"/>
                </a:solidFill>
                <a:latin typeface="Calibri" pitchFamily="34" charset="0"/>
                <a:ea typeface="Calibri" pitchFamily="34" charset="-122"/>
                <a:cs typeface="Calibri" pitchFamily="34" charset="-120"/>
                <a:hlinkClick r:id="rId5" invalidUrl="" action="" tgtFrame="" tooltip="" history="1" highlightClick="0" endSnd="0">
                  <a:extLst>
                    <a:ext uri="{A12FA001-AC4F-418D-AE19-62706E023703}">
                      <ahyp:hlinkClr xmlns:ahyp="http://schemas.microsoft.com/office/drawing/2018/hyperlinkcolor" val="tx"/>
                    </a:ext>
                  </a:extLst>
                </a:hlinkClick>
              </a:rPr>
              <a:t>El Tiempo — live updates, 11 August (Cali toll rises to 85)</a:t>
            </a:r>
            <a:pPr algn="l" indent="0" marL="0">
              <a:buNone/>
            </a:pPr>
            <a:r>
              <a:rPr lang="en-US" sz="850" dirty="0">
                <a:solidFill>
                  <a:srgbClr val="6A6A6A"/>
                </a:solidFill>
                <a:latin typeface="Calibri" pitchFamily="34" charset="0"/>
                <a:ea typeface="Calibri" pitchFamily="34" charset="-122"/>
                <a:cs typeface="Calibri" pitchFamily="34" charset="-120"/>
              </a:rPr>
              <a:t>   ·   </a:t>
            </a:r>
            <a:pPr algn="l" indent="0" marL="0">
              <a:buNone/>
            </a:pPr>
            <a:r>
              <a:rPr lang="en-US" sz="850" u="sng" dirty="0">
                <a:solidFill>
                  <a:srgbClr val="0563C1"/>
                </a:solidFill>
                <a:latin typeface="Calibri" pitchFamily="34" charset="0"/>
                <a:ea typeface="Calibri" pitchFamily="34" charset="-122"/>
                <a:cs typeface="Calibri" pitchFamily="34" charset="-120"/>
                <a:hlinkClick r:id="rId6" invalidUrl="" action="" tgtFrame="" tooltip="" history="1" highlightClick="0" endSnd="0">
                  <a:extLst>
                    <a:ext uri="{A12FA001-AC4F-418D-AE19-62706E023703}">
                      <ahyp:hlinkClr xmlns:ahyp="http://schemas.microsoft.com/office/drawing/2018/hyperlinkcolor" val="tx"/>
                    </a:ext>
                  </a:extLst>
                </a:hlinkClick>
              </a:rPr>
              <a:t>Asocapitales balance — 132 deaths, 570+ injured, by city</a:t>
            </a:r>
            <a:endParaRPr lang="en-US" sz="850" dirty="0"/>
          </a:p>
        </p:txBody>
      </p:sp>
      <p:sp>
        <p:nvSpPr>
          <p:cNvPr id="19" name="Shape 14"/>
          <p:cNvSpPr/>
          <p:nvPr/>
        </p:nvSpPr>
        <p:spPr>
          <a:xfrm>
            <a:off x="10268712" y="6510528"/>
            <a:ext cx="1554480" cy="274320"/>
          </a:xfrm>
          <a:prstGeom prst="rect">
            <a:avLst/>
          </a:prstGeom>
          <a:solidFill>
            <a:srgbClr val="E8A317"/>
          </a:solidFill>
          <a:ln w="12700">
            <a:solidFill>
              <a:srgbClr val="E8A317"/>
            </a:solidFill>
            <a:prstDash val="solid"/>
          </a:ln>
        </p:spPr>
      </p:sp>
      <p:sp>
        <p:nvSpPr>
          <p:cNvPr id="20" name="Text 15"/>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950" b="1" dirty="0">
                <a:solidFill>
                  <a:srgbClr val="000000"/>
                </a:solidFill>
                <a:latin typeface="Calibri" pitchFamily="34" charset="0"/>
                <a:ea typeface="Calibri" pitchFamily="34" charset="-122"/>
                <a:cs typeface="Calibri" pitchFamily="34" charset="-120"/>
              </a:rPr>
              <a:t>ADRC  12/08/2026</a:t>
            </a:r>
            <a:endParaRPr lang="en-US" sz="950" dirty="0"/>
          </a:p>
        </p:txBody>
      </p:sp>
      <p:sp>
        <p:nvSpPr>
          <p:cNvPr id="21" name="Text 16"/>
          <p:cNvSpPr/>
          <p:nvPr/>
        </p:nvSpPr>
        <p:spPr>
          <a:xfrm>
            <a:off x="365760" y="6547104"/>
            <a:ext cx="548640" cy="219456"/>
          </a:xfrm>
          <a:prstGeom prst="rect">
            <a:avLst/>
          </a:prstGeom>
          <a:noFill/>
          <a:ln/>
        </p:spPr>
        <p:txBody>
          <a:bodyPr wrap="square" lIns="0" tIns="0" rIns="0" bIns="0" rtlCol="0" anchor="ctr"/>
          <a:lstStyle/>
          <a:p>
            <a:pPr algn="l" indent="0" marL="0">
              <a:buNone/>
            </a:pPr>
            <a:r>
              <a:rPr lang="en-US" sz="900" dirty="0">
                <a:solidFill>
                  <a:srgbClr val="6A6A6A"/>
                </a:solidFill>
                <a:latin typeface="Calibri" pitchFamily="34" charset="0"/>
                <a:ea typeface="Calibri" pitchFamily="34" charset="-122"/>
                <a:cs typeface="Calibri" pitchFamily="34" charset="-120"/>
              </a:rPr>
              <a:t>11</a:t>
            </a:r>
            <a:endParaRPr lang="en-US" sz="9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92608"/>
            <a:ext cx="10332720" cy="566928"/>
          </a:xfrm>
          <a:prstGeom prst="rect">
            <a:avLst/>
          </a:prstGeom>
          <a:noFill/>
          <a:ln/>
        </p:spPr>
        <p:txBody>
          <a:bodyPr wrap="none" lIns="0" tIns="0" rIns="0" bIns="0" rtlCol="0" anchor="ctr">
            <a:normAutofit/>
          </a:bodyPr>
          <a:lstStyle/>
          <a:p>
            <a:pPr algn="l" indent="0" marL="0">
              <a:buNone/>
            </a:pPr>
            <a:r>
              <a:rPr lang="en-US" sz="2100" b="1" dirty="0">
                <a:solidFill>
                  <a:srgbClr val="1F3864"/>
                </a:solidFill>
                <a:latin typeface="Cambria" pitchFamily="34" charset="0"/>
                <a:ea typeface="Cambria" pitchFamily="34" charset="-122"/>
                <a:cs typeface="Cambria" pitchFamily="34" charset="-120"/>
              </a:rPr>
              <a:t>Damage: Buildings, Services &amp; Lifelines (1/2)</a:t>
            </a:r>
            <a:endParaRPr lang="en-US" sz="2100" dirty="0"/>
          </a:p>
        </p:txBody>
      </p:sp>
      <p:pic>
        <p:nvPicPr>
          <p:cNvPr id="3" name="Image 0" descr="/home/user/whatsmap/reports/colombia_eq_20260810/images/adrc_logo.png">    </p:cNvPr>
          <p:cNvPicPr>
            <a:picLocks noChangeAspect="1"/>
          </p:cNvPicPr>
          <p:nvPr/>
        </p:nvPicPr>
        <p:blipFill>
          <a:blip r:embed="rId1"/>
          <a:stretch>
            <a:fillRect/>
          </a:stretch>
        </p:blipFill>
        <p:spPr>
          <a:xfrm>
            <a:off x="10945368" y="73152"/>
            <a:ext cx="877824" cy="877824"/>
          </a:xfrm>
          <a:prstGeom prst="rect">
            <a:avLst/>
          </a:prstGeom>
        </p:spPr>
      </p:pic>
      <p:sp>
        <p:nvSpPr>
          <p:cNvPr id="4" name="Text 1"/>
          <p:cNvSpPr/>
          <p:nvPr/>
        </p:nvSpPr>
        <p:spPr>
          <a:xfrm>
            <a:off x="365760" y="896112"/>
            <a:ext cx="11430000" cy="274320"/>
          </a:xfrm>
          <a:prstGeom prst="rect">
            <a:avLst/>
          </a:prstGeom>
          <a:noFill/>
          <a:ln/>
        </p:spPr>
        <p:txBody>
          <a:bodyPr wrap="square" lIns="0" tIns="0" rIns="0" bIns="0" rtlCol="0" anchor="t"/>
          <a:lstStyle/>
          <a:p>
            <a:pPr indent="0" marL="0">
              <a:buNone/>
            </a:pPr>
            <a:r>
              <a:rPr lang="en-US" sz="950" i="1" dirty="0">
                <a:solidFill>
                  <a:srgbClr val="6A6A6A"/>
                </a:solidFill>
                <a:latin typeface="Calibri" pitchFamily="34" charset="0"/>
                <a:ea typeface="Calibri" pitchFamily="34" charset="-122"/>
                <a:cs typeface="Calibri" pitchFamily="34" charset="-120"/>
              </a:rPr>
              <a:t>All figures preliminary. Official (government) figures are primary; media-sourced items are labelled.</a:t>
            </a:r>
            <a:endParaRPr lang="en-US" sz="950" dirty="0"/>
          </a:p>
        </p:txBody>
      </p:sp>
      <p:graphicFrame>
        <p:nvGraphicFramePr>
          <p:cNvPr id="13" name="Table 0"/>
          <p:cNvGraphicFramePr>
            <a:graphicFrameLocks noGrp="1"/>
          </p:cNvGraphicFramePr>
          <p:nvPr>
            <p:extLst>
              <p:ext uri="{D42A27DB-BD31-4B8C-83A1-F6EECF244321}">
                <p14:modId xmlns:p14="http://schemas.microsoft.com/office/powerpoint/2010/main" val="1579011935"/>
              </p:ext>
            </p:extLst>
          </p:nvPr>
        </p:nvGraphicFramePr>
        <p:xfrm>
          <a:off x="365760" y="1225296"/>
          <a:ext cx="11430000" cy="914400"/>
        </p:xfrm>
        <a:graphic>
          <a:graphicData uri="http://schemas.openxmlformats.org/drawingml/2006/table">
            <a:tbl>
              <a:tblPr/>
              <a:tblGrid>
                <a:gridCol w="1920240"/>
                <a:gridCol w="6035040"/>
                <a:gridCol w="2468880"/>
                <a:gridCol w="1005840"/>
              </a:tblGrid>
              <a:tr h="502920">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Item</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Reported</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Source</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Tier</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r>
              <a:tr h="502920">
                <a:tc>
                  <a:txBody>
                    <a:bodyPr/>
                    <a:lstStyle/>
                    <a:p>
                      <a:pPr algn="l" indent="0" marL="0">
                        <a:buNone/>
                      </a:pPr>
                      <a:r>
                        <a:rPr lang="en-US" sz="1000" b="1" dirty="0">
                          <a:solidFill>
                            <a:srgbClr val="1F3864"/>
                          </a:solidFill>
                          <a:latin typeface="Calibri" pitchFamily="34" charset="0"/>
                          <a:ea typeface="Calibri" pitchFamily="34" charset="-122"/>
                          <a:cs typeface="Calibri" pitchFamily="34" charset="-120"/>
                        </a:rPr>
                        <a:t>Deaths</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182 (UNGRD situation report, 11 Aug) / 181 (President, of which 97.6% in capital cities) / 240 when the departmental and city announcements are added up. The Government's 13:00 COT balance on 10 Aug was 111.</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dirty="0">
                          <a:solidFill>
                            <a:srgbClr val="6A6A6A"/>
                          </a:solidFill>
                          <a:latin typeface="Calibri" pitchFamily="34" charset="0"/>
                          <a:ea typeface="Calibri" pitchFamily="34" charset="-122"/>
                          <a:cs typeface="Calibri" pitchFamily="34" charset="-120"/>
                        </a:rPr>
                        <a:t>UNGRD; Presidency; departmental and municipal governments via media</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1E7A34"/>
                          </a:solidFill>
                          <a:latin typeface="Calibri" pitchFamily="34" charset="0"/>
                          <a:ea typeface="Calibri" pitchFamily="34" charset="-122"/>
                          <a:cs typeface="Calibri" pitchFamily="34" charset="-120"/>
                        </a:rPr>
                        <a:t>Official</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502920">
                <a:tc>
                  <a:txBody>
                    <a:bodyPr/>
                    <a:lstStyle/>
                    <a:p>
                      <a:pPr algn="l" indent="0" marL="0">
                        <a:buNone/>
                      </a:pPr>
                      <a:r>
                        <a:rPr lang="en-US" sz="1000" b="1" dirty="0">
                          <a:solidFill>
                            <a:srgbClr val="1F3864"/>
                          </a:solidFill>
                          <a:latin typeface="Calibri" pitchFamily="34" charset="0"/>
                          <a:ea typeface="Calibri" pitchFamily="34" charset="-122"/>
                          <a:cs typeface="Calibri" pitchFamily="34" charset="-120"/>
                        </a:rPr>
                        <a:t>Injured</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2,542 (UNGRD, 11 Aug), up from 700 earlier the same day and 87 in the 10 Aug balance. A partial regional and Asocapitales tally gives 1,310.</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50" dirty="0">
                          <a:solidFill>
                            <a:srgbClr val="6A6A6A"/>
                          </a:solidFill>
                          <a:latin typeface="Calibri" pitchFamily="34" charset="0"/>
                          <a:ea typeface="Calibri" pitchFamily="34" charset="-122"/>
                          <a:cs typeface="Calibri" pitchFamily="34" charset="-120"/>
                        </a:rPr>
                        <a:t>UNGRD; Presidency; Asocapitales</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1E7A34"/>
                          </a:solidFill>
                          <a:latin typeface="Calibri" pitchFamily="34" charset="0"/>
                          <a:ea typeface="Calibri" pitchFamily="34" charset="-122"/>
                          <a:cs typeface="Calibri" pitchFamily="34" charset="-120"/>
                        </a:rPr>
                        <a:t>Official</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502920">
                <a:tc>
                  <a:txBody>
                    <a:bodyPr/>
                    <a:lstStyle/>
                    <a:p>
                      <a:pPr algn="l" indent="0" marL="0">
                        <a:buNone/>
                      </a:pPr>
                      <a:r>
                        <a:rPr lang="en-US" sz="1000" b="1" dirty="0">
                          <a:solidFill>
                            <a:srgbClr val="1F3864"/>
                          </a:solidFill>
                          <a:latin typeface="Calibri" pitchFamily="34" charset="0"/>
                          <a:ea typeface="Calibri" pitchFamily="34" charset="-122"/>
                          <a:cs typeface="Calibri" pitchFamily="34" charset="-120"/>
                        </a:rPr>
                        <a:t>Missing / trapped</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189 (UNGRD, 11 Aug). Search continues in Cali, Pereira, Manizales and Quibdó, where four children are missing under a collapsed school.</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dirty="0">
                          <a:solidFill>
                            <a:srgbClr val="6A6A6A"/>
                          </a:solidFill>
                          <a:latin typeface="Calibri" pitchFamily="34" charset="0"/>
                          <a:ea typeface="Calibri" pitchFamily="34" charset="-122"/>
                          <a:cs typeface="Calibri" pitchFamily="34" charset="-120"/>
                        </a:rPr>
                        <a:t>UNGRD, 11 Aug</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1E7A34"/>
                          </a:solidFill>
                          <a:latin typeface="Calibri" pitchFamily="34" charset="0"/>
                          <a:ea typeface="Calibri" pitchFamily="34" charset="-122"/>
                          <a:cs typeface="Calibri" pitchFamily="34" charset="-120"/>
                        </a:rPr>
                        <a:t>Official</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502920">
                <a:tc>
                  <a:txBody>
                    <a:bodyPr/>
                    <a:lstStyle/>
                    <a:p>
                      <a:pPr algn="l" indent="0" marL="0">
                        <a:buNone/>
                      </a:pPr>
                      <a:r>
                        <a:rPr lang="en-US" sz="1000" b="1" dirty="0">
                          <a:solidFill>
                            <a:srgbClr val="1F3864"/>
                          </a:solidFill>
                          <a:latin typeface="Calibri" pitchFamily="34" charset="0"/>
                          <a:ea typeface="Calibri" pitchFamily="34" charset="-122"/>
                          <a:cs typeface="Calibri" pitchFamily="34" charset="-120"/>
                        </a:rPr>
                        <a:t>Municipalities affected</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More than 20 across Chocó, Risaralda, Caldas, Valle del Cauca, Quindío and Antioquia</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50" dirty="0">
                          <a:solidFill>
                            <a:srgbClr val="6A6A6A"/>
                          </a:solidFill>
                          <a:latin typeface="Calibri" pitchFamily="34" charset="0"/>
                          <a:ea typeface="Calibri" pitchFamily="34" charset="-122"/>
                          <a:cs typeface="Calibri" pitchFamily="34" charset="-120"/>
                        </a:rPr>
                        <a:t>Media, 10 Aug</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B8860B"/>
                          </a:solidFill>
                          <a:latin typeface="Calibri" pitchFamily="34" charset="0"/>
                          <a:ea typeface="Calibri" pitchFamily="34" charset="-122"/>
                          <a:cs typeface="Calibri" pitchFamily="34" charset="-120"/>
                        </a:rPr>
                        <a:t>Media</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502920">
                <a:tc>
                  <a:txBody>
                    <a:bodyPr/>
                    <a:lstStyle/>
                    <a:p>
                      <a:pPr algn="l" indent="0" marL="0">
                        <a:buNone/>
                      </a:pPr>
                      <a:r>
                        <a:rPr lang="en-US" sz="1000" b="1" dirty="0">
                          <a:solidFill>
                            <a:srgbClr val="1F3864"/>
                          </a:solidFill>
                          <a:latin typeface="Calibri" pitchFamily="34" charset="0"/>
                          <a:ea typeface="Calibri" pitchFamily="34" charset="-122"/>
                          <a:cs typeface="Calibri" pitchFamily="34" charset="-120"/>
                        </a:rPr>
                        <a:t>Homes damaged or destroyed</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15,568 homes affected: 13,067 damaged and 2,501 destroyed (UNGRD, 11 Aug), up from the 1,612 counted on 10 Aug</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dirty="0">
                          <a:solidFill>
                            <a:srgbClr val="6A6A6A"/>
                          </a:solidFill>
                          <a:latin typeface="Calibri" pitchFamily="34" charset="0"/>
                          <a:ea typeface="Calibri" pitchFamily="34" charset="-122"/>
                          <a:cs typeface="Calibri" pitchFamily="34" charset="-120"/>
                        </a:rPr>
                        <a:t>UNGRD, 11 Aug</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1E7A34"/>
                          </a:solidFill>
                          <a:latin typeface="Calibri" pitchFamily="34" charset="0"/>
                          <a:ea typeface="Calibri" pitchFamily="34" charset="-122"/>
                          <a:cs typeface="Calibri" pitchFamily="34" charset="-120"/>
                        </a:rPr>
                        <a:t>Official</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502920">
                <a:tc>
                  <a:txBody>
                    <a:bodyPr/>
                    <a:lstStyle/>
                    <a:p>
                      <a:pPr algn="l" indent="0" marL="0">
                        <a:buNone/>
                      </a:pPr>
                      <a:r>
                        <a:rPr lang="en-US" sz="1000" b="1" dirty="0">
                          <a:solidFill>
                            <a:srgbClr val="1F3864"/>
                          </a:solidFill>
                          <a:latin typeface="Calibri" pitchFamily="34" charset="0"/>
                          <a:ea typeface="Calibri" pitchFamily="34" charset="-122"/>
                          <a:cs typeface="Calibri" pitchFamily="34" charset="-120"/>
                        </a:rPr>
                        <a:t>of which damaged</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13,067</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50" dirty="0">
                          <a:solidFill>
                            <a:srgbClr val="6A6A6A"/>
                          </a:solidFill>
                          <a:latin typeface="Calibri" pitchFamily="34" charset="0"/>
                          <a:ea typeface="Calibri" pitchFamily="34" charset="-122"/>
                          <a:cs typeface="Calibri" pitchFamily="34" charset="-120"/>
                        </a:rPr>
                        <a:t>UNGRD, 11 Aug</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1E7A34"/>
                          </a:solidFill>
                          <a:latin typeface="Calibri" pitchFamily="34" charset="0"/>
                          <a:ea typeface="Calibri" pitchFamily="34" charset="-122"/>
                          <a:cs typeface="Calibri" pitchFamily="34" charset="-120"/>
                        </a:rPr>
                        <a:t>Official</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502920">
                <a:tc>
                  <a:txBody>
                    <a:bodyPr/>
                    <a:lstStyle/>
                    <a:p>
                      <a:pPr algn="l" indent="0" marL="0">
                        <a:buNone/>
                      </a:pPr>
                      <a:r>
                        <a:rPr lang="en-US" sz="1000" b="1" dirty="0">
                          <a:solidFill>
                            <a:srgbClr val="1F3864"/>
                          </a:solidFill>
                          <a:latin typeface="Calibri" pitchFamily="34" charset="0"/>
                          <a:ea typeface="Calibri" pitchFamily="34" charset="-122"/>
                          <a:cs typeface="Calibri" pitchFamily="34" charset="-120"/>
                        </a:rPr>
                        <a:t>of which destroyed</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2,501</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dirty="0">
                          <a:solidFill>
                            <a:srgbClr val="6A6A6A"/>
                          </a:solidFill>
                          <a:latin typeface="Calibri" pitchFamily="34" charset="0"/>
                          <a:ea typeface="Calibri" pitchFamily="34" charset="-122"/>
                          <a:cs typeface="Calibri" pitchFamily="34" charset="-120"/>
                        </a:rPr>
                        <a:t>UNGRD, 11 Aug</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1E7A34"/>
                          </a:solidFill>
                          <a:latin typeface="Calibri" pitchFamily="34" charset="0"/>
                          <a:ea typeface="Calibri" pitchFamily="34" charset="-122"/>
                          <a:cs typeface="Calibri" pitchFamily="34" charset="-120"/>
                        </a:rPr>
                        <a:t>Official</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502920">
                <a:tc>
                  <a:txBody>
                    <a:bodyPr/>
                    <a:lstStyle/>
                    <a:p>
                      <a:pPr algn="l" indent="0" marL="0">
                        <a:buNone/>
                      </a:pPr>
                      <a:r>
                        <a:rPr lang="en-US" sz="1000" b="1" dirty="0">
                          <a:solidFill>
                            <a:srgbClr val="1F3864"/>
                          </a:solidFill>
                          <a:latin typeface="Calibri" pitchFamily="34" charset="0"/>
                          <a:ea typeface="Calibri" pitchFamily="34" charset="-122"/>
                          <a:cs typeface="Calibri" pitchFamily="34" charset="-120"/>
                        </a:rPr>
                        <a:t>Buildings collapsed</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More than 80 nationally (11 Aug), up from 61 on 10 Aug; Cali 25-30 at 12 critical points, Manizales 17 collapsed + 19 partial</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50" dirty="0">
                          <a:solidFill>
                            <a:srgbClr val="6A6A6A"/>
                          </a:solidFill>
                          <a:latin typeface="Calibri" pitchFamily="34" charset="0"/>
                          <a:ea typeface="Calibri" pitchFamily="34" charset="-122"/>
                          <a:cs typeface="Calibri" pitchFamily="34" charset="-120"/>
                        </a:rPr>
                        <a:t>Media, 11 Aug; UNGRD; mayors of Cali and Manizales</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1E7A34"/>
                          </a:solidFill>
                          <a:latin typeface="Calibri" pitchFamily="34" charset="0"/>
                          <a:ea typeface="Calibri" pitchFamily="34" charset="-122"/>
                          <a:cs typeface="Calibri" pitchFamily="34" charset="-120"/>
                        </a:rPr>
                        <a:t>Official</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bl>
          </a:graphicData>
        </a:graphic>
      </p:graphicFrame>
      <p:sp>
        <p:nvSpPr>
          <p:cNvPr id="6" name="Text 2"/>
          <p:cNvSpPr/>
          <p:nvPr/>
        </p:nvSpPr>
        <p:spPr>
          <a:xfrm>
            <a:off x="365760" y="6272784"/>
            <a:ext cx="11430000" cy="219456"/>
          </a:xfrm>
          <a:prstGeom prst="rect">
            <a:avLst/>
          </a:prstGeom>
          <a:noFill/>
          <a:ln/>
        </p:spPr>
        <p:txBody>
          <a:bodyPr wrap="square" lIns="0" tIns="0" rIns="0" bIns="0" rtlCol="0" anchor="ctr"/>
          <a:lstStyle/>
          <a:p>
            <a:pPr algn="l" indent="0" marL="0">
              <a:buNone/>
            </a:pPr>
            <a:r>
              <a:rPr lang="en-US" sz="850" b="1" dirty="0">
                <a:solidFill>
                  <a:srgbClr val="6A6A6A"/>
                </a:solidFill>
                <a:latin typeface="Calibri" pitchFamily="34" charset="0"/>
                <a:ea typeface="Calibri" pitchFamily="34" charset="-122"/>
                <a:cs typeface="Calibri" pitchFamily="34" charset="-120"/>
              </a:rPr>
              <a:t>Sources: </a:t>
            </a:r>
            <a:pPr algn="l" indent="0" marL="0">
              <a:buNone/>
            </a:pPr>
            <a:r>
              <a:rPr lang="en-US" sz="850" u="sng" dirty="0">
                <a:solidFill>
                  <a:srgbClr val="0563C1"/>
                </a:solidFill>
                <a:latin typeface="Calibri" pitchFamily="34" charset="0"/>
                <a:ea typeface="Calibri" pitchFamily="34" charset="-122"/>
                <a:cs typeface="Calibri" pitchFamily="34" charset="-120"/>
                <a:hlinkClick r:id="rId2" invalidUrl="" action="" tgtFrame="" tooltip="" history="1" highlightClick="0" endSnd="0">
                  <a:extLst>
                    <a:ext uri="{A12FA001-AC4F-418D-AE19-62706E023703}">
                      <ahyp:hlinkClr xmlns:ahyp="http://schemas.microsoft.com/office/drawing/2018/hyperlinkcolor" val="tx"/>
                    </a:ext>
                  </a:extLst>
                </a:hlinkClick>
              </a:rPr>
              <a:t>UNGRD - National Unit for Disaster Risk Management</a:t>
            </a:r>
            <a:pPr algn="l" indent="0" marL="0">
              <a:buNone/>
            </a:pPr>
            <a:r>
              <a:rPr lang="en-US" sz="850" dirty="0">
                <a:solidFill>
                  <a:srgbClr val="6A6A6A"/>
                </a:solidFill>
                <a:latin typeface="Calibri" pitchFamily="34" charset="0"/>
                <a:ea typeface="Calibri" pitchFamily="34" charset="-122"/>
                <a:cs typeface="Calibri" pitchFamily="34" charset="-120"/>
              </a:rPr>
              <a:t>   ·   </a:t>
            </a:r>
            <a:pPr algn="l" indent="0" marL="0">
              <a:buNone/>
            </a:pPr>
            <a:r>
              <a:rPr lang="en-US" sz="850" u="sng" dirty="0">
                <a:solidFill>
                  <a:srgbClr val="0563C1"/>
                </a:solidFill>
                <a:latin typeface="Calibri" pitchFamily="34" charset="0"/>
                <a:ea typeface="Calibri" pitchFamily="34" charset="-122"/>
                <a:cs typeface="Calibri" pitchFamily="34" charset="-120"/>
                <a:hlinkClick r:id="rId3" invalidUrl="" action="" tgtFrame="" tooltip="" history="1" highlightClick="0" endSnd="0">
                  <a:extLst>
                    <a:ext uri="{A12FA001-AC4F-418D-AE19-62706E023703}">
                      <ahyp:hlinkClr xmlns:ahyp="http://schemas.microsoft.com/office/drawing/2018/hyperlinkcolor" val="tx"/>
                    </a:ext>
                  </a:extLst>
                </a:hlinkClick>
              </a:rPr>
              <a:t>Colombia One - First official assessment: widespread structural damage</a:t>
            </a:r>
            <a:pPr algn="l" indent="0" marL="0">
              <a:buNone/>
            </a:pPr>
            <a:r>
              <a:rPr lang="en-US" sz="850" dirty="0">
                <a:solidFill>
                  <a:srgbClr val="6A6A6A"/>
                </a:solidFill>
                <a:latin typeface="Calibri" pitchFamily="34" charset="0"/>
                <a:ea typeface="Calibri" pitchFamily="34" charset="-122"/>
                <a:cs typeface="Calibri" pitchFamily="34" charset="-120"/>
              </a:rPr>
              <a:t>   ·   </a:t>
            </a:r>
            <a:pPr algn="l" indent="0" marL="0">
              <a:buNone/>
            </a:pPr>
            <a:r>
              <a:rPr lang="en-US" sz="850" u="sng" dirty="0">
                <a:solidFill>
                  <a:srgbClr val="0563C1"/>
                </a:solidFill>
                <a:latin typeface="Calibri" pitchFamily="34" charset="0"/>
                <a:ea typeface="Calibri" pitchFamily="34" charset="-122"/>
                <a:cs typeface="Calibri" pitchFamily="34" charset="-120"/>
                <a:hlinkClick r:id="rId4" invalidUrl="" action="" tgtFrame="" tooltip="" history="1" highlightClick="0" endSnd="0">
                  <a:extLst>
                    <a:ext uri="{A12FA001-AC4F-418D-AE19-62706E023703}">
                      <ahyp:hlinkClr xmlns:ahyp="http://schemas.microsoft.com/office/drawing/2018/hyperlinkcolor" val="tx"/>
                    </a:ext>
                  </a:extLst>
                </a:hlinkClick>
              </a:rPr>
              <a:t>CNN — live updates: death toll rises to 132</a:t>
            </a:r>
            <a:endParaRPr lang="en-US" sz="850" dirty="0"/>
          </a:p>
        </p:txBody>
      </p:sp>
      <p:sp>
        <p:nvSpPr>
          <p:cNvPr id="7" name="Shape 3"/>
          <p:cNvSpPr/>
          <p:nvPr/>
        </p:nvSpPr>
        <p:spPr>
          <a:xfrm>
            <a:off x="10268712" y="6510528"/>
            <a:ext cx="1554480" cy="274320"/>
          </a:xfrm>
          <a:prstGeom prst="rect">
            <a:avLst/>
          </a:prstGeom>
          <a:solidFill>
            <a:srgbClr val="E8A317"/>
          </a:solidFill>
          <a:ln w="12700">
            <a:solidFill>
              <a:srgbClr val="E8A317"/>
            </a:solidFill>
            <a:prstDash val="solid"/>
          </a:ln>
        </p:spPr>
      </p:sp>
      <p:sp>
        <p:nvSpPr>
          <p:cNvPr id="8" name="Text 4"/>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950" b="1" dirty="0">
                <a:solidFill>
                  <a:srgbClr val="000000"/>
                </a:solidFill>
                <a:latin typeface="Calibri" pitchFamily="34" charset="0"/>
                <a:ea typeface="Calibri" pitchFamily="34" charset="-122"/>
                <a:cs typeface="Calibri" pitchFamily="34" charset="-120"/>
              </a:rPr>
              <a:t>ADRC  12/08/2026</a:t>
            </a:r>
            <a:endParaRPr lang="en-US" sz="950" dirty="0"/>
          </a:p>
        </p:txBody>
      </p:sp>
      <p:sp>
        <p:nvSpPr>
          <p:cNvPr id="9" name="Text 5"/>
          <p:cNvSpPr/>
          <p:nvPr/>
        </p:nvSpPr>
        <p:spPr>
          <a:xfrm>
            <a:off x="365760" y="6547104"/>
            <a:ext cx="548640" cy="219456"/>
          </a:xfrm>
          <a:prstGeom prst="rect">
            <a:avLst/>
          </a:prstGeom>
          <a:noFill/>
          <a:ln/>
        </p:spPr>
        <p:txBody>
          <a:bodyPr wrap="square" lIns="0" tIns="0" rIns="0" bIns="0" rtlCol="0" anchor="ctr"/>
          <a:lstStyle/>
          <a:p>
            <a:pPr algn="l" indent="0" marL="0">
              <a:buNone/>
            </a:pPr>
            <a:r>
              <a:rPr lang="en-US" sz="900" dirty="0">
                <a:solidFill>
                  <a:srgbClr val="6A6A6A"/>
                </a:solidFill>
                <a:latin typeface="Calibri" pitchFamily="34" charset="0"/>
                <a:ea typeface="Calibri" pitchFamily="34" charset="-122"/>
                <a:cs typeface="Calibri" pitchFamily="34" charset="-120"/>
              </a:rPr>
              <a:t>12</a:t>
            </a:r>
            <a:endParaRPr lang="en-US" sz="9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92608"/>
            <a:ext cx="10332720" cy="566928"/>
          </a:xfrm>
          <a:prstGeom prst="rect">
            <a:avLst/>
          </a:prstGeom>
          <a:noFill/>
          <a:ln/>
        </p:spPr>
        <p:txBody>
          <a:bodyPr wrap="none" lIns="0" tIns="0" rIns="0" bIns="0" rtlCol="0" anchor="ctr">
            <a:normAutofit/>
          </a:bodyPr>
          <a:lstStyle/>
          <a:p>
            <a:pPr algn="l" indent="0" marL="0">
              <a:buNone/>
            </a:pPr>
            <a:r>
              <a:rPr lang="en-US" sz="2100" b="1" dirty="0">
                <a:solidFill>
                  <a:srgbClr val="1F3864"/>
                </a:solidFill>
                <a:latin typeface="Cambria" pitchFamily="34" charset="0"/>
                <a:ea typeface="Cambria" pitchFamily="34" charset="-122"/>
                <a:cs typeface="Cambria" pitchFamily="34" charset="-120"/>
              </a:rPr>
              <a:t>Damage: Buildings, Services &amp; Lifelines (2/2)</a:t>
            </a:r>
            <a:endParaRPr lang="en-US" sz="2100" dirty="0"/>
          </a:p>
        </p:txBody>
      </p:sp>
      <p:pic>
        <p:nvPicPr>
          <p:cNvPr id="3" name="Image 0" descr="/home/user/whatsmap/reports/colombia_eq_20260810/images/adrc_logo.png">    </p:cNvPr>
          <p:cNvPicPr>
            <a:picLocks noChangeAspect="1"/>
          </p:cNvPicPr>
          <p:nvPr/>
        </p:nvPicPr>
        <p:blipFill>
          <a:blip r:embed="rId1"/>
          <a:stretch>
            <a:fillRect/>
          </a:stretch>
        </p:blipFill>
        <p:spPr>
          <a:xfrm>
            <a:off x="10945368" y="73152"/>
            <a:ext cx="877824" cy="877824"/>
          </a:xfrm>
          <a:prstGeom prst="rect">
            <a:avLst/>
          </a:prstGeom>
        </p:spPr>
      </p:pic>
      <p:sp>
        <p:nvSpPr>
          <p:cNvPr id="4" name="Text 1"/>
          <p:cNvSpPr/>
          <p:nvPr/>
        </p:nvSpPr>
        <p:spPr>
          <a:xfrm>
            <a:off x="365760" y="896112"/>
            <a:ext cx="11430000" cy="274320"/>
          </a:xfrm>
          <a:prstGeom prst="rect">
            <a:avLst/>
          </a:prstGeom>
          <a:noFill/>
          <a:ln/>
        </p:spPr>
        <p:txBody>
          <a:bodyPr wrap="square" lIns="0" tIns="0" rIns="0" bIns="0" rtlCol="0" anchor="t"/>
          <a:lstStyle/>
          <a:p>
            <a:pPr indent="0" marL="0">
              <a:buNone/>
            </a:pPr>
            <a:r>
              <a:rPr lang="en-US" sz="950" i="1" dirty="0">
                <a:solidFill>
                  <a:srgbClr val="6A6A6A"/>
                </a:solidFill>
                <a:latin typeface="Calibri" pitchFamily="34" charset="0"/>
                <a:ea typeface="Calibri" pitchFamily="34" charset="-122"/>
                <a:cs typeface="Calibri" pitchFamily="34" charset="-120"/>
              </a:rPr>
              <a:t>All figures preliminary. Official (government) figures are primary; media-sourced items are labelled.</a:t>
            </a:r>
            <a:endParaRPr lang="en-US" sz="950" dirty="0"/>
          </a:p>
        </p:txBody>
      </p:sp>
      <p:graphicFrame>
        <p:nvGraphicFramePr>
          <p:cNvPr id="14" name="Table 0"/>
          <p:cNvGraphicFramePr>
            <a:graphicFrameLocks noGrp="1"/>
          </p:cNvGraphicFramePr>
          <p:nvPr>
            <p:extLst>
              <p:ext uri="{D42A27DB-BD31-4B8C-83A1-F6EECF244321}">
                <p14:modId xmlns:p14="http://schemas.microsoft.com/office/powerpoint/2010/main" val="1579011935"/>
              </p:ext>
            </p:extLst>
          </p:nvPr>
        </p:nvGraphicFramePr>
        <p:xfrm>
          <a:off x="365760" y="1225296"/>
          <a:ext cx="11430000" cy="914400"/>
        </p:xfrm>
        <a:graphic>
          <a:graphicData uri="http://schemas.openxmlformats.org/drawingml/2006/table">
            <a:tbl>
              <a:tblPr/>
              <a:tblGrid>
                <a:gridCol w="1920240"/>
                <a:gridCol w="6035040"/>
                <a:gridCol w="2468880"/>
                <a:gridCol w="1005840"/>
              </a:tblGrid>
              <a:tr h="502920">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Item</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Reported</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Source</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Tier</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r>
              <a:tr h="502920">
                <a:tc>
                  <a:txBody>
                    <a:bodyPr/>
                    <a:lstStyle/>
                    <a:p>
                      <a:pPr algn="l" indent="0" marL="0">
                        <a:buNone/>
                      </a:pPr>
                      <a:r>
                        <a:rPr lang="en-US" sz="1000" b="1" dirty="0">
                          <a:solidFill>
                            <a:srgbClr val="1F3864"/>
                          </a:solidFill>
                          <a:latin typeface="Calibri" pitchFamily="34" charset="0"/>
                          <a:ea typeface="Calibri" pitchFamily="34" charset="-122"/>
                          <a:cs typeface="Calibri" pitchFamily="34" charset="-120"/>
                        </a:rPr>
                        <a:t>Health facilities</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93 damaged (UNGRD, 11 Aug), up from 18 on 10 Aug; 7 health institutions closed; about 30% of the University Hospital in Cali collapsed, including three floors (paediatrics, internal medicine, part of the neonatal unit)</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dirty="0">
                          <a:solidFill>
                            <a:srgbClr val="6A6A6A"/>
                          </a:solidFill>
                          <a:latin typeface="Calibri" pitchFamily="34" charset="0"/>
                          <a:ea typeface="Calibri" pitchFamily="34" charset="-122"/>
                          <a:cs typeface="Calibri" pitchFamily="34" charset="-120"/>
                        </a:rPr>
                        <a:t>UNGRD; Valle del Cauca government</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1E7A34"/>
                          </a:solidFill>
                          <a:latin typeface="Calibri" pitchFamily="34" charset="0"/>
                          <a:ea typeface="Calibri" pitchFamily="34" charset="-122"/>
                          <a:cs typeface="Calibri" pitchFamily="34" charset="-120"/>
                        </a:rPr>
                        <a:t>Official</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502920">
                <a:tc>
                  <a:txBody>
                    <a:bodyPr/>
                    <a:lstStyle/>
                    <a:p>
                      <a:pPr algn="l" indent="0" marL="0">
                        <a:buNone/>
                      </a:pPr>
                      <a:r>
                        <a:rPr lang="en-US" sz="1000" b="1" dirty="0">
                          <a:solidFill>
                            <a:srgbClr val="1F3864"/>
                          </a:solidFill>
                          <a:latin typeface="Calibri" pitchFamily="34" charset="0"/>
                          <a:ea typeface="Calibri" pitchFamily="34" charset="-122"/>
                          <a:cs typeface="Calibri" pitchFamily="34" charset="-120"/>
                        </a:rPr>
                        <a:t>Educational facilities</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884 damaged (UNGRD, 11 Aug), up from 52 on 10 Aug; schools evacuated across the affected departments</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50" dirty="0">
                          <a:solidFill>
                            <a:srgbClr val="6A6A6A"/>
                          </a:solidFill>
                          <a:latin typeface="Calibri" pitchFamily="34" charset="0"/>
                          <a:ea typeface="Calibri" pitchFamily="34" charset="-122"/>
                          <a:cs typeface="Calibri" pitchFamily="34" charset="-120"/>
                        </a:rPr>
                        <a:t>UNGRD, 11 Aug</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1E7A34"/>
                          </a:solidFill>
                          <a:latin typeface="Calibri" pitchFamily="34" charset="0"/>
                          <a:ea typeface="Calibri" pitchFamily="34" charset="-122"/>
                          <a:cs typeface="Calibri" pitchFamily="34" charset="-120"/>
                        </a:rPr>
                        <a:t>Official</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502920">
                <a:tc>
                  <a:txBody>
                    <a:bodyPr/>
                    <a:lstStyle/>
                    <a:p>
                      <a:pPr algn="l" indent="0" marL="0">
                        <a:buNone/>
                      </a:pPr>
                      <a:r>
                        <a:rPr lang="en-US" sz="1000" b="1" dirty="0">
                          <a:solidFill>
                            <a:srgbClr val="1F3864"/>
                          </a:solidFill>
                          <a:latin typeface="Calibri" pitchFamily="34" charset="0"/>
                          <a:ea typeface="Calibri" pitchFamily="34" charset="-122"/>
                          <a:cs typeface="Calibri" pitchFamily="34" charset="-120"/>
                        </a:rPr>
                        <a:t>Community facilities</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427 damaged (UNGRD, 11 Aug), up from 17 on 10 Aug</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dirty="0">
                          <a:solidFill>
                            <a:srgbClr val="6A6A6A"/>
                          </a:solidFill>
                          <a:latin typeface="Calibri" pitchFamily="34" charset="0"/>
                          <a:ea typeface="Calibri" pitchFamily="34" charset="-122"/>
                          <a:cs typeface="Calibri" pitchFamily="34" charset="-120"/>
                        </a:rPr>
                        <a:t>UNGRD, 11 Aug</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1E7A34"/>
                          </a:solidFill>
                          <a:latin typeface="Calibri" pitchFamily="34" charset="0"/>
                          <a:ea typeface="Calibri" pitchFamily="34" charset="-122"/>
                          <a:cs typeface="Calibri" pitchFamily="34" charset="-120"/>
                        </a:rPr>
                        <a:t>Official</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502920">
                <a:tc>
                  <a:txBody>
                    <a:bodyPr/>
                    <a:lstStyle/>
                    <a:p>
                      <a:pPr algn="l" indent="0" marL="0">
                        <a:buNone/>
                      </a:pPr>
                      <a:r>
                        <a:rPr lang="en-US" sz="1000" b="1" dirty="0">
                          <a:solidFill>
                            <a:srgbClr val="1F3864"/>
                          </a:solidFill>
                          <a:latin typeface="Calibri" pitchFamily="34" charset="0"/>
                          <a:ea typeface="Calibri" pitchFamily="34" charset="-122"/>
                          <a:cs typeface="Calibri" pitchFamily="34" charset="-120"/>
                        </a:rPr>
                        <a:t>Roads</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77 roads damaged (UNGRD, 11 Aug), up from 18 on 10 Aug</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50" dirty="0">
                          <a:solidFill>
                            <a:srgbClr val="6A6A6A"/>
                          </a:solidFill>
                          <a:latin typeface="Calibri" pitchFamily="34" charset="0"/>
                          <a:ea typeface="Calibri" pitchFamily="34" charset="-122"/>
                          <a:cs typeface="Calibri" pitchFamily="34" charset="-120"/>
                        </a:rPr>
                        <a:t>UNGRD, 11 Aug</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1E7A34"/>
                          </a:solidFill>
                          <a:latin typeface="Calibri" pitchFamily="34" charset="0"/>
                          <a:ea typeface="Calibri" pitchFamily="34" charset="-122"/>
                          <a:cs typeface="Calibri" pitchFamily="34" charset="-120"/>
                        </a:rPr>
                        <a:t>Official</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502920">
                <a:tc>
                  <a:txBody>
                    <a:bodyPr/>
                    <a:lstStyle/>
                    <a:p>
                      <a:pPr algn="l" indent="0" marL="0">
                        <a:buNone/>
                      </a:pPr>
                      <a:r>
                        <a:rPr lang="en-US" sz="1000" b="1" dirty="0">
                          <a:solidFill>
                            <a:srgbClr val="1F3864"/>
                          </a:solidFill>
                          <a:latin typeface="Calibri" pitchFamily="34" charset="0"/>
                          <a:ea typeface="Calibri" pitchFamily="34" charset="-122"/>
                          <a:cs typeface="Calibri" pitchFamily="34" charset="-120"/>
                        </a:rPr>
                        <a:t>Airports</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6 regional airports damaged and operations suspended at seven; Matecaña International (Pereira) passenger terminal partially collapsed; flights suspended at Pereira, Manizales, Quibdó, Armenia, Cartago and Buenaventura</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dirty="0">
                          <a:solidFill>
                            <a:srgbClr val="6A6A6A"/>
                          </a:solidFill>
                          <a:latin typeface="Calibri" pitchFamily="34" charset="0"/>
                          <a:ea typeface="Calibri" pitchFamily="34" charset="-122"/>
                          <a:cs typeface="Calibri" pitchFamily="34" charset="-120"/>
                        </a:rPr>
                        <a:t>UNGRD; civil aviation authority</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1E7A34"/>
                          </a:solidFill>
                          <a:latin typeface="Calibri" pitchFamily="34" charset="0"/>
                          <a:ea typeface="Calibri" pitchFamily="34" charset="-122"/>
                          <a:cs typeface="Calibri" pitchFamily="34" charset="-120"/>
                        </a:rPr>
                        <a:t>Official</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502920">
                <a:tc>
                  <a:txBody>
                    <a:bodyPr/>
                    <a:lstStyle/>
                    <a:p>
                      <a:pPr algn="l" indent="0" marL="0">
                        <a:buNone/>
                      </a:pPr>
                      <a:r>
                        <a:rPr lang="en-US" sz="1000" b="1" dirty="0">
                          <a:solidFill>
                            <a:srgbClr val="1F3864"/>
                          </a:solidFill>
                          <a:latin typeface="Calibri" pitchFamily="34" charset="0"/>
                          <a:ea typeface="Calibri" pitchFamily="34" charset="-122"/>
                          <a:cs typeface="Calibri" pitchFamily="34" charset="-120"/>
                        </a:rPr>
                        <a:t>Cultural heritage</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A tower of the neo-Gothic Cathedral of Manizales collapsed onto the nave</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50" dirty="0">
                          <a:solidFill>
                            <a:srgbClr val="6A6A6A"/>
                          </a:solidFill>
                          <a:latin typeface="Calibri" pitchFamily="34" charset="0"/>
                          <a:ea typeface="Calibri" pitchFamily="34" charset="-122"/>
                          <a:cs typeface="Calibri" pitchFamily="34" charset="-120"/>
                        </a:rPr>
                        <a:t>Mayor of Manizales</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B8860B"/>
                          </a:solidFill>
                          <a:latin typeface="Calibri" pitchFamily="34" charset="0"/>
                          <a:ea typeface="Calibri" pitchFamily="34" charset="-122"/>
                          <a:cs typeface="Calibri" pitchFamily="34" charset="-120"/>
                        </a:rPr>
                        <a:t>Media</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502920">
                <a:tc>
                  <a:txBody>
                    <a:bodyPr/>
                    <a:lstStyle/>
                    <a:p>
                      <a:pPr algn="l" indent="0" marL="0">
                        <a:buNone/>
                      </a:pPr>
                      <a:r>
                        <a:rPr lang="en-US" sz="1000" b="1" dirty="0">
                          <a:solidFill>
                            <a:srgbClr val="1F3864"/>
                          </a:solidFill>
                          <a:latin typeface="Calibri" pitchFamily="34" charset="0"/>
                          <a:ea typeface="Calibri" pitchFamily="34" charset="-122"/>
                          <a:cs typeface="Calibri" pitchFamily="34" charset="-120"/>
                        </a:rPr>
                        <a:t>Lifelines</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Power outages and communications disruption reported in areas near the epicentre; systematic figures not yet published</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dirty="0">
                          <a:solidFill>
                            <a:srgbClr val="6A6A6A"/>
                          </a:solidFill>
                          <a:latin typeface="Calibri" pitchFamily="34" charset="0"/>
                          <a:ea typeface="Calibri" pitchFamily="34" charset="-122"/>
                          <a:cs typeface="Calibri" pitchFamily="34" charset="-120"/>
                        </a:rPr>
                        <a:t>Media / humanitarian agencies</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B8860B"/>
                          </a:solidFill>
                          <a:latin typeface="Calibri" pitchFamily="34" charset="0"/>
                          <a:ea typeface="Calibri" pitchFamily="34" charset="-122"/>
                          <a:cs typeface="Calibri" pitchFamily="34" charset="-120"/>
                        </a:rPr>
                        <a:t>Media</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502920">
                <a:tc>
                  <a:txBody>
                    <a:bodyPr/>
                    <a:lstStyle/>
                    <a:p>
                      <a:pPr algn="l" indent="0" marL="0">
                        <a:buNone/>
                      </a:pPr>
                      <a:r>
                        <a:rPr lang="en-US" sz="1000" b="1" dirty="0">
                          <a:solidFill>
                            <a:srgbClr val="1F3864"/>
                          </a:solidFill>
                          <a:latin typeface="Calibri" pitchFamily="34" charset="0"/>
                          <a:ea typeface="Calibri" pitchFamily="34" charset="-122"/>
                          <a:cs typeface="Calibri" pitchFamily="34" charset="-120"/>
                        </a:rPr>
                        <a:t>Displacement</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Thousands reported to have left their homes; shelter figures not yet published</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50" dirty="0">
                          <a:solidFill>
                            <a:srgbClr val="6A6A6A"/>
                          </a:solidFill>
                          <a:latin typeface="Calibri" pitchFamily="34" charset="0"/>
                          <a:ea typeface="Calibri" pitchFamily="34" charset="-122"/>
                          <a:cs typeface="Calibri" pitchFamily="34" charset="-120"/>
                        </a:rPr>
                        <a:t>Media / humanitarian agencies</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B8860B"/>
                          </a:solidFill>
                          <a:latin typeface="Calibri" pitchFamily="34" charset="0"/>
                          <a:ea typeface="Calibri" pitchFamily="34" charset="-122"/>
                          <a:cs typeface="Calibri" pitchFamily="34" charset="-120"/>
                        </a:rPr>
                        <a:t>Media</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bl>
          </a:graphicData>
        </a:graphic>
      </p:graphicFrame>
      <p:sp>
        <p:nvSpPr>
          <p:cNvPr id="6" name="Text 2"/>
          <p:cNvSpPr/>
          <p:nvPr/>
        </p:nvSpPr>
        <p:spPr>
          <a:xfrm>
            <a:off x="365760" y="6272784"/>
            <a:ext cx="11430000" cy="219456"/>
          </a:xfrm>
          <a:prstGeom prst="rect">
            <a:avLst/>
          </a:prstGeom>
          <a:noFill/>
          <a:ln/>
        </p:spPr>
        <p:txBody>
          <a:bodyPr wrap="square" lIns="0" tIns="0" rIns="0" bIns="0" rtlCol="0" anchor="ctr"/>
          <a:lstStyle/>
          <a:p>
            <a:pPr algn="l" indent="0" marL="0">
              <a:buNone/>
            </a:pPr>
            <a:r>
              <a:rPr lang="en-US" sz="850" b="1" dirty="0">
                <a:solidFill>
                  <a:srgbClr val="6A6A6A"/>
                </a:solidFill>
                <a:latin typeface="Calibri" pitchFamily="34" charset="0"/>
                <a:ea typeface="Calibri" pitchFamily="34" charset="-122"/>
                <a:cs typeface="Calibri" pitchFamily="34" charset="-120"/>
              </a:rPr>
              <a:t>Sources: </a:t>
            </a:r>
            <a:pPr algn="l" indent="0" marL="0">
              <a:buNone/>
            </a:pPr>
            <a:r>
              <a:rPr lang="en-US" sz="850" u="sng" dirty="0">
                <a:solidFill>
                  <a:srgbClr val="0563C1"/>
                </a:solidFill>
                <a:latin typeface="Calibri" pitchFamily="34" charset="0"/>
                <a:ea typeface="Calibri" pitchFamily="34" charset="-122"/>
                <a:cs typeface="Calibri" pitchFamily="34" charset="-120"/>
                <a:hlinkClick r:id="rId2" invalidUrl="" action="" tgtFrame="" tooltip="" history="1" highlightClick="0" endSnd="0">
                  <a:extLst>
                    <a:ext uri="{A12FA001-AC4F-418D-AE19-62706E023703}">
                      <ahyp:hlinkClr xmlns:ahyp="http://schemas.microsoft.com/office/drawing/2018/hyperlinkcolor" val="tx"/>
                    </a:ext>
                  </a:extLst>
                </a:hlinkClick>
              </a:rPr>
              <a:t>UNGRD - National Unit for Disaster Risk Management</a:t>
            </a:r>
            <a:pPr algn="l" indent="0" marL="0">
              <a:buNone/>
            </a:pPr>
            <a:r>
              <a:rPr lang="en-US" sz="850" dirty="0">
                <a:solidFill>
                  <a:srgbClr val="6A6A6A"/>
                </a:solidFill>
                <a:latin typeface="Calibri" pitchFamily="34" charset="0"/>
                <a:ea typeface="Calibri" pitchFamily="34" charset="-122"/>
                <a:cs typeface="Calibri" pitchFamily="34" charset="-120"/>
              </a:rPr>
              <a:t>   ·   </a:t>
            </a:r>
            <a:pPr algn="l" indent="0" marL="0">
              <a:buNone/>
            </a:pPr>
            <a:r>
              <a:rPr lang="en-US" sz="850" u="sng" dirty="0">
                <a:solidFill>
                  <a:srgbClr val="0563C1"/>
                </a:solidFill>
                <a:latin typeface="Calibri" pitchFamily="34" charset="0"/>
                <a:ea typeface="Calibri" pitchFamily="34" charset="-122"/>
                <a:cs typeface="Calibri" pitchFamily="34" charset="-120"/>
                <a:hlinkClick r:id="rId3" invalidUrl="" action="" tgtFrame="" tooltip="" history="1" highlightClick="0" endSnd="0">
                  <a:extLst>
                    <a:ext uri="{A12FA001-AC4F-418D-AE19-62706E023703}">
                      <ahyp:hlinkClr xmlns:ahyp="http://schemas.microsoft.com/office/drawing/2018/hyperlinkcolor" val="tx"/>
                    </a:ext>
                  </a:extLst>
                </a:hlinkClick>
              </a:rPr>
              <a:t>Colombia One - First official assessment: widespread structural damage</a:t>
            </a:r>
            <a:pPr algn="l" indent="0" marL="0">
              <a:buNone/>
            </a:pPr>
            <a:r>
              <a:rPr lang="en-US" sz="850" dirty="0">
                <a:solidFill>
                  <a:srgbClr val="6A6A6A"/>
                </a:solidFill>
                <a:latin typeface="Calibri" pitchFamily="34" charset="0"/>
                <a:ea typeface="Calibri" pitchFamily="34" charset="-122"/>
                <a:cs typeface="Calibri" pitchFamily="34" charset="-120"/>
              </a:rPr>
              <a:t>   ·   </a:t>
            </a:r>
            <a:pPr algn="l" indent="0" marL="0">
              <a:buNone/>
            </a:pPr>
            <a:r>
              <a:rPr lang="en-US" sz="850" u="sng" dirty="0">
                <a:solidFill>
                  <a:srgbClr val="0563C1"/>
                </a:solidFill>
                <a:latin typeface="Calibri" pitchFamily="34" charset="0"/>
                <a:ea typeface="Calibri" pitchFamily="34" charset="-122"/>
                <a:cs typeface="Calibri" pitchFamily="34" charset="-120"/>
                <a:hlinkClick r:id="rId4" invalidUrl="" action="" tgtFrame="" tooltip="" history="1" highlightClick="0" endSnd="0">
                  <a:extLst>
                    <a:ext uri="{A12FA001-AC4F-418D-AE19-62706E023703}">
                      <ahyp:hlinkClr xmlns:ahyp="http://schemas.microsoft.com/office/drawing/2018/hyperlinkcolor" val="tx"/>
                    </a:ext>
                  </a:extLst>
                </a:hlinkClick>
              </a:rPr>
              <a:t>CNN — live updates: death toll rises to 132</a:t>
            </a:r>
            <a:endParaRPr lang="en-US" sz="850" dirty="0"/>
          </a:p>
        </p:txBody>
      </p:sp>
      <p:sp>
        <p:nvSpPr>
          <p:cNvPr id="7" name="Shape 3"/>
          <p:cNvSpPr/>
          <p:nvPr/>
        </p:nvSpPr>
        <p:spPr>
          <a:xfrm>
            <a:off x="10268712" y="6510528"/>
            <a:ext cx="1554480" cy="274320"/>
          </a:xfrm>
          <a:prstGeom prst="rect">
            <a:avLst/>
          </a:prstGeom>
          <a:solidFill>
            <a:srgbClr val="E8A317"/>
          </a:solidFill>
          <a:ln w="12700">
            <a:solidFill>
              <a:srgbClr val="E8A317"/>
            </a:solidFill>
            <a:prstDash val="solid"/>
          </a:ln>
        </p:spPr>
      </p:sp>
      <p:sp>
        <p:nvSpPr>
          <p:cNvPr id="8" name="Text 4"/>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950" b="1" dirty="0">
                <a:solidFill>
                  <a:srgbClr val="000000"/>
                </a:solidFill>
                <a:latin typeface="Calibri" pitchFamily="34" charset="0"/>
                <a:ea typeface="Calibri" pitchFamily="34" charset="-122"/>
                <a:cs typeface="Calibri" pitchFamily="34" charset="-120"/>
              </a:rPr>
              <a:t>ADRC  12/08/2026</a:t>
            </a:r>
            <a:endParaRPr lang="en-US" sz="950" dirty="0"/>
          </a:p>
        </p:txBody>
      </p:sp>
      <p:sp>
        <p:nvSpPr>
          <p:cNvPr id="9" name="Text 5"/>
          <p:cNvSpPr/>
          <p:nvPr/>
        </p:nvSpPr>
        <p:spPr>
          <a:xfrm>
            <a:off x="365760" y="6547104"/>
            <a:ext cx="548640" cy="219456"/>
          </a:xfrm>
          <a:prstGeom prst="rect">
            <a:avLst/>
          </a:prstGeom>
          <a:noFill/>
          <a:ln/>
        </p:spPr>
        <p:txBody>
          <a:bodyPr wrap="square" lIns="0" tIns="0" rIns="0" bIns="0" rtlCol="0" anchor="ctr"/>
          <a:lstStyle/>
          <a:p>
            <a:pPr algn="l" indent="0" marL="0">
              <a:buNone/>
            </a:pPr>
            <a:r>
              <a:rPr lang="en-US" sz="900" dirty="0">
                <a:solidFill>
                  <a:srgbClr val="6A6A6A"/>
                </a:solidFill>
                <a:latin typeface="Calibri" pitchFamily="34" charset="0"/>
                <a:ea typeface="Calibri" pitchFamily="34" charset="-122"/>
                <a:cs typeface="Calibri" pitchFamily="34" charset="-120"/>
              </a:rPr>
              <a:t>13</a:t>
            </a:r>
            <a:endParaRPr lang="en-US" sz="9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92608"/>
            <a:ext cx="10332720" cy="566928"/>
          </a:xfrm>
          <a:prstGeom prst="rect">
            <a:avLst/>
          </a:prstGeom>
          <a:noFill/>
          <a:ln/>
        </p:spPr>
        <p:txBody>
          <a:bodyPr wrap="none" lIns="0" tIns="0" rIns="0" bIns="0" rtlCol="0" anchor="ctr">
            <a:normAutofit/>
          </a:bodyPr>
          <a:lstStyle/>
          <a:p>
            <a:pPr algn="l" indent="0" marL="0">
              <a:buNone/>
            </a:pPr>
            <a:r>
              <a:rPr lang="en-US" sz="2100" b="1" dirty="0">
                <a:solidFill>
                  <a:srgbClr val="1F3864"/>
                </a:solidFill>
                <a:latin typeface="Cambria" pitchFamily="34" charset="0"/>
                <a:ea typeface="Cambria" pitchFamily="34" charset="-122"/>
                <a:cs typeface="Cambria" pitchFamily="34" charset="-120"/>
              </a:rPr>
              <a:t>National Response</a:t>
            </a:r>
            <a:endParaRPr lang="en-US" sz="2100" dirty="0"/>
          </a:p>
        </p:txBody>
      </p:sp>
      <p:pic>
        <p:nvPicPr>
          <p:cNvPr id="3" name="Image 0" descr="/home/user/whatsmap/reports/colombia_eq_20260810/images/adrc_logo.png">    </p:cNvPr>
          <p:cNvPicPr>
            <a:picLocks noChangeAspect="1"/>
          </p:cNvPicPr>
          <p:nvPr/>
        </p:nvPicPr>
        <p:blipFill>
          <a:blip r:embed="rId1"/>
          <a:stretch>
            <a:fillRect/>
          </a:stretch>
        </p:blipFill>
        <p:spPr>
          <a:xfrm>
            <a:off x="10945368" y="73152"/>
            <a:ext cx="877824" cy="877824"/>
          </a:xfrm>
          <a:prstGeom prst="rect">
            <a:avLst/>
          </a:prstGeom>
        </p:spPr>
      </p:pic>
      <p:sp>
        <p:nvSpPr>
          <p:cNvPr id="4" name="Text 1"/>
          <p:cNvSpPr/>
          <p:nvPr/>
        </p:nvSpPr>
        <p:spPr>
          <a:xfrm>
            <a:off x="365760" y="1024128"/>
            <a:ext cx="6858000" cy="4023360"/>
          </a:xfrm>
          <a:prstGeom prst="rect">
            <a:avLst/>
          </a:prstGeom>
          <a:noFill/>
          <a:ln/>
        </p:spPr>
        <p:txBody>
          <a:bodyPr wrap="square" lIns="50800" tIns="50800" rIns="50800" bIns="50800" rtlCol="0" anchor="t"/>
          <a:lstStyle/>
          <a:p>
            <a:pPr algn="l" marL="342900" indent="-342900">
              <a:buSzPct val="100000"/>
              <a:buChar char="•"/>
            </a:pPr>
            <a:r>
              <a:rPr lang="en-US" sz="1200" b="1" dirty="0">
                <a:solidFill>
                  <a:srgbClr val="1E7A34"/>
                </a:solidFill>
                <a:latin typeface="Calibri" pitchFamily="34" charset="0"/>
                <a:ea typeface="Calibri" pitchFamily="34" charset="-122"/>
                <a:cs typeface="Calibri" pitchFamily="34" charset="-120"/>
              </a:rPr>
              <a:t>[Official] </a:t>
            </a:r>
            <a:pPr algn="l" indent="0" marL="0">
              <a:spcAft>
                <a:spcPts val="500"/>
              </a:spcAft>
              <a:buNone/>
            </a:pPr>
            <a:r>
              <a:rPr lang="en-US" sz="1300" dirty="0">
                <a:solidFill>
                  <a:srgbClr val="222222"/>
                </a:solidFill>
                <a:latin typeface="Calibri" pitchFamily="34" charset="0"/>
                <a:ea typeface="Calibri" pitchFamily="34" charset="-122"/>
                <a:cs typeface="Calibri" pitchFamily="34" charset="-120"/>
              </a:rPr>
              <a:t>National disaster declaration activating the National Disaster Risk Management System (SNGRD) under Law 1523 of 2012.</a:t>
            </a:r>
            <a:endParaRPr lang="en-US" sz="1200" dirty="0"/>
          </a:p>
          <a:p>
            <a:pPr algn="l" marL="342900" indent="-342900">
              <a:buSzPct val="100000"/>
              <a:buChar char="•"/>
            </a:pPr>
            <a:r>
              <a:rPr lang="en-US" sz="1200" b="1" dirty="0">
                <a:solidFill>
                  <a:srgbClr val="1E7A34"/>
                </a:solidFill>
                <a:latin typeface="Calibri" pitchFamily="34" charset="0"/>
                <a:ea typeface="Calibri" pitchFamily="34" charset="-122"/>
                <a:cs typeface="Calibri" pitchFamily="34" charset="-120"/>
              </a:rPr>
              <a:t>[Official] </a:t>
            </a:r>
            <a:pPr algn="l" indent="0" marL="0">
              <a:spcAft>
                <a:spcPts val="500"/>
              </a:spcAft>
              <a:buNone/>
            </a:pPr>
            <a:r>
              <a:rPr lang="en-US" sz="1300" dirty="0">
                <a:solidFill>
                  <a:srgbClr val="222222"/>
                </a:solidFill>
                <a:latin typeface="Calibri" pitchFamily="34" charset="0"/>
                <a:ea typeface="Calibri" pitchFamily="34" charset="-122"/>
                <a:cs typeface="Calibri" pitchFamily="34" charset="-120"/>
              </a:rPr>
              <a:t>Unified Command Post (PMU) established in Chocó; UNGRD coordinating with departmental and municipal risk-management councils.</a:t>
            </a:r>
            <a:endParaRPr lang="en-US" sz="1200" dirty="0"/>
          </a:p>
          <a:p>
            <a:pPr algn="l" marL="342900" indent="-342900">
              <a:buSzPct val="100000"/>
              <a:buChar char="•"/>
            </a:pPr>
            <a:r>
              <a:rPr lang="en-US" sz="1200" b="1" dirty="0">
                <a:solidFill>
                  <a:srgbClr val="1E7A34"/>
                </a:solidFill>
                <a:latin typeface="Calibri" pitchFamily="34" charset="0"/>
                <a:ea typeface="Calibri" pitchFamily="34" charset="-122"/>
                <a:cs typeface="Calibri" pitchFamily="34" charset="-120"/>
              </a:rPr>
              <a:t>[Official] </a:t>
            </a:r>
            <a:pPr algn="l" indent="0" marL="0">
              <a:spcAft>
                <a:spcPts val="500"/>
              </a:spcAft>
              <a:buNone/>
            </a:pPr>
            <a:r>
              <a:rPr lang="en-US" sz="1300" dirty="0">
                <a:solidFill>
                  <a:srgbClr val="222222"/>
                </a:solidFill>
                <a:latin typeface="Calibri" pitchFamily="34" charset="0"/>
                <a:ea typeface="Calibri" pitchFamily="34" charset="-122"/>
                <a:cs typeface="Calibri" pitchFamily="34" charset="-120"/>
              </a:rPr>
              <a:t>Four USAR teams (Bogotá, Envigado, Yopal, Medellín) deployed for search and rescue in collapsed structures.</a:t>
            </a:r>
            <a:endParaRPr lang="en-US" sz="1200" dirty="0"/>
          </a:p>
          <a:p>
            <a:pPr algn="l" marL="342900" indent="-342900">
              <a:buSzPct val="100000"/>
              <a:buChar char="•"/>
            </a:pPr>
            <a:r>
              <a:rPr lang="en-US" sz="1200" b="1" dirty="0">
                <a:solidFill>
                  <a:srgbClr val="1E7A34"/>
                </a:solidFill>
                <a:latin typeface="Calibri" pitchFamily="34" charset="0"/>
                <a:ea typeface="Calibri" pitchFamily="34" charset="-122"/>
                <a:cs typeface="Calibri" pitchFamily="34" charset="-120"/>
              </a:rPr>
              <a:t>[Official] </a:t>
            </a:r>
            <a:pPr algn="l" indent="0" marL="0">
              <a:spcAft>
                <a:spcPts val="500"/>
              </a:spcAft>
              <a:buNone/>
            </a:pPr>
            <a:r>
              <a:rPr lang="en-US" sz="1300" dirty="0">
                <a:solidFill>
                  <a:srgbClr val="222222"/>
                </a:solidFill>
                <a:latin typeface="Calibri" pitchFamily="34" charset="0"/>
                <a:ea typeface="Calibri" pitchFamily="34" charset="-122"/>
                <a:cs typeface="Calibri" pitchFamily="34" charset="-120"/>
              </a:rPr>
              <a:t>Armed forces deployed for search, rescue, route clearance and security in the affected departments.</a:t>
            </a:r>
            <a:endParaRPr lang="en-US" sz="1200" dirty="0"/>
          </a:p>
          <a:p>
            <a:pPr algn="l" marL="342900" indent="-342900">
              <a:buSzPct val="100000"/>
              <a:buChar char="•"/>
            </a:pPr>
            <a:r>
              <a:rPr lang="en-US" sz="1200" b="1" dirty="0">
                <a:solidFill>
                  <a:srgbClr val="1E7A34"/>
                </a:solidFill>
                <a:latin typeface="Calibri" pitchFamily="34" charset="0"/>
                <a:ea typeface="Calibri" pitchFamily="34" charset="-122"/>
                <a:cs typeface="Calibri" pitchFamily="34" charset="-120"/>
              </a:rPr>
              <a:t>[Official] </a:t>
            </a:r>
            <a:pPr algn="l" indent="0" marL="0">
              <a:spcAft>
                <a:spcPts val="500"/>
              </a:spcAft>
              <a:buNone/>
            </a:pPr>
            <a:r>
              <a:rPr lang="en-US" sz="1300" dirty="0">
                <a:solidFill>
                  <a:srgbClr val="222222"/>
                </a:solidFill>
                <a:latin typeface="Calibri" pitchFamily="34" charset="0"/>
                <a:ea typeface="Calibri" pitchFamily="34" charset="-122"/>
                <a:cs typeface="Calibri" pitchFamily="34" charset="-120"/>
              </a:rPr>
              <a:t>Rapid structural inspection of hospitals, schools and airports; seven health institutions closed and six airports suspended pending assessment.</a:t>
            </a:r>
            <a:endParaRPr lang="en-US" sz="1200" dirty="0"/>
          </a:p>
          <a:p>
            <a:pPr algn="l" marL="342900" indent="-342900">
              <a:buSzPct val="100000"/>
              <a:buChar char="•"/>
            </a:pPr>
            <a:r>
              <a:rPr lang="en-US" sz="1200" b="1" dirty="0">
                <a:solidFill>
                  <a:srgbClr val="B8860B"/>
                </a:solidFill>
                <a:latin typeface="Calibri" pitchFamily="34" charset="0"/>
                <a:ea typeface="Calibri" pitchFamily="34" charset="-122"/>
                <a:cs typeface="Calibri" pitchFamily="34" charset="-120"/>
              </a:rPr>
              <a:t>[Media] </a:t>
            </a:r>
            <a:pPr algn="l" indent="0" marL="0">
              <a:spcAft>
                <a:spcPts val="500"/>
              </a:spcAft>
              <a:buNone/>
            </a:pPr>
            <a:r>
              <a:rPr lang="en-US" sz="1300" dirty="0">
                <a:solidFill>
                  <a:srgbClr val="222222"/>
                </a:solidFill>
                <a:latin typeface="Calibri" pitchFamily="34" charset="0"/>
                <a:ea typeface="Calibri" pitchFamily="34" charset="-122"/>
                <a:cs typeface="Calibri" pitchFamily="34" charset="-120"/>
              </a:rPr>
              <a:t>Patients transferred from the damaged University Hospital in Cali to other facilities; the city reported casualties concentrated at 12 critical collapse sites.</a:t>
            </a:r>
            <a:endParaRPr lang="en-US" sz="1200" dirty="0"/>
          </a:p>
        </p:txBody>
      </p:sp>
      <p:pic>
        <p:nvPicPr>
          <p:cNvPr id="5" name="Image 1" descr="/home/user/whatsmap/reports/colombia_eq_20260810/images/photo_ungrd.jpg">    </p:cNvPr>
          <p:cNvPicPr>
            <a:picLocks noChangeAspect="1"/>
          </p:cNvPicPr>
          <p:nvPr/>
        </p:nvPicPr>
        <p:blipFill>
          <a:blip r:embed="rId2"/>
          <a:stretch>
            <a:fillRect/>
          </a:stretch>
        </p:blipFill>
        <p:spPr>
          <a:xfrm>
            <a:off x="8028756" y="1024128"/>
            <a:ext cx="3190607" cy="1792224"/>
          </a:xfrm>
          <a:prstGeom prst="rect">
            <a:avLst/>
          </a:prstGeom>
        </p:spPr>
      </p:pic>
      <p:sp>
        <p:nvSpPr>
          <p:cNvPr id="6" name="Text 2"/>
          <p:cNvSpPr/>
          <p:nvPr/>
        </p:nvSpPr>
        <p:spPr>
          <a:xfrm>
            <a:off x="7452360" y="2834640"/>
            <a:ext cx="4343400" cy="201168"/>
          </a:xfrm>
          <a:prstGeom prst="rect">
            <a:avLst/>
          </a:prstGeom>
          <a:noFill/>
          <a:ln/>
        </p:spPr>
        <p:txBody>
          <a:bodyPr wrap="square" lIns="0" tIns="0" rIns="0" bIns="0" rtlCol="0" anchor="ctr"/>
          <a:lstStyle/>
          <a:p>
            <a:pPr algn="ctr" indent="0" marL="0">
              <a:buNone/>
            </a:pPr>
            <a:r>
              <a:rPr lang="en-US" sz="800" dirty="0">
                <a:solidFill>
                  <a:srgbClr val="6A6A6A"/>
                </a:solidFill>
                <a:latin typeface="Calibri" pitchFamily="34" charset="0"/>
                <a:ea typeface="Calibri" pitchFamily="34" charset="-122"/>
                <a:cs typeface="Calibri" pitchFamily="34" charset="-120"/>
              </a:rPr>
              <a:t>President Abelardo de la Espriella chairs the national response meeting   © UNGRD</a:t>
            </a:r>
            <a:pPr algn="ctr" indent="0" marL="0">
              <a:buNone/>
            </a:pPr>
            <a:r>
              <a:rPr lang="en-US" sz="700" u="sng" dirty="0">
                <a:solidFill>
                  <a:srgbClr val="0563C1"/>
                </a:solidFill>
                <a:latin typeface="Calibri" pitchFamily="34" charset="0"/>
                <a:ea typeface="Calibri" pitchFamily="34" charset="-122"/>
                <a:cs typeface="Calibri" pitchFamily="34" charset="-120"/>
                <a:hlinkClick r:id="rId3" invalidUrl="" action="" tgtFrame="" tooltip="" history="1" highlightClick="0" endSnd="0">
                  <a:extLst>
                    <a:ext uri="{A12FA001-AC4F-418D-AE19-62706E023703}">
                      <ahyp:hlinkClr xmlns:ahyp="http://schemas.microsoft.com/office/drawing/2018/hyperlinkcolor" val="tx"/>
                    </a:ext>
                  </a:extLst>
                </a:hlinkClick>
              </a:rPr>
              <a:t>  —  https://portal.gestiondelriesgo.gov.co/</a:t>
            </a:r>
            <a:endParaRPr lang="en-US" sz="800" dirty="0"/>
          </a:p>
        </p:txBody>
      </p:sp>
      <p:pic>
        <p:nvPicPr>
          <p:cNvPr id="7" name="Image 2" descr="/home/user/whatsmap/reports/colombia_eq_20260810/images/photo_bomberos_cali.jpg">    </p:cNvPr>
          <p:cNvPicPr>
            <a:picLocks noChangeAspect="1"/>
          </p:cNvPicPr>
          <p:nvPr/>
        </p:nvPicPr>
        <p:blipFill>
          <a:blip r:embed="rId4"/>
          <a:stretch>
            <a:fillRect/>
          </a:stretch>
        </p:blipFill>
        <p:spPr>
          <a:xfrm>
            <a:off x="8145475" y="3172968"/>
            <a:ext cx="2957170" cy="1792224"/>
          </a:xfrm>
          <a:prstGeom prst="rect">
            <a:avLst/>
          </a:prstGeom>
        </p:spPr>
      </p:pic>
      <p:sp>
        <p:nvSpPr>
          <p:cNvPr id="8" name="Text 3"/>
          <p:cNvSpPr/>
          <p:nvPr/>
        </p:nvSpPr>
        <p:spPr>
          <a:xfrm>
            <a:off x="7452360" y="4983480"/>
            <a:ext cx="4343400" cy="201168"/>
          </a:xfrm>
          <a:prstGeom prst="rect">
            <a:avLst/>
          </a:prstGeom>
          <a:noFill/>
          <a:ln/>
        </p:spPr>
        <p:txBody>
          <a:bodyPr wrap="square" lIns="0" tIns="0" rIns="0" bIns="0" rtlCol="0" anchor="ctr"/>
          <a:lstStyle/>
          <a:p>
            <a:pPr algn="ctr" indent="0" marL="0">
              <a:buNone/>
            </a:pPr>
            <a:r>
              <a:rPr lang="en-US" sz="800" dirty="0">
                <a:solidFill>
                  <a:srgbClr val="6A6A6A"/>
                </a:solidFill>
                <a:latin typeface="Calibri" pitchFamily="34" charset="0"/>
                <a:ea typeface="Calibri" pitchFamily="34" charset="-122"/>
                <a:cs typeface="Calibri" pitchFamily="34" charset="-120"/>
              </a:rPr>
              <a:t>Cali fire service at a collapsed building in the city   © Alcaldía de Santiago de Cali</a:t>
            </a:r>
            <a:pPr algn="ctr" indent="0" marL="0">
              <a:buNone/>
            </a:pPr>
            <a:r>
              <a:rPr lang="en-US" sz="700" u="sng" dirty="0">
                <a:solidFill>
                  <a:srgbClr val="0563C1"/>
                </a:solidFill>
                <a:latin typeface="Calibri" pitchFamily="34" charset="0"/>
                <a:ea typeface="Calibri" pitchFamily="34" charset="-122"/>
                <a:cs typeface="Calibri" pitchFamily="34" charset="-120"/>
                <a:hlinkClick r:id="rId5" invalidUrl="" action="" tgtFrame="" tooltip="" history="1" highlightClick="0" endSnd="0">
                  <a:extLst>
                    <a:ext uri="{A12FA001-AC4F-418D-AE19-62706E023703}">
                      <ahyp:hlinkClr xmlns:ahyp="http://schemas.microsoft.com/office/drawing/2018/hyperlinkcolor" val="tx"/>
                    </a:ext>
                  </a:extLst>
                </a:hlinkClick>
              </a:rPr>
              <a:t>  —  https://www.cali.gov.co/gestiondelriesgo/</a:t>
            </a:r>
            <a:endParaRPr lang="en-US" sz="800" dirty="0"/>
          </a:p>
        </p:txBody>
      </p:sp>
      <p:sp>
        <p:nvSpPr>
          <p:cNvPr id="9" name="Shape 4"/>
          <p:cNvSpPr/>
          <p:nvPr/>
        </p:nvSpPr>
        <p:spPr>
          <a:xfrm>
            <a:off x="365760" y="5212080"/>
            <a:ext cx="11430000" cy="914400"/>
          </a:xfrm>
          <a:prstGeom prst="roundRect">
            <a:avLst>
              <a:gd name="adj" fmla="val 5000"/>
            </a:avLst>
          </a:prstGeom>
          <a:solidFill>
            <a:srgbClr val="FCE9DC"/>
          </a:solidFill>
          <a:ln w="12700">
            <a:solidFill>
              <a:srgbClr val="E8A317"/>
            </a:solidFill>
            <a:prstDash val="solid"/>
          </a:ln>
        </p:spPr>
      </p:sp>
      <p:sp>
        <p:nvSpPr>
          <p:cNvPr id="10" name="Text 5"/>
          <p:cNvSpPr/>
          <p:nvPr/>
        </p:nvSpPr>
        <p:spPr>
          <a:xfrm>
            <a:off x="530352" y="5266944"/>
            <a:ext cx="11100816" cy="804672"/>
          </a:xfrm>
          <a:prstGeom prst="rect">
            <a:avLst/>
          </a:prstGeom>
          <a:noFill/>
          <a:ln/>
        </p:spPr>
        <p:txBody>
          <a:bodyPr wrap="square" lIns="25400" tIns="25400" rIns="25400" bIns="25400" rtlCol="0" anchor="ctr"/>
          <a:lstStyle/>
          <a:p>
            <a:pPr algn="l" indent="0" marL="0">
              <a:buNone/>
            </a:pPr>
            <a:r>
              <a:rPr lang="en-US" sz="1050" b="1" dirty="0">
                <a:solidFill>
                  <a:srgbClr val="9A3B12"/>
                </a:solidFill>
                <a:latin typeface="Calibri" pitchFamily="34" charset="0"/>
                <a:ea typeface="Calibri" pitchFamily="34" charset="-122"/>
                <a:cs typeface="Calibri" pitchFamily="34" charset="-120"/>
              </a:rPr>
              <a:t>Legal basis
</a:t>
            </a:r>
            <a:pPr algn="l" indent="0" marL="0">
              <a:buNone/>
            </a:pPr>
            <a:r>
              <a:rPr lang="en-US" sz="950" dirty="0">
                <a:solidFill>
                  <a:srgbClr val="7A2E0E"/>
                </a:solidFill>
                <a:latin typeface="Calibri" pitchFamily="34" charset="0"/>
                <a:ea typeface="Calibri" pitchFamily="34" charset="-122"/>
                <a:cs typeface="Calibri" pitchFamily="34" charset="-120"/>
              </a:rPr>
              <a:t>The national disaster declaration activates the SNGRD established by Law 1523 of 2012, allowing UNGRD to direct resources and the national disaster fund (FNGRD) to be used without the ordinary procurement timelines.</a:t>
            </a:r>
            <a:endParaRPr lang="en-US" sz="1050" dirty="0"/>
          </a:p>
        </p:txBody>
      </p:sp>
      <p:sp>
        <p:nvSpPr>
          <p:cNvPr id="11" name="Text 6"/>
          <p:cNvSpPr/>
          <p:nvPr/>
        </p:nvSpPr>
        <p:spPr>
          <a:xfrm>
            <a:off x="365760" y="6272784"/>
            <a:ext cx="11430000" cy="219456"/>
          </a:xfrm>
          <a:prstGeom prst="rect">
            <a:avLst/>
          </a:prstGeom>
          <a:noFill/>
          <a:ln/>
        </p:spPr>
        <p:txBody>
          <a:bodyPr wrap="square" lIns="0" tIns="0" rIns="0" bIns="0" rtlCol="0" anchor="ctr"/>
          <a:lstStyle/>
          <a:p>
            <a:pPr algn="l" indent="0" marL="0">
              <a:buNone/>
            </a:pPr>
            <a:r>
              <a:rPr lang="en-US" sz="850" b="1" dirty="0">
                <a:solidFill>
                  <a:srgbClr val="6A6A6A"/>
                </a:solidFill>
                <a:latin typeface="Calibri" pitchFamily="34" charset="0"/>
                <a:ea typeface="Calibri" pitchFamily="34" charset="-122"/>
                <a:cs typeface="Calibri" pitchFamily="34" charset="-120"/>
              </a:rPr>
              <a:t>Sources: </a:t>
            </a:r>
            <a:pPr algn="l" indent="0" marL="0">
              <a:buNone/>
            </a:pPr>
            <a:r>
              <a:rPr lang="en-US" sz="850" u="sng" dirty="0">
                <a:solidFill>
                  <a:srgbClr val="0563C1"/>
                </a:solidFill>
                <a:latin typeface="Calibri" pitchFamily="34" charset="0"/>
                <a:ea typeface="Calibri" pitchFamily="34" charset="-122"/>
                <a:cs typeface="Calibri" pitchFamily="34" charset="-120"/>
                <a:hlinkClick r:id="rId6" invalidUrl="" action="" tgtFrame="" tooltip="" history="1" highlightClick="0" endSnd="0">
                  <a:extLst>
                    <a:ext uri="{A12FA001-AC4F-418D-AE19-62706E023703}">
                      <ahyp:hlinkClr xmlns:ahyp="http://schemas.microsoft.com/office/drawing/2018/hyperlinkcolor" val="tx"/>
                    </a:ext>
                  </a:extLst>
                </a:hlinkClick>
              </a:rPr>
              <a:t>UNGRD - National Unit for Disaster Risk Management</a:t>
            </a:r>
            <a:pPr algn="l" indent="0" marL="0">
              <a:buNone/>
            </a:pPr>
            <a:r>
              <a:rPr lang="en-US" sz="850" dirty="0">
                <a:solidFill>
                  <a:srgbClr val="6A6A6A"/>
                </a:solidFill>
                <a:latin typeface="Calibri" pitchFamily="34" charset="0"/>
                <a:ea typeface="Calibri" pitchFamily="34" charset="-122"/>
                <a:cs typeface="Calibri" pitchFamily="34" charset="-120"/>
              </a:rPr>
              <a:t>   ·   </a:t>
            </a:r>
            <a:pPr algn="l" indent="0" marL="0">
              <a:buNone/>
            </a:pPr>
            <a:r>
              <a:rPr lang="en-US" sz="850" u="sng" dirty="0">
                <a:solidFill>
                  <a:srgbClr val="0563C1"/>
                </a:solidFill>
                <a:latin typeface="Calibri" pitchFamily="34" charset="0"/>
                <a:ea typeface="Calibri" pitchFamily="34" charset="-122"/>
                <a:cs typeface="Calibri" pitchFamily="34" charset="-120"/>
                <a:hlinkClick r:id="rId7" invalidUrl="" action="" tgtFrame="" tooltip="" history="1" highlightClick="0" endSnd="0">
                  <a:extLst>
                    <a:ext uri="{A12FA001-AC4F-418D-AE19-62706E023703}">
                      <ahyp:hlinkClr xmlns:ahyp="http://schemas.microsoft.com/office/drawing/2018/hyperlinkcolor" val="tx"/>
                    </a:ext>
                  </a:extLst>
                </a:hlinkClick>
              </a:rPr>
              <a:t>Colombia One - Government declares national disaster</a:t>
            </a:r>
            <a:pPr algn="l" indent="0" marL="0">
              <a:buNone/>
            </a:pPr>
            <a:r>
              <a:rPr lang="en-US" sz="850" dirty="0">
                <a:solidFill>
                  <a:srgbClr val="6A6A6A"/>
                </a:solidFill>
                <a:latin typeface="Calibri" pitchFamily="34" charset="0"/>
                <a:ea typeface="Calibri" pitchFamily="34" charset="-122"/>
                <a:cs typeface="Calibri" pitchFamily="34" charset="-120"/>
              </a:rPr>
              <a:t>   ·   </a:t>
            </a:r>
            <a:pPr algn="l" indent="0" marL="0">
              <a:buNone/>
            </a:pPr>
            <a:r>
              <a:rPr lang="en-US" sz="850" u="sng" dirty="0">
                <a:solidFill>
                  <a:srgbClr val="0563C1"/>
                </a:solidFill>
                <a:latin typeface="Calibri" pitchFamily="34" charset="0"/>
                <a:ea typeface="Calibri" pitchFamily="34" charset="-122"/>
                <a:cs typeface="Calibri" pitchFamily="34" charset="-120"/>
                <a:hlinkClick r:id="rId8" invalidUrl="" action="" tgtFrame="" tooltip="" history="1" highlightClick="0" endSnd="0">
                  <a:extLst>
                    <a:ext uri="{A12FA001-AC4F-418D-AE19-62706E023703}">
                      <ahyp:hlinkClr xmlns:ahyp="http://schemas.microsoft.com/office/drawing/2018/hyperlinkcolor" val="tx"/>
                    </a:ext>
                  </a:extLst>
                </a:hlinkClick>
              </a:rPr>
              <a:t>PreventionWeb - Colombia PNGRD 2015-2030</a:t>
            </a:r>
            <a:endParaRPr lang="en-US" sz="850" dirty="0"/>
          </a:p>
        </p:txBody>
      </p:sp>
      <p:sp>
        <p:nvSpPr>
          <p:cNvPr id="12" name="Shape 7"/>
          <p:cNvSpPr/>
          <p:nvPr/>
        </p:nvSpPr>
        <p:spPr>
          <a:xfrm>
            <a:off x="10268712" y="6510528"/>
            <a:ext cx="1554480" cy="274320"/>
          </a:xfrm>
          <a:prstGeom prst="rect">
            <a:avLst/>
          </a:prstGeom>
          <a:solidFill>
            <a:srgbClr val="E8A317"/>
          </a:solidFill>
          <a:ln w="12700">
            <a:solidFill>
              <a:srgbClr val="E8A317"/>
            </a:solidFill>
            <a:prstDash val="solid"/>
          </a:ln>
        </p:spPr>
      </p:sp>
      <p:sp>
        <p:nvSpPr>
          <p:cNvPr id="13" name="Text 8"/>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950" b="1" dirty="0">
                <a:solidFill>
                  <a:srgbClr val="000000"/>
                </a:solidFill>
                <a:latin typeface="Calibri" pitchFamily="34" charset="0"/>
                <a:ea typeface="Calibri" pitchFamily="34" charset="-122"/>
                <a:cs typeface="Calibri" pitchFamily="34" charset="-120"/>
              </a:rPr>
              <a:t>ADRC  12/08/2026</a:t>
            </a:r>
            <a:endParaRPr lang="en-US" sz="950" dirty="0"/>
          </a:p>
        </p:txBody>
      </p:sp>
      <p:sp>
        <p:nvSpPr>
          <p:cNvPr id="14" name="Text 9"/>
          <p:cNvSpPr/>
          <p:nvPr/>
        </p:nvSpPr>
        <p:spPr>
          <a:xfrm>
            <a:off x="365760" y="6547104"/>
            <a:ext cx="548640" cy="219456"/>
          </a:xfrm>
          <a:prstGeom prst="rect">
            <a:avLst/>
          </a:prstGeom>
          <a:noFill/>
          <a:ln/>
        </p:spPr>
        <p:txBody>
          <a:bodyPr wrap="square" lIns="0" tIns="0" rIns="0" bIns="0" rtlCol="0" anchor="ctr"/>
          <a:lstStyle/>
          <a:p>
            <a:pPr algn="l" indent="0" marL="0">
              <a:buNone/>
            </a:pPr>
            <a:r>
              <a:rPr lang="en-US" sz="900" dirty="0">
                <a:solidFill>
                  <a:srgbClr val="6A6A6A"/>
                </a:solidFill>
                <a:latin typeface="Calibri" pitchFamily="34" charset="0"/>
                <a:ea typeface="Calibri" pitchFamily="34" charset="-122"/>
                <a:cs typeface="Calibri" pitchFamily="34" charset="-120"/>
              </a:rPr>
              <a:t>14</a:t>
            </a:r>
            <a:endParaRPr lang="en-US" sz="9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92608"/>
            <a:ext cx="10332720" cy="566928"/>
          </a:xfrm>
          <a:prstGeom prst="rect">
            <a:avLst/>
          </a:prstGeom>
          <a:noFill/>
          <a:ln/>
        </p:spPr>
        <p:txBody>
          <a:bodyPr wrap="none" lIns="0" tIns="0" rIns="0" bIns="0" rtlCol="0" anchor="ctr">
            <a:normAutofit/>
          </a:bodyPr>
          <a:lstStyle/>
          <a:p>
            <a:pPr algn="l" indent="0" marL="0">
              <a:buNone/>
            </a:pPr>
            <a:r>
              <a:rPr lang="en-US" sz="2100" b="1" dirty="0">
                <a:solidFill>
                  <a:srgbClr val="1F3864"/>
                </a:solidFill>
                <a:latin typeface="Cambria" pitchFamily="34" charset="0"/>
                <a:ea typeface="Cambria" pitchFamily="34" charset="-122"/>
                <a:cs typeface="Cambria" pitchFamily="34" charset="-120"/>
              </a:rPr>
              <a:t>International Support</a:t>
            </a:r>
            <a:endParaRPr lang="en-US" sz="2100" dirty="0"/>
          </a:p>
        </p:txBody>
      </p:sp>
      <p:pic>
        <p:nvPicPr>
          <p:cNvPr id="3" name="Image 0" descr="/home/user/whatsmap/reports/colombia_eq_20260810/images/adrc_logo.png">    </p:cNvPr>
          <p:cNvPicPr>
            <a:picLocks noChangeAspect="1"/>
          </p:cNvPicPr>
          <p:nvPr/>
        </p:nvPicPr>
        <p:blipFill>
          <a:blip r:embed="rId1"/>
          <a:stretch>
            <a:fillRect/>
          </a:stretch>
        </p:blipFill>
        <p:spPr>
          <a:xfrm>
            <a:off x="10945368" y="73152"/>
            <a:ext cx="877824" cy="877824"/>
          </a:xfrm>
          <a:prstGeom prst="rect">
            <a:avLst/>
          </a:prstGeom>
        </p:spPr>
      </p:pic>
      <p:sp>
        <p:nvSpPr>
          <p:cNvPr id="4" name="Text 1"/>
          <p:cNvSpPr/>
          <p:nvPr/>
        </p:nvSpPr>
        <p:spPr>
          <a:xfrm>
            <a:off x="365760" y="1024128"/>
            <a:ext cx="11430000" cy="4572000"/>
          </a:xfrm>
          <a:prstGeom prst="rect">
            <a:avLst/>
          </a:prstGeom>
          <a:noFill/>
          <a:ln/>
        </p:spPr>
        <p:txBody>
          <a:bodyPr wrap="square" lIns="50800" tIns="50800" rIns="50800" bIns="50800" rtlCol="0" anchor="t"/>
          <a:lstStyle/>
          <a:p>
            <a:pPr algn="l" marL="342900" indent="-342900">
              <a:buSzPct val="100000"/>
              <a:buChar char="•"/>
            </a:pPr>
            <a:r>
              <a:rPr lang="en-US" sz="1200" b="1" dirty="0">
                <a:solidFill>
                  <a:srgbClr val="1E7A34"/>
                </a:solidFill>
                <a:latin typeface="Calibri" pitchFamily="34" charset="0"/>
                <a:ea typeface="Calibri" pitchFamily="34" charset="-122"/>
                <a:cs typeface="Calibri" pitchFamily="34" charset="-120"/>
              </a:rPr>
              <a:t>[Official] </a:t>
            </a:r>
            <a:pPr algn="l" indent="0" marL="0">
              <a:spcAft>
                <a:spcPts val="500"/>
              </a:spcAft>
              <a:buNone/>
            </a:pPr>
            <a:r>
              <a:rPr lang="en-US" sz="1300" dirty="0">
                <a:solidFill>
                  <a:srgbClr val="222222"/>
                </a:solidFill>
                <a:latin typeface="Calibri" pitchFamily="34" charset="0"/>
                <a:ea typeface="Calibri" pitchFamily="34" charset="-122"/>
                <a:cs typeface="Calibri" pitchFamily="34" charset="-120"/>
              </a:rPr>
              <a:t>Ecuador mobilised a specialised USAR team of 47 personnel with canine units and self-sufficient equipment.</a:t>
            </a:r>
            <a:endParaRPr lang="en-US" sz="1200" dirty="0"/>
          </a:p>
          <a:p>
            <a:pPr algn="l" marL="342900" indent="-342900">
              <a:buSzPct val="100000"/>
              <a:buChar char="•"/>
            </a:pPr>
            <a:r>
              <a:rPr lang="en-US" sz="1200" b="1" dirty="0">
                <a:solidFill>
                  <a:srgbClr val="B8860B"/>
                </a:solidFill>
                <a:latin typeface="Calibri" pitchFamily="34" charset="0"/>
                <a:ea typeface="Calibri" pitchFamily="34" charset="-122"/>
                <a:cs typeface="Calibri" pitchFamily="34" charset="-120"/>
              </a:rPr>
              <a:t>[Media] </a:t>
            </a:r>
            <a:pPr algn="l" indent="0" marL="0">
              <a:spcAft>
                <a:spcPts val="500"/>
              </a:spcAft>
              <a:buNone/>
            </a:pPr>
            <a:r>
              <a:rPr lang="en-US" sz="1300" dirty="0">
                <a:solidFill>
                  <a:srgbClr val="222222"/>
                </a:solidFill>
                <a:latin typeface="Calibri" pitchFamily="34" charset="0"/>
                <a:ea typeface="Calibri" pitchFamily="34" charset="-122"/>
                <a:cs typeface="Calibri" pitchFamily="34" charset="-120"/>
              </a:rPr>
              <a:t>Mexico's President pledged 'all the support required'; several Latin American governments offered rescuers, canine teams and humanitarian aid, to be channelled through Colombia's Foreign Ministry and UNGRD.</a:t>
            </a:r>
            <a:endParaRPr lang="en-US" sz="1200" dirty="0"/>
          </a:p>
          <a:p>
            <a:pPr algn="l" marL="342900" indent="-342900">
              <a:buSzPct val="100000"/>
              <a:buChar char="•"/>
            </a:pPr>
            <a:r>
              <a:rPr lang="en-US" sz="1200" b="1" dirty="0">
                <a:solidFill>
                  <a:srgbClr val="1E7A34"/>
                </a:solidFill>
                <a:latin typeface="Calibri" pitchFamily="34" charset="0"/>
                <a:ea typeface="Calibri" pitchFamily="34" charset="-122"/>
                <a:cs typeface="Calibri" pitchFamily="34" charset="-120"/>
              </a:rPr>
              <a:t>[Official] </a:t>
            </a:r>
            <a:pPr algn="l" indent="0" marL="0">
              <a:spcAft>
                <a:spcPts val="500"/>
              </a:spcAft>
              <a:buNone/>
            </a:pPr>
            <a:r>
              <a:rPr lang="en-US" sz="1300" dirty="0">
                <a:solidFill>
                  <a:srgbClr val="222222"/>
                </a:solidFill>
                <a:latin typeface="Calibri" pitchFamily="34" charset="0"/>
                <a:ea typeface="Calibri" pitchFamily="34" charset="-122"/>
                <a:cs typeface="Calibri" pitchFamily="34" charset="-120"/>
              </a:rPr>
              <a:t>Copernicus EMS Rapid Mapping activated as EMSR916 'Earthquake in Colombia' at 17:13 UTC on 10 August (12:13 COT), requested by EC Services / DG ECHO, to provide earthquake damage assessment emergency mapping. Status ongoing, with 3 areas of interest and 3 products at the time of writing. The activation reason names Quibdó, Pereira, Manizales and Cali as cities with significant damage and collapsed buildings.</a:t>
            </a:r>
            <a:endParaRPr lang="en-US" sz="1200" dirty="0"/>
          </a:p>
          <a:p>
            <a:pPr algn="l" marL="342900" indent="-342900">
              <a:buSzPct val="100000"/>
              <a:buChar char="•"/>
            </a:pPr>
            <a:r>
              <a:rPr lang="en-US" sz="1200" b="1" dirty="0">
                <a:solidFill>
                  <a:srgbClr val="888888"/>
                </a:solidFill>
                <a:latin typeface="Calibri" pitchFamily="34" charset="0"/>
                <a:ea typeface="Calibri" pitchFamily="34" charset="-122"/>
                <a:cs typeface="Calibri" pitchFamily="34" charset="-120"/>
              </a:rPr>
              <a:t>[TBC] </a:t>
            </a:r>
            <a:pPr algn="l" indent="0" marL="0">
              <a:spcAft>
                <a:spcPts val="500"/>
              </a:spcAft>
              <a:buNone/>
            </a:pPr>
            <a:r>
              <a:rPr lang="en-US" sz="1300" dirty="0">
                <a:solidFill>
                  <a:srgbClr val="222222"/>
                </a:solidFill>
                <a:latin typeface="Calibri" pitchFamily="34" charset="0"/>
                <a:ea typeface="Calibri" pitchFamily="34" charset="-122"/>
                <a:cs typeface="Calibri" pitchFamily="34" charset="-120"/>
              </a:rPr>
              <a:t>The International Charter 'Space and Major Disasters' is also reported to have been activated for this earthquake; the activation number had not been confirmed at the time of writing.</a:t>
            </a:r>
            <a:endParaRPr lang="en-US" sz="1200" dirty="0"/>
          </a:p>
          <a:p>
            <a:pPr algn="l" marL="342900" indent="-342900">
              <a:buSzPct val="100000"/>
              <a:buChar char="•"/>
            </a:pPr>
            <a:r>
              <a:rPr lang="en-US" sz="1200" b="1" dirty="0">
                <a:solidFill>
                  <a:srgbClr val="B8860B"/>
                </a:solidFill>
                <a:latin typeface="Calibri" pitchFamily="34" charset="0"/>
                <a:ea typeface="Calibri" pitchFamily="34" charset="-122"/>
                <a:cs typeface="Calibri" pitchFamily="34" charset="-120"/>
              </a:rPr>
              <a:t>[Media] </a:t>
            </a:r>
            <a:pPr algn="l" indent="0" marL="0">
              <a:spcAft>
                <a:spcPts val="500"/>
              </a:spcAft>
              <a:buNone/>
            </a:pPr>
            <a:r>
              <a:rPr lang="en-US" sz="1300" dirty="0">
                <a:solidFill>
                  <a:srgbClr val="222222"/>
                </a:solidFill>
                <a:latin typeface="Calibri" pitchFamily="34" charset="0"/>
                <a:ea typeface="Calibri" pitchFamily="34" charset="-122"/>
                <a:cs typeface="Calibri" pitchFamily="34" charset="-120"/>
              </a:rPr>
              <a:t>International NGOs mobilising: Direct Relief and Americares (medical supplies), Save the Children (child protection and education), International Rescue Committee (assessment near the epicentre in Chocó), Convoy of Hope (relief goods).</a:t>
            </a:r>
            <a:endParaRPr lang="en-US" sz="1200" dirty="0"/>
          </a:p>
          <a:p>
            <a:pPr algn="l" marL="342900" indent="-342900">
              <a:buSzPct val="100000"/>
              <a:buChar char="•"/>
            </a:pPr>
            <a:r>
              <a:rPr lang="en-US" sz="1200" b="1" dirty="0">
                <a:solidFill>
                  <a:srgbClr val="888888"/>
                </a:solidFill>
                <a:latin typeface="Calibri" pitchFamily="34" charset="0"/>
                <a:ea typeface="Calibri" pitchFamily="34" charset="-122"/>
                <a:cs typeface="Calibri" pitchFamily="34" charset="-120"/>
              </a:rPr>
              <a:t>[TBC] </a:t>
            </a:r>
            <a:pPr algn="l" indent="0" marL="0">
              <a:spcAft>
                <a:spcPts val="500"/>
              </a:spcAft>
              <a:buNone/>
            </a:pPr>
            <a:r>
              <a:rPr lang="en-US" sz="1300" dirty="0">
                <a:solidFill>
                  <a:srgbClr val="222222"/>
                </a:solidFill>
                <a:latin typeface="Calibri" pitchFamily="34" charset="0"/>
                <a:ea typeface="Calibri" pitchFamily="34" charset="-122"/>
                <a:cs typeface="Calibri" pitchFamily="34" charset="-120"/>
              </a:rPr>
              <a:t>No announcement by the Government of Japan (message of condolence, emergency grant aid or JDR dispatch) had been identified at the time of writing.</a:t>
            </a:r>
            <a:endParaRPr lang="en-US" sz="1200" dirty="0"/>
          </a:p>
        </p:txBody>
      </p:sp>
      <p:sp>
        <p:nvSpPr>
          <p:cNvPr id="5" name="Shape 2"/>
          <p:cNvSpPr/>
          <p:nvPr/>
        </p:nvSpPr>
        <p:spPr>
          <a:xfrm>
            <a:off x="365760" y="5669280"/>
            <a:ext cx="11430000" cy="475488"/>
          </a:xfrm>
          <a:prstGeom prst="roundRect">
            <a:avLst>
              <a:gd name="adj" fmla="val 9615"/>
            </a:avLst>
          </a:prstGeom>
          <a:solidFill>
            <a:srgbClr val="FCE9DC"/>
          </a:solidFill>
          <a:ln w="12700">
            <a:solidFill>
              <a:srgbClr val="E8A317"/>
            </a:solidFill>
            <a:prstDash val="solid"/>
          </a:ln>
        </p:spPr>
      </p:sp>
      <p:sp>
        <p:nvSpPr>
          <p:cNvPr id="6" name="Text 3"/>
          <p:cNvSpPr/>
          <p:nvPr/>
        </p:nvSpPr>
        <p:spPr>
          <a:xfrm>
            <a:off x="530352" y="5724144"/>
            <a:ext cx="11100816" cy="365760"/>
          </a:xfrm>
          <a:prstGeom prst="rect">
            <a:avLst/>
          </a:prstGeom>
          <a:noFill/>
          <a:ln/>
        </p:spPr>
        <p:txBody>
          <a:bodyPr wrap="square" lIns="25400" tIns="25400" rIns="25400" bIns="25400" rtlCol="0" anchor="ctr"/>
          <a:lstStyle/>
          <a:p>
            <a:pPr algn="l" indent="0" marL="0">
              <a:buNone/>
            </a:pPr>
            <a:r>
              <a:rPr lang="en-US" sz="1050" b="1" dirty="0">
                <a:solidFill>
                  <a:srgbClr val="9A3B12"/>
                </a:solidFill>
                <a:latin typeface="Calibri" pitchFamily="34" charset="0"/>
                <a:ea typeface="Calibri" pitchFamily="34" charset="-122"/>
                <a:cs typeface="Calibri" pitchFamily="34" charset="-120"/>
              </a:rPr>
              <a:t>Channelling
</a:t>
            </a:r>
            <a:pPr algn="l" indent="0" marL="0">
              <a:buNone/>
            </a:pPr>
            <a:r>
              <a:rPr lang="en-US" sz="950" dirty="0">
                <a:solidFill>
                  <a:srgbClr val="7A2E0E"/>
                </a:solidFill>
                <a:latin typeface="Calibri" pitchFamily="34" charset="0"/>
                <a:ea typeface="Calibri" pitchFamily="34" charset="-122"/>
                <a:cs typeface="Calibri" pitchFamily="34" charset="-120"/>
              </a:rPr>
              <a:t>Offers of assistance are to be channelled through Colombia's Ministry of Foreign Affairs together with UNGRD.</a:t>
            </a:r>
            <a:endParaRPr lang="en-US" sz="1050" dirty="0"/>
          </a:p>
        </p:txBody>
      </p:sp>
      <p:sp>
        <p:nvSpPr>
          <p:cNvPr id="7" name="Text 4"/>
          <p:cNvSpPr/>
          <p:nvPr/>
        </p:nvSpPr>
        <p:spPr>
          <a:xfrm>
            <a:off x="365760" y="6272784"/>
            <a:ext cx="11430000" cy="219456"/>
          </a:xfrm>
          <a:prstGeom prst="rect">
            <a:avLst/>
          </a:prstGeom>
          <a:noFill/>
          <a:ln/>
        </p:spPr>
        <p:txBody>
          <a:bodyPr wrap="square" lIns="0" tIns="0" rIns="0" bIns="0" rtlCol="0" anchor="ctr"/>
          <a:lstStyle/>
          <a:p>
            <a:pPr algn="l" indent="0" marL="0">
              <a:buNone/>
            </a:pPr>
            <a:r>
              <a:rPr lang="en-US" sz="850" b="1" dirty="0">
                <a:solidFill>
                  <a:srgbClr val="6A6A6A"/>
                </a:solidFill>
                <a:latin typeface="Calibri" pitchFamily="34" charset="0"/>
                <a:ea typeface="Calibri" pitchFamily="34" charset="-122"/>
                <a:cs typeface="Calibri" pitchFamily="34" charset="-120"/>
              </a:rPr>
              <a:t>Sources: </a:t>
            </a:r>
            <a:pPr algn="l" indent="0" marL="0">
              <a:buNone/>
            </a:pPr>
            <a:r>
              <a:rPr lang="en-US" sz="850" u="sng" dirty="0">
                <a:solidFill>
                  <a:srgbClr val="0563C1"/>
                </a:solidFill>
                <a:latin typeface="Calibri" pitchFamily="34" charset="0"/>
                <a:ea typeface="Calibri" pitchFamily="34" charset="-122"/>
                <a:cs typeface="Calibri" pitchFamily="34" charset="-120"/>
                <a:hlinkClick r:id="rId2" invalidUrl="" action="" tgtFrame="" tooltip="" history="1" highlightClick="0" endSnd="0">
                  <a:extLst>
                    <a:ext uri="{A12FA001-AC4F-418D-AE19-62706E023703}">
                      <ahyp:hlinkClr xmlns:ahyp="http://schemas.microsoft.com/office/drawing/2018/hyperlinkcolor" val="tx"/>
                    </a:ext>
                  </a:extLst>
                </a:hlinkClick>
              </a:rPr>
              <a:t>International Charter 'Space and Major Disasters' - activations</a:t>
            </a:r>
            <a:pPr algn="l" indent="0" marL="0">
              <a:buNone/>
            </a:pPr>
            <a:r>
              <a:rPr lang="en-US" sz="850" dirty="0">
                <a:solidFill>
                  <a:srgbClr val="6A6A6A"/>
                </a:solidFill>
                <a:latin typeface="Calibri" pitchFamily="34" charset="0"/>
                <a:ea typeface="Calibri" pitchFamily="34" charset="-122"/>
                <a:cs typeface="Calibri" pitchFamily="34" charset="-120"/>
              </a:rPr>
              <a:t>   ·   </a:t>
            </a:r>
            <a:pPr algn="l" indent="0" marL="0">
              <a:buNone/>
            </a:pPr>
            <a:r>
              <a:rPr lang="en-US" sz="850" u="sng" dirty="0">
                <a:solidFill>
                  <a:srgbClr val="0563C1"/>
                </a:solidFill>
                <a:latin typeface="Calibri" pitchFamily="34" charset="0"/>
                <a:ea typeface="Calibri" pitchFamily="34" charset="-122"/>
                <a:cs typeface="Calibri" pitchFamily="34" charset="-120"/>
                <a:hlinkClick r:id="rId3" invalidUrl="" action="" tgtFrame="" tooltip="" history="1" highlightClick="0" endSnd="0">
                  <a:extLst>
                    <a:ext uri="{A12FA001-AC4F-418D-AE19-62706E023703}">
                      <ahyp:hlinkClr xmlns:ahyp="http://schemas.microsoft.com/office/drawing/2018/hyperlinkcolor" val="tx"/>
                    </a:ext>
                  </a:extLst>
                </a:hlinkClick>
              </a:rPr>
              <a:t>Copernicus EMS — EMSR916 'Earthquake in Colombia' (activation)</a:t>
            </a:r>
            <a:pPr algn="l" indent="0" marL="0">
              <a:buNone/>
            </a:pPr>
            <a:r>
              <a:rPr lang="en-US" sz="850" dirty="0">
                <a:solidFill>
                  <a:srgbClr val="6A6A6A"/>
                </a:solidFill>
                <a:latin typeface="Calibri" pitchFamily="34" charset="0"/>
                <a:ea typeface="Calibri" pitchFamily="34" charset="-122"/>
                <a:cs typeface="Calibri" pitchFamily="34" charset="-120"/>
              </a:rPr>
              <a:t>   ·   </a:t>
            </a:r>
            <a:pPr algn="l" indent="0" marL="0">
              <a:buNone/>
            </a:pPr>
            <a:r>
              <a:rPr lang="en-US" sz="850" u="sng" dirty="0">
                <a:solidFill>
                  <a:srgbClr val="0563C1"/>
                </a:solidFill>
                <a:latin typeface="Calibri" pitchFamily="34" charset="0"/>
                <a:ea typeface="Calibri" pitchFamily="34" charset="-122"/>
                <a:cs typeface="Calibri" pitchFamily="34" charset="-120"/>
                <a:hlinkClick r:id="rId4" invalidUrl="" action="" tgtFrame="" tooltip="" history="1" highlightClick="0" endSnd="0">
                  <a:extLst>
                    <a:ext uri="{A12FA001-AC4F-418D-AE19-62706E023703}">
                      <ahyp:hlinkClr xmlns:ahyp="http://schemas.microsoft.com/office/drawing/2018/hyperlinkcolor" val="tx"/>
                    </a:ext>
                  </a:extLst>
                </a:hlinkClick>
              </a:rPr>
              <a:t>ReliefWeb - Colombia</a:t>
            </a:r>
            <a:endParaRPr lang="en-US" sz="850" dirty="0"/>
          </a:p>
        </p:txBody>
      </p:sp>
      <p:sp>
        <p:nvSpPr>
          <p:cNvPr id="8" name="Shape 5"/>
          <p:cNvSpPr/>
          <p:nvPr/>
        </p:nvSpPr>
        <p:spPr>
          <a:xfrm>
            <a:off x="10268712" y="6510528"/>
            <a:ext cx="1554480" cy="274320"/>
          </a:xfrm>
          <a:prstGeom prst="rect">
            <a:avLst/>
          </a:prstGeom>
          <a:solidFill>
            <a:srgbClr val="E8A317"/>
          </a:solidFill>
          <a:ln w="12700">
            <a:solidFill>
              <a:srgbClr val="E8A317"/>
            </a:solidFill>
            <a:prstDash val="solid"/>
          </a:ln>
        </p:spPr>
      </p:sp>
      <p:sp>
        <p:nvSpPr>
          <p:cNvPr id="9" name="Text 6"/>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950" b="1" dirty="0">
                <a:solidFill>
                  <a:srgbClr val="000000"/>
                </a:solidFill>
                <a:latin typeface="Calibri" pitchFamily="34" charset="0"/>
                <a:ea typeface="Calibri" pitchFamily="34" charset="-122"/>
                <a:cs typeface="Calibri" pitchFamily="34" charset="-120"/>
              </a:rPr>
              <a:t>ADRC  12/08/2026</a:t>
            </a:r>
            <a:endParaRPr lang="en-US" sz="950" dirty="0"/>
          </a:p>
        </p:txBody>
      </p:sp>
      <p:sp>
        <p:nvSpPr>
          <p:cNvPr id="10" name="Text 7"/>
          <p:cNvSpPr/>
          <p:nvPr/>
        </p:nvSpPr>
        <p:spPr>
          <a:xfrm>
            <a:off x="365760" y="6547104"/>
            <a:ext cx="548640" cy="219456"/>
          </a:xfrm>
          <a:prstGeom prst="rect">
            <a:avLst/>
          </a:prstGeom>
          <a:noFill/>
          <a:ln/>
        </p:spPr>
        <p:txBody>
          <a:bodyPr wrap="square" lIns="0" tIns="0" rIns="0" bIns="0" rtlCol="0" anchor="ctr"/>
          <a:lstStyle/>
          <a:p>
            <a:pPr algn="l" indent="0" marL="0">
              <a:buNone/>
            </a:pPr>
            <a:r>
              <a:rPr lang="en-US" sz="900" dirty="0">
                <a:solidFill>
                  <a:srgbClr val="6A6A6A"/>
                </a:solidFill>
                <a:latin typeface="Calibri" pitchFamily="34" charset="0"/>
                <a:ea typeface="Calibri" pitchFamily="34" charset="-122"/>
                <a:cs typeface="Calibri" pitchFamily="34" charset="-120"/>
              </a:rPr>
              <a:t>15</a:t>
            </a:r>
            <a:endParaRPr lang="en-US" sz="90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92608"/>
            <a:ext cx="10332720" cy="566928"/>
          </a:xfrm>
          <a:prstGeom prst="rect">
            <a:avLst/>
          </a:prstGeom>
          <a:noFill/>
          <a:ln/>
        </p:spPr>
        <p:txBody>
          <a:bodyPr wrap="none" lIns="0" tIns="0" rIns="0" bIns="0" rtlCol="0" anchor="ctr">
            <a:normAutofit/>
          </a:bodyPr>
          <a:lstStyle/>
          <a:p>
            <a:pPr algn="l" indent="0" marL="0">
              <a:buNone/>
            </a:pPr>
            <a:r>
              <a:rPr lang="en-US" sz="2100" b="1" dirty="0">
                <a:solidFill>
                  <a:srgbClr val="1F3864"/>
                </a:solidFill>
                <a:latin typeface="Cambria" pitchFamily="34" charset="0"/>
                <a:ea typeface="Cambria" pitchFamily="34" charset="-122"/>
                <a:cs typeface="Cambria" pitchFamily="34" charset="-120"/>
              </a:rPr>
              <a:t>Satellite &amp; Analytical Support</a:t>
            </a:r>
            <a:endParaRPr lang="en-US" sz="2100" dirty="0"/>
          </a:p>
        </p:txBody>
      </p:sp>
      <p:pic>
        <p:nvPicPr>
          <p:cNvPr id="3" name="Image 0" descr="/home/user/whatsmap/reports/colombia_eq_20260810/images/adrc_logo.png">    </p:cNvPr>
          <p:cNvPicPr>
            <a:picLocks noChangeAspect="1"/>
          </p:cNvPicPr>
          <p:nvPr/>
        </p:nvPicPr>
        <p:blipFill>
          <a:blip r:embed="rId1"/>
          <a:stretch>
            <a:fillRect/>
          </a:stretch>
        </p:blipFill>
        <p:spPr>
          <a:xfrm>
            <a:off x="10945368" y="73152"/>
            <a:ext cx="877824" cy="877824"/>
          </a:xfrm>
          <a:prstGeom prst="rect">
            <a:avLst/>
          </a:prstGeom>
        </p:spPr>
      </p:pic>
      <p:graphicFrame>
        <p:nvGraphicFramePr>
          <p:cNvPr id="17" name="Table 0"/>
          <p:cNvGraphicFramePr>
            <a:graphicFrameLocks noGrp="1"/>
          </p:cNvGraphicFramePr>
          <p:nvPr>
            <p:extLst>
              <p:ext uri="{D42A27DB-BD31-4B8C-83A1-F6EECF244321}">
                <p14:modId xmlns:p14="http://schemas.microsoft.com/office/powerpoint/2010/main" val="1579011935"/>
              </p:ext>
            </p:extLst>
          </p:nvPr>
        </p:nvGraphicFramePr>
        <p:xfrm>
          <a:off x="365760" y="1024128"/>
          <a:ext cx="11430000" cy="914400"/>
        </p:xfrm>
        <a:graphic>
          <a:graphicData uri="http://schemas.openxmlformats.org/drawingml/2006/table">
            <a:tbl>
              <a:tblPr/>
              <a:tblGrid>
                <a:gridCol w="2011680"/>
                <a:gridCol w="6309360"/>
                <a:gridCol w="2103120"/>
                <a:gridCol w="1005840"/>
              </a:tblGrid>
              <a:tr h="566928">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Organisation</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Contribution</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Status</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Tier</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r>
              <a:tr h="566928">
                <a:tc>
                  <a:txBody>
                    <a:bodyPr/>
                    <a:lstStyle/>
                    <a:p>
                      <a:pPr algn="l" indent="0" marL="0">
                        <a:buNone/>
                      </a:pPr>
                      <a:r>
                        <a:rPr lang="en-US" sz="1000" b="1" dirty="0">
                          <a:solidFill>
                            <a:srgbClr val="1F3864"/>
                          </a:solidFill>
                          <a:latin typeface="Calibri" pitchFamily="34" charset="0"/>
                          <a:ea typeface="Calibri" pitchFamily="34" charset="-122"/>
                          <a:cs typeface="Calibri" pitchFamily="34" charset="-120"/>
                        </a:rPr>
                        <a:t>International Charter</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Activation for the Colombia earthquake reported; wide-area optical/SAR imagery for damage assessment</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900" dirty="0">
                          <a:solidFill>
                            <a:srgbClr val="222222"/>
                          </a:solidFill>
                          <a:latin typeface="Calibri" pitchFamily="34" charset="0"/>
                          <a:ea typeface="Calibri" pitchFamily="34" charset="-122"/>
                          <a:cs typeface="Calibri" pitchFamily="34" charset="-120"/>
                        </a:rPr>
                        <a:t>Reported / number pending</a:t>
                      </a:r>
                      <a:endParaRPr lang="en-US" sz="9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888888"/>
                          </a:solidFill>
                          <a:latin typeface="Calibri" pitchFamily="34" charset="0"/>
                          <a:ea typeface="Calibri" pitchFamily="34" charset="-122"/>
                          <a:cs typeface="Calibri" pitchFamily="34" charset="-120"/>
                        </a:rPr>
                        <a:t>TBC</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566928">
                <a:tc>
                  <a:txBody>
                    <a:bodyPr/>
                    <a:lstStyle/>
                    <a:p>
                      <a:pPr algn="l" indent="0" marL="0">
                        <a:buNone/>
                      </a:pPr>
                      <a:r>
                        <a:rPr lang="en-US" sz="1000" b="1" dirty="0">
                          <a:solidFill>
                            <a:srgbClr val="1F3864"/>
                          </a:solidFill>
                          <a:latin typeface="Calibri" pitchFamily="34" charset="0"/>
                          <a:ea typeface="Calibri" pitchFamily="34" charset="-122"/>
                          <a:cs typeface="Calibri" pitchFamily="34" charset="-120"/>
                        </a:rPr>
                        <a:t>Copernicus EMS</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EMSR916 'Earthquake in Colombia' — Rapid Mapping for damage assessment; requested by EC Services / DG ECHO; 3 AOIs, 3 products</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222222"/>
                          </a:solidFill>
                          <a:latin typeface="Calibri" pitchFamily="34" charset="0"/>
                          <a:ea typeface="Calibri" pitchFamily="34" charset="-122"/>
                          <a:cs typeface="Calibri" pitchFamily="34" charset="-120"/>
                        </a:rPr>
                        <a:t>Ongoing (EMSR916)</a:t>
                      </a:r>
                      <a:endParaRPr lang="en-US" sz="9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1E7A34"/>
                          </a:solidFill>
                          <a:latin typeface="Calibri" pitchFamily="34" charset="0"/>
                          <a:ea typeface="Calibri" pitchFamily="34" charset="-122"/>
                          <a:cs typeface="Calibri" pitchFamily="34" charset="-120"/>
                        </a:rPr>
                        <a:t>Official</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566928">
                <a:tc>
                  <a:txBody>
                    <a:bodyPr/>
                    <a:lstStyle/>
                    <a:p>
                      <a:pPr algn="l" indent="0" marL="0">
                        <a:buNone/>
                      </a:pPr>
                      <a:r>
                        <a:rPr lang="en-US" sz="1000" b="1" dirty="0">
                          <a:solidFill>
                            <a:srgbClr val="1F3864"/>
                          </a:solidFill>
                          <a:latin typeface="Calibri" pitchFamily="34" charset="0"/>
                          <a:ea typeface="Calibri" pitchFamily="34" charset="-122"/>
                          <a:cs typeface="Calibri" pitchFamily="34" charset="-120"/>
                        </a:rPr>
                        <a:t>USGS</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ShakeMap, PAGER (Orange), finite-fault and aftershock catalogue</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900" dirty="0">
                          <a:solidFill>
                            <a:srgbClr val="222222"/>
                          </a:solidFill>
                          <a:latin typeface="Calibri" pitchFamily="34" charset="0"/>
                          <a:ea typeface="Calibri" pitchFamily="34" charset="-122"/>
                          <a:cs typeface="Calibri" pitchFamily="34" charset="-120"/>
                        </a:rPr>
                        <a:t>Published</a:t>
                      </a:r>
                      <a:endParaRPr lang="en-US" sz="9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1E7A34"/>
                          </a:solidFill>
                          <a:latin typeface="Calibri" pitchFamily="34" charset="0"/>
                          <a:ea typeface="Calibri" pitchFamily="34" charset="-122"/>
                          <a:cs typeface="Calibri" pitchFamily="34" charset="-120"/>
                        </a:rPr>
                        <a:t>Official</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566928">
                <a:tc>
                  <a:txBody>
                    <a:bodyPr/>
                    <a:lstStyle/>
                    <a:p>
                      <a:pPr algn="l" indent="0" marL="0">
                        <a:buNone/>
                      </a:pPr>
                      <a:r>
                        <a:rPr lang="en-US" sz="1000" b="1" dirty="0">
                          <a:solidFill>
                            <a:srgbClr val="1F3864"/>
                          </a:solidFill>
                          <a:latin typeface="Calibri" pitchFamily="34" charset="0"/>
                          <a:ea typeface="Calibri" pitchFamily="34" charset="-122"/>
                          <a:cs typeface="Calibri" pitchFamily="34" charset="-120"/>
                        </a:rPr>
                        <a:t>GDACS</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Overall Orange alert; population exposure and impact estimates</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222222"/>
                          </a:solidFill>
                          <a:latin typeface="Calibri" pitchFamily="34" charset="0"/>
                          <a:ea typeface="Calibri" pitchFamily="34" charset="-122"/>
                          <a:cs typeface="Calibri" pitchFamily="34" charset="-120"/>
                        </a:rPr>
                        <a:t>Published</a:t>
                      </a:r>
                      <a:endParaRPr lang="en-US" sz="9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1E7A34"/>
                          </a:solidFill>
                          <a:latin typeface="Calibri" pitchFamily="34" charset="0"/>
                          <a:ea typeface="Calibri" pitchFamily="34" charset="-122"/>
                          <a:cs typeface="Calibri" pitchFamily="34" charset="-120"/>
                        </a:rPr>
                        <a:t>Official</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566928">
                <a:tc>
                  <a:txBody>
                    <a:bodyPr/>
                    <a:lstStyle/>
                    <a:p>
                      <a:pPr algn="l" indent="0" marL="0">
                        <a:buNone/>
                      </a:pPr>
                      <a:r>
                        <a:rPr lang="en-US" sz="1000" b="1" dirty="0">
                          <a:solidFill>
                            <a:srgbClr val="1F3864"/>
                          </a:solidFill>
                          <a:latin typeface="Calibri" pitchFamily="34" charset="0"/>
                          <a:ea typeface="Calibri" pitchFamily="34" charset="-122"/>
                          <a:cs typeface="Calibri" pitchFamily="34" charset="-120"/>
                        </a:rPr>
                        <a:t>SGC</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National seismic network: hypocentre, magnitude revision, aftershock bulletins, accelerographic records</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900" dirty="0">
                          <a:solidFill>
                            <a:srgbClr val="222222"/>
                          </a:solidFill>
                          <a:latin typeface="Calibri" pitchFamily="34" charset="0"/>
                          <a:ea typeface="Calibri" pitchFamily="34" charset="-122"/>
                          <a:cs typeface="Calibri" pitchFamily="34" charset="-120"/>
                        </a:rPr>
                        <a:t>Published</a:t>
                      </a:r>
                      <a:endParaRPr lang="en-US" sz="9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1E7A34"/>
                          </a:solidFill>
                          <a:latin typeface="Calibri" pitchFamily="34" charset="0"/>
                          <a:ea typeface="Calibri" pitchFamily="34" charset="-122"/>
                          <a:cs typeface="Calibri" pitchFamily="34" charset="-120"/>
                        </a:rPr>
                        <a:t>Official</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566928">
                <a:tc>
                  <a:txBody>
                    <a:bodyPr/>
                    <a:lstStyle/>
                    <a:p>
                      <a:pPr algn="l" indent="0" marL="0">
                        <a:buNone/>
                      </a:pPr>
                      <a:r>
                        <a:rPr lang="en-US" sz="1000" b="1" dirty="0">
                          <a:solidFill>
                            <a:srgbClr val="1F3864"/>
                          </a:solidFill>
                          <a:latin typeface="Calibri" pitchFamily="34" charset="0"/>
                          <a:ea typeface="Calibri" pitchFamily="34" charset="-122"/>
                          <a:cs typeface="Calibri" pitchFamily="34" charset="-120"/>
                        </a:rPr>
                        <a:t>Sentinel Asia</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Not applicable - the mechanism covers the Asia-Pacific region; Colombia is served by the International Charter and Copernicus EMS</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222222"/>
                          </a:solidFill>
                          <a:latin typeface="Calibri" pitchFamily="34" charset="0"/>
                          <a:ea typeface="Calibri" pitchFamily="34" charset="-122"/>
                          <a:cs typeface="Calibri" pitchFamily="34" charset="-120"/>
                        </a:rPr>
                        <a:t>n/a</a:t>
                      </a:r>
                      <a:endParaRPr lang="en-US" sz="9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1E7A34"/>
                          </a:solidFill>
                          <a:latin typeface="Calibri" pitchFamily="34" charset="0"/>
                          <a:ea typeface="Calibri" pitchFamily="34" charset="-122"/>
                          <a:cs typeface="Calibri" pitchFamily="34" charset="-120"/>
                        </a:rPr>
                        <a:t>Official</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bl>
          </a:graphicData>
        </a:graphic>
      </p:graphicFrame>
      <p:sp>
        <p:nvSpPr>
          <p:cNvPr id="5" name="Shape 1"/>
          <p:cNvSpPr/>
          <p:nvPr/>
        </p:nvSpPr>
        <p:spPr>
          <a:xfrm>
            <a:off x="365760" y="5175504"/>
            <a:ext cx="11430000" cy="950976"/>
          </a:xfrm>
          <a:prstGeom prst="roundRect">
            <a:avLst>
              <a:gd name="adj" fmla="val 4808"/>
            </a:avLst>
          </a:prstGeom>
          <a:solidFill>
            <a:srgbClr val="FCE9DC"/>
          </a:solidFill>
          <a:ln w="12700">
            <a:solidFill>
              <a:srgbClr val="E8A317"/>
            </a:solidFill>
            <a:prstDash val="solid"/>
          </a:ln>
        </p:spPr>
      </p:sp>
      <p:sp>
        <p:nvSpPr>
          <p:cNvPr id="6" name="Text 2"/>
          <p:cNvSpPr/>
          <p:nvPr/>
        </p:nvSpPr>
        <p:spPr>
          <a:xfrm>
            <a:off x="530352" y="5230368"/>
            <a:ext cx="11100816" cy="841248"/>
          </a:xfrm>
          <a:prstGeom prst="rect">
            <a:avLst/>
          </a:prstGeom>
          <a:noFill/>
          <a:ln/>
        </p:spPr>
        <p:txBody>
          <a:bodyPr wrap="square" lIns="25400" tIns="25400" rIns="25400" bIns="25400" rtlCol="0" anchor="ctr"/>
          <a:lstStyle/>
          <a:p>
            <a:pPr algn="l" indent="0" marL="0">
              <a:buNone/>
            </a:pPr>
            <a:r>
              <a:rPr lang="en-US" sz="1050" b="1" dirty="0">
                <a:solidFill>
                  <a:srgbClr val="9A3B12"/>
                </a:solidFill>
                <a:latin typeface="Calibri" pitchFamily="34" charset="0"/>
                <a:ea typeface="Calibri" pitchFamily="34" charset="-122"/>
                <a:cs typeface="Calibri" pitchFamily="34" charset="-120"/>
              </a:rPr>
              <a:t>Note on Sentinel Asia
</a:t>
            </a:r>
            <a:pPr algn="l" indent="0" marL="0">
              <a:buNone/>
            </a:pPr>
            <a:r>
              <a:rPr lang="en-US" sz="950" dirty="0">
                <a:solidFill>
                  <a:srgbClr val="7A2E0E"/>
                </a:solidFill>
                <a:latin typeface="Calibri" pitchFamily="34" charset="0"/>
                <a:ea typeface="Calibri" pitchFamily="34" charset="-122"/>
                <a:cs typeface="Calibri" pitchFamily="34" charset="-120"/>
              </a:rPr>
              <a:t>Sentinel Asia, for which ADRC serves as a joint project team member, covers the Asia-Pacific region. For a disaster in Colombia the equivalent international mechanisms are the International Charter 'Space and Major Disasters' and the Copernicus Emergency Management Service; UNOSAT/UNITAR rapid mapping is also commonly used in Latin America.</a:t>
            </a:r>
            <a:endParaRPr lang="en-US" sz="1050" dirty="0"/>
          </a:p>
        </p:txBody>
      </p:sp>
      <p:sp>
        <p:nvSpPr>
          <p:cNvPr id="7" name="Text 3"/>
          <p:cNvSpPr/>
          <p:nvPr/>
        </p:nvSpPr>
        <p:spPr>
          <a:xfrm>
            <a:off x="365760" y="6272784"/>
            <a:ext cx="11430000" cy="219456"/>
          </a:xfrm>
          <a:prstGeom prst="rect">
            <a:avLst/>
          </a:prstGeom>
          <a:noFill/>
          <a:ln/>
        </p:spPr>
        <p:txBody>
          <a:bodyPr wrap="square" lIns="0" tIns="0" rIns="0" bIns="0" rtlCol="0" anchor="ctr"/>
          <a:lstStyle/>
          <a:p>
            <a:pPr algn="l" indent="0" marL="0">
              <a:buNone/>
            </a:pPr>
            <a:r>
              <a:rPr lang="en-US" sz="850" b="1" dirty="0">
                <a:solidFill>
                  <a:srgbClr val="6A6A6A"/>
                </a:solidFill>
                <a:latin typeface="Calibri" pitchFamily="34" charset="0"/>
                <a:ea typeface="Calibri" pitchFamily="34" charset="-122"/>
                <a:cs typeface="Calibri" pitchFamily="34" charset="-120"/>
              </a:rPr>
              <a:t>Sources: </a:t>
            </a:r>
            <a:pPr algn="l" indent="0" marL="0">
              <a:buNone/>
            </a:pPr>
            <a:r>
              <a:rPr lang="en-US" sz="850" u="sng" dirty="0">
                <a:solidFill>
                  <a:srgbClr val="0563C1"/>
                </a:solidFill>
                <a:latin typeface="Calibri" pitchFamily="34" charset="0"/>
                <a:ea typeface="Calibri" pitchFamily="34" charset="-122"/>
                <a:cs typeface="Calibri" pitchFamily="34" charset="-120"/>
                <a:hlinkClick r:id="rId2" invalidUrl="" action="" tgtFrame="" tooltip="" history="1" highlightClick="0" endSnd="0">
                  <a:extLst>
                    <a:ext uri="{A12FA001-AC4F-418D-AE19-62706E023703}">
                      <ahyp:hlinkClr xmlns:ahyp="http://schemas.microsoft.com/office/drawing/2018/hyperlinkcolor" val="tx"/>
                    </a:ext>
                  </a:extLst>
                </a:hlinkClick>
              </a:rPr>
              <a:t>International Charter 'Space and Major Disasters' - activations</a:t>
            </a:r>
            <a:pPr algn="l" indent="0" marL="0">
              <a:buNone/>
            </a:pPr>
            <a:r>
              <a:rPr lang="en-US" sz="850" dirty="0">
                <a:solidFill>
                  <a:srgbClr val="6A6A6A"/>
                </a:solidFill>
                <a:latin typeface="Calibri" pitchFamily="34" charset="0"/>
                <a:ea typeface="Calibri" pitchFamily="34" charset="-122"/>
                <a:cs typeface="Calibri" pitchFamily="34" charset="-120"/>
              </a:rPr>
              <a:t>   ·   </a:t>
            </a:r>
            <a:pPr algn="l" indent="0" marL="0">
              <a:buNone/>
            </a:pPr>
            <a:r>
              <a:rPr lang="en-US" sz="850" u="sng" dirty="0">
                <a:solidFill>
                  <a:srgbClr val="0563C1"/>
                </a:solidFill>
                <a:latin typeface="Calibri" pitchFamily="34" charset="0"/>
                <a:ea typeface="Calibri" pitchFamily="34" charset="-122"/>
                <a:cs typeface="Calibri" pitchFamily="34" charset="-120"/>
                <a:hlinkClick r:id="rId3" invalidUrl="" action="" tgtFrame="" tooltip="" history="1" highlightClick="0" endSnd="0">
                  <a:extLst>
                    <a:ext uri="{A12FA001-AC4F-418D-AE19-62706E023703}">
                      <ahyp:hlinkClr xmlns:ahyp="http://schemas.microsoft.com/office/drawing/2018/hyperlinkcolor" val="tx"/>
                    </a:ext>
                  </a:extLst>
                </a:hlinkClick>
              </a:rPr>
              <a:t>Copernicus EMS — EMSR916 'Earthquake in Colombia' (activation)</a:t>
            </a:r>
            <a:pPr algn="l" indent="0" marL="0">
              <a:buNone/>
            </a:pPr>
            <a:r>
              <a:rPr lang="en-US" sz="850" dirty="0">
                <a:solidFill>
                  <a:srgbClr val="6A6A6A"/>
                </a:solidFill>
                <a:latin typeface="Calibri" pitchFamily="34" charset="0"/>
                <a:ea typeface="Calibri" pitchFamily="34" charset="-122"/>
                <a:cs typeface="Calibri" pitchFamily="34" charset="-120"/>
              </a:rPr>
              <a:t>   ·   </a:t>
            </a:r>
            <a:pPr algn="l" indent="0" marL="0">
              <a:buNone/>
            </a:pPr>
            <a:r>
              <a:rPr lang="en-US" sz="850" u="sng" dirty="0">
                <a:solidFill>
                  <a:srgbClr val="0563C1"/>
                </a:solidFill>
                <a:latin typeface="Calibri" pitchFamily="34" charset="0"/>
                <a:ea typeface="Calibri" pitchFamily="34" charset="-122"/>
                <a:cs typeface="Calibri" pitchFamily="34" charset="-120"/>
                <a:hlinkClick r:id="rId4" invalidUrl="" action="" tgtFrame="" tooltip="" history="1" highlightClick="0" endSnd="0">
                  <a:extLst>
                    <a:ext uri="{A12FA001-AC4F-418D-AE19-62706E023703}">
                      <ahyp:hlinkClr xmlns:ahyp="http://schemas.microsoft.com/office/drawing/2018/hyperlinkcolor" val="tx"/>
                    </a:ext>
                  </a:extLst>
                </a:hlinkClick>
              </a:rPr>
              <a:t>GDACS - Orange earthquake alert, Colombia, 10 Aug 2026</a:t>
            </a:r>
            <a:endParaRPr lang="en-US" sz="850" dirty="0"/>
          </a:p>
        </p:txBody>
      </p:sp>
      <p:sp>
        <p:nvSpPr>
          <p:cNvPr id="8" name="Shape 4"/>
          <p:cNvSpPr/>
          <p:nvPr/>
        </p:nvSpPr>
        <p:spPr>
          <a:xfrm>
            <a:off x="10268712" y="6510528"/>
            <a:ext cx="1554480" cy="274320"/>
          </a:xfrm>
          <a:prstGeom prst="rect">
            <a:avLst/>
          </a:prstGeom>
          <a:solidFill>
            <a:srgbClr val="E8A317"/>
          </a:solidFill>
          <a:ln w="12700">
            <a:solidFill>
              <a:srgbClr val="E8A317"/>
            </a:solidFill>
            <a:prstDash val="solid"/>
          </a:ln>
        </p:spPr>
      </p:sp>
      <p:sp>
        <p:nvSpPr>
          <p:cNvPr id="9" name="Text 5"/>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950" b="1" dirty="0">
                <a:solidFill>
                  <a:srgbClr val="000000"/>
                </a:solidFill>
                <a:latin typeface="Calibri" pitchFamily="34" charset="0"/>
                <a:ea typeface="Calibri" pitchFamily="34" charset="-122"/>
                <a:cs typeface="Calibri" pitchFamily="34" charset="-120"/>
              </a:rPr>
              <a:t>ADRC  12/08/2026</a:t>
            </a:r>
            <a:endParaRPr lang="en-US" sz="950" dirty="0"/>
          </a:p>
        </p:txBody>
      </p:sp>
      <p:sp>
        <p:nvSpPr>
          <p:cNvPr id="10" name="Text 6"/>
          <p:cNvSpPr/>
          <p:nvPr/>
        </p:nvSpPr>
        <p:spPr>
          <a:xfrm>
            <a:off x="365760" y="6547104"/>
            <a:ext cx="548640" cy="219456"/>
          </a:xfrm>
          <a:prstGeom prst="rect">
            <a:avLst/>
          </a:prstGeom>
          <a:noFill/>
          <a:ln/>
        </p:spPr>
        <p:txBody>
          <a:bodyPr wrap="square" lIns="0" tIns="0" rIns="0" bIns="0" rtlCol="0" anchor="ctr"/>
          <a:lstStyle/>
          <a:p>
            <a:pPr algn="l" indent="0" marL="0">
              <a:buNone/>
            </a:pPr>
            <a:r>
              <a:rPr lang="en-US" sz="900" dirty="0">
                <a:solidFill>
                  <a:srgbClr val="6A6A6A"/>
                </a:solidFill>
                <a:latin typeface="Calibri" pitchFamily="34" charset="0"/>
                <a:ea typeface="Calibri" pitchFamily="34" charset="-122"/>
                <a:cs typeface="Calibri" pitchFamily="34" charset="-120"/>
              </a:rPr>
              <a:t>16</a:t>
            </a:r>
            <a:endParaRPr lang="en-US" sz="90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92608"/>
            <a:ext cx="10332720" cy="566928"/>
          </a:xfrm>
          <a:prstGeom prst="rect">
            <a:avLst/>
          </a:prstGeom>
          <a:noFill/>
          <a:ln/>
        </p:spPr>
        <p:txBody>
          <a:bodyPr wrap="none" lIns="0" tIns="0" rIns="0" bIns="0" rtlCol="0" anchor="ctr">
            <a:normAutofit/>
          </a:bodyPr>
          <a:lstStyle/>
          <a:p>
            <a:pPr algn="l" indent="0" marL="0">
              <a:buNone/>
            </a:pPr>
            <a:r>
              <a:rPr lang="en-US" sz="2100" b="1" dirty="0">
                <a:solidFill>
                  <a:srgbClr val="1F3864"/>
                </a:solidFill>
                <a:latin typeface="Cambria" pitchFamily="34" charset="0"/>
                <a:ea typeface="Cambria" pitchFamily="34" charset="-122"/>
                <a:cs typeface="Cambria" pitchFamily="34" charset="-120"/>
              </a:rPr>
              <a:t>Copernicus EMS Rapid Mapping: EMSR916</a:t>
            </a:r>
            <a:endParaRPr lang="en-US" sz="2100" dirty="0"/>
          </a:p>
        </p:txBody>
      </p:sp>
      <p:pic>
        <p:nvPicPr>
          <p:cNvPr id="3" name="Image 0" descr="/home/user/whatsmap/reports/colombia_eq_20260810/images/adrc_logo.png">    </p:cNvPr>
          <p:cNvPicPr>
            <a:picLocks noChangeAspect="1"/>
          </p:cNvPicPr>
          <p:nvPr/>
        </p:nvPicPr>
        <p:blipFill>
          <a:blip r:embed="rId1"/>
          <a:stretch>
            <a:fillRect/>
          </a:stretch>
        </p:blipFill>
        <p:spPr>
          <a:xfrm>
            <a:off x="10945368" y="73152"/>
            <a:ext cx="877824" cy="877824"/>
          </a:xfrm>
          <a:prstGeom prst="rect">
            <a:avLst/>
          </a:prstGeom>
        </p:spPr>
      </p:pic>
      <p:pic>
        <p:nvPicPr>
          <p:cNvPr id="4" name="Image 1" descr="/home/user/whatsmap/reports/colombia_eq_20260810/images/emsr916_manual.jpg">    </p:cNvPr>
          <p:cNvPicPr>
            <a:picLocks noChangeAspect="1"/>
          </p:cNvPicPr>
          <p:nvPr/>
        </p:nvPicPr>
        <p:blipFill>
          <a:blip r:embed="rId2"/>
          <a:stretch>
            <a:fillRect/>
          </a:stretch>
        </p:blipFill>
        <p:spPr>
          <a:xfrm>
            <a:off x="365760" y="1318736"/>
            <a:ext cx="6858000" cy="4037647"/>
          </a:xfrm>
          <a:prstGeom prst="rect">
            <a:avLst/>
          </a:prstGeom>
        </p:spPr>
      </p:pic>
      <p:sp>
        <p:nvSpPr>
          <p:cNvPr id="5" name="Text 1"/>
          <p:cNvSpPr/>
          <p:nvPr/>
        </p:nvSpPr>
        <p:spPr>
          <a:xfrm>
            <a:off x="365760" y="5669280"/>
            <a:ext cx="6858000" cy="201168"/>
          </a:xfrm>
          <a:prstGeom prst="rect">
            <a:avLst/>
          </a:prstGeom>
          <a:noFill/>
          <a:ln/>
        </p:spPr>
        <p:txBody>
          <a:bodyPr wrap="square" lIns="0" tIns="0" rIns="0" bIns="0" rtlCol="0" anchor="ctr"/>
          <a:lstStyle/>
          <a:p>
            <a:pPr algn="ctr" indent="0" marL="0">
              <a:buNone/>
            </a:pPr>
            <a:r>
              <a:rPr lang="en-US" sz="800" dirty="0">
                <a:solidFill>
                  <a:srgbClr val="6A6A6A"/>
                </a:solidFill>
                <a:latin typeface="Calibri" pitchFamily="34" charset="0"/>
                <a:ea typeface="Calibri" pitchFamily="34" charset="-122"/>
                <a:cs typeface="Calibri" pitchFamily="34" charset="-120"/>
              </a:rPr>
              <a:t>Activation page (© Copernicus EMS)</a:t>
            </a:r>
            <a:pPr algn="ctr" indent="0" marL="0">
              <a:buNone/>
            </a:pPr>
            <a:r>
              <a:rPr lang="en-US" sz="700" u="sng" dirty="0">
                <a:solidFill>
                  <a:srgbClr val="0563C1"/>
                </a:solidFill>
                <a:latin typeface="Calibri" pitchFamily="34" charset="0"/>
                <a:ea typeface="Calibri" pitchFamily="34" charset="-122"/>
                <a:cs typeface="Calibri" pitchFamily="34" charset="-120"/>
                <a:hlinkClick r:id="rId3" invalidUrl="" action="" tgtFrame="" tooltip="" history="1" highlightClick="0" endSnd="0">
                  <a:extLst>
                    <a:ext uri="{A12FA001-AC4F-418D-AE19-62706E023703}">
                      <ahyp:hlinkClr xmlns:ahyp="http://schemas.microsoft.com/office/drawing/2018/hyperlinkcolor" val="tx"/>
                    </a:ext>
                  </a:extLst>
                </a:hlinkClick>
              </a:rPr>
              <a:t>  —  https://mapping.emergency.copernicus.eu/activations/EMSR916/</a:t>
            </a:r>
            <a:endParaRPr lang="en-US" sz="800" dirty="0"/>
          </a:p>
        </p:txBody>
      </p:sp>
      <p:graphicFrame>
        <p:nvGraphicFramePr>
          <p:cNvPr id="18" name="Table 0"/>
          <p:cNvGraphicFramePr>
            <a:graphicFrameLocks noGrp="1"/>
          </p:cNvGraphicFramePr>
          <p:nvPr>
            <p:extLst>
              <p:ext uri="{D42A27DB-BD31-4B8C-83A1-F6EECF244321}">
                <p14:modId xmlns:p14="http://schemas.microsoft.com/office/powerpoint/2010/main" val="1579011935"/>
              </p:ext>
            </p:extLst>
          </p:nvPr>
        </p:nvGraphicFramePr>
        <p:xfrm>
          <a:off x="7406640" y="1024128"/>
          <a:ext cx="4389120" cy="914400"/>
        </p:xfrm>
        <a:graphic>
          <a:graphicData uri="http://schemas.openxmlformats.org/drawingml/2006/table">
            <a:tbl>
              <a:tblPr/>
              <a:tblGrid>
                <a:gridCol w="1554480"/>
                <a:gridCol w="2834640"/>
              </a:tblGrid>
              <a:tr h="329184">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Item</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Value</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r>
              <a:tr h="329184">
                <a:tc>
                  <a:txBody>
                    <a:bodyPr/>
                    <a:lstStyle/>
                    <a:p>
                      <a:pPr algn="l" indent="0" marL="0">
                        <a:buNone/>
                      </a:pPr>
                      <a:r>
                        <a:rPr lang="en-US" sz="950" b="1" dirty="0">
                          <a:solidFill>
                            <a:srgbClr val="1F3864"/>
                          </a:solidFill>
                          <a:latin typeface="Calibri" pitchFamily="34" charset="0"/>
                          <a:ea typeface="Calibri" pitchFamily="34" charset="-122"/>
                          <a:cs typeface="Calibri" pitchFamily="34" charset="-120"/>
                        </a:rPr>
                        <a:t>Activation</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EMSR916 — Earthquake in Colombia</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329184">
                <a:tc>
                  <a:txBody>
                    <a:bodyPr/>
                    <a:lstStyle/>
                    <a:p>
                      <a:pPr algn="l" indent="0" marL="0">
                        <a:buNone/>
                      </a:pPr>
                      <a:r>
                        <a:rPr lang="en-US" sz="950" b="1" dirty="0">
                          <a:solidFill>
                            <a:srgbClr val="1F3864"/>
                          </a:solidFill>
                          <a:latin typeface="Calibri" pitchFamily="34" charset="0"/>
                          <a:ea typeface="Calibri" pitchFamily="34" charset="-122"/>
                          <a:cs typeface="Calibri" pitchFamily="34" charset="-120"/>
                        </a:rPr>
                        <a:t>Event time</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10/08/2026 afternoon (UTC)</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329184">
                <a:tc>
                  <a:txBody>
                    <a:bodyPr/>
                    <a:lstStyle/>
                    <a:p>
                      <a:pPr algn="l" indent="0" marL="0">
                        <a:buNone/>
                      </a:pPr>
                      <a:r>
                        <a:rPr lang="en-US" sz="950" b="1" dirty="0">
                          <a:solidFill>
                            <a:srgbClr val="1F3864"/>
                          </a:solidFill>
                          <a:latin typeface="Calibri" pitchFamily="34" charset="0"/>
                          <a:ea typeface="Calibri" pitchFamily="34" charset="-122"/>
                          <a:cs typeface="Calibri" pitchFamily="34" charset="-120"/>
                        </a:rPr>
                        <a:t>Activation time</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10/08/2026, 17:13 (UTC) = 12:13 COT</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329184">
                <a:tc>
                  <a:txBody>
                    <a:bodyPr/>
                    <a:lstStyle/>
                    <a:p>
                      <a:pPr algn="l" indent="0" marL="0">
                        <a:buNone/>
                      </a:pPr>
                      <a:r>
                        <a:rPr lang="en-US" sz="950" b="1" dirty="0">
                          <a:solidFill>
                            <a:srgbClr val="1F3864"/>
                          </a:solidFill>
                          <a:latin typeface="Calibri" pitchFamily="34" charset="0"/>
                          <a:ea typeface="Calibri" pitchFamily="34" charset="-122"/>
                          <a:cs typeface="Calibri" pitchFamily="34" charset="-120"/>
                        </a:rPr>
                        <a:t>Event type</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Earthquake / Ground shaking</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329184">
                <a:tc>
                  <a:txBody>
                    <a:bodyPr/>
                    <a:lstStyle/>
                    <a:p>
                      <a:pPr algn="l" indent="0" marL="0">
                        <a:buNone/>
                      </a:pPr>
                      <a:r>
                        <a:rPr lang="en-US" sz="950" b="1" dirty="0">
                          <a:solidFill>
                            <a:srgbClr val="1F3864"/>
                          </a:solidFill>
                          <a:latin typeface="Calibri" pitchFamily="34" charset="0"/>
                          <a:ea typeface="Calibri" pitchFamily="34" charset="-122"/>
                          <a:cs typeface="Calibri" pitchFamily="34" charset="-120"/>
                        </a:rPr>
                        <a:t>Affected country</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Colombia</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329184">
                <a:tc>
                  <a:txBody>
                    <a:bodyPr/>
                    <a:lstStyle/>
                    <a:p>
                      <a:pPr algn="l" indent="0" marL="0">
                        <a:buNone/>
                      </a:pPr>
                      <a:r>
                        <a:rPr lang="en-US" sz="950" b="1" dirty="0">
                          <a:solidFill>
                            <a:srgbClr val="1F3864"/>
                          </a:solidFill>
                          <a:latin typeface="Calibri" pitchFamily="34" charset="0"/>
                          <a:ea typeface="Calibri" pitchFamily="34" charset="-122"/>
                          <a:cs typeface="Calibri" pitchFamily="34" charset="-120"/>
                        </a:rPr>
                        <a:t>Authorised user</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EC Services | DG ECHO</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329184">
                <a:tc>
                  <a:txBody>
                    <a:bodyPr/>
                    <a:lstStyle/>
                    <a:p>
                      <a:pPr algn="l" indent="0" marL="0">
                        <a:buNone/>
                      </a:pPr>
                      <a:r>
                        <a:rPr lang="en-US" sz="950" b="1" dirty="0">
                          <a:solidFill>
                            <a:srgbClr val="1F3864"/>
                          </a:solidFill>
                          <a:latin typeface="Calibri" pitchFamily="34" charset="0"/>
                          <a:ea typeface="Calibri" pitchFamily="34" charset="-122"/>
                          <a:cs typeface="Calibri" pitchFamily="34" charset="-120"/>
                        </a:rPr>
                        <a:t>Service output</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3 AOIs · 3 products · 0 maps</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329184">
                <a:tc>
                  <a:txBody>
                    <a:bodyPr/>
                    <a:lstStyle/>
                    <a:p>
                      <a:pPr algn="l" indent="0" marL="0">
                        <a:buNone/>
                      </a:pPr>
                      <a:r>
                        <a:rPr lang="en-US" sz="950" b="1" dirty="0">
                          <a:solidFill>
                            <a:srgbClr val="1F3864"/>
                          </a:solidFill>
                          <a:latin typeface="Calibri" pitchFamily="34" charset="0"/>
                          <a:ea typeface="Calibri" pitchFamily="34" charset="-122"/>
                          <a:cs typeface="Calibri" pitchFamily="34" charset="-120"/>
                        </a:rPr>
                        <a:t>Status</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ONGOING</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bl>
          </a:graphicData>
        </a:graphic>
      </p:graphicFrame>
      <p:sp>
        <p:nvSpPr>
          <p:cNvPr id="7" name="Text 2"/>
          <p:cNvSpPr/>
          <p:nvPr/>
        </p:nvSpPr>
        <p:spPr>
          <a:xfrm>
            <a:off x="7406640" y="4041648"/>
            <a:ext cx="4389120" cy="1463040"/>
          </a:xfrm>
          <a:prstGeom prst="rect">
            <a:avLst/>
          </a:prstGeom>
          <a:noFill/>
          <a:ln/>
        </p:spPr>
        <p:txBody>
          <a:bodyPr wrap="square" lIns="0" tIns="0" rIns="0" bIns="0" rtlCol="0" anchor="t"/>
          <a:lstStyle/>
          <a:p>
            <a:pPr algn="l" indent="0" marL="0">
              <a:buNone/>
            </a:pPr>
            <a:r>
              <a:rPr lang="en-US" sz="950" b="1" dirty="0">
                <a:solidFill>
                  <a:srgbClr val="1F3864"/>
                </a:solidFill>
                <a:latin typeface="Calibri" pitchFamily="34" charset="0"/>
                <a:ea typeface="Calibri" pitchFamily="34" charset="-122"/>
                <a:cs typeface="Calibri" pitchFamily="34" charset="-120"/>
              </a:rPr>
              <a:t>Activation reason (verbatim)
</a:t>
            </a:r>
            <a:pPr algn="l" indent="0" marL="0">
              <a:buNone/>
            </a:pPr>
            <a:r>
              <a:rPr lang="en-US" sz="900" i="1" dirty="0">
                <a:solidFill>
                  <a:srgbClr val="222222"/>
                </a:solidFill>
                <a:latin typeface="Calibri" pitchFamily="34" charset="0"/>
                <a:ea typeface="Calibri" pitchFamily="34" charset="-122"/>
                <a:cs typeface="Calibri" pitchFamily="34" charset="-120"/>
              </a:rPr>
              <a:t>“On the 10 August 2026 at 12:30 UTC, a major earthquake with a magnitude of 7.4 is reported to have affected western and central Colombia, with the epicentre near San José del Palmar. The event has caused significant damage in several cities, including Quibdó, Pereira, Manizales and Cali, with collapsed buildings reported. Copernicus EMS Rapid Mapping is requested to provide earthquake damage assessment emergency mapping.”</a:t>
            </a:r>
            <a:endParaRPr lang="en-US" sz="950" dirty="0"/>
          </a:p>
        </p:txBody>
      </p:sp>
      <p:sp>
        <p:nvSpPr>
          <p:cNvPr id="8" name="Shape 3"/>
          <p:cNvSpPr/>
          <p:nvPr/>
        </p:nvSpPr>
        <p:spPr>
          <a:xfrm>
            <a:off x="7406640" y="5541264"/>
            <a:ext cx="4389120" cy="566928"/>
          </a:xfrm>
          <a:prstGeom prst="roundRect">
            <a:avLst>
              <a:gd name="adj" fmla="val 8065"/>
            </a:avLst>
          </a:prstGeom>
          <a:solidFill>
            <a:srgbClr val="FCE9DC"/>
          </a:solidFill>
          <a:ln w="12700">
            <a:solidFill>
              <a:srgbClr val="E8A317"/>
            </a:solidFill>
            <a:prstDash val="solid"/>
          </a:ln>
        </p:spPr>
      </p:sp>
      <p:sp>
        <p:nvSpPr>
          <p:cNvPr id="9" name="Text 4"/>
          <p:cNvSpPr/>
          <p:nvPr/>
        </p:nvSpPr>
        <p:spPr>
          <a:xfrm>
            <a:off x="7571232" y="5596128"/>
            <a:ext cx="4059936" cy="457200"/>
          </a:xfrm>
          <a:prstGeom prst="rect">
            <a:avLst/>
          </a:prstGeom>
          <a:noFill/>
          <a:ln/>
        </p:spPr>
        <p:txBody>
          <a:bodyPr wrap="square" lIns="25400" tIns="25400" rIns="25400" bIns="25400" rtlCol="0" anchor="ctr"/>
          <a:lstStyle/>
          <a:p>
            <a:pPr algn="l" indent="0" marL="0">
              <a:buNone/>
            </a:pPr>
            <a:r>
              <a:rPr lang="en-US" sz="1050" b="1" dirty="0">
                <a:solidFill>
                  <a:srgbClr val="9A3B12"/>
                </a:solidFill>
                <a:latin typeface="Calibri" pitchFamily="34" charset="0"/>
                <a:ea typeface="Calibri" pitchFamily="34" charset="-122"/>
                <a:cs typeface="Calibri" pitchFamily="34" charset="-120"/>
              </a:rPr>
              <a:t>What Rapid Mapping delivers
</a:t>
            </a:r>
            <a:pPr algn="l" indent="0" marL="0">
              <a:buNone/>
            </a:pPr>
            <a:r>
              <a:rPr lang="en-US" sz="950" dirty="0">
                <a:solidFill>
                  <a:srgbClr val="7A2E0E"/>
                </a:solidFill>
                <a:latin typeface="Calibri" pitchFamily="34" charset="0"/>
                <a:ea typeface="Calibri" pitchFamily="34" charset="-122"/>
                <a:cs typeface="Calibri" pitchFamily="34" charset="-120"/>
              </a:rPr>
              <a:t>Rapid Mapping delivers reference and grading products over selected areas of interest, not nationwide coverage. Products are published on the activation page as they are produced and are free to use.</a:t>
            </a:r>
            <a:endParaRPr lang="en-US" sz="1050" dirty="0"/>
          </a:p>
        </p:txBody>
      </p:sp>
      <p:sp>
        <p:nvSpPr>
          <p:cNvPr id="10" name="Text 5"/>
          <p:cNvSpPr/>
          <p:nvPr/>
        </p:nvSpPr>
        <p:spPr>
          <a:xfrm>
            <a:off x="365760" y="6272784"/>
            <a:ext cx="11430000" cy="219456"/>
          </a:xfrm>
          <a:prstGeom prst="rect">
            <a:avLst/>
          </a:prstGeom>
          <a:noFill/>
          <a:ln/>
        </p:spPr>
        <p:txBody>
          <a:bodyPr wrap="square" lIns="0" tIns="0" rIns="0" bIns="0" rtlCol="0" anchor="ctr"/>
          <a:lstStyle/>
          <a:p>
            <a:pPr algn="l" indent="0" marL="0">
              <a:buNone/>
            </a:pPr>
            <a:r>
              <a:rPr lang="en-US" sz="850" b="1" dirty="0">
                <a:solidFill>
                  <a:srgbClr val="6A6A6A"/>
                </a:solidFill>
                <a:latin typeface="Calibri" pitchFamily="34" charset="0"/>
                <a:ea typeface="Calibri" pitchFamily="34" charset="-122"/>
                <a:cs typeface="Calibri" pitchFamily="34" charset="-120"/>
              </a:rPr>
              <a:t>Sources: </a:t>
            </a:r>
            <a:pPr algn="l" indent="0" marL="0">
              <a:buNone/>
            </a:pPr>
            <a:r>
              <a:rPr lang="en-US" sz="850" u="sng" dirty="0">
                <a:solidFill>
                  <a:srgbClr val="0563C1"/>
                </a:solidFill>
                <a:latin typeface="Calibri" pitchFamily="34" charset="0"/>
                <a:ea typeface="Calibri" pitchFamily="34" charset="-122"/>
                <a:cs typeface="Calibri" pitchFamily="34" charset="-120"/>
                <a:hlinkClick r:id="rId4" invalidUrl="" action="" tgtFrame="" tooltip="" history="1" highlightClick="0" endSnd="0">
                  <a:extLst>
                    <a:ext uri="{A12FA001-AC4F-418D-AE19-62706E023703}">
                      <ahyp:hlinkClr xmlns:ahyp="http://schemas.microsoft.com/office/drawing/2018/hyperlinkcolor" val="tx"/>
                    </a:ext>
                  </a:extLst>
                </a:hlinkClick>
              </a:rPr>
              <a:t>Copernicus EMS — EMSR916 'Earthquake in Colombia' (activation)</a:t>
            </a:r>
            <a:pPr algn="l" indent="0" marL="0">
              <a:buNone/>
            </a:pPr>
            <a:r>
              <a:rPr lang="en-US" sz="850" dirty="0">
                <a:solidFill>
                  <a:srgbClr val="6A6A6A"/>
                </a:solidFill>
                <a:latin typeface="Calibri" pitchFamily="34" charset="0"/>
                <a:ea typeface="Calibri" pitchFamily="34" charset="-122"/>
                <a:cs typeface="Calibri" pitchFamily="34" charset="-120"/>
              </a:rPr>
              <a:t>   ·   </a:t>
            </a:r>
            <a:pPr algn="l" indent="0" marL="0">
              <a:buNone/>
            </a:pPr>
            <a:r>
              <a:rPr lang="en-US" sz="850" u="sng" dirty="0">
                <a:solidFill>
                  <a:srgbClr val="0563C1"/>
                </a:solidFill>
                <a:latin typeface="Calibri" pitchFamily="34" charset="0"/>
                <a:ea typeface="Calibri" pitchFamily="34" charset="-122"/>
                <a:cs typeface="Calibri" pitchFamily="34" charset="-120"/>
                <a:hlinkClick r:id="rId5" invalidUrl="" action="" tgtFrame="" tooltip="" history="1" highlightClick="0" endSnd="0">
                  <a:extLst>
                    <a:ext uri="{A12FA001-AC4F-418D-AE19-62706E023703}">
                      <ahyp:hlinkClr xmlns:ahyp="http://schemas.microsoft.com/office/drawing/2018/hyperlinkcolor" val="tx"/>
                    </a:ext>
                  </a:extLst>
                </a:hlinkClick>
              </a:rPr>
              <a:t>European Commission — EU support for Colombia, Copernicus activated</a:t>
            </a:r>
            <a:endParaRPr lang="en-US" sz="850" dirty="0"/>
          </a:p>
        </p:txBody>
      </p:sp>
      <p:sp>
        <p:nvSpPr>
          <p:cNvPr id="11" name="Shape 6"/>
          <p:cNvSpPr/>
          <p:nvPr/>
        </p:nvSpPr>
        <p:spPr>
          <a:xfrm>
            <a:off x="10268712" y="6510528"/>
            <a:ext cx="1554480" cy="274320"/>
          </a:xfrm>
          <a:prstGeom prst="rect">
            <a:avLst/>
          </a:prstGeom>
          <a:solidFill>
            <a:srgbClr val="E8A317"/>
          </a:solidFill>
          <a:ln w="12700">
            <a:solidFill>
              <a:srgbClr val="E8A317"/>
            </a:solidFill>
            <a:prstDash val="solid"/>
          </a:ln>
        </p:spPr>
      </p:sp>
      <p:sp>
        <p:nvSpPr>
          <p:cNvPr id="12" name="Text 7"/>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950" b="1" dirty="0">
                <a:solidFill>
                  <a:srgbClr val="000000"/>
                </a:solidFill>
                <a:latin typeface="Calibri" pitchFamily="34" charset="0"/>
                <a:ea typeface="Calibri" pitchFamily="34" charset="-122"/>
                <a:cs typeface="Calibri" pitchFamily="34" charset="-120"/>
              </a:rPr>
              <a:t>ADRC  12/08/2026</a:t>
            </a:r>
            <a:endParaRPr lang="en-US" sz="950" dirty="0"/>
          </a:p>
        </p:txBody>
      </p:sp>
      <p:sp>
        <p:nvSpPr>
          <p:cNvPr id="13" name="Text 8"/>
          <p:cNvSpPr/>
          <p:nvPr/>
        </p:nvSpPr>
        <p:spPr>
          <a:xfrm>
            <a:off x="365760" y="6547104"/>
            <a:ext cx="548640" cy="219456"/>
          </a:xfrm>
          <a:prstGeom prst="rect">
            <a:avLst/>
          </a:prstGeom>
          <a:noFill/>
          <a:ln/>
        </p:spPr>
        <p:txBody>
          <a:bodyPr wrap="square" lIns="0" tIns="0" rIns="0" bIns="0" rtlCol="0" anchor="ctr"/>
          <a:lstStyle/>
          <a:p>
            <a:pPr algn="l" indent="0" marL="0">
              <a:buNone/>
            </a:pPr>
            <a:r>
              <a:rPr lang="en-US" sz="900" dirty="0">
                <a:solidFill>
                  <a:srgbClr val="6A6A6A"/>
                </a:solidFill>
                <a:latin typeface="Calibri" pitchFamily="34" charset="0"/>
                <a:ea typeface="Calibri" pitchFamily="34" charset="-122"/>
                <a:cs typeface="Calibri" pitchFamily="34" charset="-120"/>
              </a:rPr>
              <a:t>17</a:t>
            </a:r>
            <a:endParaRPr lang="en-US" sz="90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92608"/>
            <a:ext cx="10332720" cy="566928"/>
          </a:xfrm>
          <a:prstGeom prst="rect">
            <a:avLst/>
          </a:prstGeom>
          <a:noFill/>
          <a:ln/>
        </p:spPr>
        <p:txBody>
          <a:bodyPr wrap="none" lIns="0" tIns="0" rIns="0" bIns="0" rtlCol="0" anchor="ctr">
            <a:normAutofit/>
          </a:bodyPr>
          <a:lstStyle/>
          <a:p>
            <a:pPr algn="l" indent="0" marL="0">
              <a:buNone/>
            </a:pPr>
            <a:r>
              <a:rPr lang="en-US" sz="2100" b="1" dirty="0">
                <a:solidFill>
                  <a:srgbClr val="1F3864"/>
                </a:solidFill>
                <a:latin typeface="Cambria" pitchFamily="34" charset="0"/>
                <a:ea typeface="Cambria" pitchFamily="34" charset="-122"/>
                <a:cs typeface="Cambria" pitchFamily="34" charset="-120"/>
              </a:rPr>
              <a:t>Colombia's Disaster Risk Management System</a:t>
            </a:r>
            <a:endParaRPr lang="en-US" sz="2100" dirty="0"/>
          </a:p>
        </p:txBody>
      </p:sp>
      <p:pic>
        <p:nvPicPr>
          <p:cNvPr id="3" name="Image 0" descr="/home/user/whatsmap/reports/colombia_eq_20260810/images/adrc_logo.png">    </p:cNvPr>
          <p:cNvPicPr>
            <a:picLocks noChangeAspect="1"/>
          </p:cNvPicPr>
          <p:nvPr/>
        </p:nvPicPr>
        <p:blipFill>
          <a:blip r:embed="rId1"/>
          <a:stretch>
            <a:fillRect/>
          </a:stretch>
        </p:blipFill>
        <p:spPr>
          <a:xfrm>
            <a:off x="10945368" y="73152"/>
            <a:ext cx="877824" cy="877824"/>
          </a:xfrm>
          <a:prstGeom prst="rect">
            <a:avLst/>
          </a:prstGeom>
        </p:spPr>
      </p:pic>
      <p:sp>
        <p:nvSpPr>
          <p:cNvPr id="4" name="Text 1"/>
          <p:cNvSpPr/>
          <p:nvPr/>
        </p:nvSpPr>
        <p:spPr>
          <a:xfrm>
            <a:off x="365760" y="1024128"/>
            <a:ext cx="11430000" cy="868680"/>
          </a:xfrm>
          <a:prstGeom prst="rect">
            <a:avLst/>
          </a:prstGeom>
          <a:noFill/>
          <a:ln/>
        </p:spPr>
        <p:txBody>
          <a:bodyPr wrap="square" lIns="50800" tIns="50800" rIns="50800" bIns="50800" rtlCol="0" anchor="t"/>
          <a:lstStyle/>
          <a:p>
            <a:pPr indent="0" marL="0">
              <a:buNone/>
            </a:pPr>
            <a:r>
              <a:rPr lang="en-US" sz="1150" dirty="0">
                <a:solidFill>
                  <a:srgbClr val="222222"/>
                </a:solidFill>
                <a:latin typeface="Calibri" pitchFamily="34" charset="0"/>
                <a:ea typeface="Calibri" pitchFamily="34" charset="-122"/>
                <a:cs typeface="Calibri" pitchFamily="34" charset="-120"/>
              </a:rPr>
              <a:t>Colombia rebuilt its disaster risk management framework after the 1985 Armero volcanic disaster and again after the 1999 Armenia earthquake. Law 1523 of 2012 created the National Disaster Risk Management System (SNGRD), led by the National Unit for Disaster Risk Management (UNGRD), which reports to the Presidency.</a:t>
            </a:r>
            <a:endParaRPr lang="en-US" sz="1150" dirty="0"/>
          </a:p>
        </p:txBody>
      </p:sp>
      <p:sp>
        <p:nvSpPr>
          <p:cNvPr id="5" name="Text 2"/>
          <p:cNvSpPr/>
          <p:nvPr/>
        </p:nvSpPr>
        <p:spPr>
          <a:xfrm>
            <a:off x="365760" y="1956816"/>
            <a:ext cx="11430000" cy="4114800"/>
          </a:xfrm>
          <a:prstGeom prst="rect">
            <a:avLst/>
          </a:prstGeom>
          <a:noFill/>
          <a:ln/>
        </p:spPr>
        <p:txBody>
          <a:bodyPr wrap="square" lIns="50800" tIns="50800" rIns="50800" bIns="50800" rtlCol="0" anchor="t"/>
          <a:lstStyle/>
          <a:p>
            <a:pPr algn="l" marL="342900" indent="-342900">
              <a:spcAft>
                <a:spcPts val="500"/>
              </a:spcAft>
              <a:buSzPct val="100000"/>
              <a:buChar char="•"/>
            </a:pPr>
            <a:r>
              <a:rPr lang="en-US" sz="1090" dirty="0">
                <a:solidFill>
                  <a:srgbClr val="222222"/>
                </a:solidFill>
                <a:latin typeface="Calibri" pitchFamily="34" charset="0"/>
                <a:ea typeface="Calibri" pitchFamily="34" charset="-122"/>
                <a:cs typeface="Calibri" pitchFamily="34" charset="-120"/>
              </a:rPr>
              <a:t>Law 1523 of 2012 - national policy on disaster risk management; defines the SNGRD and makes risk management a mandatory duty of every public authority and, in part, of private actors.</a:t>
            </a:r>
            <a:endParaRPr lang="en-US" sz="1090" dirty="0"/>
          </a:p>
          <a:p>
            <a:pPr algn="l" marL="342900" indent="-342900">
              <a:spcAft>
                <a:spcPts val="500"/>
              </a:spcAft>
              <a:buSzPct val="100000"/>
              <a:buChar char="•"/>
            </a:pPr>
            <a:r>
              <a:rPr lang="en-US" sz="1090" dirty="0">
                <a:solidFill>
                  <a:srgbClr val="222222"/>
                </a:solidFill>
                <a:latin typeface="Calibri" pitchFamily="34" charset="0"/>
                <a:ea typeface="Calibri" pitchFamily="34" charset="-122"/>
                <a:cs typeface="Calibri" pitchFamily="34" charset="-120"/>
              </a:rPr>
              <a:t>UNGRD - national coordinating agency under the Presidency; runs the national response, the disaster fund (FNGRD) and the national information system.</a:t>
            </a:r>
            <a:endParaRPr lang="en-US" sz="1090" dirty="0"/>
          </a:p>
          <a:p>
            <a:pPr algn="l" marL="342900" indent="-342900">
              <a:spcAft>
                <a:spcPts val="500"/>
              </a:spcAft>
              <a:buSzPct val="100000"/>
              <a:buChar char="•"/>
            </a:pPr>
            <a:r>
              <a:rPr lang="en-US" sz="1090" dirty="0">
                <a:solidFill>
                  <a:srgbClr val="222222"/>
                </a:solidFill>
                <a:latin typeface="Calibri" pitchFamily="34" charset="0"/>
                <a:ea typeface="Calibri" pitchFamily="34" charset="-122"/>
                <a:cs typeface="Calibri" pitchFamily="34" charset="-120"/>
              </a:rPr>
              <a:t>Departmental and municipal risk management councils (CDGRD / CMGRD) carry out first response; UNGRD reinforces when local capacity is exceeded.</a:t>
            </a:r>
            <a:endParaRPr lang="en-US" sz="1090" dirty="0"/>
          </a:p>
          <a:p>
            <a:pPr algn="l" marL="342900" indent="-342900">
              <a:spcAft>
                <a:spcPts val="500"/>
              </a:spcAft>
              <a:buSzPct val="100000"/>
              <a:buChar char="•"/>
            </a:pPr>
            <a:r>
              <a:rPr lang="en-US" sz="1090" dirty="0">
                <a:solidFill>
                  <a:srgbClr val="222222"/>
                </a:solidFill>
                <a:latin typeface="Calibri" pitchFamily="34" charset="0"/>
                <a:ea typeface="Calibri" pitchFamily="34" charset="-122"/>
                <a:cs typeface="Calibri" pitchFamily="34" charset="-120"/>
              </a:rPr>
              <a:t>PNGRD 2015-2030 — the national disaster risk management plan, adopted by Decree 308 of 2016 and updated by Decree 1478 of 3 August 2022; aligned with the Sendai Framework and monitored annually by UNGRD.</a:t>
            </a:r>
            <a:endParaRPr lang="en-US" sz="1090" dirty="0"/>
          </a:p>
          <a:p>
            <a:pPr algn="l" marL="342900" indent="-342900">
              <a:spcAft>
                <a:spcPts val="500"/>
              </a:spcAft>
              <a:buSzPct val="100000"/>
              <a:buChar char="•"/>
            </a:pPr>
            <a:r>
              <a:rPr lang="en-US" sz="1090" dirty="0">
                <a:solidFill>
                  <a:srgbClr val="222222"/>
                </a:solidFill>
                <a:latin typeface="Calibri" pitchFamily="34" charset="0"/>
                <a:ea typeface="Calibri" pitchFamily="34" charset="-122"/>
                <a:cs typeface="Calibri" pitchFamily="34" charset="-120"/>
              </a:rPr>
              <a:t>NSR-10 - the national seismic building code (in force since 2010, technical annexes updated since). Buildings predating modern code enforcement, and non-engineered masonry and earthen construction, remain the dominant source of risk.</a:t>
            </a:r>
            <a:endParaRPr lang="en-US" sz="1090" dirty="0"/>
          </a:p>
          <a:p>
            <a:pPr algn="l" marL="342900" indent="-342900">
              <a:spcAft>
                <a:spcPts val="500"/>
              </a:spcAft>
              <a:buSzPct val="100000"/>
              <a:buChar char="•"/>
            </a:pPr>
            <a:r>
              <a:rPr lang="en-US" sz="1090" dirty="0">
                <a:solidFill>
                  <a:srgbClr val="222222"/>
                </a:solidFill>
                <a:latin typeface="Calibri" pitchFamily="34" charset="0"/>
                <a:ea typeface="Calibri" pitchFamily="34" charset="-122"/>
                <a:cs typeface="Calibri" pitchFamily="34" charset="-120"/>
              </a:rPr>
              <a:t>Seismic microzonation studies exist for major cities including Bogotá, Medellín, Cali, Pereira, Manizales and Armenia — a direct legacy of the 1999 earthquake. In Cali the microzonation is binding on structural design through Decree 411.0.20.0158 of 2014.</a:t>
            </a:r>
            <a:endParaRPr lang="en-US" sz="1090" dirty="0"/>
          </a:p>
          <a:p>
            <a:pPr algn="l" marL="342900" indent="-342900">
              <a:spcAft>
                <a:spcPts val="500"/>
              </a:spcAft>
              <a:buSzPct val="100000"/>
              <a:buChar char="•"/>
            </a:pPr>
            <a:r>
              <a:rPr lang="en-US" sz="1090" dirty="0">
                <a:solidFill>
                  <a:srgbClr val="222222"/>
                </a:solidFill>
                <a:latin typeface="Calibri" pitchFamily="34" charset="0"/>
                <a:ea typeface="Calibri" pitchFamily="34" charset="-122"/>
                <a:cs typeface="Calibri" pitchFamily="34" charset="-120"/>
              </a:rPr>
              <a:t>The SGC operates the National Seismological Network and the national accelerograph network, and issues public bulletins within minutes.</a:t>
            </a:r>
            <a:endParaRPr lang="en-US" sz="1090" dirty="0"/>
          </a:p>
          <a:p>
            <a:pPr algn="l" marL="342900" indent="-342900">
              <a:spcAft>
                <a:spcPts val="500"/>
              </a:spcAft>
              <a:buSzPct val="100000"/>
              <a:buChar char="•"/>
            </a:pPr>
            <a:r>
              <a:rPr lang="en-US" sz="1090" dirty="0">
                <a:solidFill>
                  <a:srgbClr val="222222"/>
                </a:solidFill>
                <a:latin typeface="Calibri" pitchFamily="34" charset="0"/>
                <a:ea typeface="Calibri" pitchFamily="34" charset="-122"/>
                <a:cs typeface="Calibri" pitchFamily="34" charset="-120"/>
              </a:rPr>
              <a:t>Cities run their own instruments alongside the national system: Cali's SATIC community-and-sensor early warning system (from 2018, formalised by Municipal Decree 0858 of 2022), Medellín's DAGRD and its municipal plan, and municipal risk-management funds created under Law 1523.</a:t>
            </a:r>
            <a:endParaRPr lang="en-US" sz="1090" dirty="0"/>
          </a:p>
        </p:txBody>
      </p:sp>
      <p:sp>
        <p:nvSpPr>
          <p:cNvPr id="6" name="Text 3"/>
          <p:cNvSpPr/>
          <p:nvPr/>
        </p:nvSpPr>
        <p:spPr>
          <a:xfrm>
            <a:off x="365760" y="6272784"/>
            <a:ext cx="11430000" cy="219456"/>
          </a:xfrm>
          <a:prstGeom prst="rect">
            <a:avLst/>
          </a:prstGeom>
          <a:noFill/>
          <a:ln/>
        </p:spPr>
        <p:txBody>
          <a:bodyPr wrap="square" lIns="0" tIns="0" rIns="0" bIns="0" rtlCol="0" anchor="ctr"/>
          <a:lstStyle/>
          <a:p>
            <a:pPr algn="l" indent="0" marL="0">
              <a:buNone/>
            </a:pPr>
            <a:r>
              <a:rPr lang="en-US" sz="850" b="1" dirty="0">
                <a:solidFill>
                  <a:srgbClr val="6A6A6A"/>
                </a:solidFill>
                <a:latin typeface="Calibri" pitchFamily="34" charset="0"/>
                <a:ea typeface="Calibri" pitchFamily="34" charset="-122"/>
                <a:cs typeface="Calibri" pitchFamily="34" charset="-120"/>
              </a:rPr>
              <a:t>Sources: </a:t>
            </a:r>
            <a:pPr algn="l" indent="0" marL="0">
              <a:buNone/>
            </a:pPr>
            <a:r>
              <a:rPr lang="en-US" sz="850" u="sng" dirty="0">
                <a:solidFill>
                  <a:srgbClr val="0563C1"/>
                </a:solidFill>
                <a:latin typeface="Calibri" pitchFamily="34" charset="0"/>
                <a:ea typeface="Calibri" pitchFamily="34" charset="-122"/>
                <a:cs typeface="Calibri" pitchFamily="34" charset="-120"/>
                <a:hlinkClick r:id="rId2" invalidUrl="" action="" tgtFrame="" tooltip="" history="1" highlightClick="0" endSnd="0">
                  <a:extLst>
                    <a:ext uri="{A12FA001-AC4F-418D-AE19-62706E023703}">
                      <ahyp:hlinkClr xmlns:ahyp="http://schemas.microsoft.com/office/drawing/2018/hyperlinkcolor" val="tx"/>
                    </a:ext>
                  </a:extLst>
                </a:hlinkClick>
              </a:rPr>
              <a:t>UN-SPIDER - UNGRD of Colombia</a:t>
            </a:r>
            <a:pPr algn="l" indent="0" marL="0">
              <a:buNone/>
            </a:pPr>
            <a:r>
              <a:rPr lang="en-US" sz="850" dirty="0">
                <a:solidFill>
                  <a:srgbClr val="6A6A6A"/>
                </a:solidFill>
                <a:latin typeface="Calibri" pitchFamily="34" charset="0"/>
                <a:ea typeface="Calibri" pitchFamily="34" charset="-122"/>
                <a:cs typeface="Calibri" pitchFamily="34" charset="-120"/>
              </a:rPr>
              <a:t>   ·   </a:t>
            </a:r>
            <a:pPr algn="l" indent="0" marL="0">
              <a:buNone/>
            </a:pPr>
            <a:r>
              <a:rPr lang="en-US" sz="850" u="sng" dirty="0">
                <a:solidFill>
                  <a:srgbClr val="0563C1"/>
                </a:solidFill>
                <a:latin typeface="Calibri" pitchFamily="34" charset="0"/>
                <a:ea typeface="Calibri" pitchFamily="34" charset="-122"/>
                <a:cs typeface="Calibri" pitchFamily="34" charset="-120"/>
                <a:hlinkClick r:id="rId3" invalidUrl="" action="" tgtFrame="" tooltip="" history="1" highlightClick="0" endSnd="0">
                  <a:extLst>
                    <a:ext uri="{A12FA001-AC4F-418D-AE19-62706E023703}">
                      <ahyp:hlinkClr xmlns:ahyp="http://schemas.microsoft.com/office/drawing/2018/hyperlinkcolor" val="tx"/>
                    </a:ext>
                  </a:extLst>
                </a:hlinkClick>
              </a:rPr>
              <a:t>UNGRD — Plan Nacional de Gestión del Riesgo de Desastres (PNGRD)</a:t>
            </a:r>
            <a:pPr algn="l" indent="0" marL="0">
              <a:buNone/>
            </a:pPr>
            <a:r>
              <a:rPr lang="en-US" sz="850" dirty="0">
                <a:solidFill>
                  <a:srgbClr val="6A6A6A"/>
                </a:solidFill>
                <a:latin typeface="Calibri" pitchFamily="34" charset="0"/>
                <a:ea typeface="Calibri" pitchFamily="34" charset="-122"/>
                <a:cs typeface="Calibri" pitchFamily="34" charset="-120"/>
              </a:rPr>
              <a:t>   ·   </a:t>
            </a:r>
            <a:pPr algn="l" indent="0" marL="0">
              <a:buNone/>
            </a:pPr>
            <a:r>
              <a:rPr lang="en-US" sz="850" u="sng" dirty="0">
                <a:solidFill>
                  <a:srgbClr val="0563C1"/>
                </a:solidFill>
                <a:latin typeface="Calibri" pitchFamily="34" charset="0"/>
                <a:ea typeface="Calibri" pitchFamily="34" charset="-122"/>
                <a:cs typeface="Calibri" pitchFamily="34" charset="-120"/>
                <a:hlinkClick r:id="rId4" invalidUrl="" action="" tgtFrame="" tooltip="" history="1" highlightClick="0" endSnd="0">
                  <a:extLst>
                    <a:ext uri="{A12FA001-AC4F-418D-AE19-62706E023703}">
                      <ahyp:hlinkClr xmlns:ahyp="http://schemas.microsoft.com/office/drawing/2018/hyperlinkcolor" val="tx"/>
                    </a:ext>
                  </a:extLst>
                </a:hlinkClick>
              </a:rPr>
              <a:t>Decreto 1478 de 2022 — update of the PNGRD</a:t>
            </a:r>
            <a:pPr algn="l" indent="0" marL="0">
              <a:buNone/>
            </a:pPr>
            <a:r>
              <a:rPr lang="en-US" sz="850" dirty="0">
                <a:solidFill>
                  <a:srgbClr val="6A6A6A"/>
                </a:solidFill>
                <a:latin typeface="Calibri" pitchFamily="34" charset="0"/>
                <a:ea typeface="Calibri" pitchFamily="34" charset="-122"/>
                <a:cs typeface="Calibri" pitchFamily="34" charset="-120"/>
              </a:rPr>
              <a:t>   ·   </a:t>
            </a:r>
            <a:pPr algn="l" indent="0" marL="0">
              <a:buNone/>
            </a:pPr>
            <a:r>
              <a:rPr lang="en-US" sz="850" u="sng" dirty="0">
                <a:solidFill>
                  <a:srgbClr val="0563C1"/>
                </a:solidFill>
                <a:latin typeface="Calibri" pitchFamily="34" charset="0"/>
                <a:ea typeface="Calibri" pitchFamily="34" charset="-122"/>
                <a:cs typeface="Calibri" pitchFamily="34" charset="-120"/>
                <a:hlinkClick r:id="rId5" invalidUrl="" action="" tgtFrame="" tooltip="" history="1" highlightClick="0" endSnd="0">
                  <a:extLst>
                    <a:ext uri="{A12FA001-AC4F-418D-AE19-62706E023703}">
                      <ahyp:hlinkClr xmlns:ahyp="http://schemas.microsoft.com/office/drawing/2018/hyperlinkcolor" val="tx"/>
                    </a:ext>
                  </a:extLst>
                </a:hlinkClick>
              </a:rPr>
              <a:t>SATIC — Cali's intelligent and community early warning system</a:t>
            </a:r>
            <a:endParaRPr lang="en-US" sz="850" dirty="0"/>
          </a:p>
        </p:txBody>
      </p:sp>
      <p:sp>
        <p:nvSpPr>
          <p:cNvPr id="7" name="Shape 4"/>
          <p:cNvSpPr/>
          <p:nvPr/>
        </p:nvSpPr>
        <p:spPr>
          <a:xfrm>
            <a:off x="10268712" y="6510528"/>
            <a:ext cx="1554480" cy="274320"/>
          </a:xfrm>
          <a:prstGeom prst="rect">
            <a:avLst/>
          </a:prstGeom>
          <a:solidFill>
            <a:srgbClr val="E8A317"/>
          </a:solidFill>
          <a:ln w="12700">
            <a:solidFill>
              <a:srgbClr val="E8A317"/>
            </a:solidFill>
            <a:prstDash val="solid"/>
          </a:ln>
        </p:spPr>
      </p:sp>
      <p:sp>
        <p:nvSpPr>
          <p:cNvPr id="8" name="Text 5"/>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950" b="1" dirty="0">
                <a:solidFill>
                  <a:srgbClr val="000000"/>
                </a:solidFill>
                <a:latin typeface="Calibri" pitchFamily="34" charset="0"/>
                <a:ea typeface="Calibri" pitchFamily="34" charset="-122"/>
                <a:cs typeface="Calibri" pitchFamily="34" charset="-120"/>
              </a:rPr>
              <a:t>ADRC  12/08/2026</a:t>
            </a:r>
            <a:endParaRPr lang="en-US" sz="950" dirty="0"/>
          </a:p>
        </p:txBody>
      </p:sp>
      <p:sp>
        <p:nvSpPr>
          <p:cNvPr id="9" name="Text 6"/>
          <p:cNvSpPr/>
          <p:nvPr/>
        </p:nvSpPr>
        <p:spPr>
          <a:xfrm>
            <a:off x="365760" y="6547104"/>
            <a:ext cx="548640" cy="219456"/>
          </a:xfrm>
          <a:prstGeom prst="rect">
            <a:avLst/>
          </a:prstGeom>
          <a:noFill/>
          <a:ln/>
        </p:spPr>
        <p:txBody>
          <a:bodyPr wrap="square" lIns="0" tIns="0" rIns="0" bIns="0" rtlCol="0" anchor="ctr"/>
          <a:lstStyle/>
          <a:p>
            <a:pPr algn="l" indent="0" marL="0">
              <a:buNone/>
            </a:pPr>
            <a:r>
              <a:rPr lang="en-US" sz="900" dirty="0">
                <a:solidFill>
                  <a:srgbClr val="6A6A6A"/>
                </a:solidFill>
                <a:latin typeface="Calibri" pitchFamily="34" charset="0"/>
                <a:ea typeface="Calibri" pitchFamily="34" charset="-122"/>
                <a:cs typeface="Calibri" pitchFamily="34" charset="-120"/>
              </a:rPr>
              <a:t>18</a:t>
            </a:r>
            <a:endParaRPr lang="en-US" sz="90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92608"/>
            <a:ext cx="10332720" cy="566928"/>
          </a:xfrm>
          <a:prstGeom prst="rect">
            <a:avLst/>
          </a:prstGeom>
          <a:noFill/>
          <a:ln/>
        </p:spPr>
        <p:txBody>
          <a:bodyPr wrap="none" lIns="0" tIns="0" rIns="0" bIns="0" rtlCol="0" anchor="ctr">
            <a:normAutofit/>
          </a:bodyPr>
          <a:lstStyle/>
          <a:p>
            <a:pPr algn="l" indent="0" marL="0">
              <a:buNone/>
            </a:pPr>
            <a:r>
              <a:rPr lang="en-US" sz="2100" b="1" dirty="0">
                <a:solidFill>
                  <a:srgbClr val="1F3864"/>
                </a:solidFill>
                <a:latin typeface="Cambria" pitchFamily="34" charset="0"/>
                <a:ea typeface="Cambria" pitchFamily="34" charset="-122"/>
                <a:cs typeface="Cambria" pitchFamily="34" charset="-120"/>
              </a:rPr>
              <a:t>The 1999 Armenia (Quindío) Earthquake &amp; Recovery</a:t>
            </a:r>
            <a:endParaRPr lang="en-US" sz="2100" dirty="0"/>
          </a:p>
        </p:txBody>
      </p:sp>
      <p:pic>
        <p:nvPicPr>
          <p:cNvPr id="3" name="Image 0" descr="/home/user/whatsmap/reports/colombia_eq_20260810/images/adrc_logo.png">    </p:cNvPr>
          <p:cNvPicPr>
            <a:picLocks noChangeAspect="1"/>
          </p:cNvPicPr>
          <p:nvPr/>
        </p:nvPicPr>
        <p:blipFill>
          <a:blip r:embed="rId1"/>
          <a:stretch>
            <a:fillRect/>
          </a:stretch>
        </p:blipFill>
        <p:spPr>
          <a:xfrm>
            <a:off x="10945368" y="73152"/>
            <a:ext cx="877824" cy="877824"/>
          </a:xfrm>
          <a:prstGeom prst="rect">
            <a:avLst/>
          </a:prstGeom>
        </p:spPr>
      </p:pic>
      <p:sp>
        <p:nvSpPr>
          <p:cNvPr id="4" name="Text 1"/>
          <p:cNvSpPr/>
          <p:nvPr/>
        </p:nvSpPr>
        <p:spPr>
          <a:xfrm>
            <a:off x="365760" y="1024128"/>
            <a:ext cx="5852160" cy="1783080"/>
          </a:xfrm>
          <a:prstGeom prst="rect">
            <a:avLst/>
          </a:prstGeom>
          <a:noFill/>
          <a:ln/>
        </p:spPr>
        <p:txBody>
          <a:bodyPr wrap="square" lIns="50800" tIns="50800" rIns="50800" bIns="50800" rtlCol="0" anchor="t"/>
          <a:lstStyle/>
          <a:p>
            <a:pPr algn="l" indent="0" marL="0">
              <a:buNone/>
            </a:pPr>
            <a:r>
              <a:rPr lang="en-US" sz="1200" b="1" dirty="0">
                <a:solidFill>
                  <a:srgbClr val="1F3864"/>
                </a:solidFill>
                <a:latin typeface="Calibri" pitchFamily="34" charset="0"/>
                <a:ea typeface="Calibri" pitchFamily="34" charset="-122"/>
                <a:cs typeface="Calibri" pitchFamily="34" charset="-120"/>
              </a:rPr>
              <a:t>The 1999 Armenia (Quindío) Earthquake - the same Coffee Region
</a:t>
            </a:r>
            <a:pPr algn="l" indent="0" marL="0">
              <a:buNone/>
            </a:pPr>
            <a:r>
              <a:rPr lang="en-US" sz="1050" dirty="0">
                <a:solidFill>
                  <a:srgbClr val="222222"/>
                </a:solidFill>
                <a:latin typeface="Calibri" pitchFamily="34" charset="0"/>
                <a:ea typeface="Calibri" pitchFamily="34" charset="-122"/>
                <a:cs typeface="Calibri" pitchFamily="34" charset="-120"/>
              </a:rPr>
              <a:t>On 25 January 1999 an M6.1-6.2 earthquake at about 30 km depth struck the Quindío coffee-growing region. It killed about 1,185 people, injured over 5,000 and damaged or destroyed some 50,000 structures; roughly 60% of the buildings in the city of Armenia collapsed or were severely damaged, and more than 200,000 people were displaced. Although far smaller in magnitude than the 2026 event, it was much shallower and much closer to the cities, which is why its local destructiveness was far greater.</a:t>
            </a:r>
            <a:endParaRPr lang="en-US" sz="1200" dirty="0"/>
          </a:p>
        </p:txBody>
      </p:sp>
      <p:graphicFrame>
        <p:nvGraphicFramePr>
          <p:cNvPr id="20" name="Table 0"/>
          <p:cNvGraphicFramePr>
            <a:graphicFrameLocks noGrp="1"/>
          </p:cNvGraphicFramePr>
          <p:nvPr>
            <p:extLst>
              <p:ext uri="{D42A27DB-BD31-4B8C-83A1-F6EECF244321}">
                <p14:modId xmlns:p14="http://schemas.microsoft.com/office/powerpoint/2010/main" val="1579011935"/>
              </p:ext>
            </p:extLst>
          </p:nvPr>
        </p:nvGraphicFramePr>
        <p:xfrm>
          <a:off x="365760" y="2871216"/>
          <a:ext cx="5852160" cy="914400"/>
        </p:xfrm>
        <a:graphic>
          <a:graphicData uri="http://schemas.openxmlformats.org/drawingml/2006/table">
            <a:tbl>
              <a:tblPr/>
              <a:tblGrid>
                <a:gridCol w="2468880"/>
                <a:gridCol w="3383280"/>
              </a:tblGrid>
              <a:tr h="384048">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1999 impact</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Figure</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r>
              <a:tr h="384048">
                <a:tc>
                  <a:txBody>
                    <a:bodyPr/>
                    <a:lstStyle/>
                    <a:p>
                      <a:pPr algn="l" indent="0" marL="0">
                        <a:buNone/>
                      </a:pPr>
                      <a:r>
                        <a:rPr lang="en-US" sz="1000" dirty="0">
                          <a:solidFill>
                            <a:srgbClr val="222222"/>
                          </a:solidFill>
                          <a:latin typeface="Calibri" pitchFamily="34" charset="0"/>
                          <a:ea typeface="Calibri" pitchFamily="34" charset="-122"/>
                          <a:cs typeface="Calibri" pitchFamily="34" charset="-120"/>
                        </a:rPr>
                        <a:t>Deaths</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approx. 1,185</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384048">
                <a:tc>
                  <a:txBody>
                    <a:bodyPr/>
                    <a:lstStyle/>
                    <a:p>
                      <a:pPr algn="l" indent="0" marL="0">
                        <a:buNone/>
                      </a:pPr>
                      <a:r>
                        <a:rPr lang="en-US" sz="1000" dirty="0">
                          <a:solidFill>
                            <a:srgbClr val="222222"/>
                          </a:solidFill>
                          <a:latin typeface="Calibri" pitchFamily="34" charset="0"/>
                          <a:ea typeface="Calibri" pitchFamily="34" charset="-122"/>
                          <a:cs typeface="Calibri" pitchFamily="34" charset="-120"/>
                        </a:rPr>
                        <a:t>Injured</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over 5,000</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384048">
                <a:tc>
                  <a:txBody>
                    <a:bodyPr/>
                    <a:lstStyle/>
                    <a:p>
                      <a:pPr algn="l" indent="0" marL="0">
                        <a:buNone/>
                      </a:pPr>
                      <a:r>
                        <a:rPr lang="en-US" sz="1000" dirty="0">
                          <a:solidFill>
                            <a:srgbClr val="222222"/>
                          </a:solidFill>
                          <a:latin typeface="Calibri" pitchFamily="34" charset="0"/>
                          <a:ea typeface="Calibri" pitchFamily="34" charset="-122"/>
                          <a:cs typeface="Calibri" pitchFamily="34" charset="-120"/>
                        </a:rPr>
                        <a:t>Structures damaged or destroyed</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approx. 50,000</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384048">
                <a:tc>
                  <a:txBody>
                    <a:bodyPr/>
                    <a:lstStyle/>
                    <a:p>
                      <a:pPr algn="l" indent="0" marL="0">
                        <a:buNone/>
                      </a:pPr>
                      <a:r>
                        <a:rPr lang="en-US" sz="1000" dirty="0">
                          <a:solidFill>
                            <a:srgbClr val="222222"/>
                          </a:solidFill>
                          <a:latin typeface="Calibri" pitchFamily="34" charset="0"/>
                          <a:ea typeface="Calibri" pitchFamily="34" charset="-122"/>
                          <a:cs typeface="Calibri" pitchFamily="34" charset="-120"/>
                        </a:rPr>
                        <a:t>Displaced</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over 200,000</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384048">
                <a:tc>
                  <a:txBody>
                    <a:bodyPr/>
                    <a:lstStyle/>
                    <a:p>
                      <a:pPr algn="l" indent="0" marL="0">
                        <a:buNone/>
                      </a:pPr>
                      <a:r>
                        <a:rPr lang="en-US" sz="1000" dirty="0">
                          <a:solidFill>
                            <a:srgbClr val="222222"/>
                          </a:solidFill>
                          <a:latin typeface="Calibri" pitchFamily="34" charset="0"/>
                          <a:ea typeface="Calibri" pitchFamily="34" charset="-122"/>
                          <a:cs typeface="Calibri" pitchFamily="34" charset="-120"/>
                        </a:rPr>
                        <a:t>Coffee sector</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approx. 8,000 farms and 1,200 processing facilities damaged</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bl>
          </a:graphicData>
        </a:graphic>
      </p:graphicFrame>
      <p:sp>
        <p:nvSpPr>
          <p:cNvPr id="6" name="Text 2"/>
          <p:cNvSpPr/>
          <p:nvPr/>
        </p:nvSpPr>
        <p:spPr>
          <a:xfrm>
            <a:off x="6400800" y="1024128"/>
            <a:ext cx="5394960" cy="274320"/>
          </a:xfrm>
          <a:prstGeom prst="rect">
            <a:avLst/>
          </a:prstGeom>
          <a:noFill/>
          <a:ln/>
        </p:spPr>
        <p:txBody>
          <a:bodyPr wrap="square" lIns="50800" tIns="50800" rIns="50800" bIns="50800" rtlCol="0" anchor="ctr"/>
          <a:lstStyle/>
          <a:p>
            <a:pPr indent="0" marL="0">
              <a:buNone/>
            </a:pPr>
            <a:r>
              <a:rPr lang="en-US" sz="1200" b="1" dirty="0">
                <a:solidFill>
                  <a:srgbClr val="1F3864"/>
                </a:solidFill>
                <a:latin typeface="Calibri" pitchFamily="34" charset="0"/>
                <a:ea typeface="Calibri" pitchFamily="34" charset="-122"/>
                <a:cs typeface="Calibri" pitchFamily="34" charset="-120"/>
              </a:rPr>
              <a:t>What followed / lessons</a:t>
            </a:r>
            <a:endParaRPr lang="en-US" sz="1200" dirty="0"/>
          </a:p>
        </p:txBody>
      </p:sp>
      <p:sp>
        <p:nvSpPr>
          <p:cNvPr id="7" name="Text 3"/>
          <p:cNvSpPr/>
          <p:nvPr/>
        </p:nvSpPr>
        <p:spPr>
          <a:xfrm>
            <a:off x="6400800" y="1316736"/>
            <a:ext cx="5394960" cy="3931920"/>
          </a:xfrm>
          <a:prstGeom prst="rect">
            <a:avLst/>
          </a:prstGeom>
          <a:noFill/>
          <a:ln/>
        </p:spPr>
        <p:txBody>
          <a:bodyPr wrap="square" lIns="50800" tIns="50800" rIns="50800" bIns="50800" rtlCol="0" anchor="t"/>
          <a:lstStyle/>
          <a:p>
            <a:pPr algn="l" marL="342900" indent="-342900">
              <a:spcAft>
                <a:spcPts val="500"/>
              </a:spcAft>
              <a:buSzPct val="100000"/>
              <a:buChar char="•"/>
            </a:pPr>
            <a:r>
              <a:rPr lang="en-US" sz="1100" dirty="0">
                <a:solidFill>
                  <a:srgbClr val="222222"/>
                </a:solidFill>
                <a:latin typeface="Calibri" pitchFamily="34" charset="0"/>
                <a:ea typeface="Calibri" pitchFamily="34" charset="-122"/>
                <a:cs typeface="Calibri" pitchFamily="34" charset="-120"/>
              </a:rPr>
              <a:t>Reconstruction was managed through a dedicated temporary body for the Coffee Region, an early example in Latin America of a purpose-built reconstruction agency.</a:t>
            </a:r>
            <a:endParaRPr lang="en-US" sz="1100" dirty="0"/>
          </a:p>
          <a:p>
            <a:pPr algn="l" marL="342900" indent="-342900">
              <a:spcAft>
                <a:spcPts val="500"/>
              </a:spcAft>
              <a:buSzPct val="100000"/>
              <a:buChar char="•"/>
            </a:pPr>
            <a:r>
              <a:rPr lang="en-US" sz="1100" dirty="0">
                <a:solidFill>
                  <a:srgbClr val="222222"/>
                </a:solidFill>
                <a:latin typeface="Calibri" pitchFamily="34" charset="0"/>
                <a:ea typeface="Calibri" pitchFamily="34" charset="-122"/>
                <a:cs typeface="Calibri" pitchFamily="34" charset="-120"/>
              </a:rPr>
              <a:t>The disaster drove enforcement of the national seismic code and the seismic microzonation studies that now cover Pereira, Manizales and Armenia.</a:t>
            </a:r>
            <a:endParaRPr lang="en-US" sz="1100" dirty="0"/>
          </a:p>
          <a:p>
            <a:pPr algn="l" marL="342900" indent="-342900">
              <a:spcAft>
                <a:spcPts val="500"/>
              </a:spcAft>
              <a:buSzPct val="100000"/>
              <a:buChar char="•"/>
            </a:pPr>
            <a:r>
              <a:rPr lang="en-US" sz="1100" dirty="0">
                <a:solidFill>
                  <a:srgbClr val="222222"/>
                </a:solidFill>
                <a:latin typeface="Calibri" pitchFamily="34" charset="0"/>
                <a:ea typeface="Calibri" pitchFamily="34" charset="-122"/>
                <a:cs typeface="Calibri" pitchFamily="34" charset="-120"/>
              </a:rPr>
              <a:t>Recovery of the coffee economy took roughly a decade - the economic tail of the disaster far outlasted the emergency phase.</a:t>
            </a:r>
            <a:endParaRPr lang="en-US" sz="1100" dirty="0"/>
          </a:p>
          <a:p>
            <a:pPr algn="l" marL="342900" indent="-342900">
              <a:spcAft>
                <a:spcPts val="500"/>
              </a:spcAft>
              <a:buSzPct val="100000"/>
              <a:buChar char="•"/>
            </a:pPr>
            <a:r>
              <a:rPr lang="en-US" sz="1100" dirty="0">
                <a:solidFill>
                  <a:srgbClr val="222222"/>
                </a:solidFill>
                <a:latin typeface="Calibri" pitchFamily="34" charset="0"/>
                <a:ea typeface="Calibri" pitchFamily="34" charset="-122"/>
                <a:cs typeface="Calibri" pitchFamily="34" charset="-120"/>
              </a:rPr>
              <a:t>The 2026 earthquake shook the same cities, but as a deep, distant source rather than a shallow local one: a different loading of the same building stock.</a:t>
            </a:r>
            <a:endParaRPr lang="en-US" sz="1100" dirty="0"/>
          </a:p>
        </p:txBody>
      </p:sp>
      <p:sp>
        <p:nvSpPr>
          <p:cNvPr id="8" name="Shape 4"/>
          <p:cNvSpPr/>
          <p:nvPr/>
        </p:nvSpPr>
        <p:spPr>
          <a:xfrm>
            <a:off x="365760" y="5358384"/>
            <a:ext cx="11430000" cy="749808"/>
          </a:xfrm>
          <a:prstGeom prst="roundRect">
            <a:avLst>
              <a:gd name="adj" fmla="val 6098"/>
            </a:avLst>
          </a:prstGeom>
          <a:solidFill>
            <a:srgbClr val="FCE9DC"/>
          </a:solidFill>
          <a:ln w="12700">
            <a:solidFill>
              <a:srgbClr val="E8A317"/>
            </a:solidFill>
            <a:prstDash val="solid"/>
          </a:ln>
        </p:spPr>
      </p:sp>
      <p:sp>
        <p:nvSpPr>
          <p:cNvPr id="9" name="Text 5"/>
          <p:cNvSpPr/>
          <p:nvPr/>
        </p:nvSpPr>
        <p:spPr>
          <a:xfrm>
            <a:off x="530352" y="5413248"/>
            <a:ext cx="11100816" cy="640080"/>
          </a:xfrm>
          <a:prstGeom prst="rect">
            <a:avLst/>
          </a:prstGeom>
          <a:noFill/>
          <a:ln/>
        </p:spPr>
        <p:txBody>
          <a:bodyPr wrap="square" lIns="25400" tIns="25400" rIns="25400" bIns="25400" rtlCol="0" anchor="ctr"/>
          <a:lstStyle/>
          <a:p>
            <a:pPr algn="l" indent="0" marL="0">
              <a:buNone/>
            </a:pPr>
            <a:r>
              <a:rPr lang="en-US" sz="1050" b="1" dirty="0">
                <a:solidFill>
                  <a:srgbClr val="9A3B12"/>
                </a:solidFill>
                <a:latin typeface="Calibri" pitchFamily="34" charset="0"/>
                <a:ea typeface="Calibri" pitchFamily="34" charset="-122"/>
                <a:cs typeface="Calibri" pitchFamily="34" charset="-120"/>
              </a:rPr>
              <a:t>Why this matters now
</a:t>
            </a:r>
            <a:pPr algn="l" indent="0" marL="0">
              <a:buNone/>
            </a:pPr>
            <a:r>
              <a:rPr lang="en-US" sz="950" dirty="0">
                <a:solidFill>
                  <a:srgbClr val="7A2E0E"/>
                </a:solidFill>
                <a:latin typeface="Calibri" pitchFamily="34" charset="0"/>
                <a:ea typeface="Calibri" pitchFamily="34" charset="-122"/>
                <a:cs typeface="Calibri" pitchFamily="34" charset="-120"/>
              </a:rPr>
              <a:t>The cities hit hardest in 2026 - Pereira, Manizales, Armenia - are the same cities that rebuilt after 1999. How that rebuilt stock performed under long-period, long-duration shaking from a 110 km-deep source is the key question for post-event assessment.</a:t>
            </a:r>
            <a:endParaRPr lang="en-US" sz="1050" dirty="0"/>
          </a:p>
        </p:txBody>
      </p:sp>
      <p:sp>
        <p:nvSpPr>
          <p:cNvPr id="10" name="Text 6"/>
          <p:cNvSpPr/>
          <p:nvPr/>
        </p:nvSpPr>
        <p:spPr>
          <a:xfrm>
            <a:off x="365760" y="6272784"/>
            <a:ext cx="11430000" cy="219456"/>
          </a:xfrm>
          <a:prstGeom prst="rect">
            <a:avLst/>
          </a:prstGeom>
          <a:noFill/>
          <a:ln/>
        </p:spPr>
        <p:txBody>
          <a:bodyPr wrap="square" lIns="0" tIns="0" rIns="0" bIns="0" rtlCol="0" anchor="ctr"/>
          <a:lstStyle/>
          <a:p>
            <a:pPr algn="l" indent="0" marL="0">
              <a:buNone/>
            </a:pPr>
            <a:r>
              <a:rPr lang="en-US" sz="850" b="1" dirty="0">
                <a:solidFill>
                  <a:srgbClr val="6A6A6A"/>
                </a:solidFill>
                <a:latin typeface="Calibri" pitchFamily="34" charset="0"/>
                <a:ea typeface="Calibri" pitchFamily="34" charset="-122"/>
                <a:cs typeface="Calibri" pitchFamily="34" charset="-120"/>
              </a:rPr>
              <a:t>Sources: </a:t>
            </a:r>
            <a:pPr algn="l" indent="0" marL="0">
              <a:buNone/>
            </a:pPr>
            <a:r>
              <a:rPr lang="en-US" sz="850" u="sng" dirty="0">
                <a:solidFill>
                  <a:srgbClr val="0563C1"/>
                </a:solidFill>
                <a:latin typeface="Calibri" pitchFamily="34" charset="0"/>
                <a:ea typeface="Calibri" pitchFamily="34" charset="-122"/>
                <a:cs typeface="Calibri" pitchFamily="34" charset="-120"/>
                <a:hlinkClick r:id="rId2" invalidUrl="" action="" tgtFrame="" tooltip="" history="1" highlightClick="0" endSnd="0">
                  <a:extLst>
                    <a:ext uri="{A12FA001-AC4F-418D-AE19-62706E023703}">
                      <ahyp:hlinkClr xmlns:ahyp="http://schemas.microsoft.com/office/drawing/2018/hyperlinkcolor" val="tx"/>
                    </a:ext>
                  </a:extLst>
                </a:hlinkClick>
              </a:rPr>
              <a:t>GEM - Seismic regulations for Colombia (NSR-10)</a:t>
            </a:r>
            <a:pPr algn="l" indent="0" marL="0">
              <a:buNone/>
            </a:pPr>
            <a:r>
              <a:rPr lang="en-US" sz="850" dirty="0">
                <a:solidFill>
                  <a:srgbClr val="6A6A6A"/>
                </a:solidFill>
                <a:latin typeface="Calibri" pitchFamily="34" charset="0"/>
                <a:ea typeface="Calibri" pitchFamily="34" charset="-122"/>
                <a:cs typeface="Calibri" pitchFamily="34" charset="-120"/>
              </a:rPr>
              <a:t>   ·   </a:t>
            </a:r>
            <a:pPr algn="l" indent="0" marL="0">
              <a:buNone/>
            </a:pPr>
            <a:r>
              <a:rPr lang="en-US" sz="850" u="sng" dirty="0">
                <a:solidFill>
                  <a:srgbClr val="0563C1"/>
                </a:solidFill>
                <a:latin typeface="Calibri" pitchFamily="34" charset="0"/>
                <a:ea typeface="Calibri" pitchFamily="34" charset="-122"/>
                <a:cs typeface="Calibri" pitchFamily="34" charset="-120"/>
                <a:hlinkClick r:id="rId3" invalidUrl="" action="" tgtFrame="" tooltip="" history="1" highlightClick="0" endSnd="0">
                  <a:extLst>
                    <a:ext uri="{A12FA001-AC4F-418D-AE19-62706E023703}">
                      <ahyp:hlinkClr xmlns:ahyp="http://schemas.microsoft.com/office/drawing/2018/hyperlinkcolor" val="tx"/>
                    </a:ext>
                  </a:extLst>
                </a:hlinkClick>
              </a:rPr>
              <a:t>PreventionWeb - Colombia PNGRD 2015-2030</a:t>
            </a:r>
            <a:endParaRPr lang="en-US" sz="850" dirty="0"/>
          </a:p>
        </p:txBody>
      </p:sp>
      <p:sp>
        <p:nvSpPr>
          <p:cNvPr id="11" name="Shape 7"/>
          <p:cNvSpPr/>
          <p:nvPr/>
        </p:nvSpPr>
        <p:spPr>
          <a:xfrm>
            <a:off x="10268712" y="6510528"/>
            <a:ext cx="1554480" cy="274320"/>
          </a:xfrm>
          <a:prstGeom prst="rect">
            <a:avLst/>
          </a:prstGeom>
          <a:solidFill>
            <a:srgbClr val="E8A317"/>
          </a:solidFill>
          <a:ln w="12700">
            <a:solidFill>
              <a:srgbClr val="E8A317"/>
            </a:solidFill>
            <a:prstDash val="solid"/>
          </a:ln>
        </p:spPr>
      </p:sp>
      <p:sp>
        <p:nvSpPr>
          <p:cNvPr id="12" name="Text 8"/>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950" b="1" dirty="0">
                <a:solidFill>
                  <a:srgbClr val="000000"/>
                </a:solidFill>
                <a:latin typeface="Calibri" pitchFamily="34" charset="0"/>
                <a:ea typeface="Calibri" pitchFamily="34" charset="-122"/>
                <a:cs typeface="Calibri" pitchFamily="34" charset="-120"/>
              </a:rPr>
              <a:t>ADRC  12/08/2026</a:t>
            </a:r>
            <a:endParaRPr lang="en-US" sz="950" dirty="0"/>
          </a:p>
        </p:txBody>
      </p:sp>
      <p:sp>
        <p:nvSpPr>
          <p:cNvPr id="13" name="Text 9"/>
          <p:cNvSpPr/>
          <p:nvPr/>
        </p:nvSpPr>
        <p:spPr>
          <a:xfrm>
            <a:off x="365760" y="6547104"/>
            <a:ext cx="548640" cy="219456"/>
          </a:xfrm>
          <a:prstGeom prst="rect">
            <a:avLst/>
          </a:prstGeom>
          <a:noFill/>
          <a:ln/>
        </p:spPr>
        <p:txBody>
          <a:bodyPr wrap="square" lIns="0" tIns="0" rIns="0" bIns="0" rtlCol="0" anchor="ctr"/>
          <a:lstStyle/>
          <a:p>
            <a:pPr algn="l" indent="0" marL="0">
              <a:buNone/>
            </a:pPr>
            <a:r>
              <a:rPr lang="en-US" sz="900" dirty="0">
                <a:solidFill>
                  <a:srgbClr val="6A6A6A"/>
                </a:solidFill>
                <a:latin typeface="Calibri" pitchFamily="34" charset="0"/>
                <a:ea typeface="Calibri" pitchFamily="34" charset="-122"/>
                <a:cs typeface="Calibri" pitchFamily="34" charset="-120"/>
              </a:rPr>
              <a:t>19</a:t>
            </a:r>
            <a:endParaRPr lang="en-US" sz="90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92608"/>
            <a:ext cx="10332720" cy="566928"/>
          </a:xfrm>
          <a:prstGeom prst="rect">
            <a:avLst/>
          </a:prstGeom>
          <a:noFill/>
          <a:ln/>
        </p:spPr>
        <p:txBody>
          <a:bodyPr wrap="none" lIns="0" tIns="0" rIns="0" bIns="0" rtlCol="0" anchor="ctr">
            <a:normAutofit/>
          </a:bodyPr>
          <a:lstStyle/>
          <a:p>
            <a:pPr algn="l" indent="0" marL="0">
              <a:buNone/>
            </a:pPr>
            <a:r>
              <a:rPr lang="en-US" sz="2100" b="1" dirty="0">
                <a:solidFill>
                  <a:srgbClr val="1F3864"/>
                </a:solidFill>
                <a:latin typeface="Cambria" pitchFamily="34" charset="0"/>
                <a:ea typeface="Cambria" pitchFamily="34" charset="-122"/>
                <a:cs typeface="Cambria" pitchFamily="34" charset="-120"/>
              </a:rPr>
              <a:t>Pre-event Risk Assessment: Santiago de Cali</a:t>
            </a:r>
            <a:endParaRPr lang="en-US" sz="2100" dirty="0"/>
          </a:p>
        </p:txBody>
      </p:sp>
      <p:pic>
        <p:nvPicPr>
          <p:cNvPr id="3" name="Image 0" descr="/home/user/whatsmap/reports/colombia_eq_20260810/images/adrc_logo.png">    </p:cNvPr>
          <p:cNvPicPr>
            <a:picLocks noChangeAspect="1"/>
          </p:cNvPicPr>
          <p:nvPr/>
        </p:nvPicPr>
        <p:blipFill>
          <a:blip r:embed="rId1"/>
          <a:stretch>
            <a:fillRect/>
          </a:stretch>
        </p:blipFill>
        <p:spPr>
          <a:xfrm>
            <a:off x="10945368" y="73152"/>
            <a:ext cx="877824" cy="877824"/>
          </a:xfrm>
          <a:prstGeom prst="rect">
            <a:avLst/>
          </a:prstGeom>
        </p:spPr>
      </p:pic>
      <p:sp>
        <p:nvSpPr>
          <p:cNvPr id="4" name="Text 1"/>
          <p:cNvSpPr/>
          <p:nvPr/>
        </p:nvSpPr>
        <p:spPr>
          <a:xfrm>
            <a:off x="365760" y="987552"/>
            <a:ext cx="5760720" cy="1051560"/>
          </a:xfrm>
          <a:prstGeom prst="rect">
            <a:avLst/>
          </a:prstGeom>
          <a:noFill/>
          <a:ln/>
        </p:spPr>
        <p:txBody>
          <a:bodyPr wrap="square" lIns="0" tIns="0" rIns="0" bIns="0" rtlCol="0" anchor="t"/>
          <a:lstStyle/>
          <a:p>
            <a:pPr indent="0" marL="0">
              <a:buNone/>
            </a:pPr>
            <a:r>
              <a:rPr lang="en-US" sz="1000" dirty="0">
                <a:solidFill>
                  <a:srgbClr val="222222"/>
                </a:solidFill>
                <a:latin typeface="Calibri" pitchFamily="34" charset="0"/>
                <a:ea typeface="Calibri" pitchFamily="34" charset="-122"/>
                <a:cs typeface="Calibri" pitchFamily="34" charset="-120"/>
              </a:rPr>
              <a:t>Cali did not lack a risk assessment. Between 2020 and 2022 the city built a full urban earthquake risk model with the GEM Foundation under the USAID-supported TREQ project, one of three pilot cities alongside Quito and Santiago de los Caballeros. The modelled scenario is a shallow local one — magnitude 6.5 at 10 km depth on the Dagua-Calima fault — and its estimates dwarf what the city actually experienced on 10 August 2026.</a:t>
            </a:r>
            <a:endParaRPr lang="en-US" sz="1000" dirty="0"/>
          </a:p>
        </p:txBody>
      </p:sp>
      <p:graphicFrame>
        <p:nvGraphicFramePr>
          <p:cNvPr id="21" name="Table 0"/>
          <p:cNvGraphicFramePr>
            <a:graphicFrameLocks noGrp="1"/>
          </p:cNvGraphicFramePr>
          <p:nvPr>
            <p:extLst>
              <p:ext uri="{D42A27DB-BD31-4B8C-83A1-F6EECF244321}">
                <p14:modId xmlns:p14="http://schemas.microsoft.com/office/powerpoint/2010/main" val="1579011935"/>
              </p:ext>
            </p:extLst>
          </p:nvPr>
        </p:nvGraphicFramePr>
        <p:xfrm>
          <a:off x="365760" y="2139696"/>
          <a:ext cx="5760720" cy="914400"/>
        </p:xfrm>
        <a:graphic>
          <a:graphicData uri="http://schemas.openxmlformats.org/drawingml/2006/table">
            <a:tbl>
              <a:tblPr/>
              <a:tblGrid>
                <a:gridCol w="2103120"/>
                <a:gridCol w="3657600"/>
              </a:tblGrid>
              <a:tr h="301752">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Modelled scenario (GEM-TREQ, 2022)</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Value</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r>
              <a:tr h="301752">
                <a:tc>
                  <a:txBody>
                    <a:bodyPr/>
                    <a:lstStyle/>
                    <a:p>
                      <a:pPr algn="l" indent="0" marL="0">
                        <a:buNone/>
                      </a:pPr>
                      <a:r>
                        <a:rPr lang="en-US" sz="950" b="1" dirty="0">
                          <a:solidFill>
                            <a:srgbClr val="1F3864"/>
                          </a:solidFill>
                          <a:latin typeface="Calibri" pitchFamily="34" charset="0"/>
                          <a:ea typeface="Calibri" pitchFamily="34" charset="-122"/>
                          <a:cs typeface="Calibri" pitchFamily="34" charset="-120"/>
                        </a:rPr>
                        <a:t>Modelled scenario</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M6.5, 10 km depth, Dagua-Calima fault, urban area</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301752">
                <a:tc>
                  <a:txBody>
                    <a:bodyPr/>
                    <a:lstStyle/>
                    <a:p>
                      <a:pPr algn="l" indent="0" marL="0">
                        <a:buNone/>
                      </a:pPr>
                      <a:r>
                        <a:rPr lang="en-US" sz="950" b="1" dirty="0">
                          <a:solidFill>
                            <a:srgbClr val="1F3864"/>
                          </a:solidFill>
                          <a:latin typeface="Calibri" pitchFamily="34" charset="0"/>
                          <a:ea typeface="Calibri" pitchFamily="34" charset="-122"/>
                          <a:cs typeface="Calibri" pitchFamily="34" charset="-120"/>
                        </a:rPr>
                        <a:t>Population exposed</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approx. 2,300,000</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301752">
                <a:tc>
                  <a:txBody>
                    <a:bodyPr/>
                    <a:lstStyle/>
                    <a:p>
                      <a:pPr algn="l" indent="0" marL="0">
                        <a:buNone/>
                      </a:pPr>
                      <a:r>
                        <a:rPr lang="en-US" sz="950" b="1" dirty="0">
                          <a:solidFill>
                            <a:srgbClr val="1F3864"/>
                          </a:solidFill>
                          <a:latin typeface="Calibri" pitchFamily="34" charset="0"/>
                          <a:ea typeface="Calibri" pitchFamily="34" charset="-122"/>
                          <a:cs typeface="Calibri" pitchFamily="34" charset="-120"/>
                        </a:rPr>
                        <a:t>Estimated deaths</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approx. 1,200</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301752">
                <a:tc>
                  <a:txBody>
                    <a:bodyPr/>
                    <a:lstStyle/>
                    <a:p>
                      <a:pPr algn="l" indent="0" marL="0">
                        <a:buNone/>
                      </a:pPr>
                      <a:r>
                        <a:rPr lang="en-US" sz="950" b="1" dirty="0">
                          <a:solidFill>
                            <a:srgbClr val="1F3864"/>
                          </a:solidFill>
                          <a:latin typeface="Calibri" pitchFamily="34" charset="0"/>
                          <a:ea typeface="Calibri" pitchFamily="34" charset="-122"/>
                          <a:cs typeface="Calibri" pitchFamily="34" charset="-120"/>
                        </a:rPr>
                        <a:t>Seriously injured</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approx. 36,300</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301752">
                <a:tc>
                  <a:txBody>
                    <a:bodyPr/>
                    <a:lstStyle/>
                    <a:p>
                      <a:pPr algn="l" indent="0" marL="0">
                        <a:buNone/>
                      </a:pPr>
                      <a:r>
                        <a:rPr lang="en-US" sz="950" b="1" dirty="0">
                          <a:solidFill>
                            <a:srgbClr val="1F3864"/>
                          </a:solidFill>
                          <a:latin typeface="Calibri" pitchFamily="34" charset="0"/>
                          <a:ea typeface="Calibri" pitchFamily="34" charset="-122"/>
                          <a:cs typeface="Calibri" pitchFamily="34" charset="-120"/>
                        </a:rPr>
                        <a:t>Displaced</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approx. 181,000</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301752">
                <a:tc>
                  <a:txBody>
                    <a:bodyPr/>
                    <a:lstStyle/>
                    <a:p>
                      <a:pPr algn="l" indent="0" marL="0">
                        <a:buNone/>
                      </a:pPr>
                      <a:r>
                        <a:rPr lang="en-US" sz="950" b="1" dirty="0">
                          <a:solidFill>
                            <a:srgbClr val="1F3864"/>
                          </a:solidFill>
                          <a:latin typeface="Calibri" pitchFamily="34" charset="0"/>
                          <a:ea typeface="Calibri" pitchFamily="34" charset="-122"/>
                          <a:cs typeface="Calibri" pitchFamily="34" charset="-120"/>
                        </a:rPr>
                        <a:t>Buildings collapsed</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approx. 1,800 of 348,000 (0.5%)</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301752">
                <a:tc>
                  <a:txBody>
                    <a:bodyPr/>
                    <a:lstStyle/>
                    <a:p>
                      <a:pPr algn="l" indent="0" marL="0">
                        <a:buNone/>
                      </a:pPr>
                      <a:r>
                        <a:rPr lang="en-US" sz="950" b="1" dirty="0">
                          <a:solidFill>
                            <a:srgbClr val="1F3864"/>
                          </a:solidFill>
                          <a:latin typeface="Calibri" pitchFamily="34" charset="0"/>
                          <a:ea typeface="Calibri" pitchFamily="34" charset="-122"/>
                          <a:cs typeface="Calibri" pitchFamily="34" charset="-120"/>
                        </a:rPr>
                        <a:t>Residual risk</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assessed at about 40% after existing measures</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bl>
          </a:graphicData>
        </a:graphic>
      </p:graphicFrame>
      <p:sp>
        <p:nvSpPr>
          <p:cNvPr id="6" name="Text 2"/>
          <p:cNvSpPr/>
          <p:nvPr/>
        </p:nvSpPr>
        <p:spPr>
          <a:xfrm>
            <a:off x="365760" y="4864608"/>
            <a:ext cx="5760720" cy="347472"/>
          </a:xfrm>
          <a:prstGeom prst="rect">
            <a:avLst/>
          </a:prstGeom>
          <a:noFill/>
          <a:ln/>
        </p:spPr>
        <p:txBody>
          <a:bodyPr wrap="square" lIns="0" tIns="0" rIns="0" bIns="0" rtlCol="0" anchor="t"/>
          <a:lstStyle/>
          <a:p>
            <a:pPr indent="0" marL="0">
              <a:buNone/>
            </a:pPr>
            <a:r>
              <a:rPr lang="en-US" sz="680" i="1" dirty="0">
                <a:solidFill>
                  <a:srgbClr val="6A6A6A"/>
                </a:solidFill>
                <a:latin typeface="Calibri" pitchFamily="34" charset="0"/>
                <a:ea typeface="Calibri" pitchFamily="34" charset="-122"/>
                <a:cs typeface="Calibri" pitchFamily="34" charset="-120"/>
              </a:rPr>
              <a:t>Figures from the GEM-TREQ urban risk assessment for Santiago de Cali and from the city's local disaster risk management plan, as compiled by the Municipality of Santiago de Cali (Secretaría de Gestión del Riesgo de Emergencias y Desastres) for a JICA training course.</a:t>
            </a:r>
            <a:endParaRPr lang="en-US" sz="680" dirty="0"/>
          </a:p>
        </p:txBody>
      </p:sp>
      <p:sp>
        <p:nvSpPr>
          <p:cNvPr id="7" name="Text 3"/>
          <p:cNvSpPr/>
          <p:nvPr/>
        </p:nvSpPr>
        <p:spPr>
          <a:xfrm>
            <a:off x="6309360" y="987552"/>
            <a:ext cx="5486400" cy="256032"/>
          </a:xfrm>
          <a:prstGeom prst="rect">
            <a:avLst/>
          </a:prstGeom>
          <a:noFill/>
          <a:ln/>
        </p:spPr>
        <p:txBody>
          <a:bodyPr wrap="square" lIns="0" tIns="0" rIns="0" bIns="0" rtlCol="0" anchor="ctr"/>
          <a:lstStyle/>
          <a:p>
            <a:pPr indent="0" marL="0">
              <a:buNone/>
            </a:pPr>
            <a:r>
              <a:rPr lang="en-US" sz="1150" b="1" dirty="0">
                <a:solidFill>
                  <a:srgbClr val="1F3864"/>
                </a:solidFill>
                <a:latin typeface="Calibri" pitchFamily="34" charset="0"/>
                <a:ea typeface="Calibri" pitchFamily="34" charset="-122"/>
                <a:cs typeface="Calibri" pitchFamily="34" charset="-120"/>
              </a:rPr>
              <a:t>What the city had already prioritised</a:t>
            </a:r>
            <a:endParaRPr lang="en-US" sz="1150" dirty="0"/>
          </a:p>
        </p:txBody>
      </p:sp>
      <p:sp>
        <p:nvSpPr>
          <p:cNvPr id="8" name="Text 4"/>
          <p:cNvSpPr/>
          <p:nvPr/>
        </p:nvSpPr>
        <p:spPr>
          <a:xfrm>
            <a:off x="6309360" y="1280160"/>
            <a:ext cx="5486400" cy="3877056"/>
          </a:xfrm>
          <a:prstGeom prst="rect">
            <a:avLst/>
          </a:prstGeom>
          <a:noFill/>
          <a:ln/>
        </p:spPr>
        <p:txBody>
          <a:bodyPr wrap="square" lIns="50800" tIns="50800" rIns="50800" bIns="50800" rtlCol="0" anchor="t"/>
          <a:lstStyle/>
          <a:p>
            <a:pPr algn="l" marL="342900" indent="-342900">
              <a:spcAft>
                <a:spcPts val="500"/>
              </a:spcAft>
              <a:buSzPct val="100000"/>
              <a:buChar char="•"/>
            </a:pPr>
            <a:r>
              <a:rPr lang="en-US" sz="850" dirty="0">
                <a:solidFill>
                  <a:srgbClr val="222222"/>
                </a:solidFill>
                <a:latin typeface="Calibri" pitchFamily="34" charset="0"/>
                <a:ea typeface="Calibri" pitchFamily="34" charset="-122"/>
                <a:cs typeface="Calibri" pitchFamily="34" charset="-120"/>
              </a:rPr>
              <a:t>Seismic vulnerability studies of indispensable buildings — hospitals, schools, fire stations — to the NSR-10 code (budgeted at about USD 1.7 million, short term).</a:t>
            </a:r>
            <a:endParaRPr lang="en-US" sz="850" dirty="0"/>
          </a:p>
          <a:p>
            <a:pPr algn="l" marL="342900" indent="-342900">
              <a:spcAft>
                <a:spcPts val="500"/>
              </a:spcAft>
              <a:buSzPct val="100000"/>
              <a:buChar char="•"/>
            </a:pPr>
            <a:r>
              <a:rPr lang="en-US" sz="850" dirty="0">
                <a:solidFill>
                  <a:srgbClr val="222222"/>
                </a:solidFill>
                <a:latin typeface="Calibri" pitchFamily="34" charset="0"/>
                <a:ea typeface="Calibri" pitchFamily="34" charset="-122"/>
                <a:cs typeface="Calibri" pitchFamily="34" charset="-120"/>
              </a:rPr>
              <a:t>Structural retrofitting of indispensable buildings and of basic-service infrastructure, to keep essential services running after an earthquake.</a:t>
            </a:r>
            <a:endParaRPr lang="en-US" sz="850" dirty="0"/>
          </a:p>
          <a:p>
            <a:pPr algn="l" marL="342900" indent="-342900">
              <a:spcAft>
                <a:spcPts val="500"/>
              </a:spcAft>
              <a:buSzPct val="100000"/>
              <a:buChar char="•"/>
            </a:pPr>
            <a:r>
              <a:rPr lang="en-US" sz="850" dirty="0">
                <a:solidFill>
                  <a:srgbClr val="222222"/>
                </a:solidFill>
                <a:latin typeface="Calibri" pitchFamily="34" charset="0"/>
                <a:ea typeface="Calibri" pitchFamily="34" charset="-122"/>
                <a:cs typeface="Calibri" pitchFamily="34" charset="-120"/>
              </a:rPr>
              <a:t>Seismic vulnerability assessment of the EMCALI water, sewerage and power networks and of the city gas network.</a:t>
            </a:r>
            <a:endParaRPr lang="en-US" sz="850" dirty="0"/>
          </a:p>
          <a:p>
            <a:pPr algn="l" marL="342900" indent="-342900">
              <a:spcAft>
                <a:spcPts val="500"/>
              </a:spcAft>
              <a:buSzPct val="100000"/>
              <a:buChar char="•"/>
            </a:pPr>
            <a:r>
              <a:rPr lang="en-US" sz="850" dirty="0">
                <a:solidFill>
                  <a:srgbClr val="222222"/>
                </a:solidFill>
                <a:latin typeface="Calibri" pitchFamily="34" charset="0"/>
                <a:ea typeface="Calibri" pitchFamily="34" charset="-122"/>
                <a:cs typeface="Calibri" pitchFamily="34" charset="-120"/>
              </a:rPr>
              <a:t>Updating the local soil-response model and the seismic microzonation, in force since INGEOMINAS/DAGMA (2005) and adopted by Decree 411.0.20.0158 of 2014 for structural design.</a:t>
            </a:r>
            <a:endParaRPr lang="en-US" sz="850" dirty="0"/>
          </a:p>
          <a:p>
            <a:pPr algn="l" marL="342900" indent="-342900">
              <a:spcAft>
                <a:spcPts val="500"/>
              </a:spcAft>
              <a:buSzPct val="100000"/>
              <a:buChar char="•"/>
            </a:pPr>
            <a:r>
              <a:rPr lang="en-US" sz="850" dirty="0">
                <a:solidFill>
                  <a:srgbClr val="222222"/>
                </a:solidFill>
                <a:latin typeface="Calibri" pitchFamily="34" charset="0"/>
                <a:ea typeface="Calibri" pitchFamily="34" charset="-122"/>
                <a:cs typeface="Calibri" pitchFamily="34" charset="-120"/>
              </a:rPr>
              <a:t>Maintaining and extending the Cali accelerograph network (RAC) and its interoperability with the SGC national network.</a:t>
            </a:r>
            <a:endParaRPr lang="en-US" sz="850" dirty="0"/>
          </a:p>
          <a:p>
            <a:pPr algn="l" marL="342900" indent="-342900">
              <a:spcAft>
                <a:spcPts val="500"/>
              </a:spcAft>
              <a:buSzPct val="100000"/>
              <a:buChar char="•"/>
            </a:pPr>
            <a:r>
              <a:rPr lang="en-US" sz="850" dirty="0">
                <a:solidFill>
                  <a:srgbClr val="222222"/>
                </a:solidFill>
                <a:latin typeface="Calibri" pitchFamily="34" charset="0"/>
                <a:ea typeface="Calibri" pitchFamily="34" charset="-122"/>
                <a:cs typeface="Calibri" pitchFamily="34" charset="-120"/>
              </a:rPr>
              <a:t>Insuring public infrastructure against seismic risk, and retrofitting low-income housing through subsidies and safe self-build programmes.</a:t>
            </a:r>
            <a:endParaRPr lang="en-US" sz="850" dirty="0"/>
          </a:p>
          <a:p>
            <a:pPr algn="l" marL="342900" indent="-342900">
              <a:spcAft>
                <a:spcPts val="500"/>
              </a:spcAft>
              <a:buSzPct val="100000"/>
              <a:buChar char="•"/>
            </a:pPr>
            <a:r>
              <a:rPr lang="en-US" sz="850" dirty="0">
                <a:solidFill>
                  <a:srgbClr val="222222"/>
                </a:solidFill>
                <a:latin typeface="Calibri" pitchFamily="34" charset="0"/>
                <a:ea typeface="Calibri" pitchFamily="34" charset="-122"/>
                <a:cs typeface="Calibri" pitchFamily="34" charset="-120"/>
              </a:rPr>
              <a:t>Financing model for the priority measures: local government 30-50%, national disaster fund (FNGRD/UNGRD) 30-50%, international partners including JICA, the GEM Foundation and the IDB about 20%.</a:t>
            </a:r>
            <a:endParaRPr lang="en-US" sz="850" dirty="0"/>
          </a:p>
        </p:txBody>
      </p:sp>
      <p:sp>
        <p:nvSpPr>
          <p:cNvPr id="9" name="Shape 5"/>
          <p:cNvSpPr/>
          <p:nvPr/>
        </p:nvSpPr>
        <p:spPr>
          <a:xfrm>
            <a:off x="365760" y="5248656"/>
            <a:ext cx="11430000" cy="859536"/>
          </a:xfrm>
          <a:prstGeom prst="roundRect">
            <a:avLst>
              <a:gd name="adj" fmla="val 5319"/>
            </a:avLst>
          </a:prstGeom>
          <a:solidFill>
            <a:srgbClr val="FCE9DC"/>
          </a:solidFill>
          <a:ln w="12700">
            <a:solidFill>
              <a:srgbClr val="E8A317"/>
            </a:solidFill>
            <a:prstDash val="solid"/>
          </a:ln>
        </p:spPr>
      </p:sp>
      <p:sp>
        <p:nvSpPr>
          <p:cNvPr id="10" name="Text 6"/>
          <p:cNvSpPr/>
          <p:nvPr/>
        </p:nvSpPr>
        <p:spPr>
          <a:xfrm>
            <a:off x="530352" y="5303520"/>
            <a:ext cx="11100816" cy="749808"/>
          </a:xfrm>
          <a:prstGeom prst="rect">
            <a:avLst/>
          </a:prstGeom>
          <a:noFill/>
          <a:ln/>
        </p:spPr>
        <p:txBody>
          <a:bodyPr wrap="square" lIns="25400" tIns="25400" rIns="25400" bIns="25400" rtlCol="0" anchor="ctr"/>
          <a:lstStyle/>
          <a:p>
            <a:pPr algn="l" indent="0" marL="0">
              <a:buNone/>
            </a:pPr>
            <a:r>
              <a:rPr lang="en-US" sz="1050" b="1" dirty="0">
                <a:solidFill>
                  <a:srgbClr val="9A3B12"/>
                </a:solidFill>
                <a:latin typeface="Calibri" pitchFamily="34" charset="0"/>
                <a:ea typeface="Calibri" pitchFamily="34" charset="-122"/>
                <a:cs typeface="Calibri" pitchFamily="34" charset="-120"/>
              </a:rPr>
              <a:t>The 2026 earthquake was not this scenario
</a:t>
            </a:r>
            <a:pPr algn="l" indent="0" marL="0">
              <a:buNone/>
            </a:pPr>
            <a:r>
              <a:rPr lang="en-US" sz="950" dirty="0">
                <a:solidFill>
                  <a:srgbClr val="7A2E0E"/>
                </a:solidFill>
                <a:latin typeface="Calibri" pitchFamily="34" charset="0"/>
                <a:ea typeface="Calibri" pitchFamily="34" charset="-122"/>
                <a:cs typeface="Calibri" pitchFamily="34" charset="-120"/>
              </a:rPr>
              <a:t>The 10 August event was larger in magnitude (M7.4) but 110 km deep and 158 km from Cali, giving the city MMI VI rather than the near-field shaking of the modelled M6.5. Cali recorded 27 deaths and 25-30 collapsed structures — two orders of magnitude below the scenario. What it did test is exactly the weakness the local plan had flagged: about 30% of the University Hospital collapsed and seven health institutions closed. The city's own worst case remains ahead of it, and the case for retrofitting indispensable buildings is now evidential rather than theoretical.</a:t>
            </a:r>
            <a:endParaRPr lang="en-US" sz="1050" dirty="0"/>
          </a:p>
        </p:txBody>
      </p:sp>
      <p:sp>
        <p:nvSpPr>
          <p:cNvPr id="11" name="Text 7"/>
          <p:cNvSpPr/>
          <p:nvPr/>
        </p:nvSpPr>
        <p:spPr>
          <a:xfrm>
            <a:off x="365760" y="6272784"/>
            <a:ext cx="11430000" cy="219456"/>
          </a:xfrm>
          <a:prstGeom prst="rect">
            <a:avLst/>
          </a:prstGeom>
          <a:noFill/>
          <a:ln/>
        </p:spPr>
        <p:txBody>
          <a:bodyPr wrap="square" lIns="0" tIns="0" rIns="0" bIns="0" rtlCol="0" anchor="ctr"/>
          <a:lstStyle/>
          <a:p>
            <a:pPr algn="l" indent="0" marL="0">
              <a:buNone/>
            </a:pPr>
            <a:r>
              <a:rPr lang="en-US" sz="850" b="1" dirty="0">
                <a:solidFill>
                  <a:srgbClr val="6A6A6A"/>
                </a:solidFill>
                <a:latin typeface="Calibri" pitchFamily="34" charset="0"/>
                <a:ea typeface="Calibri" pitchFamily="34" charset="-122"/>
                <a:cs typeface="Calibri" pitchFamily="34" charset="-120"/>
              </a:rPr>
              <a:t>Sources: </a:t>
            </a:r>
            <a:pPr algn="l" indent="0" marL="0">
              <a:buNone/>
            </a:pPr>
            <a:r>
              <a:rPr lang="en-US" sz="850" u="sng" dirty="0">
                <a:solidFill>
                  <a:srgbClr val="0563C1"/>
                </a:solidFill>
                <a:latin typeface="Calibri" pitchFamily="34" charset="0"/>
                <a:ea typeface="Calibri" pitchFamily="34" charset="-122"/>
                <a:cs typeface="Calibri" pitchFamily="34" charset="-120"/>
                <a:hlinkClick r:id="rId2" invalidUrl="" action="" tgtFrame="" tooltip="" history="1" highlightClick="0" endSnd="0">
                  <a:extLst>
                    <a:ext uri="{A12FA001-AC4F-418D-AE19-62706E023703}">
                      <ahyp:hlinkClr xmlns:ahyp="http://schemas.microsoft.com/office/drawing/2018/hyperlinkcolor" val="tx"/>
                    </a:ext>
                  </a:extLst>
                </a:hlinkClick>
              </a:rPr>
              <a:t>GEM Foundation — TREQ project (urban earthquake risk, Quito / Cali / Santiago de los Caballeros)</a:t>
            </a:r>
            <a:pPr algn="l" indent="0" marL="0">
              <a:buNone/>
            </a:pPr>
            <a:r>
              <a:rPr lang="en-US" sz="850" dirty="0">
                <a:solidFill>
                  <a:srgbClr val="6A6A6A"/>
                </a:solidFill>
                <a:latin typeface="Calibri" pitchFamily="34" charset="0"/>
                <a:ea typeface="Calibri" pitchFamily="34" charset="-122"/>
                <a:cs typeface="Calibri" pitchFamily="34" charset="-120"/>
              </a:rPr>
              <a:t>   ·   </a:t>
            </a:r>
            <a:pPr algn="l" indent="0" marL="0">
              <a:buNone/>
            </a:pPr>
            <a:r>
              <a:rPr lang="en-US" sz="850" u="sng" dirty="0">
                <a:solidFill>
                  <a:srgbClr val="0563C1"/>
                </a:solidFill>
                <a:latin typeface="Calibri" pitchFamily="34" charset="0"/>
                <a:ea typeface="Calibri" pitchFamily="34" charset="-122"/>
                <a:cs typeface="Calibri" pitchFamily="34" charset="-120"/>
                <a:hlinkClick r:id="rId3" invalidUrl="" action="" tgtFrame="" tooltip="" history="1" highlightClick="0" endSnd="0">
                  <a:extLst>
                    <a:ext uri="{A12FA001-AC4F-418D-AE19-62706E023703}">
                      <ahyp:hlinkClr xmlns:ahyp="http://schemas.microsoft.com/office/drawing/2018/hyperlinkcolor" val="tx"/>
                    </a:ext>
                  </a:extLst>
                </a:hlinkClick>
              </a:rPr>
              <a:t>GEM-TREQ — Evaluación de riesgo sísmico para Santiago de Cali (technical report D2.6.2)</a:t>
            </a:r>
            <a:pPr algn="l" indent="0" marL="0">
              <a:buNone/>
            </a:pPr>
            <a:r>
              <a:rPr lang="en-US" sz="850" dirty="0">
                <a:solidFill>
                  <a:srgbClr val="6A6A6A"/>
                </a:solidFill>
                <a:latin typeface="Calibri" pitchFamily="34" charset="0"/>
                <a:ea typeface="Calibri" pitchFamily="34" charset="-122"/>
                <a:cs typeface="Calibri" pitchFamily="34" charset="-120"/>
              </a:rPr>
              <a:t>   ·   </a:t>
            </a:r>
            <a:pPr algn="l" indent="0" marL="0">
              <a:buNone/>
            </a:pPr>
            <a:r>
              <a:rPr lang="en-US" sz="850" u="sng" dirty="0">
                <a:solidFill>
                  <a:srgbClr val="0563C1"/>
                </a:solidFill>
                <a:latin typeface="Calibri" pitchFamily="34" charset="0"/>
                <a:ea typeface="Calibri" pitchFamily="34" charset="-122"/>
                <a:cs typeface="Calibri" pitchFamily="34" charset="-120"/>
                <a:hlinkClick r:id="rId4" invalidUrl="" action="" tgtFrame="" tooltip="" history="1" highlightClick="0" endSnd="0">
                  <a:extLst>
                    <a:ext uri="{A12FA001-AC4F-418D-AE19-62706E023703}">
                      <ahyp:hlinkClr xmlns:ahyp="http://schemas.microsoft.com/office/drawing/2018/hyperlinkcolor" val="tx"/>
                    </a:ext>
                  </a:extLst>
                </a:hlinkClick>
              </a:rPr>
              <a:t>Alcaldía de Santiago de Cali — disaster risk management</a:t>
            </a:r>
            <a:endParaRPr lang="en-US" sz="850" dirty="0"/>
          </a:p>
        </p:txBody>
      </p:sp>
      <p:sp>
        <p:nvSpPr>
          <p:cNvPr id="12" name="Shape 8"/>
          <p:cNvSpPr/>
          <p:nvPr/>
        </p:nvSpPr>
        <p:spPr>
          <a:xfrm>
            <a:off x="10268712" y="6510528"/>
            <a:ext cx="1554480" cy="274320"/>
          </a:xfrm>
          <a:prstGeom prst="rect">
            <a:avLst/>
          </a:prstGeom>
          <a:solidFill>
            <a:srgbClr val="E8A317"/>
          </a:solidFill>
          <a:ln w="12700">
            <a:solidFill>
              <a:srgbClr val="E8A317"/>
            </a:solidFill>
            <a:prstDash val="solid"/>
          </a:ln>
        </p:spPr>
      </p:sp>
      <p:sp>
        <p:nvSpPr>
          <p:cNvPr id="13" name="Text 9"/>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950" b="1" dirty="0">
                <a:solidFill>
                  <a:srgbClr val="000000"/>
                </a:solidFill>
                <a:latin typeface="Calibri" pitchFamily="34" charset="0"/>
                <a:ea typeface="Calibri" pitchFamily="34" charset="-122"/>
                <a:cs typeface="Calibri" pitchFamily="34" charset="-120"/>
              </a:rPr>
              <a:t>ADRC  12/08/2026</a:t>
            </a:r>
            <a:endParaRPr lang="en-US" sz="950" dirty="0"/>
          </a:p>
        </p:txBody>
      </p:sp>
      <p:sp>
        <p:nvSpPr>
          <p:cNvPr id="14" name="Text 10"/>
          <p:cNvSpPr/>
          <p:nvPr/>
        </p:nvSpPr>
        <p:spPr>
          <a:xfrm>
            <a:off x="365760" y="6547104"/>
            <a:ext cx="548640" cy="219456"/>
          </a:xfrm>
          <a:prstGeom prst="rect">
            <a:avLst/>
          </a:prstGeom>
          <a:noFill/>
          <a:ln/>
        </p:spPr>
        <p:txBody>
          <a:bodyPr wrap="square" lIns="0" tIns="0" rIns="0" bIns="0" rtlCol="0" anchor="ctr"/>
          <a:lstStyle/>
          <a:p>
            <a:pPr algn="l" indent="0" marL="0">
              <a:buNone/>
            </a:pPr>
            <a:r>
              <a:rPr lang="en-US" sz="900" dirty="0">
                <a:solidFill>
                  <a:srgbClr val="6A6A6A"/>
                </a:solidFill>
                <a:latin typeface="Calibri" pitchFamily="34" charset="0"/>
                <a:ea typeface="Calibri" pitchFamily="34" charset="-122"/>
                <a:cs typeface="Calibri" pitchFamily="34" charset="-120"/>
              </a:rPr>
              <a:t>20</a:t>
            </a:r>
            <a:endParaRPr lang="en-US" sz="90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92608"/>
            <a:ext cx="10332720" cy="566928"/>
          </a:xfrm>
          <a:prstGeom prst="rect">
            <a:avLst/>
          </a:prstGeom>
          <a:noFill/>
          <a:ln/>
        </p:spPr>
        <p:txBody>
          <a:bodyPr wrap="none" lIns="0" tIns="0" rIns="0" bIns="0" rtlCol="0" anchor="ctr">
            <a:normAutofit/>
          </a:bodyPr>
          <a:lstStyle/>
          <a:p>
            <a:pPr algn="l" indent="0" marL="0">
              <a:buNone/>
            </a:pPr>
            <a:r>
              <a:rPr lang="en-US" sz="2100" b="1" dirty="0">
                <a:solidFill>
                  <a:srgbClr val="1F3864"/>
                </a:solidFill>
                <a:latin typeface="Cambria" pitchFamily="34" charset="0"/>
                <a:ea typeface="Cambria" pitchFamily="34" charset="-122"/>
                <a:cs typeface="Cambria" pitchFamily="34" charset="-120"/>
              </a:rPr>
              <a:t>GEM-TREQ City Profile: Cali</a:t>
            </a:r>
            <a:endParaRPr lang="en-US" sz="2100" dirty="0"/>
          </a:p>
        </p:txBody>
      </p:sp>
      <p:pic>
        <p:nvPicPr>
          <p:cNvPr id="3" name="Image 0" descr="/home/user/whatsmap/reports/colombia_eq_20260810/images/adrc_logo.png">    </p:cNvPr>
          <p:cNvPicPr>
            <a:picLocks noChangeAspect="1"/>
          </p:cNvPicPr>
          <p:nvPr/>
        </p:nvPicPr>
        <p:blipFill>
          <a:blip r:embed="rId1"/>
          <a:stretch>
            <a:fillRect/>
          </a:stretch>
        </p:blipFill>
        <p:spPr>
          <a:xfrm>
            <a:off x="10945368" y="73152"/>
            <a:ext cx="877824" cy="877824"/>
          </a:xfrm>
          <a:prstGeom prst="rect">
            <a:avLst/>
          </a:prstGeom>
        </p:spPr>
      </p:pic>
      <p:pic>
        <p:nvPicPr>
          <p:cNvPr id="4" name="Image 1" descr="/home/user/whatsmap/reports/colombia_eq_20260810/images/gem_treq_cali_manual.jpg">    </p:cNvPr>
          <p:cNvPicPr>
            <a:picLocks noChangeAspect="1"/>
          </p:cNvPicPr>
          <p:nvPr/>
        </p:nvPicPr>
        <p:blipFill>
          <a:blip r:embed="rId2"/>
          <a:stretch>
            <a:fillRect/>
          </a:stretch>
        </p:blipFill>
        <p:spPr>
          <a:xfrm>
            <a:off x="3006914" y="969264"/>
            <a:ext cx="6147692" cy="4352544"/>
          </a:xfrm>
          <a:prstGeom prst="rect">
            <a:avLst/>
          </a:prstGeom>
        </p:spPr>
      </p:pic>
      <p:sp>
        <p:nvSpPr>
          <p:cNvPr id="5" name="Text 1"/>
          <p:cNvSpPr/>
          <p:nvPr/>
        </p:nvSpPr>
        <p:spPr>
          <a:xfrm>
            <a:off x="1051560" y="5340096"/>
            <a:ext cx="10058400" cy="201168"/>
          </a:xfrm>
          <a:prstGeom prst="rect">
            <a:avLst/>
          </a:prstGeom>
          <a:noFill/>
          <a:ln/>
        </p:spPr>
        <p:txBody>
          <a:bodyPr wrap="square" lIns="0" tIns="0" rIns="0" bIns="0" rtlCol="0" anchor="ctr"/>
          <a:lstStyle/>
          <a:p>
            <a:pPr algn="ctr" indent="0" marL="0">
              <a:buNone/>
            </a:pPr>
            <a:r>
              <a:rPr lang="en-US" sz="800" dirty="0">
                <a:solidFill>
                  <a:srgbClr val="6A6A6A"/>
                </a:solidFill>
                <a:latin typeface="Calibri" pitchFamily="34" charset="0"/>
                <a:ea typeface="Calibri" pitchFamily="34" charset="-122"/>
                <a:cs typeface="Calibri" pitchFamily="34" charset="-120"/>
              </a:rPr>
              <a:t>© GEM Foundation / USAID / Alcaldía de Santiago de Cali / USGS</a:t>
            </a:r>
            <a:pPr algn="ctr" indent="0" marL="0">
              <a:buNone/>
            </a:pPr>
            <a:r>
              <a:rPr lang="en-US" sz="700" u="sng" dirty="0">
                <a:solidFill>
                  <a:srgbClr val="0563C1"/>
                </a:solidFill>
                <a:latin typeface="Calibri" pitchFamily="34" charset="0"/>
                <a:ea typeface="Calibri" pitchFamily="34" charset="-122"/>
                <a:cs typeface="Calibri" pitchFamily="34" charset="-120"/>
                <a:hlinkClick r:id="rId3" invalidUrl="" action="" tgtFrame="" tooltip="" history="1" highlightClick="0" endSnd="0">
                  <a:extLst>
                    <a:ext uri="{A12FA001-AC4F-418D-AE19-62706E023703}">
                      <ahyp:hlinkClr xmlns:ahyp="http://schemas.microsoft.com/office/drawing/2018/hyperlinkcolor" val="tx"/>
                    </a:ext>
                  </a:extLst>
                </a:hlinkClick>
              </a:rPr>
              <a:t>  —  https://github.com/gem/treq-riesgo-urbano</a:t>
            </a:r>
            <a:endParaRPr lang="en-US" sz="800" dirty="0"/>
          </a:p>
        </p:txBody>
      </p:sp>
      <p:sp>
        <p:nvSpPr>
          <p:cNvPr id="6" name="Text 2"/>
          <p:cNvSpPr/>
          <p:nvPr/>
        </p:nvSpPr>
        <p:spPr>
          <a:xfrm>
            <a:off x="1051560" y="5596128"/>
            <a:ext cx="10058400" cy="548640"/>
          </a:xfrm>
          <a:prstGeom prst="rect">
            <a:avLst/>
          </a:prstGeom>
          <a:noFill/>
          <a:ln/>
        </p:spPr>
        <p:txBody>
          <a:bodyPr wrap="square" lIns="0" tIns="0" rIns="0" bIns="0" rtlCol="0" anchor="t"/>
          <a:lstStyle/>
          <a:p>
            <a:pPr algn="l" indent="0" marL="0">
              <a:buNone/>
            </a:pPr>
            <a:r>
              <a:rPr lang="en-US" sz="900" dirty="0">
                <a:solidFill>
                  <a:srgbClr val="222222"/>
                </a:solidFill>
                <a:latin typeface="Calibri" pitchFamily="34" charset="0"/>
                <a:ea typeface="Calibri" pitchFamily="34" charset="-122"/>
                <a:cs typeface="Calibri" pitchFamily="34" charset="-120"/>
              </a:rPr>
              <a:t>GEM-TREQ city profile for Cali: the M6.5 / 10 km Dagua-Calima scenario. 2.3 million people and 312,000 residential, 22,000 commercial, 5,300 industrial and 8,000 institutional buildings are exposed, with COP 220 trillion of exposed capital. The bars give, per comuna, the collapse index, fatalities, serious injuries, displaced people and economic losses; the histograms give the city totals with their modelled ranges.</a:t>
            </a:r>
            <a:endParaRPr lang="en-US" sz="900" dirty="0"/>
          </a:p>
        </p:txBody>
      </p:sp>
      <p:sp>
        <p:nvSpPr>
          <p:cNvPr id="7" name="Text 3"/>
          <p:cNvSpPr/>
          <p:nvPr/>
        </p:nvSpPr>
        <p:spPr>
          <a:xfrm>
            <a:off x="365760" y="6272784"/>
            <a:ext cx="11430000" cy="219456"/>
          </a:xfrm>
          <a:prstGeom prst="rect">
            <a:avLst/>
          </a:prstGeom>
          <a:noFill/>
          <a:ln/>
        </p:spPr>
        <p:txBody>
          <a:bodyPr wrap="square" lIns="0" tIns="0" rIns="0" bIns="0" rtlCol="0" anchor="ctr"/>
          <a:lstStyle/>
          <a:p>
            <a:pPr algn="l" indent="0" marL="0">
              <a:buNone/>
            </a:pPr>
            <a:r>
              <a:rPr lang="en-US" sz="850" b="1" dirty="0">
                <a:solidFill>
                  <a:srgbClr val="6A6A6A"/>
                </a:solidFill>
                <a:latin typeface="Calibri" pitchFamily="34" charset="0"/>
                <a:ea typeface="Calibri" pitchFamily="34" charset="-122"/>
                <a:cs typeface="Calibri" pitchFamily="34" charset="-120"/>
              </a:rPr>
              <a:t>Sources: </a:t>
            </a:r>
            <a:pPr algn="l" indent="0" marL="0">
              <a:buNone/>
            </a:pPr>
            <a:r>
              <a:rPr lang="en-US" sz="850" u="sng" dirty="0">
                <a:solidFill>
                  <a:srgbClr val="0563C1"/>
                </a:solidFill>
                <a:latin typeface="Calibri" pitchFamily="34" charset="0"/>
                <a:ea typeface="Calibri" pitchFamily="34" charset="-122"/>
                <a:cs typeface="Calibri" pitchFamily="34" charset="-120"/>
                <a:hlinkClick r:id="rId4" invalidUrl="" action="" tgtFrame="" tooltip="" history="1" highlightClick="0" endSnd="0">
                  <a:extLst>
                    <a:ext uri="{A12FA001-AC4F-418D-AE19-62706E023703}">
                      <ahyp:hlinkClr xmlns:ahyp="http://schemas.microsoft.com/office/drawing/2018/hyperlinkcolor" val="tx"/>
                    </a:ext>
                  </a:extLst>
                </a:hlinkClick>
              </a:rPr>
              <a:t>GEM-TREQ — Evaluación de riesgo sísmico para Santiago de Cali (technical report D2.6.2)</a:t>
            </a:r>
            <a:pPr algn="l" indent="0" marL="0">
              <a:buNone/>
            </a:pPr>
            <a:r>
              <a:rPr lang="en-US" sz="850" dirty="0">
                <a:solidFill>
                  <a:srgbClr val="6A6A6A"/>
                </a:solidFill>
                <a:latin typeface="Calibri" pitchFamily="34" charset="0"/>
                <a:ea typeface="Calibri" pitchFamily="34" charset="-122"/>
                <a:cs typeface="Calibri" pitchFamily="34" charset="-120"/>
              </a:rPr>
              <a:t>   ·   </a:t>
            </a:r>
            <a:pPr algn="l" indent="0" marL="0">
              <a:buNone/>
            </a:pPr>
            <a:r>
              <a:rPr lang="en-US" sz="850" u="sng" dirty="0">
                <a:solidFill>
                  <a:srgbClr val="0563C1"/>
                </a:solidFill>
                <a:latin typeface="Calibri" pitchFamily="34" charset="0"/>
                <a:ea typeface="Calibri" pitchFamily="34" charset="-122"/>
                <a:cs typeface="Calibri" pitchFamily="34" charset="-120"/>
                <a:hlinkClick r:id="rId5" invalidUrl="" action="" tgtFrame="" tooltip="" history="1" highlightClick="0" endSnd="0">
                  <a:extLst>
                    <a:ext uri="{A12FA001-AC4F-418D-AE19-62706E023703}">
                      <ahyp:hlinkClr xmlns:ahyp="http://schemas.microsoft.com/office/drawing/2018/hyperlinkcolor" val="tx"/>
                    </a:ext>
                  </a:extLst>
                </a:hlinkClick>
              </a:rPr>
              <a:t>GEM Foundation — TREQ project (urban earthquake risk, Quito / Cali / Santiago de los Caballeros)</a:t>
            </a:r>
            <a:endParaRPr lang="en-US" sz="850" dirty="0"/>
          </a:p>
        </p:txBody>
      </p:sp>
      <p:sp>
        <p:nvSpPr>
          <p:cNvPr id="8" name="Shape 4"/>
          <p:cNvSpPr/>
          <p:nvPr/>
        </p:nvSpPr>
        <p:spPr>
          <a:xfrm>
            <a:off x="10268712" y="6510528"/>
            <a:ext cx="1554480" cy="274320"/>
          </a:xfrm>
          <a:prstGeom prst="rect">
            <a:avLst/>
          </a:prstGeom>
          <a:solidFill>
            <a:srgbClr val="E8A317"/>
          </a:solidFill>
          <a:ln w="12700">
            <a:solidFill>
              <a:srgbClr val="E8A317"/>
            </a:solidFill>
            <a:prstDash val="solid"/>
          </a:ln>
        </p:spPr>
      </p:sp>
      <p:sp>
        <p:nvSpPr>
          <p:cNvPr id="9" name="Text 5"/>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950" b="1" dirty="0">
                <a:solidFill>
                  <a:srgbClr val="000000"/>
                </a:solidFill>
                <a:latin typeface="Calibri" pitchFamily="34" charset="0"/>
                <a:ea typeface="Calibri" pitchFamily="34" charset="-122"/>
                <a:cs typeface="Calibri" pitchFamily="34" charset="-120"/>
              </a:rPr>
              <a:t>ADRC  12/08/2026</a:t>
            </a:r>
            <a:endParaRPr lang="en-US" sz="950" dirty="0"/>
          </a:p>
        </p:txBody>
      </p:sp>
      <p:sp>
        <p:nvSpPr>
          <p:cNvPr id="10" name="Text 6"/>
          <p:cNvSpPr/>
          <p:nvPr/>
        </p:nvSpPr>
        <p:spPr>
          <a:xfrm>
            <a:off x="365760" y="6547104"/>
            <a:ext cx="548640" cy="219456"/>
          </a:xfrm>
          <a:prstGeom prst="rect">
            <a:avLst/>
          </a:prstGeom>
          <a:noFill/>
          <a:ln/>
        </p:spPr>
        <p:txBody>
          <a:bodyPr wrap="square" lIns="0" tIns="0" rIns="0" bIns="0" rtlCol="0" anchor="ctr"/>
          <a:lstStyle/>
          <a:p>
            <a:pPr algn="l" indent="0" marL="0">
              <a:buNone/>
            </a:pPr>
            <a:r>
              <a:rPr lang="en-US" sz="900" dirty="0">
                <a:solidFill>
                  <a:srgbClr val="6A6A6A"/>
                </a:solidFill>
                <a:latin typeface="Calibri" pitchFamily="34" charset="0"/>
                <a:ea typeface="Calibri" pitchFamily="34" charset="-122"/>
                <a:cs typeface="Calibri" pitchFamily="34" charset="-120"/>
              </a:rPr>
              <a:t>21</a:t>
            </a:r>
            <a:endParaRPr lang="en-US" sz="90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92608"/>
            <a:ext cx="10332720" cy="566928"/>
          </a:xfrm>
          <a:prstGeom prst="rect">
            <a:avLst/>
          </a:prstGeom>
          <a:noFill/>
          <a:ln/>
        </p:spPr>
        <p:txBody>
          <a:bodyPr wrap="none" lIns="0" tIns="0" rIns="0" bIns="0" rtlCol="0" anchor="ctr">
            <a:normAutofit/>
          </a:bodyPr>
          <a:lstStyle/>
          <a:p>
            <a:pPr algn="l" indent="0" marL="0">
              <a:buNone/>
            </a:pPr>
            <a:r>
              <a:rPr lang="en-US" sz="2100" b="1" dirty="0">
                <a:solidFill>
                  <a:srgbClr val="1F3864"/>
                </a:solidFill>
                <a:latin typeface="Cambria" pitchFamily="34" charset="0"/>
                <a:ea typeface="Cambria" pitchFamily="34" charset="-122"/>
                <a:cs typeface="Cambria" pitchFamily="34" charset="-120"/>
              </a:rPr>
              <a:t>Historical Earthquakes in Colombia</a:t>
            </a:r>
            <a:endParaRPr lang="en-US" sz="2100" dirty="0"/>
          </a:p>
        </p:txBody>
      </p:sp>
      <p:pic>
        <p:nvPicPr>
          <p:cNvPr id="3" name="Image 0" descr="/home/user/whatsmap/reports/colombia_eq_20260810/images/adrc_logo.png">    </p:cNvPr>
          <p:cNvPicPr>
            <a:picLocks noChangeAspect="1"/>
          </p:cNvPicPr>
          <p:nvPr/>
        </p:nvPicPr>
        <p:blipFill>
          <a:blip r:embed="rId1"/>
          <a:stretch>
            <a:fillRect/>
          </a:stretch>
        </p:blipFill>
        <p:spPr>
          <a:xfrm>
            <a:off x="10945368" y="73152"/>
            <a:ext cx="877824" cy="877824"/>
          </a:xfrm>
          <a:prstGeom prst="rect">
            <a:avLst/>
          </a:prstGeom>
        </p:spPr>
      </p:pic>
      <p:graphicFrame>
        <p:nvGraphicFramePr>
          <p:cNvPr id="23" name="Table 0"/>
          <p:cNvGraphicFramePr>
            <a:graphicFrameLocks noGrp="1"/>
          </p:cNvGraphicFramePr>
          <p:nvPr>
            <p:extLst>
              <p:ext uri="{D42A27DB-BD31-4B8C-83A1-F6EECF244321}">
                <p14:modId xmlns:p14="http://schemas.microsoft.com/office/powerpoint/2010/main" val="1579011935"/>
              </p:ext>
            </p:extLst>
          </p:nvPr>
        </p:nvGraphicFramePr>
        <p:xfrm>
          <a:off x="365760" y="1024128"/>
          <a:ext cx="7863840" cy="914400"/>
        </p:xfrm>
        <a:graphic>
          <a:graphicData uri="http://schemas.openxmlformats.org/drawingml/2006/table">
            <a:tbl>
              <a:tblPr/>
              <a:tblGrid>
                <a:gridCol w="731520"/>
                <a:gridCol w="2286000"/>
                <a:gridCol w="731520"/>
                <a:gridCol w="4114800"/>
              </a:tblGrid>
              <a:tr h="365760">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Year</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Event</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Mag.</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Impact</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r>
              <a:tr h="365760">
                <a:tc>
                  <a:txBody>
                    <a:bodyPr/>
                    <a:lstStyle/>
                    <a:p>
                      <a:pPr algn="ctr" indent="0" marL="0">
                        <a:buNone/>
                      </a:pPr>
                      <a:r>
                        <a:rPr lang="en-US" sz="1000" b="1" dirty="0">
                          <a:solidFill>
                            <a:srgbClr val="1F3864"/>
                          </a:solidFill>
                          <a:latin typeface="Calibri" pitchFamily="34" charset="0"/>
                          <a:ea typeface="Calibri" pitchFamily="34" charset="-122"/>
                          <a:cs typeface="Calibri" pitchFamily="34" charset="-120"/>
                        </a:rPr>
                        <a:t>1906</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00" dirty="0">
                          <a:solidFill>
                            <a:srgbClr val="222222"/>
                          </a:solidFill>
                          <a:latin typeface="Calibri" pitchFamily="34" charset="0"/>
                          <a:ea typeface="Calibri" pitchFamily="34" charset="-122"/>
                          <a:cs typeface="Calibri" pitchFamily="34" charset="-120"/>
                        </a:rPr>
                        <a:t>Ecuador-Colombia earthquake (Pacific coast)</a:t>
                      </a:r>
                      <a:endParaRPr lang="en-US" sz="9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950" b="1" dirty="0">
                          <a:solidFill>
                            <a:srgbClr val="C00000"/>
                          </a:solidFill>
                          <a:latin typeface="Calibri" pitchFamily="34" charset="0"/>
                          <a:ea typeface="Calibri" pitchFamily="34" charset="-122"/>
                          <a:cs typeface="Calibri" pitchFamily="34" charset="-120"/>
                        </a:rPr>
                        <a:t>M8.8</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dirty="0">
                          <a:solidFill>
                            <a:srgbClr val="222222"/>
                          </a:solidFill>
                          <a:latin typeface="Calibri" pitchFamily="34" charset="0"/>
                          <a:ea typeface="Calibri" pitchFamily="34" charset="-122"/>
                          <a:cs typeface="Calibri" pitchFamily="34" charset="-120"/>
                        </a:rPr>
                        <a:t>One of the largest earthquakes ever recorded; destructive tsunami on the Pacific coast</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365760">
                <a:tc>
                  <a:txBody>
                    <a:bodyPr/>
                    <a:lstStyle/>
                    <a:p>
                      <a:pPr algn="ctr" indent="0" marL="0">
                        <a:buNone/>
                      </a:pPr>
                      <a:r>
                        <a:rPr lang="en-US" sz="1000" b="1" dirty="0">
                          <a:solidFill>
                            <a:srgbClr val="1F3864"/>
                          </a:solidFill>
                          <a:latin typeface="Calibri" pitchFamily="34" charset="0"/>
                          <a:ea typeface="Calibri" pitchFamily="34" charset="-122"/>
                          <a:cs typeface="Calibri" pitchFamily="34" charset="-120"/>
                        </a:rPr>
                        <a:t>1925</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00" dirty="0">
                          <a:solidFill>
                            <a:srgbClr val="222222"/>
                          </a:solidFill>
                          <a:latin typeface="Calibri" pitchFamily="34" charset="0"/>
                          <a:ea typeface="Calibri" pitchFamily="34" charset="-122"/>
                          <a:cs typeface="Calibri" pitchFamily="34" charset="-120"/>
                        </a:rPr>
                        <a:t>Cali earthquake (Valle del Cauca)</a:t>
                      </a:r>
                      <a:endParaRPr lang="en-US" sz="9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C00000"/>
                          </a:solidFill>
                          <a:latin typeface="Calibri" pitchFamily="34" charset="0"/>
                          <a:ea typeface="Calibri" pitchFamily="34" charset="-122"/>
                          <a:cs typeface="Calibri" pitchFamily="34" charset="-120"/>
                        </a:rPr>
                        <a:t>M7.0</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50" dirty="0">
                          <a:solidFill>
                            <a:srgbClr val="222222"/>
                          </a:solidFill>
                          <a:latin typeface="Calibri" pitchFamily="34" charset="0"/>
                          <a:ea typeface="Calibri" pitchFamily="34" charset="-122"/>
                          <a:cs typeface="Calibri" pitchFamily="34" charset="-120"/>
                        </a:rPr>
                        <a:t>The reference historical event for Cali; the city was also shaken in 1995 and 2004, the latter damaging clinics and residential buildings</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365760">
                <a:tc>
                  <a:txBody>
                    <a:bodyPr/>
                    <a:lstStyle/>
                    <a:p>
                      <a:pPr algn="ctr" indent="0" marL="0">
                        <a:buNone/>
                      </a:pPr>
                      <a:r>
                        <a:rPr lang="en-US" sz="1000" b="1" dirty="0">
                          <a:solidFill>
                            <a:srgbClr val="1F3864"/>
                          </a:solidFill>
                          <a:latin typeface="Calibri" pitchFamily="34" charset="0"/>
                          <a:ea typeface="Calibri" pitchFamily="34" charset="-122"/>
                          <a:cs typeface="Calibri" pitchFamily="34" charset="-120"/>
                        </a:rPr>
                        <a:t>1938</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00" dirty="0">
                          <a:solidFill>
                            <a:srgbClr val="222222"/>
                          </a:solidFill>
                          <a:latin typeface="Calibri" pitchFamily="34" charset="0"/>
                          <a:ea typeface="Calibri" pitchFamily="34" charset="-122"/>
                          <a:cs typeface="Calibri" pitchFamily="34" charset="-120"/>
                        </a:rPr>
                        <a:t>Coffee Region earthquake (deep, 150 km)</a:t>
                      </a:r>
                      <a:endParaRPr lang="en-US" sz="9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950" b="1" dirty="0">
                          <a:solidFill>
                            <a:srgbClr val="C00000"/>
                          </a:solidFill>
                          <a:latin typeface="Calibri" pitchFamily="34" charset="0"/>
                          <a:ea typeface="Calibri" pitchFamily="34" charset="-122"/>
                          <a:cs typeface="Calibri" pitchFamily="34" charset="-120"/>
                        </a:rPr>
                        <a:t>M7.0</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dirty="0">
                          <a:solidFill>
                            <a:srgbClr val="222222"/>
                          </a:solidFill>
                          <a:latin typeface="Calibri" pitchFamily="34" charset="0"/>
                          <a:ea typeface="Calibri" pitchFamily="34" charset="-122"/>
                          <a:cs typeface="Calibri" pitchFamily="34" charset="-120"/>
                        </a:rPr>
                        <a:t>An intermediate-depth event beneath the same coffee-growing departments — the closest historical analogue to the 2026 earthquake</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365760">
                <a:tc>
                  <a:txBody>
                    <a:bodyPr/>
                    <a:lstStyle/>
                    <a:p>
                      <a:pPr algn="ctr" indent="0" marL="0">
                        <a:buNone/>
                      </a:pPr>
                      <a:r>
                        <a:rPr lang="en-US" sz="1000" b="1" dirty="0">
                          <a:solidFill>
                            <a:srgbClr val="1F3864"/>
                          </a:solidFill>
                          <a:latin typeface="Calibri" pitchFamily="34" charset="0"/>
                          <a:ea typeface="Calibri" pitchFamily="34" charset="-122"/>
                          <a:cs typeface="Calibri" pitchFamily="34" charset="-120"/>
                        </a:rPr>
                        <a:t>1979</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00" dirty="0">
                          <a:solidFill>
                            <a:srgbClr val="222222"/>
                          </a:solidFill>
                          <a:latin typeface="Calibri" pitchFamily="34" charset="0"/>
                          <a:ea typeface="Calibri" pitchFamily="34" charset="-122"/>
                          <a:cs typeface="Calibri" pitchFamily="34" charset="-120"/>
                        </a:rPr>
                        <a:t>Tumaco earthquake (Nariño)</a:t>
                      </a:r>
                      <a:endParaRPr lang="en-US" sz="9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C00000"/>
                          </a:solidFill>
                          <a:latin typeface="Calibri" pitchFamily="34" charset="0"/>
                          <a:ea typeface="Calibri" pitchFamily="34" charset="-122"/>
                          <a:cs typeface="Calibri" pitchFamily="34" charset="-120"/>
                        </a:rPr>
                        <a:t>M8.1</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50" dirty="0">
                          <a:solidFill>
                            <a:srgbClr val="222222"/>
                          </a:solidFill>
                          <a:latin typeface="Calibri" pitchFamily="34" charset="0"/>
                          <a:ea typeface="Calibri" pitchFamily="34" charset="-122"/>
                          <a:cs typeface="Calibri" pitchFamily="34" charset="-120"/>
                        </a:rPr>
                        <a:t>Subduction-interface event with tsunami; several hundred deaths</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365760">
                <a:tc>
                  <a:txBody>
                    <a:bodyPr/>
                    <a:lstStyle/>
                    <a:p>
                      <a:pPr algn="ctr" indent="0" marL="0">
                        <a:buNone/>
                      </a:pPr>
                      <a:r>
                        <a:rPr lang="en-US" sz="1000" b="1" dirty="0">
                          <a:solidFill>
                            <a:srgbClr val="1F3864"/>
                          </a:solidFill>
                          <a:latin typeface="Calibri" pitchFamily="34" charset="0"/>
                          <a:ea typeface="Calibri" pitchFamily="34" charset="-122"/>
                          <a:cs typeface="Calibri" pitchFamily="34" charset="-120"/>
                        </a:rPr>
                        <a:t>1983</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00" dirty="0">
                          <a:solidFill>
                            <a:srgbClr val="222222"/>
                          </a:solidFill>
                          <a:latin typeface="Calibri" pitchFamily="34" charset="0"/>
                          <a:ea typeface="Calibri" pitchFamily="34" charset="-122"/>
                          <a:cs typeface="Calibri" pitchFamily="34" charset="-120"/>
                        </a:rPr>
                        <a:t>Popayán earthquake (Cauca)</a:t>
                      </a:r>
                      <a:endParaRPr lang="en-US" sz="9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950" b="1" dirty="0">
                          <a:solidFill>
                            <a:srgbClr val="C00000"/>
                          </a:solidFill>
                          <a:latin typeface="Calibri" pitchFamily="34" charset="0"/>
                          <a:ea typeface="Calibri" pitchFamily="34" charset="-122"/>
                          <a:cs typeface="Calibri" pitchFamily="34" charset="-120"/>
                        </a:rPr>
                        <a:t>M5.5</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dirty="0">
                          <a:solidFill>
                            <a:srgbClr val="222222"/>
                          </a:solidFill>
                          <a:latin typeface="Calibri" pitchFamily="34" charset="0"/>
                          <a:ea typeface="Calibri" pitchFamily="34" charset="-122"/>
                          <a:cs typeface="Calibri" pitchFamily="34" charset="-120"/>
                        </a:rPr>
                        <a:t>About 250-300 deaths; historic city centre heavily damaged - a small but shallow, urban event</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365760">
                <a:tc>
                  <a:txBody>
                    <a:bodyPr/>
                    <a:lstStyle/>
                    <a:p>
                      <a:pPr algn="ctr" indent="0" marL="0">
                        <a:buNone/>
                      </a:pPr>
                      <a:r>
                        <a:rPr lang="en-US" sz="1000" b="1" dirty="0">
                          <a:solidFill>
                            <a:srgbClr val="1F3864"/>
                          </a:solidFill>
                          <a:latin typeface="Calibri" pitchFamily="34" charset="0"/>
                          <a:ea typeface="Calibri" pitchFamily="34" charset="-122"/>
                          <a:cs typeface="Calibri" pitchFamily="34" charset="-120"/>
                        </a:rPr>
                        <a:t>1994</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00" dirty="0">
                          <a:solidFill>
                            <a:srgbClr val="222222"/>
                          </a:solidFill>
                          <a:latin typeface="Calibri" pitchFamily="34" charset="0"/>
                          <a:ea typeface="Calibri" pitchFamily="34" charset="-122"/>
                          <a:cs typeface="Calibri" pitchFamily="34" charset="-120"/>
                        </a:rPr>
                        <a:t>Páez (Cauca) earthquake</a:t>
                      </a:r>
                      <a:endParaRPr lang="en-US" sz="9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C00000"/>
                          </a:solidFill>
                          <a:latin typeface="Calibri" pitchFamily="34" charset="0"/>
                          <a:ea typeface="Calibri" pitchFamily="34" charset="-122"/>
                          <a:cs typeface="Calibri" pitchFamily="34" charset="-120"/>
                        </a:rPr>
                        <a:t>M6.8</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50" dirty="0">
                          <a:solidFill>
                            <a:srgbClr val="222222"/>
                          </a:solidFill>
                          <a:latin typeface="Calibri" pitchFamily="34" charset="0"/>
                          <a:ea typeface="Calibri" pitchFamily="34" charset="-122"/>
                          <a:cs typeface="Calibri" pitchFamily="34" charset="-120"/>
                        </a:rPr>
                        <a:t>About 1,100 deaths, most caused by earthquake-triggered landslides and debris flows</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365760">
                <a:tc>
                  <a:txBody>
                    <a:bodyPr/>
                    <a:lstStyle/>
                    <a:p>
                      <a:pPr algn="ctr" indent="0" marL="0">
                        <a:buNone/>
                      </a:pPr>
                      <a:r>
                        <a:rPr lang="en-US" sz="1000" b="1" dirty="0">
                          <a:solidFill>
                            <a:srgbClr val="1F3864"/>
                          </a:solidFill>
                          <a:latin typeface="Calibri" pitchFamily="34" charset="0"/>
                          <a:ea typeface="Calibri" pitchFamily="34" charset="-122"/>
                          <a:cs typeface="Calibri" pitchFamily="34" charset="-120"/>
                        </a:rPr>
                        <a:t>1995</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00" dirty="0">
                          <a:solidFill>
                            <a:srgbClr val="222222"/>
                          </a:solidFill>
                          <a:latin typeface="Calibri" pitchFamily="34" charset="0"/>
                          <a:ea typeface="Calibri" pitchFamily="34" charset="-122"/>
                          <a:cs typeface="Calibri" pitchFamily="34" charset="-120"/>
                        </a:rPr>
                        <a:t>Chocó earthquake</a:t>
                      </a:r>
                      <a:endParaRPr lang="en-US" sz="9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950" b="1" dirty="0">
                          <a:solidFill>
                            <a:srgbClr val="C00000"/>
                          </a:solidFill>
                          <a:latin typeface="Calibri" pitchFamily="34" charset="0"/>
                          <a:ea typeface="Calibri" pitchFamily="34" charset="-122"/>
                          <a:cs typeface="Calibri" pitchFamily="34" charset="-120"/>
                        </a:rPr>
                        <a:t>M6.6</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dirty="0">
                          <a:solidFill>
                            <a:srgbClr val="222222"/>
                          </a:solidFill>
                          <a:latin typeface="Calibri" pitchFamily="34" charset="0"/>
                          <a:ea typeface="Calibri" pitchFamily="34" charset="-122"/>
                          <a:cs typeface="Calibri" pitchFamily="34" charset="-120"/>
                        </a:rPr>
                        <a:t>Intermediate-depth event in the same department as the 2026 earthquake</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365760">
                <a:tc>
                  <a:txBody>
                    <a:bodyPr/>
                    <a:lstStyle/>
                    <a:p>
                      <a:pPr algn="ctr" indent="0" marL="0">
                        <a:buNone/>
                      </a:pPr>
                      <a:r>
                        <a:rPr lang="en-US" sz="1000" b="1" dirty="0">
                          <a:solidFill>
                            <a:srgbClr val="1F3864"/>
                          </a:solidFill>
                          <a:latin typeface="Calibri" pitchFamily="34" charset="0"/>
                          <a:ea typeface="Calibri" pitchFamily="34" charset="-122"/>
                          <a:cs typeface="Calibri" pitchFamily="34" charset="-120"/>
                        </a:rPr>
                        <a:t>1999</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00" dirty="0">
                          <a:solidFill>
                            <a:srgbClr val="222222"/>
                          </a:solidFill>
                          <a:latin typeface="Calibri" pitchFamily="34" charset="0"/>
                          <a:ea typeface="Calibri" pitchFamily="34" charset="-122"/>
                          <a:cs typeface="Calibri" pitchFamily="34" charset="-120"/>
                        </a:rPr>
                        <a:t>Armenia (Quindío) earthquake</a:t>
                      </a:r>
                      <a:endParaRPr lang="en-US" sz="9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C00000"/>
                          </a:solidFill>
                          <a:latin typeface="Calibri" pitchFamily="34" charset="0"/>
                          <a:ea typeface="Calibri" pitchFamily="34" charset="-122"/>
                          <a:cs typeface="Calibri" pitchFamily="34" charset="-120"/>
                        </a:rPr>
                        <a:t>M6.1-6.2</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50" dirty="0">
                          <a:solidFill>
                            <a:srgbClr val="222222"/>
                          </a:solidFill>
                          <a:latin typeface="Calibri" pitchFamily="34" charset="0"/>
                          <a:ea typeface="Calibri" pitchFamily="34" charset="-122"/>
                          <a:cs typeface="Calibri" pitchFamily="34" charset="-120"/>
                        </a:rPr>
                        <a:t>About 1,185 deaths; Colombia's costliest earthquake disaster; drove the modern DRM reforms</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365760">
                <a:tc>
                  <a:txBody>
                    <a:bodyPr/>
                    <a:lstStyle/>
                    <a:p>
                      <a:pPr algn="ctr" indent="0" marL="0">
                        <a:buNone/>
                      </a:pPr>
                      <a:r>
                        <a:rPr lang="en-US" sz="1000" b="1" dirty="0">
                          <a:solidFill>
                            <a:srgbClr val="1F3864"/>
                          </a:solidFill>
                          <a:latin typeface="Calibri" pitchFamily="34" charset="0"/>
                          <a:ea typeface="Calibri" pitchFamily="34" charset="-122"/>
                          <a:cs typeface="Calibri" pitchFamily="34" charset="-120"/>
                        </a:rPr>
                        <a:t>2026</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00" dirty="0">
                          <a:solidFill>
                            <a:srgbClr val="222222"/>
                          </a:solidFill>
                          <a:latin typeface="Calibri" pitchFamily="34" charset="0"/>
                          <a:ea typeface="Calibri" pitchFamily="34" charset="-122"/>
                          <a:cs typeface="Calibri" pitchFamily="34" charset="-120"/>
                        </a:rPr>
                        <a:t>Chocó earthquake (this event)</a:t>
                      </a:r>
                      <a:endParaRPr lang="en-US" sz="9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950" b="1" dirty="0">
                          <a:solidFill>
                            <a:srgbClr val="C00000"/>
                          </a:solidFill>
                          <a:latin typeface="Calibri" pitchFamily="34" charset="0"/>
                          <a:ea typeface="Calibri" pitchFamily="34" charset="-122"/>
                          <a:cs typeface="Calibri" pitchFamily="34" charset="-120"/>
                        </a:rPr>
                        <a:t>M7.4</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dirty="0">
                          <a:solidFill>
                            <a:srgbClr val="222222"/>
                          </a:solidFill>
                          <a:latin typeface="Calibri" pitchFamily="34" charset="0"/>
                          <a:ea typeface="Calibri" pitchFamily="34" charset="-122"/>
                          <a:cs typeface="Calibri" pitchFamily="34" charset="-120"/>
                        </a:rPr>
                        <a:t>Largest magnitude recorded in Colombia in the past decade (SGC); intermediate depth, wide-area damage</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bl>
          </a:graphicData>
        </a:graphic>
      </p:graphicFrame>
      <p:pic>
        <p:nvPicPr>
          <p:cNvPr id="5" name="Image 1" descr="/home/user/whatsmap/reports/colombia_eq_20260810/images/sgc_hazard_manual.jpg">    </p:cNvPr>
          <p:cNvPicPr>
            <a:picLocks noChangeAspect="1"/>
          </p:cNvPicPr>
          <p:nvPr/>
        </p:nvPicPr>
        <p:blipFill>
          <a:blip r:embed="rId2"/>
          <a:stretch>
            <a:fillRect/>
          </a:stretch>
        </p:blipFill>
        <p:spPr>
          <a:xfrm>
            <a:off x="8412480" y="1048131"/>
            <a:ext cx="3383280" cy="3298698"/>
          </a:xfrm>
          <a:prstGeom prst="rect">
            <a:avLst/>
          </a:prstGeom>
        </p:spPr>
      </p:pic>
      <p:sp>
        <p:nvSpPr>
          <p:cNvPr id="6" name="Text 1"/>
          <p:cNvSpPr/>
          <p:nvPr/>
        </p:nvSpPr>
        <p:spPr>
          <a:xfrm>
            <a:off x="8412480" y="4389120"/>
            <a:ext cx="3383280" cy="201168"/>
          </a:xfrm>
          <a:prstGeom prst="rect">
            <a:avLst/>
          </a:prstGeom>
          <a:noFill/>
          <a:ln/>
        </p:spPr>
        <p:txBody>
          <a:bodyPr wrap="square" lIns="0" tIns="0" rIns="0" bIns="0" rtlCol="0" anchor="ctr"/>
          <a:lstStyle/>
          <a:p>
            <a:pPr algn="ctr" indent="0" marL="0">
              <a:buNone/>
            </a:pPr>
            <a:r>
              <a:rPr lang="en-US" sz="800" dirty="0">
                <a:solidFill>
                  <a:srgbClr val="6A6A6A"/>
                </a:solidFill>
                <a:latin typeface="Calibri" pitchFamily="34" charset="0"/>
                <a:ea typeface="Calibri" pitchFamily="34" charset="-122"/>
                <a:cs typeface="Calibri" pitchFamily="34" charset="-120"/>
              </a:rPr>
              <a:t>PGA (g), SGC / GEM national seismic hazard model (2020)</a:t>
            </a:r>
            <a:pPr algn="ctr" indent="0" marL="0">
              <a:buNone/>
            </a:pPr>
            <a:r>
              <a:rPr lang="en-US" sz="700" u="sng" dirty="0">
                <a:solidFill>
                  <a:srgbClr val="0563C1"/>
                </a:solidFill>
                <a:latin typeface="Calibri" pitchFamily="34" charset="0"/>
                <a:ea typeface="Calibri" pitchFamily="34" charset="-122"/>
                <a:cs typeface="Calibri" pitchFamily="34" charset="-120"/>
                <a:hlinkClick r:id="rId3" invalidUrl="" action="" tgtFrame="" tooltip="" history="1" highlightClick="0" endSnd="0">
                  <a:extLst>
                    <a:ext uri="{A12FA001-AC4F-418D-AE19-62706E023703}">
                      <ahyp:hlinkClr xmlns:ahyp="http://schemas.microsoft.com/office/drawing/2018/hyperlinkcolor" val="tx"/>
                    </a:ext>
                  </a:extLst>
                </a:hlinkClick>
              </a:rPr>
              <a:t>  —  https://amenazasismica.sgc.gov.co/</a:t>
            </a:r>
            <a:endParaRPr lang="en-US" sz="800" dirty="0"/>
          </a:p>
        </p:txBody>
      </p:sp>
      <p:sp>
        <p:nvSpPr>
          <p:cNvPr id="7" name="Text 2"/>
          <p:cNvSpPr/>
          <p:nvPr/>
        </p:nvSpPr>
        <p:spPr>
          <a:xfrm>
            <a:off x="8412480" y="4645152"/>
            <a:ext cx="3383280" cy="457200"/>
          </a:xfrm>
          <a:prstGeom prst="rect">
            <a:avLst/>
          </a:prstGeom>
          <a:noFill/>
          <a:ln/>
        </p:spPr>
        <p:txBody>
          <a:bodyPr wrap="square" lIns="0" tIns="0" rIns="0" bIns="0" rtlCol="0" anchor="t"/>
          <a:lstStyle/>
          <a:p>
            <a:pPr algn="ctr" indent="0" marL="0">
              <a:buNone/>
            </a:pPr>
            <a:r>
              <a:rPr lang="en-US" sz="850" b="1" dirty="0">
                <a:solidFill>
                  <a:srgbClr val="1F3864"/>
                </a:solidFill>
                <a:latin typeface="Calibri" pitchFamily="34" charset="0"/>
                <a:ea typeface="Calibri" pitchFamily="34" charset="-122"/>
                <a:cs typeface="Calibri" pitchFamily="34" charset="-120"/>
              </a:rPr>
              <a:t>National seismic hazard, 475-year return period</a:t>
            </a:r>
            <a:endParaRPr lang="en-US" sz="850" dirty="0"/>
          </a:p>
        </p:txBody>
      </p:sp>
      <p:sp>
        <p:nvSpPr>
          <p:cNvPr id="8" name="Shape 3"/>
          <p:cNvSpPr/>
          <p:nvPr/>
        </p:nvSpPr>
        <p:spPr>
          <a:xfrm>
            <a:off x="365760" y="5230368"/>
            <a:ext cx="7863840" cy="877824"/>
          </a:xfrm>
          <a:prstGeom prst="roundRect">
            <a:avLst>
              <a:gd name="adj" fmla="val 5208"/>
            </a:avLst>
          </a:prstGeom>
          <a:solidFill>
            <a:srgbClr val="FCE9DC"/>
          </a:solidFill>
          <a:ln w="12700">
            <a:solidFill>
              <a:srgbClr val="E8A317"/>
            </a:solidFill>
            <a:prstDash val="solid"/>
          </a:ln>
        </p:spPr>
      </p:sp>
      <p:sp>
        <p:nvSpPr>
          <p:cNvPr id="9" name="Text 4"/>
          <p:cNvSpPr/>
          <p:nvPr/>
        </p:nvSpPr>
        <p:spPr>
          <a:xfrm>
            <a:off x="530352" y="5285232"/>
            <a:ext cx="7534656" cy="768096"/>
          </a:xfrm>
          <a:prstGeom prst="rect">
            <a:avLst/>
          </a:prstGeom>
          <a:noFill/>
          <a:ln/>
        </p:spPr>
        <p:txBody>
          <a:bodyPr wrap="square" lIns="25400" tIns="25400" rIns="25400" bIns="25400" rtlCol="0" anchor="ctr"/>
          <a:lstStyle/>
          <a:p>
            <a:pPr algn="l" indent="0" marL="0">
              <a:buNone/>
            </a:pPr>
            <a:r>
              <a:rPr lang="en-US" sz="1050" b="1" dirty="0">
                <a:solidFill>
                  <a:srgbClr val="9A3B12"/>
                </a:solidFill>
                <a:latin typeface="Calibri" pitchFamily="34" charset="0"/>
                <a:ea typeface="Calibri" pitchFamily="34" charset="-122"/>
                <a:cs typeface="Calibri" pitchFamily="34" charset="-120"/>
              </a:rPr>
              <a:t>Pattern
</a:t>
            </a:r>
            <a:pPr algn="l" indent="0" marL="0">
              <a:buNone/>
            </a:pPr>
            <a:r>
              <a:rPr lang="en-US" sz="950" dirty="0">
                <a:solidFill>
                  <a:srgbClr val="7A2E0E"/>
                </a:solidFill>
                <a:latin typeface="Calibri" pitchFamily="34" charset="0"/>
                <a:ea typeface="Calibri" pitchFamily="34" charset="-122"/>
                <a:cs typeface="Calibri" pitchFamily="34" charset="-120"/>
              </a:rPr>
              <a:t>Colombia's deadliest earthquakes have not been its largest. Popayán 1983 (M5.5), Páez 1994 (M6.8) and Armenia 1999 (M6.1-6.2) were all shallow and close to towns; the largest events, offshore in 1906 and 1979, killed fewer people. Depth and proximity, not magnitude alone, drive the toll.</a:t>
            </a:r>
            <a:endParaRPr lang="en-US" sz="1050" dirty="0"/>
          </a:p>
        </p:txBody>
      </p:sp>
      <p:sp>
        <p:nvSpPr>
          <p:cNvPr id="10" name="Text 5"/>
          <p:cNvSpPr/>
          <p:nvPr/>
        </p:nvSpPr>
        <p:spPr>
          <a:xfrm>
            <a:off x="365760" y="6272784"/>
            <a:ext cx="11430000" cy="219456"/>
          </a:xfrm>
          <a:prstGeom prst="rect">
            <a:avLst/>
          </a:prstGeom>
          <a:noFill/>
          <a:ln/>
        </p:spPr>
        <p:txBody>
          <a:bodyPr wrap="square" lIns="0" tIns="0" rIns="0" bIns="0" rtlCol="0" anchor="ctr"/>
          <a:lstStyle/>
          <a:p>
            <a:pPr algn="l" indent="0" marL="0">
              <a:buNone/>
            </a:pPr>
            <a:r>
              <a:rPr lang="en-US" sz="850" b="1" dirty="0">
                <a:solidFill>
                  <a:srgbClr val="6A6A6A"/>
                </a:solidFill>
                <a:latin typeface="Calibri" pitchFamily="34" charset="0"/>
                <a:ea typeface="Calibri" pitchFamily="34" charset="-122"/>
                <a:cs typeface="Calibri" pitchFamily="34" charset="-120"/>
              </a:rPr>
              <a:t>Sources: </a:t>
            </a:r>
            <a:pPr algn="l" indent="0" marL="0">
              <a:buNone/>
            </a:pPr>
            <a:r>
              <a:rPr lang="en-US" sz="850" u="sng" dirty="0">
                <a:solidFill>
                  <a:srgbClr val="0563C1"/>
                </a:solidFill>
                <a:latin typeface="Calibri" pitchFamily="34" charset="0"/>
                <a:ea typeface="Calibri" pitchFamily="34" charset="-122"/>
                <a:cs typeface="Calibri" pitchFamily="34" charset="-120"/>
                <a:hlinkClick r:id="rId4" invalidUrl="" action="" tgtFrame="" tooltip="" history="1" highlightClick="0" endSnd="0">
                  <a:extLst>
                    <a:ext uri="{A12FA001-AC4F-418D-AE19-62706E023703}">
                      <ahyp:hlinkClr xmlns:ahyp="http://schemas.microsoft.com/office/drawing/2018/hyperlinkcolor" val="tx"/>
                    </a:ext>
                  </a:extLst>
                </a:hlinkClick>
              </a:rPr>
              <a:t>USGS - M 7.4 San José del Palmar, Colombia (event page)</a:t>
            </a:r>
            <a:pPr algn="l" indent="0" marL="0">
              <a:buNone/>
            </a:pPr>
            <a:r>
              <a:rPr lang="en-US" sz="850" dirty="0">
                <a:solidFill>
                  <a:srgbClr val="6A6A6A"/>
                </a:solidFill>
                <a:latin typeface="Calibri" pitchFamily="34" charset="0"/>
                <a:ea typeface="Calibri" pitchFamily="34" charset="-122"/>
                <a:cs typeface="Calibri" pitchFamily="34" charset="-120"/>
              </a:rPr>
              <a:t>   ·   </a:t>
            </a:r>
            <a:pPr algn="l" indent="0" marL="0">
              <a:buNone/>
            </a:pPr>
            <a:r>
              <a:rPr lang="en-US" sz="850" u="sng" dirty="0">
                <a:solidFill>
                  <a:srgbClr val="0563C1"/>
                </a:solidFill>
                <a:latin typeface="Calibri" pitchFamily="34" charset="0"/>
                <a:ea typeface="Calibri" pitchFamily="34" charset="-122"/>
                <a:cs typeface="Calibri" pitchFamily="34" charset="-120"/>
                <a:hlinkClick r:id="rId5" invalidUrl="" action="" tgtFrame="" tooltip="" history="1" highlightClick="0" endSnd="0">
                  <a:extLst>
                    <a:ext uri="{A12FA001-AC4F-418D-AE19-62706E023703}">
                      <ahyp:hlinkClr xmlns:ahyp="http://schemas.microsoft.com/office/drawing/2018/hyperlinkcolor" val="tx"/>
                    </a:ext>
                  </a:extLst>
                </a:hlinkClick>
              </a:rPr>
              <a:t>Servicio Geológico Colombiano (SGC)</a:t>
            </a:r>
            <a:pPr algn="l" indent="0" marL="0">
              <a:buNone/>
            </a:pPr>
            <a:r>
              <a:rPr lang="en-US" sz="850" dirty="0">
                <a:solidFill>
                  <a:srgbClr val="6A6A6A"/>
                </a:solidFill>
                <a:latin typeface="Calibri" pitchFamily="34" charset="0"/>
                <a:ea typeface="Calibri" pitchFamily="34" charset="-122"/>
                <a:cs typeface="Calibri" pitchFamily="34" charset="-120"/>
              </a:rPr>
              <a:t>   ·   </a:t>
            </a:r>
            <a:pPr algn="l" indent="0" marL="0">
              <a:buNone/>
            </a:pPr>
            <a:r>
              <a:rPr lang="en-US" sz="850" u="sng" dirty="0">
                <a:solidFill>
                  <a:srgbClr val="0563C1"/>
                </a:solidFill>
                <a:latin typeface="Calibri" pitchFamily="34" charset="0"/>
                <a:ea typeface="Calibri" pitchFamily="34" charset="-122"/>
                <a:cs typeface="Calibri" pitchFamily="34" charset="-120"/>
                <a:hlinkClick r:id="rId6" invalidUrl="" action="" tgtFrame="" tooltip="" history="1" highlightClick="0" endSnd="0">
                  <a:extLst>
                    <a:ext uri="{A12FA001-AC4F-418D-AE19-62706E023703}">
                      <ahyp:hlinkClr xmlns:ahyp="http://schemas.microsoft.com/office/drawing/2018/hyperlinkcolor" val="tx"/>
                    </a:ext>
                  </a:extLst>
                </a:hlinkClick>
              </a:rPr>
              <a:t>GEM Foundation — TREQ project (urban earthquake risk, Quito / Cali / Santiago de los Caballeros)</a:t>
            </a:r>
            <a:endParaRPr lang="en-US" sz="850" dirty="0"/>
          </a:p>
        </p:txBody>
      </p:sp>
      <p:sp>
        <p:nvSpPr>
          <p:cNvPr id="11" name="Shape 6"/>
          <p:cNvSpPr/>
          <p:nvPr/>
        </p:nvSpPr>
        <p:spPr>
          <a:xfrm>
            <a:off x="10268712" y="6510528"/>
            <a:ext cx="1554480" cy="274320"/>
          </a:xfrm>
          <a:prstGeom prst="rect">
            <a:avLst/>
          </a:prstGeom>
          <a:solidFill>
            <a:srgbClr val="E8A317"/>
          </a:solidFill>
          <a:ln w="12700">
            <a:solidFill>
              <a:srgbClr val="E8A317"/>
            </a:solidFill>
            <a:prstDash val="solid"/>
          </a:ln>
        </p:spPr>
      </p:sp>
      <p:sp>
        <p:nvSpPr>
          <p:cNvPr id="12" name="Text 7"/>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950" b="1" dirty="0">
                <a:solidFill>
                  <a:srgbClr val="000000"/>
                </a:solidFill>
                <a:latin typeface="Calibri" pitchFamily="34" charset="0"/>
                <a:ea typeface="Calibri" pitchFamily="34" charset="-122"/>
                <a:cs typeface="Calibri" pitchFamily="34" charset="-120"/>
              </a:rPr>
              <a:t>ADRC  12/08/2026</a:t>
            </a:r>
            <a:endParaRPr lang="en-US" sz="950" dirty="0"/>
          </a:p>
        </p:txBody>
      </p:sp>
      <p:sp>
        <p:nvSpPr>
          <p:cNvPr id="13" name="Text 8"/>
          <p:cNvSpPr/>
          <p:nvPr/>
        </p:nvSpPr>
        <p:spPr>
          <a:xfrm>
            <a:off x="365760" y="6547104"/>
            <a:ext cx="548640" cy="219456"/>
          </a:xfrm>
          <a:prstGeom prst="rect">
            <a:avLst/>
          </a:prstGeom>
          <a:noFill/>
          <a:ln/>
        </p:spPr>
        <p:txBody>
          <a:bodyPr wrap="square" lIns="0" tIns="0" rIns="0" bIns="0" rtlCol="0" anchor="ctr"/>
          <a:lstStyle/>
          <a:p>
            <a:pPr algn="l" indent="0" marL="0">
              <a:buNone/>
            </a:pPr>
            <a:r>
              <a:rPr lang="en-US" sz="900" dirty="0">
                <a:solidFill>
                  <a:srgbClr val="6A6A6A"/>
                </a:solidFill>
                <a:latin typeface="Calibri" pitchFamily="34" charset="0"/>
                <a:ea typeface="Calibri" pitchFamily="34" charset="-122"/>
                <a:cs typeface="Calibri" pitchFamily="34" charset="-120"/>
              </a:rPr>
              <a:t>22</a:t>
            </a:r>
            <a:endParaRPr lang="en-US" sz="90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92608"/>
            <a:ext cx="10332720" cy="566928"/>
          </a:xfrm>
          <a:prstGeom prst="rect">
            <a:avLst/>
          </a:prstGeom>
          <a:noFill/>
          <a:ln/>
        </p:spPr>
        <p:txBody>
          <a:bodyPr wrap="none" lIns="0" tIns="0" rIns="0" bIns="0" rtlCol="0" anchor="ctr">
            <a:normAutofit/>
          </a:bodyPr>
          <a:lstStyle/>
          <a:p>
            <a:pPr algn="l" indent="0" marL="0">
              <a:buNone/>
            </a:pPr>
            <a:r>
              <a:rPr lang="en-US" sz="2100" b="1" dirty="0">
                <a:solidFill>
                  <a:srgbClr val="1F3864"/>
                </a:solidFill>
                <a:latin typeface="Cambria" pitchFamily="34" charset="0"/>
                <a:ea typeface="Cambria" pitchFamily="34" charset="-122"/>
                <a:cs typeface="Cambria" pitchFamily="34" charset="-120"/>
              </a:rPr>
              <a:t>Observations &amp; Points to Watch</a:t>
            </a:r>
            <a:endParaRPr lang="en-US" sz="2100" dirty="0"/>
          </a:p>
        </p:txBody>
      </p:sp>
      <p:pic>
        <p:nvPicPr>
          <p:cNvPr id="3" name="Image 0" descr="/home/user/whatsmap/reports/colombia_eq_20260810/images/adrc_logo.png">    </p:cNvPr>
          <p:cNvPicPr>
            <a:picLocks noChangeAspect="1"/>
          </p:cNvPicPr>
          <p:nvPr/>
        </p:nvPicPr>
        <p:blipFill>
          <a:blip r:embed="rId1"/>
          <a:stretch>
            <a:fillRect/>
          </a:stretch>
        </p:blipFill>
        <p:spPr>
          <a:xfrm>
            <a:off x="10945368" y="73152"/>
            <a:ext cx="877824" cy="877824"/>
          </a:xfrm>
          <a:prstGeom prst="rect">
            <a:avLst/>
          </a:prstGeom>
        </p:spPr>
      </p:pic>
      <p:sp>
        <p:nvSpPr>
          <p:cNvPr id="4" name="Text 1"/>
          <p:cNvSpPr/>
          <p:nvPr/>
        </p:nvSpPr>
        <p:spPr>
          <a:xfrm>
            <a:off x="365760" y="1024128"/>
            <a:ext cx="11430000" cy="5120640"/>
          </a:xfrm>
          <a:prstGeom prst="rect">
            <a:avLst/>
          </a:prstGeom>
          <a:noFill/>
          <a:ln/>
        </p:spPr>
        <p:txBody>
          <a:bodyPr wrap="square" lIns="50800" tIns="50800" rIns="50800" bIns="50800" rtlCol="0" anchor="t"/>
          <a:lstStyle/>
          <a:p>
            <a:pPr algn="l" marL="342900" indent="-342900">
              <a:buSzPct val="100000"/>
              <a:buChar char="•"/>
            </a:pPr>
            <a:r>
              <a:rPr lang="en-US" sz="1100" b="1" dirty="0">
                <a:solidFill>
                  <a:srgbClr val="1E7A34"/>
                </a:solidFill>
                <a:latin typeface="Calibri" pitchFamily="34" charset="0"/>
                <a:ea typeface="Calibri" pitchFamily="34" charset="-122"/>
                <a:cs typeface="Calibri" pitchFamily="34" charset="-120"/>
              </a:rPr>
              <a:t>[Official] </a:t>
            </a:r>
            <a:pPr algn="l" indent="0" marL="0">
              <a:spcAft>
                <a:spcPts val="500"/>
              </a:spcAft>
              <a:buNone/>
            </a:pPr>
            <a:r>
              <a:rPr lang="en-US" sz="1200" dirty="0">
                <a:solidFill>
                  <a:srgbClr val="222222"/>
                </a:solidFill>
                <a:latin typeface="Calibri" pitchFamily="34" charset="0"/>
                <a:ea typeface="Calibri" pitchFamily="34" charset="-122"/>
                <a:cs typeface="Calibri" pitchFamily="34" charset="-120"/>
              </a:rPr>
              <a:t>A deep source with shallow-disaster consequences. At 110 km depth the earthquake produced no surface rupture and no tsunami, yet it damaged buildings in at least six departments. Damage is dispersed rather than concentrated, which complicates needs assessment, logistics and the targeting of search and rescue.</a:t>
            </a:r>
            <a:endParaRPr lang="en-US" sz="1100" dirty="0"/>
          </a:p>
          <a:p>
            <a:pPr algn="l" marL="342900" indent="-342900">
              <a:buSzPct val="100000"/>
              <a:buChar char="•"/>
            </a:pPr>
            <a:r>
              <a:rPr lang="en-US" sz="1100" b="1" dirty="0">
                <a:solidFill>
                  <a:srgbClr val="1E7A34"/>
                </a:solidFill>
                <a:latin typeface="Calibri" pitchFamily="34" charset="0"/>
                <a:ea typeface="Calibri" pitchFamily="34" charset="-122"/>
                <a:cs typeface="Calibri" pitchFamily="34" charset="-120"/>
              </a:rPr>
              <a:t>[Official] </a:t>
            </a:r>
            <a:pPr algn="l" indent="0" marL="0">
              <a:spcAft>
                <a:spcPts val="500"/>
              </a:spcAft>
              <a:buNone/>
            </a:pPr>
            <a:r>
              <a:rPr lang="en-US" sz="1200" dirty="0">
                <a:solidFill>
                  <a:srgbClr val="222222"/>
                </a:solidFill>
                <a:latin typeface="Calibri" pitchFamily="34" charset="0"/>
                <a:ea typeface="Calibri" pitchFamily="34" charset="-122"/>
                <a:cs typeface="Calibri" pitchFamily="34" charset="-120"/>
              </a:rPr>
              <a:t>Critical facilities failed. The collapse of about 30% of Cali's University Hospital, the closure of seven health institutions, damage to 52 schools and the partial collapse of an international airport terminal all reduce response capacity exactly where it is needed. Seismic performance of hospitals, schools and transport terminals is the clearest lesson emerging so far.</a:t>
            </a:r>
            <a:endParaRPr lang="en-US" sz="1100" dirty="0"/>
          </a:p>
          <a:p>
            <a:pPr algn="l" marL="342900" indent="-342900">
              <a:buSzPct val="100000"/>
              <a:buChar char="•"/>
            </a:pPr>
            <a:r>
              <a:rPr lang="en-US" sz="1100" b="1" dirty="0">
                <a:solidFill>
                  <a:srgbClr val="1E7A34"/>
                </a:solidFill>
                <a:latin typeface="Calibri" pitchFamily="34" charset="0"/>
                <a:ea typeface="Calibri" pitchFamily="34" charset="-122"/>
                <a:cs typeface="Calibri" pitchFamily="34" charset="-120"/>
              </a:rPr>
              <a:t>[Official] </a:t>
            </a:r>
            <a:pPr algn="l" indent="0" marL="0">
              <a:spcAft>
                <a:spcPts val="500"/>
              </a:spcAft>
              <a:buNone/>
            </a:pPr>
            <a:r>
              <a:rPr lang="en-US" sz="1200" dirty="0">
                <a:solidFill>
                  <a:srgbClr val="222222"/>
                </a:solidFill>
                <a:latin typeface="Calibri" pitchFamily="34" charset="0"/>
                <a:ea typeface="Calibri" pitchFamily="34" charset="-122"/>
                <a:cs typeface="Calibri" pitchFamily="34" charset="-120"/>
              </a:rPr>
              <a:t>The toll multiplied as the assessment reached the damage. In 33 hours deaths went from 111 to 182 in UNGRD's own reporting, injured from 87 to 2,542, damaged homes from 1,612 to 15,568, damaged schools from 52 to 884 and damaged roads from 18 to 77. Nothing new happened to cause those jumps; the teams simply got to places they had not reached. Two lessons for reading early figures: the first-day numbers describe the reach of the assessment, not the size of the disaster, and the national total lags the departmental ones - here by 59 deaths in a single day.</a:t>
            </a:r>
            <a:endParaRPr lang="en-US" sz="1100" dirty="0"/>
          </a:p>
          <a:p>
            <a:pPr algn="l" marL="342900" indent="-342900">
              <a:buSzPct val="100000"/>
              <a:buChar char="•"/>
            </a:pPr>
            <a:r>
              <a:rPr lang="en-US" sz="1100" b="1" dirty="0">
                <a:solidFill>
                  <a:srgbClr val="B8860B"/>
                </a:solidFill>
                <a:latin typeface="Calibri" pitchFamily="34" charset="0"/>
                <a:ea typeface="Calibri" pitchFamily="34" charset="-122"/>
                <a:cs typeface="Calibri" pitchFamily="34" charset="-120"/>
              </a:rPr>
              <a:t>[Media] </a:t>
            </a:r>
            <a:pPr algn="l" indent="0" marL="0">
              <a:spcAft>
                <a:spcPts val="500"/>
              </a:spcAft>
              <a:buNone/>
            </a:pPr>
            <a:r>
              <a:rPr lang="en-US" sz="1200" dirty="0">
                <a:solidFill>
                  <a:srgbClr val="222222"/>
                </a:solidFill>
                <a:latin typeface="Calibri" pitchFamily="34" charset="0"/>
                <a:ea typeface="Calibri" pitchFamily="34" charset="-122"/>
                <a:cs typeface="Calibri" pitchFamily="34" charset="-120"/>
              </a:rPr>
              <a:t>The affected area is the Coffee Region rebuilt after 1999. Comparing how post-1999 construction performed against older stock, under a very different type of shaking, will be valuable for the region and for other countries with intermediate-depth seismic sources.</a:t>
            </a:r>
            <a:endParaRPr lang="en-US" sz="1100" dirty="0"/>
          </a:p>
          <a:p>
            <a:pPr algn="l" marL="342900" indent="-342900">
              <a:buSzPct val="100000"/>
              <a:buChar char="•"/>
            </a:pPr>
            <a:r>
              <a:rPr lang="en-US" sz="1100" b="1" dirty="0">
                <a:solidFill>
                  <a:srgbClr val="1E7A34"/>
                </a:solidFill>
                <a:latin typeface="Calibri" pitchFamily="34" charset="0"/>
                <a:ea typeface="Calibri" pitchFamily="34" charset="-122"/>
                <a:cs typeface="Calibri" pitchFamily="34" charset="-120"/>
              </a:rPr>
              <a:t>[Official] </a:t>
            </a:r>
            <a:pPr algn="l" indent="0" marL="0">
              <a:spcAft>
                <a:spcPts val="500"/>
              </a:spcAft>
              <a:buNone/>
            </a:pPr>
            <a:r>
              <a:rPr lang="en-US" sz="1200" dirty="0">
                <a:solidFill>
                  <a:srgbClr val="222222"/>
                </a:solidFill>
                <a:latin typeface="Calibri" pitchFamily="34" charset="0"/>
                <a:ea typeface="Calibri" pitchFamily="34" charset="-122"/>
                <a:cs typeface="Calibri" pitchFamily="34" charset="-120"/>
              </a:rPr>
              <a:t>The assessments existed before the event. Cali's GEM-TREQ risk model and its local plan had already named hospitals and other indispensable buildings as the priority to retrofit, and the 2026 earthquake — a far weaker test than the city's own modelled scenario — still took out roughly 30% of its main public hospital. The gap here is not knowledge but implementation and financing.</a:t>
            </a:r>
            <a:endParaRPr lang="en-US" sz="1100" dirty="0"/>
          </a:p>
          <a:p>
            <a:pPr algn="l" marL="342900" indent="-342900">
              <a:buSzPct val="100000"/>
              <a:buChar char="•"/>
            </a:pPr>
            <a:r>
              <a:rPr lang="en-US" sz="1100" b="1" dirty="0">
                <a:solidFill>
                  <a:srgbClr val="1E7A34"/>
                </a:solidFill>
                <a:latin typeface="Calibri" pitchFamily="34" charset="0"/>
                <a:ea typeface="Calibri" pitchFamily="34" charset="-122"/>
                <a:cs typeface="Calibri" pitchFamily="34" charset="-120"/>
              </a:rPr>
              <a:t>[Official] </a:t>
            </a:r>
            <a:pPr algn="l" indent="0" marL="0">
              <a:spcAft>
                <a:spcPts val="500"/>
              </a:spcAft>
              <a:buNone/>
            </a:pPr>
            <a:r>
              <a:rPr lang="en-US" sz="1200" dirty="0">
                <a:solidFill>
                  <a:srgbClr val="222222"/>
                </a:solidFill>
                <a:latin typeface="Calibri" pitchFamily="34" charset="0"/>
                <a:ea typeface="Calibri" pitchFamily="34" charset="-122"/>
                <a:cs typeface="Calibri" pitchFamily="34" charset="-120"/>
              </a:rPr>
              <a:t>Aftershock risk to damaged buildings. The intraslab aftershock sequence is expected to be modest, but damaged structures have lost capacity; rapid structural inspection (habitability assessment) before re-occupancy is the immediate priority alongside search and rescue.</a:t>
            </a:r>
            <a:endParaRPr lang="en-US" sz="1100" dirty="0"/>
          </a:p>
          <a:p>
            <a:pPr algn="l" marL="342900" indent="-342900">
              <a:buSzPct val="100000"/>
              <a:buChar char="•"/>
            </a:pPr>
            <a:r>
              <a:rPr lang="en-US" sz="1100" b="1" dirty="0">
                <a:solidFill>
                  <a:srgbClr val="888888"/>
                </a:solidFill>
                <a:latin typeface="Calibri" pitchFamily="34" charset="0"/>
                <a:ea typeface="Calibri" pitchFamily="34" charset="-122"/>
                <a:cs typeface="Calibri" pitchFamily="34" charset="-120"/>
              </a:rPr>
              <a:t>[TBC] </a:t>
            </a:r>
            <a:pPr algn="l" indent="0" marL="0">
              <a:spcAft>
                <a:spcPts val="500"/>
              </a:spcAft>
              <a:buNone/>
            </a:pPr>
            <a:r>
              <a:rPr lang="en-US" sz="1200" dirty="0">
                <a:solidFill>
                  <a:srgbClr val="222222"/>
                </a:solidFill>
                <a:latin typeface="Calibri" pitchFamily="34" charset="0"/>
                <a:ea typeface="Calibri" pitchFamily="34" charset="-122"/>
                <a:cs typeface="Calibri" pitchFamily="34" charset="-120"/>
              </a:rPr>
              <a:t>Points to watch: the reconciled national casualty figures; shelter and displacement numbers, which have not yet been published; water and power restoration in Chocó; the results of satellite-based damage mapping; and whether the Government requests international assistance beyond the offers already made.</a:t>
            </a:r>
            <a:endParaRPr lang="en-US" sz="1100" dirty="0"/>
          </a:p>
        </p:txBody>
      </p:sp>
      <p:sp>
        <p:nvSpPr>
          <p:cNvPr id="5" name="Text 2"/>
          <p:cNvSpPr/>
          <p:nvPr/>
        </p:nvSpPr>
        <p:spPr>
          <a:xfrm>
            <a:off x="365760" y="6272784"/>
            <a:ext cx="11430000" cy="219456"/>
          </a:xfrm>
          <a:prstGeom prst="rect">
            <a:avLst/>
          </a:prstGeom>
          <a:noFill/>
          <a:ln/>
        </p:spPr>
        <p:txBody>
          <a:bodyPr wrap="square" lIns="0" tIns="0" rIns="0" bIns="0" rtlCol="0" anchor="ctr"/>
          <a:lstStyle/>
          <a:p>
            <a:pPr algn="l" indent="0" marL="0">
              <a:buNone/>
            </a:pPr>
            <a:r>
              <a:rPr lang="en-US" sz="850" b="1" dirty="0">
                <a:solidFill>
                  <a:srgbClr val="6A6A6A"/>
                </a:solidFill>
                <a:latin typeface="Calibri" pitchFamily="34" charset="0"/>
                <a:ea typeface="Calibri" pitchFamily="34" charset="-122"/>
                <a:cs typeface="Calibri" pitchFamily="34" charset="-120"/>
              </a:rPr>
              <a:t>Sources: </a:t>
            </a:r>
            <a:pPr algn="l" indent="0" marL="0">
              <a:buNone/>
            </a:pPr>
            <a:r>
              <a:rPr lang="en-US" sz="850" u="sng" dirty="0">
                <a:solidFill>
                  <a:srgbClr val="0563C1"/>
                </a:solidFill>
                <a:latin typeface="Calibri" pitchFamily="34" charset="0"/>
                <a:ea typeface="Calibri" pitchFamily="34" charset="-122"/>
                <a:cs typeface="Calibri" pitchFamily="34" charset="-120"/>
                <a:hlinkClick r:id="rId2" invalidUrl="" action="" tgtFrame="" tooltip="" history="1" highlightClick="0" endSnd="0">
                  <a:extLst>
                    <a:ext uri="{A12FA001-AC4F-418D-AE19-62706E023703}">
                      <ahyp:hlinkClr xmlns:ahyp="http://schemas.microsoft.com/office/drawing/2018/hyperlinkcolor" val="tx"/>
                    </a:ext>
                  </a:extLst>
                </a:hlinkClick>
              </a:rPr>
              <a:t>UNGRD - National Unit for Disaster Risk Management</a:t>
            </a:r>
            <a:pPr algn="l" indent="0" marL="0">
              <a:buNone/>
            </a:pPr>
            <a:r>
              <a:rPr lang="en-US" sz="850" dirty="0">
                <a:solidFill>
                  <a:srgbClr val="6A6A6A"/>
                </a:solidFill>
                <a:latin typeface="Calibri" pitchFamily="34" charset="0"/>
                <a:ea typeface="Calibri" pitchFamily="34" charset="-122"/>
                <a:cs typeface="Calibri" pitchFamily="34" charset="-120"/>
              </a:rPr>
              <a:t>   ·   </a:t>
            </a:r>
            <a:pPr algn="l" indent="0" marL="0">
              <a:buNone/>
            </a:pPr>
            <a:r>
              <a:rPr lang="en-US" sz="850" u="sng" dirty="0">
                <a:solidFill>
                  <a:srgbClr val="0563C1"/>
                </a:solidFill>
                <a:latin typeface="Calibri" pitchFamily="34" charset="0"/>
                <a:ea typeface="Calibri" pitchFamily="34" charset="-122"/>
                <a:cs typeface="Calibri" pitchFamily="34" charset="-120"/>
                <a:hlinkClick r:id="rId3" invalidUrl="" action="" tgtFrame="" tooltip="" history="1" highlightClick="0" endSnd="0">
                  <a:extLst>
                    <a:ext uri="{A12FA001-AC4F-418D-AE19-62706E023703}">
                      <ahyp:hlinkClr xmlns:ahyp="http://schemas.microsoft.com/office/drawing/2018/hyperlinkcolor" val="tx"/>
                    </a:ext>
                  </a:extLst>
                </a:hlinkClick>
              </a:rPr>
              <a:t>USGS - M 7.4 San José del Palmar, Colombia (event page)</a:t>
            </a:r>
            <a:pPr algn="l" indent="0" marL="0">
              <a:buNone/>
            </a:pPr>
            <a:r>
              <a:rPr lang="en-US" sz="850" dirty="0">
                <a:solidFill>
                  <a:srgbClr val="6A6A6A"/>
                </a:solidFill>
                <a:latin typeface="Calibri" pitchFamily="34" charset="0"/>
                <a:ea typeface="Calibri" pitchFamily="34" charset="-122"/>
                <a:cs typeface="Calibri" pitchFamily="34" charset="-120"/>
              </a:rPr>
              <a:t>   ·   </a:t>
            </a:r>
            <a:pPr algn="l" indent="0" marL="0">
              <a:buNone/>
            </a:pPr>
            <a:r>
              <a:rPr lang="en-US" sz="850" u="sng" dirty="0">
                <a:solidFill>
                  <a:srgbClr val="0563C1"/>
                </a:solidFill>
                <a:latin typeface="Calibri" pitchFamily="34" charset="0"/>
                <a:ea typeface="Calibri" pitchFamily="34" charset="-122"/>
                <a:cs typeface="Calibri" pitchFamily="34" charset="-120"/>
                <a:hlinkClick r:id="rId4" invalidUrl="" action="" tgtFrame="" tooltip="" history="1" highlightClick="0" endSnd="0">
                  <a:extLst>
                    <a:ext uri="{A12FA001-AC4F-418D-AE19-62706E023703}">
                      <ahyp:hlinkClr xmlns:ahyp="http://schemas.microsoft.com/office/drawing/2018/hyperlinkcolor" val="tx"/>
                    </a:ext>
                  </a:extLst>
                </a:hlinkClick>
              </a:rPr>
              <a:t>ReliefWeb - Colombia</a:t>
            </a:r>
            <a:endParaRPr lang="en-US" sz="850" dirty="0"/>
          </a:p>
        </p:txBody>
      </p:sp>
      <p:sp>
        <p:nvSpPr>
          <p:cNvPr id="6" name="Shape 3"/>
          <p:cNvSpPr/>
          <p:nvPr/>
        </p:nvSpPr>
        <p:spPr>
          <a:xfrm>
            <a:off x="10268712" y="6510528"/>
            <a:ext cx="1554480" cy="274320"/>
          </a:xfrm>
          <a:prstGeom prst="rect">
            <a:avLst/>
          </a:prstGeom>
          <a:solidFill>
            <a:srgbClr val="E8A317"/>
          </a:solidFill>
          <a:ln w="12700">
            <a:solidFill>
              <a:srgbClr val="E8A317"/>
            </a:solidFill>
            <a:prstDash val="solid"/>
          </a:ln>
        </p:spPr>
      </p:sp>
      <p:sp>
        <p:nvSpPr>
          <p:cNvPr id="7" name="Text 4"/>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950" b="1" dirty="0">
                <a:solidFill>
                  <a:srgbClr val="000000"/>
                </a:solidFill>
                <a:latin typeface="Calibri" pitchFamily="34" charset="0"/>
                <a:ea typeface="Calibri" pitchFamily="34" charset="-122"/>
                <a:cs typeface="Calibri" pitchFamily="34" charset="-120"/>
              </a:rPr>
              <a:t>ADRC  12/08/2026</a:t>
            </a:r>
            <a:endParaRPr lang="en-US" sz="950" dirty="0"/>
          </a:p>
        </p:txBody>
      </p:sp>
      <p:sp>
        <p:nvSpPr>
          <p:cNvPr id="8" name="Text 5"/>
          <p:cNvSpPr/>
          <p:nvPr/>
        </p:nvSpPr>
        <p:spPr>
          <a:xfrm>
            <a:off x="365760" y="6547104"/>
            <a:ext cx="548640" cy="219456"/>
          </a:xfrm>
          <a:prstGeom prst="rect">
            <a:avLst/>
          </a:prstGeom>
          <a:noFill/>
          <a:ln/>
        </p:spPr>
        <p:txBody>
          <a:bodyPr wrap="square" lIns="0" tIns="0" rIns="0" bIns="0" rtlCol="0" anchor="ctr"/>
          <a:lstStyle/>
          <a:p>
            <a:pPr algn="l" indent="0" marL="0">
              <a:buNone/>
            </a:pPr>
            <a:r>
              <a:rPr lang="en-US" sz="900" dirty="0">
                <a:solidFill>
                  <a:srgbClr val="6A6A6A"/>
                </a:solidFill>
                <a:latin typeface="Calibri" pitchFamily="34" charset="0"/>
                <a:ea typeface="Calibri" pitchFamily="34" charset="-122"/>
                <a:cs typeface="Calibri" pitchFamily="34" charset="-120"/>
              </a:rPr>
              <a:t>23</a:t>
            </a:r>
            <a:endParaRPr lang="en-US" sz="900"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92608"/>
            <a:ext cx="10332720" cy="566928"/>
          </a:xfrm>
          <a:prstGeom prst="rect">
            <a:avLst/>
          </a:prstGeom>
          <a:noFill/>
          <a:ln/>
        </p:spPr>
        <p:txBody>
          <a:bodyPr wrap="none" lIns="0" tIns="0" rIns="0" bIns="0" rtlCol="0" anchor="ctr">
            <a:normAutofit/>
          </a:bodyPr>
          <a:lstStyle/>
          <a:p>
            <a:pPr algn="l" indent="0" marL="0">
              <a:buNone/>
            </a:pPr>
            <a:r>
              <a:rPr lang="en-US" sz="2100" b="1" dirty="0">
                <a:solidFill>
                  <a:srgbClr val="1F3864"/>
                </a:solidFill>
                <a:latin typeface="Cambria" pitchFamily="34" charset="0"/>
                <a:ea typeface="Cambria" pitchFamily="34" charset="-122"/>
                <a:cs typeface="Cambria" pitchFamily="34" charset="-120"/>
              </a:rPr>
              <a:t>Useful Links &amp; Sources (1/3)</a:t>
            </a:r>
            <a:endParaRPr lang="en-US" sz="2100" dirty="0"/>
          </a:p>
        </p:txBody>
      </p:sp>
      <p:pic>
        <p:nvPicPr>
          <p:cNvPr id="3" name="Image 0" descr="/home/user/whatsmap/reports/colombia_eq_20260810/images/adrc_logo.png">    </p:cNvPr>
          <p:cNvPicPr>
            <a:picLocks noChangeAspect="1"/>
          </p:cNvPicPr>
          <p:nvPr/>
        </p:nvPicPr>
        <p:blipFill>
          <a:blip r:embed="rId1"/>
          <a:stretch>
            <a:fillRect/>
          </a:stretch>
        </p:blipFill>
        <p:spPr>
          <a:xfrm>
            <a:off x="10945368" y="73152"/>
            <a:ext cx="877824" cy="877824"/>
          </a:xfrm>
          <a:prstGeom prst="rect">
            <a:avLst/>
          </a:prstGeom>
        </p:spPr>
      </p:pic>
      <p:sp>
        <p:nvSpPr>
          <p:cNvPr id="4" name="Text 1"/>
          <p:cNvSpPr/>
          <p:nvPr/>
        </p:nvSpPr>
        <p:spPr>
          <a:xfrm>
            <a:off x="365760" y="914400"/>
            <a:ext cx="11430000" cy="566928"/>
          </a:xfrm>
          <a:prstGeom prst="rect">
            <a:avLst/>
          </a:prstGeom>
          <a:noFill/>
          <a:ln/>
        </p:spPr>
        <p:txBody>
          <a:bodyPr wrap="square" lIns="25400" tIns="25400" rIns="25400" bIns="25400" rtlCol="0" anchor="t"/>
          <a:lstStyle/>
          <a:p>
            <a:pPr algn="l" indent="0" marL="0">
              <a:buNone/>
            </a:pPr>
            <a:r>
              <a:rPr lang="en-US" sz="950" b="1" dirty="0">
                <a:solidFill>
                  <a:srgbClr val="1F3864"/>
                </a:solidFill>
                <a:latin typeface="Calibri" pitchFamily="34" charset="0"/>
                <a:ea typeface="Calibri" pitchFamily="34" charset="-122"/>
                <a:cs typeface="Calibri" pitchFamily="34" charset="-120"/>
              </a:rPr>
              <a:t>Source policy: </a:t>
            </a:r>
            <a:pPr algn="l" indent="0" marL="0">
              <a:buNone/>
            </a:pPr>
            <a:r>
              <a:rPr lang="en-US" sz="900" dirty="0">
                <a:solidFill>
                  <a:srgbClr val="444444"/>
                </a:solidFill>
                <a:latin typeface="Calibri" pitchFamily="34" charset="0"/>
                <a:ea typeface="Calibri" pitchFamily="34" charset="-122"/>
                <a:cs typeface="Calibri" pitchFamily="34" charset="-120"/>
              </a:rPr>
              <a:t>Source hierarchy: official &gt; media &gt; TBC. Government and scientific-agency figures are used as primary; media reports are used only where official figures are not yet published and are labelled as such. Items still being verified are marked TBC. Preliminary figures are never replaced by larger unverified numbers.</a:t>
            </a:r>
            <a:endParaRPr lang="en-US" sz="950" dirty="0"/>
          </a:p>
        </p:txBody>
      </p:sp>
      <p:graphicFrame>
        <p:nvGraphicFramePr>
          <p:cNvPr id="25" name="Table 0"/>
          <p:cNvGraphicFramePr>
            <a:graphicFrameLocks noGrp="1"/>
          </p:cNvGraphicFramePr>
          <p:nvPr>
            <p:extLst>
              <p:ext uri="{D42A27DB-BD31-4B8C-83A1-F6EECF244321}">
                <p14:modId xmlns:p14="http://schemas.microsoft.com/office/powerpoint/2010/main" val="1579011935"/>
              </p:ext>
            </p:extLst>
          </p:nvPr>
        </p:nvGraphicFramePr>
        <p:xfrm>
          <a:off x="365760" y="1536192"/>
          <a:ext cx="11430000" cy="914400"/>
        </p:xfrm>
        <a:graphic>
          <a:graphicData uri="http://schemas.openxmlformats.org/drawingml/2006/table">
            <a:tbl>
              <a:tblPr/>
              <a:tblGrid>
                <a:gridCol w="4206240"/>
                <a:gridCol w="822960"/>
                <a:gridCol w="6400800"/>
              </a:tblGrid>
              <a:tr h="292608">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Source</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Tier</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URL</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r>
              <a:tr h="292608">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USGS - M 7.4 San José del Palmar, Colombia (event page)</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1E7A34"/>
                          </a:solidFill>
                          <a:latin typeface="Calibri" pitchFamily="34" charset="0"/>
                          <a:ea typeface="Calibri" pitchFamily="34" charset="-122"/>
                          <a:cs typeface="Calibri" pitchFamily="34" charset="-120"/>
                        </a:rPr>
                        <a:t>Official</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00" u="sng" dirty="0">
                          <a:solidFill>
                            <a:srgbClr val="0563C1"/>
                          </a:solidFill>
                          <a:latin typeface="Calibri" pitchFamily="34" charset="0"/>
                          <a:ea typeface="Calibri" pitchFamily="34" charset="-122"/>
                          <a:cs typeface="Calibri" pitchFamily="34" charset="-120"/>
                          <a:hlinkClick r:id="rId2" invalidUrl="" action="" tgtFrame="" tooltip="" history="1" highlightClick="0" endSnd="0">
                            <a:extLst>
                              <a:ext uri="{A12FA001-AC4F-418D-AE19-62706E023703}">
                                <ahyp:hlinkClr xmlns:ahyp="http://schemas.microsoft.com/office/drawing/2018/hyperlinkcolor" val="tx"/>
                              </a:ext>
                            </a:extLst>
                          </a:hlinkClick>
                        </a:rPr>
                        <a:t>https://earthquake.usgs.gov/earthquakes/eventpage/us6000tjl2/executive</a:t>
                      </a:r>
                      <a:endParaRPr lang="en-US" sz="8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92608">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Servicio Geológico Colombiano (SGC)</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1E7A34"/>
                          </a:solidFill>
                          <a:latin typeface="Calibri" pitchFamily="34" charset="0"/>
                          <a:ea typeface="Calibri" pitchFamily="34" charset="-122"/>
                          <a:cs typeface="Calibri" pitchFamily="34" charset="-120"/>
                        </a:rPr>
                        <a:t>Official</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00" u="sng" dirty="0">
                          <a:solidFill>
                            <a:srgbClr val="0563C1"/>
                          </a:solidFill>
                          <a:latin typeface="Calibri" pitchFamily="34" charset="0"/>
                          <a:ea typeface="Calibri" pitchFamily="34" charset="-122"/>
                          <a:cs typeface="Calibri" pitchFamily="34" charset="-120"/>
                          <a:hlinkClick r:id="rId3" invalidUrl="" action="" tgtFrame="" tooltip="" history="1" highlightClick="0" endSnd="0">
                            <a:extLst>
                              <a:ext uri="{A12FA001-AC4F-418D-AE19-62706E023703}">
                                <ahyp:hlinkClr xmlns:ahyp="http://schemas.microsoft.com/office/drawing/2018/hyperlinkcolor" val="tx"/>
                              </a:ext>
                            </a:extLst>
                          </a:hlinkClick>
                        </a:rPr>
                        <a:t>https://www.sgc.gov.co/</a:t>
                      </a:r>
                      <a:endParaRPr lang="en-US" sz="8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292608">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SGC — event bulletin SGC2026pqqmro (this earthquake)</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1E7A34"/>
                          </a:solidFill>
                          <a:latin typeface="Calibri" pitchFamily="34" charset="0"/>
                          <a:ea typeface="Calibri" pitchFamily="34" charset="-122"/>
                          <a:cs typeface="Calibri" pitchFamily="34" charset="-120"/>
                        </a:rPr>
                        <a:t>Official</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00" u="sng" dirty="0">
                          <a:solidFill>
                            <a:srgbClr val="0563C1"/>
                          </a:solidFill>
                          <a:latin typeface="Calibri" pitchFamily="34" charset="0"/>
                          <a:ea typeface="Calibri" pitchFamily="34" charset="-122"/>
                          <a:cs typeface="Calibri" pitchFamily="34" charset="-120"/>
                          <a:hlinkClick r:id="rId4" invalidUrl="" action="" tgtFrame="" tooltip="" history="1" highlightClick="0" endSnd="0">
                            <a:extLst>
                              <a:ext uri="{A12FA001-AC4F-418D-AE19-62706E023703}">
                                <ahyp:hlinkClr xmlns:ahyp="http://schemas.microsoft.com/office/drawing/2018/hyperlinkcolor" val="tx"/>
                              </a:ext>
                            </a:extLst>
                          </a:hlinkClick>
                        </a:rPr>
                        <a:t>https://www.sgc.gov.co/detallesismo/SGC2026pqqmro/</a:t>
                      </a:r>
                      <a:endParaRPr lang="en-US" sz="8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92608">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SGC — macroseismic intensity map (ShakeMap) for this earthquake</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1E7A34"/>
                          </a:solidFill>
                          <a:latin typeface="Calibri" pitchFamily="34" charset="0"/>
                          <a:ea typeface="Calibri" pitchFamily="34" charset="-122"/>
                          <a:cs typeface="Calibri" pitchFamily="34" charset="-120"/>
                        </a:rPr>
                        <a:t>Official</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00" u="sng" dirty="0">
                          <a:solidFill>
                            <a:srgbClr val="0563C1"/>
                          </a:solidFill>
                          <a:latin typeface="Calibri" pitchFamily="34" charset="0"/>
                          <a:ea typeface="Calibri" pitchFamily="34" charset="-122"/>
                          <a:cs typeface="Calibri" pitchFamily="34" charset="-120"/>
                          <a:hlinkClick r:id="rId5" invalidUrl="" action="" tgtFrame="" tooltip="" history="1" highlightClick="0" endSnd="0">
                            <a:extLst>
                              <a:ext uri="{A12FA001-AC4F-418D-AE19-62706E023703}">
                                <ahyp:hlinkClr xmlns:ahyp="http://schemas.microsoft.com/office/drawing/2018/hyperlinkcolor" val="tx"/>
                              </a:ext>
                            </a:extLst>
                          </a:hlinkClick>
                        </a:rPr>
                        <a:t>https://www.sgc.gov.co/detallesismo/SGC2026pqqmro/mmi</a:t>
                      </a:r>
                      <a:endParaRPr lang="en-US" sz="8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292608">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UNGRD - National Unit for Disaster Risk Management</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1E7A34"/>
                          </a:solidFill>
                          <a:latin typeface="Calibri" pitchFamily="34" charset="0"/>
                          <a:ea typeface="Calibri" pitchFamily="34" charset="-122"/>
                          <a:cs typeface="Calibri" pitchFamily="34" charset="-120"/>
                        </a:rPr>
                        <a:t>Official</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00" u="sng" dirty="0">
                          <a:solidFill>
                            <a:srgbClr val="0563C1"/>
                          </a:solidFill>
                          <a:latin typeface="Calibri" pitchFamily="34" charset="0"/>
                          <a:ea typeface="Calibri" pitchFamily="34" charset="-122"/>
                          <a:cs typeface="Calibri" pitchFamily="34" charset="-120"/>
                          <a:hlinkClick r:id="rId6" invalidUrl="" action="" tgtFrame="" tooltip="" history="1" highlightClick="0" endSnd="0">
                            <a:extLst>
                              <a:ext uri="{A12FA001-AC4F-418D-AE19-62706E023703}">
                                <ahyp:hlinkClr xmlns:ahyp="http://schemas.microsoft.com/office/drawing/2018/hyperlinkcolor" val="tx"/>
                              </a:ext>
                            </a:extLst>
                          </a:hlinkClick>
                        </a:rPr>
                        <a:t>https://portal.gestiondelriesgo.gov.co/</a:t>
                      </a:r>
                      <a:endParaRPr lang="en-US" sz="8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92608">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GDACS - Orange earthquake alert, Colombia, 10 Aug 2026</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1E7A34"/>
                          </a:solidFill>
                          <a:latin typeface="Calibri" pitchFamily="34" charset="0"/>
                          <a:ea typeface="Calibri" pitchFamily="34" charset="-122"/>
                          <a:cs typeface="Calibri" pitchFamily="34" charset="-120"/>
                        </a:rPr>
                        <a:t>Official</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00" u="sng" dirty="0">
                          <a:solidFill>
                            <a:srgbClr val="0563C1"/>
                          </a:solidFill>
                          <a:latin typeface="Calibri" pitchFamily="34" charset="0"/>
                          <a:ea typeface="Calibri" pitchFamily="34" charset="-122"/>
                          <a:cs typeface="Calibri" pitchFamily="34" charset="-120"/>
                          <a:hlinkClick r:id="rId7" invalidUrl="" action="" tgtFrame="" tooltip="" history="1" highlightClick="0" endSnd="0">
                            <a:extLst>
                              <a:ext uri="{A12FA001-AC4F-418D-AE19-62706E023703}">
                                <ahyp:hlinkClr xmlns:ahyp="http://schemas.microsoft.com/office/drawing/2018/hyperlinkcolor" val="tx"/>
                              </a:ext>
                            </a:extLst>
                          </a:hlinkClick>
                        </a:rPr>
                        <a:t>https://gdacs.org/report.aspx?eventid=1557236&amp;eventtype=EQ</a:t>
                      </a:r>
                      <a:endParaRPr lang="en-US" sz="8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292608">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International Charter 'Space and Major Disasters' - activations</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1E7A34"/>
                          </a:solidFill>
                          <a:latin typeface="Calibri" pitchFamily="34" charset="0"/>
                          <a:ea typeface="Calibri" pitchFamily="34" charset="-122"/>
                          <a:cs typeface="Calibri" pitchFamily="34" charset="-120"/>
                        </a:rPr>
                        <a:t>Official</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00" u="sng" dirty="0">
                          <a:solidFill>
                            <a:srgbClr val="0563C1"/>
                          </a:solidFill>
                          <a:latin typeface="Calibri" pitchFamily="34" charset="0"/>
                          <a:ea typeface="Calibri" pitchFamily="34" charset="-122"/>
                          <a:cs typeface="Calibri" pitchFamily="34" charset="-120"/>
                          <a:hlinkClick r:id="rId8" invalidUrl="" action="" tgtFrame="" tooltip="" history="1" highlightClick="0" endSnd="0">
                            <a:extLst>
                              <a:ext uri="{A12FA001-AC4F-418D-AE19-62706E023703}">
                                <ahyp:hlinkClr xmlns:ahyp="http://schemas.microsoft.com/office/drawing/2018/hyperlinkcolor" val="tx"/>
                              </a:ext>
                            </a:extLst>
                          </a:hlinkClick>
                        </a:rPr>
                        <a:t>https://disasterscharter.org/activations</a:t>
                      </a:r>
                      <a:endParaRPr lang="en-US" sz="8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92608">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Copernicus EMS — EMSR916 'Earthquake in Colombia' (activation)</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1E7A34"/>
                          </a:solidFill>
                          <a:latin typeface="Calibri" pitchFamily="34" charset="0"/>
                          <a:ea typeface="Calibri" pitchFamily="34" charset="-122"/>
                          <a:cs typeface="Calibri" pitchFamily="34" charset="-120"/>
                        </a:rPr>
                        <a:t>Official</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00" u="sng" dirty="0">
                          <a:solidFill>
                            <a:srgbClr val="0563C1"/>
                          </a:solidFill>
                          <a:latin typeface="Calibri" pitchFamily="34" charset="0"/>
                          <a:ea typeface="Calibri" pitchFamily="34" charset="-122"/>
                          <a:cs typeface="Calibri" pitchFamily="34" charset="-120"/>
                          <a:hlinkClick r:id="rId9" invalidUrl="" action="" tgtFrame="" tooltip="" history="1" highlightClick="0" endSnd="0">
                            <a:extLst>
                              <a:ext uri="{A12FA001-AC4F-418D-AE19-62706E023703}">
                                <ahyp:hlinkClr xmlns:ahyp="http://schemas.microsoft.com/office/drawing/2018/hyperlinkcolor" val="tx"/>
                              </a:ext>
                            </a:extLst>
                          </a:hlinkClick>
                        </a:rPr>
                        <a:t>https://mapping.emergency.copernicus.eu/activations/EMSR916/</a:t>
                      </a:r>
                      <a:endParaRPr lang="en-US" sz="8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292608">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ReliefWeb - Colombia</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1E7A34"/>
                          </a:solidFill>
                          <a:latin typeface="Calibri" pitchFamily="34" charset="0"/>
                          <a:ea typeface="Calibri" pitchFamily="34" charset="-122"/>
                          <a:cs typeface="Calibri" pitchFamily="34" charset="-120"/>
                        </a:rPr>
                        <a:t>Official</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00" u="sng" dirty="0">
                          <a:solidFill>
                            <a:srgbClr val="0563C1"/>
                          </a:solidFill>
                          <a:latin typeface="Calibri" pitchFamily="34" charset="0"/>
                          <a:ea typeface="Calibri" pitchFamily="34" charset="-122"/>
                          <a:cs typeface="Calibri" pitchFamily="34" charset="-120"/>
                          <a:hlinkClick r:id="rId10" invalidUrl="" action="" tgtFrame="" tooltip="" history="1" highlightClick="0" endSnd="0">
                            <a:extLst>
                              <a:ext uri="{A12FA001-AC4F-418D-AE19-62706E023703}">
                                <ahyp:hlinkClr xmlns:ahyp="http://schemas.microsoft.com/office/drawing/2018/hyperlinkcolor" val="tx"/>
                              </a:ext>
                            </a:extLst>
                          </a:hlinkClick>
                        </a:rPr>
                        <a:t>https://reliefweb.int/country/col</a:t>
                      </a:r>
                      <a:endParaRPr lang="en-US" sz="8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92608">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PAHO/WHO - Colombia</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1E7A34"/>
                          </a:solidFill>
                          <a:latin typeface="Calibri" pitchFamily="34" charset="0"/>
                          <a:ea typeface="Calibri" pitchFamily="34" charset="-122"/>
                          <a:cs typeface="Calibri" pitchFamily="34" charset="-120"/>
                        </a:rPr>
                        <a:t>Official</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00" u="sng" dirty="0">
                          <a:solidFill>
                            <a:srgbClr val="0563C1"/>
                          </a:solidFill>
                          <a:latin typeface="Calibri" pitchFamily="34" charset="0"/>
                          <a:ea typeface="Calibri" pitchFamily="34" charset="-122"/>
                          <a:cs typeface="Calibri" pitchFamily="34" charset="-120"/>
                          <a:hlinkClick r:id="rId11" invalidUrl="" action="" tgtFrame="" tooltip="" history="1" highlightClick="0" endSnd="0">
                            <a:extLst>
                              <a:ext uri="{A12FA001-AC4F-418D-AE19-62706E023703}">
                                <ahyp:hlinkClr xmlns:ahyp="http://schemas.microsoft.com/office/drawing/2018/hyperlinkcolor" val="tx"/>
                              </a:ext>
                            </a:extLst>
                          </a:hlinkClick>
                        </a:rPr>
                        <a:t>https://www.paho.org/en/colombia</a:t>
                      </a:r>
                      <a:endParaRPr lang="en-US" sz="8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292608">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PreventionWeb - Colombia PNGRD 2015-2030</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1E7A34"/>
                          </a:solidFill>
                          <a:latin typeface="Calibri" pitchFamily="34" charset="0"/>
                          <a:ea typeface="Calibri" pitchFamily="34" charset="-122"/>
                          <a:cs typeface="Calibri" pitchFamily="34" charset="-120"/>
                        </a:rPr>
                        <a:t>Official</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00" u="sng" dirty="0">
                          <a:solidFill>
                            <a:srgbClr val="0563C1"/>
                          </a:solidFill>
                          <a:latin typeface="Calibri" pitchFamily="34" charset="0"/>
                          <a:ea typeface="Calibri" pitchFamily="34" charset="-122"/>
                          <a:cs typeface="Calibri" pitchFamily="34" charset="-120"/>
                          <a:hlinkClick r:id="rId12" invalidUrl="" action="" tgtFrame="" tooltip="" history="1" highlightClick="0" endSnd="0">
                            <a:extLst>
                              <a:ext uri="{A12FA001-AC4F-418D-AE19-62706E023703}">
                                <ahyp:hlinkClr xmlns:ahyp="http://schemas.microsoft.com/office/drawing/2018/hyperlinkcolor" val="tx"/>
                              </a:ext>
                            </a:extLst>
                          </a:hlinkClick>
                        </a:rPr>
                        <a:t>https://www.preventionweb.net/publication/colombia-plan-nacional-de-gestion-del-riesgo-de-desastres-pngrd-2015-2030</a:t>
                      </a:r>
                      <a:endParaRPr lang="en-US" sz="8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92608">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GEM - Seismic regulations for Colombia (NSR-10)</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1E7A34"/>
                          </a:solidFill>
                          <a:latin typeface="Calibri" pitchFamily="34" charset="0"/>
                          <a:ea typeface="Calibri" pitchFamily="34" charset="-122"/>
                          <a:cs typeface="Calibri" pitchFamily="34" charset="-120"/>
                        </a:rPr>
                        <a:t>Official</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00" u="sng" dirty="0">
                          <a:solidFill>
                            <a:srgbClr val="0563C1"/>
                          </a:solidFill>
                          <a:latin typeface="Calibri" pitchFamily="34" charset="0"/>
                          <a:ea typeface="Calibri" pitchFamily="34" charset="-122"/>
                          <a:cs typeface="Calibri" pitchFamily="34" charset="-120"/>
                          <a:hlinkClick r:id="rId13" invalidUrl="" action="" tgtFrame="" tooltip="" history="1" highlightClick="0" endSnd="0">
                            <a:extLst>
                              <a:ext uri="{A12FA001-AC4F-418D-AE19-62706E023703}">
                                <ahyp:hlinkClr xmlns:ahyp="http://schemas.microsoft.com/office/drawing/2018/hyperlinkcolor" val="tx"/>
                              </a:ext>
                            </a:extLst>
                          </a:hlinkClick>
                        </a:rPr>
                        <a:t>https://www.globalquakemodel.org/seismic-regulations/colombia</a:t>
                      </a:r>
                      <a:endParaRPr lang="en-US" sz="8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292608">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CNN — live updates: death toll rises to 132</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B8860B"/>
                          </a:solidFill>
                          <a:latin typeface="Calibri" pitchFamily="34" charset="0"/>
                          <a:ea typeface="Calibri" pitchFamily="34" charset="-122"/>
                          <a:cs typeface="Calibri" pitchFamily="34" charset="-120"/>
                        </a:rPr>
                        <a:t>Media</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00" u="sng" dirty="0">
                          <a:solidFill>
                            <a:srgbClr val="0563C1"/>
                          </a:solidFill>
                          <a:latin typeface="Calibri" pitchFamily="34" charset="0"/>
                          <a:ea typeface="Calibri" pitchFamily="34" charset="-122"/>
                          <a:cs typeface="Calibri" pitchFamily="34" charset="-120"/>
                          <a:hlinkClick r:id="rId14" invalidUrl="" action="" tgtFrame="" tooltip="" history="1" highlightClick="0" endSnd="0">
                            <a:extLst>
                              <a:ext uri="{A12FA001-AC4F-418D-AE19-62706E023703}">
                                <ahyp:hlinkClr xmlns:ahyp="http://schemas.microsoft.com/office/drawing/2018/hyperlinkcolor" val="tx"/>
                              </a:ext>
                            </a:extLst>
                          </a:hlinkClick>
                        </a:rPr>
                        <a:t>https://www.cnn.com/2026/08/10/world/live-news/colombia-earthquake-san-jose-del-palmar</a:t>
                      </a:r>
                      <a:endParaRPr lang="en-US" sz="8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92608">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El Colombiano — 84 injured and 12 dead in Chocó (department government)</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B8860B"/>
                          </a:solidFill>
                          <a:latin typeface="Calibri" pitchFamily="34" charset="0"/>
                          <a:ea typeface="Calibri" pitchFamily="34" charset="-122"/>
                          <a:cs typeface="Calibri" pitchFamily="34" charset="-120"/>
                        </a:rPr>
                        <a:t>Media</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00" u="sng" dirty="0">
                          <a:solidFill>
                            <a:srgbClr val="0563C1"/>
                          </a:solidFill>
                          <a:latin typeface="Calibri" pitchFamily="34" charset="0"/>
                          <a:ea typeface="Calibri" pitchFamily="34" charset="-122"/>
                          <a:cs typeface="Calibri" pitchFamily="34" charset="-120"/>
                          <a:hlinkClick r:id="rId15" invalidUrl="" action="" tgtFrame="" tooltip="" history="1" highlightClick="0" endSnd="0">
                            <a:extLst>
                              <a:ext uri="{A12FA001-AC4F-418D-AE19-62706E023703}">
                                <ahyp:hlinkClr xmlns:ahyp="http://schemas.microsoft.com/office/drawing/2018/hyperlinkcolor" val="tx"/>
                              </a:ext>
                            </a:extLst>
                          </a:hlinkClick>
                        </a:rPr>
                        <a:t>https://www.elcolombiano.com/colombia/terremoto-temblor-hoy-colombia-choco-heridos-FL39761141</a:t>
                      </a:r>
                      <a:endParaRPr lang="en-US" sz="8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292608">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UN-SPIDER - UNGRD of Colombia</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1E7A34"/>
                          </a:solidFill>
                          <a:latin typeface="Calibri" pitchFamily="34" charset="0"/>
                          <a:ea typeface="Calibri" pitchFamily="34" charset="-122"/>
                          <a:cs typeface="Calibri" pitchFamily="34" charset="-120"/>
                        </a:rPr>
                        <a:t>Official</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00" u="sng" dirty="0">
                          <a:solidFill>
                            <a:srgbClr val="0563C1"/>
                          </a:solidFill>
                          <a:latin typeface="Calibri" pitchFamily="34" charset="0"/>
                          <a:ea typeface="Calibri" pitchFamily="34" charset="-122"/>
                          <a:cs typeface="Calibri" pitchFamily="34" charset="-120"/>
                          <a:hlinkClick r:id="rId16" invalidUrl="" action="" tgtFrame="" tooltip="" history="1" highlightClick="0" endSnd="0">
                            <a:extLst>
                              <a:ext uri="{A12FA001-AC4F-418D-AE19-62706E023703}">
                                <ahyp:hlinkClr xmlns:ahyp="http://schemas.microsoft.com/office/drawing/2018/hyperlinkcolor" val="tx"/>
                              </a:ext>
                            </a:extLst>
                          </a:hlinkClick>
                        </a:rPr>
                        <a:t>https://un-spider.org/national-unit-disaster-risk-management-ungrd-colombia</a:t>
                      </a:r>
                      <a:endParaRPr lang="en-US" sz="8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bl>
          </a:graphicData>
        </a:graphic>
      </p:graphicFrame>
      <p:sp>
        <p:nvSpPr>
          <p:cNvPr id="6" name="Shape 2"/>
          <p:cNvSpPr/>
          <p:nvPr/>
        </p:nvSpPr>
        <p:spPr>
          <a:xfrm>
            <a:off x="10268712" y="6510528"/>
            <a:ext cx="1554480" cy="274320"/>
          </a:xfrm>
          <a:prstGeom prst="rect">
            <a:avLst/>
          </a:prstGeom>
          <a:solidFill>
            <a:srgbClr val="E8A317"/>
          </a:solidFill>
          <a:ln w="12700">
            <a:solidFill>
              <a:srgbClr val="E8A317"/>
            </a:solidFill>
            <a:prstDash val="solid"/>
          </a:ln>
        </p:spPr>
      </p:sp>
      <p:sp>
        <p:nvSpPr>
          <p:cNvPr id="7" name="Text 3"/>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950" b="1" dirty="0">
                <a:solidFill>
                  <a:srgbClr val="000000"/>
                </a:solidFill>
                <a:latin typeface="Calibri" pitchFamily="34" charset="0"/>
                <a:ea typeface="Calibri" pitchFamily="34" charset="-122"/>
                <a:cs typeface="Calibri" pitchFamily="34" charset="-120"/>
              </a:rPr>
              <a:t>ADRC  12/08/2026</a:t>
            </a:r>
            <a:endParaRPr lang="en-US" sz="950" dirty="0"/>
          </a:p>
        </p:txBody>
      </p:sp>
      <p:sp>
        <p:nvSpPr>
          <p:cNvPr id="8" name="Text 4"/>
          <p:cNvSpPr/>
          <p:nvPr/>
        </p:nvSpPr>
        <p:spPr>
          <a:xfrm>
            <a:off x="365760" y="6547104"/>
            <a:ext cx="548640" cy="219456"/>
          </a:xfrm>
          <a:prstGeom prst="rect">
            <a:avLst/>
          </a:prstGeom>
          <a:noFill/>
          <a:ln/>
        </p:spPr>
        <p:txBody>
          <a:bodyPr wrap="square" lIns="0" tIns="0" rIns="0" bIns="0" rtlCol="0" anchor="ctr"/>
          <a:lstStyle/>
          <a:p>
            <a:pPr algn="l" indent="0" marL="0">
              <a:buNone/>
            </a:pPr>
            <a:r>
              <a:rPr lang="en-US" sz="900" dirty="0">
                <a:solidFill>
                  <a:srgbClr val="6A6A6A"/>
                </a:solidFill>
                <a:latin typeface="Calibri" pitchFamily="34" charset="0"/>
                <a:ea typeface="Calibri" pitchFamily="34" charset="-122"/>
                <a:cs typeface="Calibri" pitchFamily="34" charset="-120"/>
              </a:rPr>
              <a:t>24</a:t>
            </a:r>
            <a:endParaRPr lang="en-US" sz="900"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92608"/>
            <a:ext cx="10332720" cy="566928"/>
          </a:xfrm>
          <a:prstGeom prst="rect">
            <a:avLst/>
          </a:prstGeom>
          <a:noFill/>
          <a:ln/>
        </p:spPr>
        <p:txBody>
          <a:bodyPr wrap="none" lIns="0" tIns="0" rIns="0" bIns="0" rtlCol="0" anchor="ctr">
            <a:normAutofit/>
          </a:bodyPr>
          <a:lstStyle/>
          <a:p>
            <a:pPr algn="l" indent="0" marL="0">
              <a:buNone/>
            </a:pPr>
            <a:r>
              <a:rPr lang="en-US" sz="2100" b="1" dirty="0">
                <a:solidFill>
                  <a:srgbClr val="1F3864"/>
                </a:solidFill>
                <a:latin typeface="Cambria" pitchFamily="34" charset="0"/>
                <a:ea typeface="Cambria" pitchFamily="34" charset="-122"/>
                <a:cs typeface="Cambria" pitchFamily="34" charset="-120"/>
              </a:rPr>
              <a:t>Useful Links &amp; Sources (2/3)</a:t>
            </a:r>
            <a:endParaRPr lang="en-US" sz="2100" dirty="0"/>
          </a:p>
        </p:txBody>
      </p:sp>
      <p:pic>
        <p:nvPicPr>
          <p:cNvPr id="3" name="Image 0" descr="/home/user/whatsmap/reports/colombia_eq_20260810/images/adrc_logo.png">    </p:cNvPr>
          <p:cNvPicPr>
            <a:picLocks noChangeAspect="1"/>
          </p:cNvPicPr>
          <p:nvPr/>
        </p:nvPicPr>
        <p:blipFill>
          <a:blip r:embed="rId1"/>
          <a:stretch>
            <a:fillRect/>
          </a:stretch>
        </p:blipFill>
        <p:spPr>
          <a:xfrm>
            <a:off x="10945368" y="73152"/>
            <a:ext cx="877824" cy="877824"/>
          </a:xfrm>
          <a:prstGeom prst="rect">
            <a:avLst/>
          </a:prstGeom>
        </p:spPr>
      </p:pic>
      <p:graphicFrame>
        <p:nvGraphicFramePr>
          <p:cNvPr id="26" name="Table 0"/>
          <p:cNvGraphicFramePr>
            <a:graphicFrameLocks noGrp="1"/>
          </p:cNvGraphicFramePr>
          <p:nvPr>
            <p:extLst>
              <p:ext uri="{D42A27DB-BD31-4B8C-83A1-F6EECF244321}">
                <p14:modId xmlns:p14="http://schemas.microsoft.com/office/powerpoint/2010/main" val="1579011935"/>
              </p:ext>
            </p:extLst>
          </p:nvPr>
        </p:nvGraphicFramePr>
        <p:xfrm>
          <a:off x="365760" y="1024128"/>
          <a:ext cx="11430000" cy="914400"/>
        </p:xfrm>
        <a:graphic>
          <a:graphicData uri="http://schemas.openxmlformats.org/drawingml/2006/table">
            <a:tbl>
              <a:tblPr/>
              <a:tblGrid>
                <a:gridCol w="4206240"/>
                <a:gridCol w="822960"/>
                <a:gridCol w="6400800"/>
              </a:tblGrid>
              <a:tr h="292608">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Source</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Tier</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URL</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r>
              <a:tr h="292608">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OECD - Risk governance scan of Colombia</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1E7A34"/>
                          </a:solidFill>
                          <a:latin typeface="Calibri" pitchFamily="34" charset="0"/>
                          <a:ea typeface="Calibri" pitchFamily="34" charset="-122"/>
                          <a:cs typeface="Calibri" pitchFamily="34" charset="-120"/>
                        </a:rPr>
                        <a:t>Official</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00" u="sng" dirty="0">
                          <a:solidFill>
                            <a:srgbClr val="0563C1"/>
                          </a:solidFill>
                          <a:latin typeface="Calibri" pitchFamily="34" charset="0"/>
                          <a:ea typeface="Calibri" pitchFamily="34" charset="-122"/>
                          <a:cs typeface="Calibri" pitchFamily="34" charset="-120"/>
                          <a:hlinkClick r:id="rId2" invalidUrl="" action="" tgtFrame="" tooltip="" history="1" highlightClick="0" endSnd="0">
                            <a:extLst>
                              <a:ext uri="{A12FA001-AC4F-418D-AE19-62706E023703}">
                                <ahyp:hlinkClr xmlns:ahyp="http://schemas.microsoft.com/office/drawing/2018/hyperlinkcolor" val="tx"/>
                              </a:ext>
                            </a:extLst>
                          </a:hlinkClick>
                        </a:rPr>
                        <a:t>https://www.oecd.org/en/publications/risk-governance-scan-of-colombia_eeb81954-en.html</a:t>
                      </a:r>
                      <a:endParaRPr lang="en-US" sz="8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92608">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CNN - Live updates: at least 111 dead</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B8860B"/>
                          </a:solidFill>
                          <a:latin typeface="Calibri" pitchFamily="34" charset="0"/>
                          <a:ea typeface="Calibri" pitchFamily="34" charset="-122"/>
                          <a:cs typeface="Calibri" pitchFamily="34" charset="-120"/>
                        </a:rPr>
                        <a:t>Media</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00" u="sng" dirty="0">
                          <a:solidFill>
                            <a:srgbClr val="0563C1"/>
                          </a:solidFill>
                          <a:latin typeface="Calibri" pitchFamily="34" charset="0"/>
                          <a:ea typeface="Calibri" pitchFamily="34" charset="-122"/>
                          <a:cs typeface="Calibri" pitchFamily="34" charset="-120"/>
                          <a:hlinkClick r:id="rId3" invalidUrl="" action="" tgtFrame="" tooltip="" history="1" highlightClick="0" endSnd="0">
                            <a:extLst>
                              <a:ext uri="{A12FA001-AC4F-418D-AE19-62706E023703}">
                                <ahyp:hlinkClr xmlns:ahyp="http://schemas.microsoft.com/office/drawing/2018/hyperlinkcolor" val="tx"/>
                              </a:ext>
                            </a:extLst>
                          </a:hlinkClick>
                        </a:rPr>
                        <a:t>https://www.cnn.com/2026/08/10/world/live-news/colombia-earthquake-san-jose-del-palmar</a:t>
                      </a:r>
                      <a:endParaRPr lang="en-US" sz="8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292608">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France 24 - Colombia declares national emergency as quake toll hits 111</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B8860B"/>
                          </a:solidFill>
                          <a:latin typeface="Calibri" pitchFamily="34" charset="0"/>
                          <a:ea typeface="Calibri" pitchFamily="34" charset="-122"/>
                          <a:cs typeface="Calibri" pitchFamily="34" charset="-120"/>
                        </a:rPr>
                        <a:t>Media</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00" u="sng" dirty="0">
                          <a:solidFill>
                            <a:srgbClr val="0563C1"/>
                          </a:solidFill>
                          <a:latin typeface="Calibri" pitchFamily="34" charset="0"/>
                          <a:ea typeface="Calibri" pitchFamily="34" charset="-122"/>
                          <a:cs typeface="Calibri" pitchFamily="34" charset="-120"/>
                          <a:hlinkClick r:id="rId4" invalidUrl="" action="" tgtFrame="" tooltip="" history="1" highlightClick="0" endSnd="0">
                            <a:extLst>
                              <a:ext uri="{A12FA001-AC4F-418D-AE19-62706E023703}">
                                <ahyp:hlinkClr xmlns:ahyp="http://schemas.microsoft.com/office/drawing/2018/hyperlinkcolor" val="tx"/>
                              </a:ext>
                            </a:extLst>
                          </a:hlinkClick>
                        </a:rPr>
                        <a:t>https://www.france24.com/en/americas/20260810-powerful-quake-rocks-colombia-causing-major-damage</a:t>
                      </a:r>
                      <a:endParaRPr lang="en-US" sz="8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92608">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Al Jazeera - M7.4 earthquake hits Colombia</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B8860B"/>
                          </a:solidFill>
                          <a:latin typeface="Calibri" pitchFamily="34" charset="0"/>
                          <a:ea typeface="Calibri" pitchFamily="34" charset="-122"/>
                          <a:cs typeface="Calibri" pitchFamily="34" charset="-120"/>
                        </a:rPr>
                        <a:t>Media</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00" u="sng" dirty="0">
                          <a:solidFill>
                            <a:srgbClr val="0563C1"/>
                          </a:solidFill>
                          <a:latin typeface="Calibri" pitchFamily="34" charset="0"/>
                          <a:ea typeface="Calibri" pitchFamily="34" charset="-122"/>
                          <a:cs typeface="Calibri" pitchFamily="34" charset="-120"/>
                          <a:hlinkClick r:id="rId5" invalidUrl="" action="" tgtFrame="" tooltip="" history="1" highlightClick="0" endSnd="0">
                            <a:extLst>
                              <a:ext uri="{A12FA001-AC4F-418D-AE19-62706E023703}">
                                <ahyp:hlinkClr xmlns:ahyp="http://schemas.microsoft.com/office/drawing/2018/hyperlinkcolor" val="tx"/>
                              </a:ext>
                            </a:extLst>
                          </a:hlinkClick>
                        </a:rPr>
                        <a:t>https://www.aljazeera.com/news/2026/8/10/7-4-magnitude-earthquake-hits-colombia-killing-at-least-20</a:t>
                      </a:r>
                      <a:endParaRPr lang="en-US" sz="8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292608">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CBS News - Strong earthquake strikes western Colombia</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B8860B"/>
                          </a:solidFill>
                          <a:latin typeface="Calibri" pitchFamily="34" charset="0"/>
                          <a:ea typeface="Calibri" pitchFamily="34" charset="-122"/>
                          <a:cs typeface="Calibri" pitchFamily="34" charset="-120"/>
                        </a:rPr>
                        <a:t>Media</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00" u="sng" dirty="0">
                          <a:solidFill>
                            <a:srgbClr val="0563C1"/>
                          </a:solidFill>
                          <a:latin typeface="Calibri" pitchFamily="34" charset="0"/>
                          <a:ea typeface="Calibri" pitchFamily="34" charset="-122"/>
                          <a:cs typeface="Calibri" pitchFamily="34" charset="-120"/>
                          <a:hlinkClick r:id="rId6" invalidUrl="" action="" tgtFrame="" tooltip="" history="1" highlightClick="0" endSnd="0">
                            <a:extLst>
                              <a:ext uri="{A12FA001-AC4F-418D-AE19-62706E023703}">
                                <ahyp:hlinkClr xmlns:ahyp="http://schemas.microsoft.com/office/drawing/2018/hyperlinkcolor" val="tx"/>
                              </a:ext>
                            </a:extLst>
                          </a:hlinkClick>
                        </a:rPr>
                        <a:t>https://www.cbsnews.com/news/colombia-earthquake-western-region-evacuations/</a:t>
                      </a:r>
                      <a:endParaRPr lang="en-US" sz="8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92608">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NBC News - Deaths, injuries and collapsed buildings</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B8860B"/>
                          </a:solidFill>
                          <a:latin typeface="Calibri" pitchFamily="34" charset="0"/>
                          <a:ea typeface="Calibri" pitchFamily="34" charset="-122"/>
                          <a:cs typeface="Calibri" pitchFamily="34" charset="-120"/>
                        </a:rPr>
                        <a:t>Media</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00" u="sng" dirty="0">
                          <a:solidFill>
                            <a:srgbClr val="0563C1"/>
                          </a:solidFill>
                          <a:latin typeface="Calibri" pitchFamily="34" charset="0"/>
                          <a:ea typeface="Calibri" pitchFamily="34" charset="-122"/>
                          <a:cs typeface="Calibri" pitchFamily="34" charset="-120"/>
                          <a:hlinkClick r:id="rId7" invalidUrl="" action="" tgtFrame="" tooltip="" history="1" highlightClick="0" endSnd="0">
                            <a:extLst>
                              <a:ext uri="{A12FA001-AC4F-418D-AE19-62706E023703}">
                                <ahyp:hlinkClr xmlns:ahyp="http://schemas.microsoft.com/office/drawing/2018/hyperlinkcolor" val="tx"/>
                              </a:ext>
                            </a:extLst>
                          </a:hlinkClick>
                        </a:rPr>
                        <a:t>https://www.nbcnews.com/world/latin-america/strong-earthquake-colombia-ecuador-people-evacuating-homes-buildings-rcna591709</a:t>
                      </a:r>
                      <a:endParaRPr lang="en-US" sz="8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292608">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Colombia One - First official assessment: widespread structural damage</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B8860B"/>
                          </a:solidFill>
                          <a:latin typeface="Calibri" pitchFamily="34" charset="0"/>
                          <a:ea typeface="Calibri" pitchFamily="34" charset="-122"/>
                          <a:cs typeface="Calibri" pitchFamily="34" charset="-120"/>
                        </a:rPr>
                        <a:t>Media</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00" u="sng" dirty="0">
                          <a:solidFill>
                            <a:srgbClr val="0563C1"/>
                          </a:solidFill>
                          <a:latin typeface="Calibri" pitchFamily="34" charset="0"/>
                          <a:ea typeface="Calibri" pitchFamily="34" charset="-122"/>
                          <a:cs typeface="Calibri" pitchFamily="34" charset="-120"/>
                          <a:hlinkClick r:id="rId8" invalidUrl="" action="" tgtFrame="" tooltip="" history="1" highlightClick="0" endSnd="0">
                            <a:extLst>
                              <a:ext uri="{A12FA001-AC4F-418D-AE19-62706E023703}">
                                <ahyp:hlinkClr xmlns:ahyp="http://schemas.microsoft.com/office/drawing/2018/hyperlinkcolor" val="tx"/>
                              </a:ext>
                            </a:extLst>
                          </a:hlinkClick>
                        </a:rPr>
                        <a:t>https://colombiaone.com/2026/08/10/earthquake-colombia-official-details/</a:t>
                      </a:r>
                      <a:endParaRPr lang="en-US" sz="8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92608">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Colombia One - Government declares national disaster</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B8860B"/>
                          </a:solidFill>
                          <a:latin typeface="Calibri" pitchFamily="34" charset="0"/>
                          <a:ea typeface="Calibri" pitchFamily="34" charset="-122"/>
                          <a:cs typeface="Calibri" pitchFamily="34" charset="-120"/>
                        </a:rPr>
                        <a:t>Media</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00" u="sng" dirty="0">
                          <a:solidFill>
                            <a:srgbClr val="0563C1"/>
                          </a:solidFill>
                          <a:latin typeface="Calibri" pitchFamily="34" charset="0"/>
                          <a:ea typeface="Calibri" pitchFamily="34" charset="-122"/>
                          <a:cs typeface="Calibri" pitchFamily="34" charset="-120"/>
                          <a:hlinkClick r:id="rId9" invalidUrl="" action="" tgtFrame="" tooltip="" history="1" highlightClick="0" endSnd="0">
                            <a:extLst>
                              <a:ext uri="{A12FA001-AC4F-418D-AE19-62706E023703}">
                                <ahyp:hlinkClr xmlns:ahyp="http://schemas.microsoft.com/office/drawing/2018/hyperlinkcolor" val="tx"/>
                              </a:ext>
                            </a:extLst>
                          </a:hlinkClick>
                        </a:rPr>
                        <a:t>https://colombiaone.com/2026/08/10/colombia-national-disaster/</a:t>
                      </a:r>
                      <a:endParaRPr lang="en-US" sz="8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292608">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Infobae - SGC explains why the shaking lasted so long</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B8860B"/>
                          </a:solidFill>
                          <a:latin typeface="Calibri" pitchFamily="34" charset="0"/>
                          <a:ea typeface="Calibri" pitchFamily="34" charset="-122"/>
                          <a:cs typeface="Calibri" pitchFamily="34" charset="-120"/>
                        </a:rPr>
                        <a:t>Media</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00" u="sng" dirty="0">
                          <a:solidFill>
                            <a:srgbClr val="0563C1"/>
                          </a:solidFill>
                          <a:latin typeface="Calibri" pitchFamily="34" charset="0"/>
                          <a:ea typeface="Calibri" pitchFamily="34" charset="-122"/>
                          <a:cs typeface="Calibri" pitchFamily="34" charset="-120"/>
                          <a:hlinkClick r:id="rId10" invalidUrl="" action="" tgtFrame="" tooltip="" history="1" highlightClick="0" endSnd="0">
                            <a:extLst>
                              <a:ext uri="{A12FA001-AC4F-418D-AE19-62706E023703}">
                                <ahyp:hlinkClr xmlns:ahyp="http://schemas.microsoft.com/office/drawing/2018/hyperlinkcolor" val="tx"/>
                              </a:ext>
                            </a:extLst>
                          </a:hlinkClick>
                        </a:rPr>
                        <a:t>https://www.infobae.com/colombia/2026/08/10/por-que-el-temblor-en-colombia-de-este-lunes-10-de-agosto-duro-una-eternidad-el-servicio-geologico-explico-que-paso/</a:t>
                      </a:r>
                      <a:endParaRPr lang="en-US" sz="8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92608">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NHK - President reports 111 dead, 87 injured (Japanese)</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B8860B"/>
                          </a:solidFill>
                          <a:latin typeface="Calibri" pitchFamily="34" charset="0"/>
                          <a:ea typeface="Calibri" pitchFamily="34" charset="-122"/>
                          <a:cs typeface="Calibri" pitchFamily="34" charset="-120"/>
                        </a:rPr>
                        <a:t>Media</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00" u="sng" dirty="0">
                          <a:solidFill>
                            <a:srgbClr val="0563C1"/>
                          </a:solidFill>
                          <a:latin typeface="Calibri" pitchFamily="34" charset="0"/>
                          <a:ea typeface="Calibri" pitchFamily="34" charset="-122"/>
                          <a:cs typeface="Calibri" pitchFamily="34" charset="-120"/>
                          <a:hlinkClick r:id="rId11" invalidUrl="" action="" tgtFrame="" tooltip="" history="1" highlightClick="0" endSnd="0">
                            <a:extLst>
                              <a:ext uri="{A12FA001-AC4F-418D-AE19-62706E023703}">
                                <ahyp:hlinkClr xmlns:ahyp="http://schemas.microsoft.com/office/drawing/2018/hyperlinkcolor" val="tx"/>
                              </a:ext>
                            </a:extLst>
                          </a:hlinkClick>
                        </a:rPr>
                        <a:t>https://www3.nhk.or.jp/news/</a:t>
                      </a:r>
                      <a:endParaRPr lang="en-US" sz="8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292608">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Nikkei - M7.4 earthquake in western Colombia (Japanese)</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B8860B"/>
                          </a:solidFill>
                          <a:latin typeface="Calibri" pitchFamily="34" charset="0"/>
                          <a:ea typeface="Calibri" pitchFamily="34" charset="-122"/>
                          <a:cs typeface="Calibri" pitchFamily="34" charset="-120"/>
                        </a:rPr>
                        <a:t>Media</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00" u="sng" dirty="0">
                          <a:solidFill>
                            <a:srgbClr val="0563C1"/>
                          </a:solidFill>
                          <a:latin typeface="Calibri" pitchFamily="34" charset="0"/>
                          <a:ea typeface="Calibri" pitchFamily="34" charset="-122"/>
                          <a:cs typeface="Calibri" pitchFamily="34" charset="-120"/>
                          <a:hlinkClick r:id="rId12" invalidUrl="" action="" tgtFrame="" tooltip="" history="1" highlightClick="0" endSnd="0">
                            <a:extLst>
                              <a:ext uri="{A12FA001-AC4F-418D-AE19-62706E023703}">
                                <ahyp:hlinkClr xmlns:ahyp="http://schemas.microsoft.com/office/drawing/2018/hyperlinkcolor" val="tx"/>
                              </a:ext>
                            </a:extLst>
                          </a:hlinkClick>
                        </a:rPr>
                        <a:t>https://www.nikkei.com/article/DGXZQOGN108V30Q6A810C2000000/</a:t>
                      </a:r>
                      <a:endParaRPr lang="en-US" sz="8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92608">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Jiji Press - M7.4 earthquake in Colombia (Japanese)</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B8860B"/>
                          </a:solidFill>
                          <a:latin typeface="Calibri" pitchFamily="34" charset="0"/>
                          <a:ea typeface="Calibri" pitchFamily="34" charset="-122"/>
                          <a:cs typeface="Calibri" pitchFamily="34" charset="-120"/>
                        </a:rPr>
                        <a:t>Media</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00" u="sng" dirty="0">
                          <a:solidFill>
                            <a:srgbClr val="0563C1"/>
                          </a:solidFill>
                          <a:latin typeface="Calibri" pitchFamily="34" charset="0"/>
                          <a:ea typeface="Calibri" pitchFamily="34" charset="-122"/>
                          <a:cs typeface="Calibri" pitchFamily="34" charset="-120"/>
                          <a:hlinkClick r:id="rId13" invalidUrl="" action="" tgtFrame="" tooltip="" history="1" highlightClick="0" endSnd="0">
                            <a:extLst>
                              <a:ext uri="{A12FA001-AC4F-418D-AE19-62706E023703}">
                                <ahyp:hlinkClr xmlns:ahyp="http://schemas.microsoft.com/office/drawing/2018/hyperlinkcolor" val="tx"/>
                              </a:ext>
                            </a:extLst>
                          </a:hlinkClick>
                        </a:rPr>
                        <a:t>https://www.jiji.com/jc/article?k=2026081000878&amp;g=int</a:t>
                      </a:r>
                      <a:endParaRPr lang="en-US" sz="8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292608">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Save the Children - Children at risk after the earthquake</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B8860B"/>
                          </a:solidFill>
                          <a:latin typeface="Calibri" pitchFamily="34" charset="0"/>
                          <a:ea typeface="Calibri" pitchFamily="34" charset="-122"/>
                          <a:cs typeface="Calibri" pitchFamily="34" charset="-120"/>
                        </a:rPr>
                        <a:t>Media</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00" u="sng" dirty="0">
                          <a:solidFill>
                            <a:srgbClr val="0563C1"/>
                          </a:solidFill>
                          <a:latin typeface="Calibri" pitchFamily="34" charset="0"/>
                          <a:ea typeface="Calibri" pitchFamily="34" charset="-122"/>
                          <a:cs typeface="Calibri" pitchFamily="34" charset="-120"/>
                          <a:hlinkClick r:id="rId14" invalidUrl="" action="" tgtFrame="" tooltip="" history="1" highlightClick="0" endSnd="0">
                            <a:extLst>
                              <a:ext uri="{A12FA001-AC4F-418D-AE19-62706E023703}">
                                <ahyp:hlinkClr xmlns:ahyp="http://schemas.microsoft.com/office/drawing/2018/hyperlinkcolor" val="tx"/>
                              </a:ext>
                            </a:extLst>
                          </a:hlinkClick>
                        </a:rPr>
                        <a:t>https://www.savethechildren.org/us/about-us/media-and-news/2026-press-releases/children-at-risk-after-earthquake-strikes-colombia</a:t>
                      </a:r>
                      <a:endParaRPr lang="en-US" sz="8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92608">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Direct Relief - Mobilising medical aid</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B8860B"/>
                          </a:solidFill>
                          <a:latin typeface="Calibri" pitchFamily="34" charset="0"/>
                          <a:ea typeface="Calibri" pitchFamily="34" charset="-122"/>
                          <a:cs typeface="Calibri" pitchFamily="34" charset="-120"/>
                        </a:rPr>
                        <a:t>Media</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00" u="sng" dirty="0">
                          <a:solidFill>
                            <a:srgbClr val="0563C1"/>
                          </a:solidFill>
                          <a:latin typeface="Calibri" pitchFamily="34" charset="0"/>
                          <a:ea typeface="Calibri" pitchFamily="34" charset="-122"/>
                          <a:cs typeface="Calibri" pitchFamily="34" charset="-120"/>
                          <a:hlinkClick r:id="rId15" invalidUrl="" action="" tgtFrame="" tooltip="" history="1" highlightClick="0" endSnd="0">
                            <a:extLst>
                              <a:ext uri="{A12FA001-AC4F-418D-AE19-62706E023703}">
                                <ahyp:hlinkClr xmlns:ahyp="http://schemas.microsoft.com/office/drawing/2018/hyperlinkcolor" val="tx"/>
                              </a:ext>
                            </a:extLst>
                          </a:hlinkClick>
                        </a:rPr>
                        <a:t>https://www.directrelief.org/2026/08/colombia-earthquake-7-4-magnitude-direct-relief-response/</a:t>
                      </a:r>
                      <a:endParaRPr lang="en-US" sz="8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292608">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Americares - Colombia earthquake, August 2026</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B8860B"/>
                          </a:solidFill>
                          <a:latin typeface="Calibri" pitchFamily="34" charset="0"/>
                          <a:ea typeface="Calibri" pitchFamily="34" charset="-122"/>
                          <a:cs typeface="Calibri" pitchFamily="34" charset="-120"/>
                        </a:rPr>
                        <a:t>Media</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00" u="sng" dirty="0">
                          <a:solidFill>
                            <a:srgbClr val="0563C1"/>
                          </a:solidFill>
                          <a:latin typeface="Calibri" pitchFamily="34" charset="0"/>
                          <a:ea typeface="Calibri" pitchFamily="34" charset="-122"/>
                          <a:cs typeface="Calibri" pitchFamily="34" charset="-120"/>
                          <a:hlinkClick r:id="rId16" invalidUrl="" action="" tgtFrame="" tooltip="" history="1" highlightClick="0" endSnd="0">
                            <a:extLst>
                              <a:ext uri="{A12FA001-AC4F-418D-AE19-62706E023703}">
                                <ahyp:hlinkClr xmlns:ahyp="http://schemas.microsoft.com/office/drawing/2018/hyperlinkcolor" val="tx"/>
                              </a:ext>
                            </a:extLst>
                          </a:hlinkClick>
                        </a:rPr>
                        <a:t>https://www.americares.org/crisis-alerts/colombia-earthquake-august-2026/</a:t>
                      </a:r>
                      <a:endParaRPr lang="en-US" sz="8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92608">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GLIDEnumber — EQ-2026-000146-COL (event identifier)</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1E7A34"/>
                          </a:solidFill>
                          <a:latin typeface="Calibri" pitchFamily="34" charset="0"/>
                          <a:ea typeface="Calibri" pitchFamily="34" charset="-122"/>
                          <a:cs typeface="Calibri" pitchFamily="34" charset="-120"/>
                        </a:rPr>
                        <a:t>Official</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00" u="sng" dirty="0">
                          <a:solidFill>
                            <a:srgbClr val="0563C1"/>
                          </a:solidFill>
                          <a:latin typeface="Calibri" pitchFamily="34" charset="0"/>
                          <a:ea typeface="Calibri" pitchFamily="34" charset="-122"/>
                          <a:cs typeface="Calibri" pitchFamily="34" charset="-120"/>
                          <a:hlinkClick r:id="rId17" invalidUrl="" action="" tgtFrame="" tooltip="" history="1" highlightClick="0" endSnd="0">
                            <a:extLst>
                              <a:ext uri="{A12FA001-AC4F-418D-AE19-62706E023703}">
                                <ahyp:hlinkClr xmlns:ahyp="http://schemas.microsoft.com/office/drawing/2018/hyperlinkcolor" val="tx"/>
                              </a:ext>
                            </a:extLst>
                          </a:hlinkClick>
                        </a:rPr>
                        <a:t>https://glidenumber.net/</a:t>
                      </a:r>
                      <a:endParaRPr lang="en-US" sz="8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bl>
          </a:graphicData>
        </a:graphic>
      </p:graphicFrame>
      <p:sp>
        <p:nvSpPr>
          <p:cNvPr id="5" name="Shape 1"/>
          <p:cNvSpPr/>
          <p:nvPr/>
        </p:nvSpPr>
        <p:spPr>
          <a:xfrm>
            <a:off x="10268712" y="6510528"/>
            <a:ext cx="1554480" cy="274320"/>
          </a:xfrm>
          <a:prstGeom prst="rect">
            <a:avLst/>
          </a:prstGeom>
          <a:solidFill>
            <a:srgbClr val="E8A317"/>
          </a:solidFill>
          <a:ln w="12700">
            <a:solidFill>
              <a:srgbClr val="E8A317"/>
            </a:solidFill>
            <a:prstDash val="solid"/>
          </a:ln>
        </p:spPr>
      </p:sp>
      <p:sp>
        <p:nvSpPr>
          <p:cNvPr id="6" name="Text 2"/>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950" b="1" dirty="0">
                <a:solidFill>
                  <a:srgbClr val="000000"/>
                </a:solidFill>
                <a:latin typeface="Calibri" pitchFamily="34" charset="0"/>
                <a:ea typeface="Calibri" pitchFamily="34" charset="-122"/>
                <a:cs typeface="Calibri" pitchFamily="34" charset="-120"/>
              </a:rPr>
              <a:t>ADRC  12/08/2026</a:t>
            </a:r>
            <a:endParaRPr lang="en-US" sz="950" dirty="0"/>
          </a:p>
        </p:txBody>
      </p:sp>
      <p:sp>
        <p:nvSpPr>
          <p:cNvPr id="7" name="Text 3"/>
          <p:cNvSpPr/>
          <p:nvPr/>
        </p:nvSpPr>
        <p:spPr>
          <a:xfrm>
            <a:off x="365760" y="6547104"/>
            <a:ext cx="548640" cy="219456"/>
          </a:xfrm>
          <a:prstGeom prst="rect">
            <a:avLst/>
          </a:prstGeom>
          <a:noFill/>
          <a:ln/>
        </p:spPr>
        <p:txBody>
          <a:bodyPr wrap="square" lIns="0" tIns="0" rIns="0" bIns="0" rtlCol="0" anchor="ctr"/>
          <a:lstStyle/>
          <a:p>
            <a:pPr algn="l" indent="0" marL="0">
              <a:buNone/>
            </a:pPr>
            <a:r>
              <a:rPr lang="en-US" sz="900" dirty="0">
                <a:solidFill>
                  <a:srgbClr val="6A6A6A"/>
                </a:solidFill>
                <a:latin typeface="Calibri" pitchFamily="34" charset="0"/>
                <a:ea typeface="Calibri" pitchFamily="34" charset="-122"/>
                <a:cs typeface="Calibri" pitchFamily="34" charset="-120"/>
              </a:rPr>
              <a:t>25</a:t>
            </a:r>
            <a:endParaRPr lang="en-US" sz="900"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92608"/>
            <a:ext cx="10332720" cy="566928"/>
          </a:xfrm>
          <a:prstGeom prst="rect">
            <a:avLst/>
          </a:prstGeom>
          <a:noFill/>
          <a:ln/>
        </p:spPr>
        <p:txBody>
          <a:bodyPr wrap="none" lIns="0" tIns="0" rIns="0" bIns="0" rtlCol="0" anchor="ctr">
            <a:normAutofit/>
          </a:bodyPr>
          <a:lstStyle/>
          <a:p>
            <a:pPr algn="l" indent="0" marL="0">
              <a:buNone/>
            </a:pPr>
            <a:r>
              <a:rPr lang="en-US" sz="2100" b="1" dirty="0">
                <a:solidFill>
                  <a:srgbClr val="1F3864"/>
                </a:solidFill>
                <a:latin typeface="Cambria" pitchFamily="34" charset="0"/>
                <a:ea typeface="Cambria" pitchFamily="34" charset="-122"/>
                <a:cs typeface="Cambria" pitchFamily="34" charset="-120"/>
              </a:rPr>
              <a:t>Useful Links &amp; Sources (3/3)</a:t>
            </a:r>
            <a:endParaRPr lang="en-US" sz="2100" dirty="0"/>
          </a:p>
        </p:txBody>
      </p:sp>
      <p:pic>
        <p:nvPicPr>
          <p:cNvPr id="3" name="Image 0" descr="/home/user/whatsmap/reports/colombia_eq_20260810/images/adrc_logo.png">    </p:cNvPr>
          <p:cNvPicPr>
            <a:picLocks noChangeAspect="1"/>
          </p:cNvPicPr>
          <p:nvPr/>
        </p:nvPicPr>
        <p:blipFill>
          <a:blip r:embed="rId1"/>
          <a:stretch>
            <a:fillRect/>
          </a:stretch>
        </p:blipFill>
        <p:spPr>
          <a:xfrm>
            <a:off x="10945368" y="73152"/>
            <a:ext cx="877824" cy="877824"/>
          </a:xfrm>
          <a:prstGeom prst="rect">
            <a:avLst/>
          </a:prstGeom>
        </p:spPr>
      </p:pic>
      <p:graphicFrame>
        <p:nvGraphicFramePr>
          <p:cNvPr id="27" name="Table 0"/>
          <p:cNvGraphicFramePr>
            <a:graphicFrameLocks noGrp="1"/>
          </p:cNvGraphicFramePr>
          <p:nvPr>
            <p:extLst>
              <p:ext uri="{D42A27DB-BD31-4B8C-83A1-F6EECF244321}">
                <p14:modId xmlns:p14="http://schemas.microsoft.com/office/powerpoint/2010/main" val="1579011935"/>
              </p:ext>
            </p:extLst>
          </p:nvPr>
        </p:nvGraphicFramePr>
        <p:xfrm>
          <a:off x="365760" y="1024128"/>
          <a:ext cx="11430000" cy="914400"/>
        </p:xfrm>
        <a:graphic>
          <a:graphicData uri="http://schemas.openxmlformats.org/drawingml/2006/table">
            <a:tbl>
              <a:tblPr/>
              <a:tblGrid>
                <a:gridCol w="4206240"/>
                <a:gridCol w="822960"/>
                <a:gridCol w="6400800"/>
              </a:tblGrid>
              <a:tr h="292608">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Source</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Tier</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URL</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r>
              <a:tr h="292608">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ADRC - Asian Disaster Reduction Center</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1E7A34"/>
                          </a:solidFill>
                          <a:latin typeface="Calibri" pitchFamily="34" charset="0"/>
                          <a:ea typeface="Calibri" pitchFamily="34" charset="-122"/>
                          <a:cs typeface="Calibri" pitchFamily="34" charset="-120"/>
                        </a:rPr>
                        <a:t>Official</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00" u="sng" dirty="0">
                          <a:solidFill>
                            <a:srgbClr val="0563C1"/>
                          </a:solidFill>
                          <a:latin typeface="Calibri" pitchFamily="34" charset="0"/>
                          <a:ea typeface="Calibri" pitchFamily="34" charset="-122"/>
                          <a:cs typeface="Calibri" pitchFamily="34" charset="-120"/>
                          <a:hlinkClick r:id="rId2" invalidUrl="" action="" tgtFrame="" tooltip="" history="1" highlightClick="0" endSnd="0">
                            <a:extLst>
                              <a:ext uri="{A12FA001-AC4F-418D-AE19-62706E023703}">
                                <ahyp:hlinkClr xmlns:ahyp="http://schemas.microsoft.com/office/drawing/2018/hyperlinkcolor" val="tx"/>
                              </a:ext>
                            </a:extLst>
                          </a:hlinkClick>
                        </a:rPr>
                        <a:t>https://www.adrc.asia/</a:t>
                      </a:r>
                      <a:endParaRPr lang="en-US" sz="8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92608">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European Commission — EU support for Colombia, Copernicus activated</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B8860B"/>
                          </a:solidFill>
                          <a:latin typeface="Calibri" pitchFamily="34" charset="0"/>
                          <a:ea typeface="Calibri" pitchFamily="34" charset="-122"/>
                          <a:cs typeface="Calibri" pitchFamily="34" charset="-120"/>
                        </a:rPr>
                        <a:t>Media</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00" u="sng" dirty="0">
                          <a:solidFill>
                            <a:srgbClr val="0563C1"/>
                          </a:solidFill>
                          <a:latin typeface="Calibri" pitchFamily="34" charset="0"/>
                          <a:ea typeface="Calibri" pitchFamily="34" charset="-122"/>
                          <a:cs typeface="Calibri" pitchFamily="34" charset="-120"/>
                          <a:hlinkClick r:id="rId3" invalidUrl="" action="" tgtFrame="" tooltip="" history="1" highlightClick="0" endSnd="0">
                            <a:extLst>
                              <a:ext uri="{A12FA001-AC4F-418D-AE19-62706E023703}">
                                <ahyp:hlinkClr xmlns:ahyp="http://schemas.microsoft.com/office/drawing/2018/hyperlinkcolor" val="tx"/>
                              </a:ext>
                            </a:extLst>
                          </a:hlinkClick>
                        </a:rPr>
                        <a:t>https://www.democrata.es/en/international/von-der-leyen-expresses-the-eu-s-support-for-colombia-and-activates-copernicus-after-the-earthquake/</a:t>
                      </a:r>
                      <a:endParaRPr lang="en-US" sz="8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292608">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GEM Foundation — TREQ project (urban earthquake risk, Quito / Cali / Santiago de los Caballeros)</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1E7A34"/>
                          </a:solidFill>
                          <a:latin typeface="Calibri" pitchFamily="34" charset="0"/>
                          <a:ea typeface="Calibri" pitchFamily="34" charset="-122"/>
                          <a:cs typeface="Calibri" pitchFamily="34" charset="-120"/>
                        </a:rPr>
                        <a:t>Official</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00" u="sng" dirty="0">
                          <a:solidFill>
                            <a:srgbClr val="0563C1"/>
                          </a:solidFill>
                          <a:latin typeface="Calibri" pitchFamily="34" charset="0"/>
                          <a:ea typeface="Calibri" pitchFamily="34" charset="-122"/>
                          <a:cs typeface="Calibri" pitchFamily="34" charset="-120"/>
                          <a:hlinkClick r:id="rId4" invalidUrl="" action="" tgtFrame="" tooltip="" history="1" highlightClick="0" endSnd="0">
                            <a:extLst>
                              <a:ext uri="{A12FA001-AC4F-418D-AE19-62706E023703}">
                                <ahyp:hlinkClr xmlns:ahyp="http://schemas.microsoft.com/office/drawing/2018/hyperlinkcolor" val="tx"/>
                              </a:ext>
                            </a:extLst>
                          </a:hlinkClick>
                        </a:rPr>
                        <a:t>https://www.globalquakemodel.org/proj/treq</a:t>
                      </a:r>
                      <a:endParaRPr lang="en-US" sz="8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92608">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GEM-TREQ — Evaluación de riesgo sísmico para Santiago de Cali (technical report D2.6.2)</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1E7A34"/>
                          </a:solidFill>
                          <a:latin typeface="Calibri" pitchFamily="34" charset="0"/>
                          <a:ea typeface="Calibri" pitchFamily="34" charset="-122"/>
                          <a:cs typeface="Calibri" pitchFamily="34" charset="-120"/>
                        </a:rPr>
                        <a:t>Official</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00" u="sng" dirty="0">
                          <a:solidFill>
                            <a:srgbClr val="0563C1"/>
                          </a:solidFill>
                          <a:latin typeface="Calibri" pitchFamily="34" charset="0"/>
                          <a:ea typeface="Calibri" pitchFamily="34" charset="-122"/>
                          <a:cs typeface="Calibri" pitchFamily="34" charset="-120"/>
                          <a:hlinkClick r:id="rId5" invalidUrl="" action="" tgtFrame="" tooltip="" history="1" highlightClick="0" endSnd="0">
                            <a:extLst>
                              <a:ext uri="{A12FA001-AC4F-418D-AE19-62706E023703}">
                                <ahyp:hlinkClr xmlns:ahyp="http://schemas.microsoft.com/office/drawing/2018/hyperlinkcolor" val="tx"/>
                              </a:ext>
                            </a:extLst>
                          </a:hlinkClick>
                        </a:rPr>
                        <a:t>https://cloud-storage.globalquakemodel.org/public/wix-new-website/pdf-collections-wix/publications/TREQ%20deliverables/reports/TREQ_D262_Riesgo_Sismico_Cali_v1.00.pdf</a:t>
                      </a:r>
                      <a:endParaRPr lang="en-US" sz="8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292608">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Understanding seismic risk in Santiago de Cali for its application in risk management (peer-reviewed, 2025)</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1E7A34"/>
                          </a:solidFill>
                          <a:latin typeface="Calibri" pitchFamily="34" charset="0"/>
                          <a:ea typeface="Calibri" pitchFamily="34" charset="-122"/>
                          <a:cs typeface="Calibri" pitchFamily="34" charset="-120"/>
                        </a:rPr>
                        <a:t>Official</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00" u="sng" dirty="0">
                          <a:solidFill>
                            <a:srgbClr val="0563C1"/>
                          </a:solidFill>
                          <a:latin typeface="Calibri" pitchFamily="34" charset="0"/>
                          <a:ea typeface="Calibri" pitchFamily="34" charset="-122"/>
                          <a:cs typeface="Calibri" pitchFamily="34" charset="-120"/>
                          <a:hlinkClick r:id="rId6" invalidUrl="" action="" tgtFrame="" tooltip="" history="1" highlightClick="0" endSnd="0">
                            <a:extLst>
                              <a:ext uri="{A12FA001-AC4F-418D-AE19-62706E023703}">
                                <ahyp:hlinkClr xmlns:ahyp="http://schemas.microsoft.com/office/drawing/2018/hyperlinkcolor" val="tx"/>
                              </a:ext>
                            </a:extLst>
                          </a:hlinkClick>
                        </a:rPr>
                        <a:t>https://www.sciencedirect.com/science/article/abs/pii/S2212420925003097</a:t>
                      </a:r>
                      <a:endParaRPr lang="en-US" sz="8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92608">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SATIC — Cali's intelligent and community early warning system</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1E7A34"/>
                          </a:solidFill>
                          <a:latin typeface="Calibri" pitchFamily="34" charset="0"/>
                          <a:ea typeface="Calibri" pitchFamily="34" charset="-122"/>
                          <a:cs typeface="Calibri" pitchFamily="34" charset="-120"/>
                        </a:rPr>
                        <a:t>Official</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00" u="sng" dirty="0">
                          <a:solidFill>
                            <a:srgbClr val="0563C1"/>
                          </a:solidFill>
                          <a:latin typeface="Calibri" pitchFamily="34" charset="0"/>
                          <a:ea typeface="Calibri" pitchFamily="34" charset="-122"/>
                          <a:cs typeface="Calibri" pitchFamily="34" charset="-120"/>
                          <a:hlinkClick r:id="rId7" invalidUrl="" action="" tgtFrame="" tooltip="" history="1" highlightClick="0" endSnd="0">
                            <a:extLst>
                              <a:ext uri="{A12FA001-AC4F-418D-AE19-62706E023703}">
                                <ahyp:hlinkClr xmlns:ahyp="http://schemas.microsoft.com/office/drawing/2018/hyperlinkcolor" val="tx"/>
                              </a:ext>
                            </a:extLst>
                          </a:hlinkClick>
                        </a:rPr>
                        <a:t>https://satic.cali.gov.co/satic</a:t>
                      </a:r>
                      <a:endParaRPr lang="en-US" sz="8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292608">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Alcaldía de Santiago de Cali — disaster risk management</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1E7A34"/>
                          </a:solidFill>
                          <a:latin typeface="Calibri" pitchFamily="34" charset="0"/>
                          <a:ea typeface="Calibri" pitchFamily="34" charset="-122"/>
                          <a:cs typeface="Calibri" pitchFamily="34" charset="-120"/>
                        </a:rPr>
                        <a:t>Official</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00" u="sng" dirty="0">
                          <a:solidFill>
                            <a:srgbClr val="0563C1"/>
                          </a:solidFill>
                          <a:latin typeface="Calibri" pitchFamily="34" charset="0"/>
                          <a:ea typeface="Calibri" pitchFamily="34" charset="-122"/>
                          <a:cs typeface="Calibri" pitchFamily="34" charset="-120"/>
                          <a:hlinkClick r:id="rId8" invalidUrl="" action="" tgtFrame="" tooltip="" history="1" highlightClick="0" endSnd="0">
                            <a:extLst>
                              <a:ext uri="{A12FA001-AC4F-418D-AE19-62706E023703}">
                                <ahyp:hlinkClr xmlns:ahyp="http://schemas.microsoft.com/office/drawing/2018/hyperlinkcolor" val="tx"/>
                              </a:ext>
                            </a:extLst>
                          </a:hlinkClick>
                        </a:rPr>
                        <a:t>https://www.cali.gov.co/gestiondelriesgo/</a:t>
                      </a:r>
                      <a:endParaRPr lang="en-US" sz="8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92608">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UNGRD — Plan Nacional de Gestión del Riesgo de Desastres (PNGRD)</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1E7A34"/>
                          </a:solidFill>
                          <a:latin typeface="Calibri" pitchFamily="34" charset="0"/>
                          <a:ea typeface="Calibri" pitchFamily="34" charset="-122"/>
                          <a:cs typeface="Calibri" pitchFamily="34" charset="-120"/>
                        </a:rPr>
                        <a:t>Official</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00" u="sng" dirty="0">
                          <a:solidFill>
                            <a:srgbClr val="0563C1"/>
                          </a:solidFill>
                          <a:latin typeface="Calibri" pitchFamily="34" charset="0"/>
                          <a:ea typeface="Calibri" pitchFamily="34" charset="-122"/>
                          <a:cs typeface="Calibri" pitchFamily="34" charset="-120"/>
                          <a:hlinkClick r:id="rId9" invalidUrl="" action="" tgtFrame="" tooltip="" history="1" highlightClick="0" endSnd="0">
                            <a:extLst>
                              <a:ext uri="{A12FA001-AC4F-418D-AE19-62706E023703}">
                                <ahyp:hlinkClr xmlns:ahyp="http://schemas.microsoft.com/office/drawing/2018/hyperlinkcolor" val="tx"/>
                              </a:ext>
                            </a:extLst>
                          </a:hlinkClick>
                        </a:rPr>
                        <a:t>https://portal.gestiondelriesgo.gov.co/Paginas/Plan-Nacional-de-Gestion-del-Riesgo.aspx</a:t>
                      </a:r>
                      <a:endParaRPr lang="en-US" sz="8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292608">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Decreto 1478 de 2022 — update of the PNGRD</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1E7A34"/>
                          </a:solidFill>
                          <a:latin typeface="Calibri" pitchFamily="34" charset="0"/>
                          <a:ea typeface="Calibri" pitchFamily="34" charset="-122"/>
                          <a:cs typeface="Calibri" pitchFamily="34" charset="-120"/>
                        </a:rPr>
                        <a:t>Official</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00" u="sng" dirty="0">
                          <a:solidFill>
                            <a:srgbClr val="0563C1"/>
                          </a:solidFill>
                          <a:latin typeface="Calibri" pitchFamily="34" charset="0"/>
                          <a:ea typeface="Calibri" pitchFamily="34" charset="-122"/>
                          <a:cs typeface="Calibri" pitchFamily="34" charset="-120"/>
                          <a:hlinkClick r:id="rId10" invalidUrl="" action="" tgtFrame="" tooltip="" history="1" highlightClick="0" endSnd="0">
                            <a:extLst>
                              <a:ext uri="{A12FA001-AC4F-418D-AE19-62706E023703}">
                                <ahyp:hlinkClr xmlns:ahyp="http://schemas.microsoft.com/office/drawing/2018/hyperlinkcolor" val="tx"/>
                              </a:ext>
                            </a:extLst>
                          </a:hlinkClick>
                        </a:rPr>
                        <a:t>https://www.funcionpublica.gov.co/eva/gestornormativo/norma.php?i=191411</a:t>
                      </a:r>
                      <a:endParaRPr lang="en-US" sz="8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92608">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EMSC-CSEM SeismicPortal — bulletin and FDSN event service</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1E7A34"/>
                          </a:solidFill>
                          <a:latin typeface="Calibri" pitchFamily="34" charset="0"/>
                          <a:ea typeface="Calibri" pitchFamily="34" charset="-122"/>
                          <a:cs typeface="Calibri" pitchFamily="34" charset="-120"/>
                        </a:rPr>
                        <a:t>Official</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00" u="sng" dirty="0">
                          <a:solidFill>
                            <a:srgbClr val="0563C1"/>
                          </a:solidFill>
                          <a:latin typeface="Calibri" pitchFamily="34" charset="0"/>
                          <a:ea typeface="Calibri" pitchFamily="34" charset="-122"/>
                          <a:cs typeface="Calibri" pitchFamily="34" charset="-120"/>
                          <a:hlinkClick r:id="rId11" invalidUrl="" action="" tgtFrame="" tooltip="" history="1" highlightClick="0" endSnd="0">
                            <a:extLst>
                              <a:ext uri="{A12FA001-AC4F-418D-AE19-62706E023703}">
                                <ahyp:hlinkClr xmlns:ahyp="http://schemas.microsoft.com/office/drawing/2018/hyperlinkcolor" val="tx"/>
                              </a:ext>
                            </a:extLst>
                          </a:hlinkClick>
                        </a:rPr>
                        <a:t>https://www.emsc-csem.org/</a:t>
                      </a:r>
                      <a:endParaRPr lang="en-US" sz="8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292608">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SGC — seismic catalogue viewer (reviewed catalogue ends Feb 2018)</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1E7A34"/>
                          </a:solidFill>
                          <a:latin typeface="Calibri" pitchFamily="34" charset="0"/>
                          <a:ea typeface="Calibri" pitchFamily="34" charset="-122"/>
                          <a:cs typeface="Calibri" pitchFamily="34" charset="-120"/>
                        </a:rPr>
                        <a:t>Official</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00" u="sng" dirty="0">
                          <a:solidFill>
                            <a:srgbClr val="0563C1"/>
                          </a:solidFill>
                          <a:latin typeface="Calibri" pitchFamily="34" charset="0"/>
                          <a:ea typeface="Calibri" pitchFamily="34" charset="-122"/>
                          <a:cs typeface="Calibri" pitchFamily="34" charset="-120"/>
                          <a:hlinkClick r:id="rId12" invalidUrl="" action="" tgtFrame="" tooltip="" history="1" highlightClick="0" endSnd="0">
                            <a:extLst>
                              <a:ext uri="{A12FA001-AC4F-418D-AE19-62706E023703}">
                                <ahyp:hlinkClr xmlns:ahyp="http://schemas.microsoft.com/office/drawing/2018/hyperlinkcolor" val="tx"/>
                              </a:ext>
                            </a:extLst>
                          </a:hlinkClick>
                        </a:rPr>
                        <a:t>https://catalogosismico.sgc.gov.co/visor/index.html</a:t>
                      </a:r>
                      <a:endParaRPr lang="en-US" sz="8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92608">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El Tiempo — live updates, 11 August (Cali toll rises to 85)</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B8860B"/>
                          </a:solidFill>
                          <a:latin typeface="Calibri" pitchFamily="34" charset="0"/>
                          <a:ea typeface="Calibri" pitchFamily="34" charset="-122"/>
                          <a:cs typeface="Calibri" pitchFamily="34" charset="-120"/>
                        </a:rPr>
                        <a:t>Media</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00" u="sng" dirty="0">
                          <a:solidFill>
                            <a:srgbClr val="0563C1"/>
                          </a:solidFill>
                          <a:latin typeface="Calibri" pitchFamily="34" charset="0"/>
                          <a:ea typeface="Calibri" pitchFamily="34" charset="-122"/>
                          <a:cs typeface="Calibri" pitchFamily="34" charset="-120"/>
                          <a:hlinkClick r:id="rId13" invalidUrl="" action="" tgtFrame="" tooltip="" history="1" highlightClick="0" endSnd="0">
                            <a:extLst>
                              <a:ext uri="{A12FA001-AC4F-418D-AE19-62706E023703}">
                                <ahyp:hlinkClr xmlns:ahyp="http://schemas.microsoft.com/office/drawing/2018/hyperlinkcolor" val="tx"/>
                              </a:ext>
                            </a:extLst>
                          </a:hlinkClick>
                        </a:rPr>
                        <a:t>https://www.eltiempo.com/colombia/otras-ciudades/terremoto-en-colombia-de-7-4-en-vivo-el-comandante-del-ejercito-nacional-se-encuentra-en-choco-coordinando-las-labores-de-atencion-de-la-emergencia-3577491</a:t>
                      </a:r>
                      <a:endParaRPr lang="en-US" sz="8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292608">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Asocapitales balance — 132 deaths, 570+ injured, by city</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B8860B"/>
                          </a:solidFill>
                          <a:latin typeface="Calibri" pitchFamily="34" charset="0"/>
                          <a:ea typeface="Calibri" pitchFamily="34" charset="-122"/>
                          <a:cs typeface="Calibri" pitchFamily="34" charset="-120"/>
                        </a:rPr>
                        <a:t>Media</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00" u="sng" dirty="0">
                          <a:solidFill>
                            <a:srgbClr val="0563C1"/>
                          </a:solidFill>
                          <a:latin typeface="Calibri" pitchFamily="34" charset="0"/>
                          <a:ea typeface="Calibri" pitchFamily="34" charset="-122"/>
                          <a:cs typeface="Calibri" pitchFamily="34" charset="-120"/>
                          <a:hlinkClick r:id="rId14" invalidUrl="" action="" tgtFrame="" tooltip="" history="1" highlightClick="0" endSnd="0">
                            <a:extLst>
                              <a:ext uri="{A12FA001-AC4F-418D-AE19-62706E023703}">
                                <ahyp:hlinkClr xmlns:ahyp="http://schemas.microsoft.com/office/drawing/2018/hyperlinkcolor" val="tx"/>
                              </a:ext>
                            </a:extLst>
                          </a:hlinkClick>
                        </a:rPr>
                        <a:t>https://www.elespectador.com/colombia/mas-regiones/temblor-en-colombia-hoy-10-de-agosto-en-vivo-epicentro-y-reporte-de-afectaciones/</a:t>
                      </a:r>
                      <a:endParaRPr lang="en-US" sz="8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92608">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Noticias Caracol — UNGRD balance: 182 deaths, 2,542 injured, 189 missing</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B8860B"/>
                          </a:solidFill>
                          <a:latin typeface="Calibri" pitchFamily="34" charset="0"/>
                          <a:ea typeface="Calibri" pitchFamily="34" charset="-122"/>
                          <a:cs typeface="Calibri" pitchFamily="34" charset="-120"/>
                        </a:rPr>
                        <a:t>Media</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00" u="sng" dirty="0">
                          <a:solidFill>
                            <a:srgbClr val="0563C1"/>
                          </a:solidFill>
                          <a:latin typeface="Calibri" pitchFamily="34" charset="0"/>
                          <a:ea typeface="Calibri" pitchFamily="34" charset="-122"/>
                          <a:cs typeface="Calibri" pitchFamily="34" charset="-120"/>
                          <a:hlinkClick r:id="rId15" invalidUrl="" action="" tgtFrame="" tooltip="" history="1" highlightClick="0" endSnd="0">
                            <a:extLst>
                              <a:ext uri="{A12FA001-AC4F-418D-AE19-62706E023703}">
                                <ahyp:hlinkClr xmlns:ahyp="http://schemas.microsoft.com/office/drawing/2018/hyperlinkcolor" val="tx"/>
                              </a:ext>
                            </a:extLst>
                          </a:hlinkClick>
                        </a:rPr>
                        <a:t>https://www.noticiascaracol.com/colombia/en-vivo-colombia-hoy-tras-terremoto-de-magnitud-7-4-continuan-las-labores-de-rescate-so35</a:t>
                      </a:r>
                      <a:endParaRPr lang="en-US" sz="8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292608">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RPP — the President's 181 is 59 fewer than the regional data</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B8860B"/>
                          </a:solidFill>
                          <a:latin typeface="Calibri" pitchFamily="34" charset="0"/>
                          <a:ea typeface="Calibri" pitchFamily="34" charset="-122"/>
                          <a:cs typeface="Calibri" pitchFamily="34" charset="-120"/>
                        </a:rPr>
                        <a:t>Media</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00" u="sng" dirty="0">
                          <a:solidFill>
                            <a:srgbClr val="0563C1"/>
                          </a:solidFill>
                          <a:latin typeface="Calibri" pitchFamily="34" charset="0"/>
                          <a:ea typeface="Calibri" pitchFamily="34" charset="-122"/>
                          <a:cs typeface="Calibri" pitchFamily="34" charset="-120"/>
                          <a:hlinkClick r:id="rId16" invalidUrl="" action="" tgtFrame="" tooltip="" history="1" highlightClick="0" endSnd="0">
                            <a:extLst>
                              <a:ext uri="{A12FA001-AC4F-418D-AE19-62706E023703}">
                                <ahyp:hlinkClr xmlns:ahyp="http://schemas.microsoft.com/office/drawing/2018/hyperlinkcolor" val="tx"/>
                              </a:ext>
                            </a:extLst>
                          </a:hlinkClick>
                        </a:rPr>
                        <a:t>https://rpp.pe/mundo/colombia/abelardo-de-la-espriella-cifra-en-181-los-muertos-por-el-terremoto-59-menos-que-datos-regionales-noticia-1701022</a:t>
                      </a:r>
                      <a:endParaRPr lang="en-US" sz="8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bl>
          </a:graphicData>
        </a:graphic>
      </p:graphicFrame>
      <p:sp>
        <p:nvSpPr>
          <p:cNvPr id="5" name="Shape 1"/>
          <p:cNvSpPr/>
          <p:nvPr/>
        </p:nvSpPr>
        <p:spPr>
          <a:xfrm>
            <a:off x="10268712" y="6510528"/>
            <a:ext cx="1554480" cy="274320"/>
          </a:xfrm>
          <a:prstGeom prst="rect">
            <a:avLst/>
          </a:prstGeom>
          <a:solidFill>
            <a:srgbClr val="E8A317"/>
          </a:solidFill>
          <a:ln w="12700">
            <a:solidFill>
              <a:srgbClr val="E8A317"/>
            </a:solidFill>
            <a:prstDash val="solid"/>
          </a:ln>
        </p:spPr>
      </p:sp>
      <p:sp>
        <p:nvSpPr>
          <p:cNvPr id="6" name="Text 2"/>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950" b="1" dirty="0">
                <a:solidFill>
                  <a:srgbClr val="000000"/>
                </a:solidFill>
                <a:latin typeface="Calibri" pitchFamily="34" charset="0"/>
                <a:ea typeface="Calibri" pitchFamily="34" charset="-122"/>
                <a:cs typeface="Calibri" pitchFamily="34" charset="-120"/>
              </a:rPr>
              <a:t>ADRC  12/08/2026</a:t>
            </a:r>
            <a:endParaRPr lang="en-US" sz="950" dirty="0"/>
          </a:p>
        </p:txBody>
      </p:sp>
      <p:sp>
        <p:nvSpPr>
          <p:cNvPr id="7" name="Text 3"/>
          <p:cNvSpPr/>
          <p:nvPr/>
        </p:nvSpPr>
        <p:spPr>
          <a:xfrm>
            <a:off x="365760" y="6547104"/>
            <a:ext cx="548640" cy="219456"/>
          </a:xfrm>
          <a:prstGeom prst="rect">
            <a:avLst/>
          </a:prstGeom>
          <a:noFill/>
          <a:ln/>
        </p:spPr>
        <p:txBody>
          <a:bodyPr wrap="square" lIns="0" tIns="0" rIns="0" bIns="0" rtlCol="0" anchor="ctr"/>
          <a:lstStyle/>
          <a:p>
            <a:pPr algn="l" indent="0" marL="0">
              <a:buNone/>
            </a:pPr>
            <a:r>
              <a:rPr lang="en-US" sz="900" dirty="0">
                <a:solidFill>
                  <a:srgbClr val="6A6A6A"/>
                </a:solidFill>
                <a:latin typeface="Calibri" pitchFamily="34" charset="0"/>
                <a:ea typeface="Calibri" pitchFamily="34" charset="-122"/>
                <a:cs typeface="Calibri" pitchFamily="34" charset="-120"/>
              </a:rPr>
              <a:t>26</a:t>
            </a:r>
            <a:endParaRPr lang="en-US" sz="900"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bg>
      <p:bgPr>
        <a:solidFill>
          <a:srgbClr val="FFFFFF"/>
        </a:solidFill>
      </p:bgPr>
    </p:bg>
    <p:spTree>
      <p:nvGrpSpPr>
        <p:cNvPr id="1" name=""/>
        <p:cNvGrpSpPr/>
        <p:nvPr/>
      </p:nvGrpSpPr>
      <p:grpSpPr>
        <a:xfrm>
          <a:off x="0" y="0"/>
          <a:ext cx="0" cy="0"/>
          <a:chOff x="0" y="0"/>
          <a:chExt cx="0" cy="0"/>
        </a:xfrm>
      </p:grpSpPr>
      <p:pic>
        <p:nvPicPr>
          <p:cNvPr id="2" name="Image 0" descr="/home/user/whatsmap/reports/colombia_eq_20260810/images/adrc_logo.png">    </p:cNvPr>
          <p:cNvPicPr>
            <a:picLocks noChangeAspect="1"/>
          </p:cNvPicPr>
          <p:nvPr/>
        </p:nvPicPr>
        <p:blipFill>
          <a:blip r:embed="rId1"/>
          <a:stretch>
            <a:fillRect/>
          </a:stretch>
        </p:blipFill>
        <p:spPr>
          <a:xfrm>
            <a:off x="5454396" y="2194560"/>
            <a:ext cx="1280160" cy="1280160"/>
          </a:xfrm>
          <a:prstGeom prst="rect">
            <a:avLst/>
          </a:prstGeom>
        </p:spPr>
      </p:pic>
      <p:sp>
        <p:nvSpPr>
          <p:cNvPr id="3" name="Text 0"/>
          <p:cNvSpPr/>
          <p:nvPr/>
        </p:nvSpPr>
        <p:spPr>
          <a:xfrm>
            <a:off x="457200" y="3611880"/>
            <a:ext cx="11274552" cy="365760"/>
          </a:xfrm>
          <a:prstGeom prst="rect">
            <a:avLst/>
          </a:prstGeom>
          <a:noFill/>
          <a:ln/>
        </p:spPr>
        <p:txBody>
          <a:bodyPr wrap="square" rtlCol="0" anchor="ctr"/>
          <a:lstStyle/>
          <a:p>
            <a:pPr algn="ctr" indent="0" marL="0">
              <a:buNone/>
            </a:pPr>
            <a:r>
              <a:rPr lang="en-US" sz="1500" b="1" dirty="0">
                <a:solidFill>
                  <a:srgbClr val="1F3864"/>
                </a:solidFill>
                <a:latin typeface="Cambria" pitchFamily="34" charset="0"/>
                <a:ea typeface="Cambria" pitchFamily="34" charset="-122"/>
                <a:cs typeface="Cambria" pitchFamily="34" charset="-120"/>
              </a:rPr>
              <a:t>Asian Disaster Reduction Center (ADRC)</a:t>
            </a:r>
            <a:endParaRPr lang="en-US" sz="1500" dirty="0"/>
          </a:p>
        </p:txBody>
      </p:sp>
      <p:sp>
        <p:nvSpPr>
          <p:cNvPr id="4" name="Text 1"/>
          <p:cNvSpPr/>
          <p:nvPr/>
        </p:nvSpPr>
        <p:spPr>
          <a:xfrm>
            <a:off x="1828800" y="4023360"/>
            <a:ext cx="8531352" cy="731520"/>
          </a:xfrm>
          <a:prstGeom prst="rect">
            <a:avLst/>
          </a:prstGeom>
          <a:noFill/>
          <a:ln/>
        </p:spPr>
        <p:txBody>
          <a:bodyPr wrap="square" rtlCol="0" anchor="ctr"/>
          <a:lstStyle/>
          <a:p>
            <a:pPr algn="ctr" indent="0" marL="0">
              <a:buNone/>
            </a:pPr>
            <a:r>
              <a:rPr lang="en-US" sz="1050" dirty="0">
                <a:solidFill>
                  <a:srgbClr val="6A6A6A"/>
                </a:solidFill>
                <a:latin typeface="Calibri" pitchFamily="34" charset="0"/>
                <a:ea typeface="Calibri" pitchFamily="34" charset="-122"/>
                <a:cs typeface="Calibri" pitchFamily="34" charset="-120"/>
              </a:rPr>
              <a:t>Bilingual (EN/JA) report for domestic and international dissemination. Public-agency sources take priority; gaps are filled with clearly-labelled media reports.</a:t>
            </a:r>
            <a:endParaRPr lang="en-US" sz="1050" dirty="0"/>
          </a:p>
        </p:txBody>
      </p:sp>
      <p:sp>
        <p:nvSpPr>
          <p:cNvPr id="5" name="Text 2"/>
          <p:cNvSpPr/>
          <p:nvPr/>
        </p:nvSpPr>
        <p:spPr>
          <a:xfrm>
            <a:off x="1828800" y="4754880"/>
            <a:ext cx="8531352" cy="457200"/>
          </a:xfrm>
          <a:prstGeom prst="rect">
            <a:avLst/>
          </a:prstGeom>
          <a:noFill/>
          <a:ln/>
        </p:spPr>
        <p:txBody>
          <a:bodyPr wrap="square" rtlCol="0" anchor="ctr"/>
          <a:lstStyle/>
          <a:p>
            <a:pPr algn="ctr" indent="0" marL="0">
              <a:buNone/>
            </a:pPr>
            <a:r>
              <a:rPr lang="en-US" sz="950" i="1" dirty="0">
                <a:solidFill>
                  <a:srgbClr val="6A6A6A"/>
                </a:solidFill>
                <a:latin typeface="Calibri" pitchFamily="34" charset="0"/>
                <a:ea typeface="Calibri" pitchFamily="34" charset="-122"/>
                <a:cs typeface="Calibri" pitchFamily="34" charset="-120"/>
              </a:rPr>
              <a:t>Figures as of 11 Aug 2026, 17:00 COT (12 Aug 07:00 JST), about 33 hours after the earthquake. UNGRD's situation report gives 182 deaths, 2,542 injured and 189 missing; the President's balance gives 181 deaths; adding up what the departments and cities have announced gives 240. All three are shown. Figures are preliminary and still rising.</a:t>
            </a:r>
            <a:endParaRPr lang="en-US" sz="950" dirty="0"/>
          </a:p>
        </p:txBody>
      </p:sp>
      <p:sp>
        <p:nvSpPr>
          <p:cNvPr id="6" name="Text 3">
            <a:hlinkClick r:id="rId2" tooltip=""/>
          </p:cNvPr>
          <p:cNvSpPr/>
          <p:nvPr/>
        </p:nvSpPr>
        <p:spPr>
          <a:xfrm>
            <a:off x="457200" y="5303520"/>
            <a:ext cx="11274552" cy="274320"/>
          </a:xfrm>
          <a:prstGeom prst="rect">
            <a:avLst/>
          </a:prstGeom>
          <a:noFill/>
          <a:ln/>
        </p:spPr>
        <p:txBody>
          <a:bodyPr wrap="square" rtlCol="0" anchor="ctr"/>
          <a:lstStyle/>
          <a:p>
            <a:pPr algn="ctr" indent="0" marL="0">
              <a:buNone/>
            </a:pPr>
            <a:r>
              <a:rPr lang="en-US" sz="1000" u="sng" dirty="0">
                <a:solidFill>
                  <a:srgbClr val="0563C1"/>
                </a:solidFill>
                <a:latin typeface="Calibri" pitchFamily="34" charset="0"/>
                <a:ea typeface="Calibri" pitchFamily="34" charset="-122"/>
                <a:cs typeface="Calibri" pitchFamily="34" charset="-120"/>
                <a:hlinkClick r:id="rId2" invalidUrl="" action="" tgtFrame="" tooltip="" history="1" highlightClick="0" endSnd="0">
                  <a:extLst>
                    <a:ext uri="{A12FA001-AC4F-418D-AE19-62706E023703}">
                      <ahyp:hlinkClr xmlns:ahyp="http://schemas.microsoft.com/office/drawing/2018/hyperlinkcolor" val="tx"/>
                    </a:ext>
                  </a:extLst>
                </a:hlinkClick>
              </a:rPr>
              <a:t>https://www.adrc.asia/</a:t>
            </a:r>
            <a:endParaRPr lang="en-US" sz="1000" dirty="0"/>
          </a:p>
        </p:txBody>
      </p:sp>
      <p:sp>
        <p:nvSpPr>
          <p:cNvPr id="7" name="Shape 4"/>
          <p:cNvSpPr/>
          <p:nvPr/>
        </p:nvSpPr>
        <p:spPr>
          <a:xfrm>
            <a:off x="10268712" y="6510528"/>
            <a:ext cx="1554480" cy="274320"/>
          </a:xfrm>
          <a:prstGeom prst="rect">
            <a:avLst/>
          </a:prstGeom>
          <a:solidFill>
            <a:srgbClr val="E8A317"/>
          </a:solidFill>
          <a:ln w="12700">
            <a:solidFill>
              <a:srgbClr val="E8A317"/>
            </a:solidFill>
            <a:prstDash val="solid"/>
          </a:ln>
        </p:spPr>
      </p:sp>
      <p:sp>
        <p:nvSpPr>
          <p:cNvPr id="8" name="Text 5"/>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950" b="1" dirty="0">
                <a:solidFill>
                  <a:srgbClr val="000000"/>
                </a:solidFill>
                <a:latin typeface="Calibri" pitchFamily="34" charset="0"/>
                <a:ea typeface="Calibri" pitchFamily="34" charset="-122"/>
                <a:cs typeface="Calibri" pitchFamily="34" charset="-120"/>
              </a:rPr>
              <a:t>ADRC  12/08/2026</a:t>
            </a:r>
            <a:endParaRPr lang="en-US" sz="950" dirty="0"/>
          </a:p>
        </p:txBody>
      </p:sp>
      <p:sp>
        <p:nvSpPr>
          <p:cNvPr id="9" name="Text 6"/>
          <p:cNvSpPr/>
          <p:nvPr/>
        </p:nvSpPr>
        <p:spPr>
          <a:xfrm>
            <a:off x="365760" y="6547104"/>
            <a:ext cx="548640" cy="219456"/>
          </a:xfrm>
          <a:prstGeom prst="rect">
            <a:avLst/>
          </a:prstGeom>
          <a:noFill/>
          <a:ln/>
        </p:spPr>
        <p:txBody>
          <a:bodyPr wrap="square" lIns="0" tIns="0" rIns="0" bIns="0" rtlCol="0" anchor="ctr"/>
          <a:lstStyle/>
          <a:p>
            <a:pPr algn="l" indent="0" marL="0">
              <a:buNone/>
            </a:pPr>
            <a:r>
              <a:rPr lang="en-US" sz="900" dirty="0">
                <a:solidFill>
                  <a:srgbClr val="6A6A6A"/>
                </a:solidFill>
                <a:latin typeface="Calibri" pitchFamily="34" charset="0"/>
                <a:ea typeface="Calibri" pitchFamily="34" charset="-122"/>
                <a:cs typeface="Calibri" pitchFamily="34" charset="-120"/>
              </a:rPr>
              <a:t>27</a:t>
            </a:r>
            <a:endParaRPr lang="en-US" sz="9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27</Slides>
  <Notes>27</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27</vt:i4>
      </vt:variant>
    </vt:vector>
  </HeadingPairs>
  <TitlesOfParts>
    <vt:vector size="30"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2026-08-11T21:55:08Z</dcterms:created>
  <dcterms:modified xsi:type="dcterms:W3CDTF">2026-08-11T21:55:08Z</dcterms:modified>
</cp:coreProperties>
</file>