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85</c:v>
                </c:pt>
                <c:pt idx="1">
                  <c:v>66</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emsc-csem.org/"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www.elespectador.com/colombia/mas-regiones/temblor-en-colombia-hoy-10-de-agosto-en-vivo-epicentro-y-reporte-de-afectaciones/"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2" Type="http://schemas.openxmlformats.org/officeDocument/2006/relationships/hyperlink" Target="https://www.emsc-csem.org/" TargetMode="External"/><Relationship Id="rId13" Type="http://schemas.openxmlformats.org/officeDocument/2006/relationships/hyperlink" Target="https://catalogosismico.sgc.gov.co/visor/index.html" TargetMode="External"/><Relationship Id="rId1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5" Type="http://schemas.openxmlformats.org/officeDocument/2006/relationships/hyperlink" Target="https://www.elespectador.com/colombia/mas-regiones/temblor-en-colombia-hoy-10-de-agosto-en-vivo-epicentro-y-reporte-de-afectaciones/" TargetMode="External"/><Relationship Id="rId1" Type="http://schemas.openxmlformats.org/officeDocument/2006/relationships/image" Target="../media/image-26-1.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In its 13:00 COT balance on 10 August the Government reported 111 deaths and 87 injured; by the evening Asocapitales put the national toll at 132 with more than 570 injured, and on 11 August the President reported 700 injured while the mayor of Cali alone reported 85 deaths and 885 injured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11 Aug 2026, 03:00 COT (17:00 JST), about 20 hours after the earthquake. The last consolidated national toll is 132 deaths (Asocapitales, evening of 10 Aug), but city-level reports on 11 August already exceed it - Cali alone reports 85 deaths and Pereira 66. All figures are preliminary and rising.</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(10-11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(10-11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sits far above the 111 deaths reported nine hours after the event — the gap is normal at this stage and narrows as ground truth replaces modelled losses.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13:18:10 UTC (08:18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mb 5.0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USGS us6000tjm4, reviewed: 16 km W of San José del Palmar, depth 98.5 km — 44 minutes after the mainshock and at the same intermediate depth. Other agencies report 5.0-5.7 for this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15:01 UTC (10:01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Reported by the regional agencies IGC (M4.7) and INET (M4.3); it does not appear in the USGS catalogue at the M2.5 threshold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(SGC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 / 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two aftershocks listed on the SGC event bulletin; the M4.8 was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22:00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no consolidated official count had been published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28416"/>
            <a:ext cx="11430000" cy="822960"/>
          </a:xfrm>
          <a:prstGeom prst="rect">
            <a:avLst/>
          </a:prstGeom>
          <a:noFill/>
          <a:ln/>
        </p:spPr>
        <p:txBody>
          <a:bodyPr wrap="square" lIns="50800" tIns="50800" rIns="50800" bIns="50800" rtlCol="0" anchor="t"/>
          <a:lstStyle/>
          <a:p>
            <a:pPr indent="0" marL="0">
              <a:buNone/>
            </a:pPr>
            <a:r>
              <a:rPr lang="en-US" sz="950" dirty="0">
                <a:solidFill>
                  <a:srgbClr val="222222"/>
                </a:solidFill>
                <a:latin typeface="Calibri" pitchFamily="34" charset="0"/>
                <a:ea typeface="Calibri" pitchFamily="34" charset="-122"/>
                <a:cs typeface="Calibri" pitchFamily="34" charset="-120"/>
              </a:rPr>
              <a:t>Three independent catalogues - the USGS FDSN service, the EMSC SeismicPortal and the SGC's public query tools - return the same two events for this region: the mainshock and a single mb 5.0 aftershock 44 minutes later. The SGC bulletin adds M4.8 and M2.8 and media reported more than 20 events during the day, but those smaller shocks are not publicly retrievable: they sit below the global catalogues' completeness here, and the SGC's reviewed catalogue ends on 28 February 2018. A sparse sequence of larger aftershocks is what an intermediate-depth intraslab rupture is expected to produce; but an M5 while search and rescue is under way is enough to bring down structures the mainshock already weakened.</a:t>
            </a:r>
            <a:endParaRPr lang="en-US" sz="950" dirty="0"/>
          </a:p>
        </p:txBody>
      </p:sp>
      <p:sp>
        <p:nvSpPr>
          <p:cNvPr id="6" name="Shape 2"/>
          <p:cNvSpPr/>
          <p:nvPr/>
        </p:nvSpPr>
        <p:spPr>
          <a:xfrm>
            <a:off x="365760" y="4169664"/>
            <a:ext cx="11430000" cy="969264"/>
          </a:xfrm>
          <a:prstGeom prst="roundRect">
            <a:avLst>
              <a:gd name="adj" fmla="val 4717"/>
            </a:avLst>
          </a:prstGeom>
          <a:solidFill>
            <a:srgbClr val="FCE9DC"/>
          </a:solidFill>
          <a:ln w="12700">
            <a:solidFill>
              <a:srgbClr val="E8A317"/>
            </a:solidFill>
            <a:prstDash val="solid"/>
          </a:ln>
        </p:spPr>
      </p:sp>
      <p:sp>
        <p:nvSpPr>
          <p:cNvPr id="7" name="Text 3"/>
          <p:cNvSpPr/>
          <p:nvPr/>
        </p:nvSpPr>
        <p:spPr>
          <a:xfrm>
            <a:off x="530352" y="4224528"/>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8" name="Shape 4"/>
          <p:cNvSpPr/>
          <p:nvPr/>
        </p:nvSpPr>
        <p:spPr>
          <a:xfrm>
            <a:off x="365760" y="5212080"/>
            <a:ext cx="11430000" cy="731520"/>
          </a:xfrm>
          <a:prstGeom prst="roundRect">
            <a:avLst>
              <a:gd name="adj" fmla="val 6250"/>
            </a:avLst>
          </a:prstGeom>
          <a:solidFill>
            <a:srgbClr val="FCE9DC"/>
          </a:solidFill>
          <a:ln w="12700">
            <a:solidFill>
              <a:srgbClr val="E8A317"/>
            </a:solidFill>
            <a:prstDash val="solid"/>
          </a:ln>
        </p:spPr>
      </p:sp>
      <p:sp>
        <p:nvSpPr>
          <p:cNvPr id="9" name="Text 5"/>
          <p:cNvSpPr/>
          <p:nvPr/>
        </p:nvSpPr>
        <p:spPr>
          <a:xfrm>
            <a:off x="530352" y="5266944"/>
            <a:ext cx="11100816" cy="62179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10" name="Text 6"/>
          <p:cNvSpPr/>
          <p:nvPr/>
        </p:nvSpPr>
        <p:spPr>
          <a:xfrm>
            <a:off x="365760" y="5980176"/>
            <a:ext cx="11430000" cy="25603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availability, checked 11 Aug 2026: USGS FDSN event service (region 3-7 N / 78-74.5 W, from the origin time; query.csv in this repository) and EMSC SeismicPortal FDSN each return two events at M2.5+ and at M2+; the SGC's public catalogue viewer and expert query form serve only the reviewed historical catalogue (1 Jun 1993 - 28 Feb 2018) and return nothing for 2026. No time-series plot is drawn because no time series is publicly available - the sparseness is the finding.</a:t>
            </a:r>
            <a:endParaRPr lang="en-US" sz="70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EMSC-CSEM SeismicPortal — bulletin and FDSN event service</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700</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Homes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~5,000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Deaths: last consolidated national figure (Asocapitales, evening of 10 Aug). Injured: President, 11 Aug. Homes: about 5,000 damaged or destroyed, President, 11 Aug. City reports on 11 August already put deaths above the national total.</a:t>
            </a:r>
            <a:endParaRPr lang="en-US" sz="750" dirty="0"/>
          </a:p>
        </p:txBody>
      </p:sp>
      <p:graphicFrame>
        <p:nvGraphicFramePr>
          <p:cNvPr id="14"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Mayor of Cali, 11 Aug; 885 injured and 188 missing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Pereira fire service, 11 Aug; 60 on 10 Aug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President's figure; 8 in Quibdó, where four children are missing under a school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About 100 people reported missing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7" name="Text 12"/>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These are city and department figures released by local authorities and the Presidency at different times on 11 August. They sum to 169, above the last consolidated national toll of 132 (Asocapitales, evening of 10 Aug), because the national figure has not been re-issued since. Take the departmental rows as the more current number and the national total as the last audited one; the gap will close as verification proceeds.</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 nationally (Asocapitales, evening of 10 Aug; 87 of them in capital cities). City reports on 11 Aug already exceed that total: Cali 85, Pereira 66. The Government's 13:00 COT balance on 10 Aug was 111. No re-consolidated national figure had been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Asocapitales; mayor of Cali; Pereira fire service; Presidency / UNGRD for the 13:00 figure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700 nationally (President, 11 Aug), up from more than 570 (Asocapitales, 10 Aug) and 87 in the Government's 13:00 COT balance. Cali alone reports 885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Asocapitales; 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188 missing in Cali and about 100 in Manizales; four children missing under a collapsed school in Quibdó. The President said the State's priority is the missing. Search continued overnight; 228 rescuers and search dogs were working in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and the Presidency (media,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About 5,000 homes damaged or destroyed (President, 11 Aug), revised up from the 1,612 counted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damaged (10 Aug count)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 (10 Aug count)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80 nationally (11 Aug), up from 61 on 10 Aug;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11 Aug; 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and operations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Figures are moving as expected, and the national total is now the slowest number in the report. Between the Government's 13:00 COT balance on 10 August and the morning of 11 August, deaths went from 111 to a consolidated 132 while city reports passed it (Cali 85, Pereira 66, a sum of 169); injured went from 87 to more than 570 and then to 700, with Cali alone reporting 885; damaged homes went from 1,612 to about 5,000. Read rapid increases over the coming days as the assessment reaching places it had not yet reached, not necessarily as the situation worsening - and expect the national consolidated figure to lag the city ones by roughly half a day.</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050" dirty="0"/>
          </a:p>
          <a:p>
            <a:pPr algn="l" marL="342900" indent="-342900">
              <a:buSzPct val="100000"/>
              <a:buChar char="•"/>
            </a:pPr>
            <a:r>
              <a:rPr lang="en-US" sz="10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0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11 Aug 2026, 03:00 COT (17:00 JST), about 20 hours after the earthquake. The last consolidated national toll is 132 deaths (Asocapitales, evening of 10 Aug), but city-level reports on 11 August already exceed it - Cali alone reports 85 deaths and Pereira 66. All figures are preliminary and rising.</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2026-08-11T08:49:21Z</dcterms:created>
  <dcterms:modified xsi:type="dcterms:W3CDTF">2026-08-11T08:49:21Z</dcterms:modified>
</cp:coreProperties>
</file>