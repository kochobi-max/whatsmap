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MMI VII</c:v>
                  </c:pt>
                  <c:pt idx="1">
                    <c:v>MMI VI</c:v>
                  </c:pt>
                  <c:pt idx="2">
                    <c:v>MMI V</c:v>
                  </c:pt>
                </c:lvl>
              </c:multiLvlStrCache>
            </c:multiLvlStrRef>
          </c:cat>
          <c:val>
            <c:numRef>
              <c:f>Sheet1!$B$2:$B$4</c:f>
              <c:numCache>
                <c:formatCode>General</c:formatCode>
                <c:ptCount val="3"/>
                <c:pt idx="0">
                  <c:v>1.3</c:v>
                </c:pt>
                <c:pt idx="1">
                  <c:v>9.2</c:v>
                </c:pt>
                <c:pt idx="2">
                  <c:v>24</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Risaralda (Pereira)</c:v>
                  </c:pt>
                  <c:pt idx="1">
                    <c:v>Valle del Cauca (Cali)</c:v>
                  </c:pt>
                  <c:pt idx="2">
                    <c:v>Chocó</c:v>
                  </c:pt>
                  <c:pt idx="3">
                    <c:v>Caldas (Manizales)</c:v>
                  </c:pt>
                  <c:pt idx="4">
                    <c:v>Antioquia</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0-1.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6-1.png"/><Relationship Id="rId2" Type="http://schemas.openxmlformats.org/officeDocument/2006/relationships/image" Target="../media/image-16-2.jp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preventionweb.net/publication/colombia-plan-nacional-de-gestion-del-riesgo-de-desastres-pngrd-2015-2030" TargetMode="External"/><Relationship Id="rId4" Type="http://schemas.openxmlformats.org/officeDocument/2006/relationships/hyperlink" Target="https://www.globalquakemodel.org/seismic-regulations/colombia" TargetMode="External"/><Relationship Id="rId5" Type="http://schemas.openxmlformats.org/officeDocument/2006/relationships/hyperlink" Target="https://www.oecd.org/en/publications/risk-governance-scan-of-colombia_eeb81954-en.html" TargetMode="External"/><Relationship Id="rId1" Type="http://schemas.openxmlformats.org/officeDocument/2006/relationships/image" Target="../media/image-17-1.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globalquakemodel.org/seismic-regulations/colombia" TargetMode="External"/><Relationship Id="rId1" Type="http://schemas.openxmlformats.org/officeDocument/2006/relationships/image" Target="../media/image-19-1.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un-spider.org/national-unit-disaster-risk-management-ungrd-colombia" TargetMode="External"/><Relationship Id="rId15" Type="http://schemas.openxmlformats.org/officeDocument/2006/relationships/hyperlink" Target="https://www.oecd.org/en/publications/risk-governance-scan-of-colombia_eeb81954-en.html" TargetMode="External"/><Relationship Id="rId16" Type="http://schemas.openxmlformats.org/officeDocument/2006/relationships/hyperlink" Target="https://www.cnn.com/2026/08/10/world/live-news/colombia-earthquake-san-jose-del-palmar" TargetMode="External"/><Relationship Id="rId1" Type="http://schemas.openxmlformats.org/officeDocument/2006/relationships/image" Target="../media/image-21-1.png"/><Relationship Id="rId17" Type="http://schemas.openxmlformats.org/officeDocument/2006/relationships/slideLayout" Target="../slideLayouts/slideLayout1.xml"/><Relationship Id="rId1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www.france24.com/en/americas/20260810-powerful-quake-rocks-colombia-causing-major-damage" TargetMode="External"/><Relationship Id="rId3" Type="http://schemas.openxmlformats.org/officeDocument/2006/relationships/hyperlink" Target="https://www.aljazeera.com/news/2026/8/10/7-4-magnitude-earthquake-hits-colombia-killing-at-least-20" TargetMode="External"/><Relationship Id="rId4" Type="http://schemas.openxmlformats.org/officeDocument/2006/relationships/hyperlink" Target="https://www.cbsnews.com/news/colombia-earthquake-western-region-evacuations/" TargetMode="External"/><Relationship Id="rId5" Type="http://schemas.openxmlformats.org/officeDocument/2006/relationships/hyperlink" Target="https://www.nbcnews.com/world/latin-america/strong-earthquake-colombia-ecuador-people-evacuating-homes-buildings-rcna591709" TargetMode="External"/><Relationship Id="rId6" Type="http://schemas.openxmlformats.org/officeDocument/2006/relationships/hyperlink" Target="https://colombiaone.com/2026/08/10/earthquake-colombia-official-details/"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infobae.com/colombia/2026/08/10/por-que-el-temblor-en-colombia-de-este-lunes-10-de-agosto-duro-una-eternidad-el-servicio-geologico-explico-que-paso/" TargetMode="External"/><Relationship Id="rId9" Type="http://schemas.openxmlformats.org/officeDocument/2006/relationships/hyperlink" Target="https://www3.nhk.or.jp/news/" TargetMode="External"/><Relationship Id="rId10" Type="http://schemas.openxmlformats.org/officeDocument/2006/relationships/hyperlink" Target="https://www.nikkei.com/article/DGXZQOGN108V30Q6A810C2000000/" TargetMode="External"/><Relationship Id="rId11" Type="http://schemas.openxmlformats.org/officeDocument/2006/relationships/hyperlink" Target="https://www.jiji.com/jc/article?k=2026081000878&amp;g=int" TargetMode="External"/><Relationship Id="rId12" Type="http://schemas.openxmlformats.org/officeDocument/2006/relationships/hyperlink" Target="https://www.savethechildren.org/us/about-us/media-and-news/2026-press-releases/children-at-risk-after-earthquake-strikes-colombia" TargetMode="External"/><Relationship Id="rId13" Type="http://schemas.openxmlformats.org/officeDocument/2006/relationships/hyperlink" Target="https://www.directrelief.org/2026/08/colombia-earthquake-7-4-magnitude-direct-relief-response/" TargetMode="External"/><Relationship Id="rId14" Type="http://schemas.openxmlformats.org/officeDocument/2006/relationships/hyperlink" Target="https://www.americares.org/crisis-alerts/colombia-earthquake-august-2026/" TargetMode="External"/><Relationship Id="rId15" Type="http://schemas.openxmlformats.org/officeDocument/2006/relationships/hyperlink" Target="https://glidenumber.net/" TargetMode="External"/><Relationship Id="rId16" Type="http://schemas.openxmlformats.org/officeDocument/2006/relationships/hyperlink" Target="https://www.adrc.asia/" TargetMode="External"/><Relationship Id="rId1" Type="http://schemas.openxmlformats.org/officeDocument/2006/relationships/image" Target="../media/image-22-1.png"/><Relationship Id="rId17" Type="http://schemas.openxmlformats.org/officeDocument/2006/relationships/slideLayout" Target="../slideLayouts/slideLayout1.xml"/><Relationship Id="rId1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107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98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107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As of 17:00 COT on 10 August the Government reported 111 deaths and 87 injured,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107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Depth about 107 km (USGS): an intraslab event, not a plate-interface megathrust.</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USGS PAGER Orange alert: estimated fatalities of the order of 300 and estimated economic loss of the order of USD 880 million (model estimates, not observations).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1050" dirty="0"/>
          </a:p>
          <a:p>
            <a:pPr algn="l" marL="342900" indent="-342900">
              <a:buSzPct val="100000"/>
              <a:buChar char="•"/>
            </a:pPr>
            <a:r>
              <a:rPr lang="en-US" sz="10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107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10 Aug 2026, 17:00 COT (11 Aug 07:00 JST), approx. 9.5 hours after the earthquake. All figures are preliminary.</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 August)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Mww 7.4 earthquake, epicentre 5 km E of San José del Palmar (Chocó), depth approx. 107 km. Felt in Bogotá, Cali, Medellín, and in Ecuador, Panama and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 August)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107 km-deep source puts every city in the region at a broadly similar hypocentral distance (108-200 km), so no single city sits in a narrow zone of extreme shaking.</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 / 102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55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166 / 35 / 147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70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235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E of San José del Palmar, Chocó Department (approx. 280 km W of Bogotá) — SGC: 20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4.9031 N, 76.1885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107 km (USGS)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(significant casualties and damage likely).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exposure estimates. About 10.5 million people experienced Strong to Very Strong shaking (MMI VI-VII) and an estimated 34 million people across four countries felt the earthquake. These are model estimates.</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USGS and SGC agree on size; the SGC's first bulletin gave M6.6 at 79 km before revision. The two locations differ by about 20 km and their depths by about 11 km — normal for an intermediate-depth event recorded by different networks. Epicentral distances in this report are measured from the USGS location. SGC event SGC2026pqqmro was located with 69 stations; the SGC states its bulletins are subject to change as review continues.</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235 km from the epicentre, in a low one. The elongated pattern along the valleys, rather than a compact circle around the epicentre, is the signature of a 96-107 km-deep source combined with soft valley sediments.</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Largest aftershock on the SGC event bulletin; widely felt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second aftershock listed on the SGC event bulletin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17:00)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reported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Media reported more than 20 aftershocks during the day; the SGC event bulletin listed two at the time of writing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Calibri" pitchFamily="34" charset="0"/>
                          <a:ea typeface="Calibri" pitchFamily="34" charset="-122"/>
                          <a:cs typeface="Calibri" pitchFamily="34" charset="-120"/>
                        </a:rPr>
                        <a:t>Media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SGC event bulletin (SGC2026pqqmro) listed two aftershocks, M2.8 and M4.8, the latter widely felt; media reported more than 20 during the day. Aftershock sequences of intermediate-depth intraslab events are typically less productive than those of shallow crustal earthquakes, but strong aftershocks remain possible and already-damaged buildings are vulnerable to them.</a:t>
            </a:r>
            <a:endParaRPr lang="en-US" sz="110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Operational implication
</a:t>
            </a:r>
            <a:pPr algn="l" indent="0" marL="0">
              <a:buNone/>
            </a:pPr>
            <a:r>
              <a:rPr lang="en-US" sz="950" dirty="0">
                <a:solidFill>
                  <a:srgbClr val="7A2E0E"/>
                </a:solidFill>
                <a:latin typeface="Calibri" pitchFamily="34" charset="0"/>
                <a:ea typeface="Calibri" pitchFamily="34" charset="-122"/>
                <a:cs typeface="Calibri" pitchFamily="34" charset="-120"/>
              </a:rPr>
              <a:t>Buildings that survived the mainshock in a damaged state have lost capacity. Even moderate aftershocks can bring them down, so rapid habitability assessment before re-occupancy - and keeping people out of visibly damaged structures - matters as much as the aftershock statistics themselves.</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Buildings damaged</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1,600+</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Governor cites at least 42</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Epicentral department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later 4</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Departmental figures come from local authorities and are reported at different times; they do not yet add up to the national total of 111 and will be reconciled as verification proceeds.</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News - Deaths, injuries and collapsed buildings</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 UNGRD, 10 Aug afternoon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 UNGRD, 10 Aug afternoon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 trapped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yet quantified; people were reported trapped under rubble in Cali, Pereira and Manizales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Local authorities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damaged (total)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1,600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61 nationally; Cali 25-30 at 12 critical points, Manizales 17 collapsed + 19 partial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mayors of Cali and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damaged; 7 health institutions closed; about 30% of the University Hospital in Cali collapsed, including three floors (paediatrics, internal medicine, part of the neonatal unit)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damaged; schools evacuated across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major roads and highways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regional airports damaged;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Power outages and communications disruption reported in areas near the epicentre; systematic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1300" dirty="0"/>
          </a:p>
          <a:p>
            <a:pPr algn="l" marL="342900" indent="-342900">
              <a:buSzPct val="100000"/>
              <a:buChar char="•"/>
            </a:pPr>
            <a:r>
              <a:rPr lang="en-US" sz="13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1300" dirty="0"/>
          </a:p>
        </p:txBody>
      </p:sp>
      <p:sp>
        <p:nvSpPr>
          <p:cNvPr id="5" name="Shape 2"/>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6" name="Text 3"/>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Mexico's President pledged 'all the support required'; several Latin American governments offered rescuers, canine teams and humanitarian aid, to be channelled through Colombia's Foreign Ministry and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No announcement by the Government of Japan (message of condolence, emergency grant aid or JDR dispatch) had been identified at the time of writing.</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Channelling
</a:t>
            </a:r>
            <a:pPr algn="l" indent="0" marL="0">
              <a:buNone/>
            </a:pPr>
            <a:r>
              <a:rPr lang="en-US" sz="950" dirty="0">
                <a:solidFill>
                  <a:srgbClr val="7A2E0E"/>
                </a:solidFill>
                <a:latin typeface="Calibri" pitchFamily="34" charset="0"/>
                <a:ea typeface="Calibri" pitchFamily="34" charset="-122"/>
                <a:cs typeface="Calibri" pitchFamily="34" charset="-120"/>
              </a:rPr>
              <a:t>Offers of assistance are to be channelled through Colombia's Ministry of Foreign Affairs together with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PNGRD 2015-2030 - the national disaster risk management plan, aligned with the Sendai Framework.</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15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OECD - Risk governance scan of Colombia</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107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822960"/>
                <a:gridCol w="3108960"/>
                <a:gridCol w="914400"/>
                <a:gridCol w="65836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1906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Ecuador-Colombia earthquake (Pacific coast)</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1979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Tumaco earthquake (Nariño)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M8.1</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1983</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Popayán earthquake (Cauca)</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M5.5</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Páez (Cauca) earthquake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Chocó earthquake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M6.6</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Armenia (Quindío) earthquake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M6.1-6.2</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2026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Chocó earthquake (this event)</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M7.4</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365760" y="5230368"/>
            <a:ext cx="11430000" cy="877824"/>
          </a:xfrm>
          <a:prstGeom prst="roundRect">
            <a:avLst>
              <a:gd name="adj" fmla="val 5208"/>
            </a:avLst>
          </a:prstGeom>
          <a:solidFill>
            <a:srgbClr val="FCE9DC"/>
          </a:solidFill>
          <a:ln w="12700">
            <a:solidFill>
              <a:srgbClr val="E8A317"/>
            </a:solidFill>
            <a:prstDash val="solid"/>
          </a:ln>
        </p:spPr>
      </p:sp>
      <p:sp>
        <p:nvSpPr>
          <p:cNvPr id="6" name="Text 2"/>
          <p:cNvSpPr/>
          <p:nvPr/>
        </p:nvSpPr>
        <p:spPr>
          <a:xfrm>
            <a:off x="530352" y="5285232"/>
            <a:ext cx="1110081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 deep source with shallow-disaster consequences. At 107 km depth the earthquake produced no surface rupture and no tsunami, yet it damaged buildings in at least six departments. Damage is dispersed rather than concentrated, which complicates needs assessment, logistics and the targeting of search and rescue.</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Figures will rise and will not be internally consistent for some time. Departmental death tolls announced by governors and mayors do not yet sum to the national total, and building-damage counts reflect first-look reporting, not damage assessment. Rapid increases in the coming days should be read as assessment progressing, not necessarily as the situation worsening.</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Aftershock risk to damaged buildings. The intraslab aftershock sequence is expected to be modest, but damaged structures have lost capacity; rapid structural inspection (habitability assessment) before re-occupancy is the immediate priority alongside search and rescue.</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12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10 Aug 2026, 17:00 COT (11 Aug 07:00 JST), approx. 9.5 hours after the earthquake. All figures are preliminary.</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2026-08-11T00:27:32Z</dcterms:created>
  <dcterms:modified xsi:type="dcterms:W3CDTF">2026-08-11T00:27:32Z</dcterms:modified>
</cp:coreProperties>
</file>