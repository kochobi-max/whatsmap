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2-1.png"/><Relationship Id="rId2" Type="http://schemas.openxmlformats.org/officeDocument/2006/relationships/image" Target="../media/image-22-2.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3-1.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4-1.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5-1.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8-1.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29-1.png"/><Relationship Id="rId14" Type="http://schemas.openxmlformats.org/officeDocument/2006/relationships/slideLayout" Target="../slideLayouts/slideLayout1.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3" Type="http://schemas.openxmlformats.org/officeDocument/2006/relationships/hyperlink" Target="https://www.infobae.com/colombia/2026/08/10/por-que-el-temblor-en-colombia-de-este-lunes-10-de-agosto-duro-una-eternidad-el-servicio-geologico-explico-que-paso/" TargetMode="External"/><Relationship Id="rId1" Type="http://schemas.openxmlformats.org/officeDocument/2006/relationships/image" Target="../media/image-30-1.png"/><Relationship Id="rId14" Type="http://schemas.openxmlformats.org/officeDocument/2006/relationships/slideLayout" Target="../slideLayouts/slideLayout1.xml"/><Relationship Id="rId1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3.nhk.or.jp/news/" TargetMode="External"/><Relationship Id="rId3" Type="http://schemas.openxmlformats.org/officeDocument/2006/relationships/hyperlink" Target="https://www.nikkei.com/article/DGXZQOGN108V30Q6A810C2000000/" TargetMode="External"/><Relationship Id="rId4" Type="http://schemas.openxmlformats.org/officeDocument/2006/relationships/hyperlink" Target="https://www.jiji.com/jc/article?k=2026081000878&amp;g=int" TargetMode="External"/><Relationship Id="rId5" Type="http://schemas.openxmlformats.org/officeDocument/2006/relationships/hyperlink" Target="https://www.savethechildren.org/us/about-us/media-and-news/2026-press-releases/children-at-risk-after-earthquake-strikes-colombia" TargetMode="External"/><Relationship Id="rId6" Type="http://schemas.openxmlformats.org/officeDocument/2006/relationships/hyperlink" Target="https://www.directrelief.org/2026/08/colombia-earthquake-7-4-magnitude-direct-relief-response/" TargetMode="External"/><Relationship Id="rId7" Type="http://schemas.openxmlformats.org/officeDocument/2006/relationships/hyperlink" Target="https://www.americares.org/crisis-alerts/colombia-earthquake-august-2026/" TargetMode="External"/><Relationship Id="rId8" Type="http://schemas.openxmlformats.org/officeDocument/2006/relationships/hyperlink" Target="https://glidenumber.net/" TargetMode="External"/><Relationship Id="rId9" Type="http://schemas.openxmlformats.org/officeDocument/2006/relationships/hyperlink" Target="https://www.adrc.asia/" TargetMode="External"/><Relationship Id="rId10" Type="http://schemas.openxmlformats.org/officeDocument/2006/relationships/hyperlink" Target="https://www.democrata.es/en/international/von-der-leyen-expresses-the-eu-s-support-for-colombia-and-activates-copernicus-after-the-earthquake/" TargetMode="External"/><Relationship Id="rId11" Type="http://schemas.openxmlformats.org/officeDocument/2006/relationships/hyperlink" Target="https://www.globalquakemodel.org/proj/treq" TargetMode="External"/><Relationship Id="rId12" Type="http://schemas.openxmlformats.org/officeDocument/2006/relationships/hyperlink" Target="https://cloud-storage.globalquakemodel.org/public/wix-new-website/pdf-collections-wix/publications/TREQ%20deliverables/reports/TREQ_D262_Riesgo_Sismico_Cali_v1.00.pdf" TargetMode="External"/><Relationship Id="rId13" Type="http://schemas.openxmlformats.org/officeDocument/2006/relationships/hyperlink" Target="https://www.sciencedirect.com/science/article/abs/pii/S2212420925003097" TargetMode="External"/><Relationship Id="rId1" Type="http://schemas.openxmlformats.org/officeDocument/2006/relationships/image" Target="../media/image-31-1.png"/><Relationship Id="rId14" Type="http://schemas.openxmlformats.org/officeDocument/2006/relationships/slideLayout" Target="../slideLayouts/slideLayout1.xml"/><Relationship Id="rId1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satic.cali.gov.co/satic" TargetMode="External"/><Relationship Id="rId3" Type="http://schemas.openxmlformats.org/officeDocument/2006/relationships/hyperlink" Target="https://www.cali.gov.co/gestiondelriesgo/" TargetMode="External"/><Relationship Id="rId4" Type="http://schemas.openxmlformats.org/officeDocument/2006/relationships/hyperlink" Target="https://portal.gestiondelriesgo.gov.co/Paginas/Plan-Nacional-de-Gestion-del-Riesgo.aspx" TargetMode="External"/><Relationship Id="rId5" Type="http://schemas.openxmlformats.org/officeDocument/2006/relationships/hyperlink" Target="https://www.funcionpublica.gov.co/eva/gestornormativo/norma.php?i=191411" TargetMode="External"/><Relationship Id="rId6" Type="http://schemas.openxmlformats.org/officeDocument/2006/relationships/hyperlink" Target="https://www.emsc-csem.org/" TargetMode="External"/><Relationship Id="rId7" Type="http://schemas.openxmlformats.org/officeDocument/2006/relationships/hyperlink" Target="https://catalogosismico.sgc.gov.co/visor/index.html" TargetMode="External"/><Relationship Id="rId8"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9" Type="http://schemas.openxmlformats.org/officeDocument/2006/relationships/hyperlink" Target="https://www.elespectador.com/colombia/mas-regiones/temblor-en-colombia-hoy-10-de-agosto-en-vivo-epicentro-y-reporte-de-afectaciones/" TargetMode="External"/><Relationship Id="rId10" Type="http://schemas.openxmlformats.org/officeDocument/2006/relationships/hyperlink" Target="https://www.noticiascaracol.com/colombia/en-vivo-colombia-hoy-tras-terremoto-de-magnitud-7-4-continuan-las-labores-de-rescate-so35" TargetMode="External"/><Relationship Id="rId11" Type="http://schemas.openxmlformats.org/officeDocument/2006/relationships/hyperlink" Target="https://rpp.pe/mundo/colombia/abelardo-de-la-espriella-cifra-en-181-los-muertos-por-el-terremoto-59-menos-que-datos-regionales-noticia-1701022" TargetMode="External"/><Relationship Id="rId12" Type="http://schemas.openxmlformats.org/officeDocument/2006/relationships/hyperlink" Target="https://www.eltiempo.com/colombia/otras-ciudades/cuantas-replicas-se-han-registrado-tras-el-terremoto-de-7-4-en-colombia-estas-son-todas-las-magnitudes-3577711" TargetMode="External"/><Relationship Id="rId13" Type="http://schemas.openxmlformats.org/officeDocument/2006/relationships/hyperlink" Target="https://www.semana.com/tecnologia/articulo/servicio-geologico-revela-el-numero-total-de-replicas-que-ha-habido-en-colombia-tras-fuerte-terremoto-que-estremecio-al-pais/202641/" TargetMode="External"/><Relationship Id="rId1" Type="http://schemas.openxmlformats.org/officeDocument/2006/relationships/image" Target="../media/image-32-1.png"/><Relationship Id="rId14" Type="http://schemas.openxmlformats.org/officeDocument/2006/relationships/slideLayout" Target="../slideLayouts/slideLayout1.xml"/><Relationship Id="rId1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mofa.go.jp/mofaj/la_c/sa/co/pageit_000001_00001.html" TargetMode="External"/><Relationship Id="rId3" Type="http://schemas.openxmlformats.org/officeDocument/2006/relationships/hyperlink" Target="https://x.com/MofaJapan_jp/status/2087155064855261537" TargetMode="External"/><Relationship Id="rId4" Type="http://schemas.openxmlformats.org/officeDocument/2006/relationships/hyperlink" Target="https://www.eltiempo.com/mundo/mas-regiones/la-comunidad-internacional-se-vuelca-en-ayudas-para-colombia-lista-de-paises-que-han-ofrecido-apoyo-tras-el-terremoto-de-magnitud-7-3577512" TargetMode="External"/><Relationship Id="rId5" Type="http://schemas.openxmlformats.org/officeDocument/2006/relationships/hyperlink" Target="https://colombia.un.org/es/320793-informaci%C3%B3n-y-actualizaciones-sobre-el-terremoto-en-colombia" TargetMode="External"/><Relationship Id="rId6" Type="http://schemas.openxmlformats.org/officeDocument/2006/relationships/hyperlink" Target="https://news.un.org/es/story/2026/08/1541792" TargetMode="External"/><Relationship Id="rId7" Type="http://schemas.openxmlformats.org/officeDocument/2006/relationships/hyperlink" Target="https://www.colombiatebusca.com/" TargetMode="External"/><Relationship Id="rId8" Type="http://schemas.openxmlformats.org/officeDocument/2006/relationships/hyperlink" Target="https://www.asocapitales.co/terremoto-colombia.html" TargetMode="External"/><Relationship Id="rId9" Type="http://schemas.openxmlformats.org/officeDocument/2006/relationships/hyperlink" Target="https://www.infobae.com/colombia/2026/08/12/de-la-espriella-anuncio-alivios-y-subsidios-tras-emergencia-en-el-eje-cafetero-por-el-terremoto-detallo-plan-de-choque-para-educacion-y-vivienda/" TargetMode="External"/><Relationship Id="rId10" Type="http://schemas.openxmlformats.org/officeDocument/2006/relationships/hyperlink" Target="https://www.pulzo.com/nacion/terremoto-en-colombia-ungrd-reporta-danos-y-victimas-en-valle-del-cauca-y-risaralda-PP5272829A" TargetMode="External"/><Relationship Id="rId11"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12" Type="http://schemas.openxmlformats.org/officeDocument/2006/relationships/hyperlink" Target="https://www.asocapitales.co/actualidad/noticias/ciudades-seguras/terremoto-deja-188-fallecidos-y-1677-heridos-en-ciudades" TargetMode="External"/><Relationship Id="rId13" Type="http://schemas.openxmlformats.org/officeDocument/2006/relationships/hyperlink" Target="https://www.infolibre.es/internacional/terremoto-colombia-deja-254-muertos-continua-busqueda-escombros_1_2235003.html" TargetMode="External"/><Relationship Id="rId1" Type="http://schemas.openxmlformats.org/officeDocument/2006/relationships/image" Target="../media/image-33-1.png"/><Relationship Id="rId14" Type="http://schemas.openxmlformats.org/officeDocument/2006/relationships/slideLayout" Target="../slideLayouts/slideLayout1.xml"/><Relationship Id="rId1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elcolombiano.com/colombia/cifra-muertos-heridos-desaparecidos-por-terremoto-colombia-MK39884181" TargetMode="External"/><Relationship Id="rId3" Type="http://schemas.openxmlformats.org/officeDocument/2006/relationships/hyperlink" Target="https://www.eltiempo.com/colombia/otras-ciudades/balance-oficial-de-la-ungrd-tras-terremoto-de-magnitud-7-4-en-colombia-273-fallecidos-3-824-heridos-y-377-desaparecidos-3578196" TargetMode="External"/><Relationship Id="rId4" Type="http://schemas.openxmlformats.org/officeDocument/2006/relationships/hyperlink" Target="https://www.eltiempo.com/vida/40-753-familias-afectadas-y-273-muertos-ungrd-entrega-nuevo-balance-del-terremoto-en-colombia-3578185" TargetMode="External"/><Relationship Id="rId5" Type="http://schemas.openxmlformats.org/officeDocument/2006/relationships/hyperlink" Target="https://www.eltiempo.com/colombia/otras-ciudades/nuevo-temblor-de-magnitud-4-2-se-registro-en-san-jose-del-palmar-choco-en-la-manana-de-este-jueves-13-de-agosto-3578131" TargetMode="External"/><Relationship Id="rId6" Type="http://schemas.openxmlformats.org/officeDocument/2006/relationships/hyperlink" Target="https://www.infobae.com/colombia/2026/08/13/colombia-recibira-equipos-de-rescate-de-ee-uu-israel-ecuador-y-el-salvador-por-terremoto/" TargetMode="External"/><Relationship Id="rId7" Type="http://schemas.openxmlformats.org/officeDocument/2006/relationships/hyperlink" Target="https://www.eltiempo.com/colombia/otras-ciudades/balance-oficial-de-la-ungrd-tras-terremoto-de-magnitud-7-4-en-colombia-287-fallecidos-3-975-heridos-y-378-desaparecidos-3578445" TargetMode="External"/><Relationship Id="rId8" Type="http://schemas.openxmlformats.org/officeDocument/2006/relationships/hyperlink" Target="https://www.infobae.com/colombia/2026/08/14/temblor-de-74-en-colombia-el-10-de-agosto-se-actualizo-el-numero-de-fallecidos-en-todo-el-pais/" TargetMode="External"/><Relationship Id="rId9" Type="http://schemas.openxmlformats.org/officeDocument/2006/relationships/hyperlink" Target="https://www.infobae.com/colombia/2026/08/14/aumenta-la-ayuda-internacional-a-colombia-tras-el-terremoto-de-74-india-envia-20-toneladas-y-noruega-suecia-y-espana-anuncian-nuevos-recursos/" TargetMode="External"/><Relationship Id="rId10" Type="http://schemas.openxmlformats.org/officeDocument/2006/relationships/hyperlink" Target="https://www.elheraldo.co/colombia/2026/08/14/italia-india-espana-chile-y-banco-mundial-entre-los-paises-y-organismos-que-han-enviado-ayudas-a-colombia-por-el-terremoto/" TargetMode="External"/><Relationship Id="rId11" Type="http://schemas.openxmlformats.org/officeDocument/2006/relationships/hyperlink" Target="https://www.jrc.or.jp/international/news/2026/0812_054987.html" TargetMode="External"/><Relationship Id="rId12"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1" Type="http://schemas.openxmlformats.org/officeDocument/2006/relationships/image" Target="../media/image-34-1.png"/><Relationship Id="rId13" Type="http://schemas.openxmlformats.org/officeDocument/2006/relationships/slideLayout" Target="../slideLayouts/slideLayout1.xml"/><Relationship Id="rId1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5-1.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UNGRD's running balance of 14-15 Aug 2026 COT, about five days after the earthquake: 288 deaths, 4,018 injured, 202 missing, 354 rescued alive, 45,523 families (102,263 people) affected in 15 departments and 426 municipalities, 12,828 homes destroyed and 73,455 damaged, 121 buildings collapsed. Several counts have been revised downwards as the damage and needs assessment consolidates duplicate records. All figures are preliminary.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Adding up the departmental and city announcements gives 254 deaths - Pereira 101, Cali 95 - ahead of the national consolidation, which media attribute to the central government being slower to update.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AM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09:00 cut: 287 dead, 3,975 injured, 378 missing, 354 rescued alive; 56,448 families (135,179 people) affected in 15 departments and 437 municipalities; 13,077 homes destroyed and 79,108 damaged; 121 buildings collapsed. Confined-space search continues with the certified international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sends 20 tonnes of humanitarian supplies; Norway allocates NOK 10 million and Sweden SEK 5 million through UNHCR; Spain, Italy, Chile, Mexico, Turkey, Brazil and the World Bank also send or announce support. The Interior Minister says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donors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Running balance: 288 dead, 4,018 injured, 202 missing, 354 rescued alive; 45,523 families (102,263 people) affected in 15 departments and 426 municipalities; 12,828 homes destroyed and 73,455 damaged; 121 buildings collapsed; 240 health, 2,205 educational and 1,208 community facilities; 210 roads, 73 aqueducts, 44 road bridges, 13 footbridges and five airports. The falls against the 09:00 cut are duplicate assessment records being consolidated.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95 km, about 20 km from the epicentre - the same source volume as the mainshock. Felt as far as Bogotá and strong enough to halt search-and-rescue work temporarily.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catalogue, 34 hours after the mainshock: 60 below M2.0, 76 at M2.0-2.9, 10 at M3.0-3.9, one at M4.0-4.9</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The remainder is background seismicity the same catalogue records, which is why a raw count runs ahead of the official figure. A modest, quickly-decaying sequence is what an intermediate-depth rupture is expected to produce - but the 13 August event shows that shaking able to stop rescue work continues.</a:t>
            </a:r>
            <a:endParaRPr lang="en-US" sz="8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288</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4,018</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Missing</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202</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UNGRD's running balance of 14-15 August. 45,523 families (102,263 people) affected in 15 departments and 426 municipalities; 12,828 homes destroyed and 73,455 damaged; 354 people rescued alive. Missing fell from 378 to 202 in a second reconciliation of the Fiscalía's register; affected families, homes and collapsed buildings were also revised down as duplicate assessment records were consolidated.</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Four children still missing under a collapsed school in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national figure reached 288 on 14-15 August, from UNGRD's running balance; it passed through 287 at the 09:00 cut on 14 August, 285 at 06:30 that morning, 281 late on 13 August and 273 that morning. Medicina Legal had received 250 bodies with 227 recognised at the 13 August reading. Cite 288 as the official national figure.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Missing Persons: two counts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Reported to the authorities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202</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Unresolved on the citizen platform</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Located through the platform</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Two different “missing” numbers
</a:t>
            </a:r>
            <a:pPr algn="l" indent="0" marL="0">
              <a:buNone/>
            </a:pPr>
            <a:r>
              <a:rPr lang="en-US" sz="950" dirty="0">
                <a:solidFill>
                  <a:srgbClr val="7A2E0E"/>
                </a:solidFill>
                <a:latin typeface="Calibri" pitchFamily="34" charset="0"/>
                <a:ea typeface="Calibri" pitchFamily="34" charset="-122"/>
                <a:cs typeface="Calibri" pitchFamily="34" charset="-120"/>
              </a:rPr>
              <a:t>202 and 3,653 are not the same measure and neither is wrong. 202 is the official register held by the Fiscalía General de la Nación as reported by UNGRD on 14-15 August; it has now fallen twice - 496 to 377 on 13 August, 378 to 202 on 14-15 August - and both falls are reports being reconciled against the register, not people being found. Search and rescue has recovered 354 people alive. 3,653 is the number of people on the citizen platform “Colombia te busca” whom families have registered and not yet found - a community initiative, not a state register, which does not replace a report to the police or the prosecutor's office and will contain duplicates and people simply out of contact where power and telephone service are down. Expect both figures to move in steps rather than smoothly. Cite 202 as the missing count; cite 3,653 as the volume of family enquiries, which is the better measure of how many households do not yet know.</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registrations cluster in Valle del Cauca, Risaralda, Caldas and Chocó - the same four departments that hold the deaths. Asocapitales, the association of capital cities, has launched a second platform, so the enquiry volume is now split across two registers and the totals should not be added together.</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citizen missing-persons platform</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earthquake missing-persons tool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288 (UNGRD, 14-15 Aug), from 287 at the 09:00 cut on 14 Aug, 285 at 06:30 that morning, 281 late on 13 Aug and 273 that morning.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4,018 (UNGRD, 14-15 Aug), from 3,975 at the 09:00 cut on 14 Aug and 3,824 on 13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(reported to the authorities)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202 (UNGRD, 14-15 Aug), down from 378 at the 09:00 cut on 14 Aug and 377 on 13 Aug. This is the second consecutive fall and, like the first, it is the Fiscalía's register being reconciled - reports resolved or found to be duplicates - not people being located in the rubble. 354 people have been rescued alive.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Unresolved reports on citizen platforms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people registered on “Colombia te busca”, of whom 3,653 are still to be located and 429 have been found - concentrated in Valle del Cauca, Risaralda, Caldas and Chocó. Asocapitales has launched a second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(citizen initiative);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Rescued alive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354 (UNGRD, 14 Aug), up from 243 on 11 Aug. They include a woman recovered in Cali almost 30 hours after the earthquake, a woman freed in Pereira after 36 hours and a baby pulled from an apartment block.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426 municipalities across 15 departments (UNGRD, 14-15 Aug); the 09:00 cut on 14 Aug gave 437, and 403 across 14 departments was the figure on 12 Aug.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People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45,523 families - 102,263 people - affected (UNGRD, 14-15 Aug). The 09:00 cut on 14 Aug gave 56,448 families and 135,179 people; the lower figure is the assessment consolidating records, not people ceasing to be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86,283: 12,828 destroyed and 73,455 damaged (UNGRD, 14-15 Aug). The 09:00 cut on 14 Aug gave 13,077 destroyed and 79,108 damaged, and 13 Aug gave 87,457 in total.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seriously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73,455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12,828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121 nationally (UNGRD, 14-15 Aug), revised down from 172 on 13 Aug. Asocapitales counts 243 collapsed structures in the capital cities; Cali city officials report 107 collapsed and 643 structurally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240 damaged (UNGRD, 14-15 Aug), up from 216 on 13 Aug and 18 on 10 Aug; 7 health institutions closed; about 30% of the University Hospital in Cali collapsed, including three floors (paediatrics, internal medicine, part of the neonatal unit). The Interior Minister said on 14 Aug that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 Ministry of the Interior;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2,205 affected (UNGRD, 14-15 Aug), against 2,198 on 13 Aug and 52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1,208 damaged (UNGRD, 14-15 Aug), against 825 on 13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210 roads damaged (UNGRD, 14-15 Aug), up from 77 on 11 Aug and 18 on 10 Aug; 44 road bridges and 13 footbridges also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73 aqueducts damaged (UNGRD, 14-15 Aug) and 29 banking offices out of service; power outages and communications disruption reported in areas near the 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880" dirty="0"/>
          </a:p>
          <a:p>
            <a:pPr algn="l" marL="342900" indent="-342900">
              <a:buSzPct val="100000"/>
              <a:buChar char="•"/>
            </a:pPr>
            <a:r>
              <a:rPr lang="en-US" sz="88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The President toured the affected regions on 11-12 August - Quibdó, then Cali, then Pereira, Dosquebradas, Manizales and Armenia - and said he would direct the response from the field rather than Bogotá.</a:t>
            </a:r>
            <a:endParaRPr lang="en-US" sz="880" dirty="0"/>
          </a:p>
          <a:p>
            <a:pPr algn="l" marL="342900" indent="-342900">
              <a:buSzPct val="100000"/>
              <a:buChar char="•"/>
            </a:pPr>
            <a:r>
              <a:rPr lang="en-US" sz="88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980" dirty="0">
                <a:solidFill>
                  <a:srgbClr val="222222"/>
                </a:solidFill>
                <a:latin typeface="Calibri" pitchFamily="34" charset="0"/>
                <a:ea typeface="Calibri" pitchFamily="34" charset="-122"/>
                <a:cs typeface="Calibri"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88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Assistance broadened on 14 August beyond the four countries sending rescuers. India dispatched 20 tonnes of humanitarian supplies (medicines and medical equipment, temporary shelter and hygiene items). Norway allocated NOK 10 million (about USD 1 million) for emergency health care, water supply, disease prevention and temporary housing, and Sweden SEK 5 million (about USD 522,000) channelled through UNHCR. Spain, Italy, Chile, Mexico, Turkey, Brazil and the World Bank have also sent or announced support; the Colombian government says it has received offers worth about USD 1.3 billion in total, and lists Japan among the countries that have announced assistance.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States: USD 15.5 million in emergency assistance announced on 10 August, for emergency shelter, food, protection and damage assessment.</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the Colombian government lists Japan among the countries that have announced assistance, but as of this cut-off neither MOFA nor JICA has published a Japan Disaster Relief dispatch, an emergency relief goods provision or emergency grant aid. On the Japanese side what is confirmed is non-governmental: the Japanese Red Cross Society is supporting the Colombian Red Cross response, and the Nippon Foundation opened a Colombia earthquake appeal running from 12 August to 30 September.</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990" dirty="0"/>
          </a:p>
          <a:p>
            <a:pPr algn="l" marL="342900" indent="-342900">
              <a:buSzPct val="100000"/>
              <a:buChar char="•"/>
            </a:pPr>
            <a:r>
              <a:rPr lang="en-US" sz="99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99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A filtered acceptance, then a broader flow
</a:t>
            </a:r>
            <a:pPr algn="l" indent="0" marL="0">
              <a:buNone/>
            </a:pPr>
            <a:r>
              <a:rPr lang="en-US" sz="950" dirty="0">
                <a:solidFill>
                  <a:srgbClr val="7A2E0E"/>
                </a:solidFill>
                <a:latin typeface="Calibri" pitchFamily="34" charset="0"/>
                <a:ea typeface="Calibri" pitchFamily="34" charset="-122"/>
                <a:cs typeface="Calibri" pitchFamily="34" charset="-120"/>
              </a:rPr>
              <a:t>Two patterns sit side by side. Search and rescue was opened to four countries only - the United States, Israel, Ecuador and El Salvador - on stated criteria of INSARAG classification, self-sufficiency and speed, although offers came from at least seventeen and several of the others hold the same classification; the Government has denied that ideology played a part and the argument is running in the Colombian press. Relief goods and money, by contrast, are being taken broadly: India, Norway, Sweden, Spain, Italy, Chile, Mexico, Turkey, Brazil, the World Bank and the earlier US, EU and CAF contributions, against a stated total of about USD 1.3 billion in offers. The distinction is defensible - rescue teams work inside a national command structure and relief goods do not - and it is the one an ADRC reader should take away: under Ley 1523 the response is Colombia's to direct, and a country that narrows the operational field this far should expect to explain the basis in writing.</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70" dirty="0"/>
          </a:p>
          <a:p>
            <a:pPr algn="l" marL="342900" indent="-342900">
              <a:buSzPct val="100000"/>
              <a:buChar char="•"/>
            </a:pPr>
            <a:r>
              <a:rPr lang="en-US" sz="97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70" dirty="0"/>
          </a:p>
          <a:p>
            <a:pPr algn="l" marL="342900" indent="-342900">
              <a:buSzPct val="100000"/>
              <a:buChar char="•"/>
            </a:pPr>
            <a:r>
              <a:rPr lang="en-US" sz="97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 Motegi's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 of countries that have offered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in Colombia — earthquake information and updates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News — the UN offers support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citizen missing-persons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earthquake missing-persons tool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relief and subsidies announced on the Coffee Region tour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UNGRD damage and casualty report across 14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SAR teams arriving from Israel, Ecuador, El Salvador and the 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deaths and 1,677 injured in capital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at least 254 dead as the search continues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dead, 3,494 injured, 496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13 August: 273 dead, 3,824 injured, 377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families affected: UNGRD's new balance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M4.2 aftershock at San José del Palmar, 13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to receive rescue teams from the US, Israel, Ecuador and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14 August: 287 dead, 3,975 injured, 378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live: the toll rises to 288, more than 4,000 injured and 202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international assistance grows: India, Norway, Sweden and Spain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Italy, India, Spain, Chile and the World Bank among those sending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Japanese Red Cross Society — Colombian Red Cross response to the M7.4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why Colombia did not need foreign rescuers: 23 national USAR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UNGRD's running balance of 14-15 Aug 2026 COT, about five days after the earthquake: 288 deaths, 4,018 injured, 202 missing, 354 rescued alive, 45,523 families (102,263 people) affected in 15 departments and 426 municipalities, 12,828 homes destroyed and 73,455 damaged, 121 buildings collapsed. Several counts have been revised downwards as the damage and needs assessment consolidates duplicate records.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2026-08-15T00:34:41Z</dcterms:created>
  <dcterms:modified xsi:type="dcterms:W3CDTF">2026-08-15T00:34:41Z</dcterms:modified>
</cp:coreProperties>
</file>