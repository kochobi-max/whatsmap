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F3864"/>
                </a:solidFill>
                <a:latin typeface="Arial"/>
              </a:defRPr>
            </a:pPr>
            <a:r>
              <a:rPr sz="950" b="0" i="0" u="none" strike="noStrike">
                <a:solidFill>
                  <a:srgbClr val="1F3864"/>
                </a:solidFill>
                <a:latin typeface="Arial"/>
              </a:rPr>
              <a:t>Population exposed by shaking level (millions, USGS PAGER)</a:t>
            </a:r>
          </a:p>
        </c:rich>
      </c:tx>
      <c:layout/>
      <c:overlay val="0"/>
    </c:title>
    <c:autoTitleDeleted val="0"/>
    <c:plotArea>
      <c:layout/>
      <c:barChart>
        <c:barDir val="col"/>
        <c:grouping val="clustered"/>
        <c:varyColors val="0"/>
        <c:ser>
          <c:idx val="0"/>
          <c:order val="0"/>
          <c:tx>
            <c:strRef>
              <c:f>Sheet1!$B$1</c:f>
              <c:strCache>
                <c:ptCount val="1"/>
                <c:pt idx="0">
                  <c:v>People exposed</c:v>
                </c:pt>
              </c:strCache>
            </c:strRef>
          </c:tx>
          <c:spPr>
            <a:solidFill>
              <a:srgbClr val="2E5496"/>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MMI VII</c:v>
                  </c:pt>
                  <c:pt idx="1">
                    <c:v>MMI VI</c:v>
                  </c:pt>
                  <c:pt idx="2">
                    <c:v>MMI V</c:v>
                  </c:pt>
                </c:lvl>
              </c:multiLvlStrCache>
            </c:multiLvlStrRef>
          </c:cat>
          <c:val>
            <c:numRef>
              <c:f>Sheet1!$B$2:$B$4</c:f>
              <c:numCache>
                <c:formatCode>General</c:formatCode>
                <c:ptCount val="3"/>
                <c:pt idx="0">
                  <c:v>1.3</c:v>
                </c:pt>
                <c:pt idx="1">
                  <c:v>9.2</c:v>
                </c:pt>
                <c:pt idx="2">
                  <c:v>24</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A6A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A6A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3864"/>
                </a:solidFill>
                <a:latin typeface="Arial"/>
              </a:defRPr>
            </a:pPr>
            <a:r>
              <a:rPr sz="1050" b="0" i="0" u="none" strike="noStrike">
                <a:solidFill>
                  <a:srgbClr val="1F3864"/>
                </a:solidFill>
                <a:latin typeface="Arial"/>
              </a:rPr>
              <a:t>Reported deaths by department (provisional)</a:t>
            </a:r>
          </a:p>
        </c:rich>
      </c:tx>
      <c:layout/>
      <c:overlay val="0"/>
    </c:title>
    <c:autoTitleDeleted val="0"/>
    <c:plotArea>
      <c:layout/>
      <c:barChart>
        <c:barDir val="bar"/>
        <c:grouping val="clustered"/>
        <c:varyColors val="0"/>
        <c:ser>
          <c:idx val="0"/>
          <c:order val="0"/>
          <c:tx>
            <c:strRef>
              <c:f>Sheet1!$B$1</c:f>
              <c:strCache>
                <c:ptCount val="1"/>
                <c:pt idx="0">
                  <c:v>Deaths</c:v>
                </c:pt>
              </c:strCache>
            </c:strRef>
          </c:tx>
          <c:spPr>
            <a:solidFill>
              <a:srgbClr val="C0000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Risaralda (Pereira)</c:v>
                  </c:pt>
                  <c:pt idx="1">
                    <c:v>Valle del Cauca (Cali)</c:v>
                  </c:pt>
                  <c:pt idx="2">
                    <c:v>Chocó</c:v>
                  </c:pt>
                  <c:pt idx="3">
                    <c:v>Caldas (Manizales)</c:v>
                  </c:pt>
                  <c:pt idx="4">
                    <c:v>Antioquia</c:v>
                  </c:pt>
                </c:lvl>
              </c:multiLvlStrCache>
            </c:multiLvlStrRef>
          </c:cat>
          <c:val>
            <c:numRef>
              <c:f>Sheet1!$B$2:$B$6</c:f>
              <c:numCache>
                <c:formatCode>General</c:formatCode>
                <c:ptCount val="5"/>
                <c:pt idx="0">
                  <c:v>40</c:v>
                </c:pt>
                <c:pt idx="1">
                  <c:v>27</c:v>
                </c:pt>
                <c:pt idx="2">
                  <c:v>9</c:v>
                </c:pt>
                <c:pt idx="3">
                  <c:v>4</c:v>
                </c:pt>
                <c:pt idx="4">
                  <c:v>1</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A6A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earthquake.usgs.gov/earthquakes/eventpage/us6000tjl2/executive" TargetMode="External"/><Relationship Id="rId6" Type="http://schemas.openxmlformats.org/officeDocument/2006/relationships/hyperlink" Target="https://www.sgc.gov.co/" TargetMode="External"/><Relationship Id="rId7" Type="http://schemas.openxmlformats.org/officeDocument/2006/relationships/hyperlink" Target="https://portal.gestiondelriesgo.gov.co/"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earthquake.usgs.gov/earthquakes/eventpage/us6000tjl2/executive" TargetMode="External"/><Relationship Id="rId4" Type="http://schemas.openxmlformats.org/officeDocument/2006/relationships/hyperlink" Target="https://www.sgc.gov.co/" TargetMode="External"/><Relationship Id="rId5" Type="http://schemas.openxmlformats.org/officeDocument/2006/relationships/hyperlink" Target="https://gdacs.org/report.aspx?eventid=1557236&amp;eventtype=EQ" TargetMode="External"/><Relationship Id="rId1" Type="http://schemas.openxmlformats.org/officeDocument/2006/relationships/image" Target="../media/image-2-1.png"/><Relationship Id="rId2"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colombia-national-disaster/" TargetMode="External"/><Relationship Id="rId4" Type="http://schemas.openxmlformats.org/officeDocument/2006/relationships/hyperlink" Target="https://www.france24.com/en/americas/20260810-powerful-quake-rocks-colombia-causing-major-damage"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4-1.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5-1.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portal.gestiondelriesgo.gov.co/" TargetMode="External"/><Relationship Id="rId4" Type="http://schemas.openxmlformats.org/officeDocument/2006/relationships/hyperlink" Target="https://colombiaone.com/2026/08/10/earthquake-colombia-official-details/" TargetMode="External"/><Relationship Id="rId5" Type="http://schemas.openxmlformats.org/officeDocument/2006/relationships/hyperlink" Target="https://www.cbsnews.com/news/colombia-earthquake-western-region-evacuations/" TargetMode="External"/><Relationship Id="rId1" Type="http://schemas.openxmlformats.org/officeDocument/2006/relationships/image" Target="../media/image-6-1.png"/><Relationship Id="rId2" Type="http://schemas.openxmlformats.org/officeDocument/2006/relationships/image" Target="../media/image-6-2.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gdacs.org/report.aspx?eventid=1557236&amp;eventtype=EQ" TargetMode="External"/><Relationship Id="rId6" Type="http://schemas.openxmlformats.org/officeDocument/2006/relationships/hyperlink" Target="https://www.infobae.com/colombia/2026/08/10/por-que-el-temblor-en-colombia-de-este-lunes-10-de-agosto-duro-una-eternidad-el-servicio-geologico-explico-que-paso/" TargetMode="External"/><Relationship Id="rId3"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sgc.gov.co/" TargetMode="External"/><Relationship Id="rId3" Type="http://schemas.openxmlformats.org/officeDocument/2006/relationships/hyperlink" Target="https://earthquake.usgs.gov/earthquakes/eventpage/us6000tjl2/executive" TargetMode="External"/><Relationship Id="rId1"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france24.com/en/americas/20260810-powerful-quake-rocks-colombia-causing-major-damage"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www.cbsnews.com/news/colombia-earthquake-western-region-evacuations/" TargetMode="External"/><Relationship Id="rId6" Type="http://schemas.openxmlformats.org/officeDocument/2006/relationships/hyperlink" Target="https://www.nbcnews.com/world/latin-america/strong-earthquake-colombia-ecuador-people-evacuating-homes-buildings-rcna591709" TargetMode="External"/><Relationship Id="rId2" Type="http://schemas.openxmlformats.org/officeDocument/2006/relationships/chart" Target="/ppt/charts/chart2.xml"/><Relationship Id="rId1"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colombia-national-disaster/" TargetMode="External"/><Relationship Id="rId4" Type="http://schemas.openxmlformats.org/officeDocument/2006/relationships/hyperlink" Target="https://www.preventionweb.net/publication/colombia-plan-nacional-de-gestion-del-riesgo-de-desastres-pngrd-2015-2030" TargetMode="External"/><Relationship Id="rId1"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disasterscharter.org/activations" TargetMode="External"/><Relationship Id="rId3" Type="http://schemas.openxmlformats.org/officeDocument/2006/relationships/hyperlink" Target="https://emergency.copernicus.eu/mapping/list-of-activations-rapid" TargetMode="External"/><Relationship Id="rId4" Type="http://schemas.openxmlformats.org/officeDocument/2006/relationships/hyperlink" Target="https://reliefweb.int/country/col" TargetMode="External"/><Relationship Id="rId1"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disasterscharter.org/activations" TargetMode="External"/><Relationship Id="rId3" Type="http://schemas.openxmlformats.org/officeDocument/2006/relationships/hyperlink" Target="https://emergency.copernicus.eu/mapping/list-of-activations-rapid" TargetMode="External"/><Relationship Id="rId4" Type="http://schemas.openxmlformats.org/officeDocument/2006/relationships/hyperlink" Target="https://gdacs.org/report.aspx?eventid=1557236&amp;eventtype=EQ" TargetMode="External"/><Relationship Id="rId1"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un-spider.org/national-unit-disaster-risk-management-ungrd-colombia" TargetMode="External"/><Relationship Id="rId3" Type="http://schemas.openxmlformats.org/officeDocument/2006/relationships/hyperlink" Target="https://www.preventionweb.net/publication/colombia-plan-nacional-de-gestion-del-riesgo-de-desastres-pngrd-2015-2030" TargetMode="External"/><Relationship Id="rId4" Type="http://schemas.openxmlformats.org/officeDocument/2006/relationships/hyperlink" Target="https://www.globalquakemodel.org/seismic-regulations/colombia" TargetMode="External"/><Relationship Id="rId5" Type="http://schemas.openxmlformats.org/officeDocument/2006/relationships/hyperlink" Target="https://www.oecd.org/en/publications/risk-governance-scan-of-colombia_eeb81954-en.html" TargetMode="External"/><Relationship Id="rId1" Type="http://schemas.openxmlformats.org/officeDocument/2006/relationships/image" Target="../media/image-15-1.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globalquakemodel.org/seismic-regulations/colombia" TargetMode="External"/><Relationship Id="rId3" Type="http://schemas.openxmlformats.org/officeDocument/2006/relationships/hyperlink" Target="https://www.preventionweb.net/publication/colombia-plan-nacional-de-gestion-del-riesgo-de-desastres-pngrd-2015-2030" TargetMode="External"/><Relationship Id="rId1"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www.sgc.gov.co/" TargetMode="External"/><Relationship Id="rId4" Type="http://schemas.openxmlformats.org/officeDocument/2006/relationships/hyperlink" Target="https://www.globalquakemodel.org/seismic-regulations/colombia" TargetMode="External"/><Relationship Id="rId1"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earthquake.usgs.gov/earthquakes/eventpage/us6000tjl2/executive" TargetMode="External"/><Relationship Id="rId4" Type="http://schemas.openxmlformats.org/officeDocument/2006/relationships/hyperlink" Target="https://reliefweb.int/country/col" TargetMode="External"/><Relationship Id="rId1" Type="http://schemas.openxmlformats.org/officeDocument/2006/relationships/image" Target="../media/image-18-1.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www.sgc.gov.co/" TargetMode="External"/><Relationship Id="rId4" Type="http://schemas.openxmlformats.org/officeDocument/2006/relationships/hyperlink" Target="https://portal.gestiondelriesgo.gov.co/" TargetMode="External"/><Relationship Id="rId5" Type="http://schemas.openxmlformats.org/officeDocument/2006/relationships/hyperlink" Target="https://gdacs.org/report.aspx?eventid=1557236&amp;eventtype=EQ" TargetMode="External"/><Relationship Id="rId6" Type="http://schemas.openxmlformats.org/officeDocument/2006/relationships/hyperlink" Target="https://disasterscharter.org/activations" TargetMode="External"/><Relationship Id="rId7" Type="http://schemas.openxmlformats.org/officeDocument/2006/relationships/hyperlink" Target="https://emergency.copernicus.eu/mapping/list-of-activations-rapid" TargetMode="External"/><Relationship Id="rId8" Type="http://schemas.openxmlformats.org/officeDocument/2006/relationships/hyperlink" Target="https://reliefweb.int/country/col" TargetMode="External"/><Relationship Id="rId9" Type="http://schemas.openxmlformats.org/officeDocument/2006/relationships/hyperlink" Target="https://www.paho.org/en/colombia" TargetMode="External"/><Relationship Id="rId10" Type="http://schemas.openxmlformats.org/officeDocument/2006/relationships/hyperlink" Target="https://www.preventionweb.net/publication/colombia-plan-nacional-de-gestion-del-riesgo-de-desastres-pngrd-2015-2030" TargetMode="External"/><Relationship Id="rId11" Type="http://schemas.openxmlformats.org/officeDocument/2006/relationships/hyperlink" Target="https://www.globalquakemodel.org/seismic-regulations/colombia" TargetMode="External"/><Relationship Id="rId12" Type="http://schemas.openxmlformats.org/officeDocument/2006/relationships/hyperlink" Target="https://un-spider.org/national-unit-disaster-risk-management-ungrd-colombia" TargetMode="External"/><Relationship Id="rId13" Type="http://schemas.openxmlformats.org/officeDocument/2006/relationships/hyperlink" Target="https://www.oecd.org/en/publications/risk-governance-scan-of-colombia_eeb81954-en.html" TargetMode="External"/><Relationship Id="rId14" Type="http://schemas.openxmlformats.org/officeDocument/2006/relationships/hyperlink" Target="https://www.cnn.com/2026/08/10/world/live-news/colombia-earthquake-san-jose-del-palmar" TargetMode="External"/><Relationship Id="rId15" Type="http://schemas.openxmlformats.org/officeDocument/2006/relationships/hyperlink" Target="https://www.france24.com/en/americas/20260810-powerful-quake-rocks-colombia-causing-major-damage" TargetMode="External"/><Relationship Id="rId16" Type="http://schemas.openxmlformats.org/officeDocument/2006/relationships/hyperlink" Target="https://www.aljazeera.com/news/2026/8/10/7-4-magnitude-earthquake-hits-colombia-killing-at-least-20" TargetMode="External"/><Relationship Id="rId1" Type="http://schemas.openxmlformats.org/officeDocument/2006/relationships/image" Target="../media/image-19-1.png"/><Relationship Id="rId17" Type="http://schemas.openxmlformats.org/officeDocument/2006/relationships/slideLayout" Target="../slideLayouts/slideLayout1.xml"/><Relationship Id="rId1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cbsnews.com/news/colombia-earthquake-western-region-evacuations/" TargetMode="External"/><Relationship Id="rId3" Type="http://schemas.openxmlformats.org/officeDocument/2006/relationships/hyperlink" Target="https://www.nbcnews.com/world/latin-america/strong-earthquake-colombia-ecuador-people-evacuating-homes-buildings-rcna591709" TargetMode="External"/><Relationship Id="rId4" Type="http://schemas.openxmlformats.org/officeDocument/2006/relationships/hyperlink" Target="https://colombiaone.com/2026/08/10/earthquake-colombia-official-details/" TargetMode="External"/><Relationship Id="rId5" Type="http://schemas.openxmlformats.org/officeDocument/2006/relationships/hyperlink" Target="https://colombiaone.com/2026/08/10/colombia-national-disaster/" TargetMode="External"/><Relationship Id="rId6" Type="http://schemas.openxmlformats.org/officeDocument/2006/relationships/hyperlink" Target="https://www.infobae.com/colombia/2026/08/10/por-que-el-temblor-en-colombia-de-este-lunes-10-de-agosto-duro-una-eternidad-el-servicio-geologico-explico-que-paso/" TargetMode="External"/><Relationship Id="rId7" Type="http://schemas.openxmlformats.org/officeDocument/2006/relationships/hyperlink" Target="https://www3.nhk.or.jp/news/" TargetMode="External"/><Relationship Id="rId8" Type="http://schemas.openxmlformats.org/officeDocument/2006/relationships/hyperlink" Target="https://www.nikkei.com/article/DGXZQOGN108V30Q6A810C2000000/" TargetMode="External"/><Relationship Id="rId9" Type="http://schemas.openxmlformats.org/officeDocument/2006/relationships/hyperlink" Target="https://www.jiji.com/jc/article?k=2026081000878&amp;g=int" TargetMode="External"/><Relationship Id="rId10" Type="http://schemas.openxmlformats.org/officeDocument/2006/relationships/hyperlink" Target="https://www.savethechildren.org/us/about-us/media-and-news/2026-press-releases/children-at-risk-after-earthquake-strikes-colombia" TargetMode="External"/><Relationship Id="rId11" Type="http://schemas.openxmlformats.org/officeDocument/2006/relationships/hyperlink" Target="https://www.directrelief.org/2026/08/colombia-earthquake-7-4-magnitude-direct-relief-response/" TargetMode="External"/><Relationship Id="rId12" Type="http://schemas.openxmlformats.org/officeDocument/2006/relationships/hyperlink" Target="https://www.americares.org/crisis-alerts/colombia-earthquake-august-2026/" TargetMode="External"/><Relationship Id="rId13" Type="http://schemas.openxmlformats.org/officeDocument/2006/relationships/hyperlink" Target="https://glidenumber.net/" TargetMode="External"/><Relationship Id="rId14" Type="http://schemas.openxmlformats.org/officeDocument/2006/relationships/hyperlink" Target="https://www.adrc.asia/" TargetMode="External"/><Relationship Id="rId1" Type="http://schemas.openxmlformats.org/officeDocument/2006/relationships/image" Target="../media/image-20-1.png"/><Relationship Id="rId15" Type="http://schemas.openxmlformats.org/officeDocument/2006/relationships/slideLayout" Target="../slideLayouts/slideLayout1.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atsmap/reports/colombia_eq_20260810/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365760" y="256032"/>
            <a:ext cx="5486400" cy="274320"/>
          </a:xfrm>
          <a:prstGeom prst="rect">
            <a:avLst/>
          </a:prstGeom>
          <a:noFill/>
          <a:ln/>
        </p:spPr>
        <p:txBody>
          <a:bodyPr wrap="square" rtlCol="0" anchor="ctr"/>
          <a:lstStyle/>
          <a:p>
            <a:pPr indent="0" marL="0">
              <a:buNone/>
            </a:pPr>
            <a:r>
              <a:rPr lang="en-US" sz="1100" i="1" dirty="0">
                <a:solidFill>
                  <a:srgbClr val="6A6A6A"/>
                </a:solidFill>
                <a:latin typeface="Calibri" pitchFamily="34" charset="0"/>
                <a:ea typeface="Calibri" pitchFamily="34" charset="-122"/>
                <a:cs typeface="Calibri" pitchFamily="34" charset="-120"/>
              </a:rPr>
              <a:t>Disaster Report</a:t>
            </a:r>
            <a:endParaRPr lang="en-US" sz="1100" dirty="0"/>
          </a:p>
        </p:txBody>
      </p:sp>
      <p:sp>
        <p:nvSpPr>
          <p:cNvPr id="4" name="Text 1"/>
          <p:cNvSpPr/>
          <p:nvPr/>
        </p:nvSpPr>
        <p:spPr>
          <a:xfrm>
            <a:off x="457200" y="566928"/>
            <a:ext cx="11274552" cy="566928"/>
          </a:xfrm>
          <a:prstGeom prst="rect">
            <a:avLst/>
          </a:prstGeom>
          <a:noFill/>
          <a:ln/>
        </p:spPr>
        <p:txBody>
          <a:bodyPr wrap="square" rtlCol="0" anchor="ctr"/>
          <a:lstStyle/>
          <a:p>
            <a:pPr algn="ctr" indent="0" marL="0">
              <a:buNone/>
            </a:pPr>
            <a:r>
              <a:rPr lang="en-US" sz="2600" b="1" dirty="0">
                <a:solidFill>
                  <a:srgbClr val="111111"/>
                </a:solidFill>
                <a:latin typeface="Cambria" pitchFamily="34" charset="0"/>
                <a:ea typeface="Cambria" pitchFamily="34" charset="-122"/>
                <a:cs typeface="Cambria" pitchFamily="34" charset="-120"/>
              </a:rPr>
              <a:t>2026 Chocó Earthquake (Colombia)</a:t>
            </a:r>
            <a:endParaRPr lang="en-US" sz="2600" dirty="0"/>
          </a:p>
        </p:txBody>
      </p:sp>
      <p:sp>
        <p:nvSpPr>
          <p:cNvPr id="5" name="Text 2"/>
          <p:cNvSpPr/>
          <p:nvPr/>
        </p:nvSpPr>
        <p:spPr>
          <a:xfrm>
            <a:off x="457200" y="1115568"/>
            <a:ext cx="11274552" cy="292608"/>
          </a:xfrm>
          <a:prstGeom prst="rect">
            <a:avLst/>
          </a:prstGeom>
          <a:noFill/>
          <a:ln/>
        </p:spPr>
        <p:txBody>
          <a:bodyPr wrap="square" rtlCol="0" anchor="ctr"/>
          <a:lstStyle/>
          <a:p>
            <a:pPr algn="ctr" indent="0" marL="0">
              <a:buNone/>
            </a:pPr>
            <a:r>
              <a:rPr lang="en-US" sz="1300" dirty="0">
                <a:solidFill>
                  <a:srgbClr val="222222"/>
                </a:solidFill>
                <a:latin typeface="Calibri" pitchFamily="34" charset="0"/>
                <a:ea typeface="Calibri" pitchFamily="34" charset="-122"/>
                <a:cs typeface="Calibri" pitchFamily="34" charset="-120"/>
              </a:rPr>
              <a:t>M7.4, San José del Palmar, Chocó Department - 10 August 2026</a:t>
            </a:r>
            <a:endParaRPr lang="en-US" sz="1300" dirty="0"/>
          </a:p>
        </p:txBody>
      </p:sp>
      <p:sp>
        <p:nvSpPr>
          <p:cNvPr id="6" name="Text 3"/>
          <p:cNvSpPr/>
          <p:nvPr/>
        </p:nvSpPr>
        <p:spPr>
          <a:xfrm>
            <a:off x="457200" y="1408176"/>
            <a:ext cx="11274552" cy="274320"/>
          </a:xfrm>
          <a:prstGeom prst="rect">
            <a:avLst/>
          </a:prstGeom>
          <a:noFill/>
          <a:ln/>
        </p:spPr>
        <p:txBody>
          <a:bodyPr wrap="square" rtlCol="0" anchor="ctr"/>
          <a:lstStyle/>
          <a:p>
            <a:pPr algn="ctr" indent="0" marL="0">
              <a:buNone/>
            </a:pPr>
            <a:r>
              <a:rPr lang="en-US" sz="1150" dirty="0">
                <a:solidFill>
                  <a:srgbClr val="6A6A6A"/>
                </a:solidFill>
                <a:latin typeface="Calibri" pitchFamily="34" charset="0"/>
                <a:ea typeface="Calibri" pitchFamily="34" charset="-122"/>
                <a:cs typeface="Calibri" pitchFamily="34" charset="-120"/>
              </a:rPr>
              <a:t>Mww 7.4   ·   depth 107 km   ·   MMI VII (Very strong) - USGS ShakeMap   ·   GLIDE EQ-2026-XXXXXX-COL (TBC)</a:t>
            </a:r>
            <a:endParaRPr lang="en-US" sz="1150" dirty="0"/>
          </a:p>
        </p:txBody>
      </p:sp>
      <p:sp>
        <p:nvSpPr>
          <p:cNvPr id="7" name="Shape 4"/>
          <p:cNvSpPr/>
          <p:nvPr/>
        </p:nvSpPr>
        <p:spPr>
          <a:xfrm>
            <a:off x="365760" y="1755648"/>
            <a:ext cx="11457432" cy="0"/>
          </a:xfrm>
          <a:prstGeom prst="line">
            <a:avLst/>
          </a:prstGeom>
          <a:noFill/>
          <a:ln w="12700">
            <a:solidFill>
              <a:srgbClr val="D9D9D9"/>
            </a:solidFill>
            <a:prstDash val="solid"/>
          </a:ln>
        </p:spPr>
      </p:sp>
      <p:sp>
        <p:nvSpPr>
          <p:cNvPr id="8" name="Text 5"/>
          <p:cNvSpPr/>
          <p:nvPr/>
        </p:nvSpPr>
        <p:spPr>
          <a:xfrm>
            <a:off x="365760"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Calibri" pitchFamily="34" charset="0"/>
                <a:ea typeface="Calibri" pitchFamily="34" charset="-122"/>
                <a:cs typeface="Calibri" pitchFamily="34" charset="-120"/>
              </a:rPr>
              <a:t>(1) World / Colombia</a:t>
            </a:r>
            <a:endParaRPr lang="en-US" sz="1000" dirty="0"/>
          </a:p>
        </p:txBody>
      </p:sp>
      <p:sp>
        <p:nvSpPr>
          <p:cNvPr id="9" name="Shape 6"/>
          <p:cNvSpPr/>
          <p:nvPr/>
        </p:nvSpPr>
        <p:spPr>
          <a:xfrm>
            <a:off x="365760" y="1938528"/>
            <a:ext cx="3712464" cy="2487168"/>
          </a:xfrm>
          <a:prstGeom prst="rect">
            <a:avLst/>
          </a:prstGeom>
          <a:solidFill>
            <a:srgbClr val="F7F7F7"/>
          </a:solidFill>
          <a:ln w="9525">
            <a:solidFill>
              <a:srgbClr val="D9D9D9"/>
            </a:solidFill>
            <a:prstDash val="solid"/>
          </a:ln>
        </p:spPr>
      </p:sp>
      <p:pic>
        <p:nvPicPr>
          <p:cNvPr id="10" name="Image 1" descr="/home/user/whatsmap/reports/colombia_eq_20260810/images/locator_world.png">    </p:cNvPr>
          <p:cNvPicPr>
            <a:picLocks noChangeAspect="1"/>
          </p:cNvPicPr>
          <p:nvPr/>
        </p:nvPicPr>
        <p:blipFill>
          <a:blip r:embed="rId2"/>
          <a:stretch>
            <a:fillRect/>
          </a:stretch>
        </p:blipFill>
        <p:spPr>
          <a:xfrm>
            <a:off x="402336" y="2327988"/>
            <a:ext cx="3639312" cy="1708248"/>
          </a:xfrm>
          <a:prstGeom prst="rect">
            <a:avLst/>
          </a:prstGeom>
        </p:spPr>
      </p:pic>
      <p:sp>
        <p:nvSpPr>
          <p:cNvPr id="11" name="Text 7"/>
          <p:cNvSpPr/>
          <p:nvPr/>
        </p:nvSpPr>
        <p:spPr>
          <a:xfrm>
            <a:off x="4334256"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Calibri" pitchFamily="34" charset="0"/>
                <a:ea typeface="Calibri" pitchFamily="34" charset="-122"/>
                <a:cs typeface="Calibri" pitchFamily="34" charset="-120"/>
              </a:rPr>
              <a:t>(2) NW South America</a:t>
            </a:r>
            <a:endParaRPr lang="en-US" sz="1000" dirty="0"/>
          </a:p>
        </p:txBody>
      </p:sp>
      <p:sp>
        <p:nvSpPr>
          <p:cNvPr id="12" name="Shape 8"/>
          <p:cNvSpPr/>
          <p:nvPr/>
        </p:nvSpPr>
        <p:spPr>
          <a:xfrm>
            <a:off x="4334256" y="1938528"/>
            <a:ext cx="3712464" cy="2487168"/>
          </a:xfrm>
          <a:prstGeom prst="rect">
            <a:avLst/>
          </a:prstGeom>
          <a:solidFill>
            <a:srgbClr val="F7F7F7"/>
          </a:solidFill>
          <a:ln w="9525">
            <a:solidFill>
              <a:srgbClr val="D9D9D9"/>
            </a:solidFill>
            <a:prstDash val="solid"/>
          </a:ln>
        </p:spPr>
      </p:sp>
      <p:pic>
        <p:nvPicPr>
          <p:cNvPr id="13" name="Image 2" descr="/home/user/whatsmap/reports/colombia_eq_20260810/images/locator_region.png">    </p:cNvPr>
          <p:cNvPicPr>
            <a:picLocks noChangeAspect="1"/>
          </p:cNvPicPr>
          <p:nvPr/>
        </p:nvPicPr>
        <p:blipFill>
          <a:blip r:embed="rId3"/>
          <a:stretch>
            <a:fillRect/>
          </a:stretch>
        </p:blipFill>
        <p:spPr>
          <a:xfrm>
            <a:off x="4839881" y="1975104"/>
            <a:ext cx="2701214" cy="2414016"/>
          </a:xfrm>
          <a:prstGeom prst="rect">
            <a:avLst/>
          </a:prstGeom>
        </p:spPr>
      </p:pic>
      <p:sp>
        <p:nvSpPr>
          <p:cNvPr id="14" name="Text 9"/>
          <p:cNvSpPr/>
          <p:nvPr/>
        </p:nvSpPr>
        <p:spPr>
          <a:xfrm>
            <a:off x="8302752"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Calibri" pitchFamily="34" charset="0"/>
                <a:ea typeface="Calibri" pitchFamily="34" charset="-122"/>
                <a:cs typeface="Calibri" pitchFamily="34" charset="-120"/>
              </a:rPr>
              <a:t>(3) Epicentre &amp; affected cities</a:t>
            </a:r>
            <a:endParaRPr lang="en-US" sz="1000" dirty="0"/>
          </a:p>
        </p:txBody>
      </p:sp>
      <p:sp>
        <p:nvSpPr>
          <p:cNvPr id="15" name="Shape 10"/>
          <p:cNvSpPr/>
          <p:nvPr/>
        </p:nvSpPr>
        <p:spPr>
          <a:xfrm>
            <a:off x="8302752" y="1938528"/>
            <a:ext cx="3712464" cy="2487168"/>
          </a:xfrm>
          <a:prstGeom prst="rect">
            <a:avLst/>
          </a:prstGeom>
          <a:solidFill>
            <a:srgbClr val="F7F7F7"/>
          </a:solidFill>
          <a:ln w="9525">
            <a:solidFill>
              <a:srgbClr val="D9D9D9"/>
            </a:solidFill>
            <a:prstDash val="solid"/>
          </a:ln>
        </p:spPr>
      </p:sp>
      <p:pic>
        <p:nvPicPr>
          <p:cNvPr id="16" name="Image 3" descr="/home/user/whatsmap/reports/colombia_eq_20260810/images/locator_epicentre.png">    </p:cNvPr>
          <p:cNvPicPr>
            <a:picLocks noChangeAspect="1"/>
          </p:cNvPicPr>
          <p:nvPr/>
        </p:nvPicPr>
        <p:blipFill>
          <a:blip r:embed="rId4"/>
          <a:stretch>
            <a:fillRect/>
          </a:stretch>
        </p:blipFill>
        <p:spPr>
          <a:xfrm>
            <a:off x="8712521" y="1975104"/>
            <a:ext cx="2892926" cy="2414016"/>
          </a:xfrm>
          <a:prstGeom prst="rect">
            <a:avLst/>
          </a:prstGeom>
        </p:spPr>
      </p:pic>
      <p:sp>
        <p:nvSpPr>
          <p:cNvPr id="17" name="Text 11"/>
          <p:cNvSpPr/>
          <p:nvPr/>
        </p:nvSpPr>
        <p:spPr>
          <a:xfrm>
            <a:off x="365760" y="4462272"/>
            <a:ext cx="11430000" cy="201168"/>
          </a:xfrm>
          <a:prstGeom prst="rect">
            <a:avLst/>
          </a:prstGeom>
          <a:noFill/>
          <a:ln/>
        </p:spPr>
        <p:txBody>
          <a:bodyPr wrap="square" lIns="0" tIns="0" rIns="0" bIns="0" rtlCol="0" anchor="ctr"/>
          <a:lstStyle/>
          <a:p>
            <a:pPr algn="l" indent="0" marL="0">
              <a:buNone/>
            </a:pPr>
            <a:r>
              <a:rPr lang="en-US" sz="750" i="1" dirty="0">
                <a:solidFill>
                  <a:srgbClr val="6A6A6A"/>
                </a:solidFill>
                <a:latin typeface="Calibri" pitchFamily="34" charset="0"/>
                <a:ea typeface="Calibri" pitchFamily="34" charset="-122"/>
                <a:cs typeface="Calibri" pitchFamily="34" charset="-120"/>
              </a:rPr>
              <a:t>Base map: Natural Earth (110 m). Distances computed from published coordinates; the figures are schematic and are not official hazard maps.</a:t>
            </a:r>
            <a:endParaRPr lang="en-US" sz="750" dirty="0"/>
          </a:p>
        </p:txBody>
      </p:sp>
      <p:sp>
        <p:nvSpPr>
          <p:cNvPr id="18" name="Shape 12"/>
          <p:cNvSpPr/>
          <p:nvPr/>
        </p:nvSpPr>
        <p:spPr>
          <a:xfrm>
            <a:off x="0" y="4791456"/>
            <a:ext cx="12188952" cy="1371600"/>
          </a:xfrm>
          <a:prstGeom prst="rect">
            <a:avLst/>
          </a:prstGeom>
          <a:solidFill>
            <a:srgbClr val="262626"/>
          </a:solidFill>
          <a:ln w="12700">
            <a:solidFill>
              <a:srgbClr val="333333"/>
            </a:solidFill>
            <a:prstDash val="solid"/>
          </a:ln>
        </p:spPr>
      </p:sp>
      <p:sp>
        <p:nvSpPr>
          <p:cNvPr id="19" name="Text 13"/>
          <p:cNvSpPr/>
          <p:nvPr/>
        </p:nvSpPr>
        <p:spPr>
          <a:xfrm>
            <a:off x="457200" y="4873752"/>
            <a:ext cx="11274552" cy="1207008"/>
          </a:xfrm>
          <a:prstGeom prst="rect">
            <a:avLst/>
          </a:prstGeom>
          <a:noFill/>
          <a:ln/>
        </p:spPr>
        <p:txBody>
          <a:bodyPr wrap="square" lIns="38100" tIns="38100" rIns="38100" bIns="38100" rtlCol="0" anchor="t"/>
          <a:lstStyle/>
          <a:p>
            <a:pPr algn="l" indent="0" marL="0">
              <a:buNone/>
            </a:pPr>
            <a:r>
              <a:rPr lang="en-US" sz="1150" b="1" dirty="0">
                <a:solidFill>
                  <a:srgbClr val="FFC000"/>
                </a:solidFill>
                <a:latin typeface="Calibri" pitchFamily="34" charset="0"/>
                <a:ea typeface="Calibri" pitchFamily="34" charset="-122"/>
                <a:cs typeface="Calibri" pitchFamily="34" charset="-120"/>
              </a:rPr>
              <a:t>Overview   </a:t>
            </a:r>
            <a:pPr algn="l" indent="0" marL="0">
              <a:buNone/>
            </a:pPr>
            <a:r>
              <a:rPr lang="en-US" sz="980" dirty="0">
                <a:solidFill>
                  <a:srgbClr val="FFFFFF"/>
                </a:solidFill>
                <a:latin typeface="Calibri" pitchFamily="34" charset="0"/>
                <a:ea typeface="Calibri" pitchFamily="34" charset="-122"/>
                <a:cs typeface="Calibri" pitchFamily="34" charset="-120"/>
              </a:rPr>
              <a:t>At 07:34 local time (12:34 UTC) on 10 August 2026, an Mww 7.4 earthquake struck western Colombia with its epicentre 5 km east of San José del Palmar in Chocó Department, at a depth of about 107 km (USGS). The event was an intermediate-depth, strike-slip rupture inside the subducting Nazca slab; because of its depth, strong shaking (MMI VI-VII) was spread over a wide area of the Andean Coffee Region rather than concentrated near the epicentre, and about 10.5 million people were exposed to it. The SGC describes it as the largest-magnitude earthquake recorded in Colombia in the past decade. As of 17:00 COT on 10 August the Government reported 111 deaths and 87 injured, more than 1,600 buildings damaged (1,575 homes damaged, 37 destroyed, 61 buildings collapsed), together with damage to 18 health facilities, 52 educational facilities, 18 major roads and six regional airports. The passenger terminal of Matecaña International Airport in Pereira partially collapsed, a tower of the neo-Gothic cathedral in Manizales fell onto the nave, and about 30% of the University Hospital in Cali collapsed. The President declared a national disaster, set up a Unified Command Post in Chocó and deployed four USAR teams and the armed forces. There was no tsunami. All figures are preliminary and are expected to change as assessment proceeds.</a:t>
            </a:r>
            <a:endParaRPr lang="en-US" sz="1150" dirty="0"/>
          </a:p>
        </p:txBody>
      </p:sp>
      <p:sp>
        <p:nvSpPr>
          <p:cNvPr id="20" name="Text 1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Servicio Geológico Colombiano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endParaRPr lang="en-US" sz="850" dirty="0"/>
          </a:p>
        </p:txBody>
      </p:sp>
      <p:sp>
        <p:nvSpPr>
          <p:cNvPr id="21" name="Shape 15"/>
          <p:cNvSpPr/>
          <p:nvPr/>
        </p:nvSpPr>
        <p:spPr>
          <a:xfrm>
            <a:off x="10268712" y="6510528"/>
            <a:ext cx="1554480" cy="274320"/>
          </a:xfrm>
          <a:prstGeom prst="rect">
            <a:avLst/>
          </a:prstGeom>
          <a:solidFill>
            <a:srgbClr val="E8A317"/>
          </a:solidFill>
          <a:ln w="12700">
            <a:solidFill>
              <a:srgbClr val="E8A317"/>
            </a:solidFill>
            <a:prstDash val="solid"/>
          </a:ln>
        </p:spPr>
      </p:sp>
      <p:sp>
        <p:nvSpPr>
          <p:cNvPr id="22" name="Text 1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23" name="Text 1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Seismotectonic Setting: an intraslab earthquake</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slab_section.png">    </p:cNvPr>
          <p:cNvPicPr>
            <a:picLocks noChangeAspect="1"/>
          </p:cNvPicPr>
          <p:nvPr/>
        </p:nvPicPr>
        <p:blipFill>
          <a:blip r:embed="rId2"/>
          <a:stretch>
            <a:fillRect/>
          </a:stretch>
        </p:blipFill>
        <p:spPr>
          <a:xfrm>
            <a:off x="365760" y="1040572"/>
            <a:ext cx="6858000" cy="2948056"/>
          </a:xfrm>
          <a:prstGeom prst="rect">
            <a:avLst/>
          </a:prstGeom>
        </p:spPr>
      </p:pic>
      <p:sp>
        <p:nvSpPr>
          <p:cNvPr id="5" name="Text 1"/>
          <p:cNvSpPr/>
          <p:nvPr/>
        </p:nvSpPr>
        <p:spPr>
          <a:xfrm>
            <a:off x="365760" y="4023360"/>
            <a:ext cx="6858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Schematic cross-section (ADRC)</a:t>
            </a:r>
            <a:endParaRPr lang="en-US" sz="800" dirty="0"/>
          </a:p>
        </p:txBody>
      </p:sp>
      <p:sp>
        <p:nvSpPr>
          <p:cNvPr id="6" name="Text 2"/>
          <p:cNvSpPr/>
          <p:nvPr/>
        </p:nvSpPr>
        <p:spPr>
          <a:xfrm>
            <a:off x="365760" y="4315968"/>
            <a:ext cx="6858000" cy="1828800"/>
          </a:xfrm>
          <a:prstGeom prst="rect">
            <a:avLst/>
          </a:prstGeom>
          <a:noFill/>
          <a:ln/>
        </p:spPr>
        <p:txBody>
          <a:bodyPr wrap="square" lIns="50800" tIns="50800" rIns="50800" bIns="5080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Colombia lies at the junction of the Nazca, Caribbean and South America plates. Off the Pacific coast the Nazca plate subducts eastward beneath South America at roughly 50-60 mm/yr, and the descending slab reaches intermediate depths (70-300 km) beneath the Western and Central Cordilleras. This event ruptured inside that slab at about 107 km depth, which is why the shaking was felt over hundreds of kilometres - as far as Bogotá, Quito and Panamá City - while surface faulting and tsunami generation were absent. Intermediate-depth events radiate high-frequency energy efficiently and attenuate slowly, so damage tends to be distributed across many cities rather than concentrated in a narrow epicentral zone.</a:t>
            </a:r>
            <a:endParaRPr lang="en-US" sz="1050" dirty="0"/>
          </a:p>
        </p:txBody>
      </p:sp>
      <p:sp>
        <p:nvSpPr>
          <p:cNvPr id="7" name="Text 3"/>
          <p:cNvSpPr/>
          <p:nvPr/>
        </p:nvSpPr>
        <p:spPr>
          <a:xfrm>
            <a:off x="7406640" y="1024128"/>
            <a:ext cx="4389120" cy="5120640"/>
          </a:xfrm>
          <a:prstGeom prst="rect">
            <a:avLst/>
          </a:prstGeom>
          <a:noFill/>
          <a:ln/>
        </p:spPr>
        <p:txBody>
          <a:bodyPr wrap="square" lIns="50800" tIns="50800" rIns="50800" bIns="50800" rtlCol="0" anchor="t"/>
          <a:lstStyle/>
          <a:p>
            <a:pPr algn="l" marL="342900" indent="-342900">
              <a:buSzPct val="100000"/>
              <a:buChar char="•"/>
            </a:pPr>
            <a:r>
              <a:rPr lang="en-US" sz="10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150" dirty="0">
                <a:solidFill>
                  <a:srgbClr val="222222"/>
                </a:solidFill>
                <a:latin typeface="Calibri" pitchFamily="34" charset="0"/>
                <a:ea typeface="Calibri" pitchFamily="34" charset="-122"/>
                <a:cs typeface="Calibri" pitchFamily="34" charset="-120"/>
              </a:rPr>
              <a:t>Depth about 107 km (USGS): an intraslab event, not a plate-interface megathrust.</a:t>
            </a:r>
            <a:endParaRPr lang="en-US" sz="1050" dirty="0"/>
          </a:p>
          <a:p>
            <a:pPr algn="l" marL="342900" indent="-342900">
              <a:buSzPct val="100000"/>
              <a:buChar char="•"/>
            </a:pPr>
            <a:r>
              <a:rPr lang="en-US" sz="10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150" dirty="0">
                <a:solidFill>
                  <a:srgbClr val="222222"/>
                </a:solidFill>
                <a:latin typeface="Calibri" pitchFamily="34" charset="0"/>
                <a:ea typeface="Calibri" pitchFamily="34" charset="-122"/>
                <a:cs typeface="Calibri" pitchFamily="34" charset="-120"/>
              </a:rPr>
              <a:t>Strike-slip mechanism within the descending Nazca slab (USGS tectonic summary).</a:t>
            </a:r>
            <a:endParaRPr lang="en-US" sz="1050" dirty="0"/>
          </a:p>
          <a:p>
            <a:pPr algn="l" marL="342900" indent="-342900">
              <a:buSzPct val="100000"/>
              <a:buChar char="•"/>
            </a:pPr>
            <a:r>
              <a:rPr lang="en-US" sz="10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150" dirty="0">
                <a:solidFill>
                  <a:srgbClr val="222222"/>
                </a:solidFill>
                <a:latin typeface="Calibri" pitchFamily="34" charset="0"/>
                <a:ea typeface="Calibri" pitchFamily="34" charset="-122"/>
                <a:cs typeface="Calibri" pitchFamily="34" charset="-120"/>
              </a:rPr>
              <a:t>Maximum shaking MMI VII (Very strong); about 10.5 million people exposed to MMI VI-VII.</a:t>
            </a:r>
            <a:endParaRPr lang="en-US" sz="1050" dirty="0"/>
          </a:p>
          <a:p>
            <a:pPr algn="l" marL="342900" indent="-342900">
              <a:buSzPct val="100000"/>
              <a:buChar char="•"/>
            </a:pPr>
            <a:r>
              <a:rPr lang="en-US" sz="10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150" dirty="0">
                <a:solidFill>
                  <a:srgbClr val="222222"/>
                </a:solidFill>
                <a:latin typeface="Calibri" pitchFamily="34" charset="0"/>
                <a:ea typeface="Calibri" pitchFamily="34" charset="-122"/>
                <a:cs typeface="Calibri" pitchFamily="34" charset="-120"/>
              </a:rPr>
              <a:t>USGS PAGER Orange alert: estimated fatalities of the order of 300 and estimated economic loss of the order of USD 880 million (model estimates, not observations).</a:t>
            </a:r>
            <a:endParaRPr lang="en-US" sz="1050" dirty="0"/>
          </a:p>
          <a:p>
            <a:pPr algn="l" marL="342900" indent="-342900">
              <a:buSzPct val="100000"/>
              <a:buChar char="•"/>
            </a:pPr>
            <a:r>
              <a:rPr lang="en-US" sz="10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150" dirty="0">
                <a:solidFill>
                  <a:srgbClr val="222222"/>
                </a:solidFill>
                <a:latin typeface="Calibri" pitchFamily="34" charset="0"/>
                <a:ea typeface="Calibri" pitchFamily="34" charset="-122"/>
                <a:cs typeface="Calibri" pitchFamily="34" charset="-120"/>
              </a:rPr>
              <a:t>The SGC assesses this as the largest-magnitude earthquake recorded in Colombia in the past decade.</a:t>
            </a:r>
            <a:endParaRPr lang="en-US" sz="1050" dirty="0"/>
          </a:p>
          <a:p>
            <a:pPr algn="l" marL="342900" indent="-342900">
              <a:buSzPct val="100000"/>
              <a:buChar char="•"/>
            </a:pPr>
            <a:r>
              <a:rPr lang="en-US" sz="1050" b="1" dirty="0">
                <a:solidFill>
                  <a:srgbClr val="B8860B"/>
                </a:solidFill>
                <a:latin typeface="Calibri" pitchFamily="34" charset="0"/>
                <a:ea typeface="Calibri" pitchFamily="34" charset="-122"/>
                <a:cs typeface="Calibri" pitchFamily="34" charset="-120"/>
              </a:rPr>
              <a:t>[Media] </a:t>
            </a:r>
            <a:pPr algn="l" indent="0" marL="0">
              <a:spcAft>
                <a:spcPts val="500"/>
              </a:spcAft>
              <a:buNone/>
            </a:pPr>
            <a:r>
              <a:rPr lang="en-US" sz="1150" dirty="0">
                <a:solidFill>
                  <a:srgbClr val="222222"/>
                </a:solidFill>
                <a:latin typeface="Calibri" pitchFamily="34" charset="0"/>
                <a:ea typeface="Calibri" pitchFamily="34" charset="-122"/>
                <a:cs typeface="Calibri" pitchFamily="34" charset="-120"/>
              </a:rPr>
              <a:t>Shaking was reported as unusually long in duration in cities far from the epicentre - a characteristic of deep events recorded on soft valley sediments.</a:t>
            </a:r>
            <a:endParaRPr lang="en-US" sz="1050" dirty="0"/>
          </a:p>
        </p:txBody>
      </p:sp>
      <p:sp>
        <p:nvSpPr>
          <p:cNvPr id="8"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Servicio Geológico Colombiano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GDACS - Orange earthquake alert, Colombia, 10 Aug 2026</a:t>
            </a:r>
            <a:endParaRPr lang="en-US" sz="850" dirty="0"/>
          </a:p>
        </p:txBody>
      </p:sp>
      <p:sp>
        <p:nvSpPr>
          <p:cNvPr id="9"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1"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Overview of the Earthquake &amp; Response Measures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69264"/>
            <a:ext cx="11430000" cy="329184"/>
          </a:xfrm>
          <a:prstGeom prst="rect">
            <a:avLst/>
          </a:prstGeom>
          <a:noFill/>
          <a:ln/>
        </p:spPr>
        <p:txBody>
          <a:bodyPr wrap="square" lIns="25400" tIns="25400" rIns="25400" bIns="25400" rtlCol="0" anchor="ctr"/>
          <a:lstStyle/>
          <a:p>
            <a:pPr algn="l" indent="0" marL="0">
              <a:buNone/>
            </a:pPr>
            <a:r>
              <a:rPr lang="en-US" sz="1150" b="1" dirty="0">
                <a:solidFill>
                  <a:srgbClr val="1F3864"/>
                </a:solidFill>
                <a:latin typeface="Calibri" pitchFamily="34" charset="0"/>
                <a:ea typeface="Calibri" pitchFamily="34" charset="-122"/>
                <a:cs typeface="Calibri" pitchFamily="34" charset="-120"/>
              </a:rPr>
              <a:t>10 Aug 2026, 07:34 COT (UTC-5)  (10 Aug 2026, 12:34 UTC / 10 Aug 2026, 21:34 JST)    |    Mww 7.4    |    depth 107 km    |    MMI VII (Very strong) - USGS ShakeMap</a:t>
            </a:r>
            <a:endParaRPr lang="en-US" sz="1150" dirty="0"/>
          </a:p>
        </p:txBody>
      </p:sp>
      <p:sp>
        <p:nvSpPr>
          <p:cNvPr id="5" name="Text 2"/>
          <p:cNvSpPr/>
          <p:nvPr/>
        </p:nvSpPr>
        <p:spPr>
          <a:xfrm>
            <a:off x="365760" y="1280160"/>
            <a:ext cx="11430000" cy="274320"/>
          </a:xfrm>
          <a:prstGeom prst="rect">
            <a:avLst/>
          </a:prstGeom>
          <a:noFill/>
          <a:ln/>
        </p:spPr>
        <p:txBody>
          <a:bodyPr wrap="square" lIns="25400" tIns="25400" rIns="25400" bIns="25400" rtlCol="0" anchor="ctr"/>
          <a:lstStyle/>
          <a:p>
            <a:pPr indent="0" marL="0">
              <a:buNone/>
            </a:pPr>
            <a:r>
              <a:rPr lang="en-US" sz="950" i="1" dirty="0">
                <a:solidFill>
                  <a:srgbClr val="6A6A6A"/>
                </a:solidFill>
                <a:latin typeface="Calibri" pitchFamily="34" charset="0"/>
                <a:ea typeface="Calibri" pitchFamily="34" charset="-122"/>
                <a:cs typeface="Calibri" pitchFamily="34" charset="-120"/>
              </a:rPr>
              <a:t>Figures as of 10 Aug 2026, 17:00 COT (11 Aug 07:00 JST), approx. 9.5 hours after the earthquake. All figures are preliminary.</a:t>
            </a:r>
            <a:endParaRPr lang="en-US" sz="950" dirty="0"/>
          </a:p>
        </p:txBody>
      </p:sp>
      <p:sp>
        <p:nvSpPr>
          <p:cNvPr id="6" name="Text 3"/>
          <p:cNvSpPr/>
          <p:nvPr/>
        </p:nvSpPr>
        <p:spPr>
          <a:xfrm>
            <a:off x="365760" y="1627632"/>
            <a:ext cx="11430000" cy="4480560"/>
          </a:xfrm>
          <a:prstGeom prst="rect">
            <a:avLst/>
          </a:prstGeom>
          <a:noFill/>
          <a:ln/>
        </p:spPr>
        <p:txBody>
          <a:bodyPr wrap="square" lIns="50800" tIns="50800" rIns="50800" bIns="50800" rtlCol="0" anchor="t"/>
          <a:lstStyle/>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The Government declared a national disaster (desastre nacional), enabling extraordinary mobilisation and coordination of the response.</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President Abelardo de la Espriella - in office for three days - ordered a Unified Command Post (PMU) in Chocó to coordinate the emergency, and travelled to Pereira, one of the worst-hit cities.</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The National Unit for Disaster Risk Management (UNGRD) activated the national system, verified damage with departmental and municipal authorities, and channelled offers of assistance together with the Ministry of Foreign Affairs.</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Four USAR (urban search and rescue) groups were deployed from Bogotá, Envigado, Yopal and Medellín to reinforce search and rescue.</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Soldiers were deployed to the affected departments for search, rescue and route clearance.</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Civil aviation suspended flights at Pereira, Manizales, Quibdó, Armenia, Cartago and Buenaventura while runways and terminals were inspected.</a:t>
            </a:r>
            <a:endParaRPr lang="en-US" sz="1250" dirty="0"/>
          </a:p>
          <a:p>
            <a:pPr algn="l" marL="342900" indent="-342900">
              <a:buSzPct val="100000"/>
              <a:buChar char="•"/>
            </a:pPr>
            <a:r>
              <a:rPr lang="en-US" sz="1250" b="1" dirty="0">
                <a:solidFill>
                  <a:srgbClr val="B8860B"/>
                </a:solidFill>
                <a:latin typeface="Calibri" pitchFamily="34" charset="0"/>
                <a:ea typeface="Calibri" pitchFamily="34" charset="-122"/>
                <a:cs typeface="Calibri" pitchFamily="34" charset="-120"/>
              </a:rPr>
              <a:t>[Media]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Damaged buildings, power outages and communications disruption are slowing assessment in parts of Chocó closest to the epicentre.</a:t>
            </a:r>
            <a:endParaRPr lang="en-US" sz="1250" dirty="0"/>
          </a:p>
          <a:p>
            <a:pPr algn="l" marL="342900" indent="-342900">
              <a:buSzPct val="100000"/>
              <a:buChar char="•"/>
            </a:pPr>
            <a:r>
              <a:rPr lang="en-US" sz="1250" b="1" dirty="0">
                <a:solidFill>
                  <a:srgbClr val="888888"/>
                </a:solidFill>
                <a:latin typeface="Calibri" pitchFamily="34" charset="0"/>
                <a:ea typeface="Calibri" pitchFamily="34" charset="-122"/>
                <a:cs typeface="Calibri" pitchFamily="34" charset="-120"/>
              </a:rPr>
              <a:t>[TBC]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A GLIDE number for this event had not been confirmed at the time of writing; it will be added once issued.</a:t>
            </a:r>
            <a:endParaRPr lang="en-US" sz="12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 Government declares national disaster</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France 24 - Colombia declares national emergency as quake toll hits 111</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the Response (10 August) (1/2)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Times are Colombia time (COT, UTC-5). The earthquake occurred at 07:34 COT = 21:34 JST on 10 August.</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188720"/>
                <a:gridCol w="8412480"/>
                <a:gridCol w="1828800"/>
              </a:tblGrid>
              <a:tr h="62179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07:34</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Mww 7.4 earthquake, epicentre 5 km E of San José del Palmar (Chocó), depth approx. 107 km. Felt in Bogotá, Cali, Medellín, and in Ecuador, Panama and Venezuela.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USGS / 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07:40s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SGC issues a first bulletin (initially M6.6, depth 79 km), later revised to M7.4; damage-assessment protocols activated.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Morning</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UNGRD reports first damage indications in 9 municipalities of Chocó, 8 of Caldas, 2 of Valle del Cauca and 2 of Risaralda, plus localities in Quindío.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Morning</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Cali reports collapsed structures at 12 critical points with people trapped; part of the University Hospital collapses.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Mayor of Cali</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Morning</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Manizales reports 17 buildings collapsed and 19 partially collapsed; a tower of the neo-Gothic cathedral falls onto the nave. Residents asked to stay outdoors because of aftershocks.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Mayor of Manizales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Morning</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Passenger terminal of Matecaña International Airport (Pereira) partially collapses; flights suspended at six regional airports.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Aerocivil / 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Daytime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National disaster declared; Unified Command Post established in Chocó; armed forces deployed.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Government</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Live updates: at least 111 dead</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 First official assessment: widespread structural damage</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Chronology of the Response (10 August) (2/2)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Times are Colombia time (COT, UTC-5). The earthquake occurred at 07:34 COT = 21:34 JST on 10 August.</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188720"/>
                <a:gridCol w="8412480"/>
                <a:gridCol w="1828800"/>
              </a:tblGrid>
              <a:tr h="62179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Daytime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Four USAR teams deployed from Bogotá, Envigado, Yopal and Medellín.</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Daytime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More than 20 aftershocks recorded; the largest widely felt aftershock is M4.8.</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Daytime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President travels to Pereira to lead the response on the ground.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Presidency</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Afternoon</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First national damage report: 111 deaths, 87 injured; 1,575 homes damaged, 37 destroyed, 61 buildings collapsed; 18 health facilities, 52 educational facilities, 17 community facilities, 18 major roads and 6 regional airports damaged.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Presidency / 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Afternoon</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Ecuador mobilises a 47-person USAR team with canine units; Mexico and other governments offer assistance, to be channelled through the Foreign Ministry and UNGRD.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International 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Same day</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Activation of the International Charter 'Space and Major Disasters' and mobilisation of the Copernicus Emergency Management Service are reported; details being confirmed.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88888"/>
                          </a:solidFill>
                          <a:latin typeface="Calibri" pitchFamily="34" charset="0"/>
                          <a:ea typeface="Calibri" pitchFamily="34" charset="-122"/>
                          <a:cs typeface="Calibri" pitchFamily="34" charset="-120"/>
                        </a:rPr>
                        <a:t>Charter / Copernicus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Live updates: at least 111 dead</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 First official assessment: widespread structural damage</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Affected Departments &amp; Cities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locator_epicentre.png">    </p:cNvPr>
          <p:cNvPicPr>
            <a:picLocks noChangeAspect="1"/>
          </p:cNvPicPr>
          <p:nvPr/>
        </p:nvPicPr>
        <p:blipFill>
          <a:blip r:embed="rId2"/>
          <a:stretch>
            <a:fillRect/>
          </a:stretch>
        </p:blipFill>
        <p:spPr>
          <a:xfrm>
            <a:off x="601085" y="1024128"/>
            <a:ext cx="4558549" cy="3803904"/>
          </a:xfrm>
          <a:prstGeom prst="rect">
            <a:avLst/>
          </a:prstGeom>
        </p:spPr>
      </p:pic>
      <p:sp>
        <p:nvSpPr>
          <p:cNvPr id="5" name="Text 1"/>
          <p:cNvSpPr/>
          <p:nvPr/>
        </p:nvSpPr>
        <p:spPr>
          <a:xfrm>
            <a:off x="365760" y="4846320"/>
            <a:ext cx="50292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Epicentral distances (ADRC)</a:t>
            </a:r>
            <a:endParaRPr lang="en-US" sz="800" dirty="0"/>
          </a:p>
        </p:txBody>
      </p:sp>
      <p:sp>
        <p:nvSpPr>
          <p:cNvPr id="6" name="Shape 2"/>
          <p:cNvSpPr/>
          <p:nvPr/>
        </p:nvSpPr>
        <p:spPr>
          <a:xfrm>
            <a:off x="365760" y="5175504"/>
            <a:ext cx="5029200" cy="914400"/>
          </a:xfrm>
          <a:prstGeom prst="roundRect">
            <a:avLst>
              <a:gd name="adj" fmla="val 5000"/>
            </a:avLst>
          </a:prstGeom>
          <a:solidFill>
            <a:srgbClr val="FCE9DC"/>
          </a:solidFill>
          <a:ln w="12700">
            <a:solidFill>
              <a:srgbClr val="E8A317"/>
            </a:solidFill>
            <a:prstDash val="solid"/>
          </a:ln>
        </p:spPr>
      </p:sp>
      <p:sp>
        <p:nvSpPr>
          <p:cNvPr id="7" name="Text 3"/>
          <p:cNvSpPr/>
          <p:nvPr/>
        </p:nvSpPr>
        <p:spPr>
          <a:xfrm>
            <a:off x="530352" y="5230368"/>
            <a:ext cx="4700016" cy="80467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Why damage is dispersed
</a:t>
            </a:r>
            <a:pPr algn="l" indent="0" marL="0">
              <a:buNone/>
            </a:pPr>
            <a:r>
              <a:rPr lang="en-US" sz="950" dirty="0">
                <a:solidFill>
                  <a:srgbClr val="7A2E0E"/>
                </a:solidFill>
                <a:latin typeface="Calibri" pitchFamily="34" charset="0"/>
                <a:ea typeface="Calibri" pitchFamily="34" charset="-122"/>
                <a:cs typeface="Calibri" pitchFamily="34" charset="-120"/>
              </a:rPr>
              <a:t>A 107 km-deep source puts every city in the region at a broadly similar hypocentral distance (108-200 km), so no single city sits in a narrow zone of extreme shaking.</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577840" y="1024128"/>
          <a:ext cx="6217920" cy="914400"/>
        </p:xfrm>
        <a:graphic>
          <a:graphicData uri="http://schemas.openxmlformats.org/drawingml/2006/table">
            <a:tbl>
              <a:tblPr/>
              <a:tblGrid>
                <a:gridCol w="1143000"/>
                <a:gridCol w="1234440"/>
                <a:gridCol w="658368"/>
                <a:gridCol w="457200"/>
                <a:gridCol w="2724912"/>
              </a:tblGrid>
              <a:tr h="62179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Department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Main cities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Dist.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MMI</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Situation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Chocó</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San José del Palmar / Quibdó</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4 / 102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VII / VI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Epicentral department; 9 municipalities with reported damage; access, power and communications constrained.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Risaralda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Pereira, Dosquebradas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55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Highest reported death toll (at least 40; the governor cites at least 42). Airport terminal partially collapsed.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Valle del Cauca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Cali, Cartago, Buenaventura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166 / 35 / 147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27 deaths reported; 25-30 collapsed structures at 12 critical points in Cali; University Hospital heavily damaged.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Caldas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Manizales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77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8 municipalities affected; 17 buildings collapsed and 19 partially collapsed in Manizales; cathedral tower fell onto the nave.</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Quindío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Armenia and other localities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70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Several localities reported affected; the same Coffee Region devastated by the 1999 Armenia earthquake.</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Antioquia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Medellín and surroundings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164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V-VI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One death reported (a 73-year-old); structural damage under inspection.</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Cundinamarca / Bogotá</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Bogotá, Nilo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235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IV-V</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Widely felt; buildings evacuated; structural damage to a school in Nilo reported.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9"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Colombia One - First official assessment: widespread structural damage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CBS News - Strong earthquake strikes western Colombia</a:t>
            </a:r>
            <a:endParaRPr lang="en-US" sz="850" dirty="0"/>
          </a:p>
        </p:txBody>
      </p:sp>
      <p:sp>
        <p:nvSpPr>
          <p:cNvPr id="10"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2"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Event Parameters &amp; Observed Shaking</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6675120" cy="914400"/>
        </p:xfrm>
        <a:graphic>
          <a:graphicData uri="http://schemas.openxmlformats.org/drawingml/2006/table">
            <a:tbl>
              <a:tblPr/>
              <a:tblGrid>
                <a:gridCol w="1828800"/>
                <a:gridCol w="4846320"/>
              </a:tblGrid>
              <a:tr h="40233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Origin time (local)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 Aug 2026, 07:34 COT (UTC-5)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Origin time (UTC / JST)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 Aug 2026, 12:34 UTC  /  10 Aug 2026, 21:34 JST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Epicentre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 km E of San José del Palmar, Chocó Department (approx. 280 km W of Bogotá)</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Coordinates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4.9031 N, 76.1885 W</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Magnitude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Mww 7.4 — USGS Mww 7.4. The SGC initially announced M6.6 at 79 km depth, then revised to M7.4; SGC depth is given as roughly 96-103 km.</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Depth</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107 km (USGS); approx. 96-103 km (SGC)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Mechanism</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Strike-slip faulting at intermediate depth, within the subducting Nazca slab (not on the shallow plate interface)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Max. shaking</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MMI VII (Very strong) - USGS ShakeMap</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Felt area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Felt across western and central Colombia including Bogotá, Cali and Medellín, and in Ecuador, Panama and Venezuela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Tsunami</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 tsunami. The event was inland and at intermediate depth; no tsunami warning was issued for the Pacific coast.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Alert level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USGS PAGER: Orange (significant casualties and damage likely). GDACS: Orange.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GLIDE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EQ-2026-XXXXXX-COL (TBC)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pic>
        <p:nvPicPr>
          <p:cNvPr id="5" name="Image 1" descr="/home/user/whatsmap/reports/colombia_eq_20260810/images/mmi_distance.png">    </p:cNvPr>
          <p:cNvPicPr>
            <a:picLocks noChangeAspect="1"/>
          </p:cNvPicPr>
          <p:nvPr/>
        </p:nvPicPr>
        <p:blipFill>
          <a:blip r:embed="rId2"/>
          <a:stretch>
            <a:fillRect/>
          </a:stretch>
        </p:blipFill>
        <p:spPr>
          <a:xfrm>
            <a:off x="7418059" y="1024128"/>
            <a:ext cx="4183403" cy="2432304"/>
          </a:xfrm>
          <a:prstGeom prst="rect">
            <a:avLst/>
          </a:prstGeom>
        </p:spPr>
      </p:pic>
      <p:sp>
        <p:nvSpPr>
          <p:cNvPr id="6" name="Text 1"/>
          <p:cNvSpPr/>
          <p:nvPr/>
        </p:nvSpPr>
        <p:spPr>
          <a:xfrm>
            <a:off x="7223760" y="3474720"/>
            <a:ext cx="4572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Distance vs. reported MMI (ADRC)</a:t>
            </a:r>
            <a:endParaRPr lang="en-US" sz="800" dirty="0"/>
          </a:p>
        </p:txBody>
      </p:sp>
      <p:graphicFrame>
        <p:nvGraphicFramePr>
          <p:cNvPr id="7" name="Chart 0" descr=""/>
          <p:cNvGraphicFramePr/>
          <p:nvPr/>
        </p:nvGraphicFramePr>
        <p:xfrm>
          <a:off x="7223760" y="3767328"/>
          <a:ext cx="4572000" cy="1920240"/>
        </p:xfrm>
        <a:graphic xmlns:a="http://schemas.openxmlformats.org/drawingml/2006/main">
          <a:graphicData uri="http://schemas.openxmlformats.org/drawingml/2006/chart">
            <c:chart xmlns:c="http://schemas.openxmlformats.org/drawingml/2006/chart" r:id="rId3"/>
          </a:graphicData>
        </a:graphic>
      </p:graphicFrame>
      <p:sp>
        <p:nvSpPr>
          <p:cNvPr id="8" name="Text 2"/>
          <p:cNvSpPr/>
          <p:nvPr/>
        </p:nvSpPr>
        <p:spPr>
          <a:xfrm>
            <a:off x="7223760" y="5705856"/>
            <a:ext cx="4572000" cy="512064"/>
          </a:xfrm>
          <a:prstGeom prst="rect">
            <a:avLst/>
          </a:prstGeom>
          <a:noFill/>
          <a:ln/>
        </p:spPr>
        <p:txBody>
          <a:bodyPr wrap="square" lIns="0" tIns="0" rIns="0" bIns="0" rtlCol="0" anchor="t"/>
          <a:lstStyle/>
          <a:p>
            <a:pPr indent="0" marL="0">
              <a:buNone/>
            </a:pPr>
            <a:r>
              <a:rPr lang="en-US" sz="750" dirty="0">
                <a:solidFill>
                  <a:srgbClr val="6A6A6A"/>
                </a:solidFill>
                <a:latin typeface="Calibri" pitchFamily="34" charset="0"/>
                <a:ea typeface="Calibri" pitchFamily="34" charset="-122"/>
                <a:cs typeface="Calibri" pitchFamily="34" charset="-120"/>
              </a:rPr>
              <a:t>USGS PAGER exposure estimates. About 10.5 million people experienced Strong to Very Strong shaking (MMI VI-VII) and an estimated 34 million people across four countries felt the earthquake. These are model estimates.</a:t>
            </a:r>
            <a:endParaRPr lang="en-US" sz="750" dirty="0"/>
          </a:p>
        </p:txBody>
      </p:sp>
      <p:sp>
        <p:nvSpPr>
          <p:cNvPr id="9"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GDACS - Orange earthquake alert, Colombia, 10 Aug 2026</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Infobae - SGC explains why the shaking lasted so long</a:t>
            </a:r>
            <a:endParaRPr lang="en-US" sz="850" dirty="0"/>
          </a:p>
        </p:txBody>
      </p:sp>
      <p:sp>
        <p:nvSpPr>
          <p:cNvPr id="10"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2"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Seismicity: Aftershocks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2377440"/>
                <a:gridCol w="1371600"/>
                <a:gridCol w="6583680"/>
                <a:gridCol w="1097280"/>
              </a:tblGrid>
              <a:tr h="51206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Magnitude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12064">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10 Aug, after 07:34</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M4.8</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Largest reported aftershock; widely felt</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12064">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10 Aug, after 07:34</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M2.8</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Reported alongside the M4.8 in early bulletins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12064">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10 Aug (to 17:00)</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20+ events</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SGC total count of recorded aftershocks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3017520"/>
            <a:ext cx="11430000" cy="1371600"/>
          </a:xfrm>
          <a:prstGeom prst="rect">
            <a:avLst/>
          </a:prstGeom>
          <a:noFill/>
          <a:ln/>
        </p:spPr>
        <p:txBody>
          <a:bodyPr wrap="square" lIns="50800" tIns="50800" rIns="50800" bIns="50800" rtlCol="0" anchor="t"/>
          <a:lstStyle/>
          <a:p>
            <a:pPr indent="0" marL="0">
              <a:buNone/>
            </a:pPr>
            <a:r>
              <a:rPr lang="en-US" sz="1100" dirty="0">
                <a:solidFill>
                  <a:srgbClr val="222222"/>
                </a:solidFill>
                <a:latin typeface="Calibri" pitchFamily="34" charset="0"/>
                <a:ea typeface="Calibri" pitchFamily="34" charset="-122"/>
                <a:cs typeface="Calibri" pitchFamily="34" charset="-120"/>
              </a:rPr>
              <a:t>The SGC reported more than 20 aftershocks in the hours after the mainshock; the largest widely felt aftershock was M4.8, with an M2.8 also reported. Aftershock sequences of intermediate-depth intraslab events are typically less productive than those of shallow crustal earthquakes, but strong aftershocks remain possible and already-damaged buildings are vulnerable to them.</a:t>
            </a:r>
            <a:endParaRPr lang="en-US" sz="1100" dirty="0"/>
          </a:p>
        </p:txBody>
      </p:sp>
      <p:sp>
        <p:nvSpPr>
          <p:cNvPr id="6" name="Shape 2"/>
          <p:cNvSpPr/>
          <p:nvPr/>
        </p:nvSpPr>
        <p:spPr>
          <a:xfrm>
            <a:off x="365760" y="4572000"/>
            <a:ext cx="11430000" cy="1463040"/>
          </a:xfrm>
          <a:prstGeom prst="roundRect">
            <a:avLst>
              <a:gd name="adj" fmla="val 3125"/>
            </a:avLst>
          </a:prstGeom>
          <a:solidFill>
            <a:srgbClr val="FCE9DC"/>
          </a:solidFill>
          <a:ln w="12700">
            <a:solidFill>
              <a:srgbClr val="E8A317"/>
            </a:solidFill>
            <a:prstDash val="solid"/>
          </a:ln>
        </p:spPr>
      </p:sp>
      <p:sp>
        <p:nvSpPr>
          <p:cNvPr id="7" name="Text 3"/>
          <p:cNvSpPr/>
          <p:nvPr/>
        </p:nvSpPr>
        <p:spPr>
          <a:xfrm>
            <a:off x="530352" y="4626864"/>
            <a:ext cx="11100816" cy="135331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Operational implication
</a:t>
            </a:r>
            <a:pPr algn="l" indent="0" marL="0">
              <a:buNone/>
            </a:pPr>
            <a:r>
              <a:rPr lang="en-US" sz="950" dirty="0">
                <a:solidFill>
                  <a:srgbClr val="7A2E0E"/>
                </a:solidFill>
                <a:latin typeface="Calibri" pitchFamily="34" charset="0"/>
                <a:ea typeface="Calibri" pitchFamily="34" charset="-122"/>
                <a:cs typeface="Calibri" pitchFamily="34" charset="-120"/>
              </a:rPr>
              <a:t>Buildings that survived the mainshock in a damaged state have lost capacity. Even moderate aftershocks can bring them down, so rapid habitability assessment before re-occupancy - and keeping people out of visibly damaged structures - matters as much as the aftershock statistics themselves.</a:t>
            </a:r>
            <a:endParaRPr lang="en-US" sz="1050" dirty="0"/>
          </a:p>
        </p:txBody>
      </p:sp>
      <p:sp>
        <p:nvSpPr>
          <p:cNvPr id="8"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Servicio Geológico Colombiano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endParaRPr lang="en-US" sz="850" dirty="0"/>
          </a:p>
        </p:txBody>
      </p:sp>
      <p:sp>
        <p:nvSpPr>
          <p:cNvPr id="9"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1"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Human Damage</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005840"/>
            <a:ext cx="3611880" cy="1143000"/>
          </a:xfrm>
          <a:prstGeom prst="roundRect">
            <a:avLst>
              <a:gd name="adj" fmla="val 4800"/>
            </a:avLst>
          </a:prstGeom>
          <a:solidFill>
            <a:srgbClr val="EAF2F8"/>
          </a:solidFill>
          <a:ln w="12700">
            <a:solidFill>
              <a:srgbClr val="D9D9D9"/>
            </a:solidFill>
            <a:prstDash val="solid"/>
          </a:ln>
        </p:spPr>
      </p:sp>
      <p:sp>
        <p:nvSpPr>
          <p:cNvPr id="5" name="Text 2"/>
          <p:cNvSpPr/>
          <p:nvPr/>
        </p:nvSpPr>
        <p:spPr>
          <a:xfrm>
            <a:off x="50292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Calibri" pitchFamily="34" charset="0"/>
                <a:ea typeface="Calibri" pitchFamily="34" charset="-122"/>
                <a:cs typeface="Calibri" pitchFamily="34" charset="-120"/>
              </a:rPr>
              <a:t>Deaths</a:t>
            </a:r>
            <a:endParaRPr lang="en-US" sz="1100" dirty="0"/>
          </a:p>
        </p:txBody>
      </p:sp>
      <p:sp>
        <p:nvSpPr>
          <p:cNvPr id="6" name="Text 3"/>
          <p:cNvSpPr/>
          <p:nvPr/>
        </p:nvSpPr>
        <p:spPr>
          <a:xfrm>
            <a:off x="502920" y="1335024"/>
            <a:ext cx="3337560" cy="731520"/>
          </a:xfrm>
          <a:prstGeom prst="rect">
            <a:avLst/>
          </a:prstGeom>
          <a:noFill/>
          <a:ln/>
        </p:spPr>
        <p:txBody>
          <a:bodyPr wrap="square" lIns="0" tIns="0" rIns="0" bIns="0" rtlCol="0" anchor="ctr"/>
          <a:lstStyle/>
          <a:p>
            <a:pPr indent="0" marL="0">
              <a:buNone/>
            </a:pPr>
            <a:r>
              <a:rPr lang="en-US" sz="3400" b="1" dirty="0">
                <a:solidFill>
                  <a:srgbClr val="C00000"/>
                </a:solidFill>
                <a:latin typeface="Cambria" pitchFamily="34" charset="0"/>
                <a:ea typeface="Cambria" pitchFamily="34" charset="-122"/>
                <a:cs typeface="Cambria" pitchFamily="34" charset="-120"/>
              </a:rPr>
              <a:t>111</a:t>
            </a:r>
            <a:endParaRPr lang="en-US" sz="3400" dirty="0"/>
          </a:p>
        </p:txBody>
      </p:sp>
      <p:sp>
        <p:nvSpPr>
          <p:cNvPr id="7" name="Shape 4"/>
          <p:cNvSpPr/>
          <p:nvPr/>
        </p:nvSpPr>
        <p:spPr>
          <a:xfrm>
            <a:off x="4206240" y="1005840"/>
            <a:ext cx="3611880" cy="1143000"/>
          </a:xfrm>
          <a:prstGeom prst="roundRect">
            <a:avLst>
              <a:gd name="adj" fmla="val 4800"/>
            </a:avLst>
          </a:prstGeom>
          <a:solidFill>
            <a:srgbClr val="EAF2F8"/>
          </a:solidFill>
          <a:ln w="12700">
            <a:solidFill>
              <a:srgbClr val="D9D9D9"/>
            </a:solidFill>
            <a:prstDash val="solid"/>
          </a:ln>
        </p:spPr>
      </p:sp>
      <p:sp>
        <p:nvSpPr>
          <p:cNvPr id="8" name="Text 5"/>
          <p:cNvSpPr/>
          <p:nvPr/>
        </p:nvSpPr>
        <p:spPr>
          <a:xfrm>
            <a:off x="434340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Calibri" pitchFamily="34" charset="0"/>
                <a:ea typeface="Calibri" pitchFamily="34" charset="-122"/>
                <a:cs typeface="Calibri" pitchFamily="34" charset="-120"/>
              </a:rPr>
              <a:t>Injured</a:t>
            </a:r>
            <a:endParaRPr lang="en-US" sz="1100" dirty="0"/>
          </a:p>
        </p:txBody>
      </p:sp>
      <p:sp>
        <p:nvSpPr>
          <p:cNvPr id="9" name="Text 6"/>
          <p:cNvSpPr/>
          <p:nvPr/>
        </p:nvSpPr>
        <p:spPr>
          <a:xfrm>
            <a:off x="4343400" y="1335024"/>
            <a:ext cx="3337560" cy="731520"/>
          </a:xfrm>
          <a:prstGeom prst="rect">
            <a:avLst/>
          </a:prstGeom>
          <a:noFill/>
          <a:ln/>
        </p:spPr>
        <p:txBody>
          <a:bodyPr wrap="square" lIns="0" tIns="0" rIns="0" bIns="0" rtlCol="0" anchor="ctr"/>
          <a:lstStyle/>
          <a:p>
            <a:pPr indent="0" marL="0">
              <a:buNone/>
            </a:pPr>
            <a:r>
              <a:rPr lang="en-US" sz="3400" b="1" dirty="0">
                <a:solidFill>
                  <a:srgbClr val="9A3B12"/>
                </a:solidFill>
                <a:latin typeface="Cambria" pitchFamily="34" charset="0"/>
                <a:ea typeface="Cambria" pitchFamily="34" charset="-122"/>
                <a:cs typeface="Cambria" pitchFamily="34" charset="-120"/>
              </a:rPr>
              <a:t>87</a:t>
            </a:r>
            <a:endParaRPr lang="en-US" sz="3400" dirty="0"/>
          </a:p>
        </p:txBody>
      </p:sp>
      <p:sp>
        <p:nvSpPr>
          <p:cNvPr id="10" name="Shape 7"/>
          <p:cNvSpPr/>
          <p:nvPr/>
        </p:nvSpPr>
        <p:spPr>
          <a:xfrm>
            <a:off x="8046720" y="1005840"/>
            <a:ext cx="3611880" cy="1143000"/>
          </a:xfrm>
          <a:prstGeom prst="roundRect">
            <a:avLst>
              <a:gd name="adj" fmla="val 4800"/>
            </a:avLst>
          </a:prstGeom>
          <a:solidFill>
            <a:srgbClr val="EAF2F8"/>
          </a:solidFill>
          <a:ln w="12700">
            <a:solidFill>
              <a:srgbClr val="D9D9D9"/>
            </a:solidFill>
            <a:prstDash val="solid"/>
          </a:ln>
        </p:spPr>
      </p:sp>
      <p:sp>
        <p:nvSpPr>
          <p:cNvPr id="11" name="Text 8"/>
          <p:cNvSpPr/>
          <p:nvPr/>
        </p:nvSpPr>
        <p:spPr>
          <a:xfrm>
            <a:off x="818388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Calibri" pitchFamily="34" charset="0"/>
                <a:ea typeface="Calibri" pitchFamily="34" charset="-122"/>
                <a:cs typeface="Calibri" pitchFamily="34" charset="-120"/>
              </a:rPr>
              <a:t>Buildings damaged</a:t>
            </a:r>
            <a:endParaRPr lang="en-US" sz="1100" dirty="0"/>
          </a:p>
        </p:txBody>
      </p:sp>
      <p:sp>
        <p:nvSpPr>
          <p:cNvPr id="12" name="Text 9"/>
          <p:cNvSpPr/>
          <p:nvPr/>
        </p:nvSpPr>
        <p:spPr>
          <a:xfrm>
            <a:off x="8183880" y="1335024"/>
            <a:ext cx="3337560" cy="731520"/>
          </a:xfrm>
          <a:prstGeom prst="rect">
            <a:avLst/>
          </a:prstGeom>
          <a:noFill/>
          <a:ln/>
        </p:spPr>
        <p:txBody>
          <a:bodyPr wrap="square" lIns="0" tIns="0" rIns="0" bIns="0" rtlCol="0" anchor="ctr"/>
          <a:lstStyle/>
          <a:p>
            <a:pPr indent="0" marL="0">
              <a:buNone/>
            </a:pPr>
            <a:r>
              <a:rPr lang="en-US" sz="3400" b="1" dirty="0">
                <a:solidFill>
                  <a:srgbClr val="1F3864"/>
                </a:solidFill>
                <a:latin typeface="Cambria" pitchFamily="34" charset="0"/>
                <a:ea typeface="Cambria" pitchFamily="34" charset="-122"/>
                <a:cs typeface="Cambria" pitchFamily="34" charset="-120"/>
              </a:rPr>
              <a:t>1,600+</a:t>
            </a:r>
            <a:endParaRPr lang="en-US" sz="3400" dirty="0"/>
          </a:p>
        </p:txBody>
      </p:sp>
      <p:graphicFrame>
        <p:nvGraphicFramePr>
          <p:cNvPr id="13" name="Chart 0" descr=""/>
          <p:cNvGraphicFramePr/>
          <p:nvPr/>
        </p:nvGraphicFramePr>
        <p:xfrm>
          <a:off x="365760" y="2377440"/>
          <a:ext cx="6035040" cy="2926080"/>
        </p:xfrm>
        <a:graphic xmlns:a="http://schemas.openxmlformats.org/drawingml/2006/main">
          <a:graphicData uri="http://schemas.openxmlformats.org/drawingml/2006/chart">
            <c:chart xmlns:c="http://schemas.openxmlformats.org/drawingml/2006/chart" r:id="rId2"/>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0" y="2377440"/>
          <a:ext cx="5212080" cy="914400"/>
        </p:xfrm>
        <a:graphic>
          <a:graphicData uri="http://schemas.openxmlformats.org/drawingml/2006/table">
            <a:tbl>
              <a:tblPr/>
              <a:tblGrid>
                <a:gridCol w="2194560"/>
                <a:gridCol w="731520"/>
                <a:gridCol w="228600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Department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Deaths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57200">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Risaralda (Pereira)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Governor cites at least 42</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57200">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Valle del Cauca (Cali)</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Chocó</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Epicentral department</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57200">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Caldas (Manizales)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Reported as 2, later 4</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Antioquia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73-year-old</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15" name="Shape 10"/>
          <p:cNvSpPr/>
          <p:nvPr/>
        </p:nvSpPr>
        <p:spPr>
          <a:xfrm>
            <a:off x="365760" y="5431536"/>
            <a:ext cx="11430000" cy="713232"/>
          </a:xfrm>
          <a:prstGeom prst="roundRect">
            <a:avLst>
              <a:gd name="adj" fmla="val 6410"/>
            </a:avLst>
          </a:prstGeom>
          <a:solidFill>
            <a:srgbClr val="FCE9DC"/>
          </a:solidFill>
          <a:ln w="12700">
            <a:solidFill>
              <a:srgbClr val="E8A317"/>
            </a:solidFill>
            <a:prstDash val="solid"/>
          </a:ln>
        </p:spPr>
      </p:sp>
      <p:sp>
        <p:nvSpPr>
          <p:cNvPr id="16" name="Text 11"/>
          <p:cNvSpPr/>
          <p:nvPr/>
        </p:nvSpPr>
        <p:spPr>
          <a:xfrm>
            <a:off x="530352" y="5486400"/>
            <a:ext cx="11100816" cy="603504"/>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Reading the numbers
</a:t>
            </a:r>
            <a:pPr algn="l" indent="0" marL="0">
              <a:buNone/>
            </a:pPr>
            <a:r>
              <a:rPr lang="en-US" sz="950" dirty="0">
                <a:solidFill>
                  <a:srgbClr val="7A2E0E"/>
                </a:solidFill>
                <a:latin typeface="Calibri" pitchFamily="34" charset="0"/>
                <a:ea typeface="Calibri" pitchFamily="34" charset="-122"/>
                <a:cs typeface="Calibri" pitchFamily="34" charset="-120"/>
              </a:rPr>
              <a:t>Departmental figures come from local authorities and are reported at different times; they do not yet add up to the national total of 111 and will be reconciled as verification proceeds.</a:t>
            </a:r>
            <a:endParaRPr lang="en-US" sz="1050" dirty="0"/>
          </a:p>
        </p:txBody>
      </p:sp>
      <p:sp>
        <p:nvSpPr>
          <p:cNvPr id="17" name="Text 1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France 24 - Colombia declares national emergency as quake toll hits 111</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Live updates: at least 111 dead</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CBS News - Strong earthquake strikes western Colombia</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NBC News - Deaths, injuries and collapsed buildings</a:t>
            </a:r>
            <a:endParaRPr lang="en-US" sz="850" dirty="0"/>
          </a:p>
        </p:txBody>
      </p:sp>
      <p:sp>
        <p:nvSpPr>
          <p:cNvPr id="18" name="Shape 13"/>
          <p:cNvSpPr/>
          <p:nvPr/>
        </p:nvSpPr>
        <p:spPr>
          <a:xfrm>
            <a:off x="10268712" y="6510528"/>
            <a:ext cx="1554480" cy="274320"/>
          </a:xfrm>
          <a:prstGeom prst="rect">
            <a:avLst/>
          </a:prstGeom>
          <a:solidFill>
            <a:srgbClr val="E8A317"/>
          </a:solidFill>
          <a:ln w="12700">
            <a:solidFill>
              <a:srgbClr val="E8A317"/>
            </a:solidFill>
            <a:prstDash val="solid"/>
          </a:ln>
        </p:spPr>
      </p:sp>
      <p:sp>
        <p:nvSpPr>
          <p:cNvPr id="19" name="Text 1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20" name="Text 1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Buildings, Services &amp; Lifelines (1/2)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All figures preliminary. Official (government) figures are primary; media-sourced items are labelled.</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394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Reported</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Deaths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Presidency / UNGRD, 10 Aug afternoon</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Injured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87</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Presidency / UNGRD, 10 Aug afternoon</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Missing / trapped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Not yet quantified; people were reported trapped under rubble in Cali, Pereira and Manizales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Local authorities (media)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Buildings damaged (total)</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More than 1,600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Presidency, 10 Aug</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Homes damaged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1,575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10 Aug</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Homes destroyed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37</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10 Aug</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Buildings collapsed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61 nationally; Cali 25-30 at 12 critical points, Manizales 17 collapsed + 19 partial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mayors of Cali and Manizales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Health facilities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18 damaged; 7 health institutions closed; about 30% of the University Hospital in Cali collapsed, including three floors (paediatrics, internal medicine, part of the neonatal unit)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Valle del Cauca government</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 First official assessment: widespread structural damage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Live updates: at least 111 dead</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Buildings, Services &amp; Lifelines (2/2)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All figures preliminary. Official (government) figures are primary; media-sourced items are labelled.</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394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Reported</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Educational facilities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52 damaged; schools evacuated across the affected departments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10 Aug</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Community facilities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17 damaged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10 Aug</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Roads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18 major roads and highways damaged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10 Aug</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Airports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6 regional airports damaged; Matecaña International (Pereira) passenger terminal partially collapsed; flights suspended at Pereira, Manizales, Quibdó, Armenia, Cartago and Buenaventura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civil aviation authority</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Cultural heritage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 tower of the neo-Gothic Cathedral of Manizales collapsed onto the nave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Mayor of Manizales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Lifelines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Power outages and communications disruption reported in areas near the epicentre; systematic figures not yet published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Media / humanitarian agencies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39496">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Displacement</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Thousands reported to have left their homes; shelter figures not yet published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Media / humanitarian agencies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 First official assessment: widespread structural damage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Live updates: at least 111 dead</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National Response</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4023360"/>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400" dirty="0">
                <a:solidFill>
                  <a:srgbClr val="222222"/>
                </a:solidFill>
                <a:latin typeface="Calibri" pitchFamily="34" charset="0"/>
                <a:ea typeface="Calibri" pitchFamily="34" charset="-122"/>
                <a:cs typeface="Calibri" pitchFamily="34" charset="-120"/>
              </a:rPr>
              <a:t>National disaster declaration activating the National Disaster Risk Management System (SNGRD) under Law 1523 of 2012.</a:t>
            </a:r>
            <a:endParaRPr lang="en-US" sz="1300" dirty="0"/>
          </a:p>
          <a:p>
            <a:pPr algn="l" marL="342900" indent="-342900">
              <a:buSzPct val="100000"/>
              <a:buChar char="•"/>
            </a:pPr>
            <a:r>
              <a:rPr lang="en-US" sz="13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400" dirty="0">
                <a:solidFill>
                  <a:srgbClr val="222222"/>
                </a:solidFill>
                <a:latin typeface="Calibri" pitchFamily="34" charset="0"/>
                <a:ea typeface="Calibri" pitchFamily="34" charset="-122"/>
                <a:cs typeface="Calibri" pitchFamily="34" charset="-120"/>
              </a:rPr>
              <a:t>Unified Command Post (PMU) established in Chocó; UNGRD coordinating with departmental and municipal risk-management councils.</a:t>
            </a:r>
            <a:endParaRPr lang="en-US" sz="1300" dirty="0"/>
          </a:p>
          <a:p>
            <a:pPr algn="l" marL="342900" indent="-342900">
              <a:buSzPct val="100000"/>
              <a:buChar char="•"/>
            </a:pPr>
            <a:r>
              <a:rPr lang="en-US" sz="13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400" dirty="0">
                <a:solidFill>
                  <a:srgbClr val="222222"/>
                </a:solidFill>
                <a:latin typeface="Calibri" pitchFamily="34" charset="0"/>
                <a:ea typeface="Calibri" pitchFamily="34" charset="-122"/>
                <a:cs typeface="Calibri" pitchFamily="34" charset="-120"/>
              </a:rPr>
              <a:t>Four USAR teams (Bogotá, Envigado, Yopal, Medellín) deployed for search and rescue in collapsed structures.</a:t>
            </a:r>
            <a:endParaRPr lang="en-US" sz="1300" dirty="0"/>
          </a:p>
          <a:p>
            <a:pPr algn="l" marL="342900" indent="-342900">
              <a:buSzPct val="100000"/>
              <a:buChar char="•"/>
            </a:pPr>
            <a:r>
              <a:rPr lang="en-US" sz="13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400" dirty="0">
                <a:solidFill>
                  <a:srgbClr val="222222"/>
                </a:solidFill>
                <a:latin typeface="Calibri" pitchFamily="34" charset="0"/>
                <a:ea typeface="Calibri" pitchFamily="34" charset="-122"/>
                <a:cs typeface="Calibri" pitchFamily="34" charset="-120"/>
              </a:rPr>
              <a:t>Armed forces deployed for search, rescue, route clearance and security in the affected departments.</a:t>
            </a:r>
            <a:endParaRPr lang="en-US" sz="1300" dirty="0"/>
          </a:p>
          <a:p>
            <a:pPr algn="l" marL="342900" indent="-342900">
              <a:buSzPct val="100000"/>
              <a:buChar char="•"/>
            </a:pPr>
            <a:r>
              <a:rPr lang="en-US" sz="13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400" dirty="0">
                <a:solidFill>
                  <a:srgbClr val="222222"/>
                </a:solidFill>
                <a:latin typeface="Calibri" pitchFamily="34" charset="0"/>
                <a:ea typeface="Calibri" pitchFamily="34" charset="-122"/>
                <a:cs typeface="Calibri" pitchFamily="34" charset="-120"/>
              </a:rPr>
              <a:t>Rapid structural inspection of hospitals, schools and airports; seven health institutions closed and six airports suspended pending assessment.</a:t>
            </a:r>
            <a:endParaRPr lang="en-US" sz="1300" dirty="0"/>
          </a:p>
          <a:p>
            <a:pPr algn="l" marL="342900" indent="-342900">
              <a:buSzPct val="100000"/>
              <a:buChar char="•"/>
            </a:pPr>
            <a:r>
              <a:rPr lang="en-US" sz="1300" b="1" dirty="0">
                <a:solidFill>
                  <a:srgbClr val="B8860B"/>
                </a:solidFill>
                <a:latin typeface="Calibri" pitchFamily="34" charset="0"/>
                <a:ea typeface="Calibri" pitchFamily="34" charset="-122"/>
                <a:cs typeface="Calibri" pitchFamily="34" charset="-120"/>
              </a:rPr>
              <a:t>[Media] </a:t>
            </a:r>
            <a:pPr algn="l" indent="0" marL="0">
              <a:spcAft>
                <a:spcPts val="500"/>
              </a:spcAft>
              <a:buNone/>
            </a:pPr>
            <a:r>
              <a:rPr lang="en-US" sz="1400" dirty="0">
                <a:solidFill>
                  <a:srgbClr val="222222"/>
                </a:solidFill>
                <a:latin typeface="Calibri" pitchFamily="34" charset="0"/>
                <a:ea typeface="Calibri" pitchFamily="34" charset="-122"/>
                <a:cs typeface="Calibri" pitchFamily="34" charset="-120"/>
              </a:rPr>
              <a:t>Patients transferred from the damaged University Hospital in Cali to other facilities; the city reported casualties concentrated at 12 critical collapse sites.</a:t>
            </a:r>
            <a:endParaRPr lang="en-US" sz="1300" dirty="0"/>
          </a:p>
        </p:txBody>
      </p:sp>
      <p:sp>
        <p:nvSpPr>
          <p:cNvPr id="5" name="Shape 2"/>
          <p:cNvSpPr/>
          <p:nvPr/>
        </p:nvSpPr>
        <p:spPr>
          <a:xfrm>
            <a:off x="365760" y="5212080"/>
            <a:ext cx="11430000" cy="914400"/>
          </a:xfrm>
          <a:prstGeom prst="roundRect">
            <a:avLst>
              <a:gd name="adj" fmla="val 5000"/>
            </a:avLst>
          </a:prstGeom>
          <a:solidFill>
            <a:srgbClr val="FCE9DC"/>
          </a:solidFill>
          <a:ln w="12700">
            <a:solidFill>
              <a:srgbClr val="E8A317"/>
            </a:solidFill>
            <a:prstDash val="solid"/>
          </a:ln>
        </p:spPr>
      </p:sp>
      <p:sp>
        <p:nvSpPr>
          <p:cNvPr id="6" name="Text 3"/>
          <p:cNvSpPr/>
          <p:nvPr/>
        </p:nvSpPr>
        <p:spPr>
          <a:xfrm>
            <a:off x="530352" y="5266944"/>
            <a:ext cx="11100816" cy="80467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Legal basis
</a:t>
            </a:r>
            <a:pPr algn="l" indent="0" marL="0">
              <a:buNone/>
            </a:pPr>
            <a:r>
              <a:rPr lang="en-US" sz="950" dirty="0">
                <a:solidFill>
                  <a:srgbClr val="7A2E0E"/>
                </a:solidFill>
                <a:latin typeface="Calibri" pitchFamily="34" charset="0"/>
                <a:ea typeface="Calibri" pitchFamily="34" charset="-122"/>
                <a:cs typeface="Calibri" pitchFamily="34" charset="-120"/>
              </a:rPr>
              <a:t>The national disaster declaration activates the SNGRD established by Law 1523 of 2012, allowing UNGRD to direct resources and the national disaster fund (FNGRD) to be used without the ordinary procurement timelines.</a:t>
            </a:r>
            <a:endParaRPr lang="en-US" sz="10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 Government declares national disaster</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PreventionWeb - Colombia PNGRD 2015-2030</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International Support</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457200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Ecuador mobilised a specialised USAR team of 47 personnel with canine units and self-sufficient equipment.</a:t>
            </a:r>
            <a:endParaRPr lang="en-US" sz="1200" dirty="0"/>
          </a:p>
          <a:p>
            <a:pPr algn="l" marL="342900" indent="-342900">
              <a:buSzPct val="100000"/>
              <a:buChar char="•"/>
            </a:pPr>
            <a:r>
              <a:rPr lang="en-US" sz="1200" b="1" dirty="0">
                <a:solidFill>
                  <a:srgbClr val="B8860B"/>
                </a:solidFill>
                <a:latin typeface="Calibri" pitchFamily="34" charset="0"/>
                <a:ea typeface="Calibri" pitchFamily="34" charset="-122"/>
                <a:cs typeface="Calibri" pitchFamily="34" charset="-120"/>
              </a:rPr>
              <a:t>[Media]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Mexico's President pledged 'all the support required'; several Latin American governments offered rescuers, canine teams and humanitarian aid, to be channelled through Colombia's Foreign Ministry and UNGRD.</a:t>
            </a:r>
            <a:endParaRPr lang="en-US" sz="1200" dirty="0"/>
          </a:p>
          <a:p>
            <a:pPr algn="l" marL="342900" indent="-342900">
              <a:buSzPct val="100000"/>
              <a:buChar char="•"/>
            </a:pPr>
            <a:r>
              <a:rPr lang="en-US" sz="1200" b="1" dirty="0">
                <a:solidFill>
                  <a:srgbClr val="888888"/>
                </a:solidFill>
                <a:latin typeface="Calibri" pitchFamily="34" charset="0"/>
                <a:ea typeface="Calibri" pitchFamily="34" charset="-122"/>
                <a:cs typeface="Calibri" pitchFamily="34" charset="-120"/>
              </a:rPr>
              <a:t>[TBC]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The International Charter 'Space and Major Disasters' is reported to have been activated for this earthquake, and the Copernicus Emergency Management Service mobilised, to provide satellite imagery for damage assessment. Activation numbers and value-added products are being confirmed.</a:t>
            </a:r>
            <a:endParaRPr lang="en-US" sz="1200" dirty="0"/>
          </a:p>
          <a:p>
            <a:pPr algn="l" marL="342900" indent="-342900">
              <a:buSzPct val="100000"/>
              <a:buChar char="•"/>
            </a:pPr>
            <a:r>
              <a:rPr lang="en-US" sz="1200" b="1" dirty="0">
                <a:solidFill>
                  <a:srgbClr val="B8860B"/>
                </a:solidFill>
                <a:latin typeface="Calibri" pitchFamily="34" charset="0"/>
                <a:ea typeface="Calibri" pitchFamily="34" charset="-122"/>
                <a:cs typeface="Calibri" pitchFamily="34" charset="-120"/>
              </a:rPr>
              <a:t>[Media]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International NGOs mobilising: Direct Relief and Americares (medical supplies), Save the Children (child protection and education), International Rescue Committee (assessment near the epicentre in Chocó), Convoy of Hope (relief goods).</a:t>
            </a:r>
            <a:endParaRPr lang="en-US" sz="1200" dirty="0"/>
          </a:p>
          <a:p>
            <a:pPr algn="l" marL="342900" indent="-342900">
              <a:buSzPct val="100000"/>
              <a:buChar char="•"/>
            </a:pPr>
            <a:r>
              <a:rPr lang="en-US" sz="1200" b="1" dirty="0">
                <a:solidFill>
                  <a:srgbClr val="888888"/>
                </a:solidFill>
                <a:latin typeface="Calibri" pitchFamily="34" charset="0"/>
                <a:ea typeface="Calibri" pitchFamily="34" charset="-122"/>
                <a:cs typeface="Calibri" pitchFamily="34" charset="-120"/>
              </a:rPr>
              <a:t>[TBC]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No announcement by the Government of Japan (message of condolence, emergency grant aid or JDR dispatch) had been identified at the time of writing.</a:t>
            </a:r>
            <a:endParaRPr lang="en-US" sz="1200" dirty="0"/>
          </a:p>
        </p:txBody>
      </p:sp>
      <p:sp>
        <p:nvSpPr>
          <p:cNvPr id="5" name="Shape 2"/>
          <p:cNvSpPr/>
          <p:nvPr/>
        </p:nvSpPr>
        <p:spPr>
          <a:xfrm>
            <a:off x="365760" y="5669280"/>
            <a:ext cx="11430000" cy="475488"/>
          </a:xfrm>
          <a:prstGeom prst="roundRect">
            <a:avLst>
              <a:gd name="adj" fmla="val 9615"/>
            </a:avLst>
          </a:prstGeom>
          <a:solidFill>
            <a:srgbClr val="FCE9DC"/>
          </a:solidFill>
          <a:ln w="12700">
            <a:solidFill>
              <a:srgbClr val="E8A317"/>
            </a:solidFill>
            <a:prstDash val="solid"/>
          </a:ln>
        </p:spPr>
      </p:sp>
      <p:sp>
        <p:nvSpPr>
          <p:cNvPr id="6" name="Text 3"/>
          <p:cNvSpPr/>
          <p:nvPr/>
        </p:nvSpPr>
        <p:spPr>
          <a:xfrm>
            <a:off x="530352" y="5724144"/>
            <a:ext cx="11100816" cy="36576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Channelling
</a:t>
            </a:r>
            <a:pPr algn="l" indent="0" marL="0">
              <a:buNone/>
            </a:pPr>
            <a:r>
              <a:rPr lang="en-US" sz="950" dirty="0">
                <a:solidFill>
                  <a:srgbClr val="7A2E0E"/>
                </a:solidFill>
                <a:latin typeface="Calibri" pitchFamily="34" charset="0"/>
                <a:ea typeface="Calibri" pitchFamily="34" charset="-122"/>
                <a:cs typeface="Calibri" pitchFamily="34" charset="-120"/>
              </a:rPr>
              <a:t>Offers of assistance are to be channelled through Colombia's Ministry of Foreign Affairs together with UNGRD.</a:t>
            </a:r>
            <a:endParaRPr lang="en-US" sz="10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International Charter 'Space and Major Disasters' - activations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Copernicus EMS - Rapid Mapping activations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ReliefWeb - Colombia</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Satellite &amp; Analytical Support</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2011680"/>
                <a:gridCol w="6309360"/>
                <a:gridCol w="2103120"/>
                <a:gridCol w="100584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Organisation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Contribution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International Charter</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Activation for the Colombia earthquake reported; wide-area optical/SAR imagery for damage assessment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Reported / confirming</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888888"/>
                          </a:solidFill>
                          <a:latin typeface="Calibri" pitchFamily="34" charset="0"/>
                          <a:ea typeface="Calibri" pitchFamily="34" charset="-122"/>
                          <a:cs typeface="Calibri" pitchFamily="34" charset="-120"/>
                        </a:rPr>
                        <a:t>TBC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Copernicus EMS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Rapid Mapping mobilised for the affected departments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Reported / confirming</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88888"/>
                          </a:solidFill>
                          <a:latin typeface="Calibri" pitchFamily="34" charset="0"/>
                          <a:ea typeface="Calibri" pitchFamily="34" charset="-122"/>
                          <a:cs typeface="Calibri" pitchFamily="34" charset="-120"/>
                        </a:rPr>
                        <a:t>TBC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USGS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ShakeMap, PAGER (Orange), finite-fault and aftershock catalogue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Published</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GDACS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Overall Orange alert; population exposure and impact estimates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Published</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SGC</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National seismic network: hypocentre, magnitude revision, aftershock bulletins, accelerographic records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Published</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Sentinel Asia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Not applicable - the mechanism covers the Asia-Pacific region; Colombia is served by the International Charter and Copernicus EMS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n/a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365760" y="5175504"/>
            <a:ext cx="11430000" cy="950976"/>
          </a:xfrm>
          <a:prstGeom prst="roundRect">
            <a:avLst>
              <a:gd name="adj" fmla="val 4808"/>
            </a:avLst>
          </a:prstGeom>
          <a:solidFill>
            <a:srgbClr val="FCE9DC"/>
          </a:solidFill>
          <a:ln w="12700">
            <a:solidFill>
              <a:srgbClr val="E8A317"/>
            </a:solidFill>
            <a:prstDash val="solid"/>
          </a:ln>
        </p:spPr>
      </p:sp>
      <p:sp>
        <p:nvSpPr>
          <p:cNvPr id="6" name="Text 2"/>
          <p:cNvSpPr/>
          <p:nvPr/>
        </p:nvSpPr>
        <p:spPr>
          <a:xfrm>
            <a:off x="530352" y="5230368"/>
            <a:ext cx="11100816" cy="841248"/>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Note on Sentinel Asia
</a:t>
            </a:r>
            <a:pPr algn="l" indent="0" marL="0">
              <a:buNone/>
            </a:pPr>
            <a:r>
              <a:rPr lang="en-US" sz="950" dirty="0">
                <a:solidFill>
                  <a:srgbClr val="7A2E0E"/>
                </a:solidFill>
                <a:latin typeface="Calibri" pitchFamily="34" charset="0"/>
                <a:ea typeface="Calibri" pitchFamily="34" charset="-122"/>
                <a:cs typeface="Calibri" pitchFamily="34" charset="-120"/>
              </a:rPr>
              <a:t>Sentinel Asia, for which ADRC serves as a joint project team member, covers the Asia-Pacific region. For a disaster in Colombia the equivalent international mechanisms are the International Charter 'Space and Major Disasters' and the Copernicus Emergency Management Service; UNOSAT/UNITAR rapid mapping is also commonly used in Latin America.</a:t>
            </a:r>
            <a:endParaRPr lang="en-US" sz="10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International Charter 'Space and Major Disasters' - activations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Copernicus EMS - Rapid Mapping activations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GDACS - Orange earthquake alert, Colombia, 10 Aug 2026</a:t>
            </a:r>
            <a:endParaRPr lang="en-US" sz="8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0"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Colombia's Disaster Risk Management System</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868680"/>
          </a:xfrm>
          <a:prstGeom prst="rect">
            <a:avLst/>
          </a:prstGeom>
          <a:noFill/>
          <a:ln/>
        </p:spPr>
        <p:txBody>
          <a:bodyPr wrap="square" lIns="50800" tIns="50800" rIns="50800" bIns="50800" rtlCol="0" anchor="t"/>
          <a:lstStyle/>
          <a:p>
            <a:pPr indent="0" marL="0">
              <a:buNone/>
            </a:pPr>
            <a:r>
              <a:rPr lang="en-US" sz="1150" dirty="0">
                <a:solidFill>
                  <a:srgbClr val="222222"/>
                </a:solidFill>
                <a:latin typeface="Calibri" pitchFamily="34" charset="0"/>
                <a:ea typeface="Calibri" pitchFamily="34" charset="-122"/>
                <a:cs typeface="Calibri" pitchFamily="34" charset="-120"/>
              </a:rPr>
              <a:t>Colombia rebuilt its disaster risk management framework after the 1985 Armero volcanic disaster and again after the 1999 Armenia earthquake. Law 1523 of 2012 created the National Disaster Risk Management System (SNGRD), led by the National Unit for Disaster Risk Management (UNGRD), which reports to the Presidency.</a:t>
            </a:r>
            <a:endParaRPr lang="en-US" sz="1150" dirty="0"/>
          </a:p>
        </p:txBody>
      </p:sp>
      <p:sp>
        <p:nvSpPr>
          <p:cNvPr id="5" name="Text 2"/>
          <p:cNvSpPr/>
          <p:nvPr/>
        </p:nvSpPr>
        <p:spPr>
          <a:xfrm>
            <a:off x="365760" y="1956816"/>
            <a:ext cx="11430000" cy="4114800"/>
          </a:xfrm>
          <a:prstGeom prst="rect">
            <a:avLst/>
          </a:prstGeom>
          <a:noFill/>
          <a:ln/>
        </p:spPr>
        <p:txBody>
          <a:bodyPr wrap="square" lIns="50800" tIns="50800" rIns="50800" bIns="50800" rtlCol="0" anchor="t"/>
          <a:lstStyle/>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Law 1523 of 2012 - national policy on disaster risk management; defines the SNGRD and makes risk management a mandatory duty of every public authority and, in part, of private actors.</a:t>
            </a:r>
            <a:endParaRPr lang="en-US" sz="1150" dirty="0"/>
          </a:p>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UNGRD - national coordinating agency under the Presidency; runs the national response, the disaster fund (FNGRD) and the national information system.</a:t>
            </a:r>
            <a:endParaRPr lang="en-US" sz="1150" dirty="0"/>
          </a:p>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Departmental and municipal risk management councils (CDGRD / CMGRD) carry out first response; UNGRD reinforces when local capacity is exceeded.</a:t>
            </a:r>
            <a:endParaRPr lang="en-US" sz="1150" dirty="0"/>
          </a:p>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PNGRD 2015-2030 - the national disaster risk management plan, aligned with the Sendai Framework.</a:t>
            </a:r>
            <a:endParaRPr lang="en-US" sz="1150" dirty="0"/>
          </a:p>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NSR-10 - the national seismic building code (in force since 2010, technical annexes updated since). Buildings predating modern code enforcement, and non-engineered masonry and earthen construction, remain the dominant source of risk.</a:t>
            </a:r>
            <a:endParaRPr lang="en-US" sz="1150" dirty="0"/>
          </a:p>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Seismic microzonation studies exist for major cities including Bogotá, Medellín, Cali, Pereira, Manizales and Armenia - a direct legacy of the 1999 earthquake.</a:t>
            </a:r>
            <a:endParaRPr lang="en-US" sz="1150" dirty="0"/>
          </a:p>
          <a:p>
            <a:pPr algn="l" marL="342900" indent="-342900">
              <a:spcAft>
                <a:spcPts val="500"/>
              </a:spcAft>
              <a:buSzPct val="100000"/>
              <a:buChar char="•"/>
            </a:pPr>
            <a:r>
              <a:rPr lang="en-US" sz="1150" dirty="0">
                <a:solidFill>
                  <a:srgbClr val="222222"/>
                </a:solidFill>
                <a:latin typeface="Calibri" pitchFamily="34" charset="0"/>
                <a:ea typeface="Calibri" pitchFamily="34" charset="-122"/>
                <a:cs typeface="Calibri" pitchFamily="34" charset="-120"/>
              </a:rPr>
              <a:t>The SGC operates the National Seismological Network and the national accelerograph network, and issues public bulletins within minutes.</a:t>
            </a:r>
            <a:endParaRPr lang="en-US" sz="1150" dirty="0"/>
          </a:p>
        </p:txBody>
      </p:sp>
      <p:sp>
        <p:nvSpPr>
          <p:cNvPr id="6"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UN-SPIDER - UNGRD of Colombia</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PreventionWeb - Colombia PNGRD 2015-2030</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GEM - Seismic regulations for Colombia (NSR-10)</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OECD - Risk governance scan of Colombia</a:t>
            </a:r>
            <a:endParaRPr lang="en-US" sz="85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9"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The 1999 Armenia (Quindío) Earthquake &amp; Recovery</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5852160" cy="1783080"/>
          </a:xfrm>
          <a:prstGeom prst="rect">
            <a:avLst/>
          </a:prstGeom>
          <a:noFill/>
          <a:ln/>
        </p:spPr>
        <p:txBody>
          <a:bodyPr wrap="square" lIns="50800" tIns="50800" rIns="50800" bIns="50800" rtlCol="0" anchor="t"/>
          <a:lstStyle/>
          <a:p>
            <a:pPr algn="l" indent="0" marL="0">
              <a:buNone/>
            </a:pPr>
            <a:r>
              <a:rPr lang="en-US" sz="1200" b="1" dirty="0">
                <a:solidFill>
                  <a:srgbClr val="1F3864"/>
                </a:solidFill>
                <a:latin typeface="Calibri" pitchFamily="34" charset="0"/>
                <a:ea typeface="Calibri" pitchFamily="34" charset="-122"/>
                <a:cs typeface="Calibri" pitchFamily="34" charset="-120"/>
              </a:rPr>
              <a:t>The 1999 Armenia (Quindío) Earthquake - the same Coffee Region
</a:t>
            </a:r>
            <a:pPr algn="l" indent="0" marL="0">
              <a:buNone/>
            </a:pPr>
            <a:r>
              <a:rPr lang="en-US" sz="1050" dirty="0">
                <a:solidFill>
                  <a:srgbClr val="222222"/>
                </a:solidFill>
                <a:latin typeface="Calibri" pitchFamily="34" charset="0"/>
                <a:ea typeface="Calibri" pitchFamily="34" charset="-122"/>
                <a:cs typeface="Calibri" pitchFamily="34" charset="-120"/>
              </a:rPr>
              <a:t>On 25 January 1999 an M6.1-6.2 earthquake at about 30 km depth struck the Quindío coffee-growing region. It killed about 1,185 people, injured over 5,000 and damaged or destroyed some 50,000 structures; roughly 60% of the buildings in the city of Armenia collapsed or were severely damaged, and more than 200,000 people were displaced. Although far smaller in magnitude than the 2026 event, it was much shallower and much closer to the cities, which is why its local destructiveness was far greater.</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2871216"/>
          <a:ext cx="5852160" cy="914400"/>
        </p:xfrm>
        <a:graphic>
          <a:graphicData uri="http://schemas.openxmlformats.org/drawingml/2006/table">
            <a:tbl>
              <a:tblPr/>
              <a:tblGrid>
                <a:gridCol w="2468880"/>
                <a:gridCol w="338328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1999 impact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Figure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Deaths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approx. 1,185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Injured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over 5,000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Structures damaged or destroyed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approx. 50,000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Displaced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over 200,000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Coffee sector</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approx. 8,000 farms and 1,200 processing facilities damaged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6400800" y="1024128"/>
            <a:ext cx="5394960" cy="274320"/>
          </a:xfrm>
          <a:prstGeom prst="rect">
            <a:avLst/>
          </a:prstGeom>
          <a:noFill/>
          <a:ln/>
        </p:spPr>
        <p:txBody>
          <a:bodyPr wrap="square" lIns="50800" tIns="50800" rIns="50800" bIns="5080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What followed / lessons</a:t>
            </a:r>
            <a:endParaRPr lang="en-US" sz="1200" dirty="0"/>
          </a:p>
        </p:txBody>
      </p:sp>
      <p:sp>
        <p:nvSpPr>
          <p:cNvPr id="7" name="Text 3"/>
          <p:cNvSpPr/>
          <p:nvPr/>
        </p:nvSpPr>
        <p:spPr>
          <a:xfrm>
            <a:off x="6400800" y="1316736"/>
            <a:ext cx="5394960" cy="3931920"/>
          </a:xfrm>
          <a:prstGeom prst="rect">
            <a:avLst/>
          </a:prstGeom>
          <a:noFill/>
          <a:ln/>
        </p:spPr>
        <p:txBody>
          <a:bodyPr wrap="square" lIns="50800" tIns="50800" rIns="50800" bIns="50800" rtlCol="0" anchor="t"/>
          <a:lstStyle/>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Reconstruction was managed through a dedicated temporary body for the Coffee Region, an early example in Latin America of a purpose-built reconstruction agency.</a:t>
            </a:r>
            <a:endParaRPr lang="en-US" sz="1100" dirty="0"/>
          </a:p>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disaster drove enforcement of the national seismic code and the seismic microzonation studies that now cover Pereira, Manizales and Armenia.</a:t>
            </a:r>
            <a:endParaRPr lang="en-US" sz="1100" dirty="0"/>
          </a:p>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Recovery of the coffee economy took roughly a decade - the economic tail of the disaster far outlasted the emergency phase.</a:t>
            </a:r>
            <a:endParaRPr lang="en-US" sz="1100" dirty="0"/>
          </a:p>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2026 earthquake shook the same cities, but as a deep, distant source rather than a shallow local one: a different loading of the same building stock.</a:t>
            </a:r>
            <a:endParaRPr lang="en-US" sz="1100" dirty="0"/>
          </a:p>
        </p:txBody>
      </p:sp>
      <p:sp>
        <p:nvSpPr>
          <p:cNvPr id="8" name="Shape 4"/>
          <p:cNvSpPr/>
          <p:nvPr/>
        </p:nvSpPr>
        <p:spPr>
          <a:xfrm>
            <a:off x="365760" y="5358384"/>
            <a:ext cx="11430000" cy="749808"/>
          </a:xfrm>
          <a:prstGeom prst="roundRect">
            <a:avLst>
              <a:gd name="adj" fmla="val 6098"/>
            </a:avLst>
          </a:prstGeom>
          <a:solidFill>
            <a:srgbClr val="FCE9DC"/>
          </a:solidFill>
          <a:ln w="12700">
            <a:solidFill>
              <a:srgbClr val="E8A317"/>
            </a:solidFill>
            <a:prstDash val="solid"/>
          </a:ln>
        </p:spPr>
      </p:sp>
      <p:sp>
        <p:nvSpPr>
          <p:cNvPr id="9" name="Text 5"/>
          <p:cNvSpPr/>
          <p:nvPr/>
        </p:nvSpPr>
        <p:spPr>
          <a:xfrm>
            <a:off x="530352" y="5413248"/>
            <a:ext cx="11100816" cy="64008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Why this matters now
</a:t>
            </a:r>
            <a:pPr algn="l" indent="0" marL="0">
              <a:buNone/>
            </a:pPr>
            <a:r>
              <a:rPr lang="en-US" sz="950" dirty="0">
                <a:solidFill>
                  <a:srgbClr val="7A2E0E"/>
                </a:solidFill>
                <a:latin typeface="Calibri" pitchFamily="34" charset="0"/>
                <a:ea typeface="Calibri" pitchFamily="34" charset="-122"/>
                <a:cs typeface="Calibri" pitchFamily="34" charset="-120"/>
              </a:rPr>
              <a:t>The cities hit hardest in 2026 - Pereira, Manizales, Armenia - are the same cities that rebuilt after 1999. How that rebuilt stock performed under long-period, long-duration shaking from a 107 km-deep source is the key question for post-event assessment.</a:t>
            </a:r>
            <a:endParaRPr lang="en-US" sz="1050" dirty="0"/>
          </a:p>
        </p:txBody>
      </p:sp>
      <p:sp>
        <p:nvSpPr>
          <p:cNvPr id="10"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GEM - Seismic regulations for Colombia (NSR-10)</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PreventionWeb - Colombia PNGRD 2015-2030</a:t>
            </a:r>
            <a:endParaRPr lang="en-US" sz="850" dirty="0"/>
          </a:p>
        </p:txBody>
      </p:sp>
      <p:sp>
        <p:nvSpPr>
          <p:cNvPr id="11"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3"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Historical Earthquakes in Colombia</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822960"/>
                <a:gridCol w="3108960"/>
                <a:gridCol w="914400"/>
                <a:gridCol w="6583680"/>
              </a:tblGrid>
              <a:tr h="51206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Event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Mag.</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Impact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1906</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Ecuador-Colombia earthquake (Pacific coast)</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M8.8</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One of the largest earthquakes ever recorded; destructive tsunami on the Pacific coast</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1979</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Tumaco earthquake (Nariño)</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M8.1</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Subduction-interface event with tsunami; several hundred deaths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1983</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Popayán earthquake (Cauca)</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M5.5</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About 250-300 deaths; historic city centre heavily damaged - a small but shallow, urban event</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1994</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Páez (Cauca) earthquake</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M6.8</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About 1,100 deaths, most caused by earthquake-triggered landslides and debris flows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1995</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Chocó earthquake</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M6.6</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Intermediate-depth event in the same department as the 2026 earthquake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1999</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Armenia (Quindío) earthquake</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M6.1-6.2</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About 1,185 deaths; Colombia's costliest earthquake disaster; drove the modern DRM reforms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12064">
                <a:tc>
                  <a:txBody>
                    <a:bodyPr/>
                    <a:lstStyle/>
                    <a:p>
                      <a:pPr algn="ctr" indent="0" marL="0">
                        <a:buNone/>
                      </a:pPr>
                      <a:r>
                        <a:rPr lang="en-US" sz="1100" b="1" dirty="0">
                          <a:solidFill>
                            <a:srgbClr val="1F3864"/>
                          </a:solidFill>
                          <a:latin typeface="Calibri" pitchFamily="34" charset="0"/>
                          <a:ea typeface="Calibri" pitchFamily="34" charset="-122"/>
                          <a:cs typeface="Calibri" pitchFamily="34" charset="-120"/>
                        </a:rPr>
                        <a:t>2026</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Chocó earthquake (this event)</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C00000"/>
                          </a:solidFill>
                          <a:latin typeface="Calibri" pitchFamily="34" charset="0"/>
                          <a:ea typeface="Calibri" pitchFamily="34" charset="-122"/>
                          <a:cs typeface="Calibri" pitchFamily="34" charset="-120"/>
                        </a:rPr>
                        <a:t>M7.4</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Largest magnitude recorded in Colombia in the past decade (SGC); intermediate depth, wide-area damage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365760" y="5230368"/>
            <a:ext cx="11430000" cy="877824"/>
          </a:xfrm>
          <a:prstGeom prst="roundRect">
            <a:avLst>
              <a:gd name="adj" fmla="val 5208"/>
            </a:avLst>
          </a:prstGeom>
          <a:solidFill>
            <a:srgbClr val="FCE9DC"/>
          </a:solidFill>
          <a:ln w="12700">
            <a:solidFill>
              <a:srgbClr val="E8A317"/>
            </a:solidFill>
            <a:prstDash val="solid"/>
          </a:ln>
        </p:spPr>
      </p:sp>
      <p:sp>
        <p:nvSpPr>
          <p:cNvPr id="6" name="Text 2"/>
          <p:cNvSpPr/>
          <p:nvPr/>
        </p:nvSpPr>
        <p:spPr>
          <a:xfrm>
            <a:off x="530352" y="5285232"/>
            <a:ext cx="11100816" cy="76809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Pattern
</a:t>
            </a:r>
            <a:pPr algn="l" indent="0" marL="0">
              <a:buNone/>
            </a:pPr>
            <a:r>
              <a:rPr lang="en-US" sz="950" dirty="0">
                <a:solidFill>
                  <a:srgbClr val="7A2E0E"/>
                </a:solidFill>
                <a:latin typeface="Calibri" pitchFamily="34" charset="0"/>
                <a:ea typeface="Calibri" pitchFamily="34" charset="-122"/>
                <a:cs typeface="Calibri" pitchFamily="34" charset="-120"/>
              </a:rPr>
              <a:t>Colombia's deadliest earthquakes have not been its largest. Popayan 1983 (M5.5), Paez 1994 (M6.8) and Armenia 1999 (M6.1-6.2) were all shallow and close to towns; the largest events, offshore in 1906 and 1979, killed fewer people. Depth and proximity, not magnitude alone, drive the toll.</a:t>
            </a:r>
            <a:endParaRPr lang="en-US" sz="10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Servicio Geológico Colombiano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GEM - Seismic regulations for Colombia (NSR-10)</a:t>
            </a:r>
            <a:endParaRPr lang="en-US" sz="8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10"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Observations &amp; Points to Watch</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2064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A deep source with shallow-disaster consequences. At 107 km depth the earthquake produced no surface rupture and no tsunami, yet it damaged buildings in at least six departments. Damage is dispersed rather than concentrated, which complicates needs assessment, logistics and the targeting of search and rescue.</a:t>
            </a:r>
            <a:endParaRPr lang="en-US" sz="1200" dirty="0"/>
          </a:p>
          <a:p>
            <a:pPr algn="l" marL="342900" indent="-342900">
              <a:buSzPct val="100000"/>
              <a:buChar char="•"/>
            </a:pPr>
            <a:r>
              <a:rPr lang="en-US" sz="12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Critical facilities failed. The collapse of about 30% of Cali's University Hospital, the closure of seven health institutions, damage to 52 schools and the partial collapse of an international airport terminal all reduce response capacity exactly where it is needed. Seismic performance of hospitals, schools and transport terminals is the clearest lesson emerging so far.</a:t>
            </a:r>
            <a:endParaRPr lang="en-US" sz="1200" dirty="0"/>
          </a:p>
          <a:p>
            <a:pPr algn="l" marL="342900" indent="-342900">
              <a:buSzPct val="100000"/>
              <a:buChar char="•"/>
            </a:pPr>
            <a:r>
              <a:rPr lang="en-US" sz="12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Figures will rise and will not be internally consistent for some time. Departmental death tolls announced by governors and mayors do not yet sum to the national total, and building-damage counts reflect first-look reporting, not damage assessment. Rapid increases in the coming days should be read as assessment progressing, not necessarily as the situation worsening.</a:t>
            </a:r>
            <a:endParaRPr lang="en-US" sz="1200" dirty="0"/>
          </a:p>
          <a:p>
            <a:pPr algn="l" marL="342900" indent="-342900">
              <a:buSzPct val="100000"/>
              <a:buChar char="•"/>
            </a:pPr>
            <a:r>
              <a:rPr lang="en-US" sz="1200" b="1" dirty="0">
                <a:solidFill>
                  <a:srgbClr val="B8860B"/>
                </a:solidFill>
                <a:latin typeface="Calibri" pitchFamily="34" charset="0"/>
                <a:ea typeface="Calibri" pitchFamily="34" charset="-122"/>
                <a:cs typeface="Calibri" pitchFamily="34" charset="-120"/>
              </a:rPr>
              <a:t>[Media]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The affected area is the Coffee Region rebuilt after 1999. Comparing how post-1999 construction performed against older stock, under a very different type of shaking, will be valuable for the region and for other countries with intermediate-depth seismic sources.</a:t>
            </a:r>
            <a:endParaRPr lang="en-US" sz="1200" dirty="0"/>
          </a:p>
          <a:p>
            <a:pPr algn="l" marL="342900" indent="-342900">
              <a:buSzPct val="100000"/>
              <a:buChar char="•"/>
            </a:pPr>
            <a:r>
              <a:rPr lang="en-US" sz="1200" b="1" dirty="0">
                <a:solidFill>
                  <a:srgbClr val="1E7A34"/>
                </a:solidFill>
                <a:latin typeface="Calibri" pitchFamily="34" charset="0"/>
                <a:ea typeface="Calibri" pitchFamily="34" charset="-122"/>
                <a:cs typeface="Calibri" pitchFamily="34" charset="-120"/>
              </a:rPr>
              <a:t>[Official]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Aftershock risk to damaged buildings. The intraslab aftershock sequence is expected to be modest, but damaged structures have lost capacity; rapid structural inspection (habitability assessment) before re-occupancy is the immediate priority alongside search and rescue.</a:t>
            </a:r>
            <a:endParaRPr lang="en-US" sz="1200" dirty="0"/>
          </a:p>
          <a:p>
            <a:pPr algn="l" marL="342900" indent="-342900">
              <a:buSzPct val="100000"/>
              <a:buChar char="•"/>
            </a:pPr>
            <a:r>
              <a:rPr lang="en-US" sz="1200" b="1" dirty="0">
                <a:solidFill>
                  <a:srgbClr val="888888"/>
                </a:solidFill>
                <a:latin typeface="Calibri" pitchFamily="34" charset="0"/>
                <a:ea typeface="Calibri" pitchFamily="34" charset="-122"/>
                <a:cs typeface="Calibri" pitchFamily="34" charset="-120"/>
              </a:rPr>
              <a:t>[TBC] </a:t>
            </a:r>
            <a:pPr algn="l" indent="0" marL="0">
              <a:spcAft>
                <a:spcPts val="500"/>
              </a:spcAft>
              <a:buNone/>
            </a:pPr>
            <a:r>
              <a:rPr lang="en-US" sz="1300" dirty="0">
                <a:solidFill>
                  <a:srgbClr val="222222"/>
                </a:solidFill>
                <a:latin typeface="Calibri" pitchFamily="34" charset="0"/>
                <a:ea typeface="Calibri" pitchFamily="34" charset="-122"/>
                <a:cs typeface="Calibri" pitchFamily="34" charset="-120"/>
              </a:rPr>
              <a:t>Points to watch: the reconciled national casualty figures; shelter and displacement numbers, which have not yet been published; water and power restoration in Chocó; the results of satellite-based damage mapping; and whether the Government requests international assistance beyond the offers already made.</a:t>
            </a:r>
            <a:endParaRPr lang="en-US" sz="12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Sources: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 National Unit for Disaster Risk Management</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 - M 7.4 San José del Palmar, Colombia (event page)</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ReliefWeb - Colombia</a:t>
            </a:r>
            <a:endParaRPr lang="en-US" sz="8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8"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566928"/>
          </a:xfrm>
          <a:prstGeom prst="rect">
            <a:avLst/>
          </a:prstGeom>
          <a:noFill/>
          <a:ln/>
        </p:spPr>
        <p:txBody>
          <a:bodyPr wrap="square" lIns="25400" tIns="25400" rIns="25400" bIns="25400" rtlCol="0" anchor="t"/>
          <a:lstStyle/>
          <a:p>
            <a:pPr algn="l" indent="0" marL="0">
              <a:buNone/>
            </a:pPr>
            <a:r>
              <a:rPr lang="en-US" sz="950" b="1" dirty="0">
                <a:solidFill>
                  <a:srgbClr val="1F3864"/>
                </a:solidFill>
                <a:latin typeface="Calibri" pitchFamily="34" charset="0"/>
                <a:ea typeface="Calibri" pitchFamily="34" charset="-122"/>
                <a:cs typeface="Calibri" pitchFamily="34" charset="-120"/>
              </a:rPr>
              <a:t>Source policy: </a:t>
            </a:r>
            <a:pPr algn="l" indent="0" marL="0">
              <a:buNone/>
            </a:pPr>
            <a:r>
              <a:rPr lang="en-US" sz="900" dirty="0">
                <a:solidFill>
                  <a:srgbClr val="444444"/>
                </a:solidFill>
                <a:latin typeface="Calibri" pitchFamily="34" charset="0"/>
                <a:ea typeface="Calibri" pitchFamily="34" charset="-122"/>
                <a:cs typeface="Calibri" pitchFamily="34" charset="-120"/>
              </a:rPr>
              <a:t>Source hierarchy: official &gt; media &gt; TBC. Government and scientific-agency figures are used as primary; media reports are used only where official figures are not yet published and are labelled as such. Items still being verified are marked TBC. Preliminary figures are never replaced by larger unverified numbers.</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536192"/>
          <a:ext cx="11430000" cy="914400"/>
        </p:xfrm>
        <a:graphic>
          <a:graphicData uri="http://schemas.openxmlformats.org/drawingml/2006/table">
            <a:tbl>
              <a:tblPr/>
              <a:tblGrid>
                <a:gridCol w="4206240"/>
                <a:gridCol w="822960"/>
                <a:gridCol w="6400800"/>
              </a:tblGrid>
              <a:tr h="2926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USGS - M 7.4 San José del Palmar, Colombia (event page)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Servicio Geológico Colombiano (SGC)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UNGRD - National Unit for Disaster Risk Management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https://portal.gestiondelriesgo.gov.co/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GDACS - Orange earthquake alert, Colombia, 10 Aug 2026</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https://gdacs.org/report.aspx?eventid=1557236&amp;eventtype=EQ</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International Charter 'Space and Major Disasters' - activations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Copernicus EMS - Rapid Mapping activations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https://emergency.copernicus.eu/mapping/list-of-activations-rapid</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ReliefWeb -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https://reliefweb.int/country/col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PAHO/WHO -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https://www.paho.org/en/colombia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PreventionWeb - Colombia PNGRD 2015-2030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https://www.preventionweb.net/publication/colombia-plan-nacional-de-gestion-del-riesgo-de-desastres-pngrd-2015-2030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GEM - Seismic regulations for Colombia (NSR-10)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https://www.globalquakemodel.org/seismic-regulations/colombia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UN-SPIDER - UNGRD of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https://un-spider.org/national-unit-disaster-risk-management-ungrd-colombia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OECD - Risk governance scan of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https://www.oecd.org/en/publications/risk-governance-scan-of-colombia_eeb81954-en.html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CNN - Live updates: at least 111 dead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France 24 - Colombia declares national emergency as quake toll hits 111</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https://www.france24.com/en/americas/20260810-powerful-quake-rocks-colombia-causing-major-damage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 Jazeera - M7.4 earthquake hits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https://www.aljazeera.com/news/2026/8/10/7-4-magnitude-earthquake-hits-colombia-killing-at-least-20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8" name="Text 4"/>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(2/2)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926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CBS News - Strong earthquake strikes western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https://www.cbsnews.com/news/colombia-earthquake-western-region-evacuations/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NBC News - Deaths, injuries and collapsed buildings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https://www.nbcnews.com/world/latin-america/strong-earthquake-colombia-ecuador-people-evacuating-homes-buildings-rcna591709</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Colombia One - First official assessment: widespread structural damage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https://colombiaone.com/2026/08/10/earthquake-colombia-official-details/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Colombia One - Government declares national disaster</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https://colombiaone.com/2026/08/10/colombia-national-disaster/</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Infobae - SGC explains why the shaking lasted so long</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https://www.infobae.com/colombia/2026/08/10/por-que-el-temblor-en-colombia-de-este-lunes-10-de-agosto-duro-una-eternidad-el-servicio-geologico-explico-que-paso/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NHK - President reports 111 dead, 87 injured (Japanese)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https://www3.nhk.or.jp/news/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Nikkei - M7.4 earthquake in western Colombia (Japanese)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https://www.nikkei.com/article/DGXZQOGN108V30Q6A810C2000000/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Jiji Press - M7.4 earthquake in Colombia (Japanese)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https://www.jiji.com/jc/article?k=2026081000878&amp;g=int</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Save the Children - Children at risk after the earthquake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https://www.savethechildren.org/us/about-us/media-and-news/2026-press-releases/children-at-risk-after-earthquake-strikes-colombia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Direct Relief - Mobilising medical aid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https://www.directrelief.org/2026/08/colombia-earthquake-7-4-magnitude-direct-relief-response/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Americares - Colombia earthquake, August 2026</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Media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https://www.americares.org/crisis-alerts/colombia-earthquake-august-2026/</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GLIDEnumber (for the event identifier once issued)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https://glidenumber.net/</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ADRC - Asian Disaster Reduction Center</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https://www.adrc.asia/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user/whatsmap/reports/colombia_eq_20260810/images/adrc_logo.png">    </p:cNvPr>
          <p:cNvPicPr>
            <a:picLocks noChangeAspect="1"/>
          </p:cNvPicPr>
          <p:nvPr/>
        </p:nvPicPr>
        <p:blipFill>
          <a:blip r:embed="rId1"/>
          <a:stretch>
            <a:fillRect/>
          </a:stretch>
        </p:blipFill>
        <p:spPr>
          <a:xfrm>
            <a:off x="5454396" y="2194560"/>
            <a:ext cx="1280160" cy="1280160"/>
          </a:xfrm>
          <a:prstGeom prst="rect">
            <a:avLst/>
          </a:prstGeom>
        </p:spPr>
      </p:pic>
      <p:sp>
        <p:nvSpPr>
          <p:cNvPr id="3" name="Text 0"/>
          <p:cNvSpPr/>
          <p:nvPr/>
        </p:nvSpPr>
        <p:spPr>
          <a:xfrm>
            <a:off x="457200" y="3611880"/>
            <a:ext cx="11274552" cy="365760"/>
          </a:xfrm>
          <a:prstGeom prst="rect">
            <a:avLst/>
          </a:prstGeom>
          <a:noFill/>
          <a:ln/>
        </p:spPr>
        <p:txBody>
          <a:bodyPr wrap="square" rtlCol="0" anchor="ctr"/>
          <a:lstStyle/>
          <a:p>
            <a:pPr algn="ctr" indent="0" marL="0">
              <a:buNone/>
            </a:pPr>
            <a:r>
              <a:rPr lang="en-US" sz="1500" b="1" dirty="0">
                <a:solidFill>
                  <a:srgbClr val="1F3864"/>
                </a:solidFill>
                <a:latin typeface="Cambria" pitchFamily="34" charset="0"/>
                <a:ea typeface="Cambria" pitchFamily="34" charset="-122"/>
                <a:cs typeface="Cambria" pitchFamily="34" charset="-120"/>
              </a:rPr>
              <a:t>Asian Disaster Reduction Center (ADRC)</a:t>
            </a:r>
            <a:endParaRPr lang="en-US" sz="1500" dirty="0"/>
          </a:p>
        </p:txBody>
      </p:sp>
      <p:sp>
        <p:nvSpPr>
          <p:cNvPr id="4" name="Text 1"/>
          <p:cNvSpPr/>
          <p:nvPr/>
        </p:nvSpPr>
        <p:spPr>
          <a:xfrm>
            <a:off x="1828800" y="4023360"/>
            <a:ext cx="8531352" cy="731520"/>
          </a:xfrm>
          <a:prstGeom prst="rect">
            <a:avLst/>
          </a:prstGeom>
          <a:noFill/>
          <a:ln/>
        </p:spPr>
        <p:txBody>
          <a:bodyPr wrap="square" rtlCol="0" anchor="ctr"/>
          <a:lstStyle/>
          <a:p>
            <a:pPr algn="ctr" indent="0" marL="0">
              <a:buNone/>
            </a:pPr>
            <a:r>
              <a:rPr lang="en-US" sz="1050" dirty="0">
                <a:solidFill>
                  <a:srgbClr val="6A6A6A"/>
                </a:solidFill>
                <a:latin typeface="Calibri" pitchFamily="34" charset="0"/>
                <a:ea typeface="Calibri" pitchFamily="34" charset="-122"/>
                <a:cs typeface="Calibri" pitchFamily="34" charset="-120"/>
              </a:rPr>
              <a:t>Bilingual (EN/JA) report for domestic and international dissemination. Public-agency sources take priority; gaps are filled with clearly-labelled media reports.</a:t>
            </a:r>
            <a:endParaRPr lang="en-US" sz="1050" dirty="0"/>
          </a:p>
        </p:txBody>
      </p:sp>
      <p:sp>
        <p:nvSpPr>
          <p:cNvPr id="5" name="Text 2"/>
          <p:cNvSpPr/>
          <p:nvPr/>
        </p:nvSpPr>
        <p:spPr>
          <a:xfrm>
            <a:off x="1828800" y="4754880"/>
            <a:ext cx="8531352" cy="457200"/>
          </a:xfrm>
          <a:prstGeom prst="rect">
            <a:avLst/>
          </a:prstGeom>
          <a:noFill/>
          <a:ln/>
        </p:spPr>
        <p:txBody>
          <a:bodyPr wrap="square" rtlCol="0" anchor="ctr"/>
          <a:lstStyle/>
          <a:p>
            <a:pPr algn="ctr" indent="0" marL="0">
              <a:buNone/>
            </a:pPr>
            <a:r>
              <a:rPr lang="en-US" sz="950" i="1" dirty="0">
                <a:solidFill>
                  <a:srgbClr val="6A6A6A"/>
                </a:solidFill>
                <a:latin typeface="Calibri" pitchFamily="34" charset="0"/>
                <a:ea typeface="Calibri" pitchFamily="34" charset="-122"/>
                <a:cs typeface="Calibri" pitchFamily="34" charset="-120"/>
              </a:rPr>
              <a:t>Figures as of 10 Aug 2026, 17:00 COT (11 Aug 07:00 JST), approx. 9.5 hours after the earthquake. All figures are preliminary.</a:t>
            </a:r>
            <a:endParaRPr lang="en-US" sz="950" dirty="0"/>
          </a:p>
        </p:txBody>
      </p:sp>
      <p:sp>
        <p:nvSpPr>
          <p:cNvPr id="6" name="Text 3">
            <a:hlinkClick r:id="rId2" tooltip=""/>
          </p:cNvPr>
          <p:cNvSpPr/>
          <p:nvPr/>
        </p:nvSpPr>
        <p:spPr>
          <a:xfrm>
            <a:off x="457200" y="5303520"/>
            <a:ext cx="11274552" cy="274320"/>
          </a:xfrm>
          <a:prstGeom prst="rect">
            <a:avLst/>
          </a:prstGeom>
          <a:noFill/>
          <a:ln/>
        </p:spPr>
        <p:txBody>
          <a:bodyPr wrap="square" rtlCol="0" anchor="ctr"/>
          <a:lstStyle/>
          <a:p>
            <a:pPr algn="ctr" indent="0" marL="0">
              <a:buNone/>
            </a:pPr>
            <a:r>
              <a:rPr lang="en-US" sz="10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0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11/08/2026</a:t>
            </a:r>
            <a:endParaRPr lang="en-US" sz="950" dirty="0"/>
          </a:p>
        </p:txBody>
      </p:sp>
      <p:sp>
        <p:nvSpPr>
          <p:cNvPr id="9"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2026-08-10T22:59:09Z</dcterms:created>
  <dcterms:modified xsi:type="dcterms:W3CDTF">2026-08-10T22:59:09Z</dcterms:modified>
</cp:coreProperties>
</file>