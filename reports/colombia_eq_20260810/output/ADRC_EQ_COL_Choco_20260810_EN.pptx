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Risaralda (Pereira)</c:v>
                  </c:pt>
                  <c:pt idx="1">
                    <c:v>Valle del Cauca (Cali)</c:v>
                  </c:pt>
                  <c:pt idx="2">
                    <c:v>Chocó</c:v>
                  </c:pt>
                  <c:pt idx="3">
                    <c:v>Caldas (Manizales)</c:v>
                  </c:pt>
                  <c:pt idx="4">
                    <c:v>Antioquia</c:v>
                  </c:pt>
                </c:lvl>
              </c:multiLvlStrCache>
            </c:multiLvlStrRef>
          </c:cat>
          <c:val>
            <c:numRef>
              <c:f>Sheet1!$B$2:$B$6</c:f>
              <c:numCache>
                <c:formatCode>General</c:formatCode>
                <c:ptCount val="5"/>
                <c:pt idx="0">
                  <c:v>40</c:v>
                </c:pt>
                <c:pt idx="1">
                  <c:v>27</c:v>
                </c:pt>
                <c:pt idx="2">
                  <c:v>13</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9-1.png"/><Relationship Id="rId2" Type="http://schemas.openxmlformats.org/officeDocument/2006/relationships/image" Target="../media/image-9-2.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11-1.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4-1.png"/><Relationship Id="rId2" Type="http://schemas.openxmlformats.org/officeDocument/2006/relationships/image" Target="../media/image-14-2.jpg"/><Relationship Id="rId4" Type="http://schemas.openxmlformats.org/officeDocument/2006/relationships/image" Target="../media/image-14-3.jp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7-1.png"/><Relationship Id="rId2" Type="http://schemas.openxmlformats.org/officeDocument/2006/relationships/image" Target="../media/image-17-2.jp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8-1.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2-1.png"/><Relationship Id="rId2" Type="http://schemas.openxmlformats.org/officeDocument/2006/relationships/image" Target="../media/image-22-2.jp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6" Type="http://schemas.openxmlformats.org/officeDocument/2006/relationships/hyperlink" Target="https://un-spider.org/national-unit-disaster-risk-management-ungrd-colombia" TargetMode="External"/><Relationship Id="rId1" Type="http://schemas.openxmlformats.org/officeDocument/2006/relationships/image" Target="../media/image-24-1.png"/><Relationship Id="rId17" Type="http://schemas.openxmlformats.org/officeDocument/2006/relationships/slideLayout" Target="../slideLayouts/slideLayout1.xml"/><Relationship Id="rId1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oecd.org/en/publications/risk-governance-scan-of-colombia_eeb81954-en.html" TargetMode="External"/><Relationship Id="rId3" Type="http://schemas.openxmlformats.org/officeDocument/2006/relationships/hyperlink" Target="https://www.cnn.com/2026/08/10/world/live-news/colombia-earthquake-san-jose-del-palmar" TargetMode="External"/><Relationship Id="rId4" Type="http://schemas.openxmlformats.org/officeDocument/2006/relationships/hyperlink" Target="https://www.france24.com/en/americas/20260810-powerful-quake-rocks-colombia-causing-major-damage" TargetMode="External"/><Relationship Id="rId5" Type="http://schemas.openxmlformats.org/officeDocument/2006/relationships/hyperlink" Target="https://www.aljazeera.com/news/2026/8/10/7-4-magnitude-earthquake-hits-colombia-killing-at-least-20" TargetMode="External"/><Relationship Id="rId6" Type="http://schemas.openxmlformats.org/officeDocument/2006/relationships/hyperlink" Target="https://www.cbsnews.com/news/colombia-earthquake-western-region-evacuations/" TargetMode="External"/><Relationship Id="rId7" Type="http://schemas.openxmlformats.org/officeDocument/2006/relationships/hyperlink" Target="https://www.nbcnews.com/world/latin-america/strong-earthquake-colombia-ecuador-people-evacuating-homes-buildings-rcna591709" TargetMode="External"/><Relationship Id="rId8" Type="http://schemas.openxmlformats.org/officeDocument/2006/relationships/hyperlink" Target="https://colombiaone.com/2026/08/10/earthquake-colombia-official-details/" TargetMode="External"/><Relationship Id="rId9" Type="http://schemas.openxmlformats.org/officeDocument/2006/relationships/hyperlink" Target="https://colombiaone.com/2026/08/10/colombia-national-disaster/" TargetMode="External"/><Relationship Id="rId10" Type="http://schemas.openxmlformats.org/officeDocument/2006/relationships/hyperlink" Target="https://www.infobae.com/colombia/2026/08/10/por-que-el-temblor-en-colombia-de-este-lunes-10-de-agosto-duro-una-eternidad-el-servicio-geologico-explico-que-paso/" TargetMode="External"/><Relationship Id="rId11" Type="http://schemas.openxmlformats.org/officeDocument/2006/relationships/hyperlink" Target="https://www3.nhk.or.jp/news/" TargetMode="External"/><Relationship Id="rId12" Type="http://schemas.openxmlformats.org/officeDocument/2006/relationships/hyperlink" Target="https://www.nikkei.com/article/DGXZQOGN108V30Q6A810C2000000/" TargetMode="External"/><Relationship Id="rId13" Type="http://schemas.openxmlformats.org/officeDocument/2006/relationships/hyperlink" Target="https://www.jiji.com/jc/article?k=2026081000878&amp;g=int" TargetMode="External"/><Relationship Id="rId14" Type="http://schemas.openxmlformats.org/officeDocument/2006/relationships/hyperlink" Target="https://www.savethechildren.org/us/about-us/media-and-news/2026-press-releases/children-at-risk-after-earthquake-strikes-colombia" TargetMode="External"/><Relationship Id="rId15" Type="http://schemas.openxmlformats.org/officeDocument/2006/relationships/hyperlink" Target="https://www.directrelief.org/2026/08/colombia-earthquake-7-4-magnitude-direct-relief-response/" TargetMode="External"/><Relationship Id="rId16" Type="http://schemas.openxmlformats.org/officeDocument/2006/relationships/hyperlink" Target="https://www.americares.org/crisis-alerts/colombia-earthquake-august-2026/" TargetMode="External"/><Relationship Id="rId1" Type="http://schemas.openxmlformats.org/officeDocument/2006/relationships/image" Target="../media/image-25-1.png"/><Relationship Id="rId17" Type="http://schemas.openxmlformats.org/officeDocument/2006/relationships/slideLayout" Target="../slideLayouts/slideLayout1.xml"/><Relationship Id="rId1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glidenumber.net/" TargetMode="External"/><Relationship Id="rId3" Type="http://schemas.openxmlformats.org/officeDocument/2006/relationships/hyperlink" Target="https://www.adrc.asia/" TargetMode="External"/><Relationship Id="rId4" Type="http://schemas.openxmlformats.org/officeDocument/2006/relationships/hyperlink" Target="https://www.democrata.es/en/international/von-der-leyen-expresses-the-eu-s-support-for-colombia-and-activates-copernicus-after-the-earthquake/" TargetMode="External"/><Relationship Id="rId5" Type="http://schemas.openxmlformats.org/officeDocument/2006/relationships/hyperlink" Target="https://www.globalquakemodel.org/proj/treq" TargetMode="External"/><Relationship Id="rId6" Type="http://schemas.openxmlformats.org/officeDocument/2006/relationships/hyperlink" Target="https://cloud-storage.globalquakemodel.org/public/wix-new-website/pdf-collections-wix/publications/TREQ%20deliverables/reports/TREQ_D262_Riesgo_Sismico_Cali_v1.00.pdf" TargetMode="External"/><Relationship Id="rId7" Type="http://schemas.openxmlformats.org/officeDocument/2006/relationships/hyperlink" Target="https://www.sciencedirect.com/science/article/abs/pii/S2212420925003097" TargetMode="External"/><Relationship Id="rId8" Type="http://schemas.openxmlformats.org/officeDocument/2006/relationships/hyperlink" Target="https://satic.cali.gov.co/satic" TargetMode="External"/><Relationship Id="rId9" Type="http://schemas.openxmlformats.org/officeDocument/2006/relationships/hyperlink" Target="https://www.cali.gov.co/gestiondelriesgo/" TargetMode="External"/><Relationship Id="rId10" Type="http://schemas.openxmlformats.org/officeDocument/2006/relationships/hyperlink" Target="https://portal.gestiondelriesgo.gov.co/Paginas/Plan-Nacional-de-Gestion-del-Riesgo.aspx" TargetMode="External"/><Relationship Id="rId11" Type="http://schemas.openxmlformats.org/officeDocument/2006/relationships/hyperlink" Target="https://www.funcionpublica.gov.co/eva/gestornormativo/norma.php?i=191411" TargetMode="External"/><Relationship Id="rId1" Type="http://schemas.openxmlformats.org/officeDocument/2006/relationships/image" Target="../media/image-26-1.png"/><Relationship Id="rId12" Type="http://schemas.openxmlformats.org/officeDocument/2006/relationships/slideLayout" Target="../slideLayouts/slideLayout1.xml"/><Relationship Id="rId1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110 km   ·   MMI VII (Very strong) — USGS ShakeMap; the SGC macroseismic intensity map agrees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Locator maps © Google (Google Maps). Distances shown on later pages are computed from the published USGS coordinates.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98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110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In its 13:00 COT balance on 10 August the Government reported 111 deaths and 87 injured — a toll that media reporting had raised to 132 by the evening —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110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Focal mechanism (beachball)
</a:t>
            </a:r>
            <a:pPr algn="ctr" indent="0" marL="0">
              <a:buNone/>
            </a:pPr>
            <a:r>
              <a:rPr lang="en-US" sz="700" dirty="0">
                <a:solidFill>
                  <a:srgbClr val="6A6A6A"/>
                </a:solidFill>
                <a:latin typeface="Calibri" pitchFamily="34" charset="0"/>
                <a:ea typeface="Calibri" pitchFamily="34" charset="-122"/>
                <a:cs typeface="Calibri" pitchFamily="34" charset="-120"/>
              </a:rPr>
              <a:t>Both agencies report a strike-slip mechanism.</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Depth about 110 km (USGS, revised): an intraslab event, not a plate-interface megathrust.</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USGS PAGER (v5) Orange alert: the most likely fatality band is 1,000-10,000 and the most likely loss band USD 100-1,000 million — model estimates, not observations, and far above the figures reported so far.</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960" dirty="0"/>
          </a:p>
          <a:p>
            <a:pPr algn="l" marL="342900" indent="-342900">
              <a:buSzPct val="100000"/>
              <a:buChar char="•"/>
            </a:pPr>
            <a:r>
              <a:rPr lang="en-US" sz="96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Coffee Region has a history of both deep and shallow damaging events: M7.0 at 150 km depth in 1938, M6.5 at 64 km in 1962 and M6.1 at 15 km in 1999 (SGC/GEM national hazard model).</a:t>
            </a:r>
            <a:endParaRPr lang="en-US" sz="96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(12:34 UTC / 21:34 JST)    |    Mww 7.4    |    depth 110 km    |    MMI VII (Very strong) — USGS ShakeMap; the SGC macroseismic intensity map agrees</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10 Aug 2026, 22:00 COT (11 Aug 12:00 JST), about 14 hours after the earthquake. The Government's consolidated balance (111 deaths, 87 injured) is its 13:00 COT figure; the later toll of 132 is from media reporting. All figures are preliminary.</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GLIDE number assigned for this event: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 August)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Mww 7.4 earthquake, epicentre 5 km S of San José del Palmar (Chocó), depth approx. 110 km. Felt in Bogotá, Cali, Medellín, and in Ecuador, Panama and Venezuela.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SGC issues a first bulletin (initially M6.6, 79 km depth), later revised to M7.4 at 96 km, located with 69 stations (event SGC2026pqqmro); damage-assessment protocols activated.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 August)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Copernicus EMS Rapid Mapping activated as EMSR916 (17:13 UTC), requested by EC Services / DG ECHO, for earthquake damage assessment mapping.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Evening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reported national death toll rises to 132. Four people have been rescued alive from the rubble; more than 20 municipalities are reported affected, and power and telecommunications faults continue in 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110 km-deep source puts every city in the region at a broadly similar hypocentral distance (110-205 km), so no single city sits in a narrow zone of extreme shaking.</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12:34:28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S of San José del Palmar, Chocó Department (approx. 280 km W of Bogotá) — SGC: 20 km from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5.04 N, 76.34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96 km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 the SGC macroseismic intensity map agrees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(version 5). Most likely fatality band 1,000-10,000 (35% probability); economic losses most likely USD 100-1,000 million (34%), less than 1% of Colombia's GDP.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USGS and SGC agree on size; the SGC's first bulletin gave M6.6 at 79 km before revision. The two locations differ by about 20 km and their depths by about 11 km — normal for an intermediate-depth event recorded by different networks. Epicentral distances in this report are measured from the USGS location. SGC event SGC2026pqqmro was located with 69 stations; the SGC states its bulletins are subject to change as review continues.</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Macroseismic Intensity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Official SGC intensity map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Aug 2026 12:34:29 UTC · M7.4 · N5.04 W76.34 · depth 96.0 km · ID SGC2026pqqmro · Version 1, processed 2026-08-10T13:12:28Z · scale after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The SGC map shows the strongest band (MMI VII, 'Muy Fuerte') over the epicentral area of Chocó and along the inter-Andean corridor through Risaralda, Caldas, Quindío and northern Valle del Cauca — the belt in which the collapses in Pereira, Manizales, Armenia and Cartago occurred. Intensity falls away eastward: Medellín and Cali sit in the moderate-to-strong bands and Bogotá, 241 km from the epicentre, in a low one. The elongated pattern along the valleys, rather than a compact circle around the epicentre, is the signature of a 96-110 km-deep source combined with soft valley sediments.</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Potential damage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Not felt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Weak</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Modified Mercalli scale (Worden et al., 2012), as printed on the SGC map</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macroseismic intensity map (ShakeMap) for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USGS PAGER Assessment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version 5 (public domain,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is the USGS rapid impact estimate, issued within minutes and revised as the event is refined; version 5 was created 2 hours 8 minutes after the earthquake. It is a probability distribution, not a forecast of a single number: the orange alert means significant casualties and damage are likely and that past orange alerts have required a regional or national response. Its most likely fatality band, 1,000-10,000, sits far above the 111 deaths reported nine hours after the event — the gap is normal at this stage and narrows as ground truth replaces modelled losses.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Exposed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Very 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Light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Largest aftershock on the SGC event bulletin; widely felt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M2.8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second aftershock listed on the SGC event bulletin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(to 17:00)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20+ reported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Media reported more than 20 aftershocks during the day; the SGC event bulletin listed two at the time of writing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Calibri" pitchFamily="34" charset="0"/>
                          <a:ea typeface="Calibri" pitchFamily="34" charset="-122"/>
                          <a:cs typeface="Calibri" pitchFamily="34" charset="-120"/>
                        </a:rPr>
                        <a:t>Media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017520"/>
            <a:ext cx="11430000" cy="1371600"/>
          </a:xfrm>
          <a:prstGeom prst="rect">
            <a:avLst/>
          </a:prstGeom>
          <a:noFill/>
          <a:ln/>
        </p:spPr>
        <p:txBody>
          <a:bodyPr wrap="square" lIns="50800" tIns="50800" rIns="50800" bIns="50800" rtlCol="0" anchor="t"/>
          <a:lstStyle/>
          <a:p>
            <a:pPr indent="0" marL="0">
              <a:buNone/>
            </a:pPr>
            <a:r>
              <a:rPr lang="en-US" sz="1100" dirty="0">
                <a:solidFill>
                  <a:srgbClr val="222222"/>
                </a:solidFill>
                <a:latin typeface="Calibri" pitchFamily="34" charset="0"/>
                <a:ea typeface="Calibri" pitchFamily="34" charset="-122"/>
                <a:cs typeface="Calibri" pitchFamily="34" charset="-120"/>
              </a:rPr>
              <a:t>The SGC event bulletin (SGC2026pqqmro) listed two aftershocks, M2.8 and M4.8, the latter widely felt; media reported more than 20 during the day. Aftershock sequences of intermediate-depth intraslab events are typically less productive than those of shallow crustal earthquakes, but strong aftershocks remain possible and already-damaged buildings are vulnerable to them.</a:t>
            </a:r>
            <a:endParaRPr lang="en-US" sz="1100" dirty="0"/>
          </a:p>
        </p:txBody>
      </p:sp>
      <p:sp>
        <p:nvSpPr>
          <p:cNvPr id="6" name="Shape 2"/>
          <p:cNvSpPr/>
          <p:nvPr/>
        </p:nvSpPr>
        <p:spPr>
          <a:xfrm>
            <a:off x="365760" y="4572000"/>
            <a:ext cx="11430000" cy="1463040"/>
          </a:xfrm>
          <a:prstGeom prst="roundRect">
            <a:avLst>
              <a:gd name="adj" fmla="val 3125"/>
            </a:avLst>
          </a:prstGeom>
          <a:solidFill>
            <a:srgbClr val="FCE9DC"/>
          </a:solidFill>
          <a:ln w="12700">
            <a:solidFill>
              <a:srgbClr val="E8A317"/>
            </a:solidFill>
            <a:prstDash val="solid"/>
          </a:ln>
        </p:spPr>
      </p:sp>
      <p:sp>
        <p:nvSpPr>
          <p:cNvPr id="7" name="Text 3"/>
          <p:cNvSpPr/>
          <p:nvPr/>
        </p:nvSpPr>
        <p:spPr>
          <a:xfrm>
            <a:off x="530352" y="4626864"/>
            <a:ext cx="11100816" cy="13533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Operational implication
</a:t>
            </a:r>
            <a:pPr algn="l" indent="0" marL="0">
              <a:buNone/>
            </a:pPr>
            <a:r>
              <a:rPr lang="en-US" sz="950" dirty="0">
                <a:solidFill>
                  <a:srgbClr val="7A2E0E"/>
                </a:solidFill>
                <a:latin typeface="Calibri" pitchFamily="34" charset="0"/>
                <a:ea typeface="Calibri" pitchFamily="34" charset="-122"/>
                <a:cs typeface="Calibri" pitchFamily="34" charset="-120"/>
              </a:rPr>
              <a:t>Buildings that survived the mainshock in a damaged state have lost capacity. Even moderate aftershocks can bring them down, so rapid habitability assessment before re-occupancy - and keeping people out of visibly damaged structures - matters as much as the aftershock statistics themselves.</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132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Buildings damaged</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1,600+</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Governor cites at least 42</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President's figure; the department government had reported 12 dead and 84 injured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Reported as 2, later 4</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Departmental figures come from local authorities and the Presidency at different times and do not sum to the national total; the national toll itself moved from 111 at 13:00 COT to 132 by the evening of 10 August. They will be reconciled as verification proceeds.</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News - Deaths, injuries and collapsed buildings</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132 (media, evening of 10 Aug). The Government's 13:00 COT balance was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(CNN live updates); Presidency / UNGRD for the 13:00 figure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87 nationally (Government, 13:00 COT). In Chocó alone the President later reported 119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 UNGRD; Presidency (Chocó figure)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 trapped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quantified. Four people had been rescued alive from the rubble by the evening of 10 August; searches continued in Cali, Pereira and Manizales.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Local authorities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Municipalities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20 across Chocó, Risaralda, Caldas, Valle del Cauca, Quindío and 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damaged (total)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1,600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1,575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61 nationally; Cali 25-30 at 12 critical points, Manizales 17 collapsed + 19 partial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mayors of Cali and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damaged; 7 health institutions closed; about 30% of the University Hospital in Cali collapsed, including three floors (paediatrics, internal medicine, part of the neonatal unit)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52 damaged; schools evacuated across the affected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17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major roads and highways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regional airports damaged;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Power outages and communications disruption reported in areas near the epicentre; systematic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President Abelardo de la Espriella chairs the national response meeting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Cali fire service at a collapsed building in the city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Mexico's President pledged 'all the support required'; several Latin American governments offered rescuers, canine teams and humanitarian aid, to be channelled through Colombia's Foreign Ministry and UNGRD.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The International Charter 'Space and Major Disasters' is also reported to have been activated for this earthquake; the activation number had not been confirmed at the time of writing.</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No announcement by the Government of Japan (message of condolence, emergency grant aid or JDR dispatch) had been identified at the time of writing.</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Channelling
</a:t>
            </a:r>
            <a:pPr algn="l" indent="0" marL="0">
              <a:buNone/>
            </a:pPr>
            <a:r>
              <a:rPr lang="en-US" sz="950" dirty="0">
                <a:solidFill>
                  <a:srgbClr val="7A2E0E"/>
                </a:solidFill>
                <a:latin typeface="Calibri" pitchFamily="34" charset="0"/>
                <a:ea typeface="Calibri" pitchFamily="34" charset="-122"/>
                <a:cs typeface="Calibri" pitchFamily="34" charset="-120"/>
              </a:rPr>
              <a:t>Offers of assistance are to be channelled through Colombia's Ministry of Foreign Affairs together with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number pending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Rapid Mapping for damage assessment; requested by EC Services / DG ECHO; 3 AOIs, 3 products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Ongoing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Activation page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type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Affected country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Authorised user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Service output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reason (verbatim)
</a:t>
            </a:r>
            <a:pPr algn="l" indent="0" marL="0">
              <a:buNone/>
            </a:pPr>
            <a:r>
              <a:rPr lang="en-US" sz="900" i="1" dirty="0">
                <a:solidFill>
                  <a:srgbClr val="222222"/>
                </a:solidFill>
                <a:latin typeface="Calibri" pitchFamily="34" charset="0"/>
                <a:ea typeface="Calibri" pitchFamily="34" charset="-122"/>
                <a:cs typeface="Calibri"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What Rapid Mapping delivers
</a:t>
            </a:r>
            <a:pPr algn="l" indent="0" marL="0">
              <a:buNone/>
            </a:pPr>
            <a:r>
              <a:rPr lang="en-US" sz="950" dirty="0">
                <a:solidFill>
                  <a:srgbClr val="7A2E0E"/>
                </a:solidFill>
                <a:latin typeface="Calibri" pitchFamily="34" charset="0"/>
                <a:ea typeface="Calibri" pitchFamily="34" charset="-122"/>
                <a:cs typeface="Calibri" pitchFamily="34" charset="-120"/>
              </a:rPr>
              <a:t>Rapid Mapping delivers reference and grading products over selected areas of interest, not nationwide coverage. Products are published on the activation page as they are produced and are free to use.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European Commission — EU support for Colombia, Copernicus activated</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PNGRD 2015-2030 — the national disaster risk management plan, adopted by Decree 308 of 2016 and updated by Decree 1478 of 3 August 2022; aligned with the Sendai Framework and monitored annually by UNGRD.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 In Cali the microzonation is binding on structural design through Decree 411.0.20.0158 of 2014.</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Cities run their own instruments alongside the national system: Cali's SATIC community-and-sensor early warning system (from 2018, formalised by Municipal Decree 0858 of 2022), Medellín's DAGRD and its municipal plan, and municipal risk-management funds created under Law 1523.</a:t>
            </a:r>
            <a:endParaRPr lang="en-US" sz="109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update of the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Cali's intelligent and community early warning system</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110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Pre-event Risk Assessment: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Cali did not lack a risk assessment. Between 2020 and 2022 the city built a full urban earthquake risk model with the GEM Foundation under the USAID-supported TREQ project, one of three pilot cities alongside Quito and Santiago de los Caballeros. The modelled scenario is a shallow local one — magnitude 6.5 at 10 km depth on the Dagua-Calima fault — and its estimates dwarf what the city actually experienced on 10 August 2026.</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Modelled scenario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Modelled scenario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depth, Dagua-Calima fault, urban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Population exposed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Estimated deaths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Seriously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Displaced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Buildings collapsed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1,800 of 348,000 (0.5%)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Residual risk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assessed at about 40% after existing measures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What the city had already prioritised</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studies of indispensable buildings — hospitals, schools, fire stations — to the NSR-10 code (budgeted at about USD 1.7 million, short term).</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Structural retrofitting of indispensable buildings and of basic-service infrastructure, to keep essential services running after an earthquake.</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assessment of the EMCALI water, sewerage and power networks and of the city gas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Updating the local soil-response model and the seismic microzonation, in force since INGEOMINAS/DAGMA (2005) and adopted by Decree 411.0.20.0158 of 2014 for structural design.</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Maintaining and extending the Cali accelerograph network (RAC) and its interoperability with the SGC national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Insuring public infrastructure against seismic risk, and retrofitting low-income housing through subsidies and safe self-build programmes.</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Financing model for the priority measures: local government 30-50%, national disaster fund (FNGRD/UNGRD) 30-50%, international partners including JICA, the GEM Foundation and the IDB about 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The 2026 earthquake was not this scenario
</a:t>
            </a:r>
            <a:pPr algn="l" indent="0" marL="0">
              <a:buNone/>
            </a:pPr>
            <a:r>
              <a:rPr lang="en-US" sz="950" dirty="0">
                <a:solidFill>
                  <a:srgbClr val="7A2E0E"/>
                </a:solidFill>
                <a:latin typeface="Calibri" pitchFamily="34" charset="0"/>
                <a:ea typeface="Calibri" pitchFamily="34" charset="-122"/>
                <a:cs typeface="Calibri" pitchFamily="34" charset="-120"/>
              </a:rPr>
              <a:t>The 10 August event was larger in magnitude (M7.4) but 110 km deep and 158 km from Cali, giving the city MMI VI rather than the near-field shaking of the modelled M6.5. Cali recorded 27 deaths and 25-30 collapsed structures — two orders of magnitude below the scenario. What it did test is exactly the weakness the local plan had flagged: about 30% of the University Hospital collapsed and seven health institutions closed. The city's own worst case remains ahead of it, and the case for retrofitting indispensable buildings is now evidential rather than theoretical.</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GEM-TREQ City Profile: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GEM-TREQ city profile for Cali: the M6.5 / 10 km Dagua-Calima scenario. 2.3 million people and 312,000 residential, 22,000 commercial, 5,300 industrial and 8,000 institutional buildings are exposed, with COP 220 trillion of exposed capital. The bars give, per comuna, the collapse index, fatalities, serious injuries, displaced people and economic losses; the histograms give the city totals with their modelled ranges.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Ecuador-Colombia earthquake (Pacific coast)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earthquake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The reference historical event for Cali; the city was also shaken in 1995 and 2004, the latter damaging clinics and residential buildings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Coffee Region earthquake (deep,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An intermediate-depth event beneath the same coffee-growing departments — the closest historical analogue to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Tumaco earthquake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Popayán earthquake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Páez (Cauca)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(Quindío)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 (this event)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SGC / GEM national seismic hazard model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National seismic hazard, 475-year return period</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Popayán 1983 (M5.5), Páez 1994 (M6.8) and Armenia 1999 (M6.1-6.2) were all shallow and close to towns; the largest events, offshore in 1906 and 1979, killed fewer people. Depth and proximity, not magnitude alone, drive the toll.</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1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A deep source with shallow-disaster consequences. At 110 km depth the earthquake produced no surface rupture and no tsunami, yet it damaged buildings in at least six departments. Damage is dispersed rather than concentrated, which complicates needs assessment, logistics and the targeting of search and rescue.</a:t>
            </a:r>
            <a:endParaRPr lang="en-US" sz="1150" dirty="0"/>
          </a:p>
          <a:p>
            <a:pPr algn="l" marL="342900" indent="-342900">
              <a:buSzPct val="100000"/>
              <a:buChar char="•"/>
            </a:pPr>
            <a:r>
              <a:rPr lang="en-US" sz="11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1150" dirty="0"/>
          </a:p>
          <a:p>
            <a:pPr algn="l" marL="342900" indent="-342900">
              <a:buSzPct val="100000"/>
              <a:buChar char="•"/>
            </a:pPr>
            <a:r>
              <a:rPr lang="en-US" sz="11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Figures are moving as expected. The national toll went from 111 in the Government's 13:00 COT balance to 132 by the evening, and the Chocó department figure from 12 to 13 deaths with injuries revised from 84 to 119 — while the building-damage counts stayed at their first-look values. Rapid increases over the coming days should be read as assessment progressing, not necessarily as the situation worsening.</a:t>
            </a:r>
            <a:endParaRPr lang="en-US" sz="1150" dirty="0"/>
          </a:p>
          <a:p>
            <a:pPr algn="l" marL="342900" indent="-342900">
              <a:buSzPct val="100000"/>
              <a:buChar char="•"/>
            </a:pPr>
            <a:r>
              <a:rPr lang="en-US" sz="11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1150" dirty="0"/>
          </a:p>
          <a:p>
            <a:pPr algn="l" marL="342900" indent="-342900">
              <a:buSzPct val="100000"/>
              <a:buChar char="•"/>
            </a:pPr>
            <a:r>
              <a:rPr lang="en-US" sz="11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The assessments existed before the event. Cali's GEM-TREQ risk model and its local plan had already named hospitals and other indispensable buildings as the priority to retrofit, and the 2026 earthquake — a far weaker test than the city's own modelled scenario — still took out roughly 30% of its main public hospital. The gap here is not knowledge but implementation and financing.</a:t>
            </a:r>
            <a:endParaRPr lang="en-US" sz="1150" dirty="0"/>
          </a:p>
          <a:p>
            <a:pPr algn="l" marL="342900" indent="-342900">
              <a:buSzPct val="100000"/>
              <a:buChar char="•"/>
            </a:pPr>
            <a:r>
              <a:rPr lang="en-US" sz="11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Aftershock risk to damaged buildings. The intraslab aftershock sequence is expected to be modest, but damaged structures have lost capacity; rapid structural inspection (habitability assessment) before re-occupancy is the immediate priority alongside search and rescue.</a:t>
            </a:r>
            <a:endParaRPr lang="en-US" sz="1150" dirty="0"/>
          </a:p>
          <a:p>
            <a:pPr algn="l" marL="342900" indent="-342900">
              <a:buSzPct val="100000"/>
              <a:buChar char="•"/>
            </a:pPr>
            <a:r>
              <a:rPr lang="en-US" sz="115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11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event bulletin SGC2026pqqmro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macroseismic intensity map (ShakeMap) for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death toll rises to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injured and 12 dead in Chocó (department government)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(event identifier)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European Commission — EU support for Colombia, Copernicus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Foundation — TREQ project (urban earthquake risk,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(technical report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(peer-reviewed,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Cali's intelligent and community early warning system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update of the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10 Aug 2026, 22:00 COT (11 Aug 12:00 JST), about 14 hours after the earthquake. The Government's consolidated balance (111 deaths, 87 injured) is its 13:00 COT figure; the later toll of 132 is from media reporting. All figures are preliminary.</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2026-08-11T02:48:58Z</dcterms:created>
  <dcterms:modified xsi:type="dcterms:W3CDTF">2026-08-11T02:48:58Z</dcterms:modified>
</cp:coreProperties>
</file>