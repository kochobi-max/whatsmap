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Population exposed by shaking level (millions, USGS PAGER)</a:t>
            </a:r>
          </a:p>
        </c:rich>
      </c:tx>
      <c:layout/>
      <c:overlay val="0"/>
    </c:title>
    <c:autoTitleDeleted val="0"/>
    <c:plotArea>
      <c:layout/>
      <c:barChart>
        <c:barDir val="col"/>
        <c:grouping val="clustered"/>
        <c:varyColors val="0"/>
        <c:ser>
          <c:idx val="0"/>
          <c:order val="0"/>
          <c:tx>
            <c:strRef>
              <c:f>Sheet1!$B$1</c:f>
              <c:strCache>
                <c:ptCount val="1"/>
                <c:pt idx="0">
                  <c:v>People exposed</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Reported deaths by department (provisional)</a:t>
            </a:r>
          </a:p>
        </c:rich>
      </c:tx>
      <c:layout/>
      <c:overlay val="0"/>
    </c:title>
    <c:autoTitleDeleted val="0"/>
    <c:plotArea>
      <c:layout/>
      <c:barChart>
        <c:barDir val="bar"/>
        <c:grouping val="clustered"/>
        <c:varyColors val="0"/>
        <c:ser>
          <c:idx val="0"/>
          <c:order val="0"/>
          <c:tx>
            <c:strRef>
              <c:f>Sheet1!$B$1</c:f>
              <c:strCache>
                <c:ptCount val="1"/>
                <c:pt idx="0">
                  <c:v>Deaths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www.sgc.gov.co/"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sgc.gov.co/detallesismo/SGC2026pqqmro/mmi" TargetMode="External"/><Relationship Id="rId3" Type="http://schemas.openxmlformats.org/officeDocument/2006/relationships/hyperlink" Target="https://www.sgc.gov.co/detallesismo/SGC2026pqqmro/" TargetMode="External"/><Relationship Id="rId4"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emergency.copernicus.eu/mapping/list-of-activations-rapid"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6-1.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7-1.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8-1.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emergency.copernicus.eu/mapping/list-of-activations-rapid"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0-1.png"/><Relationship Id="rId17" Type="http://schemas.openxmlformats.org/officeDocument/2006/relationships/slideLayout" Target="../slideLayouts/slideLayout1.xml"/><Relationship Id="rId1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2-1.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Disaster Report</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2026 Chocó Earthquake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Chocó Department - 10 August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depth 107 km   ·   MMI VII (Very strong) — USGS ShakeMap; the SGC macroseismic intensity map agrees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World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png">    </p:cNvPr>
          <p:cNvPicPr>
            <a:picLocks noChangeAspect="1"/>
          </p:cNvPicPr>
          <p:nvPr/>
        </p:nvPicPr>
        <p:blipFill>
          <a:blip r:embed="rId2"/>
          <a:stretch>
            <a:fillRect/>
          </a:stretch>
        </p:blipFill>
        <p:spPr>
          <a:xfrm>
            <a:off x="402336" y="2327988"/>
            <a:ext cx="3639312" cy="1708248"/>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NW South America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png">    </p:cNvPr>
          <p:cNvPicPr>
            <a:picLocks noChangeAspect="1"/>
          </p:cNvPicPr>
          <p:nvPr/>
        </p:nvPicPr>
        <p:blipFill>
          <a:blip r:embed="rId3"/>
          <a:stretch>
            <a:fillRect/>
          </a:stretch>
        </p:blipFill>
        <p:spPr>
          <a:xfrm>
            <a:off x="4839881" y="1975104"/>
            <a:ext cx="2701214"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Epicentre &amp; affected cities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png">    </p:cNvPr>
          <p:cNvPicPr>
            <a:picLocks noChangeAspect="1"/>
          </p:cNvPicPr>
          <p:nvPr/>
        </p:nvPicPr>
        <p:blipFill>
          <a:blip r:embed="rId4"/>
          <a:stretch>
            <a:fillRect/>
          </a:stretch>
        </p:blipFill>
        <p:spPr>
          <a:xfrm>
            <a:off x="8712521" y="1975104"/>
            <a:ext cx="2892926"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Base map: Natural Earth (110 m). Distances computed from published coordinates; the figures are schematic and are not official hazard maps.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Overview   </a:t>
            </a:r>
            <a:pPr algn="l" indent="0" marL="0">
              <a:buNone/>
            </a:pPr>
            <a:r>
              <a:rPr lang="en-US" sz="980" dirty="0">
                <a:solidFill>
                  <a:srgbClr val="FFFFFF"/>
                </a:solidFill>
                <a:latin typeface="Calibri" pitchFamily="34" charset="0"/>
                <a:ea typeface="Calibri" pitchFamily="34" charset="-122"/>
                <a:cs typeface="Calibri" pitchFamily="34" charset="-120"/>
              </a:rPr>
              <a:t>At 07:34 local time (12:34 UTC) on 10 August 2026, an Mww 7.4 earthquake struck western Colombia with its epicentre 5 km east of San José del Palmar in Chocó Department, at a depth of about 107 km (USGS). The event was an intermediate-depth, strike-slip rupture inside the subducting Nazca slab; because of its depth, strong shaking (MMI VI-VII) was spread over a wide area of the Andean Coffee Region rather than concentrated near the epicentre, and about 10.5 million people were exposed to it. The SGC describes it as the largest-magnitude earthquake recorded in Colombia in the past decade. As of 17:00 COT on 10 August the Government reported 111 deaths and 87 injured, more than 1,600 buildings damaged (1,575 homes damaged, 37 destroyed, 61 buildings collapsed), together with damage to 18 health facilities, 52 educational facilities, 18 major roads and six regional airports. The passenger terminal of Matecaña International Airport in Pereira partially collapsed, a tower of the neo-Gothic cathedral in Manizales fell onto the nave, and about 30% of the University Hospital in Cali collapsed. The President declared a national disaster, set up a Unified Command Post in Chocó and deployed four USAR teams and the armed forces. There was no tsunami. All figures are preliminary and are expected to change as assessment proceeds.</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Seismotectonic Setting: an intraslab earthquake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png">    </p:cNvPr>
          <p:cNvPicPr>
            <a:picLocks noChangeAspect="1"/>
          </p:cNvPicPr>
          <p:nvPr/>
        </p:nvPicPr>
        <p:blipFill>
          <a:blip r:embed="rId2"/>
          <a:stretch>
            <a:fillRect/>
          </a:stretch>
        </p:blipFill>
        <p:spPr>
          <a:xfrm>
            <a:off x="365760" y="1040572"/>
            <a:ext cx="6858000" cy="2948056"/>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Schematic cross-section (ADRC)</a:t>
            </a:r>
            <a:endParaRPr lang="en-US" sz="800" dirty="0"/>
          </a:p>
        </p:txBody>
      </p:sp>
      <p:sp>
        <p:nvSpPr>
          <p:cNvPr id="6" name="Text 2"/>
          <p:cNvSpPr/>
          <p:nvPr/>
        </p:nvSpPr>
        <p:spPr>
          <a:xfrm>
            <a:off x="365760" y="4315968"/>
            <a:ext cx="6858000" cy="1828800"/>
          </a:xfrm>
          <a:prstGeom prst="rect">
            <a:avLst/>
          </a:prstGeom>
          <a:noFill/>
          <a:ln/>
        </p:spPr>
        <p:txBody>
          <a:bodyPr wrap="square" lIns="50800" tIns="50800" rIns="50800" bIns="5080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Colombia lies at the junction of the Nazca, Caribbean and South America plates. Off the Pacific coast the Nazca plate subducts eastward beneath South America at roughly 50-60 mm/yr, and the descending slab reaches intermediate depths (70-300 km) beneath the Western and Central Cordilleras. This event ruptured inside that slab at about 107 km depth, which is why the shaking was felt over hundreds of kilometres - as far as Bogotá, Quito and Panamá City - while surface faulting and tsunami generation were absent. Intermediate-depth events radiate high-frequency energy efficiently and attenuate slowly, so damage tends to be distributed across many cities rather than concentrated in a narrow epicentral zone.</a:t>
            </a:r>
            <a:endParaRPr lang="en-US" sz="1050" dirty="0"/>
          </a:p>
        </p:txBody>
      </p:sp>
      <p:sp>
        <p:nvSpPr>
          <p:cNvPr id="7" name="Text 3"/>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Depth about 107 km (USGS): an intraslab event, not a plate-interface megathrust.</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Strike-slip mechanism within the descending Nazca slab (USGS tectonic summary).</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Maximum shaking MMI VII (Very strong); about 10.5 million people exposed to MMI VI-VII.</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USGS PAGER Orange alert: estimated fatalities of the order of 300 and estimated economic loss of the order of USD 880 million (model estimates, not observations).</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The SGC assesses this as the largest-magnitude earthquake recorded in Colombia in the past decade.</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Shaking was reported as unusually long in duration in cities far from the epicentre - a characteristic of deep events recorded on soft valley sediments.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Overview of the Earthquake &amp; Response Measures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Aug 2026, 07:34 COT (12:34 UTC / 21:34 JST)    |    Mww 7.4    |    depth 107 km    |    MMI VII (Very strong) — USGS ShakeMap; the SGC macroseismic intensity map agrees</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Government declared a national disaster (desastre nacional), enabling extraordinary mobilisation and coordination of the response.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President Abelardo de la Espriella - in office for three days - ordered a Unified Command Post (PMU) in Chocó to coordinate the emergency, and travelled to Pereira, one of the worst-hit cities.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The National Unit for Disaster Risk Management (UNGRD) activated the national system, verified damage with departmental and municipal authorities, and channelled offers of assistance together with the Ministry of Foreign Affairs.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Four USAR (urban search and rescue) groups were deployed from Bogotá, Envigado, Yopal and Medellín to reinforce search and rescue.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Soldiers were deployed to the affected departments for search, rescue and route clearance.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Civil aviation suspended flights at Pereira, Manizales, Quibdó, Armenia, Cartago and Buenaventura while runways and terminals were inspected.</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Damaged buildings, power outages and communications disruption are slowing assessment in parts of Chocó closest to the epicentre.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GLIDE number assigned for this event: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Mww 7.4 earthquake, epicentre 5 km E of San José del Palmar (Chocó), depth approx. 107 km. Felt in Bogotá, Cali, Medellín, and in Ecuador, Panama and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SGC issues a first bulletin (initially M6.6, 79 km depth), later revised to M7.4 at 96 km, located with 69 stations (event SGC2026pqqmro); damage-assessment protocols activated.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UNGRD reports first damage indications in 9 municipalities of Chocó, 8 of Caldas, 2 of Valle del Cauca and 2 of Risaralda, plus localities in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reports collapsed structures at 12 critical points with people trapped; part of the University Hospital collapses.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reports 17 buildings collapsed and 19 partially collapsed; a tower of the neo-Gothic cathedral falls onto the nave. Residents asked to stay outdoors because of aftershocks.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Morning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Passenger terminal of Matecaña International Airport (Pereira) partially collapses; flights suspended at six regional 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National disaster declared; Unified Command Post established in Chocó; armed forces deployed.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Chronology of the Response (10 August)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Times are Colombia time (COT, UTC-5). The earthquake occurred at 07:34 COT = 21:34 JST on 10 August.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Action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Four USAR teams deployed from Bogotá, Envigado, Yopal and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More than 20 aftershocks recorded; the largest widely felt aftershock is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Daytime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President travels to Pereira to lead the response on the ground.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First national damage report: 111 deaths, 87 injured; 1,575 homes damaged, 37 destroyed, 61 buildings collapsed; 18 health facilities, 52 educational facilities, 17 community facilities, 18 major roads and 6 regional airports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Presidency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Afternoon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mobilises a 47-person USAR team with canine units; Mexico and other governments offer assistance, to be channelled through the Foreign Ministry and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International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Same day</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Activation of the International Charter 'Space and Major Disasters' and mobilisation of the Copernicus Emergency Management Service are reported; details being confirmed.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Charter / Copernicus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Affected Departments &amp; Cities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Epicentral distances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damage is dispersed
</a:t>
            </a:r>
            <a:pPr algn="l" indent="0" marL="0">
              <a:buNone/>
            </a:pPr>
            <a:r>
              <a:rPr lang="en-US" sz="950" dirty="0">
                <a:solidFill>
                  <a:srgbClr val="7A2E0E"/>
                </a:solidFill>
                <a:latin typeface="Calibri" pitchFamily="34" charset="0"/>
                <a:ea typeface="Calibri" pitchFamily="34" charset="-122"/>
                <a:cs typeface="Calibri" pitchFamily="34" charset="-120"/>
              </a:rPr>
              <a:t>A 107 km-deep source puts every city in the region at a broadly similar hypocentral distance (108-200 km), so no single city sits in a narrow zone of extreme shaking.</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Main cities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 / 102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Epicentral department; 9 municipalities with reported damage; access, power and communications constrained.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55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Highest reported death toll (at least 40; the governor cites at least 42). Airport terminal partially collapsed.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166 / 35 / 147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deaths reported; 25-30 collapsed structures at 12 critical points in Cali; University Hospital heavily damaged.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77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municipalities affected; 17 buildings collapsed and 19 partially collapsed in Manizales; cathedral tower fell onto the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and other localities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70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Several localities reported affected; the same Coffee Region devastated by the 1999 Armenia earthquake.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and surroundings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164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One death reported (a 73-year-old); structural damage under inspection.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235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Widely felt; buildings evacuated; structural damage to a school in Nilo reported.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Event Parameters &amp; Observed Shaking</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Value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07:34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Origin time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Aug 2026, 12:34 UTC  /  10 Aug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E of San José del Palmar, Chocó Department (approx. 280 km W of Bogotá) — SGC: 20 km from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Coordinates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4.9031 N, 76.1885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Depth</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107 km (USGS)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Mechanism</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Strike-slip faulting at intermediate depth, within the subducting Nazca slab (not on the shallow plate interface)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Max.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(Very strong) — USGS ShakeMap; the SGC macroseismic intensity map agrees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Felt area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Felt across western and central Colombia including Bogotá, Cali and Medellín, and in Ecuador, Panama and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tsunami. The event was inland and at intermediate depth; no tsunami warning was issued for the Pacific coast.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Alert level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PAGER: Orange (significant casualties and damage likely). GDACS: Orange.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Distance vs. reported MMI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USGS PAGER exposure estimates. About 10.5 million people experienced Strong to Very Strong shaking (MMI VI-VII) and an estimated 34 million people across four countries felt the earthquake. These are model estimates.</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USGS and SGC agree on size; the SGC's first bulletin gave M6.6 at 79 km before revision. The two locations differ by about 20 km and their depths by about 11 km — normal for an intermediate-depth event recorded by different networks. Epicentral distances in this report are measured from the USGS location. SGC event SGC2026pqqmro was located with 69 stations; the SGC states its bulletins are subject to change as review continues.</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Macroseismic Intensity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24128"/>
            <a:ext cx="5212080" cy="4846320"/>
          </a:xfrm>
          <a:prstGeom prst="roundRect">
            <a:avLst>
              <a:gd name="adj" fmla="val 1132"/>
            </a:avLst>
          </a:prstGeom>
          <a:solidFill>
            <a:srgbClr val="EAF2F8"/>
          </a:solidFill>
          <a:ln w="12700">
            <a:solidFill>
              <a:srgbClr val="2E5496"/>
            </a:solidFill>
            <a:prstDash val="dash"/>
          </a:ln>
        </p:spPr>
      </p:sp>
      <p:sp>
        <p:nvSpPr>
          <p:cNvPr id="5" name="Text 2"/>
          <p:cNvSpPr/>
          <p:nvPr/>
        </p:nvSpPr>
        <p:spPr>
          <a:xfrm>
            <a:off x="502920" y="1161288"/>
            <a:ext cx="4937760" cy="4572000"/>
          </a:xfrm>
          <a:prstGeom prst="rect">
            <a:avLst/>
          </a:prstGeom>
          <a:noFill/>
          <a:ln/>
        </p:spPr>
        <p:txBody>
          <a:bodyPr wrap="square" rtlCol="0" anchor="ctr"/>
          <a:lstStyle/>
          <a:p>
            <a:pPr algn="ctr" indent="0" marL="0">
              <a:buNone/>
            </a:pPr>
            <a:r>
              <a:rPr lang="en-US" sz="1000" i="1" dirty="0">
                <a:solidFill>
                  <a:srgbClr val="6A6A6A"/>
                </a:solidFill>
                <a:latin typeface="Calibri" pitchFamily="34" charset="0"/>
                <a:ea typeface="Calibri" pitchFamily="34" charset="-122"/>
                <a:cs typeface="Calibri" pitchFamily="34" charset="-120"/>
              </a:rPr>
              <a:t>Insert image before web release.</a:t>
            </a:r>
            <a:endParaRPr lang="en-US" sz="1000" dirty="0"/>
          </a:p>
        </p:txBody>
      </p:sp>
      <p:sp>
        <p:nvSpPr>
          <p:cNvPr id="6" name="Text 3"/>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Aug 2026 12:34:29 UTC · M7.4 · N5.04 W76.34 · depth 96.0 km · ID SGC2026pqqmro · Version 1, processed 2026-08-10T13:12:28Z · scale after Worden et al. (2012)</a:t>
            </a:r>
            <a:endParaRPr lang="en-US" sz="800" dirty="0"/>
          </a:p>
        </p:txBody>
      </p:sp>
      <p:sp>
        <p:nvSpPr>
          <p:cNvPr id="7" name="Text 4"/>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The SGC map shows the strongest band (MMI VII, 'Muy Fuerte') over the epicentral area of Chocó and along the inter-Andean corridor through Risaralda, Caldas, Quindío and northern Valle del Cauca — the belt in which the collapses in Pereira, Manizales, Armenia and Cartago occurred. Intensity falls away eastward: Medellín and Cali sit in the moderate-to-strong bands and Bogotá, 235 km from the epicentre, in a low one. The elongated pattern along the valleys, rather than a compact circle around the epicentre, is the signature of a 96-107 km-deep source combined with soft valley sediments.</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Perceived shaking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Potential damage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Not felt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Weak</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None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Light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strong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Moderate/heavy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Very heavy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5"/>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Modified Mercalli scale (Worden et al., 2012), as printed on the SGC map</a:t>
            </a:r>
            <a:endParaRPr lang="en-US" sz="7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SGC — macroseismic intensity map (ShakeMap) for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SGC — event bulletin SGC2026pqqmro (this earthquake)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Seismicity: Aftershocks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Time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aftershock on the SGC event bulletin; widely felt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second aftershock listed on the SGC event bulletin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Media reported more than 20 aftershocks during the day; the SGC event bulletin listed two at the time of writing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Media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The SGC event bulletin (SGC2026pqqmro) listed two aftershocks, M2.8 and M4.8, the latter widely felt; media reported more than 20 during the day. Aftershock sequences of intermediate-depth intraslab events are typically less productive than those of shallow crustal earthquakes, but strong aftershocks remain possible and already-damaged buildings are vulnerable to them.</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Operational implication
</a:t>
            </a:r>
            <a:pPr algn="l" indent="0" marL="0">
              <a:buNone/>
            </a:pPr>
            <a:r>
              <a:rPr lang="en-US" sz="950" dirty="0">
                <a:solidFill>
                  <a:srgbClr val="7A2E0E"/>
                </a:solidFill>
                <a:latin typeface="Calibri" pitchFamily="34" charset="0"/>
                <a:ea typeface="Calibri" pitchFamily="34" charset="-122"/>
                <a:cs typeface="Calibri" pitchFamily="34" charset="-120"/>
              </a:rPr>
              <a:t>Buildings that survived the mainshock in a damaged state have lost capacity. Even moderate aftershocks can bring them down, so rapid habitability assessment before re-occupancy - and keeping people out of visibly damaged structures - matters as much as the aftershock statistics themselves.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Human Damage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Deaths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Injured</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Buildings damaged</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Department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Deaths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Note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Governor cites at least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Epicentral department</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Reported as 2, later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73-year-old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Reading the numbers
</a:t>
            </a:r>
            <a:pPr algn="l" indent="0" marL="0">
              <a:buNone/>
            </a:pPr>
            <a:r>
              <a:rPr lang="en-US" sz="950" dirty="0">
                <a:solidFill>
                  <a:srgbClr val="7A2E0E"/>
                </a:solidFill>
                <a:latin typeface="Calibri" pitchFamily="34" charset="0"/>
                <a:ea typeface="Calibri" pitchFamily="34" charset="-122"/>
                <a:cs typeface="Calibri" pitchFamily="34" charset="-120"/>
              </a:rPr>
              <a:t>Departmental figures come from local authorities and are reported at different times; they do not yet add up to the national total of 111 and will be reconciled as verification proceeds.</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 Colombia declares national emergency as quake toll hits 111</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 Strong earthquake strikes western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 Deaths, injuries and collapsed buildings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 UNGRD, 10 Aug afternoon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Missing / trapped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yet quantified; people were reported trapped under rubble in Cali, Pereira and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Local authorities (media)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damaged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More than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Presidency,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damaged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Homes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Buildings collapsed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nationally; Cali 25-30 at 12 critical points, Manizales 17 collapsed + 19 partial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mayors of Cali and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Health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damaged; 7 health institutions closed; about 30% of the University Hospital in Cali collapsed, including three floors (paediatrics, internal medicine, part of the neonatal unit)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Valle del Cauca government</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Buildings, Services &amp; Lifelines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All figures preliminary. Official (government) figures are primary; media-sourced items are labelled.</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Reported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Educational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damaged; schools evacuated across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Community facilities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Roads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major roads and highways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Aug</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Airports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regional airports damaged; Matecaña International (Pereira) passenger terminal partially collapsed; flights suspended at Pereira, Manizales, Quibdó, Armenia, Cartago and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civil aviation authority</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Cultural heritage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tower of the neo-Gothic Cathedral of Manizales collapsed onto the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Mayor of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Lifelines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Power outages and communications disruption reported in areas near the epicentre; systematic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Displacement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Thousands reported to have left their homes; shelter figures not yet published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Media / humanitarian agencies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First official assessment: widespread structural damage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Live updates: at least 111 dead</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National Response</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National disaster declaration activating the National Disaster Risk Management System (SNGRD) under Law 1523 of 2012.</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Unified Command Post (PMU) established in Chocó; UNGRD coordinating with departmental and municipal risk-management councils.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Four USAR teams (Bogotá, Envigado, Yopal, Medellín) deployed for search and rescue in collapsed structures.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Armed forces deployed for search, rescue, route clearance and security in the affected departments.</a:t>
            </a:r>
            <a:endParaRPr lang="en-US" sz="1300" dirty="0"/>
          </a:p>
          <a:p>
            <a:pPr algn="l" marL="342900" indent="-342900">
              <a:buSzPct val="100000"/>
              <a:buChar char="•"/>
            </a:pPr>
            <a:r>
              <a:rPr lang="en-US" sz="13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Rapid structural inspection of hospitals, schools and airports; seven health institutions closed and six airports suspended pending assessment.</a:t>
            </a:r>
            <a:endParaRPr lang="en-US" sz="1300" dirty="0"/>
          </a:p>
          <a:p>
            <a:pPr algn="l" marL="342900" indent="-342900">
              <a:buSzPct val="100000"/>
              <a:buChar char="•"/>
            </a:pPr>
            <a:r>
              <a:rPr lang="en-US" sz="13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400" dirty="0">
                <a:solidFill>
                  <a:srgbClr val="222222"/>
                </a:solidFill>
                <a:latin typeface="Calibri" pitchFamily="34" charset="0"/>
                <a:ea typeface="Calibri" pitchFamily="34" charset="-122"/>
                <a:cs typeface="Calibri" pitchFamily="34" charset="-120"/>
              </a:rPr>
              <a:t>Patients transferred from the damaged University Hospital in Cali to other facilities; the city reported casualties concentrated at 12 critical collapse sites.</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Legal basis
</a:t>
            </a:r>
            <a:pPr algn="l" indent="0" marL="0">
              <a:buNone/>
            </a:pPr>
            <a:r>
              <a:rPr lang="en-US" sz="950" dirty="0">
                <a:solidFill>
                  <a:srgbClr val="7A2E0E"/>
                </a:solidFill>
                <a:latin typeface="Calibri" pitchFamily="34" charset="0"/>
                <a:ea typeface="Calibri" pitchFamily="34" charset="-122"/>
                <a:cs typeface="Calibri" pitchFamily="34" charset="-120"/>
              </a:rPr>
              <a:t>The national disaster declaration activates the SNGRD established by Law 1523 of 2012, allowing UNGRD to direct resources and the national disaster fund (FNGRD) to be used without the ordinary procurement timelines.</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 Government declares national disaster</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International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mobilised a specialised USAR team of 47 personnel with canine units and self-sufficient equipment.</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Mexico's President pledged 'all the support required'; several Latin American governments offered rescuers, canine teams and humanitarian aid, to be channelled through Colombia's Foreign Ministry and UNGRD.</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International Charter 'Space and Major Disasters' is reported to have been activated for this earthquake, and the Copernicus Emergency Management Service mobilised, to provide satellite imagery for damage assessment. Activation numbers and value-added products are being confirmed.</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International NGOs mobilising: Direct Relief and Americares (medical supplies), Save the Children (child protection and education), International Rescue Committee (assessment near the epicentre in Chocó), Convoy of Hope (relief goods).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No announcement by the Government of Japan (message of condolence, emergency grant aid or JDR dispatch) had been identified at the time of writing.</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Channelling
</a:t>
            </a:r>
            <a:pPr algn="l" indent="0" marL="0">
              <a:buNone/>
            </a:pPr>
            <a:r>
              <a:rPr lang="en-US" sz="950" dirty="0">
                <a:solidFill>
                  <a:srgbClr val="7A2E0E"/>
                </a:solidFill>
                <a:latin typeface="Calibri" pitchFamily="34" charset="0"/>
                <a:ea typeface="Calibri" pitchFamily="34" charset="-122"/>
                <a:cs typeface="Calibri" pitchFamily="34" charset="-120"/>
              </a:rPr>
              <a:t>Offers of assistance are to be channelled through Colombia's Ministry of Foreign Affairs together with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Satellite &amp; Analytical Support</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Organisation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Contribution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Activation for the Colombia earthquake reported; wide-area optical/SAR imagery for damage assessment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Rapid Mapping mobilised for the affected departments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Reported / confirming</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TBC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(Orange), finite-fault and aftershock catalogue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Overall Orange alert; population exposure and impact estimates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National seismic network: hypocentre, magnitude revision, aftershock bulletins, accelerographic records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Published</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Not applicable - the mechanism covers the Asia-Pacific region; Colombia is served by the International Charter and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Note on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for which ADRC serves as a joint project team member, covers the Asia-Pacific region. For a disaster in Colombia the equivalent international mechanisms are the International Charter 'Space and Major Disasters' and the Copernicus Emergency Management Service; UNOSAT/UNITAR rapid mapping is also commonly used in Latin America.</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International Charter 'Space and Major Disasters' -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Rapid Mapping activations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 Orange earthquake alert, Colombia, 10 Aug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Colombia's Disaster Risk Management System</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rebuilt its disaster risk management framework after the 1985 Armero volcanic disaster and again after the 1999 Armenia earthquake. Law 1523 of 2012 created the National Disaster Risk Management System (SNGRD), led by the National Unit for Disaster Risk Management (UNGRD), which reports to the Presidency.</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Law 1523 of 2012 - national policy on disaster risk management; defines the SNGRD and makes risk management a mandatory duty of every public authority and, in part, of private actors.</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UNGRD - national coordinating agency under the Presidency; runs the national response, the disaster fund (FNGRD) and the national information system.</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Departmental and municipal risk management councils (CDGRD / CMGRD) carry out first response; UNGRD reinforces when local capacity is exceeded.</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PNGRD 2015-2030 - the national disaster risk management plan, aligned with the Sendai Framework.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NSR-10 - the national seismic building code (in force since 2010, technical annexes updated since). Buildings predating modern code enforcement, and non-engineered masonry and earthen construction, remain the dominant source of risk.</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Seismic microzonation studies exist for major cities including Bogotá, Medellín, Cali, Pereira, Manizales and Armenia - a direct legacy of the 1999 earthquake.</a:t>
            </a:r>
            <a:endParaRPr lang="en-US" sz="1150" dirty="0"/>
          </a:p>
          <a:p>
            <a:pPr algn="l" marL="342900" indent="-342900">
              <a:spcAft>
                <a:spcPts val="500"/>
              </a:spcAft>
              <a:buSzPct val="100000"/>
              <a:buChar char="•"/>
            </a:pPr>
            <a:r>
              <a:rPr lang="en-US" sz="1150" dirty="0">
                <a:solidFill>
                  <a:srgbClr val="222222"/>
                </a:solidFill>
                <a:latin typeface="Calibri" pitchFamily="34" charset="0"/>
                <a:ea typeface="Calibri" pitchFamily="34" charset="-122"/>
                <a:cs typeface="Calibri" pitchFamily="34" charset="-120"/>
              </a:rPr>
              <a:t>The SGC operates the National Seismological Network and the national accelerograph network, and issues public bulletins within minutes.</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 UNGRD of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 Risk governance scan of Colombia</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The 1999 Armenia (Quindío) Earthquake &amp; Recovery</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The 1999 Armenia (Quindío) Earthquake - the same Coffee Region
</a:t>
            </a:r>
            <a:pPr algn="l" indent="0" marL="0">
              <a:buNone/>
            </a:pPr>
            <a:r>
              <a:rPr lang="en-US" sz="1050" dirty="0">
                <a:solidFill>
                  <a:srgbClr val="222222"/>
                </a:solidFill>
                <a:latin typeface="Calibri" pitchFamily="34" charset="0"/>
                <a:ea typeface="Calibri" pitchFamily="34" charset="-122"/>
                <a:cs typeface="Calibri" pitchFamily="34" charset="-120"/>
              </a:rPr>
              <a:t>On 25 January 1999 an M6.1-6.2 earthquake at about 30 km depth struck the Quindío coffee-growing region. It killed about 1,185 people, injured over 5,000 and damaged or destroyed some 50,000 structures; roughly 60% of the buildings in the city of Armenia collapsed or were severely damaged, and more than 200,000 people were displaced. Although far smaller in magnitude than the 2026 event, it was much shallower and much closer to the cities, which is why its local destructiveness was far greater.</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1999 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Figure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Injured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Structures damaged or destroyed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Displaced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over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Coffee sector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approx. 8,000 farms and 1,200 processing facilities damaged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What followed / lessons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Why this matters now
</a:t>
            </a:r>
            <a:pPr algn="l" indent="0" marL="0">
              <a:buNone/>
            </a:pPr>
            <a:r>
              <a:rPr lang="en-US" sz="950" dirty="0">
                <a:solidFill>
                  <a:srgbClr val="7A2E0E"/>
                </a:solidFill>
                <a:latin typeface="Calibri" pitchFamily="34" charset="0"/>
                <a:ea typeface="Calibri" pitchFamily="34" charset="-122"/>
                <a:cs typeface="Calibri" pitchFamily="34" charset="-120"/>
              </a:rPr>
              <a:t>The cities hit hardest in 2026 - Pereira, Manizales, Armenia - are the same cities that rebuilt after 1999. How that rebuilt stock performed under long-period, long-duration shaking from a 107 km-deep source is the key question for post-event assessment.</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 Colombia PNGRD 2015-2030</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Historical Earthquakes in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Year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Event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1906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Ecuador-Colombia earthquake (Pacific coast)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One of the largest earthquakes ever recorded; destructive tsunami on the Pacific coast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1979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Tumaco earthquake (Nariño)</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M8.1</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Subduction-interface event with tsunami; several hundred deaths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1983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Popayán earthquake (Cauca)</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M5.5</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250-300 deaths; historic city centre heavily damaged - a small but shallow, urban event</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Páez (Cauca)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M6.8</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1,100 deaths, most caused by earthquake-triggered landslides and debris flows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1995</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M6.6</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Intermediate-depth event in the same department as the 2026 earthquake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1999</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Armenia (Quindío) earthquake</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M6.1-6.2</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About 1,185 deaths; Colombia's costliest earthquake disaster; drove the modern DRM reforms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Calibri" pitchFamily="34" charset="0"/>
                          <a:ea typeface="Calibri" pitchFamily="34" charset="-122"/>
                          <a:cs typeface="Calibri" pitchFamily="34" charset="-120"/>
                        </a:rPr>
                        <a:t>2026</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Calibri" pitchFamily="34" charset="0"/>
                          <a:ea typeface="Calibri" pitchFamily="34" charset="-122"/>
                          <a:cs typeface="Calibri" pitchFamily="34" charset="-120"/>
                        </a:rPr>
                        <a:t>Chocó earthquake (this event)</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Calibri" pitchFamily="34" charset="0"/>
                          <a:ea typeface="Calibri" pitchFamily="34" charset="-122"/>
                          <a:cs typeface="Calibri" pitchFamily="34" charset="-120"/>
                        </a:rPr>
                        <a:t>M7.4</a:t>
                      </a:r>
                      <a:endParaRPr lang="en-US" sz="10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Largest magnitude recorded in Colombia in the past decade (SGC); intermediate depth, wide-area damage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Pattern
</a:t>
            </a:r>
            <a:pPr algn="l" indent="0" marL="0">
              <a:buNone/>
            </a:pPr>
            <a:r>
              <a:rPr lang="en-US" sz="950" dirty="0">
                <a:solidFill>
                  <a:srgbClr val="7A2E0E"/>
                </a:solidFill>
                <a:latin typeface="Calibri" pitchFamily="34" charset="0"/>
                <a:ea typeface="Calibri" pitchFamily="34" charset="-122"/>
                <a:cs typeface="Calibri" pitchFamily="34" charset="-120"/>
              </a:rPr>
              <a:t>Colombia's deadliest earthquakes have not been its largest. Popayán 1983 (M5.5), Páez 1994 (M6.8) and Armenia 1999 (M6.1-6.2) were all shallow and close to towns; the largest events, offshore in 1906 and 1979, killed fewer people. Depth and proximity, not magnitude alone, drive the toll.</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 Seismic regulations for Colombia (NSR-10)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 deep source with shallow-disaster consequences. At 107 km depth the earthquake produced no surface rupture and no tsunami, yet it damaged buildings in at least six departments. Damage is dispersed rather than concentrated, which complicates needs assessment, logistics and the targeting of search and rescue.</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Critical facilities failed. The collapse of about 30% of Cali's University Hospital, the closure of seven health institutions, damage to 52 schools and the partial collapse of an international airport terminal all reduce response capacity exactly where it is needed. Seismic performance of hospitals, schools and transport terminals is the clearest lesson emerging so far.</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Figures will rise and will not be internally consistent for some time. Departmental death tolls announced by governors and mayors do not yet sum to the national total, and building-damage counts reflect first-look reporting, not damage assessment. Rapid increases in the coming days should be read as assessment progressing, not necessarily as the situation worsening.</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[Media]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The affected area is the Coffee Region rebuilt after 1999. Comparing how post-1999 construction performed against older stock, under a very different type of shaking, will be valuable for the region and for other countries with intermediate-depth seismic sources.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Aftershock risk to damaged buildings. The intraslab aftershock sequence is expected to be modest, but damaged structures have lost capacity; rapid structural inspection (habitability assessment) before re-occupancy is the immediate priority alongside search and rescue.</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[TBC]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Points to watch: the reconciled national casualty figures; shelter and displacement numbers, which have not yet been published; water and power restoration in Chocó; the results of satellite-based damage mapping; and whether the Government requests international assistance beyond the offers already made.</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Sources: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 National Unit for Disaster Risk Management</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 M 7.4 San José del Palmar, Colombia (event page)</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Source policy: </a:t>
            </a:r>
            <a:pPr algn="l" indent="0" marL="0">
              <a:buNone/>
            </a:pPr>
            <a:r>
              <a:rPr lang="en-US" sz="900" dirty="0">
                <a:solidFill>
                  <a:srgbClr val="444444"/>
                </a:solidFill>
                <a:latin typeface="Calibri" pitchFamily="34" charset="0"/>
                <a:ea typeface="Calibri" pitchFamily="34" charset="-122"/>
                <a:cs typeface="Calibri" pitchFamily="34" charset="-120"/>
              </a:rPr>
              <a:t>Source hierarchy: official &gt; media &gt; TBC. Government and scientific-agency figures are used as primary; media reports are used only where official figures are not yet published and are labelled as such. Items still being verified are marked TBC. Preliminary figures are never replaced by larger unverified numbers.</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 M 7.4 San José del Palmar, Colombia (event page)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event bulletin SGC2026pqqmro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macroseismic intensity map (ShakeMap) for this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National Unit for Disaster Risk Management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 Orange earthquake alert, Colombia, 10 Aug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International Charter 'Space and Major Disasters' -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Rapid Mapping activations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https://emergency.copernicus.eu/mapping/list-of-activations-rapid</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PAHO/WHO -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 Colombia PNGRD 2015-2030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 Seismic regulations for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 UNGRD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OECD - Risk governance scan of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Live updates: at least 111 dead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Tier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 Colombia declares national emergency as quake toll hits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 M7.4 earthquake hits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 Strong earthquake strikes western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 Deaths, injuries and collapsed buildings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First official assessment: widespread structural damage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 Government declares national disaster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 SGC explains why the shaking lasted so long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 President reports 111 dead, 87 injured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 M7.4 earthquake in western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 M7.4 earthquake in Colombia (Japanese)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 Children at risk after the earthquake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 Mobilising medical aid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 Colombia earthquake, August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Media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(event identifier)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 Asian Disaster Reduction Center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Asian Disaster Reduction Center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Bilingual (EN/JA) report for domestic and international dissemination. Public-agency sources take priority; gaps are filled with clearly-labelled media reports.</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Figures as of 10 Aug 2026, 17:00 COT (11 Aug 07:00 JST), approx. 9.5 hours after the earthquake. All figures are preliminary.</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2026-08-10T23:42:27Z</dcterms:created>
  <dcterms:modified xsi:type="dcterms:W3CDTF">2026-08-10T23:42:27Z</dcterms:modified>
</cp:coreProperties>
</file>