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9-1.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reliefweb.int/country/col"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5-1.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portal.gestiondelriesgo.gov.co/"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disasterscharter.org/activations" TargetMode="External"/><Relationship Id="rId7" Type="http://schemas.openxmlformats.org/officeDocument/2006/relationships/hyperlink" Target="https://emergency.copernicus.eu/mapping/list-of-activations-rapid" TargetMode="External"/><Relationship Id="rId8" Type="http://schemas.openxmlformats.org/officeDocument/2006/relationships/hyperlink" Target="https://reliefweb.int/country/col" TargetMode="External"/><Relationship Id="rId9" Type="http://schemas.openxmlformats.org/officeDocument/2006/relationships/hyperlink" Target="https://www.paho.org/en/colombia" TargetMode="External"/><Relationship Id="rId10" Type="http://schemas.openxmlformats.org/officeDocument/2006/relationships/hyperlink" Target="https://www.preventionweb.net/publication/colombia-plan-nacional-de-gestion-del-riesgo-de-desastres-pngrd-2015-2030" TargetMode="External"/><Relationship Id="rId11" Type="http://schemas.openxmlformats.org/officeDocument/2006/relationships/hyperlink" Target="https://www.globalquakemodel.org/seismic-regulations/colombia" TargetMode="External"/><Relationship Id="rId12" Type="http://schemas.openxmlformats.org/officeDocument/2006/relationships/hyperlink" Target="https://un-spider.org/national-unit-disaster-risk-management-ungrd-colombia" TargetMode="External"/><Relationship Id="rId13" Type="http://schemas.openxmlformats.org/officeDocument/2006/relationships/hyperlink" Target="https://www.oecd.org/en/publications/risk-governance-scan-of-colombia_eeb81954-en.html"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france24.com/en/americas/20260810-powerful-quake-rocks-colombia-causing-major-damage" TargetMode="External"/><Relationship Id="rId16" Type="http://schemas.openxmlformats.org/officeDocument/2006/relationships/hyperlink" Target="https://www.aljazeera.com/news/2026/8/10/7-4-magnitude-earthquake-hits-colombia-killing-at-least-20" TargetMode="External"/><Relationship Id="rId1" Type="http://schemas.openxmlformats.org/officeDocument/2006/relationships/image" Target="../media/image-19-1.png"/><Relationship Id="rId17" Type="http://schemas.openxmlformats.org/officeDocument/2006/relationships/slideLayout" Target="../slideLayouts/slideLayout1.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cbsnews.com/news/colombia-earthquake-western-region-evacuations/" TargetMode="External"/><Relationship Id="rId3" Type="http://schemas.openxmlformats.org/officeDocument/2006/relationships/hyperlink" Target="https://www.nbcnews.com/world/latin-america/strong-earthquake-colombia-ecuador-people-evacuating-homes-buildings-rcna591709"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colombiaone.com/2026/08/10/colombia-national-disaster/"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7" Type="http://schemas.openxmlformats.org/officeDocument/2006/relationships/hyperlink" Target="https://www3.nhk.or.jp/news/" TargetMode="External"/><Relationship Id="rId8" Type="http://schemas.openxmlformats.org/officeDocument/2006/relationships/hyperlink" Target="https://www.nikkei.com/article/DGXZQOGN108V30Q6A810C2000000/" TargetMode="External"/><Relationship Id="rId9" Type="http://schemas.openxmlformats.org/officeDocument/2006/relationships/hyperlink" Target="https://www.jiji.com/jc/article?k=2026081000878&amp;g=int" TargetMode="External"/><Relationship Id="rId10" Type="http://schemas.openxmlformats.org/officeDocument/2006/relationships/hyperlink" Target="https://www.savethechildren.org/us/about-us/media-and-news/2026-press-releases/children-at-risk-after-earthquake-strikes-colombia" TargetMode="External"/><Relationship Id="rId11" Type="http://schemas.openxmlformats.org/officeDocument/2006/relationships/hyperlink" Target="https://www.directrelief.org/2026/08/colombia-earthquake-7-4-magnitude-direct-relief-response/" TargetMode="External"/><Relationship Id="rId12" Type="http://schemas.openxmlformats.org/officeDocument/2006/relationships/hyperlink" Target="https://www.americares.org/crisis-alerts/colombia-earthquake-august-2026/" TargetMode="External"/><Relationship Id="rId13" Type="http://schemas.openxmlformats.org/officeDocument/2006/relationships/hyperlink" Target="https://glidenumber.net/" TargetMode="External"/><Relationship Id="rId14" Type="http://schemas.openxmlformats.org/officeDocument/2006/relationships/hyperlink" Target="https://www.adrc.asia/" TargetMode="External"/><Relationship Id="rId1" Type="http://schemas.openxmlformats.org/officeDocument/2006/relationships/image" Target="../media/image-20-1.png"/><Relationship Id="rId15" Type="http://schemas.openxmlformats.org/officeDocument/2006/relationships/slideLayout" Target="../slideLayouts/slideLayout1.xml"/><Relationship Id="rId1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1-1.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107 km   ·   MMI VII (Very strong) - USGS ShakeMap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png">    </p:cNvPr>
          <p:cNvPicPr>
            <a:picLocks noChangeAspect="1"/>
          </p:cNvPicPr>
          <p:nvPr/>
        </p:nvPicPr>
        <p:blipFill>
          <a:blip r:embed="rId2"/>
          <a:stretch>
            <a:fillRect/>
          </a:stretch>
        </p:blipFill>
        <p:spPr>
          <a:xfrm>
            <a:off x="402336" y="2327988"/>
            <a:ext cx="3639312" cy="1708248"/>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png">    </p:cNvPr>
          <p:cNvPicPr>
            <a:picLocks noChangeAspect="1"/>
          </p:cNvPicPr>
          <p:nvPr/>
        </p:nvPicPr>
        <p:blipFill>
          <a:blip r:embed="rId3"/>
          <a:stretch>
            <a:fillRect/>
          </a:stretch>
        </p:blipFill>
        <p:spPr>
          <a:xfrm>
            <a:off x="4839881" y="1975104"/>
            <a:ext cx="2701214"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png">    </p:cNvPr>
          <p:cNvPicPr>
            <a:picLocks noChangeAspect="1"/>
          </p:cNvPicPr>
          <p:nvPr/>
        </p:nvPicPr>
        <p:blipFill>
          <a:blip r:embed="rId4"/>
          <a:stretch>
            <a:fillRect/>
          </a:stretch>
        </p:blipFill>
        <p:spPr>
          <a:xfrm>
            <a:off x="8712521" y="1975104"/>
            <a:ext cx="2892926"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Base map: Natural Earth (110 m). Distances computed from published coordinates; the figures are schematic and are not official hazard maps.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98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107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As of 17:00 COT on 10 August the Government reported 111 deaths and 87 injured,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107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5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Depth about 107 km (USGS): an intraslab event, not a plate-interface megathrust.</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USGS PAGER Orange alert: estimated fatalities of the order of 300 and estimated economic loss of the order of USD 880 million (model estimates, not observations).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107 km    |    MMI VII (Very strong) - USGS ShakeMap</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E of San José del Palmar (Chocó), depth approx. 107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SGC issues a first bulletin (initially M6.6, depth 79 km), later revised to M7.4;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Same day</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Activation of the International Charter 'Space and Major Disasters' and mobilisation of the Copernicus Emergency Management Service are reported; details being confirmed.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Charter / Copernicus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107 km-deep source puts every city in the region at a broadly similar hypocentral distance (108-200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km E of San José del Palmar, Chocó Department (approx. 280 km W of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4.9031 N, 76.1885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 USGS Mww 7.4. The SGC initially announced M6.6 at 79 km depth, then revised to M7.4; SGC depth is given as roughly 96-103 km.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approx. 96-103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(significant casualties and damage likely).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exposure estimates. About 10.5 million people experienced Strong to Very Strong shaking (MMI VI-VII) and an estimated 34 million people across four countries felt the earthquake. These are model estimates.</a:t>
            </a:r>
            <a:endParaRPr lang="en-US" sz="750" dirty="0"/>
          </a:p>
        </p:txBody>
      </p:sp>
      <p:sp>
        <p:nvSpPr>
          <p:cNvPr id="9"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Infobae - SGC explains why the shaking lasted so long</a:t>
            </a:r>
            <a:endParaRPr lang="en-US" sz="850" dirty="0"/>
          </a:p>
        </p:txBody>
      </p:sp>
      <p:sp>
        <p:nvSpPr>
          <p:cNvPr id="10"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reported aftershock;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Reported alongside the M4.8 in early bulletins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events</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SGC total count of recorded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SGC reported more than 20 aftershocks in the hours after the mainshock; the largest widely felt aftershock was M4.8, with an M2.8 also reported. Aftershock sequences of intermediate-depth intraslab events are typically less productive than those of shallow crustal earthquakes, but strong aftershocks remain possible and already-damaged buildings are vulnerable to them.</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Operational implication
</a:t>
            </a:r>
            <a:pPr algn="l" indent="0" marL="0">
              <a:buNone/>
            </a:pPr>
            <a:r>
              <a:rPr lang="en-US" sz="950" dirty="0">
                <a:solidFill>
                  <a:srgbClr val="7A2E0E"/>
                </a:solidFill>
                <a:latin typeface="Calibri" pitchFamily="34" charset="0"/>
                <a:ea typeface="Calibri" pitchFamily="34" charset="-122"/>
                <a:cs typeface="Calibri" pitchFamily="34" charset="-120"/>
              </a:rPr>
              <a:t>Buildings that survived the mainshock in a damaged state have lost capacity. Even moderate aftershocks can bring them down, so rapid habitability assessment before re-occupancy - and keeping people out of visibly damaged structures - matters as much as the aftershock statistics themselves.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Buildings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Governor cites at least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Epicentral department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later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Departmental figures come from local authorities and are reported at different times; they do not yet add up to the national total of 111 and will be reconciled as verification proceeds.</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 Deaths, injuries and collapsed buildings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yet quantified; people were reported trapped under rubble in Cali, Pereira and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Local authorities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damaged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nationally;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damaged;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damaged;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major roads and highways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reported to have been activated for this earthquake, and the Copernicus Emergency Management Service mobilised, to provide satellite imagery for damage assessment. Activation numbers and value-added products are being confirmed.</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Rapid Mapping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confirming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Rapid Mapping mobilised for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confirming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Rapid Mapping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PNGRD 2015-2030 - the national disaster risk management plan, aligned with the Sendai Framework.</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 Risk governance scan of Colombia</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107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Ecuador-Colombia earthquake (Pacific coast)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Tumaco earthquake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Popayán earthquake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Páez (Cauca)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Armenia (Quindío)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 (this event)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 deep source with shallow-disaster consequences. At 107 km depth the earthquake produced no surface rupture and no tsunami, yet it damaged buildings in at least six departments. Damage is dispersed rather than concentrated, which complicates needs assessment, logistics and the targeting of search and rescue.</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Figures will rise and will not be internally consistent for some time. Departmental death tolls announced by governors and mayors do not yet sum to the national total, and building-damage counts reflect first-look reporting, not damage assessment. Rapid increases in the coming days should be read as assessment progressing, not necessarily as the situation worsening.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Aftershock risk to damaged buildings. The intraslab aftershock sequence is expected to be modest, but damaged structures have lost capacity; rapid structural inspection (habitability assessment) before re-occupancy is the immediate priority alongside search and rescue.</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Rapid Mapping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https://emergency.copernicus.eu/mapping/list-of-activations-rapid</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2026-08-10T23:16:06Z</dcterms:created>
  <dcterms:modified xsi:type="dcterms:W3CDTF">2026-08-10T23:16:06Z</dcterms:modified>
</cp:coreProperties>
</file>