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待機画面（PPT 01）。12:30〜12:44 に投影。12:40 MC が着席を案内。12:40 神戸が Sentio の共有を開始し、届いた QR を 3 枚目に貼る。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タイトル（PPT 02）。12:45 開会の直前に表示。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案内（PPT 08 相当）。QR は 28 日 12:40 に神戸が共有を開始した直後に WhatsApp で届く画像を白枠「QR_Sentio」に貼る（事前作成不可、6 時間で失効）。通訳は 90 分で再開が必要。URL が変わった場合は 14:08 頃にこのスライドを新 QR で再表示。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12:45 開会。MC が録画・配信と携帯電話の注意を案内。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PPT 04。12:47〜 挨拶 5 分。Commissioner の出席は未確定。代理の場合は氏名・肩書を差し替える（SCDF に確認）。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PPT 05。12:52〜 挨拶 4〜5 分（英語、通訳なし）。日本語表記は林室長。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PPT 06。12:56〜 挨拶 約 4 分、最後に開会宣言。原稿 Opening_Remarks_MIURA_draft1002_clean。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PPT 07。13:00 RT 開始。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PPT 08。ベルは吉田さん。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RT Part 1。5 分。氏名・肩書は名簿確定後に追記（10/27 MC へ名簿）。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RT Part 1。5 分。氏名・肩書は名簿確定後に追記（10/27 MC へ名簿）。未登録のため非表示。登録されたら「スライドの表示」をオンにする。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RT Part 1。5 分。氏名・肩書は名簿確定後に追記（10/27 MC へ名簿）。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RT Part 1。5 分。氏名・肩書は名簿確定後に追記（10/27 MC へ名簿）。未登録のため非表示。登録されたら「スライドの表示」をオンにする。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RT Part 1。5 分。氏名・肩書は名簿確定後に追記（10/27 MC へ名簿）。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RT Part 1。5 分。氏名・肩書は名簿確定後に追記（10/27 MC へ名簿）。未登録のため非表示。登録されたら「スライドの表示」をオンにする。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RT Part 1。5 分。氏名・肩書は名簿確定後に追記（10/27 MC へ名簿）。未登録のため非表示。登録されたら「スライドの表示」をオンにする。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RT Part 1。5 分。氏名・肩書は名簿確定後に追記（10/27 MC へ名簿）。未登録のため非表示。登録されたら「スライドの表示」をオンにする。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RT Part 1。5 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RT Part 1。5 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RT Part 1。5 分。氏名・肩書は名簿確定後に追記（10/27 MC へ名簿）。未登録のため非表示。登録されたら「スライドの表示」をオンにする。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RT Part 1。5 分。氏名・肩書は名簿確定後に追記（10/27 MC へ名簿）。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RT Part 1。5 分。氏名・肩書は名簿確定後に追記（10/27 MC へ名簿）。未登録のため非表示。登録されたら「スライドの表示」をオンにする。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RT Part 1。5 分。氏名・肩書は名簿確定後に追記（10/27 MC へ名簿）。未登録のため非表示。登録されたら「スライドの表示」をオンにする。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RT Part 1。5 分。氏名・肩書は名簿確定後に追記（10/27 MC へ名簿）。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RT Part 1。5 分。氏名・肩書は名簿確定後に追記（10/27 MC へ名簿）。未登録のため非表示。登録されたら「スライドの表示」をオンにする。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RT Part 1。5 分。氏名・肩書は名簿確定後に追記（10/27 MC へ名簿）。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RT Part 1。5 分。氏名・肩書は名簿確定後に追記（10/27 MC へ名簿）。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RT Part 1。5 分。氏名・肩書は名簿確定後に追記（10/27 MC へ名簿）。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RT Part 1。5 分。氏名・肩書は名簿確定後に追記（10/27 MC へ名簿）。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RT Part 1。5 分。氏名・肩書は名簿確定後に追記（10/27 MC へ名簿）。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PPT 11。14:43〜 予備時間。コメントの提出方法（用紙かオンラインフォームか）は吉田さん・Gerry さんの回答待ち。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PPT 12。14:55 Part 1 終了時に MC が案内。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 開始前の待機画面。15:15 開始。議長は内閣府 中根補佐。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3.xml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4.xml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5.xml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6.xml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8.xml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9.xml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0.xml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Relationship Id="rId9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1.xml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Relationship Id="rId9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2.xml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Relationship Id="rId9" Type="http://schemas.openxmlformats.org/officeDocument/2006/relationships/image" Target="../media/image1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3.xml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Relationship Id="rId9" Type="http://schemas.openxmlformats.org/officeDocument/2006/relationships/image" Target="../media/image1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4.xml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Relationship Id="rId9" Type="http://schemas.openxmlformats.org/officeDocument/2006/relationships/image" Target="../media/image1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5.xml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Relationship Id="rId9" Type="http://schemas.openxmlformats.org/officeDocument/2006/relationships/image" Target="../media/image1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6.xml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Relationship Id="rId9" Type="http://schemas.openxmlformats.org/officeDocument/2006/relationships/image" Target="../media/image1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7.xml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Relationship Id="rId9" Type="http://schemas.openxmlformats.org/officeDocument/2006/relationships/image" Target="../media/image1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8.xml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Relationship Id="rId9" Type="http://schemas.openxmlformats.org/officeDocument/2006/relationships/image" Target="../media/image16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9.xml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Relationship Id="rId9" Type="http://schemas.openxmlformats.org/officeDocument/2006/relationships/image" Target="../media/image1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20.xml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Relationship Id="rId9" Type="http://schemas.openxmlformats.org/officeDocument/2006/relationships/image" Target="../media/image17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21.xml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Relationship Id="rId9" Type="http://schemas.openxmlformats.org/officeDocument/2006/relationships/image" Target="../media/image1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22.xml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Relationship Id="rId9" Type="http://schemas.openxmlformats.org/officeDocument/2006/relationships/image" Target="../media/image19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23.xml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Relationship Id="rId9" Type="http://schemas.openxmlformats.org/officeDocument/2006/relationships/image" Target="../media/image20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24.xml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Relationship Id="rId9" Type="http://schemas.openxmlformats.org/officeDocument/2006/relationships/image" Target="../media/image2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25.xml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Relationship Id="rId9" Type="http://schemas.openxmlformats.org/officeDocument/2006/relationships/image" Target="../media/image2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26.xml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Relationship Id="rId9" Type="http://schemas.openxmlformats.org/officeDocument/2006/relationships/image" Target="../media/image23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27.xml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Relationship Id="rId9" Type="http://schemas.openxmlformats.org/officeDocument/2006/relationships/image" Target="../media/image24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28.xml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Relationship Id="rId9" Type="http://schemas.openxmlformats.org/officeDocument/2006/relationships/image" Target="../media/image25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29.xml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Relationship Id="rId9" Type="http://schemas.openxmlformats.org/officeDocument/2006/relationships/image" Target="../media/image26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30.xml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Relationship Id="rId9" Type="http://schemas.openxmlformats.org/officeDocument/2006/relationships/image" Target="../media/image27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31.xml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32.xml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33.xml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Logo_sg" descr="s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51278" y="292608"/>
            <a:ext cx="835472" cy="566928"/>
          </a:xfrm>
          <a:prstGeom prst="rect">
            <a:avLst/>
          </a:prstGeom>
        </p:spPr>
      </p:pic>
      <p:pic>
        <p:nvPicPr>
          <p:cNvPr id="4" name="Logo_scdf" descr="scd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69630" y="292608"/>
            <a:ext cx="1598327" cy="566928"/>
          </a:xfrm>
          <a:prstGeom prst="rect">
            <a:avLst/>
          </a:prstGeom>
        </p:spPr>
      </p:pic>
      <p:pic>
        <p:nvPicPr>
          <p:cNvPr id="5" name="Logo_cosem" descr="cosem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50838" y="292608"/>
            <a:ext cx="1285036" cy="566928"/>
          </a:xfrm>
          <a:prstGeom prst="rect">
            <a:avLst/>
          </a:prstGeom>
        </p:spPr>
      </p:pic>
      <p:pic>
        <p:nvPicPr>
          <p:cNvPr id="6" name="Logo_adrc" descr="adr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18754" y="292608"/>
            <a:ext cx="579526" cy="566928"/>
          </a:xfrm>
          <a:prstGeom prst="rect">
            <a:avLst/>
          </a:prstGeom>
        </p:spPr>
      </p:pic>
      <p:pic>
        <p:nvPicPr>
          <p:cNvPr id="7" name="Logo_jp" descr="jp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881161" y="292608"/>
            <a:ext cx="868878" cy="56692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2920" y="1325880"/>
            <a:ext cx="8778240" cy="1600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4400" b="1">
                <a:solidFill>
                  <a:srgbClr val="1C2B57"/>
                </a:solidFill>
                <a:latin typeface="Cambria"/>
              </a:rPr>
              <a:t>Asian Conference</a:t>
            </a:r>
          </a:p>
          <a:p>
            <a:pPr algn="l"/>
            <a:r>
              <a:rPr sz="4400" b="1">
                <a:solidFill>
                  <a:srgbClr val="1C2B57"/>
                </a:solidFill>
                <a:latin typeface="Cambria"/>
              </a:rPr>
              <a:t>on Disaster Reduction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926080"/>
            <a:ext cx="7680960" cy="8686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700" b="0">
                <a:solidFill>
                  <a:srgbClr val="1C2B57"/>
                </a:solidFill>
                <a:latin typeface="Cambria"/>
              </a:rPr>
              <a:t>Future-Proofing Transboundary Climate and Disaster Risk Reduction</a:t>
            </a:r>
          </a:p>
          <a:p>
            <a:pPr algn="l"/>
            <a:r>
              <a:rPr sz="1700" b="0">
                <a:solidFill>
                  <a:srgbClr val="1C2B57"/>
                </a:solidFill>
                <a:latin typeface="Cambria"/>
              </a:rPr>
              <a:t>through Advanced Technologies for a Resilient Society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931920"/>
            <a:ext cx="73152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400" b="1">
                <a:solidFill>
                  <a:srgbClr val="1C2B57"/>
                </a:solidFill>
                <a:latin typeface="Cambria"/>
              </a:rPr>
              <a:t>28-29 October 2026</a:t>
            </a:r>
          </a:p>
          <a:p>
            <a:pPr algn="l"/>
            <a:r>
              <a:rPr sz="2000" b="1">
                <a:solidFill>
                  <a:srgbClr val="1C2B57"/>
                </a:solidFill>
                <a:latin typeface="Cambria"/>
              </a:rPr>
              <a:t>SIDEX-ACDR 2026, Singapore EXPO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983480"/>
            <a:ext cx="1005840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800" b="1">
                <a:solidFill>
                  <a:srgbClr val="D95F00"/>
                </a:solidFill>
                <a:latin typeface="Cambria"/>
              </a:rPr>
              <a:t>ACDR2026 Opening begins at 12:45.</a:t>
            </a:r>
          </a:p>
          <a:p>
            <a:pPr algn="l"/>
            <a:r>
              <a:rPr sz="1800" b="1">
                <a:solidFill>
                  <a:srgbClr val="D95F00"/>
                </a:solidFill>
                <a:latin typeface="Cambria"/>
              </a:rPr>
              <a:t>(Singapore Time, UTC+8 / 13:45 Japan Time)</a:t>
            </a:r>
          </a:p>
          <a:p>
            <a:pPr algn="l"/>
            <a:r>
              <a:rPr sz="1800" b="0">
                <a:solidFill>
                  <a:srgbClr val="D95F00"/>
                </a:solidFill>
                <a:latin typeface="Cambria"/>
              </a:rPr>
              <a:t>Please wait a moment until the starting time.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Logo_sg" descr="s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51278" y="292608"/>
            <a:ext cx="835472" cy="566928"/>
          </a:xfrm>
          <a:prstGeom prst="rect">
            <a:avLst/>
          </a:prstGeom>
        </p:spPr>
      </p:pic>
      <p:pic>
        <p:nvPicPr>
          <p:cNvPr id="4" name="Logo_scdf" descr="scd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69630" y="292608"/>
            <a:ext cx="1598327" cy="566928"/>
          </a:xfrm>
          <a:prstGeom prst="rect">
            <a:avLst/>
          </a:prstGeom>
        </p:spPr>
      </p:pic>
      <p:pic>
        <p:nvPicPr>
          <p:cNvPr id="5" name="Logo_cosem" descr="cosem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50838" y="292608"/>
            <a:ext cx="1285036" cy="566928"/>
          </a:xfrm>
          <a:prstGeom prst="rect">
            <a:avLst/>
          </a:prstGeom>
        </p:spPr>
      </p:pic>
      <p:pic>
        <p:nvPicPr>
          <p:cNvPr id="6" name="Logo_adrc" descr="adr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18754" y="292608"/>
            <a:ext cx="579526" cy="566928"/>
          </a:xfrm>
          <a:prstGeom prst="rect">
            <a:avLst/>
          </a:prstGeom>
        </p:spPr>
      </p:pic>
      <p:pic>
        <p:nvPicPr>
          <p:cNvPr id="7" name="Logo_jp" descr="jp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881161" y="292608"/>
            <a:ext cx="868878" cy="56692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2920" y="1325880"/>
            <a:ext cx="8778240" cy="1600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4400" b="1">
                <a:solidFill>
                  <a:srgbClr val="1C2B57"/>
                </a:solidFill>
                <a:latin typeface="Cambria"/>
              </a:rPr>
              <a:t>Asian Conference</a:t>
            </a:r>
          </a:p>
          <a:p>
            <a:pPr algn="l"/>
            <a:r>
              <a:rPr sz="4400" b="1">
                <a:solidFill>
                  <a:srgbClr val="1C2B57"/>
                </a:solidFill>
                <a:latin typeface="Cambria"/>
              </a:rPr>
              <a:t>on Disaster Reduction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926080"/>
            <a:ext cx="7680960" cy="8686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700" b="0">
                <a:solidFill>
                  <a:srgbClr val="1C2B57"/>
                </a:solidFill>
                <a:latin typeface="Cambria"/>
              </a:rPr>
              <a:t>Future-Proofing Transboundary Climate and Disaster Risk Reduction</a:t>
            </a:r>
          </a:p>
          <a:p>
            <a:pPr algn="l"/>
            <a:r>
              <a:rPr sz="1700" b="0">
                <a:solidFill>
                  <a:srgbClr val="1C2B57"/>
                </a:solidFill>
                <a:latin typeface="Cambria"/>
              </a:rPr>
              <a:t>through Advanced Technologies for a Resilient Society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931920"/>
            <a:ext cx="73152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400" b="1">
                <a:solidFill>
                  <a:srgbClr val="1C2B57"/>
                </a:solidFill>
                <a:latin typeface="Cambria"/>
              </a:rPr>
              <a:t>28-29 October 2026</a:t>
            </a:r>
          </a:p>
          <a:p>
            <a:pPr algn="l"/>
            <a:r>
              <a:rPr sz="2000" b="1">
                <a:solidFill>
                  <a:srgbClr val="1C2B57"/>
                </a:solidFill>
                <a:latin typeface="Cambria"/>
              </a:rPr>
              <a:t>Peridot Room, Singapore EXPO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5029200"/>
            <a:ext cx="822960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0">
                <a:solidFill>
                  <a:srgbClr val="1C2B57"/>
                </a:solidFill>
                <a:latin typeface="Arial"/>
              </a:rPr>
              <a:t>Co-hosted by the Asian Disaster Reduction Center (ADRC)</a:t>
            </a:r>
          </a:p>
          <a:p>
            <a:pPr algn="l"/>
            <a:r>
              <a:rPr sz="1600" b="0">
                <a:solidFill>
                  <a:srgbClr val="1C2B57"/>
                </a:solidFill>
                <a:latin typeface="Arial"/>
              </a:rPr>
              <a:t>and the Singapore Civil Defence Force (SCDF)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292608"/>
            <a:ext cx="54864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mbria"/>
              </a:rPr>
              <a:t>Asian Conference</a:t>
            </a:r>
          </a:p>
          <a:p>
            <a:pPr algn="l"/>
            <a:r>
              <a:rPr sz="2400" b="1">
                <a:solidFill>
                  <a:srgbClr val="FFFFFF"/>
                </a:solidFill>
                <a:latin typeface="Cambria"/>
              </a:rPr>
              <a:t>on Disaster Reduction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07008"/>
            <a:ext cx="86868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mbria"/>
              </a:rPr>
              <a:t>Information</a:t>
            </a:r>
          </a:p>
        </p:txBody>
      </p:sp>
      <p:sp>
        <p:nvSpPr>
          <p:cNvPr id="5" name="LogoStrip"/>
          <p:cNvSpPr/>
          <p:nvPr/>
        </p:nvSpPr>
        <p:spPr>
          <a:xfrm>
            <a:off x="5686686" y="182880"/>
            <a:ext cx="6227945" cy="7863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Logo_sg" descr="s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51278" y="292608"/>
            <a:ext cx="835472" cy="566928"/>
          </a:xfrm>
          <a:prstGeom prst="rect">
            <a:avLst/>
          </a:prstGeom>
        </p:spPr>
      </p:pic>
      <p:pic>
        <p:nvPicPr>
          <p:cNvPr id="7" name="Logo_scdf" descr="scd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69630" y="292608"/>
            <a:ext cx="1598327" cy="566928"/>
          </a:xfrm>
          <a:prstGeom prst="rect">
            <a:avLst/>
          </a:prstGeom>
        </p:spPr>
      </p:pic>
      <p:pic>
        <p:nvPicPr>
          <p:cNvPr id="8" name="Logo_cosem" descr="cosem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50838" y="292608"/>
            <a:ext cx="1285036" cy="566928"/>
          </a:xfrm>
          <a:prstGeom prst="rect">
            <a:avLst/>
          </a:prstGeom>
        </p:spPr>
      </p:pic>
      <p:pic>
        <p:nvPicPr>
          <p:cNvPr id="9" name="Logo_adrc" descr="adr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18754" y="292608"/>
            <a:ext cx="579526" cy="566928"/>
          </a:xfrm>
          <a:prstGeom prst="rect">
            <a:avLst/>
          </a:prstGeom>
        </p:spPr>
      </p:pic>
      <p:pic>
        <p:nvPicPr>
          <p:cNvPr id="10" name="Logo_jp" descr="jp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881161" y="292608"/>
            <a:ext cx="868878" cy="56692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0080" y="1828800"/>
            <a:ext cx="1005840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Arial"/>
              </a:rPr>
              <a:t>Information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560320"/>
            <a:ext cx="69494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000" b="1">
                <a:solidFill>
                  <a:srgbClr val="FFE066"/>
                </a:solidFill>
                <a:latin typeface="Arial"/>
              </a:rPr>
              <a:t>Language</a:t>
            </a:r>
          </a:p>
          <a:p>
            <a:pPr algn="l"/>
            <a:r>
              <a:rPr sz="1800" b="0">
                <a:solidFill>
                  <a:srgbClr val="FFFFFF"/>
                </a:solidFill>
                <a:latin typeface="Arial"/>
              </a:rPr>
              <a:t>The conference is held in English. AI live translation can be read on your own phone or PC: scan the QR code and choose your language.</a:t>
            </a:r>
          </a:p>
          <a:p>
            <a:pPr algn="l">
              <a:spcBef>
                <a:spcPts val="1000"/>
              </a:spcBef>
            </a:pPr>
            <a:r>
              <a:rPr sz="2000" b="1">
                <a:solidFill>
                  <a:srgbClr val="FFE066"/>
                </a:solidFill>
                <a:latin typeface="Arial"/>
              </a:rPr>
              <a:t>Online participants (Zoom)</a:t>
            </a:r>
          </a:p>
          <a:p>
            <a:pPr algn="l"/>
            <a:r>
              <a:rPr sz="1800" b="0">
                <a:solidFill>
                  <a:srgbClr val="FFFFFF"/>
                </a:solidFill>
                <a:latin typeface="Arial"/>
              </a:rPr>
              <a:t>Please send questions with the Q&amp;A button. The chat is used only among the moderator, speakers and secretariat.</a:t>
            </a:r>
          </a:p>
          <a:p>
            <a:pPr algn="l">
              <a:spcBef>
                <a:spcPts val="1000"/>
              </a:spcBef>
            </a:pPr>
            <a:r>
              <a:rPr sz="2000" b="1">
                <a:solidFill>
                  <a:srgbClr val="FFE066"/>
                </a:solidFill>
                <a:latin typeface="Arial"/>
              </a:rPr>
              <a:t>Recording</a:t>
            </a:r>
          </a:p>
          <a:p>
            <a:pPr algn="l"/>
            <a:r>
              <a:rPr sz="1800" b="0">
                <a:solidFill>
                  <a:srgbClr val="FFFFFF"/>
                </a:solidFill>
                <a:latin typeface="Arial"/>
              </a:rPr>
              <a:t>The sessions are recorded and streamed online.</a:t>
            </a:r>
          </a:p>
          <a:p>
            <a:pPr algn="l">
              <a:spcBef>
                <a:spcPts val="1000"/>
              </a:spcBef>
            </a:pPr>
            <a:r>
              <a:rPr sz="2000" b="1">
                <a:solidFill>
                  <a:srgbClr val="FFE066"/>
                </a:solidFill>
                <a:latin typeface="Arial"/>
              </a:rPr>
              <a:t>Conference website</a:t>
            </a:r>
          </a:p>
          <a:p>
            <a:pPr algn="l"/>
            <a:r>
              <a:rPr sz="1800" b="0">
                <a:solidFill>
                  <a:srgbClr val="FFFFFF"/>
                </a:solidFill>
                <a:latin typeface="Arial"/>
              </a:rPr>
              <a:t>https://acdr.adrc.asia/home/acdr2026</a:t>
            </a:r>
          </a:p>
        </p:txBody>
      </p:sp>
      <p:sp>
        <p:nvSpPr>
          <p:cNvPr id="13" name="QR_Sentio"/>
          <p:cNvSpPr/>
          <p:nvPr/>
        </p:nvSpPr>
        <p:spPr>
          <a:xfrm>
            <a:off x="8229600" y="2560320"/>
            <a:ext cx="3108960" cy="310896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>
                <a:solidFill>
                  <a:srgbClr val="555F73"/>
                </a:solidFill>
                <a:latin typeface="Arial"/>
              </a:rPr>
              <a:t>QR code for AI live translation (inserted on the day)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0" y="5760720"/>
            <a:ext cx="31089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AI live translation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292608"/>
            <a:ext cx="54864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mbria"/>
              </a:rPr>
              <a:t>Asian Conference</a:t>
            </a:r>
          </a:p>
          <a:p>
            <a:pPr algn="l"/>
            <a:r>
              <a:rPr sz="2400" b="1">
                <a:solidFill>
                  <a:srgbClr val="FFFFFF"/>
                </a:solidFill>
                <a:latin typeface="Cambria"/>
              </a:rPr>
              <a:t>on Disaster Reduction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07008"/>
            <a:ext cx="86868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mbria"/>
              </a:rPr>
              <a:t>ACDR2026 Opening</a:t>
            </a:r>
          </a:p>
        </p:txBody>
      </p:sp>
      <p:sp>
        <p:nvSpPr>
          <p:cNvPr id="5" name="LogoStrip"/>
          <p:cNvSpPr/>
          <p:nvPr/>
        </p:nvSpPr>
        <p:spPr>
          <a:xfrm>
            <a:off x="5686686" y="182880"/>
            <a:ext cx="6227945" cy="7863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Logo_sg" descr="s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51278" y="292608"/>
            <a:ext cx="835472" cy="566928"/>
          </a:xfrm>
          <a:prstGeom prst="rect">
            <a:avLst/>
          </a:prstGeom>
        </p:spPr>
      </p:pic>
      <p:pic>
        <p:nvPicPr>
          <p:cNvPr id="7" name="Logo_scdf" descr="scd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69630" y="292608"/>
            <a:ext cx="1598327" cy="566928"/>
          </a:xfrm>
          <a:prstGeom prst="rect">
            <a:avLst/>
          </a:prstGeom>
        </p:spPr>
      </p:pic>
      <p:pic>
        <p:nvPicPr>
          <p:cNvPr id="8" name="Logo_cosem" descr="cosem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50838" y="292608"/>
            <a:ext cx="1285036" cy="566928"/>
          </a:xfrm>
          <a:prstGeom prst="rect">
            <a:avLst/>
          </a:prstGeom>
        </p:spPr>
      </p:pic>
      <p:pic>
        <p:nvPicPr>
          <p:cNvPr id="9" name="Logo_adrc" descr="adr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18754" y="292608"/>
            <a:ext cx="579526" cy="566928"/>
          </a:xfrm>
          <a:prstGeom prst="rect">
            <a:avLst/>
          </a:prstGeom>
        </p:spPr>
      </p:pic>
      <p:pic>
        <p:nvPicPr>
          <p:cNvPr id="10" name="Logo_jp" descr="jp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881161" y="292608"/>
            <a:ext cx="868878" cy="56692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0080" y="2651760"/>
            <a:ext cx="1088136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Arial"/>
              </a:rPr>
              <a:t>ACDR2026 Opening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703320"/>
            <a:ext cx="10881360" cy="23774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400" b="0">
                <a:solidFill>
                  <a:srgbClr val="FFFFFF"/>
                </a:solidFill>
                <a:latin typeface="Arial"/>
              </a:rPr>
              <a:t>Opening Remarks</a:t>
            </a:r>
          </a:p>
          <a:p>
            <a:pPr algn="l"/>
            <a:r>
              <a:rPr sz="2400" b="0">
                <a:solidFill>
                  <a:srgbClr val="FFFFFF"/>
                </a:solidFill>
                <a:latin typeface="Arial"/>
              </a:rPr>
              <a:t>Emcee: LTC Chen Yong Kai, Singapore Civil Defence Force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292608"/>
            <a:ext cx="54864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mbria"/>
              </a:rPr>
              <a:t>Asian Conference</a:t>
            </a:r>
          </a:p>
          <a:p>
            <a:pPr algn="l"/>
            <a:r>
              <a:rPr sz="2400" b="1">
                <a:solidFill>
                  <a:srgbClr val="FFFFFF"/>
                </a:solidFill>
                <a:latin typeface="Cambria"/>
              </a:rPr>
              <a:t>on Disaster Reduction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07008"/>
            <a:ext cx="86868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mbria"/>
              </a:rPr>
              <a:t>ACDR2026 Opening</a:t>
            </a:r>
          </a:p>
        </p:txBody>
      </p:sp>
      <p:sp>
        <p:nvSpPr>
          <p:cNvPr id="5" name="LogoStrip"/>
          <p:cNvSpPr/>
          <p:nvPr/>
        </p:nvSpPr>
        <p:spPr>
          <a:xfrm>
            <a:off x="5686686" y="182880"/>
            <a:ext cx="6227945" cy="7863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Logo_sg" descr="s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51278" y="292608"/>
            <a:ext cx="835472" cy="566928"/>
          </a:xfrm>
          <a:prstGeom prst="rect">
            <a:avLst/>
          </a:prstGeom>
        </p:spPr>
      </p:pic>
      <p:pic>
        <p:nvPicPr>
          <p:cNvPr id="7" name="Logo_scdf" descr="scd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69630" y="292608"/>
            <a:ext cx="1598327" cy="566928"/>
          </a:xfrm>
          <a:prstGeom prst="rect">
            <a:avLst/>
          </a:prstGeom>
        </p:spPr>
      </p:pic>
      <p:pic>
        <p:nvPicPr>
          <p:cNvPr id="8" name="Logo_cosem" descr="cosem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50838" y="292608"/>
            <a:ext cx="1285036" cy="566928"/>
          </a:xfrm>
          <a:prstGeom prst="rect">
            <a:avLst/>
          </a:prstGeom>
        </p:spPr>
      </p:pic>
      <p:pic>
        <p:nvPicPr>
          <p:cNvPr id="9" name="Logo_adrc" descr="adr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18754" y="292608"/>
            <a:ext cx="579526" cy="566928"/>
          </a:xfrm>
          <a:prstGeom prst="rect">
            <a:avLst/>
          </a:prstGeom>
        </p:spPr>
      </p:pic>
      <p:pic>
        <p:nvPicPr>
          <p:cNvPr id="10" name="Logo_jp" descr="jp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881161" y="292608"/>
            <a:ext cx="868878" cy="56692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0080" y="3017520"/>
            <a:ext cx="108813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600" b="1">
                <a:solidFill>
                  <a:srgbClr val="FFE066"/>
                </a:solidFill>
                <a:latin typeface="Arial"/>
              </a:rPr>
              <a:t>Opening Remarks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611880"/>
            <a:ext cx="1088136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4800" b="0">
                <a:solidFill>
                  <a:srgbClr val="FFFFFF"/>
                </a:solidFill>
                <a:latin typeface="Arial"/>
              </a:rPr>
              <a:t>Mr Eric Yap Wee Teck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572000"/>
            <a:ext cx="10881360" cy="20116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Arial"/>
              </a:rPr>
              <a:t>Commissioner</a:t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Arial"/>
              </a:rPr>
              <a:t>Singapore Civil Defence Force (SCDF)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292608"/>
            <a:ext cx="54864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mbria"/>
              </a:rPr>
              <a:t>Asian Conference</a:t>
            </a:r>
          </a:p>
          <a:p>
            <a:pPr algn="l"/>
            <a:r>
              <a:rPr sz="2400" b="1">
                <a:solidFill>
                  <a:srgbClr val="FFFFFF"/>
                </a:solidFill>
                <a:latin typeface="Cambria"/>
              </a:rPr>
              <a:t>on Disaster Reduction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07008"/>
            <a:ext cx="86868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mbria"/>
              </a:rPr>
              <a:t>ACDR2026 Opening</a:t>
            </a:r>
          </a:p>
        </p:txBody>
      </p:sp>
      <p:sp>
        <p:nvSpPr>
          <p:cNvPr id="5" name="LogoStrip"/>
          <p:cNvSpPr/>
          <p:nvPr/>
        </p:nvSpPr>
        <p:spPr>
          <a:xfrm>
            <a:off x="5686686" y="182880"/>
            <a:ext cx="6227945" cy="7863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Logo_sg" descr="s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51278" y="292608"/>
            <a:ext cx="835472" cy="566928"/>
          </a:xfrm>
          <a:prstGeom prst="rect">
            <a:avLst/>
          </a:prstGeom>
        </p:spPr>
      </p:pic>
      <p:pic>
        <p:nvPicPr>
          <p:cNvPr id="7" name="Logo_scdf" descr="scd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69630" y="292608"/>
            <a:ext cx="1598327" cy="566928"/>
          </a:xfrm>
          <a:prstGeom prst="rect">
            <a:avLst/>
          </a:prstGeom>
        </p:spPr>
      </p:pic>
      <p:pic>
        <p:nvPicPr>
          <p:cNvPr id="8" name="Logo_cosem" descr="cosem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50838" y="292608"/>
            <a:ext cx="1285036" cy="566928"/>
          </a:xfrm>
          <a:prstGeom prst="rect">
            <a:avLst/>
          </a:prstGeom>
        </p:spPr>
      </p:pic>
      <p:pic>
        <p:nvPicPr>
          <p:cNvPr id="9" name="Logo_adrc" descr="adr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18754" y="292608"/>
            <a:ext cx="579526" cy="566928"/>
          </a:xfrm>
          <a:prstGeom prst="rect">
            <a:avLst/>
          </a:prstGeom>
        </p:spPr>
      </p:pic>
      <p:pic>
        <p:nvPicPr>
          <p:cNvPr id="10" name="Logo_jp" descr="jp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881161" y="292608"/>
            <a:ext cx="868878" cy="56692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0080" y="3017520"/>
            <a:ext cx="108813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600" b="1">
                <a:solidFill>
                  <a:srgbClr val="FFE066"/>
                </a:solidFill>
                <a:latin typeface="Arial"/>
              </a:rPr>
              <a:t>Opening Remarks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611880"/>
            <a:ext cx="1088136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4800" b="0">
                <a:solidFill>
                  <a:srgbClr val="FFFFFF"/>
                </a:solidFill>
                <a:latin typeface="Arial"/>
              </a:rPr>
              <a:t>Mr HAYASHI Masamichi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572000"/>
            <a:ext cx="10881360" cy="20116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Arial"/>
              </a:rPr>
              <a:t>Deputy Minister for Disaster Management</a:t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Arial"/>
              </a:rPr>
              <a:t>Cabinet Office of Japan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292608"/>
            <a:ext cx="54864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mbria"/>
              </a:rPr>
              <a:t>Asian Conference</a:t>
            </a:r>
          </a:p>
          <a:p>
            <a:pPr algn="l"/>
            <a:r>
              <a:rPr sz="2400" b="1">
                <a:solidFill>
                  <a:srgbClr val="FFFFFF"/>
                </a:solidFill>
                <a:latin typeface="Cambria"/>
              </a:rPr>
              <a:t>on Disaster Reduction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07008"/>
            <a:ext cx="86868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mbria"/>
              </a:rPr>
              <a:t>ACDR2026 Opening</a:t>
            </a:r>
          </a:p>
        </p:txBody>
      </p:sp>
      <p:sp>
        <p:nvSpPr>
          <p:cNvPr id="5" name="LogoStrip"/>
          <p:cNvSpPr/>
          <p:nvPr/>
        </p:nvSpPr>
        <p:spPr>
          <a:xfrm>
            <a:off x="5686686" y="182880"/>
            <a:ext cx="6227945" cy="7863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Logo_sg" descr="s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51278" y="292608"/>
            <a:ext cx="835472" cy="566928"/>
          </a:xfrm>
          <a:prstGeom prst="rect">
            <a:avLst/>
          </a:prstGeom>
        </p:spPr>
      </p:pic>
      <p:pic>
        <p:nvPicPr>
          <p:cNvPr id="7" name="Logo_scdf" descr="scd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69630" y="292608"/>
            <a:ext cx="1598327" cy="566928"/>
          </a:xfrm>
          <a:prstGeom prst="rect">
            <a:avLst/>
          </a:prstGeom>
        </p:spPr>
      </p:pic>
      <p:pic>
        <p:nvPicPr>
          <p:cNvPr id="8" name="Logo_cosem" descr="cosem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50838" y="292608"/>
            <a:ext cx="1285036" cy="566928"/>
          </a:xfrm>
          <a:prstGeom prst="rect">
            <a:avLst/>
          </a:prstGeom>
        </p:spPr>
      </p:pic>
      <p:pic>
        <p:nvPicPr>
          <p:cNvPr id="9" name="Logo_adrc" descr="adr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18754" y="292608"/>
            <a:ext cx="579526" cy="566928"/>
          </a:xfrm>
          <a:prstGeom prst="rect">
            <a:avLst/>
          </a:prstGeom>
        </p:spPr>
      </p:pic>
      <p:pic>
        <p:nvPicPr>
          <p:cNvPr id="10" name="Logo_jp" descr="jp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881161" y="292608"/>
            <a:ext cx="868878" cy="56692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0080" y="3017520"/>
            <a:ext cx="108813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600" b="1">
                <a:solidFill>
                  <a:srgbClr val="FFE066"/>
                </a:solidFill>
                <a:latin typeface="Arial"/>
              </a:rPr>
              <a:t>Opening Remarks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611880"/>
            <a:ext cx="1088136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4800" b="0">
                <a:solidFill>
                  <a:srgbClr val="FFFFFF"/>
                </a:solidFill>
                <a:latin typeface="Arial"/>
              </a:rPr>
              <a:t>Prof. MIURA Fusanori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572000"/>
            <a:ext cx="10881360" cy="20116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Arial"/>
              </a:rPr>
              <a:t>Chairman</a:t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Arial"/>
              </a:rPr>
              <a:t>Asian Disaster Reduction Center (ADRC)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292608"/>
            <a:ext cx="54864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mbria"/>
              </a:rPr>
              <a:t>Asian Conference</a:t>
            </a:r>
          </a:p>
          <a:p>
            <a:pPr algn="l"/>
            <a:r>
              <a:rPr sz="2400" b="1">
                <a:solidFill>
                  <a:srgbClr val="FFFFFF"/>
                </a:solidFill>
                <a:latin typeface="Cambria"/>
              </a:rPr>
              <a:t>on Disaster Reduction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07008"/>
            <a:ext cx="86868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mbria"/>
              </a:rPr>
              <a:t>Roundtable Session (Part 1)</a:t>
            </a:r>
          </a:p>
        </p:txBody>
      </p:sp>
      <p:sp>
        <p:nvSpPr>
          <p:cNvPr id="5" name="LogoStrip"/>
          <p:cNvSpPr/>
          <p:nvPr/>
        </p:nvSpPr>
        <p:spPr>
          <a:xfrm>
            <a:off x="5686686" y="182880"/>
            <a:ext cx="6227945" cy="7863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Logo_sg" descr="s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51278" y="292608"/>
            <a:ext cx="835472" cy="566928"/>
          </a:xfrm>
          <a:prstGeom prst="rect">
            <a:avLst/>
          </a:prstGeom>
        </p:spPr>
      </p:pic>
      <p:pic>
        <p:nvPicPr>
          <p:cNvPr id="7" name="Logo_scdf" descr="scd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69630" y="292608"/>
            <a:ext cx="1598327" cy="566928"/>
          </a:xfrm>
          <a:prstGeom prst="rect">
            <a:avLst/>
          </a:prstGeom>
        </p:spPr>
      </p:pic>
      <p:pic>
        <p:nvPicPr>
          <p:cNvPr id="8" name="Logo_cosem" descr="cosem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50838" y="292608"/>
            <a:ext cx="1285036" cy="566928"/>
          </a:xfrm>
          <a:prstGeom prst="rect">
            <a:avLst/>
          </a:prstGeom>
        </p:spPr>
      </p:pic>
      <p:pic>
        <p:nvPicPr>
          <p:cNvPr id="9" name="Logo_adrc" descr="adr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18754" y="292608"/>
            <a:ext cx="579526" cy="566928"/>
          </a:xfrm>
          <a:prstGeom prst="rect">
            <a:avLst/>
          </a:prstGeom>
        </p:spPr>
      </p:pic>
      <p:pic>
        <p:nvPicPr>
          <p:cNvPr id="10" name="Logo_jp" descr="jp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881161" y="292608"/>
            <a:ext cx="868878" cy="56692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0080" y="2651760"/>
            <a:ext cx="1088136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Arial"/>
              </a:rPr>
              <a:t>Roundtable Session (Part 1)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703320"/>
            <a:ext cx="10881360" cy="23774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400" b="0">
                <a:solidFill>
                  <a:srgbClr val="FFFFFF"/>
                </a:solidFill>
                <a:latin typeface="Arial"/>
              </a:rPr>
              <a:t>Progress and Remaining Challenges in Implementing SFDRR 2015-2030</a:t>
            </a:r>
          </a:p>
          <a:p>
            <a:pPr algn="l"/>
            <a:r>
              <a:rPr sz="2400" b="0">
                <a:solidFill>
                  <a:srgbClr val="FFFFFF"/>
                </a:solidFill>
                <a:latin typeface="Arial"/>
              </a:rPr>
              <a:t>Moderator: Singapore Civil Defence Force (SCDF)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292608"/>
            <a:ext cx="54864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mbria"/>
              </a:rPr>
              <a:t>Asian Conference</a:t>
            </a:r>
          </a:p>
          <a:p>
            <a:pPr algn="l"/>
            <a:r>
              <a:rPr sz="2400" b="1">
                <a:solidFill>
                  <a:srgbClr val="FFFFFF"/>
                </a:solidFill>
                <a:latin typeface="Cambria"/>
              </a:rPr>
              <a:t>on Disaster Reduction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07008"/>
            <a:ext cx="86868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mbria"/>
              </a:rPr>
              <a:t>Roundtable Session (Part 1)</a:t>
            </a:r>
          </a:p>
        </p:txBody>
      </p:sp>
      <p:sp>
        <p:nvSpPr>
          <p:cNvPr id="5" name="LogoStrip"/>
          <p:cNvSpPr/>
          <p:nvPr/>
        </p:nvSpPr>
        <p:spPr>
          <a:xfrm>
            <a:off x="5686686" y="182880"/>
            <a:ext cx="6227945" cy="7863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Logo_sg" descr="s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51278" y="292608"/>
            <a:ext cx="835472" cy="566928"/>
          </a:xfrm>
          <a:prstGeom prst="rect">
            <a:avLst/>
          </a:prstGeom>
        </p:spPr>
      </p:pic>
      <p:pic>
        <p:nvPicPr>
          <p:cNvPr id="7" name="Logo_scdf" descr="scd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69630" y="292608"/>
            <a:ext cx="1598327" cy="566928"/>
          </a:xfrm>
          <a:prstGeom prst="rect">
            <a:avLst/>
          </a:prstGeom>
        </p:spPr>
      </p:pic>
      <p:pic>
        <p:nvPicPr>
          <p:cNvPr id="8" name="Logo_cosem" descr="cosem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50838" y="292608"/>
            <a:ext cx="1285036" cy="566928"/>
          </a:xfrm>
          <a:prstGeom prst="rect">
            <a:avLst/>
          </a:prstGeom>
        </p:spPr>
      </p:pic>
      <p:pic>
        <p:nvPicPr>
          <p:cNvPr id="9" name="Logo_adrc" descr="adr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18754" y="292608"/>
            <a:ext cx="579526" cy="566928"/>
          </a:xfrm>
          <a:prstGeom prst="rect">
            <a:avLst/>
          </a:prstGeom>
        </p:spPr>
      </p:pic>
      <p:pic>
        <p:nvPicPr>
          <p:cNvPr id="10" name="Logo_jp" descr="jp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881161" y="292608"/>
            <a:ext cx="868878" cy="56692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0080" y="1828800"/>
            <a:ext cx="1005840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Arial"/>
              </a:rPr>
              <a:t>Instruction for Speakers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560320"/>
            <a:ext cx="1088136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000" b="1">
                <a:solidFill>
                  <a:srgbClr val="FFE066"/>
                </a:solidFill>
                <a:latin typeface="Arial"/>
              </a:rPr>
              <a:t>Time allocation</a:t>
            </a:r>
          </a:p>
          <a:p>
            <a:pPr algn="l"/>
            <a:r>
              <a:rPr sz="1800" b="0">
                <a:solidFill>
                  <a:srgbClr val="FFFFFF"/>
                </a:solidFill>
                <a:latin typeface="Arial"/>
              </a:rPr>
              <a:t>ADRC member countries: maximum 5 minutes</a:t>
            </a:r>
          </a:p>
          <a:p>
            <a:pPr algn="l"/>
            <a:r>
              <a:rPr sz="1800" b="0">
                <a:solidFill>
                  <a:srgbClr val="FFFFFF"/>
                </a:solidFill>
                <a:latin typeface="Arial"/>
              </a:rPr>
              <a:t>Adviser countries and partner organisations: maximum 4 minutes</a:t>
            </a:r>
          </a:p>
          <a:p>
            <a:pPr algn="l">
              <a:spcBef>
                <a:spcPts val="1000"/>
              </a:spcBef>
            </a:pPr>
            <a:r>
              <a:rPr sz="2000" b="1">
                <a:solidFill>
                  <a:srgbClr val="FFE066"/>
                </a:solidFill>
                <a:latin typeface="Arial"/>
              </a:rPr>
              <a:t>Bell</a:t>
            </a:r>
          </a:p>
          <a:p>
            <a:pPr algn="l"/>
            <a:r>
              <a:rPr sz="1800" b="0">
                <a:solidFill>
                  <a:srgbClr val="FFFFFF"/>
                </a:solidFill>
                <a:latin typeface="Arial"/>
              </a:rPr>
              <a:t>First ring: 1 minute left</a:t>
            </a:r>
          </a:p>
          <a:p>
            <a:pPr algn="l"/>
            <a:r>
              <a:rPr sz="1800" b="0">
                <a:solidFill>
                  <a:srgbClr val="FFFFFF"/>
                </a:solidFill>
                <a:latin typeface="Arial"/>
              </a:rPr>
              <a:t>Second ring: 30 seconds left</a:t>
            </a:r>
          </a:p>
          <a:p>
            <a:pPr algn="l"/>
            <a:r>
              <a:rPr sz="1800" b="0">
                <a:solidFill>
                  <a:srgbClr val="FFFFFF"/>
                </a:solidFill>
                <a:latin typeface="Arial"/>
              </a:rPr>
              <a:t>Third ring: please conclude your statement</a:t>
            </a:r>
          </a:p>
          <a:p>
            <a:pPr algn="l">
              <a:spcBef>
                <a:spcPts val="1000"/>
              </a:spcBef>
            </a:pPr>
            <a:r>
              <a:rPr sz="2000" b="1">
                <a:solidFill>
                  <a:srgbClr val="FFE066"/>
                </a:solidFill>
                <a:latin typeface="Arial"/>
              </a:rPr>
              <a:t>Statements</a:t>
            </a:r>
          </a:p>
          <a:p>
            <a:pPr algn="l"/>
            <a:r>
              <a:rPr sz="1800" b="0">
                <a:solidFill>
                  <a:srgbClr val="FFFFFF"/>
                </a:solidFill>
                <a:latin typeface="Arial"/>
              </a:rPr>
              <a:t>Please speak from your seat using the table microphone.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292608"/>
            <a:ext cx="54864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mbria"/>
              </a:rPr>
              <a:t>Asian Conference</a:t>
            </a:r>
          </a:p>
          <a:p>
            <a:pPr algn="l"/>
            <a:r>
              <a:rPr sz="2400" b="1">
                <a:solidFill>
                  <a:srgbClr val="FFFFFF"/>
                </a:solidFill>
                <a:latin typeface="Cambria"/>
              </a:rPr>
              <a:t>on Disaster Reduction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07008"/>
            <a:ext cx="86868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mbria"/>
              </a:rPr>
              <a:t>Roundtable Session (Part 1)</a:t>
            </a:r>
          </a:p>
        </p:txBody>
      </p:sp>
      <p:sp>
        <p:nvSpPr>
          <p:cNvPr id="5" name="LogoStrip"/>
          <p:cNvSpPr/>
          <p:nvPr/>
        </p:nvSpPr>
        <p:spPr>
          <a:xfrm>
            <a:off x="5686686" y="182880"/>
            <a:ext cx="6227945" cy="7863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Logo_sg" descr="s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51278" y="292608"/>
            <a:ext cx="835472" cy="566928"/>
          </a:xfrm>
          <a:prstGeom prst="rect">
            <a:avLst/>
          </a:prstGeom>
        </p:spPr>
      </p:pic>
      <p:pic>
        <p:nvPicPr>
          <p:cNvPr id="7" name="Logo_scdf" descr="scd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69630" y="292608"/>
            <a:ext cx="1598327" cy="566928"/>
          </a:xfrm>
          <a:prstGeom prst="rect">
            <a:avLst/>
          </a:prstGeom>
        </p:spPr>
      </p:pic>
      <p:pic>
        <p:nvPicPr>
          <p:cNvPr id="8" name="Logo_cosem" descr="cosem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50838" y="292608"/>
            <a:ext cx="1285036" cy="566928"/>
          </a:xfrm>
          <a:prstGeom prst="rect">
            <a:avLst/>
          </a:prstGeom>
        </p:spPr>
      </p:pic>
      <p:pic>
        <p:nvPicPr>
          <p:cNvPr id="9" name="Logo_adrc" descr="adr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18754" y="292608"/>
            <a:ext cx="579526" cy="566928"/>
          </a:xfrm>
          <a:prstGeom prst="rect">
            <a:avLst/>
          </a:prstGeom>
        </p:spPr>
      </p:pic>
      <p:pic>
        <p:nvPicPr>
          <p:cNvPr id="10" name="Logo_jp" descr="jp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881161" y="292608"/>
            <a:ext cx="868878" cy="566928"/>
          </a:xfrm>
          <a:prstGeom prst="rect">
            <a:avLst/>
          </a:prstGeom>
        </p:spPr>
      </p:pic>
      <p:pic>
        <p:nvPicPr>
          <p:cNvPr id="11" name="Picture 10" descr="am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006840" y="1691640"/>
            <a:ext cx="2377440" cy="17830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40080" y="3017520"/>
            <a:ext cx="82296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600" b="1">
                <a:solidFill>
                  <a:srgbClr val="FFE066"/>
                </a:solidFill>
                <a:latin typeface="Arial"/>
              </a:rPr>
              <a:t>Statement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611880"/>
            <a:ext cx="10881360" cy="1737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4400" b="0">
                <a:solidFill>
                  <a:srgbClr val="FFFFFF"/>
                </a:solidFill>
                <a:latin typeface="Arial"/>
              </a:rPr>
              <a:t>Republic of Armenia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Picture 1" descr="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292608"/>
            <a:ext cx="54864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mbria"/>
              </a:rPr>
              <a:t>Asian Conference</a:t>
            </a:r>
          </a:p>
          <a:p>
            <a:pPr algn="l"/>
            <a:r>
              <a:rPr sz="2400" b="1">
                <a:solidFill>
                  <a:srgbClr val="FFFFFF"/>
                </a:solidFill>
                <a:latin typeface="Cambria"/>
              </a:rPr>
              <a:t>on Disaster Reduction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07008"/>
            <a:ext cx="86868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mbria"/>
              </a:rPr>
              <a:t>Roundtable Session (Part 1)</a:t>
            </a:r>
          </a:p>
        </p:txBody>
      </p:sp>
      <p:sp>
        <p:nvSpPr>
          <p:cNvPr id="5" name="LogoStrip"/>
          <p:cNvSpPr/>
          <p:nvPr/>
        </p:nvSpPr>
        <p:spPr>
          <a:xfrm>
            <a:off x="5686686" y="182880"/>
            <a:ext cx="6227945" cy="7863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Logo_sg" descr="s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51278" y="292608"/>
            <a:ext cx="835472" cy="566928"/>
          </a:xfrm>
          <a:prstGeom prst="rect">
            <a:avLst/>
          </a:prstGeom>
        </p:spPr>
      </p:pic>
      <p:pic>
        <p:nvPicPr>
          <p:cNvPr id="7" name="Logo_scdf" descr="scd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69630" y="292608"/>
            <a:ext cx="1598327" cy="566928"/>
          </a:xfrm>
          <a:prstGeom prst="rect">
            <a:avLst/>
          </a:prstGeom>
        </p:spPr>
      </p:pic>
      <p:pic>
        <p:nvPicPr>
          <p:cNvPr id="8" name="Logo_cosem" descr="cosem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50838" y="292608"/>
            <a:ext cx="1285036" cy="566928"/>
          </a:xfrm>
          <a:prstGeom prst="rect">
            <a:avLst/>
          </a:prstGeom>
        </p:spPr>
      </p:pic>
      <p:pic>
        <p:nvPicPr>
          <p:cNvPr id="9" name="Logo_adrc" descr="adr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18754" y="292608"/>
            <a:ext cx="579526" cy="566928"/>
          </a:xfrm>
          <a:prstGeom prst="rect">
            <a:avLst/>
          </a:prstGeom>
        </p:spPr>
      </p:pic>
      <p:pic>
        <p:nvPicPr>
          <p:cNvPr id="10" name="Logo_jp" descr="jp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881161" y="292608"/>
            <a:ext cx="868878" cy="566928"/>
          </a:xfrm>
          <a:prstGeom prst="rect">
            <a:avLst/>
          </a:prstGeom>
        </p:spPr>
      </p:pic>
      <p:pic>
        <p:nvPicPr>
          <p:cNvPr id="11" name="Picture 10" descr="b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006840" y="1691640"/>
            <a:ext cx="2377440" cy="17830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40080" y="3017520"/>
            <a:ext cx="82296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600" b="1">
                <a:solidFill>
                  <a:srgbClr val="FFE066"/>
                </a:solidFill>
                <a:latin typeface="Arial"/>
              </a:rPr>
              <a:t>Statement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611880"/>
            <a:ext cx="10881360" cy="1737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4400" b="0">
                <a:solidFill>
                  <a:srgbClr val="FFFFFF"/>
                </a:solidFill>
                <a:latin typeface="Arial"/>
              </a:rPr>
              <a:t>People's Republic of Bangladesh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292608"/>
            <a:ext cx="54864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mbria"/>
              </a:rPr>
              <a:t>Asian Conference</a:t>
            </a:r>
          </a:p>
          <a:p>
            <a:pPr algn="l"/>
            <a:r>
              <a:rPr sz="2400" b="1">
                <a:solidFill>
                  <a:srgbClr val="FFFFFF"/>
                </a:solidFill>
                <a:latin typeface="Cambria"/>
              </a:rPr>
              <a:t>on Disaster Reduction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07008"/>
            <a:ext cx="86868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mbria"/>
              </a:rPr>
              <a:t>Roundtable Session (Part 1)</a:t>
            </a:r>
          </a:p>
        </p:txBody>
      </p:sp>
      <p:sp>
        <p:nvSpPr>
          <p:cNvPr id="5" name="LogoStrip"/>
          <p:cNvSpPr/>
          <p:nvPr/>
        </p:nvSpPr>
        <p:spPr>
          <a:xfrm>
            <a:off x="5686686" y="182880"/>
            <a:ext cx="6227945" cy="7863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Logo_sg" descr="s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51278" y="292608"/>
            <a:ext cx="835472" cy="566928"/>
          </a:xfrm>
          <a:prstGeom prst="rect">
            <a:avLst/>
          </a:prstGeom>
        </p:spPr>
      </p:pic>
      <p:pic>
        <p:nvPicPr>
          <p:cNvPr id="7" name="Logo_scdf" descr="scd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69630" y="292608"/>
            <a:ext cx="1598327" cy="566928"/>
          </a:xfrm>
          <a:prstGeom prst="rect">
            <a:avLst/>
          </a:prstGeom>
        </p:spPr>
      </p:pic>
      <p:pic>
        <p:nvPicPr>
          <p:cNvPr id="8" name="Logo_cosem" descr="cosem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50838" y="292608"/>
            <a:ext cx="1285036" cy="566928"/>
          </a:xfrm>
          <a:prstGeom prst="rect">
            <a:avLst/>
          </a:prstGeom>
        </p:spPr>
      </p:pic>
      <p:pic>
        <p:nvPicPr>
          <p:cNvPr id="9" name="Logo_adrc" descr="adr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18754" y="292608"/>
            <a:ext cx="579526" cy="566928"/>
          </a:xfrm>
          <a:prstGeom prst="rect">
            <a:avLst/>
          </a:prstGeom>
        </p:spPr>
      </p:pic>
      <p:pic>
        <p:nvPicPr>
          <p:cNvPr id="10" name="Logo_jp" descr="jp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881161" y="292608"/>
            <a:ext cx="868878" cy="566928"/>
          </a:xfrm>
          <a:prstGeom prst="rect">
            <a:avLst/>
          </a:prstGeom>
        </p:spPr>
      </p:pic>
      <p:pic>
        <p:nvPicPr>
          <p:cNvPr id="11" name="Picture 10" descr="bt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006840" y="1691640"/>
            <a:ext cx="2377440" cy="17830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40080" y="3017520"/>
            <a:ext cx="82296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600" b="1">
                <a:solidFill>
                  <a:srgbClr val="FFE066"/>
                </a:solidFill>
                <a:latin typeface="Arial"/>
              </a:rPr>
              <a:t>Statement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611880"/>
            <a:ext cx="10881360" cy="1737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4400" b="0">
                <a:solidFill>
                  <a:srgbClr val="FFFFFF"/>
                </a:solidFill>
                <a:latin typeface="Arial"/>
              </a:rPr>
              <a:t>Kingdom of Bhutan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Picture 1" descr="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292608"/>
            <a:ext cx="54864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mbria"/>
              </a:rPr>
              <a:t>Asian Conference</a:t>
            </a:r>
          </a:p>
          <a:p>
            <a:pPr algn="l"/>
            <a:r>
              <a:rPr sz="2400" b="1">
                <a:solidFill>
                  <a:srgbClr val="FFFFFF"/>
                </a:solidFill>
                <a:latin typeface="Cambria"/>
              </a:rPr>
              <a:t>on Disaster Reduction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07008"/>
            <a:ext cx="86868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mbria"/>
              </a:rPr>
              <a:t>Roundtable Session (Part 1)</a:t>
            </a:r>
          </a:p>
        </p:txBody>
      </p:sp>
      <p:sp>
        <p:nvSpPr>
          <p:cNvPr id="5" name="LogoStrip"/>
          <p:cNvSpPr/>
          <p:nvPr/>
        </p:nvSpPr>
        <p:spPr>
          <a:xfrm>
            <a:off x="5686686" y="182880"/>
            <a:ext cx="6227945" cy="7863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Logo_sg" descr="s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51278" y="292608"/>
            <a:ext cx="835472" cy="566928"/>
          </a:xfrm>
          <a:prstGeom prst="rect">
            <a:avLst/>
          </a:prstGeom>
        </p:spPr>
      </p:pic>
      <p:pic>
        <p:nvPicPr>
          <p:cNvPr id="7" name="Logo_scdf" descr="scd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69630" y="292608"/>
            <a:ext cx="1598327" cy="566928"/>
          </a:xfrm>
          <a:prstGeom prst="rect">
            <a:avLst/>
          </a:prstGeom>
        </p:spPr>
      </p:pic>
      <p:pic>
        <p:nvPicPr>
          <p:cNvPr id="8" name="Logo_cosem" descr="cosem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50838" y="292608"/>
            <a:ext cx="1285036" cy="566928"/>
          </a:xfrm>
          <a:prstGeom prst="rect">
            <a:avLst/>
          </a:prstGeom>
        </p:spPr>
      </p:pic>
      <p:pic>
        <p:nvPicPr>
          <p:cNvPr id="9" name="Logo_adrc" descr="adr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18754" y="292608"/>
            <a:ext cx="579526" cy="566928"/>
          </a:xfrm>
          <a:prstGeom prst="rect">
            <a:avLst/>
          </a:prstGeom>
        </p:spPr>
      </p:pic>
      <p:pic>
        <p:nvPicPr>
          <p:cNvPr id="10" name="Logo_jp" descr="jp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881161" y="292608"/>
            <a:ext cx="868878" cy="566928"/>
          </a:xfrm>
          <a:prstGeom prst="rect">
            <a:avLst/>
          </a:prstGeom>
        </p:spPr>
      </p:pic>
      <p:pic>
        <p:nvPicPr>
          <p:cNvPr id="11" name="Picture 10" descr="bn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006840" y="1691640"/>
            <a:ext cx="2377440" cy="17830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40080" y="3017520"/>
            <a:ext cx="82296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600" b="1">
                <a:solidFill>
                  <a:srgbClr val="FFE066"/>
                </a:solidFill>
                <a:latin typeface="Arial"/>
              </a:rPr>
              <a:t>Statement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611880"/>
            <a:ext cx="10881360" cy="1737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4400" b="0">
                <a:solidFill>
                  <a:srgbClr val="FFFFFF"/>
                </a:solidFill>
                <a:latin typeface="Arial"/>
              </a:rPr>
              <a:t>Brunei Darussalam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292608"/>
            <a:ext cx="54864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mbria"/>
              </a:rPr>
              <a:t>Asian Conference</a:t>
            </a:r>
          </a:p>
          <a:p>
            <a:pPr algn="l"/>
            <a:r>
              <a:rPr sz="2400" b="1">
                <a:solidFill>
                  <a:srgbClr val="FFFFFF"/>
                </a:solidFill>
                <a:latin typeface="Cambria"/>
              </a:rPr>
              <a:t>on Disaster Reduction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07008"/>
            <a:ext cx="86868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mbria"/>
              </a:rPr>
              <a:t>Roundtable Session (Part 1)</a:t>
            </a:r>
          </a:p>
        </p:txBody>
      </p:sp>
      <p:sp>
        <p:nvSpPr>
          <p:cNvPr id="5" name="LogoStrip"/>
          <p:cNvSpPr/>
          <p:nvPr/>
        </p:nvSpPr>
        <p:spPr>
          <a:xfrm>
            <a:off x="5686686" y="182880"/>
            <a:ext cx="6227945" cy="7863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Logo_sg" descr="s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51278" y="292608"/>
            <a:ext cx="835472" cy="566928"/>
          </a:xfrm>
          <a:prstGeom prst="rect">
            <a:avLst/>
          </a:prstGeom>
        </p:spPr>
      </p:pic>
      <p:pic>
        <p:nvPicPr>
          <p:cNvPr id="7" name="Logo_scdf" descr="scd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69630" y="292608"/>
            <a:ext cx="1598327" cy="566928"/>
          </a:xfrm>
          <a:prstGeom prst="rect">
            <a:avLst/>
          </a:prstGeom>
        </p:spPr>
      </p:pic>
      <p:pic>
        <p:nvPicPr>
          <p:cNvPr id="8" name="Logo_cosem" descr="cosem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50838" y="292608"/>
            <a:ext cx="1285036" cy="566928"/>
          </a:xfrm>
          <a:prstGeom prst="rect">
            <a:avLst/>
          </a:prstGeom>
        </p:spPr>
      </p:pic>
      <p:pic>
        <p:nvPicPr>
          <p:cNvPr id="9" name="Logo_adrc" descr="adr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18754" y="292608"/>
            <a:ext cx="579526" cy="566928"/>
          </a:xfrm>
          <a:prstGeom prst="rect">
            <a:avLst/>
          </a:prstGeom>
        </p:spPr>
      </p:pic>
      <p:pic>
        <p:nvPicPr>
          <p:cNvPr id="10" name="Logo_jp" descr="jp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881161" y="292608"/>
            <a:ext cx="868878" cy="566928"/>
          </a:xfrm>
          <a:prstGeom prst="rect">
            <a:avLst/>
          </a:prstGeom>
        </p:spPr>
      </p:pic>
      <p:pic>
        <p:nvPicPr>
          <p:cNvPr id="11" name="Picture 10" descr="kh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006840" y="1691640"/>
            <a:ext cx="2377440" cy="17830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40080" y="3017520"/>
            <a:ext cx="82296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600" b="1">
                <a:solidFill>
                  <a:srgbClr val="FFE066"/>
                </a:solidFill>
                <a:latin typeface="Arial"/>
              </a:rPr>
              <a:t>Statement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611880"/>
            <a:ext cx="10881360" cy="1737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4400" b="0">
                <a:solidFill>
                  <a:srgbClr val="FFFFFF"/>
                </a:solidFill>
                <a:latin typeface="Arial"/>
              </a:rPr>
              <a:t>Kingdom of Cambodia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Picture 1" descr="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292608"/>
            <a:ext cx="54864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mbria"/>
              </a:rPr>
              <a:t>Asian Conference</a:t>
            </a:r>
          </a:p>
          <a:p>
            <a:pPr algn="l"/>
            <a:r>
              <a:rPr sz="2400" b="1">
                <a:solidFill>
                  <a:srgbClr val="FFFFFF"/>
                </a:solidFill>
                <a:latin typeface="Cambria"/>
              </a:rPr>
              <a:t>on Disaster Reduction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07008"/>
            <a:ext cx="86868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mbria"/>
              </a:rPr>
              <a:t>Roundtable Session (Part 1)</a:t>
            </a:r>
          </a:p>
        </p:txBody>
      </p:sp>
      <p:sp>
        <p:nvSpPr>
          <p:cNvPr id="5" name="LogoStrip"/>
          <p:cNvSpPr/>
          <p:nvPr/>
        </p:nvSpPr>
        <p:spPr>
          <a:xfrm>
            <a:off x="5686686" y="182880"/>
            <a:ext cx="6227945" cy="7863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Logo_sg" descr="s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51278" y="292608"/>
            <a:ext cx="835472" cy="566928"/>
          </a:xfrm>
          <a:prstGeom prst="rect">
            <a:avLst/>
          </a:prstGeom>
        </p:spPr>
      </p:pic>
      <p:pic>
        <p:nvPicPr>
          <p:cNvPr id="7" name="Logo_scdf" descr="scd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69630" y="292608"/>
            <a:ext cx="1598327" cy="566928"/>
          </a:xfrm>
          <a:prstGeom prst="rect">
            <a:avLst/>
          </a:prstGeom>
        </p:spPr>
      </p:pic>
      <p:pic>
        <p:nvPicPr>
          <p:cNvPr id="8" name="Logo_cosem" descr="cosem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50838" y="292608"/>
            <a:ext cx="1285036" cy="566928"/>
          </a:xfrm>
          <a:prstGeom prst="rect">
            <a:avLst/>
          </a:prstGeom>
        </p:spPr>
      </p:pic>
      <p:pic>
        <p:nvPicPr>
          <p:cNvPr id="9" name="Logo_adrc" descr="adr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18754" y="292608"/>
            <a:ext cx="579526" cy="566928"/>
          </a:xfrm>
          <a:prstGeom prst="rect">
            <a:avLst/>
          </a:prstGeom>
        </p:spPr>
      </p:pic>
      <p:pic>
        <p:nvPicPr>
          <p:cNvPr id="10" name="Logo_jp" descr="jp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881161" y="292608"/>
            <a:ext cx="868878" cy="566928"/>
          </a:xfrm>
          <a:prstGeom prst="rect">
            <a:avLst/>
          </a:prstGeom>
        </p:spPr>
      </p:pic>
      <p:pic>
        <p:nvPicPr>
          <p:cNvPr id="11" name="Picture 10" descr="fj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006840" y="1691640"/>
            <a:ext cx="2377440" cy="17830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40080" y="3017520"/>
            <a:ext cx="82296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600" b="1">
                <a:solidFill>
                  <a:srgbClr val="FFE066"/>
                </a:solidFill>
                <a:latin typeface="Arial"/>
              </a:rPr>
              <a:t>Statement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611880"/>
            <a:ext cx="10881360" cy="1737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4400" b="0">
                <a:solidFill>
                  <a:srgbClr val="FFFFFF"/>
                </a:solidFill>
                <a:latin typeface="Arial"/>
              </a:rPr>
              <a:t>Republic of Fiji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Picture 1" descr="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292608"/>
            <a:ext cx="54864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mbria"/>
              </a:rPr>
              <a:t>Asian Conference</a:t>
            </a:r>
          </a:p>
          <a:p>
            <a:pPr algn="l"/>
            <a:r>
              <a:rPr sz="2400" b="1">
                <a:solidFill>
                  <a:srgbClr val="FFFFFF"/>
                </a:solidFill>
                <a:latin typeface="Cambria"/>
              </a:rPr>
              <a:t>on Disaster Reduction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07008"/>
            <a:ext cx="86868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mbria"/>
              </a:rPr>
              <a:t>Roundtable Session (Part 1)</a:t>
            </a:r>
          </a:p>
        </p:txBody>
      </p:sp>
      <p:sp>
        <p:nvSpPr>
          <p:cNvPr id="5" name="LogoStrip"/>
          <p:cNvSpPr/>
          <p:nvPr/>
        </p:nvSpPr>
        <p:spPr>
          <a:xfrm>
            <a:off x="5686686" y="182880"/>
            <a:ext cx="6227945" cy="7863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Logo_sg" descr="s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51278" y="292608"/>
            <a:ext cx="835472" cy="566928"/>
          </a:xfrm>
          <a:prstGeom prst="rect">
            <a:avLst/>
          </a:prstGeom>
        </p:spPr>
      </p:pic>
      <p:pic>
        <p:nvPicPr>
          <p:cNvPr id="7" name="Logo_scdf" descr="scd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69630" y="292608"/>
            <a:ext cx="1598327" cy="566928"/>
          </a:xfrm>
          <a:prstGeom prst="rect">
            <a:avLst/>
          </a:prstGeom>
        </p:spPr>
      </p:pic>
      <p:pic>
        <p:nvPicPr>
          <p:cNvPr id="8" name="Logo_cosem" descr="cosem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50838" y="292608"/>
            <a:ext cx="1285036" cy="566928"/>
          </a:xfrm>
          <a:prstGeom prst="rect">
            <a:avLst/>
          </a:prstGeom>
        </p:spPr>
      </p:pic>
      <p:pic>
        <p:nvPicPr>
          <p:cNvPr id="9" name="Logo_adrc" descr="adr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18754" y="292608"/>
            <a:ext cx="579526" cy="566928"/>
          </a:xfrm>
          <a:prstGeom prst="rect">
            <a:avLst/>
          </a:prstGeom>
        </p:spPr>
      </p:pic>
      <p:pic>
        <p:nvPicPr>
          <p:cNvPr id="10" name="Logo_jp" descr="jp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881161" y="292608"/>
            <a:ext cx="868878" cy="566928"/>
          </a:xfrm>
          <a:prstGeom prst="rect">
            <a:avLst/>
          </a:prstGeom>
        </p:spPr>
      </p:pic>
      <p:pic>
        <p:nvPicPr>
          <p:cNvPr id="11" name="Picture 10" descr="in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006840" y="1691640"/>
            <a:ext cx="2377440" cy="17830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40080" y="3017520"/>
            <a:ext cx="82296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600" b="1">
                <a:solidFill>
                  <a:srgbClr val="FFE066"/>
                </a:solidFill>
                <a:latin typeface="Arial"/>
              </a:rPr>
              <a:t>Statement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611880"/>
            <a:ext cx="10881360" cy="1737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4400" b="0">
                <a:solidFill>
                  <a:srgbClr val="FFFFFF"/>
                </a:solidFill>
                <a:latin typeface="Arial"/>
              </a:rPr>
              <a:t>Republic of India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Picture 1" descr="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292608"/>
            <a:ext cx="54864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mbria"/>
              </a:rPr>
              <a:t>Asian Conference</a:t>
            </a:r>
          </a:p>
          <a:p>
            <a:pPr algn="l"/>
            <a:r>
              <a:rPr sz="2400" b="1">
                <a:solidFill>
                  <a:srgbClr val="FFFFFF"/>
                </a:solidFill>
                <a:latin typeface="Cambria"/>
              </a:rPr>
              <a:t>on Disaster Reduction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07008"/>
            <a:ext cx="86868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mbria"/>
              </a:rPr>
              <a:t>Roundtable Session (Part 1)</a:t>
            </a:r>
          </a:p>
        </p:txBody>
      </p:sp>
      <p:sp>
        <p:nvSpPr>
          <p:cNvPr id="5" name="LogoStrip"/>
          <p:cNvSpPr/>
          <p:nvPr/>
        </p:nvSpPr>
        <p:spPr>
          <a:xfrm>
            <a:off x="5686686" y="182880"/>
            <a:ext cx="6227945" cy="7863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Logo_sg" descr="s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51278" y="292608"/>
            <a:ext cx="835472" cy="566928"/>
          </a:xfrm>
          <a:prstGeom prst="rect">
            <a:avLst/>
          </a:prstGeom>
        </p:spPr>
      </p:pic>
      <p:pic>
        <p:nvPicPr>
          <p:cNvPr id="7" name="Logo_scdf" descr="scd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69630" y="292608"/>
            <a:ext cx="1598327" cy="566928"/>
          </a:xfrm>
          <a:prstGeom prst="rect">
            <a:avLst/>
          </a:prstGeom>
        </p:spPr>
      </p:pic>
      <p:pic>
        <p:nvPicPr>
          <p:cNvPr id="8" name="Logo_cosem" descr="cosem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50838" y="292608"/>
            <a:ext cx="1285036" cy="566928"/>
          </a:xfrm>
          <a:prstGeom prst="rect">
            <a:avLst/>
          </a:prstGeom>
        </p:spPr>
      </p:pic>
      <p:pic>
        <p:nvPicPr>
          <p:cNvPr id="9" name="Logo_adrc" descr="adr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18754" y="292608"/>
            <a:ext cx="579526" cy="566928"/>
          </a:xfrm>
          <a:prstGeom prst="rect">
            <a:avLst/>
          </a:prstGeom>
        </p:spPr>
      </p:pic>
      <p:pic>
        <p:nvPicPr>
          <p:cNvPr id="10" name="Logo_jp" descr="jp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881161" y="292608"/>
            <a:ext cx="868878" cy="566928"/>
          </a:xfrm>
          <a:prstGeom prst="rect">
            <a:avLst/>
          </a:prstGeom>
        </p:spPr>
      </p:pic>
      <p:pic>
        <p:nvPicPr>
          <p:cNvPr id="11" name="Picture 10" descr="i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006840" y="1691640"/>
            <a:ext cx="2377440" cy="17830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40080" y="3017520"/>
            <a:ext cx="82296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600" b="1">
                <a:solidFill>
                  <a:srgbClr val="FFE066"/>
                </a:solidFill>
                <a:latin typeface="Arial"/>
              </a:rPr>
              <a:t>Statement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611880"/>
            <a:ext cx="10881360" cy="1737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4400" b="0">
                <a:solidFill>
                  <a:srgbClr val="FFFFFF"/>
                </a:solidFill>
                <a:latin typeface="Arial"/>
              </a:rPr>
              <a:t>Republic of Indonesia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292608"/>
            <a:ext cx="54864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mbria"/>
              </a:rPr>
              <a:t>Asian Conference</a:t>
            </a:r>
          </a:p>
          <a:p>
            <a:pPr algn="l"/>
            <a:r>
              <a:rPr sz="2400" b="1">
                <a:solidFill>
                  <a:srgbClr val="FFFFFF"/>
                </a:solidFill>
                <a:latin typeface="Cambria"/>
              </a:rPr>
              <a:t>on Disaster Reduction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07008"/>
            <a:ext cx="86868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mbria"/>
              </a:rPr>
              <a:t>Roundtable Session (Part 1)</a:t>
            </a:r>
          </a:p>
        </p:txBody>
      </p:sp>
      <p:sp>
        <p:nvSpPr>
          <p:cNvPr id="5" name="LogoStrip"/>
          <p:cNvSpPr/>
          <p:nvPr/>
        </p:nvSpPr>
        <p:spPr>
          <a:xfrm>
            <a:off x="5686686" y="182880"/>
            <a:ext cx="6227945" cy="7863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Logo_sg" descr="s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51278" y="292608"/>
            <a:ext cx="835472" cy="566928"/>
          </a:xfrm>
          <a:prstGeom prst="rect">
            <a:avLst/>
          </a:prstGeom>
        </p:spPr>
      </p:pic>
      <p:pic>
        <p:nvPicPr>
          <p:cNvPr id="7" name="Logo_scdf" descr="scd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69630" y="292608"/>
            <a:ext cx="1598327" cy="566928"/>
          </a:xfrm>
          <a:prstGeom prst="rect">
            <a:avLst/>
          </a:prstGeom>
        </p:spPr>
      </p:pic>
      <p:pic>
        <p:nvPicPr>
          <p:cNvPr id="8" name="Logo_cosem" descr="cosem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50838" y="292608"/>
            <a:ext cx="1285036" cy="566928"/>
          </a:xfrm>
          <a:prstGeom prst="rect">
            <a:avLst/>
          </a:prstGeom>
        </p:spPr>
      </p:pic>
      <p:pic>
        <p:nvPicPr>
          <p:cNvPr id="9" name="Logo_adrc" descr="adr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18754" y="292608"/>
            <a:ext cx="579526" cy="566928"/>
          </a:xfrm>
          <a:prstGeom prst="rect">
            <a:avLst/>
          </a:prstGeom>
        </p:spPr>
      </p:pic>
      <p:pic>
        <p:nvPicPr>
          <p:cNvPr id="10" name="Logo_jp" descr="jp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881161" y="292608"/>
            <a:ext cx="868878" cy="566928"/>
          </a:xfrm>
          <a:prstGeom prst="rect">
            <a:avLst/>
          </a:prstGeom>
        </p:spPr>
      </p:pic>
      <p:pic>
        <p:nvPicPr>
          <p:cNvPr id="11" name="Picture 10" descr="jp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006840" y="1691640"/>
            <a:ext cx="2377440" cy="17830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40080" y="3017520"/>
            <a:ext cx="82296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600" b="1">
                <a:solidFill>
                  <a:srgbClr val="FFE066"/>
                </a:solidFill>
                <a:latin typeface="Arial"/>
              </a:rPr>
              <a:t>Statement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611880"/>
            <a:ext cx="1088136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4400" b="0">
                <a:solidFill>
                  <a:srgbClr val="FFFFFF"/>
                </a:solidFill>
                <a:latin typeface="Arial"/>
              </a:rPr>
              <a:t>Mr NAKANE Toru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572000"/>
            <a:ext cx="10881360" cy="20116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Arial"/>
              </a:rPr>
              <a:t>Director, International Relations Division</a:t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Arial"/>
              </a:rPr>
              <a:t>Disaster Management Bureau, Cabinet Office</a:t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Arial"/>
              </a:rPr>
              <a:t>Japan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292608"/>
            <a:ext cx="54864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mbria"/>
              </a:rPr>
              <a:t>Asian Conference</a:t>
            </a:r>
          </a:p>
          <a:p>
            <a:pPr algn="l"/>
            <a:r>
              <a:rPr sz="2400" b="1">
                <a:solidFill>
                  <a:srgbClr val="FFFFFF"/>
                </a:solidFill>
                <a:latin typeface="Cambria"/>
              </a:rPr>
              <a:t>on Disaster Reduction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07008"/>
            <a:ext cx="86868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mbria"/>
              </a:rPr>
              <a:t>Roundtable Session (Part 1)</a:t>
            </a:r>
          </a:p>
        </p:txBody>
      </p:sp>
      <p:sp>
        <p:nvSpPr>
          <p:cNvPr id="5" name="LogoStrip"/>
          <p:cNvSpPr/>
          <p:nvPr/>
        </p:nvSpPr>
        <p:spPr>
          <a:xfrm>
            <a:off x="5686686" y="182880"/>
            <a:ext cx="6227945" cy="7863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Logo_sg" descr="s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51278" y="292608"/>
            <a:ext cx="835472" cy="566928"/>
          </a:xfrm>
          <a:prstGeom prst="rect">
            <a:avLst/>
          </a:prstGeom>
        </p:spPr>
      </p:pic>
      <p:pic>
        <p:nvPicPr>
          <p:cNvPr id="7" name="Logo_scdf" descr="scd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69630" y="292608"/>
            <a:ext cx="1598327" cy="566928"/>
          </a:xfrm>
          <a:prstGeom prst="rect">
            <a:avLst/>
          </a:prstGeom>
        </p:spPr>
      </p:pic>
      <p:pic>
        <p:nvPicPr>
          <p:cNvPr id="8" name="Logo_cosem" descr="cosem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50838" y="292608"/>
            <a:ext cx="1285036" cy="566928"/>
          </a:xfrm>
          <a:prstGeom prst="rect">
            <a:avLst/>
          </a:prstGeom>
        </p:spPr>
      </p:pic>
      <p:pic>
        <p:nvPicPr>
          <p:cNvPr id="9" name="Logo_adrc" descr="adr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18754" y="292608"/>
            <a:ext cx="579526" cy="566928"/>
          </a:xfrm>
          <a:prstGeom prst="rect">
            <a:avLst/>
          </a:prstGeom>
        </p:spPr>
      </p:pic>
      <p:pic>
        <p:nvPicPr>
          <p:cNvPr id="10" name="Logo_jp" descr="jp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881161" y="292608"/>
            <a:ext cx="868878" cy="566928"/>
          </a:xfrm>
          <a:prstGeom prst="rect">
            <a:avLst/>
          </a:prstGeom>
        </p:spPr>
      </p:pic>
      <p:pic>
        <p:nvPicPr>
          <p:cNvPr id="11" name="Picture 10" descr="jp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006840" y="1691640"/>
            <a:ext cx="2377440" cy="17830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40080" y="3017520"/>
            <a:ext cx="82296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600" b="1">
                <a:solidFill>
                  <a:srgbClr val="FFE066"/>
                </a:solidFill>
                <a:latin typeface="Arial"/>
              </a:rPr>
              <a:t>Statement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611880"/>
            <a:ext cx="1088136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4400" b="0">
                <a:solidFill>
                  <a:srgbClr val="FFFFFF"/>
                </a:solidFill>
                <a:latin typeface="Arial"/>
              </a:rPr>
              <a:t>Mr TAKAHASHI Shinichi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572000"/>
            <a:ext cx="10881360" cy="20116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Arial"/>
              </a:rPr>
              <a:t>Vice Mayor, City of Sendai</a:t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Arial"/>
              </a:rPr>
              <a:t>Host city of ACDR2027</a:t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Arial"/>
              </a:rPr>
              <a:t>Japan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Picture 1" descr="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292608"/>
            <a:ext cx="54864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mbria"/>
              </a:rPr>
              <a:t>Asian Conference</a:t>
            </a:r>
          </a:p>
          <a:p>
            <a:pPr algn="l"/>
            <a:r>
              <a:rPr sz="2400" b="1">
                <a:solidFill>
                  <a:srgbClr val="FFFFFF"/>
                </a:solidFill>
                <a:latin typeface="Cambria"/>
              </a:rPr>
              <a:t>on Disaster Reduction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07008"/>
            <a:ext cx="86868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mbria"/>
              </a:rPr>
              <a:t>Roundtable Session (Part 1)</a:t>
            </a:r>
          </a:p>
        </p:txBody>
      </p:sp>
      <p:sp>
        <p:nvSpPr>
          <p:cNvPr id="5" name="LogoStrip"/>
          <p:cNvSpPr/>
          <p:nvPr/>
        </p:nvSpPr>
        <p:spPr>
          <a:xfrm>
            <a:off x="5686686" y="182880"/>
            <a:ext cx="6227945" cy="7863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Logo_sg" descr="s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51278" y="292608"/>
            <a:ext cx="835472" cy="566928"/>
          </a:xfrm>
          <a:prstGeom prst="rect">
            <a:avLst/>
          </a:prstGeom>
        </p:spPr>
      </p:pic>
      <p:pic>
        <p:nvPicPr>
          <p:cNvPr id="7" name="Logo_scdf" descr="scd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69630" y="292608"/>
            <a:ext cx="1598327" cy="566928"/>
          </a:xfrm>
          <a:prstGeom prst="rect">
            <a:avLst/>
          </a:prstGeom>
        </p:spPr>
      </p:pic>
      <p:pic>
        <p:nvPicPr>
          <p:cNvPr id="8" name="Logo_cosem" descr="cosem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50838" y="292608"/>
            <a:ext cx="1285036" cy="566928"/>
          </a:xfrm>
          <a:prstGeom prst="rect">
            <a:avLst/>
          </a:prstGeom>
        </p:spPr>
      </p:pic>
      <p:pic>
        <p:nvPicPr>
          <p:cNvPr id="9" name="Logo_adrc" descr="adr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18754" y="292608"/>
            <a:ext cx="579526" cy="566928"/>
          </a:xfrm>
          <a:prstGeom prst="rect">
            <a:avLst/>
          </a:prstGeom>
        </p:spPr>
      </p:pic>
      <p:pic>
        <p:nvPicPr>
          <p:cNvPr id="10" name="Logo_jp" descr="jp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881161" y="292608"/>
            <a:ext cx="868878" cy="566928"/>
          </a:xfrm>
          <a:prstGeom prst="rect">
            <a:avLst/>
          </a:prstGeom>
        </p:spPr>
      </p:pic>
      <p:pic>
        <p:nvPicPr>
          <p:cNvPr id="11" name="Picture 10" descr="my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006840" y="1691640"/>
            <a:ext cx="2377440" cy="17830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40080" y="3017520"/>
            <a:ext cx="82296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600" b="1">
                <a:solidFill>
                  <a:srgbClr val="FFE066"/>
                </a:solidFill>
                <a:latin typeface="Arial"/>
              </a:rPr>
              <a:t>Statement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611880"/>
            <a:ext cx="10881360" cy="1737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4400" b="0">
                <a:solidFill>
                  <a:srgbClr val="FFFFFF"/>
                </a:solidFill>
                <a:latin typeface="Arial"/>
              </a:rPr>
              <a:t>Malaysia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292608"/>
            <a:ext cx="54864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mbria"/>
              </a:rPr>
              <a:t>Asian Conference</a:t>
            </a:r>
          </a:p>
          <a:p>
            <a:pPr algn="l"/>
            <a:r>
              <a:rPr sz="2400" b="1">
                <a:solidFill>
                  <a:srgbClr val="FFFFFF"/>
                </a:solidFill>
                <a:latin typeface="Cambria"/>
              </a:rPr>
              <a:t>on Disaster Reduction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07008"/>
            <a:ext cx="86868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mbria"/>
              </a:rPr>
              <a:t>Roundtable Session (Part 1)</a:t>
            </a:r>
          </a:p>
        </p:txBody>
      </p:sp>
      <p:sp>
        <p:nvSpPr>
          <p:cNvPr id="5" name="LogoStrip"/>
          <p:cNvSpPr/>
          <p:nvPr/>
        </p:nvSpPr>
        <p:spPr>
          <a:xfrm>
            <a:off x="5686686" y="182880"/>
            <a:ext cx="6227945" cy="7863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Logo_sg" descr="s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51278" y="292608"/>
            <a:ext cx="835472" cy="566928"/>
          </a:xfrm>
          <a:prstGeom prst="rect">
            <a:avLst/>
          </a:prstGeom>
        </p:spPr>
      </p:pic>
      <p:pic>
        <p:nvPicPr>
          <p:cNvPr id="7" name="Logo_scdf" descr="scd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69630" y="292608"/>
            <a:ext cx="1598327" cy="566928"/>
          </a:xfrm>
          <a:prstGeom prst="rect">
            <a:avLst/>
          </a:prstGeom>
        </p:spPr>
      </p:pic>
      <p:pic>
        <p:nvPicPr>
          <p:cNvPr id="8" name="Logo_cosem" descr="cosem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50838" y="292608"/>
            <a:ext cx="1285036" cy="566928"/>
          </a:xfrm>
          <a:prstGeom prst="rect">
            <a:avLst/>
          </a:prstGeom>
        </p:spPr>
      </p:pic>
      <p:pic>
        <p:nvPicPr>
          <p:cNvPr id="9" name="Logo_adrc" descr="adr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18754" y="292608"/>
            <a:ext cx="579526" cy="566928"/>
          </a:xfrm>
          <a:prstGeom prst="rect">
            <a:avLst/>
          </a:prstGeom>
        </p:spPr>
      </p:pic>
      <p:pic>
        <p:nvPicPr>
          <p:cNvPr id="10" name="Logo_jp" descr="jp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881161" y="292608"/>
            <a:ext cx="868878" cy="566928"/>
          </a:xfrm>
          <a:prstGeom prst="rect">
            <a:avLst/>
          </a:prstGeom>
        </p:spPr>
      </p:pic>
      <p:pic>
        <p:nvPicPr>
          <p:cNvPr id="11" name="Picture 10" descr="mv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006840" y="1691640"/>
            <a:ext cx="2377440" cy="17830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40080" y="3017520"/>
            <a:ext cx="82296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600" b="1">
                <a:solidFill>
                  <a:srgbClr val="FFE066"/>
                </a:solidFill>
                <a:latin typeface="Arial"/>
              </a:rPr>
              <a:t>Statement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611880"/>
            <a:ext cx="10881360" cy="1737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4400" b="0">
                <a:solidFill>
                  <a:srgbClr val="FFFFFF"/>
                </a:solidFill>
                <a:latin typeface="Arial"/>
              </a:rPr>
              <a:t>Republic of Maldives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Picture 1" descr="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292608"/>
            <a:ext cx="54864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mbria"/>
              </a:rPr>
              <a:t>Asian Conference</a:t>
            </a:r>
          </a:p>
          <a:p>
            <a:pPr algn="l"/>
            <a:r>
              <a:rPr sz="2400" b="1">
                <a:solidFill>
                  <a:srgbClr val="FFFFFF"/>
                </a:solidFill>
                <a:latin typeface="Cambria"/>
              </a:rPr>
              <a:t>on Disaster Reduction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07008"/>
            <a:ext cx="86868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mbria"/>
              </a:rPr>
              <a:t>Roundtable Session (Part 1)</a:t>
            </a:r>
          </a:p>
        </p:txBody>
      </p:sp>
      <p:sp>
        <p:nvSpPr>
          <p:cNvPr id="5" name="LogoStrip"/>
          <p:cNvSpPr/>
          <p:nvPr/>
        </p:nvSpPr>
        <p:spPr>
          <a:xfrm>
            <a:off x="5686686" y="182880"/>
            <a:ext cx="6227945" cy="7863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Logo_sg" descr="s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51278" y="292608"/>
            <a:ext cx="835472" cy="566928"/>
          </a:xfrm>
          <a:prstGeom prst="rect">
            <a:avLst/>
          </a:prstGeom>
        </p:spPr>
      </p:pic>
      <p:pic>
        <p:nvPicPr>
          <p:cNvPr id="7" name="Logo_scdf" descr="scd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69630" y="292608"/>
            <a:ext cx="1598327" cy="566928"/>
          </a:xfrm>
          <a:prstGeom prst="rect">
            <a:avLst/>
          </a:prstGeom>
        </p:spPr>
      </p:pic>
      <p:pic>
        <p:nvPicPr>
          <p:cNvPr id="8" name="Logo_cosem" descr="cosem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50838" y="292608"/>
            <a:ext cx="1285036" cy="566928"/>
          </a:xfrm>
          <a:prstGeom prst="rect">
            <a:avLst/>
          </a:prstGeom>
        </p:spPr>
      </p:pic>
      <p:pic>
        <p:nvPicPr>
          <p:cNvPr id="9" name="Logo_adrc" descr="adr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18754" y="292608"/>
            <a:ext cx="579526" cy="566928"/>
          </a:xfrm>
          <a:prstGeom prst="rect">
            <a:avLst/>
          </a:prstGeom>
        </p:spPr>
      </p:pic>
      <p:pic>
        <p:nvPicPr>
          <p:cNvPr id="10" name="Logo_jp" descr="jp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881161" y="292608"/>
            <a:ext cx="868878" cy="566928"/>
          </a:xfrm>
          <a:prstGeom prst="rect">
            <a:avLst/>
          </a:prstGeom>
        </p:spPr>
      </p:pic>
      <p:pic>
        <p:nvPicPr>
          <p:cNvPr id="11" name="Picture 10" descr="mn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006840" y="1691640"/>
            <a:ext cx="2377440" cy="17830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40080" y="3017520"/>
            <a:ext cx="82296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600" b="1">
                <a:solidFill>
                  <a:srgbClr val="FFE066"/>
                </a:solidFill>
                <a:latin typeface="Arial"/>
              </a:rPr>
              <a:t>Statement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611880"/>
            <a:ext cx="10881360" cy="1737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4400" b="0">
                <a:solidFill>
                  <a:srgbClr val="FFFFFF"/>
                </a:solidFill>
                <a:latin typeface="Arial"/>
              </a:rPr>
              <a:t>Mongolia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Picture 1" descr="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292608"/>
            <a:ext cx="54864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mbria"/>
              </a:rPr>
              <a:t>Asian Conference</a:t>
            </a:r>
          </a:p>
          <a:p>
            <a:pPr algn="l"/>
            <a:r>
              <a:rPr sz="2400" b="1">
                <a:solidFill>
                  <a:srgbClr val="FFFFFF"/>
                </a:solidFill>
                <a:latin typeface="Cambria"/>
              </a:rPr>
              <a:t>on Disaster Reduction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07008"/>
            <a:ext cx="86868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mbria"/>
              </a:rPr>
              <a:t>Roundtable Session (Part 1)</a:t>
            </a:r>
          </a:p>
        </p:txBody>
      </p:sp>
      <p:sp>
        <p:nvSpPr>
          <p:cNvPr id="5" name="LogoStrip"/>
          <p:cNvSpPr/>
          <p:nvPr/>
        </p:nvSpPr>
        <p:spPr>
          <a:xfrm>
            <a:off x="5686686" y="182880"/>
            <a:ext cx="6227945" cy="7863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Logo_sg" descr="s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51278" y="292608"/>
            <a:ext cx="835472" cy="566928"/>
          </a:xfrm>
          <a:prstGeom prst="rect">
            <a:avLst/>
          </a:prstGeom>
        </p:spPr>
      </p:pic>
      <p:pic>
        <p:nvPicPr>
          <p:cNvPr id="7" name="Logo_scdf" descr="scd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69630" y="292608"/>
            <a:ext cx="1598327" cy="566928"/>
          </a:xfrm>
          <a:prstGeom prst="rect">
            <a:avLst/>
          </a:prstGeom>
        </p:spPr>
      </p:pic>
      <p:pic>
        <p:nvPicPr>
          <p:cNvPr id="8" name="Logo_cosem" descr="cosem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50838" y="292608"/>
            <a:ext cx="1285036" cy="566928"/>
          </a:xfrm>
          <a:prstGeom prst="rect">
            <a:avLst/>
          </a:prstGeom>
        </p:spPr>
      </p:pic>
      <p:pic>
        <p:nvPicPr>
          <p:cNvPr id="9" name="Logo_adrc" descr="adr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18754" y="292608"/>
            <a:ext cx="579526" cy="566928"/>
          </a:xfrm>
          <a:prstGeom prst="rect">
            <a:avLst/>
          </a:prstGeom>
        </p:spPr>
      </p:pic>
      <p:pic>
        <p:nvPicPr>
          <p:cNvPr id="10" name="Logo_jp" descr="jp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881161" y="292608"/>
            <a:ext cx="868878" cy="566928"/>
          </a:xfrm>
          <a:prstGeom prst="rect">
            <a:avLst/>
          </a:prstGeom>
        </p:spPr>
      </p:pic>
      <p:pic>
        <p:nvPicPr>
          <p:cNvPr id="11" name="Picture 10" descr="mm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006840" y="1691640"/>
            <a:ext cx="2377440" cy="17830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40080" y="3017520"/>
            <a:ext cx="82296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600" b="1">
                <a:solidFill>
                  <a:srgbClr val="FFE066"/>
                </a:solidFill>
                <a:latin typeface="Arial"/>
              </a:rPr>
              <a:t>Statement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611880"/>
            <a:ext cx="10881360" cy="1737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4400" b="0">
                <a:solidFill>
                  <a:srgbClr val="FFFFFF"/>
                </a:solidFill>
                <a:latin typeface="Arial"/>
              </a:rPr>
              <a:t>Republic of the Union of Myanmar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292608"/>
            <a:ext cx="54864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mbria"/>
              </a:rPr>
              <a:t>Asian Conference</a:t>
            </a:r>
          </a:p>
          <a:p>
            <a:pPr algn="l"/>
            <a:r>
              <a:rPr sz="2400" b="1">
                <a:solidFill>
                  <a:srgbClr val="FFFFFF"/>
                </a:solidFill>
                <a:latin typeface="Cambria"/>
              </a:rPr>
              <a:t>on Disaster Reduction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07008"/>
            <a:ext cx="86868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mbria"/>
              </a:rPr>
              <a:t>Roundtable Session (Part 1)</a:t>
            </a:r>
          </a:p>
        </p:txBody>
      </p:sp>
      <p:sp>
        <p:nvSpPr>
          <p:cNvPr id="5" name="LogoStrip"/>
          <p:cNvSpPr/>
          <p:nvPr/>
        </p:nvSpPr>
        <p:spPr>
          <a:xfrm>
            <a:off x="5686686" y="182880"/>
            <a:ext cx="6227945" cy="7863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Logo_sg" descr="s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51278" y="292608"/>
            <a:ext cx="835472" cy="566928"/>
          </a:xfrm>
          <a:prstGeom prst="rect">
            <a:avLst/>
          </a:prstGeom>
        </p:spPr>
      </p:pic>
      <p:pic>
        <p:nvPicPr>
          <p:cNvPr id="7" name="Logo_scdf" descr="scd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69630" y="292608"/>
            <a:ext cx="1598327" cy="566928"/>
          </a:xfrm>
          <a:prstGeom prst="rect">
            <a:avLst/>
          </a:prstGeom>
        </p:spPr>
      </p:pic>
      <p:pic>
        <p:nvPicPr>
          <p:cNvPr id="8" name="Logo_cosem" descr="cosem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50838" y="292608"/>
            <a:ext cx="1285036" cy="566928"/>
          </a:xfrm>
          <a:prstGeom prst="rect">
            <a:avLst/>
          </a:prstGeom>
        </p:spPr>
      </p:pic>
      <p:pic>
        <p:nvPicPr>
          <p:cNvPr id="9" name="Logo_adrc" descr="adr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18754" y="292608"/>
            <a:ext cx="579526" cy="566928"/>
          </a:xfrm>
          <a:prstGeom prst="rect">
            <a:avLst/>
          </a:prstGeom>
        </p:spPr>
      </p:pic>
      <p:pic>
        <p:nvPicPr>
          <p:cNvPr id="10" name="Logo_jp" descr="jp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881161" y="292608"/>
            <a:ext cx="868878" cy="566928"/>
          </a:xfrm>
          <a:prstGeom prst="rect">
            <a:avLst/>
          </a:prstGeom>
        </p:spPr>
      </p:pic>
      <p:pic>
        <p:nvPicPr>
          <p:cNvPr id="11" name="Picture 10" descr="pk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006840" y="1691640"/>
            <a:ext cx="2377440" cy="17830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40080" y="3017520"/>
            <a:ext cx="82296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600" b="1">
                <a:solidFill>
                  <a:srgbClr val="FFE066"/>
                </a:solidFill>
                <a:latin typeface="Arial"/>
              </a:rPr>
              <a:t>Statement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611880"/>
            <a:ext cx="10881360" cy="1737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4400" b="0">
                <a:solidFill>
                  <a:srgbClr val="FFFFFF"/>
                </a:solidFill>
                <a:latin typeface="Arial"/>
              </a:rPr>
              <a:t>Islamic Republic of Pakistan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Picture 1" descr="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292608"/>
            <a:ext cx="54864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mbria"/>
              </a:rPr>
              <a:t>Asian Conference</a:t>
            </a:r>
          </a:p>
          <a:p>
            <a:pPr algn="l"/>
            <a:r>
              <a:rPr sz="2400" b="1">
                <a:solidFill>
                  <a:srgbClr val="FFFFFF"/>
                </a:solidFill>
                <a:latin typeface="Cambria"/>
              </a:rPr>
              <a:t>on Disaster Reduction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07008"/>
            <a:ext cx="86868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mbria"/>
              </a:rPr>
              <a:t>Roundtable Session (Part 1)</a:t>
            </a:r>
          </a:p>
        </p:txBody>
      </p:sp>
      <p:sp>
        <p:nvSpPr>
          <p:cNvPr id="5" name="LogoStrip"/>
          <p:cNvSpPr/>
          <p:nvPr/>
        </p:nvSpPr>
        <p:spPr>
          <a:xfrm>
            <a:off x="5686686" y="182880"/>
            <a:ext cx="6227945" cy="7863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Logo_sg" descr="s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51278" y="292608"/>
            <a:ext cx="835472" cy="566928"/>
          </a:xfrm>
          <a:prstGeom prst="rect">
            <a:avLst/>
          </a:prstGeom>
        </p:spPr>
      </p:pic>
      <p:pic>
        <p:nvPicPr>
          <p:cNvPr id="7" name="Logo_scdf" descr="scd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69630" y="292608"/>
            <a:ext cx="1598327" cy="566928"/>
          </a:xfrm>
          <a:prstGeom prst="rect">
            <a:avLst/>
          </a:prstGeom>
        </p:spPr>
      </p:pic>
      <p:pic>
        <p:nvPicPr>
          <p:cNvPr id="8" name="Logo_cosem" descr="cosem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50838" y="292608"/>
            <a:ext cx="1285036" cy="566928"/>
          </a:xfrm>
          <a:prstGeom prst="rect">
            <a:avLst/>
          </a:prstGeom>
        </p:spPr>
      </p:pic>
      <p:pic>
        <p:nvPicPr>
          <p:cNvPr id="9" name="Logo_adrc" descr="adr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18754" y="292608"/>
            <a:ext cx="579526" cy="566928"/>
          </a:xfrm>
          <a:prstGeom prst="rect">
            <a:avLst/>
          </a:prstGeom>
        </p:spPr>
      </p:pic>
      <p:pic>
        <p:nvPicPr>
          <p:cNvPr id="10" name="Logo_jp" descr="jp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881161" y="292608"/>
            <a:ext cx="868878" cy="566928"/>
          </a:xfrm>
          <a:prstGeom prst="rect">
            <a:avLst/>
          </a:prstGeom>
        </p:spPr>
      </p:pic>
      <p:pic>
        <p:nvPicPr>
          <p:cNvPr id="11" name="Picture 10" descr="pg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006840" y="1691640"/>
            <a:ext cx="2377440" cy="17830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40080" y="3017520"/>
            <a:ext cx="82296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600" b="1">
                <a:solidFill>
                  <a:srgbClr val="FFE066"/>
                </a:solidFill>
                <a:latin typeface="Arial"/>
              </a:rPr>
              <a:t>Statement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611880"/>
            <a:ext cx="10881360" cy="1737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4400" b="0">
                <a:solidFill>
                  <a:srgbClr val="FFFFFF"/>
                </a:solidFill>
                <a:latin typeface="Arial"/>
              </a:rPr>
              <a:t>Independent State of Papua New Guinea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292608"/>
            <a:ext cx="54864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mbria"/>
              </a:rPr>
              <a:t>Asian Conference</a:t>
            </a:r>
          </a:p>
          <a:p>
            <a:pPr algn="l"/>
            <a:r>
              <a:rPr sz="2400" b="1">
                <a:solidFill>
                  <a:srgbClr val="FFFFFF"/>
                </a:solidFill>
                <a:latin typeface="Cambria"/>
              </a:rPr>
              <a:t>on Disaster Reduction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07008"/>
            <a:ext cx="86868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mbria"/>
              </a:rPr>
              <a:t>Roundtable Session (Part 1)</a:t>
            </a:r>
          </a:p>
        </p:txBody>
      </p:sp>
      <p:sp>
        <p:nvSpPr>
          <p:cNvPr id="5" name="LogoStrip"/>
          <p:cNvSpPr/>
          <p:nvPr/>
        </p:nvSpPr>
        <p:spPr>
          <a:xfrm>
            <a:off x="5686686" y="182880"/>
            <a:ext cx="6227945" cy="7863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Logo_sg" descr="s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51278" y="292608"/>
            <a:ext cx="835472" cy="566928"/>
          </a:xfrm>
          <a:prstGeom prst="rect">
            <a:avLst/>
          </a:prstGeom>
        </p:spPr>
      </p:pic>
      <p:pic>
        <p:nvPicPr>
          <p:cNvPr id="7" name="Logo_scdf" descr="scd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69630" y="292608"/>
            <a:ext cx="1598327" cy="566928"/>
          </a:xfrm>
          <a:prstGeom prst="rect">
            <a:avLst/>
          </a:prstGeom>
        </p:spPr>
      </p:pic>
      <p:pic>
        <p:nvPicPr>
          <p:cNvPr id="8" name="Logo_cosem" descr="cosem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50838" y="292608"/>
            <a:ext cx="1285036" cy="566928"/>
          </a:xfrm>
          <a:prstGeom prst="rect">
            <a:avLst/>
          </a:prstGeom>
        </p:spPr>
      </p:pic>
      <p:pic>
        <p:nvPicPr>
          <p:cNvPr id="9" name="Logo_adrc" descr="adr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18754" y="292608"/>
            <a:ext cx="579526" cy="566928"/>
          </a:xfrm>
          <a:prstGeom prst="rect">
            <a:avLst/>
          </a:prstGeom>
        </p:spPr>
      </p:pic>
      <p:pic>
        <p:nvPicPr>
          <p:cNvPr id="10" name="Logo_jp" descr="jp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881161" y="292608"/>
            <a:ext cx="868878" cy="566928"/>
          </a:xfrm>
          <a:prstGeom prst="rect">
            <a:avLst/>
          </a:prstGeom>
        </p:spPr>
      </p:pic>
      <p:pic>
        <p:nvPicPr>
          <p:cNvPr id="11" name="Picture 10" descr="kr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006840" y="1691640"/>
            <a:ext cx="2377440" cy="17830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40080" y="3017520"/>
            <a:ext cx="82296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600" b="1">
                <a:solidFill>
                  <a:srgbClr val="FFE066"/>
                </a:solidFill>
                <a:latin typeface="Arial"/>
              </a:rPr>
              <a:t>Statement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611880"/>
            <a:ext cx="10881360" cy="1737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4400" b="0">
                <a:solidFill>
                  <a:srgbClr val="FFFFFF"/>
                </a:solidFill>
                <a:latin typeface="Arial"/>
              </a:rPr>
              <a:t>Republic of Korea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292608"/>
            <a:ext cx="54864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mbria"/>
              </a:rPr>
              <a:t>Asian Conference</a:t>
            </a:r>
          </a:p>
          <a:p>
            <a:pPr algn="l"/>
            <a:r>
              <a:rPr sz="2400" b="1">
                <a:solidFill>
                  <a:srgbClr val="FFFFFF"/>
                </a:solidFill>
                <a:latin typeface="Cambria"/>
              </a:rPr>
              <a:t>on Disaster Reduction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07008"/>
            <a:ext cx="86868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mbria"/>
              </a:rPr>
              <a:t>Roundtable Session (Part 1)</a:t>
            </a:r>
          </a:p>
        </p:txBody>
      </p:sp>
      <p:sp>
        <p:nvSpPr>
          <p:cNvPr id="5" name="LogoStrip"/>
          <p:cNvSpPr/>
          <p:nvPr/>
        </p:nvSpPr>
        <p:spPr>
          <a:xfrm>
            <a:off x="5686686" y="182880"/>
            <a:ext cx="6227945" cy="7863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Logo_sg" descr="s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51278" y="292608"/>
            <a:ext cx="835472" cy="566928"/>
          </a:xfrm>
          <a:prstGeom prst="rect">
            <a:avLst/>
          </a:prstGeom>
        </p:spPr>
      </p:pic>
      <p:pic>
        <p:nvPicPr>
          <p:cNvPr id="7" name="Logo_scdf" descr="scd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69630" y="292608"/>
            <a:ext cx="1598327" cy="566928"/>
          </a:xfrm>
          <a:prstGeom prst="rect">
            <a:avLst/>
          </a:prstGeom>
        </p:spPr>
      </p:pic>
      <p:pic>
        <p:nvPicPr>
          <p:cNvPr id="8" name="Logo_cosem" descr="cosem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50838" y="292608"/>
            <a:ext cx="1285036" cy="566928"/>
          </a:xfrm>
          <a:prstGeom prst="rect">
            <a:avLst/>
          </a:prstGeom>
        </p:spPr>
      </p:pic>
      <p:pic>
        <p:nvPicPr>
          <p:cNvPr id="9" name="Logo_adrc" descr="adr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18754" y="292608"/>
            <a:ext cx="579526" cy="566928"/>
          </a:xfrm>
          <a:prstGeom prst="rect">
            <a:avLst/>
          </a:prstGeom>
        </p:spPr>
      </p:pic>
      <p:pic>
        <p:nvPicPr>
          <p:cNvPr id="10" name="Logo_jp" descr="jp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881161" y="292608"/>
            <a:ext cx="868878" cy="566928"/>
          </a:xfrm>
          <a:prstGeom prst="rect">
            <a:avLst/>
          </a:prstGeom>
        </p:spPr>
      </p:pic>
      <p:pic>
        <p:nvPicPr>
          <p:cNvPr id="11" name="Picture 10" descr="sg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006840" y="1691640"/>
            <a:ext cx="2377440" cy="17830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40080" y="3017520"/>
            <a:ext cx="82296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600" b="1">
                <a:solidFill>
                  <a:srgbClr val="FFE066"/>
                </a:solidFill>
                <a:latin typeface="Arial"/>
              </a:rPr>
              <a:t>Statement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611880"/>
            <a:ext cx="10881360" cy="1737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4400" b="0">
                <a:solidFill>
                  <a:srgbClr val="FFFFFF"/>
                </a:solidFill>
                <a:latin typeface="Arial"/>
              </a:rPr>
              <a:t>Republic of Singapore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292608"/>
            <a:ext cx="54864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mbria"/>
              </a:rPr>
              <a:t>Asian Conference</a:t>
            </a:r>
          </a:p>
          <a:p>
            <a:pPr algn="l"/>
            <a:r>
              <a:rPr sz="2400" b="1">
                <a:solidFill>
                  <a:srgbClr val="FFFFFF"/>
                </a:solidFill>
                <a:latin typeface="Cambria"/>
              </a:rPr>
              <a:t>on Disaster Reduction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07008"/>
            <a:ext cx="86868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mbria"/>
              </a:rPr>
              <a:t>Roundtable Session (Part 1)</a:t>
            </a:r>
          </a:p>
        </p:txBody>
      </p:sp>
      <p:sp>
        <p:nvSpPr>
          <p:cNvPr id="5" name="LogoStrip"/>
          <p:cNvSpPr/>
          <p:nvPr/>
        </p:nvSpPr>
        <p:spPr>
          <a:xfrm>
            <a:off x="5686686" y="182880"/>
            <a:ext cx="6227945" cy="7863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Logo_sg" descr="s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51278" y="292608"/>
            <a:ext cx="835472" cy="566928"/>
          </a:xfrm>
          <a:prstGeom prst="rect">
            <a:avLst/>
          </a:prstGeom>
        </p:spPr>
      </p:pic>
      <p:pic>
        <p:nvPicPr>
          <p:cNvPr id="7" name="Logo_scdf" descr="scd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69630" y="292608"/>
            <a:ext cx="1598327" cy="566928"/>
          </a:xfrm>
          <a:prstGeom prst="rect">
            <a:avLst/>
          </a:prstGeom>
        </p:spPr>
      </p:pic>
      <p:pic>
        <p:nvPicPr>
          <p:cNvPr id="8" name="Logo_cosem" descr="cosem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50838" y="292608"/>
            <a:ext cx="1285036" cy="566928"/>
          </a:xfrm>
          <a:prstGeom prst="rect">
            <a:avLst/>
          </a:prstGeom>
        </p:spPr>
      </p:pic>
      <p:pic>
        <p:nvPicPr>
          <p:cNvPr id="9" name="Logo_adrc" descr="adr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18754" y="292608"/>
            <a:ext cx="579526" cy="566928"/>
          </a:xfrm>
          <a:prstGeom prst="rect">
            <a:avLst/>
          </a:prstGeom>
        </p:spPr>
      </p:pic>
      <p:pic>
        <p:nvPicPr>
          <p:cNvPr id="10" name="Logo_jp" descr="jp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881161" y="292608"/>
            <a:ext cx="868878" cy="566928"/>
          </a:xfrm>
          <a:prstGeom prst="rect">
            <a:avLst/>
          </a:prstGeom>
        </p:spPr>
      </p:pic>
      <p:pic>
        <p:nvPicPr>
          <p:cNvPr id="11" name="Picture 10" descr="lk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006840" y="1691640"/>
            <a:ext cx="2377440" cy="17830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40080" y="3017520"/>
            <a:ext cx="82296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600" b="1">
                <a:solidFill>
                  <a:srgbClr val="FFE066"/>
                </a:solidFill>
                <a:latin typeface="Arial"/>
              </a:rPr>
              <a:t>Statement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611880"/>
            <a:ext cx="10881360" cy="1737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4400" b="0">
                <a:solidFill>
                  <a:srgbClr val="FFFFFF"/>
                </a:solidFill>
                <a:latin typeface="Arial"/>
              </a:rPr>
              <a:t>Democratic Socialist Republic of Sri Lanka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292608"/>
            <a:ext cx="54864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mbria"/>
              </a:rPr>
              <a:t>Asian Conference</a:t>
            </a:r>
          </a:p>
          <a:p>
            <a:pPr algn="l"/>
            <a:r>
              <a:rPr sz="2400" b="1">
                <a:solidFill>
                  <a:srgbClr val="FFFFFF"/>
                </a:solidFill>
                <a:latin typeface="Cambria"/>
              </a:rPr>
              <a:t>on Disaster Reduction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07008"/>
            <a:ext cx="86868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mbria"/>
              </a:rPr>
              <a:t>Roundtable Session (Part 1)</a:t>
            </a:r>
          </a:p>
        </p:txBody>
      </p:sp>
      <p:sp>
        <p:nvSpPr>
          <p:cNvPr id="5" name="LogoStrip"/>
          <p:cNvSpPr/>
          <p:nvPr/>
        </p:nvSpPr>
        <p:spPr>
          <a:xfrm>
            <a:off x="5686686" y="182880"/>
            <a:ext cx="6227945" cy="7863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Logo_sg" descr="s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51278" y="292608"/>
            <a:ext cx="835472" cy="566928"/>
          </a:xfrm>
          <a:prstGeom prst="rect">
            <a:avLst/>
          </a:prstGeom>
        </p:spPr>
      </p:pic>
      <p:pic>
        <p:nvPicPr>
          <p:cNvPr id="7" name="Logo_scdf" descr="scd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69630" y="292608"/>
            <a:ext cx="1598327" cy="566928"/>
          </a:xfrm>
          <a:prstGeom prst="rect">
            <a:avLst/>
          </a:prstGeom>
        </p:spPr>
      </p:pic>
      <p:pic>
        <p:nvPicPr>
          <p:cNvPr id="8" name="Logo_cosem" descr="cosem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50838" y="292608"/>
            <a:ext cx="1285036" cy="566928"/>
          </a:xfrm>
          <a:prstGeom prst="rect">
            <a:avLst/>
          </a:prstGeom>
        </p:spPr>
      </p:pic>
      <p:pic>
        <p:nvPicPr>
          <p:cNvPr id="9" name="Logo_adrc" descr="adr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18754" y="292608"/>
            <a:ext cx="579526" cy="566928"/>
          </a:xfrm>
          <a:prstGeom prst="rect">
            <a:avLst/>
          </a:prstGeom>
        </p:spPr>
      </p:pic>
      <p:pic>
        <p:nvPicPr>
          <p:cNvPr id="10" name="Logo_jp" descr="jp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881161" y="292608"/>
            <a:ext cx="868878" cy="566928"/>
          </a:xfrm>
          <a:prstGeom prst="rect">
            <a:avLst/>
          </a:prstGeom>
        </p:spPr>
      </p:pic>
      <p:pic>
        <p:nvPicPr>
          <p:cNvPr id="11" name="Picture 10" descr="th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006840" y="1691640"/>
            <a:ext cx="2377440" cy="17830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40080" y="3017520"/>
            <a:ext cx="82296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600" b="1">
                <a:solidFill>
                  <a:srgbClr val="FFE066"/>
                </a:solidFill>
                <a:latin typeface="Arial"/>
              </a:rPr>
              <a:t>Statement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611880"/>
            <a:ext cx="10881360" cy="1737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4400" b="0">
                <a:solidFill>
                  <a:srgbClr val="FFFFFF"/>
                </a:solidFill>
                <a:latin typeface="Arial"/>
              </a:rPr>
              <a:t>Kingdom of Thailand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292608"/>
            <a:ext cx="54864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mbria"/>
              </a:rPr>
              <a:t>Asian Conference</a:t>
            </a:r>
          </a:p>
          <a:p>
            <a:pPr algn="l"/>
            <a:r>
              <a:rPr sz="2400" b="1">
                <a:solidFill>
                  <a:srgbClr val="FFFFFF"/>
                </a:solidFill>
                <a:latin typeface="Cambria"/>
              </a:rPr>
              <a:t>on Disaster Reduction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07008"/>
            <a:ext cx="86868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mbria"/>
              </a:rPr>
              <a:t>Roundtable Session (Part 1)</a:t>
            </a:r>
          </a:p>
        </p:txBody>
      </p:sp>
      <p:sp>
        <p:nvSpPr>
          <p:cNvPr id="5" name="LogoStrip"/>
          <p:cNvSpPr/>
          <p:nvPr/>
        </p:nvSpPr>
        <p:spPr>
          <a:xfrm>
            <a:off x="5686686" y="182880"/>
            <a:ext cx="6227945" cy="7863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Logo_sg" descr="s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51278" y="292608"/>
            <a:ext cx="835472" cy="566928"/>
          </a:xfrm>
          <a:prstGeom prst="rect">
            <a:avLst/>
          </a:prstGeom>
        </p:spPr>
      </p:pic>
      <p:pic>
        <p:nvPicPr>
          <p:cNvPr id="7" name="Logo_scdf" descr="scd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69630" y="292608"/>
            <a:ext cx="1598327" cy="566928"/>
          </a:xfrm>
          <a:prstGeom prst="rect">
            <a:avLst/>
          </a:prstGeom>
        </p:spPr>
      </p:pic>
      <p:pic>
        <p:nvPicPr>
          <p:cNvPr id="8" name="Logo_cosem" descr="cosem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50838" y="292608"/>
            <a:ext cx="1285036" cy="566928"/>
          </a:xfrm>
          <a:prstGeom prst="rect">
            <a:avLst/>
          </a:prstGeom>
        </p:spPr>
      </p:pic>
      <p:pic>
        <p:nvPicPr>
          <p:cNvPr id="9" name="Logo_adrc" descr="adr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18754" y="292608"/>
            <a:ext cx="579526" cy="566928"/>
          </a:xfrm>
          <a:prstGeom prst="rect">
            <a:avLst/>
          </a:prstGeom>
        </p:spPr>
      </p:pic>
      <p:pic>
        <p:nvPicPr>
          <p:cNvPr id="10" name="Logo_jp" descr="jp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881161" y="292608"/>
            <a:ext cx="868878" cy="566928"/>
          </a:xfrm>
          <a:prstGeom prst="rect">
            <a:avLst/>
          </a:prstGeom>
        </p:spPr>
      </p:pic>
      <p:pic>
        <p:nvPicPr>
          <p:cNvPr id="11" name="Picture 10" descr="tr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006840" y="1691640"/>
            <a:ext cx="2377440" cy="17830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40080" y="3017520"/>
            <a:ext cx="82296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600" b="1">
                <a:solidFill>
                  <a:srgbClr val="FFE066"/>
                </a:solidFill>
                <a:latin typeface="Arial"/>
              </a:rPr>
              <a:t>Statement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611880"/>
            <a:ext cx="10881360" cy="1737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4400" b="0">
                <a:solidFill>
                  <a:srgbClr val="FFFFFF"/>
                </a:solidFill>
                <a:latin typeface="Arial"/>
              </a:rPr>
              <a:t>Republic of Türkiye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292608"/>
            <a:ext cx="54864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mbria"/>
              </a:rPr>
              <a:t>Asian Conference</a:t>
            </a:r>
          </a:p>
          <a:p>
            <a:pPr algn="l"/>
            <a:r>
              <a:rPr sz="2400" b="1">
                <a:solidFill>
                  <a:srgbClr val="FFFFFF"/>
                </a:solidFill>
                <a:latin typeface="Cambria"/>
              </a:rPr>
              <a:t>on Disaster Reduction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07008"/>
            <a:ext cx="86868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mbria"/>
              </a:rPr>
              <a:t>Roundtable Session (Part 1)</a:t>
            </a:r>
          </a:p>
        </p:txBody>
      </p:sp>
      <p:sp>
        <p:nvSpPr>
          <p:cNvPr id="5" name="LogoStrip"/>
          <p:cNvSpPr/>
          <p:nvPr/>
        </p:nvSpPr>
        <p:spPr>
          <a:xfrm>
            <a:off x="5686686" y="182880"/>
            <a:ext cx="6227945" cy="7863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Logo_sg" descr="s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51278" y="292608"/>
            <a:ext cx="835472" cy="566928"/>
          </a:xfrm>
          <a:prstGeom prst="rect">
            <a:avLst/>
          </a:prstGeom>
        </p:spPr>
      </p:pic>
      <p:pic>
        <p:nvPicPr>
          <p:cNvPr id="7" name="Logo_scdf" descr="scd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69630" y="292608"/>
            <a:ext cx="1598327" cy="566928"/>
          </a:xfrm>
          <a:prstGeom prst="rect">
            <a:avLst/>
          </a:prstGeom>
        </p:spPr>
      </p:pic>
      <p:pic>
        <p:nvPicPr>
          <p:cNvPr id="8" name="Logo_cosem" descr="cosem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50838" y="292608"/>
            <a:ext cx="1285036" cy="566928"/>
          </a:xfrm>
          <a:prstGeom prst="rect">
            <a:avLst/>
          </a:prstGeom>
        </p:spPr>
      </p:pic>
      <p:pic>
        <p:nvPicPr>
          <p:cNvPr id="9" name="Logo_adrc" descr="adr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18754" y="292608"/>
            <a:ext cx="579526" cy="566928"/>
          </a:xfrm>
          <a:prstGeom prst="rect">
            <a:avLst/>
          </a:prstGeom>
        </p:spPr>
      </p:pic>
      <p:pic>
        <p:nvPicPr>
          <p:cNvPr id="10" name="Logo_jp" descr="jp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881161" y="292608"/>
            <a:ext cx="868878" cy="56692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0080" y="1828800"/>
            <a:ext cx="1005840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Arial"/>
              </a:rPr>
              <a:t>Comments and Questions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560320"/>
            <a:ext cx="1088136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000" b="1">
                <a:solidFill>
                  <a:srgbClr val="FFE066"/>
                </a:solidFill>
                <a:latin typeface="Arial"/>
              </a:rPr>
              <a:t>In the room</a:t>
            </a:r>
          </a:p>
          <a:p>
            <a:pPr algn="l"/>
            <a:r>
              <a:rPr sz="1800" b="0">
                <a:solidFill>
                  <a:srgbClr val="FFFFFF"/>
                </a:solidFill>
                <a:latin typeface="Arial"/>
              </a:rPr>
              <a:t>Please write your comments on the sheet at your seat. They will be shared with the speakers and reflected in the conference summary.</a:t>
            </a:r>
          </a:p>
          <a:p>
            <a:pPr algn="l">
              <a:spcBef>
                <a:spcPts val="1000"/>
              </a:spcBef>
            </a:pPr>
            <a:r>
              <a:rPr sz="2000" b="1">
                <a:solidFill>
                  <a:srgbClr val="FFE066"/>
                </a:solidFill>
                <a:latin typeface="Arial"/>
              </a:rPr>
              <a:t>Online</a:t>
            </a:r>
          </a:p>
          <a:p>
            <a:pPr algn="l"/>
            <a:r>
              <a:rPr sz="1800" b="0">
                <a:solidFill>
                  <a:srgbClr val="FFFFFF"/>
                </a:solidFill>
                <a:latin typeface="Arial"/>
              </a:rPr>
              <a:t>Please use the Q&amp;A button in Zoom.</a:t>
            </a:r>
          </a:p>
          <a:p>
            <a:pPr algn="l">
              <a:spcBef>
                <a:spcPts val="1000"/>
              </a:spcBef>
            </a:pPr>
            <a:r>
              <a:rPr sz="2000" b="1">
                <a:solidFill>
                  <a:srgbClr val="FFE066"/>
                </a:solidFill>
                <a:latin typeface="Arial"/>
              </a:rPr>
              <a:t>Part 2</a:t>
            </a:r>
          </a:p>
          <a:p>
            <a:pPr algn="l"/>
            <a:r>
              <a:rPr sz="1800" b="0">
                <a:solidFill>
                  <a:srgbClr val="FFFFFF"/>
                </a:solidFill>
                <a:latin typeface="Arial"/>
              </a:rPr>
              <a:t>The remaining statements will be delivered tomorrow, 29 October, from 09:00 in this room.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292608"/>
            <a:ext cx="54864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mbria"/>
              </a:rPr>
              <a:t>Asian Conference</a:t>
            </a:r>
          </a:p>
          <a:p>
            <a:pPr algn="l"/>
            <a:r>
              <a:rPr sz="2400" b="1">
                <a:solidFill>
                  <a:srgbClr val="FFFFFF"/>
                </a:solidFill>
                <a:latin typeface="Cambria"/>
              </a:rPr>
              <a:t>on Disaster Reduction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07008"/>
            <a:ext cx="86868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mbria"/>
              </a:rPr>
              <a:t>Announcements</a:t>
            </a:r>
          </a:p>
        </p:txBody>
      </p:sp>
      <p:sp>
        <p:nvSpPr>
          <p:cNvPr id="5" name="LogoStrip"/>
          <p:cNvSpPr/>
          <p:nvPr/>
        </p:nvSpPr>
        <p:spPr>
          <a:xfrm>
            <a:off x="5686686" y="182880"/>
            <a:ext cx="6227945" cy="7863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Logo_sg" descr="s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51278" y="292608"/>
            <a:ext cx="835472" cy="566928"/>
          </a:xfrm>
          <a:prstGeom prst="rect">
            <a:avLst/>
          </a:prstGeom>
        </p:spPr>
      </p:pic>
      <p:pic>
        <p:nvPicPr>
          <p:cNvPr id="7" name="Logo_scdf" descr="scd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69630" y="292608"/>
            <a:ext cx="1598327" cy="566928"/>
          </a:xfrm>
          <a:prstGeom prst="rect">
            <a:avLst/>
          </a:prstGeom>
        </p:spPr>
      </p:pic>
      <p:pic>
        <p:nvPicPr>
          <p:cNvPr id="8" name="Logo_cosem" descr="cosem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50838" y="292608"/>
            <a:ext cx="1285036" cy="566928"/>
          </a:xfrm>
          <a:prstGeom prst="rect">
            <a:avLst/>
          </a:prstGeom>
        </p:spPr>
      </p:pic>
      <p:pic>
        <p:nvPicPr>
          <p:cNvPr id="9" name="Logo_adrc" descr="adr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18754" y="292608"/>
            <a:ext cx="579526" cy="566928"/>
          </a:xfrm>
          <a:prstGeom prst="rect">
            <a:avLst/>
          </a:prstGeom>
        </p:spPr>
      </p:pic>
      <p:pic>
        <p:nvPicPr>
          <p:cNvPr id="10" name="Logo_jp" descr="jp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881161" y="292608"/>
            <a:ext cx="868878" cy="56692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0080" y="1828800"/>
            <a:ext cx="1005840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Arial"/>
              </a:rPr>
              <a:t>Announcements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560320"/>
            <a:ext cx="1088136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000" b="1">
                <a:solidFill>
                  <a:srgbClr val="FFE066"/>
                </a:solidFill>
                <a:latin typeface="Arial"/>
              </a:rPr>
              <a:t>Coffee break  15:00-15:15</a:t>
            </a:r>
          </a:p>
          <a:p>
            <a:pPr algn="l"/>
            <a:r>
              <a:rPr sz="1800" b="0">
                <a:solidFill>
                  <a:srgbClr val="FFFFFF"/>
                </a:solidFill>
                <a:latin typeface="Arial"/>
              </a:rPr>
              <a:t>In front of the Peridot Room</a:t>
            </a:r>
          </a:p>
          <a:p>
            <a:pPr algn="l">
              <a:spcBef>
                <a:spcPts val="1000"/>
              </a:spcBef>
            </a:pPr>
            <a:r>
              <a:rPr sz="2000" b="1">
                <a:solidFill>
                  <a:srgbClr val="FFE066"/>
                </a:solidFill>
                <a:latin typeface="Arial"/>
              </a:rPr>
              <a:t>ADRC Steering Committee Meeting  15:15-16:15</a:t>
            </a:r>
          </a:p>
          <a:p>
            <a:pPr algn="l"/>
            <a:r>
              <a:rPr sz="1800" b="0">
                <a:solidFill>
                  <a:srgbClr val="FFFFFF"/>
                </a:solidFill>
                <a:latin typeface="Arial"/>
              </a:rPr>
              <a:t>Peridot Room. ADRC member countries only. Online members: please join from the separate Zoom link sent by email.</a:t>
            </a:r>
          </a:p>
          <a:p>
            <a:pPr algn="l">
              <a:spcBef>
                <a:spcPts val="1000"/>
              </a:spcBef>
            </a:pPr>
            <a:r>
              <a:rPr sz="2000" b="1">
                <a:solidFill>
                  <a:srgbClr val="FFE066"/>
                </a:solidFill>
                <a:latin typeface="Arial"/>
              </a:rPr>
              <a:t>SIDEX Gala Dinner  18:30-21:00</a:t>
            </a:r>
          </a:p>
          <a:p>
            <a:pPr algn="l"/>
            <a:r>
              <a:rPr sz="1800" b="0">
                <a:solidFill>
                  <a:srgbClr val="FFFFFF"/>
                </a:solidFill>
                <a:latin typeface="Arial"/>
              </a:rPr>
              <a:t>Grand Ballroom, Orchard Hotel. The bus departs from Dorsett Changi City Hotel at 17:30.</a:t>
            </a:r>
          </a:p>
          <a:p>
            <a:pPr algn="l"/>
            <a:r>
              <a:rPr sz="1800" b="0">
                <a:solidFill>
                  <a:srgbClr val="FFFFFF"/>
                </a:solidFill>
                <a:latin typeface="Arial"/>
              </a:rPr>
              <a:t>For ADRC member and adviser country participants and resource persons only.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292608"/>
            <a:ext cx="54864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mbria"/>
              </a:rPr>
              <a:t>Asian Conference</a:t>
            </a:r>
          </a:p>
          <a:p>
            <a:pPr algn="l"/>
            <a:r>
              <a:rPr sz="2400" b="1">
                <a:solidFill>
                  <a:srgbClr val="FFFFFF"/>
                </a:solidFill>
                <a:latin typeface="Cambria"/>
              </a:rPr>
              <a:t>on Disaster Reduction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07008"/>
            <a:ext cx="86868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mbria"/>
              </a:rPr>
              <a:t>ADRC Steering Committee Meeting</a:t>
            </a:r>
          </a:p>
        </p:txBody>
      </p:sp>
      <p:sp>
        <p:nvSpPr>
          <p:cNvPr id="5" name="LogoStrip"/>
          <p:cNvSpPr/>
          <p:nvPr/>
        </p:nvSpPr>
        <p:spPr>
          <a:xfrm>
            <a:off x="5686686" y="182880"/>
            <a:ext cx="6227945" cy="7863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Logo_sg" descr="s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51278" y="292608"/>
            <a:ext cx="835472" cy="566928"/>
          </a:xfrm>
          <a:prstGeom prst="rect">
            <a:avLst/>
          </a:prstGeom>
        </p:spPr>
      </p:pic>
      <p:pic>
        <p:nvPicPr>
          <p:cNvPr id="7" name="Logo_scdf" descr="scd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69630" y="292608"/>
            <a:ext cx="1598327" cy="566928"/>
          </a:xfrm>
          <a:prstGeom prst="rect">
            <a:avLst/>
          </a:prstGeom>
        </p:spPr>
      </p:pic>
      <p:pic>
        <p:nvPicPr>
          <p:cNvPr id="8" name="Logo_cosem" descr="cosem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50838" y="292608"/>
            <a:ext cx="1285036" cy="566928"/>
          </a:xfrm>
          <a:prstGeom prst="rect">
            <a:avLst/>
          </a:prstGeom>
        </p:spPr>
      </p:pic>
      <p:pic>
        <p:nvPicPr>
          <p:cNvPr id="9" name="Logo_adrc" descr="adr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18754" y="292608"/>
            <a:ext cx="579526" cy="566928"/>
          </a:xfrm>
          <a:prstGeom prst="rect">
            <a:avLst/>
          </a:prstGeom>
        </p:spPr>
      </p:pic>
      <p:pic>
        <p:nvPicPr>
          <p:cNvPr id="10" name="Logo_jp" descr="jp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881161" y="292608"/>
            <a:ext cx="868878" cy="56692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0080" y="2651760"/>
            <a:ext cx="1088136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Arial"/>
              </a:rPr>
              <a:t>ADRC Steering Committee Meeting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703320"/>
            <a:ext cx="1088136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400" b="0">
                <a:solidFill>
                  <a:srgbClr val="FFFFFF"/>
                </a:solidFill>
                <a:latin typeface="Arial"/>
              </a:rPr>
              <a:t>15:15-16:15 (Singapore Time, UTC+8 / 16:15-17:15 Japan Time)</a:t>
            </a:r>
          </a:p>
          <a:p>
            <a:pPr algn="l"/>
            <a:r>
              <a:rPr sz="2400" b="1">
                <a:solidFill>
                  <a:srgbClr val="FFE066"/>
                </a:solidFill>
                <a:latin typeface="Arial"/>
              </a:rPr>
              <a:t>ADRC member countries only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