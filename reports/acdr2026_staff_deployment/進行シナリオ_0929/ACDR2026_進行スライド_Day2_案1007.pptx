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待機画面（PPT 13）。08:30〜08:59。08:55 神戸が Sentio の共有を開始し、届いた QR を 2 枚目に貼る。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案内。QR は 29 日 08:55 の共有開始後に届く画像を白枠に貼る（28 日の QR は失効している）。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09:00 RT Part 2 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08 の再掲。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2。5 分。氏名・肩書は名簿確定後に追記（10/27 MC へ名簿）。未登録のため非表示。登録されたら「スライドの表示」をオンにする。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2。5 分。氏名・肩書は名簿確定後に追記（10/27 MC へ名簿）。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2。4 分。氏名・肩書は名簿確定後に追記。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2。4 分。氏名・肩書は名簿確定後に追記。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2。4 分。発言希望があった場合のみ。非表示を解除して使う。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2。4 分。発言希望があった場合のみ。非表示を解除して使う。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2。4 分。氏名・肩書は名簿確定後に追記。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2。4 分。発言希望があった場合のみ。非表示を解除して使う。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14。09:30 TS 開始。RT Part 2 が押した場合は TS まとめで吸収。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15。登壇者一覧（組織名のみ）。発表順は 10/9 の TS 打合せで確定。ウズベキスタンの位置は荒木田の判断待ち（現行 5 番目）。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TS モデレーター（MC 兼務）。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Co-Chair 導入 2 分。肩書は Mizan さんに確認。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09:35〜09:50。 発表題目が届いたら 3 行目に追加。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09:50〜10:05。 発表題目が届いたら 3 行目に追加。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10:05〜10:20。この後に神戸が通訳を再開。 発表題目が届いたら 3 行目に追加。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10:20〜10:35。 発表題目が届いたら 3 行目に追加。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10:35〜10:50。発表者未定（大臣帰国後に決定）。決まったら氏名・肩書を追記、国旗はそのまま。 発表題目が届いたら 3 行目に追加。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10:50〜11:05。中根補佐の導入 1 分。WOTA は SIDEX 展示者プレゼン（10:00-10:30）の後に入室。席は前方の端。 発表題目が届いたら 3 行目に追加。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発表者の氏名・肩書（英語）は児玉さん経由で届き次第追記。Spectee は途中退席の可能性あり。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発表者の氏名・肩書（英語）は児玉さん経由で届き次第追記。Spectee は途中退席の可能性あり。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18。11:05〜11:20。マイクは塩見さん。オンライン質問は神戸→藤本さん→Co-Chair。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19。11:20〜11:30。要旨スライドを差し込む場合はこの後ろに。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11:30〜11:45 コーヒーブレイク中の待機画面。11:40 頃に神戸が通訳を再開。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20。11:45 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21 の前。Summary スライド（Gerry さん起草）は 29 日 11:30 までにこの後ろへ差し込む。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22。11:51〜 約 3 分。次回 ACDR は仙台開催（2027 年 10 月）。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23。11:54〜 約 3 分。登壇者は SCDF に確認中。決まったら氏名・肩書に差し替える。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24。評価フォームの URL と QR は ADRC が用意（担当未定）。決まったら白枠「QR_Evaluation」と URL を差し替える。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25。11:57 閉会後に MC が案内。フィールドトリップの集合場所は未定。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26。閉会。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6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8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0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1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2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3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4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5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6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7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8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9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0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1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2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3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4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4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5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6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7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1325880"/>
            <a:ext cx="8778240" cy="1600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>
                <a:solidFill>
                  <a:srgbClr val="1C2B57"/>
                </a:solidFill>
                <a:latin typeface="Cambria"/>
              </a:rPr>
              <a:t>Asian Conference</a:t>
            </a:r>
          </a:p>
          <a:p>
            <a:pPr algn="l"/>
            <a:r>
              <a:rPr sz="4400" b="1">
                <a:solidFill>
                  <a:srgbClr val="1C2B57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768096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>
                <a:solidFill>
                  <a:srgbClr val="1C2B57"/>
                </a:solidFill>
                <a:latin typeface="Cambria"/>
              </a:rPr>
              <a:t>Future-Proofing Transboundary Climate and Disaster Risk Reduction</a:t>
            </a:r>
          </a:p>
          <a:p>
            <a:pPr algn="l"/>
            <a:r>
              <a:rPr sz="1700" b="0">
                <a:solidFill>
                  <a:srgbClr val="1C2B57"/>
                </a:solidFill>
                <a:latin typeface="Cambria"/>
              </a:rPr>
              <a:t>through Advanced Technologies for a Resilient Society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31920"/>
            <a:ext cx="73152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1C2B57"/>
                </a:solidFill>
                <a:latin typeface="Cambria"/>
              </a:rPr>
              <a:t>28-29 October 2026</a:t>
            </a:r>
          </a:p>
          <a:p>
            <a:pPr algn="l"/>
            <a:r>
              <a:rPr sz="2000" b="1">
                <a:solidFill>
                  <a:srgbClr val="1C2B57"/>
                </a:solidFill>
                <a:latin typeface="Cambria"/>
              </a:rPr>
              <a:t>SIDEX-ACDR 2026, Singapore EXPO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983480"/>
            <a:ext cx="1005840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D95F00"/>
                </a:solidFill>
                <a:latin typeface="Cambria"/>
              </a:rPr>
              <a:t>Roundtable Session (Part 2) begins at 09:00.</a:t>
            </a:r>
          </a:p>
          <a:p>
            <a:pPr algn="l"/>
            <a:r>
              <a:rPr sz="1800" b="1">
                <a:solidFill>
                  <a:srgbClr val="D95F00"/>
                </a:solidFill>
                <a:latin typeface="Cambria"/>
              </a:rPr>
              <a:t>(Singapore Time, UTC+8 / 10:00 Japan Time)</a:t>
            </a:r>
          </a:p>
          <a:p>
            <a:pPr algn="l"/>
            <a:r>
              <a:rPr sz="1800" b="0">
                <a:solidFill>
                  <a:srgbClr val="D95F00"/>
                </a:solidFill>
                <a:latin typeface="Cambria"/>
              </a:rPr>
              <a:t>Please wait a moment until the starting time.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Information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1828800"/>
            <a:ext cx="100584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rial"/>
              </a:rPr>
              <a:t>Information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60320"/>
            <a:ext cx="69494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FFE066"/>
                </a:solidFill>
                <a:latin typeface="Arial"/>
              </a:rPr>
              <a:t>Language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The conference is held in English. AI live translation can be read on your own phone or PC: scan the QR code and choose your language.</a:t>
            </a:r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FFE066"/>
                </a:solidFill>
                <a:latin typeface="Arial"/>
              </a:rPr>
              <a:t>Online participants (Zoom)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Please send questions with the Q&amp;A button. The chat is used only among the moderator, speakers and secretariat.</a:t>
            </a:r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FFE066"/>
                </a:solidFill>
                <a:latin typeface="Arial"/>
              </a:rPr>
              <a:t>Recording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The sessions are recorded and streamed online.</a:t>
            </a:r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FFE066"/>
                </a:solidFill>
                <a:latin typeface="Arial"/>
              </a:rPr>
              <a:t>Conference website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https://acdr.adrc.asia/home/acdr2026</a:t>
            </a:r>
          </a:p>
        </p:txBody>
      </p:sp>
      <p:sp>
        <p:nvSpPr>
          <p:cNvPr id="13" name="QR_Sentio"/>
          <p:cNvSpPr/>
          <p:nvPr/>
        </p:nvSpPr>
        <p:spPr>
          <a:xfrm>
            <a:off x="8229600" y="2560320"/>
            <a:ext cx="3108960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555F73"/>
                </a:solidFill>
                <a:latin typeface="Arial"/>
              </a:rPr>
              <a:t>QR code for AI live translation (inserted on the day)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5760720"/>
            <a:ext cx="3108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AI live translation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2)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2651760"/>
            <a:ext cx="1088136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"/>
              </a:rPr>
              <a:t>Roundtable Session (Part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03320"/>
            <a:ext cx="1088136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Arial"/>
              </a:rPr>
              <a:t>Progress and Remaining Challenges in Implementing SFDRR 2015-2030</a:t>
            </a:r>
          </a:p>
          <a:p>
            <a:pPr algn="l"/>
            <a:r>
              <a:rPr sz="2400" b="0">
                <a:solidFill>
                  <a:srgbClr val="FFFFFF"/>
                </a:solidFill>
                <a:latin typeface="Arial"/>
              </a:rPr>
              <a:t>Moderator: Singapore Civil Defence Force (SCDF)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2)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1828800"/>
            <a:ext cx="100584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rial"/>
              </a:rPr>
              <a:t>Instruction for Speakers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60320"/>
            <a:ext cx="1088136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FFE066"/>
                </a:solidFill>
                <a:latin typeface="Arial"/>
              </a:rPr>
              <a:t>Time allocation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ADRC member countries: maximum 5 minutes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Adviser countries and partner organisations: maximum 4 minutes</a:t>
            </a:r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FFE066"/>
                </a:solidFill>
                <a:latin typeface="Arial"/>
              </a:rPr>
              <a:t>Bell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First ring: 1 minute left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Second ring: 30 seconds left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Third ring: please conclude your statement</a:t>
            </a:r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FFE066"/>
                </a:solidFill>
                <a:latin typeface="Arial"/>
              </a:rPr>
              <a:t>Statements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Please speak from your seat using the table microphone.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2)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pic>
        <p:nvPicPr>
          <p:cNvPr id="11" name="Picture 10" descr="uz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Republic of Uzbekistan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2)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pic>
        <p:nvPicPr>
          <p:cNvPr id="11" name="Picture 10" descr="v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Socialist Republic of Viet Nam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2)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pic>
        <p:nvPicPr>
          <p:cNvPr id="11" name="Picture 10" descr="nz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 (Adviser Country)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0">
                <a:solidFill>
                  <a:srgbClr val="FFFFFF"/>
                </a:solidFill>
                <a:latin typeface="Arial"/>
              </a:rPr>
              <a:t>National Emergency Management Agency (NEMA), New Zealand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2)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 (Partner Organisation)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000" b="0">
                <a:solidFill>
                  <a:srgbClr val="FFFFFF"/>
                </a:solidFill>
                <a:latin typeface="Arial"/>
              </a:rPr>
              <a:t>Asian Disaster Preparedness Center (ADPC)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2)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 (Partner Organisation)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000" b="0">
                <a:solidFill>
                  <a:srgbClr val="FFFFFF"/>
                </a:solidFill>
                <a:latin typeface="Arial"/>
              </a:rPr>
              <a:t>Asian Development Bank (ADB)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2)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 (Partner Organisation)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0">
                <a:solidFill>
                  <a:srgbClr val="FFFFFF"/>
                </a:solidFill>
                <a:latin typeface="Arial"/>
              </a:rPr>
              <a:t>ASEAN Coordinating Centre for Humanitarian Assistance on disaster management (AHA Centre)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2)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 (Partner Organisation)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000" b="0">
                <a:solidFill>
                  <a:srgbClr val="FFFFFF"/>
                </a:solidFill>
                <a:latin typeface="Arial"/>
              </a:rPr>
              <a:t>Google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2)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 (Online)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000" b="0">
                <a:solidFill>
                  <a:srgbClr val="FFFFFF"/>
                </a:solidFill>
                <a:latin typeface="Arial"/>
              </a:rPr>
              <a:t>Online participants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Technical Session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2651760"/>
            <a:ext cx="1088136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"/>
              </a:rPr>
              <a:t>Technical Session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03320"/>
            <a:ext cx="1088136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Arial"/>
              </a:rPr>
              <a:t>DRR DX for Isolated and Inaccessible Regions:</a:t>
            </a:r>
          </a:p>
          <a:p>
            <a:pPr algn="l"/>
            <a:r>
              <a:rPr sz="2400" b="0">
                <a:solidFill>
                  <a:srgbClr val="FFFFFF"/>
                </a:solidFill>
                <a:latin typeface="Arial"/>
              </a:rPr>
              <a:t>Redefining Community Resilience through Advanced Technologies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Technical Session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1828800"/>
            <a:ext cx="100584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rial"/>
              </a:rPr>
              <a:t>Presentations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60320"/>
            <a:ext cx="5486400" cy="3840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1. Google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2. Japan Aerospace Exploration Agency (JAXA)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3. National Research and Innovation Agency (BRIN), Indonesia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4. YI-Lab, Nepal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5. Uzbekistan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6. Cabinet Office of Japan, with Spectee Inc. and WOTA Corp.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560320"/>
            <a:ext cx="4937760" cy="3840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FFE066"/>
                </a:solidFill>
                <a:latin typeface="Arial"/>
              </a:rPr>
              <a:t>Moderator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LTC Chen Yong Kai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Singapore Civil Defence Force</a:t>
            </a:r>
          </a:p>
          <a:p>
            <a:pPr algn="l"/>
            <a:r>
              <a:rPr sz="2000" b="1">
                <a:solidFill>
                  <a:srgbClr val="FFE066"/>
                </a:solidFill>
                <a:latin typeface="Arial"/>
              </a:rPr>
              <a:t>Co-Chair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Dr Mizan Bisri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Asian Disaster Reduction Center</a:t>
            </a:r>
          </a:p>
          <a:p>
            <a:pPr algn="l"/>
            <a:r>
              <a:rPr sz="2000" b="1">
                <a:solidFill>
                  <a:srgbClr val="FFE066"/>
                </a:solidFill>
                <a:latin typeface="Arial"/>
              </a:rPr>
              <a:t>Format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15 minutes per presentation; questions after all six presentations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Technical Session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Moderator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1188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0">
                <a:solidFill>
                  <a:srgbClr val="FFFFFF"/>
                </a:solidFill>
                <a:latin typeface="Arial"/>
              </a:rPr>
              <a:t>LTC Chen Yong Kai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108813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Singapore Civil Defence Force (SCDF)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Technical Session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Co-Chair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1188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0">
                <a:solidFill>
                  <a:srgbClr val="FFFFFF"/>
                </a:solidFill>
                <a:latin typeface="Arial"/>
              </a:rPr>
              <a:t>Dr Mizan Bisri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108813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Asian Disaster Reduction Center (ADRC)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Technical Session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Presentation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1188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0">
                <a:solidFill>
                  <a:srgbClr val="FFFFFF"/>
                </a:solidFill>
                <a:latin typeface="Arial"/>
              </a:rPr>
              <a:t>Ms Sirada Boonkongchuen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108813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Product Partnership, Google Search &amp; Gemini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Google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Technical Session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Presentation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1188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0">
                <a:solidFill>
                  <a:srgbClr val="FFFFFF"/>
                </a:solidFill>
                <a:latin typeface="Arial"/>
              </a:rPr>
              <a:t>Ms MATSUO Naoko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108813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Director, Earth Observation Program Strategy Office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Japan Aerospace Exploration Agency (JAXA)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Technical Session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Presentation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1188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0">
                <a:solidFill>
                  <a:srgbClr val="FFFFFF"/>
                </a:solidFill>
                <a:latin typeface="Arial"/>
              </a:rPr>
              <a:t>Dr Yenni Vetrita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108813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Researcher, Research Center for Geoinformatics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National Research and Innovation Agency (BRIN), Indonesia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Technical Session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Presentation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1188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0">
                <a:solidFill>
                  <a:srgbClr val="FFFFFF"/>
                </a:solidFill>
                <a:latin typeface="Arial"/>
              </a:rPr>
              <a:t>Mr Pradip Khatiwada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108813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YI-Lab, Nepal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Technical Session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pic>
        <p:nvPicPr>
          <p:cNvPr id="11" name="Picture 10" descr="uz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Presentation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0">
                <a:solidFill>
                  <a:srgbClr val="FFFFFF"/>
                </a:solidFill>
                <a:latin typeface="Arial"/>
              </a:rPr>
              <a:t>Uzbekistan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Technical Session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Presentation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1188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0">
                <a:solidFill>
                  <a:srgbClr val="FFFFFF"/>
                </a:solidFill>
                <a:latin typeface="Arial"/>
              </a:rPr>
              <a:t>Cabinet Office of Japan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108813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Introduction, followed by Spectee Inc. and WOTA Corp.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Technical Session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Presentation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1188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0">
                <a:solidFill>
                  <a:srgbClr val="FFFFFF"/>
                </a:solidFill>
                <a:latin typeface="Arial"/>
              </a:rPr>
              <a:t>Spectee Inc.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108813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With the Cabinet Office of Japan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Technical Session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Presentation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1188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0">
                <a:solidFill>
                  <a:srgbClr val="FFFFFF"/>
                </a:solidFill>
                <a:latin typeface="Arial"/>
              </a:rPr>
              <a:t>WOTA Corp.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108813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With the Cabinet Office of Japan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Technical Session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2651760"/>
            <a:ext cx="1088136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"/>
              </a:rPr>
              <a:t>Questions and Answers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03320"/>
            <a:ext cx="1088136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Arial"/>
              </a:rPr>
              <a:t>Please state your name and organisation, and address your question to a presenter.</a:t>
            </a:r>
          </a:p>
          <a:p>
            <a:pPr algn="l"/>
            <a:r>
              <a:rPr sz="2400" b="0">
                <a:solidFill>
                  <a:srgbClr val="FFFFFF"/>
                </a:solidFill>
                <a:latin typeface="Arial"/>
              </a:rPr>
              <a:t>Online participants: please use the Q&amp;A button in Zoom.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Technical Session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2651760"/>
            <a:ext cx="1088136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"/>
              </a:rPr>
              <a:t>Wrap-up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03320"/>
            <a:ext cx="1088136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Arial"/>
              </a:rPr>
              <a:t>Co-Chair: Dr Mizan Bisri, ADRC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4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5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6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7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1325880"/>
            <a:ext cx="8778240" cy="1600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>
                <a:solidFill>
                  <a:srgbClr val="1C2B57"/>
                </a:solidFill>
                <a:latin typeface="Cambria"/>
              </a:rPr>
              <a:t>Asian Conference</a:t>
            </a:r>
          </a:p>
          <a:p>
            <a:pPr algn="l"/>
            <a:r>
              <a:rPr sz="4400" b="1">
                <a:solidFill>
                  <a:srgbClr val="1C2B57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768096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>
                <a:solidFill>
                  <a:srgbClr val="1C2B57"/>
                </a:solidFill>
                <a:latin typeface="Cambria"/>
              </a:rPr>
              <a:t>Future-Proofing Transboundary Climate and Disaster Risk Reduction</a:t>
            </a:r>
          </a:p>
          <a:p>
            <a:pPr algn="l"/>
            <a:r>
              <a:rPr sz="1700" b="0">
                <a:solidFill>
                  <a:srgbClr val="1C2B57"/>
                </a:solidFill>
                <a:latin typeface="Cambria"/>
              </a:rPr>
              <a:t>through Advanced Technologies for a Resilient Society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31920"/>
            <a:ext cx="73152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1C2B57"/>
                </a:solidFill>
                <a:latin typeface="Cambria"/>
              </a:rPr>
              <a:t>28-29 October 2026</a:t>
            </a:r>
          </a:p>
          <a:p>
            <a:pPr algn="l"/>
            <a:r>
              <a:rPr sz="2000" b="1">
                <a:solidFill>
                  <a:srgbClr val="1C2B57"/>
                </a:solidFill>
                <a:latin typeface="Cambria"/>
              </a:rPr>
              <a:t>SIDEX-ACDR 2026, Singapore EXPO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983480"/>
            <a:ext cx="1005840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D95F00"/>
                </a:solidFill>
                <a:latin typeface="Cambria"/>
              </a:rPr>
              <a:t>Summary and Closing begins at 11:45.</a:t>
            </a:r>
          </a:p>
          <a:p>
            <a:pPr algn="l"/>
            <a:r>
              <a:rPr sz="1800" b="1">
                <a:solidFill>
                  <a:srgbClr val="D95F00"/>
                </a:solidFill>
                <a:latin typeface="Cambria"/>
              </a:rPr>
              <a:t>(Singapore Time, UTC+8 / 12:45 Japan Time)</a:t>
            </a:r>
          </a:p>
          <a:p>
            <a:pPr algn="l"/>
            <a:r>
              <a:rPr sz="1800" b="0">
                <a:solidFill>
                  <a:srgbClr val="D95F00"/>
                </a:solidFill>
                <a:latin typeface="Cambria"/>
              </a:rPr>
              <a:t>Please wait a moment until the starting time.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Summary and Closing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2651760"/>
            <a:ext cx="1088136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"/>
              </a:rPr>
              <a:t>ACDR2026 Summary and Closing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03320"/>
            <a:ext cx="1088136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Arial"/>
              </a:rPr>
              <a:t>Summary: Mr MIYAKI Kazuhiro, Executive Director, ADRC</a:t>
            </a:r>
          </a:p>
          <a:p>
            <a:pPr algn="l"/>
            <a:r>
              <a:rPr sz="2400" b="0">
                <a:solidFill>
                  <a:srgbClr val="FFFFFF"/>
                </a:solidFill>
                <a:latin typeface="Arial"/>
              </a:rPr>
              <a:t>Closing Remarks: Prof. MIURA Fusanori, Chairman, ADRC</a:t>
            </a:r>
          </a:p>
          <a:p>
            <a:pPr algn="l"/>
            <a:r>
              <a:rPr sz="2400" b="0">
                <a:solidFill>
                  <a:srgbClr val="FFFFFF"/>
                </a:solidFill>
                <a:latin typeface="Arial"/>
              </a:rPr>
              <a:t>Closing Remarks: Singapore Civil Defence Force (SCDF)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Summary and Closing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Summary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1188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0">
                <a:solidFill>
                  <a:srgbClr val="FFFFFF"/>
                </a:solidFill>
                <a:latin typeface="Arial"/>
              </a:rPr>
              <a:t>Mr MIYAKI Kazuhiro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108813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Executive Director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Asian Disaster Reduction Center (ADRC)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Summary and Closing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Closing Remarks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1188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0">
                <a:solidFill>
                  <a:srgbClr val="FFFFFF"/>
                </a:solidFill>
                <a:latin typeface="Arial"/>
              </a:rPr>
              <a:t>Prof. MIURA Fusanori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108813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Chairman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Asian Disaster Reduction Center (ADRC)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Summary and Closing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Closing Remarks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000" b="0">
                <a:solidFill>
                  <a:srgbClr val="FFFFFF"/>
                </a:solidFill>
                <a:latin typeface="Arial"/>
              </a:rPr>
              <a:t>Singapore Civil Defence Force (SCDF)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Evaluation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1828800"/>
            <a:ext cx="100584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rial"/>
              </a:rPr>
              <a:t>Evaluation for ACDR2026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60320"/>
            <a:ext cx="69494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FFE066"/>
                </a:solidFill>
                <a:latin typeface="Arial"/>
              </a:rPr>
              <a:t>Please answer the evaluation form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Scan the QR code or open the URL below.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[URL: to be inserted]</a:t>
            </a:r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FFE066"/>
                </a:solidFill>
                <a:latin typeface="Arial"/>
              </a:rPr>
              <a:t>Conference website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https://acdr.adrc.asia/home/acdr2026</a:t>
            </a:r>
          </a:p>
        </p:txBody>
      </p:sp>
      <p:sp>
        <p:nvSpPr>
          <p:cNvPr id="13" name="QR_Evaluation"/>
          <p:cNvSpPr/>
          <p:nvPr/>
        </p:nvSpPr>
        <p:spPr>
          <a:xfrm>
            <a:off x="8229600" y="2560320"/>
            <a:ext cx="3108960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555F73"/>
                </a:solidFill>
                <a:latin typeface="Arial"/>
              </a:rPr>
              <a:t>QR code for the evaluation form (to be inserted)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5760720"/>
            <a:ext cx="3108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Evaluation form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Announcements</a:t>
            </a:r>
          </a:p>
        </p:txBody>
      </p:sp>
      <p:sp>
        <p:nvSpPr>
          <p:cNvPr id="5" name="LogoStrip"/>
          <p:cNvSpPr/>
          <p:nvPr/>
        </p:nvSpPr>
        <p:spPr>
          <a:xfrm>
            <a:off x="5711882" y="182880"/>
            <a:ext cx="6202749" cy="7863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7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8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9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10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1828800"/>
            <a:ext cx="100584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rial"/>
              </a:rPr>
              <a:t>Announcements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60320"/>
            <a:ext cx="1088136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FFE066"/>
                </a:solidFill>
                <a:latin typeface="Arial"/>
              </a:rPr>
              <a:t>Lunch  12:00-13:00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Hall 3, Singapore EXPO</a:t>
            </a:r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FFE066"/>
                </a:solidFill>
                <a:latin typeface="Arial"/>
              </a:rPr>
              <a:t>Field Trip to the Civil Defence Academy  13:00-16:15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The bus departs from Singapore EXPO after lunch. Registered participants only.</a:t>
            </a:r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FFE066"/>
                </a:solidFill>
                <a:latin typeface="Arial"/>
              </a:rPr>
              <a:t>SCDF Parade  18:00, Hall 4  /  Dinner Reception  20:05, Garnet Room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For ADRC member country participants, resource persons and other invited participants.</a:t>
            </a:r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FFE066"/>
                </a:solidFill>
                <a:latin typeface="Arial"/>
              </a:rPr>
              <a:t>30 October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SIDEX-ACDR 2026 Keynote Address and Panels, Hall 3, from 09:00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_sg" descr="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474" y="292608"/>
            <a:ext cx="835472" cy="566928"/>
          </a:xfrm>
          <a:prstGeom prst="rect">
            <a:avLst/>
          </a:prstGeom>
        </p:spPr>
      </p:pic>
      <p:pic>
        <p:nvPicPr>
          <p:cNvPr id="4" name="Logo_scdf" descr="sc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827" y="292608"/>
            <a:ext cx="1598327" cy="566928"/>
          </a:xfrm>
          <a:prstGeom prst="rect">
            <a:avLst/>
          </a:prstGeom>
        </p:spPr>
      </p:pic>
      <p:pic>
        <p:nvPicPr>
          <p:cNvPr id="5" name="Logo_cosem" descr="cose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6034" y="292608"/>
            <a:ext cx="1285036" cy="566928"/>
          </a:xfrm>
          <a:prstGeom prst="rect">
            <a:avLst/>
          </a:prstGeom>
        </p:spPr>
      </p:pic>
      <p:pic>
        <p:nvPicPr>
          <p:cNvPr id="6" name="Logo_adrc" descr="adr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3951" y="292608"/>
            <a:ext cx="554329" cy="566928"/>
          </a:xfrm>
          <a:prstGeom prst="rect">
            <a:avLst/>
          </a:prstGeom>
        </p:spPr>
      </p:pic>
      <p:pic>
        <p:nvPicPr>
          <p:cNvPr id="7" name="Logo_jp" descr="j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81161" y="292608"/>
            <a:ext cx="86887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1325880"/>
            <a:ext cx="8778240" cy="1600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>
                <a:solidFill>
                  <a:srgbClr val="1C2B57"/>
                </a:solidFill>
                <a:latin typeface="Cambria"/>
              </a:rPr>
              <a:t>Asian Conference</a:t>
            </a:r>
          </a:p>
          <a:p>
            <a:pPr algn="l"/>
            <a:r>
              <a:rPr sz="4400" b="1">
                <a:solidFill>
                  <a:srgbClr val="1C2B57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768096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>
                <a:solidFill>
                  <a:srgbClr val="1C2B57"/>
                </a:solidFill>
                <a:latin typeface="Cambria"/>
              </a:rPr>
              <a:t>Future-Proofing Transboundary Climate and Disaster Risk Reduction</a:t>
            </a:r>
          </a:p>
          <a:p>
            <a:pPr algn="l"/>
            <a:r>
              <a:rPr sz="1700" b="0">
                <a:solidFill>
                  <a:srgbClr val="1C2B57"/>
                </a:solidFill>
                <a:latin typeface="Cambria"/>
              </a:rPr>
              <a:t>through Advanced Technologies for a Resilient Society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14800"/>
            <a:ext cx="914400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D95F00"/>
                </a:solidFill>
                <a:latin typeface="Cambria"/>
              </a:rPr>
              <a:t>Thank you for participating in ACDR2026.</a:t>
            </a:r>
          </a:p>
          <a:p>
            <a:pPr algn="l"/>
            <a:r>
              <a:rPr sz="2000" b="1">
                <a:solidFill>
                  <a:srgbClr val="1C2B57"/>
                </a:solidFill>
                <a:latin typeface="Cambria"/>
              </a:rPr>
              <a:t>Next ACDR: ACDR2027, Sendai, Japan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