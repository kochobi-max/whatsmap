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SIDEX-ACDR2026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11680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Seating plan for the ACDR sessions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Peridot 202–205, Singapore EXPO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U-shape with named seats  •  Opening / Closing  •  Roundtable  •  Steering Committee  •  Technical Session  •  dimensions in metres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Asian Disaster Reduction Center (ADRC) — draft for discussion with COSEM / SCDF / Singapore EXPO, 7 September 2026 (rev. 3)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Base plan: 36 named seats on the U, second row, stand mics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floor for all sessions on 28–29 Oct; only the front area (lectern, moderator / speakers' tables) changes.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325880" y="1325880"/>
            <a:ext cx="4506163" cy="4096512"/>
          </a:xfrm>
          <a:prstGeom prst="rect">
            <a:avLst/>
          </a:prstGeom>
          <a:solidFill>
            <a:srgbClr val="F4F6FA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935224" y="1143000"/>
            <a:ext cx="12874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FRONT (screen wall)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706270" y="1344168"/>
            <a:ext cx="1024128" cy="82296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706270" y="1435608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3864"/>
                </a:solidFill>
              </a:rPr>
              <a:t>Screen L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4427525" y="1344168"/>
            <a:ext cx="1024128" cy="82296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27525" y="1435608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3864"/>
                </a:solidFill>
              </a:rPr>
              <a:t>Screen R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289304" y="1911096"/>
            <a:ext cx="73152" cy="35113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" y="20025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</a:rPr>
              <a:t>Door 203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1289304" y="4105656"/>
            <a:ext cx="73152" cy="35113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" y="419709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</a:rPr>
              <a:t>Door 202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5795467" y="1911096"/>
            <a:ext cx="73152" cy="35113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05195" y="20025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</a:rPr>
              <a:t>Door 204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795467" y="4105656"/>
            <a:ext cx="73152" cy="35113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05195" y="419709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</a:rPr>
              <a:t>Door 205</a:t>
            </a:r>
            <a:endParaRPr lang="en-US" sz="600" dirty="0"/>
          </a:p>
        </p:txBody>
      </p:sp>
      <p:sp>
        <p:nvSpPr>
          <p:cNvPr id="18" name="Text 16"/>
          <p:cNvSpPr txBox="1"/>
          <p:nvPr/>
        </p:nvSpPr>
        <p:spPr>
          <a:xfrm>
            <a:off x="1384402" y="1501445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99999"/>
                </a:solidFill>
              </a:rPr>
              <a:t>Peridot 203</a:t>
            </a:r>
            <a:endParaRPr lang="en-US" sz="550" dirty="0"/>
          </a:p>
        </p:txBody>
      </p:sp>
      <p:sp>
        <p:nvSpPr>
          <p:cNvPr id="19" name="Text 17"/>
          <p:cNvSpPr txBox="1"/>
          <p:nvPr/>
        </p:nvSpPr>
        <p:spPr>
          <a:xfrm>
            <a:off x="5159045" y="1501445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999999"/>
                </a:solidFill>
              </a:rPr>
              <a:t>Peridot 204</a:t>
            </a:r>
            <a:endParaRPr lang="en-US" sz="550" dirty="0"/>
          </a:p>
        </p:txBody>
      </p:sp>
      <p:sp>
        <p:nvSpPr>
          <p:cNvPr id="20" name="Text 18"/>
          <p:cNvSpPr txBox="1"/>
          <p:nvPr/>
        </p:nvSpPr>
        <p:spPr>
          <a:xfrm>
            <a:off x="1384402" y="3842309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99999"/>
                </a:solidFill>
              </a:rPr>
              <a:t>Peridot 202</a:t>
            </a:r>
            <a:endParaRPr lang="en-US" sz="550" dirty="0"/>
          </a:p>
        </p:txBody>
      </p:sp>
      <p:sp>
        <p:nvSpPr>
          <p:cNvPr id="21" name="Text 19"/>
          <p:cNvSpPr txBox="1"/>
          <p:nvPr/>
        </p:nvSpPr>
        <p:spPr>
          <a:xfrm>
            <a:off x="5159045" y="3842309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999999"/>
                </a:solidFill>
              </a:rPr>
              <a:t>Peridot 205</a:t>
            </a:r>
            <a:endParaRPr lang="en-US" sz="55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440680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</a:rPr>
              <a:t>BACK (wall to NOT-IN-USE block)</a:t>
            </a:r>
            <a:endParaRPr lang="en-US" sz="600" dirty="0"/>
          </a:p>
        </p:txBody>
      </p:sp>
      <p:sp>
        <p:nvSpPr>
          <p:cNvPr id="23" name="Text 21"/>
          <p:cNvSpPr txBox="1"/>
          <p:nvPr/>
        </p:nvSpPr>
        <p:spPr>
          <a:xfrm>
            <a:off x="3783787" y="5440680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</a:rPr>
              <a:t>Coffee break (Option 1) in the foyer on this side →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1501445" y="1647749"/>
            <a:ext cx="526694" cy="234086"/>
          </a:xfrm>
          <a:prstGeom prst="rect">
            <a:avLst/>
          </a:prstGeom>
          <a:solidFill>
            <a:srgbClr val="0E7C7B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1445" y="1647749"/>
            <a:ext cx="526694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AV desk +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Zoom host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5159045" y="1647749"/>
            <a:ext cx="468173" cy="526694"/>
          </a:xfrm>
          <a:prstGeom prst="rect">
            <a:avLst/>
          </a:prstGeom>
          <a:solidFill>
            <a:srgbClr val="4E8F3A"/>
          </a:solidFill>
          <a:ln w="9525">
            <a:solidFill>
              <a:srgbClr val="4E8F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59045" y="1647749"/>
            <a:ext cx="468173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ADRC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Secre-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tariat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3505810" y="5217566"/>
            <a:ext cx="146304" cy="146304"/>
          </a:xfrm>
          <a:prstGeom prst="ellipse">
            <a:avLst/>
          </a:prstGeom>
          <a:solidFill>
            <a:srgbClr val="B02A2A"/>
          </a:solidFill>
          <a:ln w="12700">
            <a:solidFill>
              <a:srgbClr val="B02A2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670402" y="520293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B02A2A"/>
                </a:solidFill>
              </a:rPr>
              <a:t>Zoom camera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3140050" y="1735531"/>
            <a:ext cx="204826" cy="146304"/>
          </a:xfrm>
          <a:prstGeom prst="rect">
            <a:avLst/>
          </a:prstGeom>
          <a:solidFill>
            <a:srgbClr val="EAD7B5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02890" y="1911096"/>
            <a:ext cx="47914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Lectern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2218334" y="2145182"/>
            <a:ext cx="131674" cy="1931213"/>
          </a:xfrm>
          <a:prstGeom prst="rect">
            <a:avLst/>
          </a:prstGeom>
          <a:solidFill>
            <a:srgbClr val="D9B48F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76242" y="2145182"/>
            <a:ext cx="131674" cy="1931213"/>
          </a:xfrm>
          <a:prstGeom prst="rect">
            <a:avLst/>
          </a:prstGeom>
          <a:solidFill>
            <a:srgbClr val="D9B48F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18334" y="4076395"/>
            <a:ext cx="2589581" cy="131674"/>
          </a:xfrm>
          <a:prstGeom prst="rect">
            <a:avLst/>
          </a:prstGeom>
          <a:solidFill>
            <a:srgbClr val="D9B48F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56486" y="2173529"/>
            <a:ext cx="118872" cy="118872"/>
          </a:xfrm>
          <a:prstGeom prst="rect">
            <a:avLst/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386584" y="2159813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ADRC</a:t>
            </a:r>
            <a:endParaRPr lang="en-US" sz="550" dirty="0"/>
          </a:p>
        </p:txBody>
      </p:sp>
      <p:sp>
        <p:nvSpPr>
          <p:cNvPr id="37" name="Shape 35"/>
          <p:cNvSpPr/>
          <p:nvPr/>
        </p:nvSpPr>
        <p:spPr>
          <a:xfrm>
            <a:off x="2056486" y="2349094"/>
            <a:ext cx="118872" cy="118872"/>
          </a:xfrm>
          <a:prstGeom prst="rect">
            <a:avLst/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386584" y="233537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ADRC</a:t>
            </a:r>
            <a:endParaRPr lang="en-US" sz="550" dirty="0"/>
          </a:p>
        </p:txBody>
      </p:sp>
      <p:sp>
        <p:nvSpPr>
          <p:cNvPr id="39" name="Shape 37"/>
          <p:cNvSpPr/>
          <p:nvPr/>
        </p:nvSpPr>
        <p:spPr>
          <a:xfrm>
            <a:off x="2056486" y="2524658"/>
            <a:ext cx="118872" cy="118872"/>
          </a:xfrm>
          <a:prstGeom prst="rect">
            <a:avLst/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386584" y="251094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JPN</a:t>
            </a:r>
            <a:endParaRPr lang="en-US" sz="550" dirty="0"/>
          </a:p>
        </p:txBody>
      </p:sp>
      <p:sp>
        <p:nvSpPr>
          <p:cNvPr id="41" name="Shape 39"/>
          <p:cNvSpPr/>
          <p:nvPr/>
        </p:nvSpPr>
        <p:spPr>
          <a:xfrm>
            <a:off x="2056486" y="2700223"/>
            <a:ext cx="118872" cy="118872"/>
          </a:xfrm>
          <a:prstGeom prst="rect">
            <a:avLst/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386584" y="2686507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JPN</a:t>
            </a:r>
            <a:endParaRPr lang="en-US" sz="550" dirty="0"/>
          </a:p>
        </p:txBody>
      </p:sp>
      <p:sp>
        <p:nvSpPr>
          <p:cNvPr id="43" name="Shape 41"/>
          <p:cNvSpPr/>
          <p:nvPr/>
        </p:nvSpPr>
        <p:spPr>
          <a:xfrm>
            <a:off x="2056486" y="2875788"/>
            <a:ext cx="118872" cy="118872"/>
          </a:xfrm>
          <a:prstGeom prst="rect">
            <a:avLst/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386584" y="28620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SGP</a:t>
            </a:r>
            <a:endParaRPr lang="en-US" sz="550" dirty="0"/>
          </a:p>
        </p:txBody>
      </p:sp>
      <p:sp>
        <p:nvSpPr>
          <p:cNvPr id="45" name="Shape 43"/>
          <p:cNvSpPr/>
          <p:nvPr/>
        </p:nvSpPr>
        <p:spPr>
          <a:xfrm>
            <a:off x="2056486" y="3051353"/>
            <a:ext cx="118872" cy="118872"/>
          </a:xfrm>
          <a:prstGeom prst="rect">
            <a:avLst/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386584" y="3037637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SGP</a:t>
            </a:r>
            <a:endParaRPr lang="en-US" sz="550" dirty="0"/>
          </a:p>
        </p:txBody>
      </p:sp>
      <p:sp>
        <p:nvSpPr>
          <p:cNvPr id="47" name="Shape 45"/>
          <p:cNvSpPr/>
          <p:nvPr/>
        </p:nvSpPr>
        <p:spPr>
          <a:xfrm>
            <a:off x="2056486" y="3226918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386584" y="321320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AZE</a:t>
            </a:r>
            <a:endParaRPr lang="en-US" sz="550" dirty="0"/>
          </a:p>
        </p:txBody>
      </p:sp>
      <p:sp>
        <p:nvSpPr>
          <p:cNvPr id="49" name="Shape 47"/>
          <p:cNvSpPr/>
          <p:nvPr/>
        </p:nvSpPr>
        <p:spPr>
          <a:xfrm>
            <a:off x="2056486" y="3402482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386584" y="338876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AZE</a:t>
            </a:r>
            <a:endParaRPr lang="en-US" sz="550" dirty="0"/>
          </a:p>
        </p:txBody>
      </p:sp>
      <p:sp>
        <p:nvSpPr>
          <p:cNvPr id="51" name="Shape 49"/>
          <p:cNvSpPr/>
          <p:nvPr/>
        </p:nvSpPr>
        <p:spPr>
          <a:xfrm>
            <a:off x="2056486" y="3578047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386584" y="3564331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BGD</a:t>
            </a:r>
            <a:endParaRPr lang="en-US" sz="550" dirty="0"/>
          </a:p>
        </p:txBody>
      </p:sp>
      <p:sp>
        <p:nvSpPr>
          <p:cNvPr id="53" name="Shape 51"/>
          <p:cNvSpPr/>
          <p:nvPr/>
        </p:nvSpPr>
        <p:spPr>
          <a:xfrm>
            <a:off x="2056486" y="3753612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2386584" y="373989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ARM</a:t>
            </a:r>
            <a:endParaRPr lang="en-US" sz="550" dirty="0"/>
          </a:p>
        </p:txBody>
      </p:sp>
      <p:sp>
        <p:nvSpPr>
          <p:cNvPr id="55" name="Shape 53"/>
          <p:cNvSpPr/>
          <p:nvPr/>
        </p:nvSpPr>
        <p:spPr>
          <a:xfrm>
            <a:off x="2056486" y="3929177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2386584" y="3915461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KHM</a:t>
            </a:r>
            <a:endParaRPr lang="en-US" sz="550" dirty="0"/>
          </a:p>
        </p:txBody>
      </p:sp>
      <p:sp>
        <p:nvSpPr>
          <p:cNvPr id="57" name="Shape 55"/>
          <p:cNvSpPr/>
          <p:nvPr/>
        </p:nvSpPr>
        <p:spPr>
          <a:xfrm>
            <a:off x="2378354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 rot="16200000">
            <a:off x="2337206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FJI</a:t>
            </a:r>
            <a:endParaRPr lang="en-US" sz="550" dirty="0"/>
          </a:p>
        </p:txBody>
      </p:sp>
      <p:sp>
        <p:nvSpPr>
          <p:cNvPr id="59" name="Shape 57"/>
          <p:cNvSpPr/>
          <p:nvPr/>
        </p:nvSpPr>
        <p:spPr>
          <a:xfrm>
            <a:off x="2553919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 rot="16200000">
            <a:off x="2512771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IND</a:t>
            </a:r>
            <a:endParaRPr lang="en-US" sz="550" dirty="0"/>
          </a:p>
        </p:txBody>
      </p:sp>
      <p:sp>
        <p:nvSpPr>
          <p:cNvPr id="61" name="Shape 59"/>
          <p:cNvSpPr/>
          <p:nvPr/>
        </p:nvSpPr>
        <p:spPr>
          <a:xfrm>
            <a:off x="2729484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 rot="16200000">
            <a:off x="2688336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IND</a:t>
            </a:r>
            <a:endParaRPr lang="en-US" sz="550" dirty="0"/>
          </a:p>
        </p:txBody>
      </p:sp>
      <p:sp>
        <p:nvSpPr>
          <p:cNvPr id="63" name="Shape 61"/>
          <p:cNvSpPr/>
          <p:nvPr/>
        </p:nvSpPr>
        <p:spPr>
          <a:xfrm>
            <a:off x="2905049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 rot="16200000">
            <a:off x="2863901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KOR</a:t>
            </a:r>
            <a:endParaRPr lang="en-US" sz="550" dirty="0"/>
          </a:p>
        </p:txBody>
      </p:sp>
      <p:sp>
        <p:nvSpPr>
          <p:cNvPr id="65" name="Shape 63"/>
          <p:cNvSpPr/>
          <p:nvPr/>
        </p:nvSpPr>
        <p:spPr>
          <a:xfrm>
            <a:off x="3080614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 rot="16200000">
            <a:off x="3039466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KOR</a:t>
            </a:r>
            <a:endParaRPr lang="en-US" sz="550" dirty="0"/>
          </a:p>
        </p:txBody>
      </p:sp>
      <p:sp>
        <p:nvSpPr>
          <p:cNvPr id="67" name="Shape 65"/>
          <p:cNvSpPr/>
          <p:nvPr/>
        </p:nvSpPr>
        <p:spPr>
          <a:xfrm>
            <a:off x="3256178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 rot="16200000">
            <a:off x="3215030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MYS</a:t>
            </a:r>
            <a:endParaRPr lang="en-US" sz="550" dirty="0"/>
          </a:p>
        </p:txBody>
      </p:sp>
      <p:sp>
        <p:nvSpPr>
          <p:cNvPr id="69" name="Shape 67"/>
          <p:cNvSpPr/>
          <p:nvPr/>
        </p:nvSpPr>
        <p:spPr>
          <a:xfrm>
            <a:off x="3431743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 rot="16200000">
            <a:off x="3390595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MDV</a:t>
            </a:r>
            <a:endParaRPr lang="en-US" sz="550" dirty="0"/>
          </a:p>
        </p:txBody>
      </p:sp>
      <p:sp>
        <p:nvSpPr>
          <p:cNvPr id="71" name="Shape 69"/>
          <p:cNvSpPr/>
          <p:nvPr/>
        </p:nvSpPr>
        <p:spPr>
          <a:xfrm>
            <a:off x="3607308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 rot="16200000">
            <a:off x="3566160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MNG</a:t>
            </a:r>
            <a:endParaRPr lang="en-US" sz="550" dirty="0"/>
          </a:p>
        </p:txBody>
      </p:sp>
      <p:sp>
        <p:nvSpPr>
          <p:cNvPr id="73" name="Shape 71"/>
          <p:cNvSpPr/>
          <p:nvPr/>
        </p:nvSpPr>
        <p:spPr>
          <a:xfrm>
            <a:off x="3782873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 rot="16200000">
            <a:off x="3741725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PAK</a:t>
            </a:r>
            <a:endParaRPr lang="en-US" sz="550" dirty="0"/>
          </a:p>
        </p:txBody>
      </p:sp>
      <p:sp>
        <p:nvSpPr>
          <p:cNvPr id="75" name="Shape 73"/>
          <p:cNvSpPr/>
          <p:nvPr/>
        </p:nvSpPr>
        <p:spPr>
          <a:xfrm>
            <a:off x="3958438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 rot="16200000">
            <a:off x="3917290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PAK</a:t>
            </a:r>
            <a:endParaRPr lang="en-US" sz="550" dirty="0"/>
          </a:p>
        </p:txBody>
      </p:sp>
      <p:sp>
        <p:nvSpPr>
          <p:cNvPr id="77" name="Shape 75"/>
          <p:cNvSpPr/>
          <p:nvPr/>
        </p:nvSpPr>
        <p:spPr>
          <a:xfrm>
            <a:off x="4134002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 rot="16200000">
            <a:off x="4092854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PNG</a:t>
            </a:r>
            <a:endParaRPr lang="en-US" sz="550" dirty="0"/>
          </a:p>
        </p:txBody>
      </p:sp>
      <p:sp>
        <p:nvSpPr>
          <p:cNvPr id="79" name="Shape 77"/>
          <p:cNvSpPr/>
          <p:nvPr/>
        </p:nvSpPr>
        <p:spPr>
          <a:xfrm>
            <a:off x="4309567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 rot="16200000">
            <a:off x="4268419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PNG</a:t>
            </a:r>
            <a:endParaRPr lang="en-US" sz="550" dirty="0"/>
          </a:p>
        </p:txBody>
      </p:sp>
      <p:sp>
        <p:nvSpPr>
          <p:cNvPr id="81" name="Shape 79"/>
          <p:cNvSpPr/>
          <p:nvPr/>
        </p:nvSpPr>
        <p:spPr>
          <a:xfrm>
            <a:off x="4485132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 rot="16200000">
            <a:off x="4443984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PHL</a:t>
            </a:r>
            <a:endParaRPr lang="en-US" sz="550" dirty="0"/>
          </a:p>
        </p:txBody>
      </p:sp>
      <p:sp>
        <p:nvSpPr>
          <p:cNvPr id="83" name="Shape 81"/>
          <p:cNvSpPr/>
          <p:nvPr/>
        </p:nvSpPr>
        <p:spPr>
          <a:xfrm>
            <a:off x="4660697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 rot="16200000">
            <a:off x="4619549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PHL</a:t>
            </a:r>
            <a:endParaRPr lang="en-US" sz="550" dirty="0"/>
          </a:p>
        </p:txBody>
      </p:sp>
      <p:sp>
        <p:nvSpPr>
          <p:cNvPr id="85" name="Shape 83"/>
          <p:cNvSpPr/>
          <p:nvPr/>
        </p:nvSpPr>
        <p:spPr>
          <a:xfrm>
            <a:off x="4850892" y="3929177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4228186" y="3915461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LKA</a:t>
            </a:r>
            <a:endParaRPr lang="en-US" sz="550" dirty="0"/>
          </a:p>
        </p:txBody>
      </p:sp>
      <p:sp>
        <p:nvSpPr>
          <p:cNvPr id="87" name="Shape 85"/>
          <p:cNvSpPr/>
          <p:nvPr/>
        </p:nvSpPr>
        <p:spPr>
          <a:xfrm>
            <a:off x="4850892" y="3753612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4228186" y="373989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THA</a:t>
            </a:r>
            <a:endParaRPr lang="en-US" sz="550" dirty="0"/>
          </a:p>
        </p:txBody>
      </p:sp>
      <p:sp>
        <p:nvSpPr>
          <p:cNvPr id="89" name="Shape 87"/>
          <p:cNvSpPr/>
          <p:nvPr/>
        </p:nvSpPr>
        <p:spPr>
          <a:xfrm>
            <a:off x="4850892" y="3578047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4228186" y="3564331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THA</a:t>
            </a:r>
            <a:endParaRPr lang="en-US" sz="550" dirty="0"/>
          </a:p>
        </p:txBody>
      </p:sp>
      <p:sp>
        <p:nvSpPr>
          <p:cNvPr id="91" name="Shape 89"/>
          <p:cNvSpPr/>
          <p:nvPr/>
        </p:nvSpPr>
        <p:spPr>
          <a:xfrm>
            <a:off x="4850892" y="3402482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4228186" y="338876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TUR</a:t>
            </a:r>
            <a:endParaRPr lang="en-US" sz="550" dirty="0"/>
          </a:p>
        </p:txBody>
      </p:sp>
      <p:sp>
        <p:nvSpPr>
          <p:cNvPr id="93" name="Shape 91"/>
          <p:cNvSpPr/>
          <p:nvPr/>
        </p:nvSpPr>
        <p:spPr>
          <a:xfrm>
            <a:off x="4850892" y="3226918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4228186" y="321320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TUR</a:t>
            </a:r>
            <a:endParaRPr lang="en-US" sz="550" dirty="0"/>
          </a:p>
        </p:txBody>
      </p:sp>
      <p:sp>
        <p:nvSpPr>
          <p:cNvPr id="95" name="Shape 93"/>
          <p:cNvSpPr/>
          <p:nvPr/>
        </p:nvSpPr>
        <p:spPr>
          <a:xfrm>
            <a:off x="4850892" y="3051353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4228186" y="3037637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UZB</a:t>
            </a:r>
            <a:endParaRPr lang="en-US" sz="550" dirty="0"/>
          </a:p>
        </p:txBody>
      </p:sp>
      <p:sp>
        <p:nvSpPr>
          <p:cNvPr id="97" name="Shape 95"/>
          <p:cNvSpPr/>
          <p:nvPr/>
        </p:nvSpPr>
        <p:spPr>
          <a:xfrm>
            <a:off x="4850892" y="2875788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4228186" y="28620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UZB</a:t>
            </a:r>
            <a:endParaRPr lang="en-US" sz="550" dirty="0"/>
          </a:p>
        </p:txBody>
      </p:sp>
      <p:sp>
        <p:nvSpPr>
          <p:cNvPr id="99" name="Shape 97"/>
          <p:cNvSpPr/>
          <p:nvPr/>
        </p:nvSpPr>
        <p:spPr>
          <a:xfrm>
            <a:off x="4850892" y="2700223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4228186" y="2686507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VNM</a:t>
            </a:r>
            <a:endParaRPr lang="en-US" sz="550" dirty="0"/>
          </a:p>
        </p:txBody>
      </p:sp>
      <p:sp>
        <p:nvSpPr>
          <p:cNvPr id="101" name="Shape 99"/>
          <p:cNvSpPr/>
          <p:nvPr/>
        </p:nvSpPr>
        <p:spPr>
          <a:xfrm>
            <a:off x="4850892" y="2524658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4228186" y="251094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VNM</a:t>
            </a:r>
            <a:endParaRPr lang="en-US" sz="550" dirty="0"/>
          </a:p>
        </p:txBody>
      </p:sp>
      <p:sp>
        <p:nvSpPr>
          <p:cNvPr id="103" name="Shape 101"/>
          <p:cNvSpPr/>
          <p:nvPr/>
        </p:nvSpPr>
        <p:spPr>
          <a:xfrm>
            <a:off x="4850892" y="2349094"/>
            <a:ext cx="118872" cy="118872"/>
          </a:xfrm>
          <a:prstGeom prst="rect">
            <a:avLst/>
          </a:prstGeom>
          <a:solidFill>
            <a:srgbClr val="0E7C7B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4228186" y="233537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NZL</a:t>
            </a:r>
            <a:endParaRPr lang="en-US" sz="550" dirty="0"/>
          </a:p>
        </p:txBody>
      </p:sp>
      <p:sp>
        <p:nvSpPr>
          <p:cNvPr id="105" name="Shape 103"/>
          <p:cNvSpPr/>
          <p:nvPr/>
        </p:nvSpPr>
        <p:spPr>
          <a:xfrm>
            <a:off x="4850892" y="2173529"/>
            <a:ext cx="118872" cy="118872"/>
          </a:xfrm>
          <a:prstGeom prst="rect">
            <a:avLst/>
          </a:prstGeom>
          <a:solidFill>
            <a:srgbClr val="0E7C7B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4228186" y="2159813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NZL</a:t>
            </a:r>
            <a:endParaRPr lang="en-US" sz="550" dirty="0"/>
          </a:p>
        </p:txBody>
      </p:sp>
      <p:sp>
        <p:nvSpPr>
          <p:cNvPr id="107" name="Shape 105"/>
          <p:cNvSpPr/>
          <p:nvPr/>
        </p:nvSpPr>
        <p:spPr>
          <a:xfrm>
            <a:off x="1530706" y="2145182"/>
            <a:ext cx="131674" cy="2618842"/>
          </a:xfrm>
          <a:prstGeom prst="rect">
            <a:avLst/>
          </a:prstGeom>
          <a:solidFill>
            <a:srgbClr val="D9B48F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363870" y="2145182"/>
            <a:ext cx="131674" cy="2618842"/>
          </a:xfrm>
          <a:prstGeom prst="rect">
            <a:avLst/>
          </a:prstGeom>
          <a:solidFill>
            <a:srgbClr val="D9B48F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530706" y="4764024"/>
            <a:ext cx="3964838" cy="131674"/>
          </a:xfrm>
          <a:prstGeom prst="rect">
            <a:avLst/>
          </a:prstGeom>
          <a:solidFill>
            <a:srgbClr val="D9B48F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378001" y="2182673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547665" y="2182673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378001" y="235823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547665" y="235823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378001" y="2533802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547665" y="2533802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378001" y="2709367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547665" y="2709367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378001" y="2884932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547665" y="2884932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378001" y="3060497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547665" y="3060497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378001" y="3236062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547665" y="3236062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378001" y="3411626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547665" y="3411626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378001" y="3587191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547665" y="3587191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378001" y="3762756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547665" y="3762756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378001" y="3938321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547665" y="3938321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378001" y="4113886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547665" y="4113886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378001" y="4289450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547665" y="4289450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378001" y="4465015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547665" y="4465015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699870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875434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050999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226564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402129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577694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753258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2928823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104388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3279953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3455518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3631082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3806647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3982212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4157777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4333342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4508906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4684471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4860036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035601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211166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841602" y="3055925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02A2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074920" y="3055925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02A2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3032516" y="4475074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02A2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4015679" y="4475074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02A2A"/>
            </a:solidFill>
            <a:prstDash val="solid"/>
          </a:ln>
        </p:spPr>
      </p:sp>
      <p:sp>
        <p:nvSpPr>
          <p:cNvPr id="163" name="Text 161"/>
          <p:cNvSpPr txBox="1"/>
          <p:nvPr/>
        </p:nvSpPr>
        <p:spPr>
          <a:xfrm>
            <a:off x="806501" y="2159813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666666"/>
                </a:solidFill>
              </a:rPr>
              <a:t>MIYAKI (ED)</a:t>
            </a:r>
            <a:endParaRPr lang="en-US" sz="500" dirty="0"/>
          </a:p>
        </p:txBody>
      </p:sp>
      <p:sp>
        <p:nvSpPr>
          <p:cNvPr id="164" name="Text 162"/>
          <p:cNvSpPr txBox="1"/>
          <p:nvPr/>
        </p:nvSpPr>
        <p:spPr>
          <a:xfrm>
            <a:off x="806501" y="233537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666666"/>
                </a:solidFill>
              </a:rPr>
              <a:t>KODAMA (Dir.)</a:t>
            </a:r>
            <a:endParaRPr lang="en-US" sz="500" dirty="0"/>
          </a:p>
        </p:txBody>
      </p:sp>
      <p:sp>
        <p:nvSpPr>
          <p:cNvPr id="165" name="Text 163"/>
          <p:cNvSpPr txBox="1"/>
          <p:nvPr/>
        </p:nvSpPr>
        <p:spPr>
          <a:xfrm>
            <a:off x="5671109" y="2159813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666666"/>
                </a:solidFill>
              </a:rPr>
              <a:t>ADPC</a:t>
            </a:r>
            <a:endParaRPr lang="en-US" sz="500" dirty="0"/>
          </a:p>
        </p:txBody>
      </p:sp>
      <p:sp>
        <p:nvSpPr>
          <p:cNvPr id="166" name="Text 164"/>
          <p:cNvSpPr txBox="1"/>
          <p:nvPr/>
        </p:nvSpPr>
        <p:spPr>
          <a:xfrm>
            <a:off x="5671109" y="233537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666666"/>
                </a:solidFill>
              </a:rPr>
              <a:t>ADPC</a:t>
            </a:r>
            <a:endParaRPr lang="en-US" sz="500" dirty="0"/>
          </a:p>
        </p:txBody>
      </p:sp>
      <p:sp>
        <p:nvSpPr>
          <p:cNvPr id="167" name="Text 165"/>
          <p:cNvSpPr txBox="1"/>
          <p:nvPr/>
        </p:nvSpPr>
        <p:spPr>
          <a:xfrm>
            <a:off x="5671109" y="251094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666666"/>
                </a:solidFill>
              </a:rPr>
              <a:t>NZ 3rd</a:t>
            </a:r>
            <a:endParaRPr lang="en-US" sz="500" dirty="0"/>
          </a:p>
        </p:txBody>
      </p:sp>
      <p:sp>
        <p:nvSpPr>
          <p:cNvPr id="168" name="Text 166"/>
          <p:cNvSpPr txBox="1"/>
          <p:nvPr/>
        </p:nvSpPr>
        <p:spPr>
          <a:xfrm>
            <a:off x="1784909" y="508955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66666"/>
                </a:solidFill>
              </a:rPr>
              <a:t>IND 3rd</a:t>
            </a:r>
            <a:endParaRPr lang="en-US" sz="500" dirty="0"/>
          </a:p>
        </p:txBody>
      </p:sp>
      <p:sp>
        <p:nvSpPr>
          <p:cNvPr id="169" name="Shape 167"/>
          <p:cNvSpPr/>
          <p:nvPr/>
        </p:nvSpPr>
        <p:spPr>
          <a:xfrm>
            <a:off x="1325880" y="5623560"/>
            <a:ext cx="4506163" cy="914"/>
          </a:xfrm>
          <a:prstGeom prst="line">
            <a:avLst/>
          </a:prstGeom>
          <a:noFill/>
          <a:ln w="9525">
            <a:solidFill>
              <a:srgbClr val="7A4B9C"/>
            </a:solidFill>
            <a:prstDash val="solid"/>
            <a:headEnd type="triangle"/>
            <a:tailEnd type="triangle"/>
          </a:ln>
        </p:spPr>
      </p:sp>
      <p:sp>
        <p:nvSpPr>
          <p:cNvPr id="170" name="Text 168"/>
          <p:cNvSpPr txBox="1"/>
          <p:nvPr/>
        </p:nvSpPr>
        <p:spPr>
          <a:xfrm>
            <a:off x="1325880" y="5641848"/>
            <a:ext cx="45061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A4B9C"/>
                </a:solidFill>
              </a:rPr>
              <a:t>Room width 15.4 m (from the EXPO plan)</a:t>
            </a:r>
            <a:endParaRPr lang="en-US" sz="650" dirty="0"/>
          </a:p>
        </p:txBody>
      </p:sp>
      <p:sp>
        <p:nvSpPr>
          <p:cNvPr id="171" name="Shape 169"/>
          <p:cNvSpPr/>
          <p:nvPr/>
        </p:nvSpPr>
        <p:spPr>
          <a:xfrm>
            <a:off x="6609283" y="1325880"/>
            <a:ext cx="914" cy="4096512"/>
          </a:xfrm>
          <a:prstGeom prst="line">
            <a:avLst/>
          </a:prstGeom>
          <a:noFill/>
          <a:ln w="9525">
            <a:solidFill>
              <a:srgbClr val="7A4B9C"/>
            </a:solidFill>
            <a:prstDash val="solid"/>
            <a:headEnd type="triangle"/>
            <a:tailEnd type="triangle"/>
          </a:ln>
        </p:spPr>
      </p:sp>
      <p:sp>
        <p:nvSpPr>
          <p:cNvPr id="172" name="Text 170"/>
          <p:cNvSpPr txBox="1"/>
          <p:nvPr/>
        </p:nvSpPr>
        <p:spPr>
          <a:xfrm>
            <a:off x="6655003" y="32918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7A4B9C"/>
                </a:solidFill>
              </a:rPr>
              <a:t>Depth ≈14 m</a:t>
            </a:r>
            <a:endParaRPr lang="en-US" sz="650" dirty="0"/>
          </a:p>
          <a:p>
            <a:pPr algn="l" indent="0" marL="0">
              <a:buNone/>
            </a:pPr>
            <a:r>
              <a:rPr lang="en-US" sz="650" b="1" dirty="0">
                <a:solidFill>
                  <a:srgbClr val="7A4B9C"/>
                </a:solidFill>
              </a:rPr>
              <a:t>(assumed)</a:t>
            </a:r>
            <a:endParaRPr lang="en-US" sz="650" dirty="0"/>
          </a:p>
        </p:txBody>
      </p:sp>
      <p:sp>
        <p:nvSpPr>
          <p:cNvPr id="173" name="Shape 171"/>
          <p:cNvSpPr/>
          <p:nvPr/>
        </p:nvSpPr>
        <p:spPr>
          <a:xfrm>
            <a:off x="2642616" y="1325880"/>
            <a:ext cx="914" cy="819302"/>
          </a:xfrm>
          <a:prstGeom prst="line">
            <a:avLst/>
          </a:prstGeom>
          <a:noFill/>
          <a:ln w="9525">
            <a:solidFill>
              <a:srgbClr val="7A4B9C"/>
            </a:solidFill>
            <a:prstDash val="solid"/>
            <a:headEnd type="triangle"/>
            <a:tailEnd type="triangle"/>
          </a:ln>
        </p:spPr>
      </p:sp>
      <p:sp>
        <p:nvSpPr>
          <p:cNvPr id="174" name="Text 172"/>
          <p:cNvSpPr txBox="1"/>
          <p:nvPr/>
        </p:nvSpPr>
        <p:spPr>
          <a:xfrm>
            <a:off x="2688336" y="1653235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7A4B9C"/>
                </a:solidFill>
              </a:rPr>
              <a:t>2.8 m</a:t>
            </a:r>
            <a:endParaRPr lang="en-US" sz="650" dirty="0"/>
          </a:p>
        </p:txBody>
      </p:sp>
      <p:sp>
        <p:nvSpPr>
          <p:cNvPr id="175" name="Shape 173"/>
          <p:cNvSpPr/>
          <p:nvPr/>
        </p:nvSpPr>
        <p:spPr>
          <a:xfrm>
            <a:off x="2818181" y="2145182"/>
            <a:ext cx="914" cy="1931213"/>
          </a:xfrm>
          <a:prstGeom prst="line">
            <a:avLst/>
          </a:prstGeom>
          <a:noFill/>
          <a:ln w="9525">
            <a:solidFill>
              <a:srgbClr val="7A4B9C"/>
            </a:solidFill>
            <a:prstDash val="solid"/>
            <a:headEnd type="triangle"/>
            <a:tailEnd type="triangle"/>
          </a:ln>
        </p:spPr>
      </p:sp>
      <p:sp>
        <p:nvSpPr>
          <p:cNvPr id="176" name="Text 174"/>
          <p:cNvSpPr txBox="1"/>
          <p:nvPr/>
        </p:nvSpPr>
        <p:spPr>
          <a:xfrm>
            <a:off x="2863901" y="3028493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650" dirty="0"/>
          </a:p>
        </p:txBody>
      </p:sp>
      <p:sp>
        <p:nvSpPr>
          <p:cNvPr id="177" name="Text 175"/>
          <p:cNvSpPr txBox="1"/>
          <p:nvPr/>
        </p:nvSpPr>
        <p:spPr>
          <a:xfrm>
            <a:off x="2863901" y="24963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7A4B9C"/>
                </a:solidFill>
              </a:rPr>
              <a:t>6.6 m</a:t>
            </a:r>
            <a:endParaRPr lang="en-US" sz="650" dirty="0"/>
          </a:p>
          <a:p>
            <a:pPr algn="l" indent="0" marL="0">
              <a:buNone/>
            </a:pPr>
            <a:r>
              <a:rPr lang="en-US" sz="650" b="1" dirty="0">
                <a:solidFill>
                  <a:srgbClr val="7A4B9C"/>
                </a:solidFill>
              </a:rPr>
              <a:t>11 seats</a:t>
            </a:r>
            <a:endParaRPr lang="en-US" sz="650" dirty="0"/>
          </a:p>
          <a:p>
            <a:pPr algn="l" indent="0" marL="0">
              <a:buNone/>
            </a:pPr>
            <a:r>
              <a:rPr lang="en-US" sz="650" b="1" dirty="0">
                <a:solidFill>
                  <a:srgbClr val="7A4B9C"/>
                </a:solidFill>
              </a:rPr>
              <a:t>× 0.60 m</a:t>
            </a:r>
            <a:endParaRPr lang="en-US" sz="650" dirty="0"/>
          </a:p>
        </p:txBody>
      </p:sp>
      <p:sp>
        <p:nvSpPr>
          <p:cNvPr id="178" name="Shape 176"/>
          <p:cNvSpPr/>
          <p:nvPr/>
        </p:nvSpPr>
        <p:spPr>
          <a:xfrm>
            <a:off x="2350008" y="3299155"/>
            <a:ext cx="2326234" cy="914"/>
          </a:xfrm>
          <a:prstGeom prst="line">
            <a:avLst/>
          </a:prstGeom>
          <a:noFill/>
          <a:ln w="9525">
            <a:solidFill>
              <a:srgbClr val="7A4B9C"/>
            </a:solidFill>
            <a:prstDash val="solid"/>
            <a:headEnd type="triangle"/>
            <a:tailEnd type="triangle"/>
          </a:ln>
        </p:spPr>
      </p:sp>
      <p:sp>
        <p:nvSpPr>
          <p:cNvPr id="179" name="Text 177"/>
          <p:cNvSpPr txBox="1"/>
          <p:nvPr/>
        </p:nvSpPr>
        <p:spPr>
          <a:xfrm>
            <a:off x="2350008" y="3116275"/>
            <a:ext cx="23262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A4B9C"/>
                </a:solidFill>
              </a:rPr>
              <a:t>8.4 m = 14 seats × 0.60 m (tables 0.45 m deep)</a:t>
            </a:r>
            <a:endParaRPr lang="en-US" sz="650" dirty="0"/>
          </a:p>
        </p:txBody>
      </p:sp>
      <p:sp>
        <p:nvSpPr>
          <p:cNvPr id="180" name="Shape 178"/>
          <p:cNvSpPr/>
          <p:nvPr/>
        </p:nvSpPr>
        <p:spPr>
          <a:xfrm>
            <a:off x="4764024" y="4412894"/>
            <a:ext cx="914" cy="351130"/>
          </a:xfrm>
          <a:prstGeom prst="line">
            <a:avLst/>
          </a:prstGeom>
          <a:noFill/>
          <a:ln w="9525">
            <a:solidFill>
              <a:srgbClr val="7A4B9C"/>
            </a:solidFill>
            <a:prstDash val="solid"/>
            <a:headEnd type="triangle"/>
            <a:tailEnd type="triangle"/>
          </a:ln>
        </p:spPr>
      </p:sp>
      <p:sp>
        <p:nvSpPr>
          <p:cNvPr id="181" name="Text 179"/>
          <p:cNvSpPr txBox="1"/>
          <p:nvPr/>
        </p:nvSpPr>
        <p:spPr>
          <a:xfrm>
            <a:off x="4809744" y="4506163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7A4B9C"/>
                </a:solidFill>
              </a:rPr>
              <a:t>1.2 m</a:t>
            </a:r>
            <a:endParaRPr lang="en-US" sz="650" dirty="0"/>
          </a:p>
          <a:p>
            <a:pPr algn="l" indent="0" marL="0">
              <a:buNone/>
            </a:pPr>
            <a:r>
              <a:rPr lang="en-US" sz="650" b="1" dirty="0">
                <a:solidFill>
                  <a:srgbClr val="7A4B9C"/>
                </a:solidFill>
              </a:rPr>
              <a:t>aisle</a:t>
            </a:r>
            <a:endParaRPr lang="en-US" sz="650" dirty="0"/>
          </a:p>
        </p:txBody>
      </p:sp>
      <p:sp>
        <p:nvSpPr>
          <p:cNvPr id="182" name="Shape 180"/>
          <p:cNvSpPr/>
          <p:nvPr/>
        </p:nvSpPr>
        <p:spPr>
          <a:xfrm>
            <a:off x="5042002" y="3023006"/>
            <a:ext cx="914" cy="175565"/>
          </a:xfrm>
          <a:prstGeom prst="line">
            <a:avLst/>
          </a:prstGeom>
          <a:noFill/>
          <a:ln w="9525">
            <a:solidFill>
              <a:srgbClr val="7A4B9C"/>
            </a:solidFill>
            <a:prstDash val="solid"/>
            <a:headEnd type="triangle"/>
            <a:tailEnd type="triangle"/>
          </a:ln>
        </p:spPr>
      </p:sp>
      <p:sp>
        <p:nvSpPr>
          <p:cNvPr id="183" name="Text 181"/>
          <p:cNvSpPr txBox="1"/>
          <p:nvPr/>
        </p:nvSpPr>
        <p:spPr>
          <a:xfrm>
            <a:off x="5087722" y="3028493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7A4B9C"/>
                </a:solidFill>
              </a:rPr>
              <a:t>0.60 m</a:t>
            </a:r>
            <a:endParaRPr lang="en-US" sz="650" dirty="0"/>
          </a:p>
        </p:txBody>
      </p:sp>
      <p:sp>
        <p:nvSpPr>
          <p:cNvPr id="184" name="Shape 182"/>
          <p:cNvSpPr/>
          <p:nvPr/>
        </p:nvSpPr>
        <p:spPr>
          <a:xfrm>
            <a:off x="8458200" y="1088136"/>
            <a:ext cx="128016" cy="12801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5" name="Text 183"/>
          <p:cNvSpPr txBox="1"/>
          <p:nvPr/>
        </p:nvSpPr>
        <p:spPr>
          <a:xfrm>
            <a:off x="8668512" y="10515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Host seats on the U: ADRC, Japan, Singapore (6)</a:t>
            </a:r>
            <a:endParaRPr lang="en-US" sz="900" dirty="0"/>
          </a:p>
        </p:txBody>
      </p:sp>
      <p:sp>
        <p:nvSpPr>
          <p:cNvPr id="186" name="Shape 184"/>
          <p:cNvSpPr/>
          <p:nvPr/>
        </p:nvSpPr>
        <p:spPr>
          <a:xfrm>
            <a:off x="8458200" y="1325880"/>
            <a:ext cx="128016" cy="12801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7" name="Text 185"/>
          <p:cNvSpPr txBox="1"/>
          <p:nvPr/>
        </p:nvSpPr>
        <p:spPr>
          <a:xfrm>
            <a:off x="8668512" y="128930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Member-country seats on the U (28), table mics</a:t>
            </a:r>
            <a:endParaRPr lang="en-US" sz="900" dirty="0"/>
          </a:p>
        </p:txBody>
      </p:sp>
      <p:sp>
        <p:nvSpPr>
          <p:cNvPr id="188" name="Shape 186"/>
          <p:cNvSpPr/>
          <p:nvPr/>
        </p:nvSpPr>
        <p:spPr>
          <a:xfrm>
            <a:off x="8458200" y="1563624"/>
            <a:ext cx="128016" cy="12801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9" name="Text 187"/>
          <p:cNvSpPr txBox="1"/>
          <p:nvPr/>
        </p:nvSpPr>
        <p:spPr>
          <a:xfrm>
            <a:off x="8668512" y="15270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Adviser seats on the U: New Zealand (2)</a:t>
            </a:r>
            <a:endParaRPr lang="en-US" sz="900" dirty="0"/>
          </a:p>
        </p:txBody>
      </p:sp>
      <p:sp>
        <p:nvSpPr>
          <p:cNvPr id="190" name="Shape 188"/>
          <p:cNvSpPr/>
          <p:nvPr/>
        </p:nvSpPr>
        <p:spPr>
          <a:xfrm>
            <a:off x="8458200" y="1801368"/>
            <a:ext cx="128016" cy="128016"/>
          </a:xfrm>
          <a:prstGeom prst="ellipse">
            <a:avLst/>
          </a:prstGeom>
          <a:solidFill>
            <a:srgbClr val="CADCFC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191" name="Text 189"/>
          <p:cNvSpPr txBox="1"/>
          <p:nvPr/>
        </p:nvSpPr>
        <p:spPr>
          <a:xfrm>
            <a:off x="8668512" y="176479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2nd row / rear row: chairs with tables, no table mic</a:t>
            </a:r>
            <a:endParaRPr lang="en-US" sz="900" dirty="0"/>
          </a:p>
        </p:txBody>
      </p:sp>
      <p:sp>
        <p:nvSpPr>
          <p:cNvPr id="192" name="Shape 190"/>
          <p:cNvSpPr/>
          <p:nvPr/>
        </p:nvSpPr>
        <p:spPr>
          <a:xfrm>
            <a:off x="8458200" y="203911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02A2A"/>
            </a:solidFill>
            <a:prstDash val="solid"/>
          </a:ln>
        </p:spPr>
      </p:sp>
      <p:sp>
        <p:nvSpPr>
          <p:cNvPr id="193" name="Text 191"/>
          <p:cNvSpPr txBox="1"/>
          <p:nvPr/>
        </p:nvSpPr>
        <p:spPr>
          <a:xfrm>
            <a:off x="8668512" y="200253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Stand microphone in the aisle (4)</a:t>
            </a:r>
            <a:endParaRPr lang="en-US" sz="900" dirty="0"/>
          </a:p>
        </p:txBody>
      </p:sp>
      <p:sp>
        <p:nvSpPr>
          <p:cNvPr id="194" name="Shape 192"/>
          <p:cNvSpPr/>
          <p:nvPr/>
        </p:nvSpPr>
        <p:spPr>
          <a:xfrm>
            <a:off x="8458200" y="2276856"/>
            <a:ext cx="128016" cy="128016"/>
          </a:xfrm>
          <a:prstGeom prst="rect">
            <a:avLst/>
          </a:prstGeom>
          <a:solidFill>
            <a:srgbClr val="D9B48F"/>
          </a:solidFill>
          <a:ln w="12700">
            <a:solidFill>
              <a:srgbClr val="D9B48F"/>
            </a:solidFill>
            <a:prstDash val="solid"/>
          </a:ln>
        </p:spPr>
      </p:sp>
      <p:sp>
        <p:nvSpPr>
          <p:cNvPr id="195" name="Text 193"/>
          <p:cNvSpPr txBox="1"/>
          <p:nvPr/>
        </p:nvSpPr>
        <p:spPr>
          <a:xfrm>
            <a:off x="8668512" y="22402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Tables</a:t>
            </a:r>
            <a:endParaRPr lang="en-US" sz="900" dirty="0"/>
          </a:p>
        </p:txBody>
      </p:sp>
      <p:sp>
        <p:nvSpPr>
          <p:cNvPr id="196" name="Shape 194"/>
          <p:cNvSpPr/>
          <p:nvPr/>
        </p:nvSpPr>
        <p:spPr>
          <a:xfrm>
            <a:off x="8458200" y="2514600"/>
            <a:ext cx="128016" cy="12801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7" name="Text 195"/>
          <p:cNvSpPr txBox="1"/>
          <p:nvPr/>
        </p:nvSpPr>
        <p:spPr>
          <a:xfrm>
            <a:off x="8668512" y="247802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AV desk (COSEM AV + ADRC Zoom host)</a:t>
            </a:r>
            <a:endParaRPr lang="en-US" sz="900" dirty="0"/>
          </a:p>
        </p:txBody>
      </p:sp>
      <p:sp>
        <p:nvSpPr>
          <p:cNvPr id="198" name="Shape 196"/>
          <p:cNvSpPr/>
          <p:nvPr/>
        </p:nvSpPr>
        <p:spPr>
          <a:xfrm>
            <a:off x="8458200" y="2752344"/>
            <a:ext cx="128016" cy="128016"/>
          </a:xfrm>
          <a:prstGeom prst="rect">
            <a:avLst/>
          </a:prstGeom>
          <a:solidFill>
            <a:srgbClr val="4E8F3A"/>
          </a:solidFill>
          <a:ln w="12700">
            <a:solidFill>
              <a:srgbClr val="4E8F3A"/>
            </a:solidFill>
            <a:prstDash val="solid"/>
          </a:ln>
        </p:spPr>
      </p:sp>
      <p:sp>
        <p:nvSpPr>
          <p:cNvPr id="199" name="Text 197"/>
          <p:cNvSpPr txBox="1"/>
          <p:nvPr/>
        </p:nvSpPr>
        <p:spPr>
          <a:xfrm>
            <a:off x="8668512" y="27157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ADRC Secretariat</a:t>
            </a:r>
            <a:endParaRPr lang="en-US" sz="900" dirty="0"/>
          </a:p>
        </p:txBody>
      </p:sp>
      <p:sp>
        <p:nvSpPr>
          <p:cNvPr id="200" name="Shape 198"/>
          <p:cNvSpPr/>
          <p:nvPr/>
        </p:nvSpPr>
        <p:spPr>
          <a:xfrm>
            <a:off x="8458200" y="2990088"/>
            <a:ext cx="128016" cy="128016"/>
          </a:xfrm>
          <a:prstGeom prst="ellipse">
            <a:avLst/>
          </a:prstGeom>
          <a:solidFill>
            <a:srgbClr val="B02A2A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201" name="Text 199"/>
          <p:cNvSpPr txBox="1"/>
          <p:nvPr/>
        </p:nvSpPr>
        <p:spPr>
          <a:xfrm>
            <a:off x="8668512" y="295351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Zoom camera</a:t>
            </a:r>
            <a:endParaRPr lang="en-US" sz="900" dirty="0"/>
          </a:p>
        </p:txBody>
      </p:sp>
      <p:sp>
        <p:nvSpPr>
          <p:cNvPr id="202" name="Text 200"/>
          <p:cNvSpPr txBox="1"/>
          <p:nvPr/>
        </p:nvSpPr>
        <p:spPr>
          <a:xfrm>
            <a:off x="8458200" y="3282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Notes</a:t>
            </a:r>
            <a:endParaRPr lang="en-US" sz="1200" dirty="0"/>
          </a:p>
        </p:txBody>
      </p:sp>
      <p:sp>
        <p:nvSpPr>
          <p:cNvPr id="203" name="Text 201"/>
          <p:cNvSpPr txBox="1"/>
          <p:nvPr/>
        </p:nvSpPr>
        <p:spPr>
          <a:xfrm>
            <a:off x="8458200" y="3575304"/>
            <a:ext cx="329184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U: 11 seats per leg + 14 on the base = 36 seats at 0.60 m pitch; tables 0.45 m deep; the U is 9.3 m wide × 7.05 m deep, 2.8 m from the screen wall.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Seat order clockwise from the front-left: ADRC (2), Japan (2), Singapore (2), Azerbaijan (2), then member countries alphabetically with 1 or 2 seats each; Bangladesh placed between Azerbaijan and Armenia. New Zealand (adviser) at the front-right end.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Second row: chairs with tables all round the U, 1.2 m aisle between, 4 stand mics in the aisle (no table mics there); about 46 seats. Named: ADRC Executive Director and Director behind seats 1–2, ADPC (2) behind New Zealand, 3rd delegates behind their delegations; observers, invited guests, Japanese companies and general participants elsewhere.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Front area (2.8 m) holds the lectern and, per session, a moderator table or the speakers' table; AV desk front-left, ADRC Secretariat front-right by Door 204.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Depth of 14 m is assumed; a rear row of 22 seats fits if the depth is 15 m or more. Width needed is about 15.3 m of the 15.4 m available.</a:t>
            </a:r>
            <a:endParaRPr lang="en-US" sz="850" dirty="0"/>
          </a:p>
        </p:txBody>
      </p:sp>
      <p:sp>
        <p:nvSpPr>
          <p:cNvPr id="204" name="Text 202"/>
          <p:cNvSpPr txBox="1"/>
          <p:nvPr/>
        </p:nvSpPr>
        <p:spPr>
          <a:xfrm>
            <a:off x="411480" y="6601968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ADRC proposal, 7 Sep 2026 rev. 3 (draft for COSEM/SCDF/EXPO). Room width 15.4 m from the EXPO floorplan of 28 Jul 2026 (Option 2); seat pitch 0.60 m; room depth 14 m assumed for Peridot 202–205 — EXPO to confirm and redraw to scale.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Seat allocation on the U (36 seats, clockwise from front-left)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registration list of 4 Sep 2026; "tbc" = expected but not yet registered. Second delegates beyond 2 per country sit in the second row.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385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188720"/>
                <a:gridCol w="4023360"/>
                <a:gridCol w="457200"/>
                <a:gridCol w="1188720"/>
                <a:gridCol w="402336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Delegate (registered 4 Sep / expected)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Delegate (registered 4 Sep / expected)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Chairman Prof. MIURA Fusanori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 Nyambayar Tsedev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Managing Director Mr KITAMOTO Masayuki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Pakistan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 Muhammad Tahir Iqbal Malik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Japan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Vice Minister Mr HAYASHI Masamichi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Pakistan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 Shahzad Saleem Malik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Japan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Director Mr MITARAI Tetsuo (Cabinet Office)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 Lusete Laso Mana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Singapore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Commissioner SCDF Mr Eric Yap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 Roland Kopeap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Singapore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COSEM (Mr Leow Chew Hong)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Philippines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Azerbaijan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 Niyazi Zamanov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Philippines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Azerbaijan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 Kamran Rustamzade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Sri Lanka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 Gen (Retd) Nipul Sampath Kotuwegoda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Bangladesh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 A B M Shafiqul Haider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Thailand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Armenia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Syuzanna Kakoyan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Thailand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Cambodia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H.E. Ma Norith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Türkiye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 Ali Hamza Pehlivan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Fiji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 Naipolioni Boseiwaqa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Türkiye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 Muhammet Maruf Yaman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Wg Cdr Krishnan B Sandeep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Uzbekistan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tbc (speaker)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 Ashutosh Awasthi (3rd: Mr Govind Prasad Uniyal, 2nd row)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Uzbekistan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Korea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So Byungim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Viet Nam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 Nguyen Truong 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Korea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tbc (delegation of 3 expected)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Viet Nam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 Nguyen Ba Nam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Malaysia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 Ezrin Rozani Bin Rosli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Zealand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 David Gawn (Chief Executive, NEMA)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Maldives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 Hassan Hisan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Zealand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 Stefan Michie (3rd: Mr Stuart Meiklejohn, 2nd row)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11480" y="5806440"/>
            <a:ext cx="11338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Not on the U: 3rd delegates (India, New Zealand, Korea), observers (ADPC 2, AHA Centre, Indonesia), invited guests (Sendai City, universities), Japanese exhibitors and general participants → second row and rear row with tables; stand mics in the aisle for interventions. Armenia and Azerbaijan are not adjacent (Bangladesh between them). Named second-row seats: ADRC Executive Director Mr MIYAKI and Director Ms KODAMA directly behind seats 1–2; ADPC (2, observer) behind New Zealand (seats 35–36); 3rd delegates of India and New Zealand behind their delegations.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6601968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ADRC proposal, 7 Sep 2026 rev. 3 (draft for COSEM/SCDF/EXPO). Room width 15.4 m from the EXPO floorplan of 28 Jul 2026 (Option 2); seat pitch 0.60 m; room depth 14 m assumed for Peridot 202–205 — EXPO to confirm and redraw to scale.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ACDR Opening (Day 1, 12:45) and ACDR Closing (Day 2, 11:45)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remarks from the lectern; speakers return to their U seats (ADRC / Japan / Singapore at the front-left); group photo in front of the screens.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325880" y="1325880"/>
            <a:ext cx="4506163" cy="4096512"/>
          </a:xfrm>
          <a:prstGeom prst="rect">
            <a:avLst/>
          </a:prstGeom>
          <a:solidFill>
            <a:srgbClr val="F4F6FA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935224" y="1143000"/>
            <a:ext cx="12874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FRONT (screen wall)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706270" y="1344168"/>
            <a:ext cx="1024128" cy="82296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706270" y="1435608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3864"/>
                </a:solidFill>
              </a:rPr>
              <a:t>Screen L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4427525" y="1344168"/>
            <a:ext cx="1024128" cy="82296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27525" y="1435608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3864"/>
                </a:solidFill>
              </a:rPr>
              <a:t>Screen R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289304" y="1911096"/>
            <a:ext cx="73152" cy="35113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" y="20025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</a:rPr>
              <a:t>Door 203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1289304" y="4105656"/>
            <a:ext cx="73152" cy="35113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" y="419709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</a:rPr>
              <a:t>Door 202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5795467" y="1911096"/>
            <a:ext cx="73152" cy="35113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05195" y="20025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</a:rPr>
              <a:t>Door 204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795467" y="4105656"/>
            <a:ext cx="73152" cy="35113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05195" y="419709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</a:rPr>
              <a:t>Door 205</a:t>
            </a:r>
            <a:endParaRPr lang="en-US" sz="600" dirty="0"/>
          </a:p>
        </p:txBody>
      </p:sp>
      <p:sp>
        <p:nvSpPr>
          <p:cNvPr id="18" name="Text 16"/>
          <p:cNvSpPr txBox="1"/>
          <p:nvPr/>
        </p:nvSpPr>
        <p:spPr>
          <a:xfrm>
            <a:off x="1384402" y="1501445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99999"/>
                </a:solidFill>
              </a:rPr>
              <a:t>Peridot 203</a:t>
            </a:r>
            <a:endParaRPr lang="en-US" sz="550" dirty="0"/>
          </a:p>
        </p:txBody>
      </p:sp>
      <p:sp>
        <p:nvSpPr>
          <p:cNvPr id="19" name="Text 17"/>
          <p:cNvSpPr txBox="1"/>
          <p:nvPr/>
        </p:nvSpPr>
        <p:spPr>
          <a:xfrm>
            <a:off x="5159045" y="1501445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999999"/>
                </a:solidFill>
              </a:rPr>
              <a:t>Peridot 204</a:t>
            </a:r>
            <a:endParaRPr lang="en-US" sz="550" dirty="0"/>
          </a:p>
        </p:txBody>
      </p:sp>
      <p:sp>
        <p:nvSpPr>
          <p:cNvPr id="20" name="Text 18"/>
          <p:cNvSpPr txBox="1"/>
          <p:nvPr/>
        </p:nvSpPr>
        <p:spPr>
          <a:xfrm>
            <a:off x="1384402" y="3842309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99999"/>
                </a:solidFill>
              </a:rPr>
              <a:t>Peridot 202</a:t>
            </a:r>
            <a:endParaRPr lang="en-US" sz="550" dirty="0"/>
          </a:p>
        </p:txBody>
      </p:sp>
      <p:sp>
        <p:nvSpPr>
          <p:cNvPr id="21" name="Text 19"/>
          <p:cNvSpPr txBox="1"/>
          <p:nvPr/>
        </p:nvSpPr>
        <p:spPr>
          <a:xfrm>
            <a:off x="5159045" y="3842309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999999"/>
                </a:solidFill>
              </a:rPr>
              <a:t>Peridot 205</a:t>
            </a:r>
            <a:endParaRPr lang="en-US" sz="55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440680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</a:rPr>
              <a:t>BACK (wall to NOT-IN-USE block)</a:t>
            </a:r>
            <a:endParaRPr lang="en-US" sz="600" dirty="0"/>
          </a:p>
        </p:txBody>
      </p:sp>
      <p:sp>
        <p:nvSpPr>
          <p:cNvPr id="23" name="Text 21"/>
          <p:cNvSpPr txBox="1"/>
          <p:nvPr/>
        </p:nvSpPr>
        <p:spPr>
          <a:xfrm>
            <a:off x="3783787" y="5440680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</a:rPr>
              <a:t>Coffee break (Option 1) in the foyer on this side →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1501445" y="1647749"/>
            <a:ext cx="526694" cy="234086"/>
          </a:xfrm>
          <a:prstGeom prst="rect">
            <a:avLst/>
          </a:prstGeom>
          <a:solidFill>
            <a:srgbClr val="0E7C7B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1445" y="1647749"/>
            <a:ext cx="526694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AV desk +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Zoom host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5159045" y="1647749"/>
            <a:ext cx="468173" cy="526694"/>
          </a:xfrm>
          <a:prstGeom prst="rect">
            <a:avLst/>
          </a:prstGeom>
          <a:solidFill>
            <a:srgbClr val="4E8F3A"/>
          </a:solidFill>
          <a:ln w="9525">
            <a:solidFill>
              <a:srgbClr val="4E8F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59045" y="1647749"/>
            <a:ext cx="468173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ADRC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Secre-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tariat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3505810" y="5217566"/>
            <a:ext cx="146304" cy="146304"/>
          </a:xfrm>
          <a:prstGeom prst="ellipse">
            <a:avLst/>
          </a:prstGeom>
          <a:solidFill>
            <a:srgbClr val="B02A2A"/>
          </a:solidFill>
          <a:ln w="12700">
            <a:solidFill>
              <a:srgbClr val="B02A2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670402" y="520293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B02A2A"/>
                </a:solidFill>
              </a:rPr>
              <a:t>Zoom camera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3140050" y="1735531"/>
            <a:ext cx="204826" cy="146304"/>
          </a:xfrm>
          <a:prstGeom prst="rect">
            <a:avLst/>
          </a:prstGeom>
          <a:solidFill>
            <a:srgbClr val="EAD7B5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02890" y="1911096"/>
            <a:ext cx="47914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Lectern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2218334" y="2145182"/>
            <a:ext cx="131674" cy="1931213"/>
          </a:xfrm>
          <a:prstGeom prst="rect">
            <a:avLst/>
          </a:prstGeom>
          <a:solidFill>
            <a:srgbClr val="D9B48F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76242" y="2145182"/>
            <a:ext cx="131674" cy="1931213"/>
          </a:xfrm>
          <a:prstGeom prst="rect">
            <a:avLst/>
          </a:prstGeom>
          <a:solidFill>
            <a:srgbClr val="D9B48F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18334" y="4076395"/>
            <a:ext cx="2589581" cy="131674"/>
          </a:xfrm>
          <a:prstGeom prst="rect">
            <a:avLst/>
          </a:prstGeom>
          <a:solidFill>
            <a:srgbClr val="D9B48F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56486" y="2173529"/>
            <a:ext cx="118872" cy="118872"/>
          </a:xfrm>
          <a:prstGeom prst="rect">
            <a:avLst/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386584" y="2159813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ADRC</a:t>
            </a:r>
            <a:endParaRPr lang="en-US" sz="550" dirty="0"/>
          </a:p>
        </p:txBody>
      </p:sp>
      <p:sp>
        <p:nvSpPr>
          <p:cNvPr id="37" name="Shape 35"/>
          <p:cNvSpPr/>
          <p:nvPr/>
        </p:nvSpPr>
        <p:spPr>
          <a:xfrm>
            <a:off x="2056486" y="2349094"/>
            <a:ext cx="118872" cy="118872"/>
          </a:xfrm>
          <a:prstGeom prst="rect">
            <a:avLst/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386584" y="233537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ADRC</a:t>
            </a:r>
            <a:endParaRPr lang="en-US" sz="550" dirty="0"/>
          </a:p>
        </p:txBody>
      </p:sp>
      <p:sp>
        <p:nvSpPr>
          <p:cNvPr id="39" name="Shape 37"/>
          <p:cNvSpPr/>
          <p:nvPr/>
        </p:nvSpPr>
        <p:spPr>
          <a:xfrm>
            <a:off x="2056486" y="2524658"/>
            <a:ext cx="118872" cy="118872"/>
          </a:xfrm>
          <a:prstGeom prst="rect">
            <a:avLst/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386584" y="251094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JPN</a:t>
            </a:r>
            <a:endParaRPr lang="en-US" sz="550" dirty="0"/>
          </a:p>
        </p:txBody>
      </p:sp>
      <p:sp>
        <p:nvSpPr>
          <p:cNvPr id="41" name="Shape 39"/>
          <p:cNvSpPr/>
          <p:nvPr/>
        </p:nvSpPr>
        <p:spPr>
          <a:xfrm>
            <a:off x="2056486" y="2700223"/>
            <a:ext cx="118872" cy="118872"/>
          </a:xfrm>
          <a:prstGeom prst="rect">
            <a:avLst/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386584" y="2686507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JPN</a:t>
            </a:r>
            <a:endParaRPr lang="en-US" sz="550" dirty="0"/>
          </a:p>
        </p:txBody>
      </p:sp>
      <p:sp>
        <p:nvSpPr>
          <p:cNvPr id="43" name="Shape 41"/>
          <p:cNvSpPr/>
          <p:nvPr/>
        </p:nvSpPr>
        <p:spPr>
          <a:xfrm>
            <a:off x="2056486" y="2875788"/>
            <a:ext cx="118872" cy="118872"/>
          </a:xfrm>
          <a:prstGeom prst="rect">
            <a:avLst/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386584" y="28620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SGP</a:t>
            </a:r>
            <a:endParaRPr lang="en-US" sz="550" dirty="0"/>
          </a:p>
        </p:txBody>
      </p:sp>
      <p:sp>
        <p:nvSpPr>
          <p:cNvPr id="45" name="Shape 43"/>
          <p:cNvSpPr/>
          <p:nvPr/>
        </p:nvSpPr>
        <p:spPr>
          <a:xfrm>
            <a:off x="2056486" y="3051353"/>
            <a:ext cx="118872" cy="118872"/>
          </a:xfrm>
          <a:prstGeom prst="rect">
            <a:avLst/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386584" y="3037637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SGP</a:t>
            </a:r>
            <a:endParaRPr lang="en-US" sz="550" dirty="0"/>
          </a:p>
        </p:txBody>
      </p:sp>
      <p:sp>
        <p:nvSpPr>
          <p:cNvPr id="47" name="Shape 45"/>
          <p:cNvSpPr/>
          <p:nvPr/>
        </p:nvSpPr>
        <p:spPr>
          <a:xfrm>
            <a:off x="2056486" y="3226918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386584" y="321320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AZE</a:t>
            </a:r>
            <a:endParaRPr lang="en-US" sz="550" dirty="0"/>
          </a:p>
        </p:txBody>
      </p:sp>
      <p:sp>
        <p:nvSpPr>
          <p:cNvPr id="49" name="Shape 47"/>
          <p:cNvSpPr/>
          <p:nvPr/>
        </p:nvSpPr>
        <p:spPr>
          <a:xfrm>
            <a:off x="2056486" y="3402482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386584" y="338876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AZE</a:t>
            </a:r>
            <a:endParaRPr lang="en-US" sz="550" dirty="0"/>
          </a:p>
        </p:txBody>
      </p:sp>
      <p:sp>
        <p:nvSpPr>
          <p:cNvPr id="51" name="Shape 49"/>
          <p:cNvSpPr/>
          <p:nvPr/>
        </p:nvSpPr>
        <p:spPr>
          <a:xfrm>
            <a:off x="2056486" y="3578047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386584" y="3564331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BGD</a:t>
            </a:r>
            <a:endParaRPr lang="en-US" sz="550" dirty="0"/>
          </a:p>
        </p:txBody>
      </p:sp>
      <p:sp>
        <p:nvSpPr>
          <p:cNvPr id="53" name="Shape 51"/>
          <p:cNvSpPr/>
          <p:nvPr/>
        </p:nvSpPr>
        <p:spPr>
          <a:xfrm>
            <a:off x="2056486" y="3753612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2386584" y="373989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ARM</a:t>
            </a:r>
            <a:endParaRPr lang="en-US" sz="550" dirty="0"/>
          </a:p>
        </p:txBody>
      </p:sp>
      <p:sp>
        <p:nvSpPr>
          <p:cNvPr id="55" name="Shape 53"/>
          <p:cNvSpPr/>
          <p:nvPr/>
        </p:nvSpPr>
        <p:spPr>
          <a:xfrm>
            <a:off x="2056486" y="3929177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2386584" y="3915461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KHM</a:t>
            </a:r>
            <a:endParaRPr lang="en-US" sz="550" dirty="0"/>
          </a:p>
        </p:txBody>
      </p:sp>
      <p:sp>
        <p:nvSpPr>
          <p:cNvPr id="57" name="Shape 55"/>
          <p:cNvSpPr/>
          <p:nvPr/>
        </p:nvSpPr>
        <p:spPr>
          <a:xfrm>
            <a:off x="2378354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 rot="16200000">
            <a:off x="2337206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FJI</a:t>
            </a:r>
            <a:endParaRPr lang="en-US" sz="550" dirty="0"/>
          </a:p>
        </p:txBody>
      </p:sp>
      <p:sp>
        <p:nvSpPr>
          <p:cNvPr id="59" name="Shape 57"/>
          <p:cNvSpPr/>
          <p:nvPr/>
        </p:nvSpPr>
        <p:spPr>
          <a:xfrm>
            <a:off x="2553919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 rot="16200000">
            <a:off x="2512771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IND</a:t>
            </a:r>
            <a:endParaRPr lang="en-US" sz="550" dirty="0"/>
          </a:p>
        </p:txBody>
      </p:sp>
      <p:sp>
        <p:nvSpPr>
          <p:cNvPr id="61" name="Shape 59"/>
          <p:cNvSpPr/>
          <p:nvPr/>
        </p:nvSpPr>
        <p:spPr>
          <a:xfrm>
            <a:off x="2729484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 rot="16200000">
            <a:off x="2688336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IND</a:t>
            </a:r>
            <a:endParaRPr lang="en-US" sz="550" dirty="0"/>
          </a:p>
        </p:txBody>
      </p:sp>
      <p:sp>
        <p:nvSpPr>
          <p:cNvPr id="63" name="Shape 61"/>
          <p:cNvSpPr/>
          <p:nvPr/>
        </p:nvSpPr>
        <p:spPr>
          <a:xfrm>
            <a:off x="2905049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 rot="16200000">
            <a:off x="2863901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KOR</a:t>
            </a:r>
            <a:endParaRPr lang="en-US" sz="550" dirty="0"/>
          </a:p>
        </p:txBody>
      </p:sp>
      <p:sp>
        <p:nvSpPr>
          <p:cNvPr id="65" name="Shape 63"/>
          <p:cNvSpPr/>
          <p:nvPr/>
        </p:nvSpPr>
        <p:spPr>
          <a:xfrm>
            <a:off x="3080614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 rot="16200000">
            <a:off x="3039466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KOR</a:t>
            </a:r>
            <a:endParaRPr lang="en-US" sz="550" dirty="0"/>
          </a:p>
        </p:txBody>
      </p:sp>
      <p:sp>
        <p:nvSpPr>
          <p:cNvPr id="67" name="Shape 65"/>
          <p:cNvSpPr/>
          <p:nvPr/>
        </p:nvSpPr>
        <p:spPr>
          <a:xfrm>
            <a:off x="3256178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 rot="16200000">
            <a:off x="3215030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MYS</a:t>
            </a:r>
            <a:endParaRPr lang="en-US" sz="550" dirty="0"/>
          </a:p>
        </p:txBody>
      </p:sp>
      <p:sp>
        <p:nvSpPr>
          <p:cNvPr id="69" name="Shape 67"/>
          <p:cNvSpPr/>
          <p:nvPr/>
        </p:nvSpPr>
        <p:spPr>
          <a:xfrm>
            <a:off x="3431743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 rot="16200000">
            <a:off x="3390595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MDV</a:t>
            </a:r>
            <a:endParaRPr lang="en-US" sz="550" dirty="0"/>
          </a:p>
        </p:txBody>
      </p:sp>
      <p:sp>
        <p:nvSpPr>
          <p:cNvPr id="71" name="Shape 69"/>
          <p:cNvSpPr/>
          <p:nvPr/>
        </p:nvSpPr>
        <p:spPr>
          <a:xfrm>
            <a:off x="3607308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 rot="16200000">
            <a:off x="3566160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MNG</a:t>
            </a:r>
            <a:endParaRPr lang="en-US" sz="550" dirty="0"/>
          </a:p>
        </p:txBody>
      </p:sp>
      <p:sp>
        <p:nvSpPr>
          <p:cNvPr id="73" name="Shape 71"/>
          <p:cNvSpPr/>
          <p:nvPr/>
        </p:nvSpPr>
        <p:spPr>
          <a:xfrm>
            <a:off x="3782873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 rot="16200000">
            <a:off x="3741725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PAK</a:t>
            </a:r>
            <a:endParaRPr lang="en-US" sz="550" dirty="0"/>
          </a:p>
        </p:txBody>
      </p:sp>
      <p:sp>
        <p:nvSpPr>
          <p:cNvPr id="75" name="Shape 73"/>
          <p:cNvSpPr/>
          <p:nvPr/>
        </p:nvSpPr>
        <p:spPr>
          <a:xfrm>
            <a:off x="3958438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 rot="16200000">
            <a:off x="3917290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PAK</a:t>
            </a:r>
            <a:endParaRPr lang="en-US" sz="550" dirty="0"/>
          </a:p>
        </p:txBody>
      </p:sp>
      <p:sp>
        <p:nvSpPr>
          <p:cNvPr id="77" name="Shape 75"/>
          <p:cNvSpPr/>
          <p:nvPr/>
        </p:nvSpPr>
        <p:spPr>
          <a:xfrm>
            <a:off x="4134002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 rot="16200000">
            <a:off x="4092854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PNG</a:t>
            </a:r>
            <a:endParaRPr lang="en-US" sz="550" dirty="0"/>
          </a:p>
        </p:txBody>
      </p:sp>
      <p:sp>
        <p:nvSpPr>
          <p:cNvPr id="79" name="Shape 77"/>
          <p:cNvSpPr/>
          <p:nvPr/>
        </p:nvSpPr>
        <p:spPr>
          <a:xfrm>
            <a:off x="4309567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 rot="16200000">
            <a:off x="4268419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PNG</a:t>
            </a:r>
            <a:endParaRPr lang="en-US" sz="550" dirty="0"/>
          </a:p>
        </p:txBody>
      </p:sp>
      <p:sp>
        <p:nvSpPr>
          <p:cNvPr id="81" name="Shape 79"/>
          <p:cNvSpPr/>
          <p:nvPr/>
        </p:nvSpPr>
        <p:spPr>
          <a:xfrm>
            <a:off x="4485132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 rot="16200000">
            <a:off x="4443984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PHL</a:t>
            </a:r>
            <a:endParaRPr lang="en-US" sz="550" dirty="0"/>
          </a:p>
        </p:txBody>
      </p:sp>
      <p:sp>
        <p:nvSpPr>
          <p:cNvPr id="83" name="Shape 81"/>
          <p:cNvSpPr/>
          <p:nvPr/>
        </p:nvSpPr>
        <p:spPr>
          <a:xfrm>
            <a:off x="4660697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 rot="16200000">
            <a:off x="4619549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PHL</a:t>
            </a:r>
            <a:endParaRPr lang="en-US" sz="550" dirty="0"/>
          </a:p>
        </p:txBody>
      </p:sp>
      <p:sp>
        <p:nvSpPr>
          <p:cNvPr id="85" name="Shape 83"/>
          <p:cNvSpPr/>
          <p:nvPr/>
        </p:nvSpPr>
        <p:spPr>
          <a:xfrm>
            <a:off x="4850892" y="3929177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4228186" y="3915461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LKA</a:t>
            </a:r>
            <a:endParaRPr lang="en-US" sz="550" dirty="0"/>
          </a:p>
        </p:txBody>
      </p:sp>
      <p:sp>
        <p:nvSpPr>
          <p:cNvPr id="87" name="Shape 85"/>
          <p:cNvSpPr/>
          <p:nvPr/>
        </p:nvSpPr>
        <p:spPr>
          <a:xfrm>
            <a:off x="4850892" y="3753612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4228186" y="373989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THA</a:t>
            </a:r>
            <a:endParaRPr lang="en-US" sz="550" dirty="0"/>
          </a:p>
        </p:txBody>
      </p:sp>
      <p:sp>
        <p:nvSpPr>
          <p:cNvPr id="89" name="Shape 87"/>
          <p:cNvSpPr/>
          <p:nvPr/>
        </p:nvSpPr>
        <p:spPr>
          <a:xfrm>
            <a:off x="4850892" y="3578047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4228186" y="3564331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THA</a:t>
            </a:r>
            <a:endParaRPr lang="en-US" sz="550" dirty="0"/>
          </a:p>
        </p:txBody>
      </p:sp>
      <p:sp>
        <p:nvSpPr>
          <p:cNvPr id="91" name="Shape 89"/>
          <p:cNvSpPr/>
          <p:nvPr/>
        </p:nvSpPr>
        <p:spPr>
          <a:xfrm>
            <a:off x="4850892" y="3402482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4228186" y="338876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TUR</a:t>
            </a:r>
            <a:endParaRPr lang="en-US" sz="550" dirty="0"/>
          </a:p>
        </p:txBody>
      </p:sp>
      <p:sp>
        <p:nvSpPr>
          <p:cNvPr id="93" name="Shape 91"/>
          <p:cNvSpPr/>
          <p:nvPr/>
        </p:nvSpPr>
        <p:spPr>
          <a:xfrm>
            <a:off x="4850892" y="3226918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4228186" y="321320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TUR</a:t>
            </a:r>
            <a:endParaRPr lang="en-US" sz="550" dirty="0"/>
          </a:p>
        </p:txBody>
      </p:sp>
      <p:sp>
        <p:nvSpPr>
          <p:cNvPr id="95" name="Shape 93"/>
          <p:cNvSpPr/>
          <p:nvPr/>
        </p:nvSpPr>
        <p:spPr>
          <a:xfrm>
            <a:off x="4850892" y="3051353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4228186" y="3037637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UZB</a:t>
            </a:r>
            <a:endParaRPr lang="en-US" sz="550" dirty="0"/>
          </a:p>
        </p:txBody>
      </p:sp>
      <p:sp>
        <p:nvSpPr>
          <p:cNvPr id="97" name="Shape 95"/>
          <p:cNvSpPr/>
          <p:nvPr/>
        </p:nvSpPr>
        <p:spPr>
          <a:xfrm>
            <a:off x="4850892" y="2875788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4228186" y="28620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UZB</a:t>
            </a:r>
            <a:endParaRPr lang="en-US" sz="550" dirty="0"/>
          </a:p>
        </p:txBody>
      </p:sp>
      <p:sp>
        <p:nvSpPr>
          <p:cNvPr id="99" name="Shape 97"/>
          <p:cNvSpPr/>
          <p:nvPr/>
        </p:nvSpPr>
        <p:spPr>
          <a:xfrm>
            <a:off x="4850892" y="2700223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4228186" y="2686507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VNM</a:t>
            </a:r>
            <a:endParaRPr lang="en-US" sz="550" dirty="0"/>
          </a:p>
        </p:txBody>
      </p:sp>
      <p:sp>
        <p:nvSpPr>
          <p:cNvPr id="101" name="Shape 99"/>
          <p:cNvSpPr/>
          <p:nvPr/>
        </p:nvSpPr>
        <p:spPr>
          <a:xfrm>
            <a:off x="4850892" y="2524658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4228186" y="251094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VNM</a:t>
            </a:r>
            <a:endParaRPr lang="en-US" sz="550" dirty="0"/>
          </a:p>
        </p:txBody>
      </p:sp>
      <p:sp>
        <p:nvSpPr>
          <p:cNvPr id="103" name="Shape 101"/>
          <p:cNvSpPr/>
          <p:nvPr/>
        </p:nvSpPr>
        <p:spPr>
          <a:xfrm>
            <a:off x="4850892" y="2349094"/>
            <a:ext cx="118872" cy="118872"/>
          </a:xfrm>
          <a:prstGeom prst="rect">
            <a:avLst/>
          </a:prstGeom>
          <a:solidFill>
            <a:srgbClr val="0E7C7B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4228186" y="233537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NZL</a:t>
            </a:r>
            <a:endParaRPr lang="en-US" sz="550" dirty="0"/>
          </a:p>
        </p:txBody>
      </p:sp>
      <p:sp>
        <p:nvSpPr>
          <p:cNvPr id="105" name="Shape 103"/>
          <p:cNvSpPr/>
          <p:nvPr/>
        </p:nvSpPr>
        <p:spPr>
          <a:xfrm>
            <a:off x="4850892" y="2173529"/>
            <a:ext cx="118872" cy="118872"/>
          </a:xfrm>
          <a:prstGeom prst="rect">
            <a:avLst/>
          </a:prstGeom>
          <a:solidFill>
            <a:srgbClr val="0E7C7B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4228186" y="2159813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NZL</a:t>
            </a:r>
            <a:endParaRPr lang="en-US" sz="550" dirty="0"/>
          </a:p>
        </p:txBody>
      </p:sp>
      <p:sp>
        <p:nvSpPr>
          <p:cNvPr id="107" name="Shape 105"/>
          <p:cNvSpPr/>
          <p:nvPr/>
        </p:nvSpPr>
        <p:spPr>
          <a:xfrm>
            <a:off x="1530706" y="2145182"/>
            <a:ext cx="131674" cy="2618842"/>
          </a:xfrm>
          <a:prstGeom prst="rect">
            <a:avLst/>
          </a:prstGeom>
          <a:solidFill>
            <a:srgbClr val="D9B48F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363870" y="2145182"/>
            <a:ext cx="131674" cy="2618842"/>
          </a:xfrm>
          <a:prstGeom prst="rect">
            <a:avLst/>
          </a:prstGeom>
          <a:solidFill>
            <a:srgbClr val="D9B48F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530706" y="4764024"/>
            <a:ext cx="3964838" cy="131674"/>
          </a:xfrm>
          <a:prstGeom prst="rect">
            <a:avLst/>
          </a:prstGeom>
          <a:solidFill>
            <a:srgbClr val="D9B48F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378001" y="2182673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547665" y="2182673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378001" y="235823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547665" y="235823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378001" y="2533802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547665" y="2533802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378001" y="2709367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547665" y="2709367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378001" y="2884932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547665" y="2884932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378001" y="3060497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547665" y="3060497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378001" y="3236062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547665" y="3236062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378001" y="3411626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547665" y="3411626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378001" y="3587191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547665" y="3587191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378001" y="3762756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547665" y="3762756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378001" y="3938321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547665" y="3938321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378001" y="4113886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547665" y="4113886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378001" y="4289450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547665" y="4289450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378001" y="4465015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547665" y="4465015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699870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875434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050999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226564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402129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577694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753258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2928823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104388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3279953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3455518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3631082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3806647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3982212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4157777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4333342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4508906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4684471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4860036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035601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211166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841602" y="3055925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02A2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074920" y="3055925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02A2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3032516" y="4475074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02A2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4015679" y="4475074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02A2A"/>
            </a:solidFill>
            <a:prstDash val="solid"/>
          </a:ln>
        </p:spPr>
      </p:sp>
      <p:sp>
        <p:nvSpPr>
          <p:cNvPr id="163" name="Text 161"/>
          <p:cNvSpPr txBox="1"/>
          <p:nvPr/>
        </p:nvSpPr>
        <p:spPr>
          <a:xfrm>
            <a:off x="806501" y="2159813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666666"/>
                </a:solidFill>
              </a:rPr>
              <a:t>MIYAKI (ED)</a:t>
            </a:r>
            <a:endParaRPr lang="en-US" sz="500" dirty="0"/>
          </a:p>
        </p:txBody>
      </p:sp>
      <p:sp>
        <p:nvSpPr>
          <p:cNvPr id="164" name="Text 162"/>
          <p:cNvSpPr txBox="1"/>
          <p:nvPr/>
        </p:nvSpPr>
        <p:spPr>
          <a:xfrm>
            <a:off x="806501" y="233537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666666"/>
                </a:solidFill>
              </a:rPr>
              <a:t>KODAMA (Dir.)</a:t>
            </a:r>
            <a:endParaRPr lang="en-US" sz="500" dirty="0"/>
          </a:p>
        </p:txBody>
      </p:sp>
      <p:sp>
        <p:nvSpPr>
          <p:cNvPr id="165" name="Text 163"/>
          <p:cNvSpPr txBox="1"/>
          <p:nvPr/>
        </p:nvSpPr>
        <p:spPr>
          <a:xfrm>
            <a:off x="5671109" y="2159813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666666"/>
                </a:solidFill>
              </a:rPr>
              <a:t>ADPC</a:t>
            </a:r>
            <a:endParaRPr lang="en-US" sz="500" dirty="0"/>
          </a:p>
        </p:txBody>
      </p:sp>
      <p:sp>
        <p:nvSpPr>
          <p:cNvPr id="166" name="Text 164"/>
          <p:cNvSpPr txBox="1"/>
          <p:nvPr/>
        </p:nvSpPr>
        <p:spPr>
          <a:xfrm>
            <a:off x="5671109" y="233537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666666"/>
                </a:solidFill>
              </a:rPr>
              <a:t>ADPC</a:t>
            </a:r>
            <a:endParaRPr lang="en-US" sz="500" dirty="0"/>
          </a:p>
        </p:txBody>
      </p:sp>
      <p:sp>
        <p:nvSpPr>
          <p:cNvPr id="167" name="Text 165"/>
          <p:cNvSpPr txBox="1"/>
          <p:nvPr/>
        </p:nvSpPr>
        <p:spPr>
          <a:xfrm>
            <a:off x="5671109" y="251094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666666"/>
                </a:solidFill>
              </a:rPr>
              <a:t>NZ 3rd</a:t>
            </a:r>
            <a:endParaRPr lang="en-US" sz="500" dirty="0"/>
          </a:p>
        </p:txBody>
      </p:sp>
      <p:sp>
        <p:nvSpPr>
          <p:cNvPr id="168" name="Text 166"/>
          <p:cNvSpPr txBox="1"/>
          <p:nvPr/>
        </p:nvSpPr>
        <p:spPr>
          <a:xfrm>
            <a:off x="1784909" y="508955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66666"/>
                </a:solidFill>
              </a:rPr>
              <a:t>IND 3rd</a:t>
            </a:r>
            <a:endParaRPr lang="en-US" sz="500" dirty="0"/>
          </a:p>
        </p:txBody>
      </p:sp>
      <p:sp>
        <p:nvSpPr>
          <p:cNvPr id="169" name="Shape 167"/>
          <p:cNvSpPr/>
          <p:nvPr/>
        </p:nvSpPr>
        <p:spPr>
          <a:xfrm>
            <a:off x="2437790" y="1969618"/>
            <a:ext cx="2282342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0" name="Text 168"/>
          <p:cNvSpPr txBox="1"/>
          <p:nvPr/>
        </p:nvSpPr>
        <p:spPr>
          <a:xfrm>
            <a:off x="2437790" y="2061058"/>
            <a:ext cx="228234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9A227"/>
                </a:solidFill>
              </a:rPr>
              <a:t>Group photo line after the Opening (VIPs, heads of delegation)</a:t>
            </a:r>
            <a:endParaRPr lang="en-US" sz="600" dirty="0"/>
          </a:p>
        </p:txBody>
      </p:sp>
      <p:sp>
        <p:nvSpPr>
          <p:cNvPr id="171" name="Shape 169"/>
          <p:cNvSpPr/>
          <p:nvPr/>
        </p:nvSpPr>
        <p:spPr>
          <a:xfrm>
            <a:off x="4837176" y="5071262"/>
            <a:ext cx="702259" cy="263347"/>
          </a:xfrm>
          <a:prstGeom prst="rect">
            <a:avLst/>
          </a:prstGeom>
          <a:solidFill>
            <a:srgbClr val="FFFFFF"/>
          </a:solidFill>
          <a:ln w="12700">
            <a:solidFill>
              <a:srgbClr val="B02A2A"/>
            </a:solidFill>
            <a:prstDash val="solid"/>
          </a:ln>
        </p:spPr>
      </p:sp>
      <p:sp>
        <p:nvSpPr>
          <p:cNvPr id="172" name="Text 170"/>
          <p:cNvSpPr txBox="1"/>
          <p:nvPr/>
        </p:nvSpPr>
        <p:spPr>
          <a:xfrm>
            <a:off x="4837176" y="5071262"/>
            <a:ext cx="702259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B02A2A"/>
                </a:solidFill>
              </a:rPr>
              <a:t>Press / photo</a:t>
            </a:r>
            <a:endParaRPr lang="en-US" sz="600" dirty="0"/>
          </a:p>
        </p:txBody>
      </p:sp>
      <p:sp>
        <p:nvSpPr>
          <p:cNvPr id="173" name="Shape 171"/>
          <p:cNvSpPr/>
          <p:nvPr/>
        </p:nvSpPr>
        <p:spPr>
          <a:xfrm>
            <a:off x="8458200" y="1088136"/>
            <a:ext cx="128016" cy="12801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4" name="Text 172"/>
          <p:cNvSpPr txBox="1"/>
          <p:nvPr/>
        </p:nvSpPr>
        <p:spPr>
          <a:xfrm>
            <a:off x="8668512" y="10515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Host seats on the U: ADRC, Japan, Singapore (6)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8458200" y="1325880"/>
            <a:ext cx="128016" cy="12801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6" name="Text 174"/>
          <p:cNvSpPr txBox="1"/>
          <p:nvPr/>
        </p:nvSpPr>
        <p:spPr>
          <a:xfrm>
            <a:off x="8668512" y="128930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Member-country seats on the U (28), table mics</a:t>
            </a:r>
            <a:endParaRPr lang="en-US" sz="900" dirty="0"/>
          </a:p>
        </p:txBody>
      </p:sp>
      <p:sp>
        <p:nvSpPr>
          <p:cNvPr id="177" name="Shape 175"/>
          <p:cNvSpPr/>
          <p:nvPr/>
        </p:nvSpPr>
        <p:spPr>
          <a:xfrm>
            <a:off x="8458200" y="1563624"/>
            <a:ext cx="128016" cy="12801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8" name="Text 176"/>
          <p:cNvSpPr txBox="1"/>
          <p:nvPr/>
        </p:nvSpPr>
        <p:spPr>
          <a:xfrm>
            <a:off x="8668512" y="15270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Adviser seats on the U: New Zealand (2)</a:t>
            </a:r>
            <a:endParaRPr lang="en-US" sz="900" dirty="0"/>
          </a:p>
        </p:txBody>
      </p:sp>
      <p:sp>
        <p:nvSpPr>
          <p:cNvPr id="179" name="Shape 177"/>
          <p:cNvSpPr/>
          <p:nvPr/>
        </p:nvSpPr>
        <p:spPr>
          <a:xfrm>
            <a:off x="8458200" y="1801368"/>
            <a:ext cx="128016" cy="128016"/>
          </a:xfrm>
          <a:prstGeom prst="ellipse">
            <a:avLst/>
          </a:prstGeom>
          <a:solidFill>
            <a:srgbClr val="CADCFC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180" name="Text 178"/>
          <p:cNvSpPr txBox="1"/>
          <p:nvPr/>
        </p:nvSpPr>
        <p:spPr>
          <a:xfrm>
            <a:off x="8668512" y="176479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2nd row / rear row: chairs with tables, no table mic</a:t>
            </a:r>
            <a:endParaRPr lang="en-US" sz="900" dirty="0"/>
          </a:p>
        </p:txBody>
      </p:sp>
      <p:sp>
        <p:nvSpPr>
          <p:cNvPr id="181" name="Shape 179"/>
          <p:cNvSpPr/>
          <p:nvPr/>
        </p:nvSpPr>
        <p:spPr>
          <a:xfrm>
            <a:off x="8458200" y="203911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02A2A"/>
            </a:solidFill>
            <a:prstDash val="solid"/>
          </a:ln>
        </p:spPr>
      </p:sp>
      <p:sp>
        <p:nvSpPr>
          <p:cNvPr id="182" name="Text 180"/>
          <p:cNvSpPr txBox="1"/>
          <p:nvPr/>
        </p:nvSpPr>
        <p:spPr>
          <a:xfrm>
            <a:off x="8668512" y="200253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Stand microphone in the aisle (4)</a:t>
            </a:r>
            <a:endParaRPr lang="en-US" sz="900" dirty="0"/>
          </a:p>
        </p:txBody>
      </p:sp>
      <p:sp>
        <p:nvSpPr>
          <p:cNvPr id="183" name="Shape 181"/>
          <p:cNvSpPr/>
          <p:nvPr/>
        </p:nvSpPr>
        <p:spPr>
          <a:xfrm>
            <a:off x="8458200" y="2276856"/>
            <a:ext cx="128016" cy="128016"/>
          </a:xfrm>
          <a:prstGeom prst="rect">
            <a:avLst/>
          </a:prstGeom>
          <a:solidFill>
            <a:srgbClr val="D9B48F"/>
          </a:solidFill>
          <a:ln w="12700">
            <a:solidFill>
              <a:srgbClr val="D9B48F"/>
            </a:solidFill>
            <a:prstDash val="solid"/>
          </a:ln>
        </p:spPr>
      </p:sp>
      <p:sp>
        <p:nvSpPr>
          <p:cNvPr id="184" name="Text 182"/>
          <p:cNvSpPr txBox="1"/>
          <p:nvPr/>
        </p:nvSpPr>
        <p:spPr>
          <a:xfrm>
            <a:off x="8668512" y="22402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Tables</a:t>
            </a:r>
            <a:endParaRPr lang="en-US" sz="900" dirty="0"/>
          </a:p>
        </p:txBody>
      </p:sp>
      <p:sp>
        <p:nvSpPr>
          <p:cNvPr id="185" name="Shape 183"/>
          <p:cNvSpPr/>
          <p:nvPr/>
        </p:nvSpPr>
        <p:spPr>
          <a:xfrm>
            <a:off x="8458200" y="2514600"/>
            <a:ext cx="128016" cy="12801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6" name="Text 184"/>
          <p:cNvSpPr txBox="1"/>
          <p:nvPr/>
        </p:nvSpPr>
        <p:spPr>
          <a:xfrm>
            <a:off x="8668512" y="247802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AV desk (COSEM AV + ADRC Zoom host)</a:t>
            </a:r>
            <a:endParaRPr lang="en-US" sz="900" dirty="0"/>
          </a:p>
        </p:txBody>
      </p:sp>
      <p:sp>
        <p:nvSpPr>
          <p:cNvPr id="187" name="Shape 185"/>
          <p:cNvSpPr/>
          <p:nvPr/>
        </p:nvSpPr>
        <p:spPr>
          <a:xfrm>
            <a:off x="8458200" y="2752344"/>
            <a:ext cx="128016" cy="128016"/>
          </a:xfrm>
          <a:prstGeom prst="rect">
            <a:avLst/>
          </a:prstGeom>
          <a:solidFill>
            <a:srgbClr val="4E8F3A"/>
          </a:solidFill>
          <a:ln w="12700">
            <a:solidFill>
              <a:srgbClr val="4E8F3A"/>
            </a:solidFill>
            <a:prstDash val="solid"/>
          </a:ln>
        </p:spPr>
      </p:sp>
      <p:sp>
        <p:nvSpPr>
          <p:cNvPr id="188" name="Text 186"/>
          <p:cNvSpPr txBox="1"/>
          <p:nvPr/>
        </p:nvSpPr>
        <p:spPr>
          <a:xfrm>
            <a:off x="8668512" y="27157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ADRC Secretariat</a:t>
            </a:r>
            <a:endParaRPr lang="en-US" sz="900" dirty="0"/>
          </a:p>
        </p:txBody>
      </p:sp>
      <p:sp>
        <p:nvSpPr>
          <p:cNvPr id="189" name="Shape 187"/>
          <p:cNvSpPr/>
          <p:nvPr/>
        </p:nvSpPr>
        <p:spPr>
          <a:xfrm>
            <a:off x="8458200" y="2990088"/>
            <a:ext cx="128016" cy="128016"/>
          </a:xfrm>
          <a:prstGeom prst="ellipse">
            <a:avLst/>
          </a:prstGeom>
          <a:solidFill>
            <a:srgbClr val="B02A2A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190" name="Text 188"/>
          <p:cNvSpPr txBox="1"/>
          <p:nvPr/>
        </p:nvSpPr>
        <p:spPr>
          <a:xfrm>
            <a:off x="8668512" y="295351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Zoom camera</a:t>
            </a:r>
            <a:endParaRPr lang="en-US" sz="900" dirty="0"/>
          </a:p>
        </p:txBody>
      </p:sp>
      <p:sp>
        <p:nvSpPr>
          <p:cNvPr id="191" name="Text 189"/>
          <p:cNvSpPr txBox="1"/>
          <p:nvPr/>
        </p:nvSpPr>
        <p:spPr>
          <a:xfrm>
            <a:off x="8458200" y="3282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Notes</a:t>
            </a:r>
            <a:endParaRPr lang="en-US" sz="1200" dirty="0"/>
          </a:p>
        </p:txBody>
      </p:sp>
      <p:sp>
        <p:nvSpPr>
          <p:cNvPr id="192" name="Text 190"/>
          <p:cNvSpPr txBox="1"/>
          <p:nvPr/>
        </p:nvSpPr>
        <p:spPr>
          <a:xfrm>
            <a:off x="8458200" y="3575304"/>
            <a:ext cx="329184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Opening (28 Oct 12:45–13:00): emcee LTC Yong Kai (SCDF) at the lectern; Commissioner SCDF, the Vice Minister of Japan and the ADRC Chairman speak in turn from the lectern and return to their seats. Interpreter (if any) stands beside the lectern.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Closing (29 Oct 11:45–12:00): summary by the ADRC rapporteur from the lectern; closing remarks by the ADRC Chairman / Executive Director and the SCDF representative. Survey QR code on both screens for 5 minutes beforehand.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VIP holding in Opal 102 / Tourmaline 207; VIPs enter by Door 204 (front-right) and take the front-left seats — the front-left route passes in front of the screens, so the emcee times the entry.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Press and official photographers at the rear right, off the Zoom camera line; ADRC photographer moves along the side aisles.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Banner / backdrop between the two screens (item A9).</a:t>
            </a:r>
            <a:endParaRPr lang="en-US" sz="850" dirty="0"/>
          </a:p>
        </p:txBody>
      </p:sp>
      <p:sp>
        <p:nvSpPr>
          <p:cNvPr id="193" name="Text 191"/>
          <p:cNvSpPr txBox="1"/>
          <p:nvPr/>
        </p:nvSpPr>
        <p:spPr>
          <a:xfrm>
            <a:off x="411480" y="6601968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ADRC proposal, 7 Sep 2026 rev. 3 (draft for COSEM/SCDF/EXPO). Room width 15.4 m from the EXPO floorplan of 28 Jul 2026 (Option 2); seat pitch 0.60 m; room depth 14 m assumed for Peridot 202–205 — EXPO to confirm and redraw to scale.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Roundtable Session (Day 1, 13:00–15:30)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and Remaining Challenges in Implementing SFDRR. Moderator table in the front area; statements from the U seats; interventions from the second row via stand mics.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325880" y="1325880"/>
            <a:ext cx="4506163" cy="4096512"/>
          </a:xfrm>
          <a:prstGeom prst="rect">
            <a:avLst/>
          </a:prstGeom>
          <a:solidFill>
            <a:srgbClr val="F4F6FA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935224" y="1143000"/>
            <a:ext cx="12874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FRONT (screen wall)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706270" y="1344168"/>
            <a:ext cx="1024128" cy="82296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706270" y="1435608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3864"/>
                </a:solidFill>
              </a:rPr>
              <a:t>Screen L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4427525" y="1344168"/>
            <a:ext cx="1024128" cy="82296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27525" y="1435608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3864"/>
                </a:solidFill>
              </a:rPr>
              <a:t>Screen R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289304" y="1911096"/>
            <a:ext cx="73152" cy="35113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" y="20025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</a:rPr>
              <a:t>Door 203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1289304" y="4105656"/>
            <a:ext cx="73152" cy="35113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" y="419709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</a:rPr>
              <a:t>Door 202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5795467" y="1911096"/>
            <a:ext cx="73152" cy="35113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05195" y="20025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</a:rPr>
              <a:t>Door 204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795467" y="4105656"/>
            <a:ext cx="73152" cy="35113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05195" y="419709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</a:rPr>
              <a:t>Door 205</a:t>
            </a:r>
            <a:endParaRPr lang="en-US" sz="600" dirty="0"/>
          </a:p>
        </p:txBody>
      </p:sp>
      <p:sp>
        <p:nvSpPr>
          <p:cNvPr id="18" name="Text 16"/>
          <p:cNvSpPr txBox="1"/>
          <p:nvPr/>
        </p:nvSpPr>
        <p:spPr>
          <a:xfrm>
            <a:off x="1384402" y="1501445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99999"/>
                </a:solidFill>
              </a:rPr>
              <a:t>Peridot 203</a:t>
            </a:r>
            <a:endParaRPr lang="en-US" sz="550" dirty="0"/>
          </a:p>
        </p:txBody>
      </p:sp>
      <p:sp>
        <p:nvSpPr>
          <p:cNvPr id="19" name="Text 17"/>
          <p:cNvSpPr txBox="1"/>
          <p:nvPr/>
        </p:nvSpPr>
        <p:spPr>
          <a:xfrm>
            <a:off x="5159045" y="1501445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999999"/>
                </a:solidFill>
              </a:rPr>
              <a:t>Peridot 204</a:t>
            </a:r>
            <a:endParaRPr lang="en-US" sz="550" dirty="0"/>
          </a:p>
        </p:txBody>
      </p:sp>
      <p:sp>
        <p:nvSpPr>
          <p:cNvPr id="20" name="Text 18"/>
          <p:cNvSpPr txBox="1"/>
          <p:nvPr/>
        </p:nvSpPr>
        <p:spPr>
          <a:xfrm>
            <a:off x="1384402" y="3842309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99999"/>
                </a:solidFill>
              </a:rPr>
              <a:t>Peridot 202</a:t>
            </a:r>
            <a:endParaRPr lang="en-US" sz="550" dirty="0"/>
          </a:p>
        </p:txBody>
      </p:sp>
      <p:sp>
        <p:nvSpPr>
          <p:cNvPr id="21" name="Text 19"/>
          <p:cNvSpPr txBox="1"/>
          <p:nvPr/>
        </p:nvSpPr>
        <p:spPr>
          <a:xfrm>
            <a:off x="5159045" y="3842309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999999"/>
                </a:solidFill>
              </a:rPr>
              <a:t>Peridot 205</a:t>
            </a:r>
            <a:endParaRPr lang="en-US" sz="55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440680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</a:rPr>
              <a:t>BACK (wall to NOT-IN-USE block)</a:t>
            </a:r>
            <a:endParaRPr lang="en-US" sz="600" dirty="0"/>
          </a:p>
        </p:txBody>
      </p:sp>
      <p:sp>
        <p:nvSpPr>
          <p:cNvPr id="23" name="Text 21"/>
          <p:cNvSpPr txBox="1"/>
          <p:nvPr/>
        </p:nvSpPr>
        <p:spPr>
          <a:xfrm>
            <a:off x="3783787" y="5440680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</a:rPr>
              <a:t>Coffee break (Option 1) in the foyer on this side →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1501445" y="1647749"/>
            <a:ext cx="526694" cy="234086"/>
          </a:xfrm>
          <a:prstGeom prst="rect">
            <a:avLst/>
          </a:prstGeom>
          <a:solidFill>
            <a:srgbClr val="0E7C7B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1445" y="1647749"/>
            <a:ext cx="526694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AV desk +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Zoom host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5159045" y="1647749"/>
            <a:ext cx="468173" cy="526694"/>
          </a:xfrm>
          <a:prstGeom prst="rect">
            <a:avLst/>
          </a:prstGeom>
          <a:solidFill>
            <a:srgbClr val="4E8F3A"/>
          </a:solidFill>
          <a:ln w="9525">
            <a:solidFill>
              <a:srgbClr val="4E8F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59045" y="1647749"/>
            <a:ext cx="468173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ADRC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Secre-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tariat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3505810" y="5217566"/>
            <a:ext cx="146304" cy="146304"/>
          </a:xfrm>
          <a:prstGeom prst="ellipse">
            <a:avLst/>
          </a:prstGeom>
          <a:solidFill>
            <a:srgbClr val="B02A2A"/>
          </a:solidFill>
          <a:ln w="12700">
            <a:solidFill>
              <a:srgbClr val="B02A2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670402" y="520293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B02A2A"/>
                </a:solidFill>
              </a:rPr>
              <a:t>Zoom camera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671877" y="1735531"/>
            <a:ext cx="204826" cy="146304"/>
          </a:xfrm>
          <a:prstGeom prst="rect">
            <a:avLst/>
          </a:prstGeom>
          <a:solidFill>
            <a:srgbClr val="EAD7B5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534717" y="1911096"/>
            <a:ext cx="47914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Lectern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3081528" y="1735531"/>
            <a:ext cx="936346" cy="160934"/>
          </a:xfrm>
          <a:prstGeom prst="rect">
            <a:avLst/>
          </a:prstGeom>
          <a:solidFill>
            <a:srgbClr val="D9B48F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56178" y="1602943"/>
            <a:ext cx="118872" cy="118872"/>
          </a:xfrm>
          <a:prstGeom prst="rect">
            <a:avLst/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081528" y="1911096"/>
            <a:ext cx="4681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Moderator</a:t>
            </a:r>
            <a:endParaRPr lang="en-US" sz="5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(SCDF)</a:t>
            </a:r>
            <a:endParaRPr lang="en-US" sz="550" dirty="0"/>
          </a:p>
        </p:txBody>
      </p:sp>
      <p:sp>
        <p:nvSpPr>
          <p:cNvPr id="35" name="Shape 33"/>
          <p:cNvSpPr/>
          <p:nvPr/>
        </p:nvSpPr>
        <p:spPr>
          <a:xfrm>
            <a:off x="3724351" y="1602943"/>
            <a:ext cx="118872" cy="118872"/>
          </a:xfrm>
          <a:prstGeom prst="rect">
            <a:avLst/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549701" y="1911096"/>
            <a:ext cx="4681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Co-moderator</a:t>
            </a:r>
            <a:endParaRPr lang="en-US" sz="5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(member country)</a:t>
            </a:r>
            <a:endParaRPr lang="en-US" sz="550" dirty="0"/>
          </a:p>
        </p:txBody>
      </p:sp>
      <p:sp>
        <p:nvSpPr>
          <p:cNvPr id="37" name="Shape 35"/>
          <p:cNvSpPr/>
          <p:nvPr/>
        </p:nvSpPr>
        <p:spPr>
          <a:xfrm>
            <a:off x="2218334" y="2145182"/>
            <a:ext cx="131674" cy="1931213"/>
          </a:xfrm>
          <a:prstGeom prst="rect">
            <a:avLst/>
          </a:prstGeom>
          <a:solidFill>
            <a:srgbClr val="D9B48F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76242" y="2145182"/>
            <a:ext cx="131674" cy="1931213"/>
          </a:xfrm>
          <a:prstGeom prst="rect">
            <a:avLst/>
          </a:prstGeom>
          <a:solidFill>
            <a:srgbClr val="D9B48F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18334" y="4076395"/>
            <a:ext cx="2589581" cy="131674"/>
          </a:xfrm>
          <a:prstGeom prst="rect">
            <a:avLst/>
          </a:prstGeom>
          <a:solidFill>
            <a:srgbClr val="D9B48F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56486" y="2173529"/>
            <a:ext cx="118872" cy="118872"/>
          </a:xfrm>
          <a:prstGeom prst="rect">
            <a:avLst/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386584" y="2159813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ADRC</a:t>
            </a:r>
            <a:endParaRPr lang="en-US" sz="550" dirty="0"/>
          </a:p>
        </p:txBody>
      </p:sp>
      <p:sp>
        <p:nvSpPr>
          <p:cNvPr id="42" name="Shape 40"/>
          <p:cNvSpPr/>
          <p:nvPr/>
        </p:nvSpPr>
        <p:spPr>
          <a:xfrm>
            <a:off x="2056486" y="2349094"/>
            <a:ext cx="118872" cy="118872"/>
          </a:xfrm>
          <a:prstGeom prst="rect">
            <a:avLst/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386584" y="233537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ADRC</a:t>
            </a:r>
            <a:endParaRPr lang="en-US" sz="550" dirty="0"/>
          </a:p>
        </p:txBody>
      </p:sp>
      <p:sp>
        <p:nvSpPr>
          <p:cNvPr id="44" name="Shape 42"/>
          <p:cNvSpPr/>
          <p:nvPr/>
        </p:nvSpPr>
        <p:spPr>
          <a:xfrm>
            <a:off x="2056486" y="2524658"/>
            <a:ext cx="118872" cy="118872"/>
          </a:xfrm>
          <a:prstGeom prst="rect">
            <a:avLst/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386584" y="251094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JPN</a:t>
            </a:r>
            <a:endParaRPr lang="en-US" sz="550" dirty="0"/>
          </a:p>
        </p:txBody>
      </p:sp>
      <p:sp>
        <p:nvSpPr>
          <p:cNvPr id="46" name="Shape 44"/>
          <p:cNvSpPr/>
          <p:nvPr/>
        </p:nvSpPr>
        <p:spPr>
          <a:xfrm>
            <a:off x="2056486" y="2700223"/>
            <a:ext cx="118872" cy="118872"/>
          </a:xfrm>
          <a:prstGeom prst="rect">
            <a:avLst/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386584" y="2686507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JPN</a:t>
            </a:r>
            <a:endParaRPr lang="en-US" sz="550" dirty="0"/>
          </a:p>
        </p:txBody>
      </p:sp>
      <p:sp>
        <p:nvSpPr>
          <p:cNvPr id="48" name="Shape 46"/>
          <p:cNvSpPr/>
          <p:nvPr/>
        </p:nvSpPr>
        <p:spPr>
          <a:xfrm>
            <a:off x="2056486" y="2875788"/>
            <a:ext cx="118872" cy="118872"/>
          </a:xfrm>
          <a:prstGeom prst="rect">
            <a:avLst/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386584" y="28620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SGP</a:t>
            </a:r>
            <a:endParaRPr lang="en-US" sz="550" dirty="0"/>
          </a:p>
        </p:txBody>
      </p:sp>
      <p:sp>
        <p:nvSpPr>
          <p:cNvPr id="50" name="Shape 48"/>
          <p:cNvSpPr/>
          <p:nvPr/>
        </p:nvSpPr>
        <p:spPr>
          <a:xfrm>
            <a:off x="2056486" y="3051353"/>
            <a:ext cx="118872" cy="118872"/>
          </a:xfrm>
          <a:prstGeom prst="rect">
            <a:avLst/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386584" y="3037637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SGP</a:t>
            </a:r>
            <a:endParaRPr lang="en-US" sz="550" dirty="0"/>
          </a:p>
        </p:txBody>
      </p:sp>
      <p:sp>
        <p:nvSpPr>
          <p:cNvPr id="52" name="Shape 50"/>
          <p:cNvSpPr/>
          <p:nvPr/>
        </p:nvSpPr>
        <p:spPr>
          <a:xfrm>
            <a:off x="2056486" y="3226918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386584" y="321320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AZE</a:t>
            </a:r>
            <a:endParaRPr lang="en-US" sz="550" dirty="0"/>
          </a:p>
        </p:txBody>
      </p:sp>
      <p:sp>
        <p:nvSpPr>
          <p:cNvPr id="54" name="Shape 52"/>
          <p:cNvSpPr/>
          <p:nvPr/>
        </p:nvSpPr>
        <p:spPr>
          <a:xfrm>
            <a:off x="2056486" y="3402482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386584" y="338876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AZE</a:t>
            </a:r>
            <a:endParaRPr lang="en-US" sz="550" dirty="0"/>
          </a:p>
        </p:txBody>
      </p:sp>
      <p:sp>
        <p:nvSpPr>
          <p:cNvPr id="56" name="Shape 54"/>
          <p:cNvSpPr/>
          <p:nvPr/>
        </p:nvSpPr>
        <p:spPr>
          <a:xfrm>
            <a:off x="2056486" y="3578047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2386584" y="3564331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BGD</a:t>
            </a:r>
            <a:endParaRPr lang="en-US" sz="550" dirty="0"/>
          </a:p>
        </p:txBody>
      </p:sp>
      <p:sp>
        <p:nvSpPr>
          <p:cNvPr id="58" name="Shape 56"/>
          <p:cNvSpPr/>
          <p:nvPr/>
        </p:nvSpPr>
        <p:spPr>
          <a:xfrm>
            <a:off x="2056486" y="3753612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2386584" y="373989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ARM</a:t>
            </a:r>
            <a:endParaRPr lang="en-US" sz="550" dirty="0"/>
          </a:p>
        </p:txBody>
      </p:sp>
      <p:sp>
        <p:nvSpPr>
          <p:cNvPr id="60" name="Shape 58"/>
          <p:cNvSpPr/>
          <p:nvPr/>
        </p:nvSpPr>
        <p:spPr>
          <a:xfrm>
            <a:off x="2056486" y="3929177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2386584" y="3915461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KHM</a:t>
            </a:r>
            <a:endParaRPr lang="en-US" sz="550" dirty="0"/>
          </a:p>
        </p:txBody>
      </p:sp>
      <p:sp>
        <p:nvSpPr>
          <p:cNvPr id="62" name="Shape 60"/>
          <p:cNvSpPr/>
          <p:nvPr/>
        </p:nvSpPr>
        <p:spPr>
          <a:xfrm>
            <a:off x="2378354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 rot="16200000">
            <a:off x="2337206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FJI</a:t>
            </a:r>
            <a:endParaRPr lang="en-US" sz="550" dirty="0"/>
          </a:p>
        </p:txBody>
      </p:sp>
      <p:sp>
        <p:nvSpPr>
          <p:cNvPr id="64" name="Shape 62"/>
          <p:cNvSpPr/>
          <p:nvPr/>
        </p:nvSpPr>
        <p:spPr>
          <a:xfrm>
            <a:off x="2553919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 rot="16200000">
            <a:off x="2512771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IND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2729484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 rot="16200000">
            <a:off x="2688336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IND</a:t>
            </a:r>
            <a:endParaRPr lang="en-US" sz="550" dirty="0"/>
          </a:p>
        </p:txBody>
      </p:sp>
      <p:sp>
        <p:nvSpPr>
          <p:cNvPr id="68" name="Shape 66"/>
          <p:cNvSpPr/>
          <p:nvPr/>
        </p:nvSpPr>
        <p:spPr>
          <a:xfrm>
            <a:off x="2905049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 rot="16200000">
            <a:off x="2863901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KOR</a:t>
            </a:r>
            <a:endParaRPr lang="en-US" sz="550" dirty="0"/>
          </a:p>
        </p:txBody>
      </p:sp>
      <p:sp>
        <p:nvSpPr>
          <p:cNvPr id="70" name="Shape 68"/>
          <p:cNvSpPr/>
          <p:nvPr/>
        </p:nvSpPr>
        <p:spPr>
          <a:xfrm>
            <a:off x="3080614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 rot="16200000">
            <a:off x="3039466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KOR</a:t>
            </a:r>
            <a:endParaRPr lang="en-US" sz="550" dirty="0"/>
          </a:p>
        </p:txBody>
      </p:sp>
      <p:sp>
        <p:nvSpPr>
          <p:cNvPr id="72" name="Shape 70"/>
          <p:cNvSpPr/>
          <p:nvPr/>
        </p:nvSpPr>
        <p:spPr>
          <a:xfrm>
            <a:off x="3256178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 rot="16200000">
            <a:off x="3215030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MYS</a:t>
            </a:r>
            <a:endParaRPr lang="en-US" sz="550" dirty="0"/>
          </a:p>
        </p:txBody>
      </p:sp>
      <p:sp>
        <p:nvSpPr>
          <p:cNvPr id="74" name="Shape 72"/>
          <p:cNvSpPr/>
          <p:nvPr/>
        </p:nvSpPr>
        <p:spPr>
          <a:xfrm>
            <a:off x="3431743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 rot="16200000">
            <a:off x="3390595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MDV</a:t>
            </a:r>
            <a:endParaRPr lang="en-US" sz="550" dirty="0"/>
          </a:p>
        </p:txBody>
      </p:sp>
      <p:sp>
        <p:nvSpPr>
          <p:cNvPr id="76" name="Shape 74"/>
          <p:cNvSpPr/>
          <p:nvPr/>
        </p:nvSpPr>
        <p:spPr>
          <a:xfrm>
            <a:off x="3607308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 rot="16200000">
            <a:off x="3566160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MNG</a:t>
            </a:r>
            <a:endParaRPr lang="en-US" sz="550" dirty="0"/>
          </a:p>
        </p:txBody>
      </p:sp>
      <p:sp>
        <p:nvSpPr>
          <p:cNvPr id="78" name="Shape 76"/>
          <p:cNvSpPr/>
          <p:nvPr/>
        </p:nvSpPr>
        <p:spPr>
          <a:xfrm>
            <a:off x="3782873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 rot="16200000">
            <a:off x="3741725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PAK</a:t>
            </a:r>
            <a:endParaRPr lang="en-US" sz="550" dirty="0"/>
          </a:p>
        </p:txBody>
      </p:sp>
      <p:sp>
        <p:nvSpPr>
          <p:cNvPr id="80" name="Shape 78"/>
          <p:cNvSpPr/>
          <p:nvPr/>
        </p:nvSpPr>
        <p:spPr>
          <a:xfrm>
            <a:off x="3958438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 rot="16200000">
            <a:off x="3917290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PAK</a:t>
            </a:r>
            <a:endParaRPr lang="en-US" sz="550" dirty="0"/>
          </a:p>
        </p:txBody>
      </p:sp>
      <p:sp>
        <p:nvSpPr>
          <p:cNvPr id="82" name="Shape 80"/>
          <p:cNvSpPr/>
          <p:nvPr/>
        </p:nvSpPr>
        <p:spPr>
          <a:xfrm>
            <a:off x="4134002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 rot="16200000">
            <a:off x="4092854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PNG</a:t>
            </a:r>
            <a:endParaRPr lang="en-US" sz="550" dirty="0"/>
          </a:p>
        </p:txBody>
      </p:sp>
      <p:sp>
        <p:nvSpPr>
          <p:cNvPr id="84" name="Shape 82"/>
          <p:cNvSpPr/>
          <p:nvPr/>
        </p:nvSpPr>
        <p:spPr>
          <a:xfrm>
            <a:off x="4309567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 rot="16200000">
            <a:off x="4268419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PNG</a:t>
            </a:r>
            <a:endParaRPr lang="en-US" sz="550" dirty="0"/>
          </a:p>
        </p:txBody>
      </p:sp>
      <p:sp>
        <p:nvSpPr>
          <p:cNvPr id="86" name="Shape 84"/>
          <p:cNvSpPr/>
          <p:nvPr/>
        </p:nvSpPr>
        <p:spPr>
          <a:xfrm>
            <a:off x="4485132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 rot="16200000">
            <a:off x="4443984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PHL</a:t>
            </a:r>
            <a:endParaRPr lang="en-US" sz="550" dirty="0"/>
          </a:p>
        </p:txBody>
      </p:sp>
      <p:sp>
        <p:nvSpPr>
          <p:cNvPr id="88" name="Shape 86"/>
          <p:cNvSpPr/>
          <p:nvPr/>
        </p:nvSpPr>
        <p:spPr>
          <a:xfrm>
            <a:off x="4660697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 rot="16200000">
            <a:off x="4619549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PHL</a:t>
            </a:r>
            <a:endParaRPr lang="en-US" sz="550" dirty="0"/>
          </a:p>
        </p:txBody>
      </p:sp>
      <p:sp>
        <p:nvSpPr>
          <p:cNvPr id="90" name="Shape 88"/>
          <p:cNvSpPr/>
          <p:nvPr/>
        </p:nvSpPr>
        <p:spPr>
          <a:xfrm>
            <a:off x="4850892" y="3929177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4228186" y="3915461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LKA</a:t>
            </a:r>
            <a:endParaRPr lang="en-US" sz="550" dirty="0"/>
          </a:p>
        </p:txBody>
      </p:sp>
      <p:sp>
        <p:nvSpPr>
          <p:cNvPr id="92" name="Shape 90"/>
          <p:cNvSpPr/>
          <p:nvPr/>
        </p:nvSpPr>
        <p:spPr>
          <a:xfrm>
            <a:off x="4850892" y="3753612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4228186" y="373989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THA</a:t>
            </a:r>
            <a:endParaRPr lang="en-US" sz="550" dirty="0"/>
          </a:p>
        </p:txBody>
      </p:sp>
      <p:sp>
        <p:nvSpPr>
          <p:cNvPr id="94" name="Shape 92"/>
          <p:cNvSpPr/>
          <p:nvPr/>
        </p:nvSpPr>
        <p:spPr>
          <a:xfrm>
            <a:off x="4850892" y="3578047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4228186" y="3564331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THA</a:t>
            </a:r>
            <a:endParaRPr lang="en-US" sz="550" dirty="0"/>
          </a:p>
        </p:txBody>
      </p:sp>
      <p:sp>
        <p:nvSpPr>
          <p:cNvPr id="96" name="Shape 94"/>
          <p:cNvSpPr/>
          <p:nvPr/>
        </p:nvSpPr>
        <p:spPr>
          <a:xfrm>
            <a:off x="4850892" y="3402482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4228186" y="338876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TUR</a:t>
            </a:r>
            <a:endParaRPr lang="en-US" sz="550" dirty="0"/>
          </a:p>
        </p:txBody>
      </p:sp>
      <p:sp>
        <p:nvSpPr>
          <p:cNvPr id="98" name="Shape 96"/>
          <p:cNvSpPr/>
          <p:nvPr/>
        </p:nvSpPr>
        <p:spPr>
          <a:xfrm>
            <a:off x="4850892" y="3226918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4228186" y="321320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TUR</a:t>
            </a:r>
            <a:endParaRPr lang="en-US" sz="550" dirty="0"/>
          </a:p>
        </p:txBody>
      </p:sp>
      <p:sp>
        <p:nvSpPr>
          <p:cNvPr id="100" name="Shape 98"/>
          <p:cNvSpPr/>
          <p:nvPr/>
        </p:nvSpPr>
        <p:spPr>
          <a:xfrm>
            <a:off x="4850892" y="3051353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4228186" y="3037637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UZB</a:t>
            </a:r>
            <a:endParaRPr lang="en-US" sz="550" dirty="0"/>
          </a:p>
        </p:txBody>
      </p:sp>
      <p:sp>
        <p:nvSpPr>
          <p:cNvPr id="102" name="Shape 100"/>
          <p:cNvSpPr/>
          <p:nvPr/>
        </p:nvSpPr>
        <p:spPr>
          <a:xfrm>
            <a:off x="4850892" y="2875788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4228186" y="28620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UZB</a:t>
            </a:r>
            <a:endParaRPr lang="en-US" sz="550" dirty="0"/>
          </a:p>
        </p:txBody>
      </p:sp>
      <p:sp>
        <p:nvSpPr>
          <p:cNvPr id="104" name="Shape 102"/>
          <p:cNvSpPr/>
          <p:nvPr/>
        </p:nvSpPr>
        <p:spPr>
          <a:xfrm>
            <a:off x="4850892" y="2700223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4228186" y="2686507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VNM</a:t>
            </a:r>
            <a:endParaRPr lang="en-US" sz="550" dirty="0"/>
          </a:p>
        </p:txBody>
      </p:sp>
      <p:sp>
        <p:nvSpPr>
          <p:cNvPr id="106" name="Shape 104"/>
          <p:cNvSpPr/>
          <p:nvPr/>
        </p:nvSpPr>
        <p:spPr>
          <a:xfrm>
            <a:off x="4850892" y="2524658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4228186" y="251094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VNM</a:t>
            </a:r>
            <a:endParaRPr lang="en-US" sz="550" dirty="0"/>
          </a:p>
        </p:txBody>
      </p:sp>
      <p:sp>
        <p:nvSpPr>
          <p:cNvPr id="108" name="Shape 106"/>
          <p:cNvSpPr/>
          <p:nvPr/>
        </p:nvSpPr>
        <p:spPr>
          <a:xfrm>
            <a:off x="4850892" y="2349094"/>
            <a:ext cx="118872" cy="118872"/>
          </a:xfrm>
          <a:prstGeom prst="rect">
            <a:avLst/>
          </a:prstGeom>
          <a:solidFill>
            <a:srgbClr val="0E7C7B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4228186" y="233537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NZL</a:t>
            </a:r>
            <a:endParaRPr lang="en-US" sz="550" dirty="0"/>
          </a:p>
        </p:txBody>
      </p:sp>
      <p:sp>
        <p:nvSpPr>
          <p:cNvPr id="110" name="Shape 108"/>
          <p:cNvSpPr/>
          <p:nvPr/>
        </p:nvSpPr>
        <p:spPr>
          <a:xfrm>
            <a:off x="4850892" y="2173529"/>
            <a:ext cx="118872" cy="118872"/>
          </a:xfrm>
          <a:prstGeom prst="rect">
            <a:avLst/>
          </a:prstGeom>
          <a:solidFill>
            <a:srgbClr val="0E7C7B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4228186" y="2159813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NZL</a:t>
            </a:r>
            <a:endParaRPr lang="en-US" sz="550" dirty="0"/>
          </a:p>
        </p:txBody>
      </p:sp>
      <p:sp>
        <p:nvSpPr>
          <p:cNvPr id="112" name="Shape 110"/>
          <p:cNvSpPr/>
          <p:nvPr/>
        </p:nvSpPr>
        <p:spPr>
          <a:xfrm>
            <a:off x="1530706" y="2145182"/>
            <a:ext cx="131674" cy="2618842"/>
          </a:xfrm>
          <a:prstGeom prst="rect">
            <a:avLst/>
          </a:prstGeom>
          <a:solidFill>
            <a:srgbClr val="D9B48F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363870" y="2145182"/>
            <a:ext cx="131674" cy="2618842"/>
          </a:xfrm>
          <a:prstGeom prst="rect">
            <a:avLst/>
          </a:prstGeom>
          <a:solidFill>
            <a:srgbClr val="D9B48F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530706" y="4764024"/>
            <a:ext cx="3964838" cy="131674"/>
          </a:xfrm>
          <a:prstGeom prst="rect">
            <a:avLst/>
          </a:prstGeom>
          <a:solidFill>
            <a:srgbClr val="D9B48F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378001" y="2182673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547665" y="2182673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378001" y="235823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547665" y="235823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378001" y="2533802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547665" y="2533802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378001" y="2709367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547665" y="2709367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378001" y="2884932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547665" y="2884932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378001" y="3060497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547665" y="3060497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378001" y="3236062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547665" y="3236062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378001" y="3411626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547665" y="3411626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378001" y="3587191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547665" y="3587191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378001" y="3762756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547665" y="3762756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378001" y="3938321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547665" y="3938321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378001" y="4113886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547665" y="4113886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378001" y="4289450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547665" y="4289450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378001" y="4465015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547665" y="4465015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699870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875434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2050999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226564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402129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577694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753258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928823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3104388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3279953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3455518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631082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806647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982212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157777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4333342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4508906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4684471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4860036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035601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211166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841602" y="3055925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02A2A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074920" y="3055925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02A2A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3032516" y="4475074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02A2A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4015679" y="4475074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02A2A"/>
            </a:solidFill>
            <a:prstDash val="solid"/>
          </a:ln>
        </p:spPr>
      </p:sp>
      <p:sp>
        <p:nvSpPr>
          <p:cNvPr id="168" name="Text 166"/>
          <p:cNvSpPr txBox="1"/>
          <p:nvPr/>
        </p:nvSpPr>
        <p:spPr>
          <a:xfrm>
            <a:off x="806501" y="2159813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666666"/>
                </a:solidFill>
              </a:rPr>
              <a:t>MIYAKI (ED)</a:t>
            </a:r>
            <a:endParaRPr lang="en-US" sz="500" dirty="0"/>
          </a:p>
        </p:txBody>
      </p:sp>
      <p:sp>
        <p:nvSpPr>
          <p:cNvPr id="169" name="Text 167"/>
          <p:cNvSpPr txBox="1"/>
          <p:nvPr/>
        </p:nvSpPr>
        <p:spPr>
          <a:xfrm>
            <a:off x="806501" y="233537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666666"/>
                </a:solidFill>
              </a:rPr>
              <a:t>KODAMA (Dir.)</a:t>
            </a:r>
            <a:endParaRPr lang="en-US" sz="500" dirty="0"/>
          </a:p>
        </p:txBody>
      </p:sp>
      <p:sp>
        <p:nvSpPr>
          <p:cNvPr id="170" name="Text 168"/>
          <p:cNvSpPr txBox="1"/>
          <p:nvPr/>
        </p:nvSpPr>
        <p:spPr>
          <a:xfrm>
            <a:off x="5671109" y="2159813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666666"/>
                </a:solidFill>
              </a:rPr>
              <a:t>ADPC</a:t>
            </a:r>
            <a:endParaRPr lang="en-US" sz="500" dirty="0"/>
          </a:p>
        </p:txBody>
      </p:sp>
      <p:sp>
        <p:nvSpPr>
          <p:cNvPr id="171" name="Text 169"/>
          <p:cNvSpPr txBox="1"/>
          <p:nvPr/>
        </p:nvSpPr>
        <p:spPr>
          <a:xfrm>
            <a:off x="5671109" y="233537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666666"/>
                </a:solidFill>
              </a:rPr>
              <a:t>ADPC</a:t>
            </a:r>
            <a:endParaRPr lang="en-US" sz="500" dirty="0"/>
          </a:p>
        </p:txBody>
      </p:sp>
      <p:sp>
        <p:nvSpPr>
          <p:cNvPr id="172" name="Text 170"/>
          <p:cNvSpPr txBox="1"/>
          <p:nvPr/>
        </p:nvSpPr>
        <p:spPr>
          <a:xfrm>
            <a:off x="5671109" y="251094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666666"/>
                </a:solidFill>
              </a:rPr>
              <a:t>NZ 3rd</a:t>
            </a:r>
            <a:endParaRPr lang="en-US" sz="500" dirty="0"/>
          </a:p>
        </p:txBody>
      </p:sp>
      <p:sp>
        <p:nvSpPr>
          <p:cNvPr id="173" name="Text 171"/>
          <p:cNvSpPr txBox="1"/>
          <p:nvPr/>
        </p:nvSpPr>
        <p:spPr>
          <a:xfrm>
            <a:off x="1784909" y="508955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66666"/>
                </a:solidFill>
              </a:rPr>
              <a:t>IND 3rd</a:t>
            </a:r>
            <a:endParaRPr lang="en-US" sz="500" dirty="0"/>
          </a:p>
        </p:txBody>
      </p:sp>
      <p:sp>
        <p:nvSpPr>
          <p:cNvPr id="174" name="Shape 172"/>
          <p:cNvSpPr/>
          <p:nvPr/>
        </p:nvSpPr>
        <p:spPr>
          <a:xfrm>
            <a:off x="8458200" y="1088136"/>
            <a:ext cx="128016" cy="12801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5" name="Text 173"/>
          <p:cNvSpPr txBox="1"/>
          <p:nvPr/>
        </p:nvSpPr>
        <p:spPr>
          <a:xfrm>
            <a:off x="8668512" y="10515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Host seats on the U: ADRC, Japan, Singapore (6)</a:t>
            </a:r>
            <a:endParaRPr lang="en-US" sz="900" dirty="0"/>
          </a:p>
        </p:txBody>
      </p:sp>
      <p:sp>
        <p:nvSpPr>
          <p:cNvPr id="176" name="Shape 174"/>
          <p:cNvSpPr/>
          <p:nvPr/>
        </p:nvSpPr>
        <p:spPr>
          <a:xfrm>
            <a:off x="8458200" y="1325880"/>
            <a:ext cx="128016" cy="12801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7" name="Text 175"/>
          <p:cNvSpPr txBox="1"/>
          <p:nvPr/>
        </p:nvSpPr>
        <p:spPr>
          <a:xfrm>
            <a:off x="8668512" y="128930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Member-country seats on the U (28), table mics</a:t>
            </a:r>
            <a:endParaRPr lang="en-US" sz="900" dirty="0"/>
          </a:p>
        </p:txBody>
      </p:sp>
      <p:sp>
        <p:nvSpPr>
          <p:cNvPr id="178" name="Shape 176"/>
          <p:cNvSpPr/>
          <p:nvPr/>
        </p:nvSpPr>
        <p:spPr>
          <a:xfrm>
            <a:off x="8458200" y="1563624"/>
            <a:ext cx="128016" cy="12801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9" name="Text 177"/>
          <p:cNvSpPr txBox="1"/>
          <p:nvPr/>
        </p:nvSpPr>
        <p:spPr>
          <a:xfrm>
            <a:off x="8668512" y="15270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Adviser seats on the U: New Zealand (2)</a:t>
            </a:r>
            <a:endParaRPr lang="en-US" sz="900" dirty="0"/>
          </a:p>
        </p:txBody>
      </p:sp>
      <p:sp>
        <p:nvSpPr>
          <p:cNvPr id="180" name="Shape 178"/>
          <p:cNvSpPr/>
          <p:nvPr/>
        </p:nvSpPr>
        <p:spPr>
          <a:xfrm>
            <a:off x="8458200" y="1801368"/>
            <a:ext cx="128016" cy="128016"/>
          </a:xfrm>
          <a:prstGeom prst="ellipse">
            <a:avLst/>
          </a:prstGeom>
          <a:solidFill>
            <a:srgbClr val="CADCFC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181" name="Text 179"/>
          <p:cNvSpPr txBox="1"/>
          <p:nvPr/>
        </p:nvSpPr>
        <p:spPr>
          <a:xfrm>
            <a:off x="8668512" y="176479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2nd row / rear row: chairs with tables, no table mic</a:t>
            </a:r>
            <a:endParaRPr lang="en-US" sz="900" dirty="0"/>
          </a:p>
        </p:txBody>
      </p:sp>
      <p:sp>
        <p:nvSpPr>
          <p:cNvPr id="182" name="Shape 180"/>
          <p:cNvSpPr/>
          <p:nvPr/>
        </p:nvSpPr>
        <p:spPr>
          <a:xfrm>
            <a:off x="8458200" y="203911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02A2A"/>
            </a:solidFill>
            <a:prstDash val="solid"/>
          </a:ln>
        </p:spPr>
      </p:sp>
      <p:sp>
        <p:nvSpPr>
          <p:cNvPr id="183" name="Text 181"/>
          <p:cNvSpPr txBox="1"/>
          <p:nvPr/>
        </p:nvSpPr>
        <p:spPr>
          <a:xfrm>
            <a:off x="8668512" y="200253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Stand microphone in the aisle (4)</a:t>
            </a:r>
            <a:endParaRPr lang="en-US" sz="900" dirty="0"/>
          </a:p>
        </p:txBody>
      </p:sp>
      <p:sp>
        <p:nvSpPr>
          <p:cNvPr id="184" name="Shape 182"/>
          <p:cNvSpPr/>
          <p:nvPr/>
        </p:nvSpPr>
        <p:spPr>
          <a:xfrm>
            <a:off x="8458200" y="2276856"/>
            <a:ext cx="128016" cy="128016"/>
          </a:xfrm>
          <a:prstGeom prst="rect">
            <a:avLst/>
          </a:prstGeom>
          <a:solidFill>
            <a:srgbClr val="D9B48F"/>
          </a:solidFill>
          <a:ln w="12700">
            <a:solidFill>
              <a:srgbClr val="D9B48F"/>
            </a:solidFill>
            <a:prstDash val="solid"/>
          </a:ln>
        </p:spPr>
      </p:sp>
      <p:sp>
        <p:nvSpPr>
          <p:cNvPr id="185" name="Text 183"/>
          <p:cNvSpPr txBox="1"/>
          <p:nvPr/>
        </p:nvSpPr>
        <p:spPr>
          <a:xfrm>
            <a:off x="8668512" y="22402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Tables</a:t>
            </a:r>
            <a:endParaRPr lang="en-US" sz="900" dirty="0"/>
          </a:p>
        </p:txBody>
      </p:sp>
      <p:sp>
        <p:nvSpPr>
          <p:cNvPr id="186" name="Shape 184"/>
          <p:cNvSpPr/>
          <p:nvPr/>
        </p:nvSpPr>
        <p:spPr>
          <a:xfrm>
            <a:off x="8458200" y="2514600"/>
            <a:ext cx="128016" cy="12801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7" name="Text 185"/>
          <p:cNvSpPr txBox="1"/>
          <p:nvPr/>
        </p:nvSpPr>
        <p:spPr>
          <a:xfrm>
            <a:off x="8668512" y="247802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AV desk (COSEM AV + ADRC Zoom host)</a:t>
            </a:r>
            <a:endParaRPr lang="en-US" sz="900" dirty="0"/>
          </a:p>
        </p:txBody>
      </p:sp>
      <p:sp>
        <p:nvSpPr>
          <p:cNvPr id="188" name="Shape 186"/>
          <p:cNvSpPr/>
          <p:nvPr/>
        </p:nvSpPr>
        <p:spPr>
          <a:xfrm>
            <a:off x="8458200" y="2752344"/>
            <a:ext cx="128016" cy="128016"/>
          </a:xfrm>
          <a:prstGeom prst="rect">
            <a:avLst/>
          </a:prstGeom>
          <a:solidFill>
            <a:srgbClr val="4E8F3A"/>
          </a:solidFill>
          <a:ln w="12700">
            <a:solidFill>
              <a:srgbClr val="4E8F3A"/>
            </a:solidFill>
            <a:prstDash val="solid"/>
          </a:ln>
        </p:spPr>
      </p:sp>
      <p:sp>
        <p:nvSpPr>
          <p:cNvPr id="189" name="Text 187"/>
          <p:cNvSpPr txBox="1"/>
          <p:nvPr/>
        </p:nvSpPr>
        <p:spPr>
          <a:xfrm>
            <a:off x="8668512" y="27157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ADRC Secretariat</a:t>
            </a:r>
            <a:endParaRPr lang="en-US" sz="900" dirty="0"/>
          </a:p>
        </p:txBody>
      </p:sp>
      <p:sp>
        <p:nvSpPr>
          <p:cNvPr id="190" name="Shape 188"/>
          <p:cNvSpPr/>
          <p:nvPr/>
        </p:nvSpPr>
        <p:spPr>
          <a:xfrm>
            <a:off x="8458200" y="2990088"/>
            <a:ext cx="128016" cy="128016"/>
          </a:xfrm>
          <a:prstGeom prst="ellipse">
            <a:avLst/>
          </a:prstGeom>
          <a:solidFill>
            <a:srgbClr val="B02A2A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191" name="Text 189"/>
          <p:cNvSpPr txBox="1"/>
          <p:nvPr/>
        </p:nvSpPr>
        <p:spPr>
          <a:xfrm>
            <a:off x="8668512" y="295351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Zoom camera</a:t>
            </a:r>
            <a:endParaRPr lang="en-US" sz="900" dirty="0"/>
          </a:p>
        </p:txBody>
      </p:sp>
      <p:sp>
        <p:nvSpPr>
          <p:cNvPr id="192" name="Text 190"/>
          <p:cNvSpPr txBox="1"/>
          <p:nvPr/>
        </p:nvSpPr>
        <p:spPr>
          <a:xfrm>
            <a:off x="8458200" y="3282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Notes</a:t>
            </a:r>
            <a:endParaRPr lang="en-US" sz="1200" dirty="0"/>
          </a:p>
        </p:txBody>
      </p:sp>
      <p:sp>
        <p:nvSpPr>
          <p:cNvPr id="193" name="Text 191"/>
          <p:cNvSpPr txBox="1"/>
          <p:nvPr/>
        </p:nvSpPr>
        <p:spPr>
          <a:xfrm>
            <a:off x="8458200" y="3575304"/>
            <a:ext cx="329184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Moderator table (2 seats, table mics) in the front area facing the U: SCDF moderator and a co-moderator from a member country. Singapore's hosts sit at the front-left of the U (seats 5–6), next to Japan and ADRC.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Member countries speak seated from the U (one gooseneck mic per 2 seats). Statements collected in advance by ADRC are shown on the screens from the AV desk.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Second row (chairs with tables): 3rd delegates, observers, invited guests, general participants; interventions from the 4 stand mics in the aisle.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Hybrid: Zoom host at the AV desk shares the presenter screen; online participants see the moderator table and the U via the rear camera. AI-interpretation QR code shown on Screen L during breaks.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No change of the floor before the Steering Committee Meeting; the moderator table stays.</a:t>
            </a:r>
            <a:endParaRPr lang="en-US" sz="850" dirty="0"/>
          </a:p>
        </p:txBody>
      </p:sp>
      <p:sp>
        <p:nvSpPr>
          <p:cNvPr id="194" name="Text 192"/>
          <p:cNvSpPr txBox="1"/>
          <p:nvPr/>
        </p:nvSpPr>
        <p:spPr>
          <a:xfrm>
            <a:off x="411480" y="6601968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ADRC proposal, 7 Sep 2026 rev. 3 (draft for COSEM/SCDF/EXPO). Room width 15.4 m from the EXPO floorplan of 28 Jul 2026 (Option 2); seat pitch 0.60 m; room depth 14 m assumed for Peridot 202–205 — EXPO to confirm and redraw to scale.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Steering Committee Meeting (Day 1, 15:45–16:45)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ADRC member countries only. Same U; the chair (Japan, Cabinet Office) presides from seat 3–4 with ADRC beside; second row not used except ADRC staff and advisers.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325880" y="1325880"/>
            <a:ext cx="4506163" cy="4096512"/>
          </a:xfrm>
          <a:prstGeom prst="rect">
            <a:avLst/>
          </a:prstGeom>
          <a:solidFill>
            <a:srgbClr val="F4F6FA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935224" y="1143000"/>
            <a:ext cx="12874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FRONT (screen wall)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706270" y="1344168"/>
            <a:ext cx="1024128" cy="82296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706270" y="1435608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3864"/>
                </a:solidFill>
              </a:rPr>
              <a:t>Screen L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4427525" y="1344168"/>
            <a:ext cx="1024128" cy="82296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27525" y="1435608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3864"/>
                </a:solidFill>
              </a:rPr>
              <a:t>Screen R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289304" y="1911096"/>
            <a:ext cx="73152" cy="35113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" y="20025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</a:rPr>
              <a:t>Door 203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1289304" y="4105656"/>
            <a:ext cx="73152" cy="35113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" y="419709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</a:rPr>
              <a:t>Door 202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5795467" y="1911096"/>
            <a:ext cx="73152" cy="35113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05195" y="20025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</a:rPr>
              <a:t>Door 204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795467" y="4105656"/>
            <a:ext cx="73152" cy="35113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05195" y="419709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</a:rPr>
              <a:t>Door 205</a:t>
            </a:r>
            <a:endParaRPr lang="en-US" sz="600" dirty="0"/>
          </a:p>
        </p:txBody>
      </p:sp>
      <p:sp>
        <p:nvSpPr>
          <p:cNvPr id="18" name="Text 16"/>
          <p:cNvSpPr txBox="1"/>
          <p:nvPr/>
        </p:nvSpPr>
        <p:spPr>
          <a:xfrm>
            <a:off x="1384402" y="1501445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99999"/>
                </a:solidFill>
              </a:rPr>
              <a:t>Peridot 203</a:t>
            </a:r>
            <a:endParaRPr lang="en-US" sz="550" dirty="0"/>
          </a:p>
        </p:txBody>
      </p:sp>
      <p:sp>
        <p:nvSpPr>
          <p:cNvPr id="19" name="Text 17"/>
          <p:cNvSpPr txBox="1"/>
          <p:nvPr/>
        </p:nvSpPr>
        <p:spPr>
          <a:xfrm>
            <a:off x="5159045" y="1501445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999999"/>
                </a:solidFill>
              </a:rPr>
              <a:t>Peridot 204</a:t>
            </a:r>
            <a:endParaRPr lang="en-US" sz="550" dirty="0"/>
          </a:p>
        </p:txBody>
      </p:sp>
      <p:sp>
        <p:nvSpPr>
          <p:cNvPr id="20" name="Text 18"/>
          <p:cNvSpPr txBox="1"/>
          <p:nvPr/>
        </p:nvSpPr>
        <p:spPr>
          <a:xfrm>
            <a:off x="1384402" y="3842309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99999"/>
                </a:solidFill>
              </a:rPr>
              <a:t>Peridot 202</a:t>
            </a:r>
            <a:endParaRPr lang="en-US" sz="550" dirty="0"/>
          </a:p>
        </p:txBody>
      </p:sp>
      <p:sp>
        <p:nvSpPr>
          <p:cNvPr id="21" name="Text 19"/>
          <p:cNvSpPr txBox="1"/>
          <p:nvPr/>
        </p:nvSpPr>
        <p:spPr>
          <a:xfrm>
            <a:off x="5159045" y="3842309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999999"/>
                </a:solidFill>
              </a:rPr>
              <a:t>Peridot 205</a:t>
            </a:r>
            <a:endParaRPr lang="en-US" sz="55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440680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</a:rPr>
              <a:t>BACK (wall to NOT-IN-USE block)</a:t>
            </a:r>
            <a:endParaRPr lang="en-US" sz="600" dirty="0"/>
          </a:p>
        </p:txBody>
      </p:sp>
      <p:sp>
        <p:nvSpPr>
          <p:cNvPr id="23" name="Text 21"/>
          <p:cNvSpPr txBox="1"/>
          <p:nvPr/>
        </p:nvSpPr>
        <p:spPr>
          <a:xfrm>
            <a:off x="3783787" y="5440680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</a:rPr>
              <a:t>Coffee break (Option 1) in the foyer on this side →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1501445" y="1647749"/>
            <a:ext cx="526694" cy="234086"/>
          </a:xfrm>
          <a:prstGeom prst="rect">
            <a:avLst/>
          </a:prstGeom>
          <a:solidFill>
            <a:srgbClr val="0E7C7B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1445" y="1647749"/>
            <a:ext cx="526694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AV desk +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Zoom host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5159045" y="1647749"/>
            <a:ext cx="468173" cy="526694"/>
          </a:xfrm>
          <a:prstGeom prst="rect">
            <a:avLst/>
          </a:prstGeom>
          <a:solidFill>
            <a:srgbClr val="4E8F3A"/>
          </a:solidFill>
          <a:ln w="9525">
            <a:solidFill>
              <a:srgbClr val="4E8F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59045" y="1647749"/>
            <a:ext cx="468173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ADRC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Secre-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tariat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3505810" y="5217566"/>
            <a:ext cx="146304" cy="146304"/>
          </a:xfrm>
          <a:prstGeom prst="ellipse">
            <a:avLst/>
          </a:prstGeom>
          <a:solidFill>
            <a:srgbClr val="B02A2A"/>
          </a:solidFill>
          <a:ln w="12700">
            <a:solidFill>
              <a:srgbClr val="B02A2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670402" y="520293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B02A2A"/>
                </a:solidFill>
              </a:rPr>
              <a:t>Zoom camera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671877" y="1735531"/>
            <a:ext cx="204826" cy="146304"/>
          </a:xfrm>
          <a:prstGeom prst="rect">
            <a:avLst/>
          </a:prstGeom>
          <a:solidFill>
            <a:srgbClr val="EAD7B5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534717" y="1911096"/>
            <a:ext cx="47914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Lectern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3081528" y="1735531"/>
            <a:ext cx="936346" cy="160934"/>
          </a:xfrm>
          <a:prstGeom prst="rect">
            <a:avLst/>
          </a:prstGeom>
          <a:solidFill>
            <a:srgbClr val="D9B48F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081528" y="1911096"/>
            <a:ext cx="9363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66666"/>
                </a:solidFill>
              </a:rPr>
              <a:t>Moderator table (not used; may seat the ADRC secretary)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2218334" y="2145182"/>
            <a:ext cx="131674" cy="1931213"/>
          </a:xfrm>
          <a:prstGeom prst="rect">
            <a:avLst/>
          </a:prstGeom>
          <a:solidFill>
            <a:srgbClr val="D9B48F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76242" y="2145182"/>
            <a:ext cx="131674" cy="1931213"/>
          </a:xfrm>
          <a:prstGeom prst="rect">
            <a:avLst/>
          </a:prstGeom>
          <a:solidFill>
            <a:srgbClr val="D9B48F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18334" y="4076395"/>
            <a:ext cx="2589581" cy="131674"/>
          </a:xfrm>
          <a:prstGeom prst="rect">
            <a:avLst/>
          </a:prstGeom>
          <a:solidFill>
            <a:srgbClr val="D9B48F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56486" y="2173529"/>
            <a:ext cx="118872" cy="118872"/>
          </a:xfrm>
          <a:prstGeom prst="rect">
            <a:avLst/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386584" y="2159813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ADRC</a:t>
            </a:r>
            <a:endParaRPr lang="en-US" sz="550" dirty="0"/>
          </a:p>
        </p:txBody>
      </p:sp>
      <p:sp>
        <p:nvSpPr>
          <p:cNvPr id="39" name="Shape 37"/>
          <p:cNvSpPr/>
          <p:nvPr/>
        </p:nvSpPr>
        <p:spPr>
          <a:xfrm>
            <a:off x="2056486" y="2349094"/>
            <a:ext cx="118872" cy="118872"/>
          </a:xfrm>
          <a:prstGeom prst="rect">
            <a:avLst/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386584" y="233537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ADRC</a:t>
            </a:r>
            <a:endParaRPr lang="en-US" sz="550" dirty="0"/>
          </a:p>
        </p:txBody>
      </p:sp>
      <p:sp>
        <p:nvSpPr>
          <p:cNvPr id="41" name="Shape 39"/>
          <p:cNvSpPr/>
          <p:nvPr/>
        </p:nvSpPr>
        <p:spPr>
          <a:xfrm>
            <a:off x="2056486" y="2524658"/>
            <a:ext cx="118872" cy="118872"/>
          </a:xfrm>
          <a:prstGeom prst="rect">
            <a:avLst/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386584" y="251094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JPN</a:t>
            </a:r>
            <a:endParaRPr lang="en-US" sz="550" dirty="0"/>
          </a:p>
        </p:txBody>
      </p:sp>
      <p:sp>
        <p:nvSpPr>
          <p:cNvPr id="43" name="Shape 41"/>
          <p:cNvSpPr/>
          <p:nvPr/>
        </p:nvSpPr>
        <p:spPr>
          <a:xfrm>
            <a:off x="2056486" y="2700223"/>
            <a:ext cx="118872" cy="118872"/>
          </a:xfrm>
          <a:prstGeom prst="rect">
            <a:avLst/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386584" y="2686507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JPN</a:t>
            </a:r>
            <a:endParaRPr lang="en-US" sz="550" dirty="0"/>
          </a:p>
        </p:txBody>
      </p:sp>
      <p:sp>
        <p:nvSpPr>
          <p:cNvPr id="45" name="Shape 43"/>
          <p:cNvSpPr/>
          <p:nvPr/>
        </p:nvSpPr>
        <p:spPr>
          <a:xfrm>
            <a:off x="2056486" y="2875788"/>
            <a:ext cx="118872" cy="118872"/>
          </a:xfrm>
          <a:prstGeom prst="rect">
            <a:avLst/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386584" y="28620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SGP</a:t>
            </a:r>
            <a:endParaRPr lang="en-US" sz="550" dirty="0"/>
          </a:p>
        </p:txBody>
      </p:sp>
      <p:sp>
        <p:nvSpPr>
          <p:cNvPr id="47" name="Shape 45"/>
          <p:cNvSpPr/>
          <p:nvPr/>
        </p:nvSpPr>
        <p:spPr>
          <a:xfrm>
            <a:off x="2056486" y="3051353"/>
            <a:ext cx="118872" cy="118872"/>
          </a:xfrm>
          <a:prstGeom prst="rect">
            <a:avLst/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386584" y="3037637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SGP</a:t>
            </a:r>
            <a:endParaRPr lang="en-US" sz="550" dirty="0"/>
          </a:p>
        </p:txBody>
      </p:sp>
      <p:sp>
        <p:nvSpPr>
          <p:cNvPr id="49" name="Shape 47"/>
          <p:cNvSpPr/>
          <p:nvPr/>
        </p:nvSpPr>
        <p:spPr>
          <a:xfrm>
            <a:off x="2056486" y="3226918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386584" y="321320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AZE</a:t>
            </a:r>
            <a:endParaRPr lang="en-US" sz="550" dirty="0"/>
          </a:p>
        </p:txBody>
      </p:sp>
      <p:sp>
        <p:nvSpPr>
          <p:cNvPr id="51" name="Shape 49"/>
          <p:cNvSpPr/>
          <p:nvPr/>
        </p:nvSpPr>
        <p:spPr>
          <a:xfrm>
            <a:off x="2056486" y="3402482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386584" y="338876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AZE</a:t>
            </a:r>
            <a:endParaRPr lang="en-US" sz="550" dirty="0"/>
          </a:p>
        </p:txBody>
      </p:sp>
      <p:sp>
        <p:nvSpPr>
          <p:cNvPr id="53" name="Shape 51"/>
          <p:cNvSpPr/>
          <p:nvPr/>
        </p:nvSpPr>
        <p:spPr>
          <a:xfrm>
            <a:off x="2056486" y="3578047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2386584" y="3564331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BGD</a:t>
            </a:r>
            <a:endParaRPr lang="en-US" sz="550" dirty="0"/>
          </a:p>
        </p:txBody>
      </p:sp>
      <p:sp>
        <p:nvSpPr>
          <p:cNvPr id="55" name="Shape 53"/>
          <p:cNvSpPr/>
          <p:nvPr/>
        </p:nvSpPr>
        <p:spPr>
          <a:xfrm>
            <a:off x="2056486" y="3753612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2386584" y="373989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ARM</a:t>
            </a:r>
            <a:endParaRPr lang="en-US" sz="550" dirty="0"/>
          </a:p>
        </p:txBody>
      </p:sp>
      <p:sp>
        <p:nvSpPr>
          <p:cNvPr id="57" name="Shape 55"/>
          <p:cNvSpPr/>
          <p:nvPr/>
        </p:nvSpPr>
        <p:spPr>
          <a:xfrm>
            <a:off x="2056486" y="3929177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2386584" y="3915461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KHM</a:t>
            </a:r>
            <a:endParaRPr lang="en-US" sz="550" dirty="0"/>
          </a:p>
        </p:txBody>
      </p:sp>
      <p:sp>
        <p:nvSpPr>
          <p:cNvPr id="59" name="Shape 57"/>
          <p:cNvSpPr/>
          <p:nvPr/>
        </p:nvSpPr>
        <p:spPr>
          <a:xfrm>
            <a:off x="2378354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 rot="16200000">
            <a:off x="2337206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FJI</a:t>
            </a:r>
            <a:endParaRPr lang="en-US" sz="550" dirty="0"/>
          </a:p>
        </p:txBody>
      </p:sp>
      <p:sp>
        <p:nvSpPr>
          <p:cNvPr id="61" name="Shape 59"/>
          <p:cNvSpPr/>
          <p:nvPr/>
        </p:nvSpPr>
        <p:spPr>
          <a:xfrm>
            <a:off x="2553919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 rot="16200000">
            <a:off x="2512771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IND</a:t>
            </a:r>
            <a:endParaRPr lang="en-US" sz="550" dirty="0"/>
          </a:p>
        </p:txBody>
      </p:sp>
      <p:sp>
        <p:nvSpPr>
          <p:cNvPr id="63" name="Shape 61"/>
          <p:cNvSpPr/>
          <p:nvPr/>
        </p:nvSpPr>
        <p:spPr>
          <a:xfrm>
            <a:off x="2729484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 rot="16200000">
            <a:off x="2688336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IND</a:t>
            </a:r>
            <a:endParaRPr lang="en-US" sz="550" dirty="0"/>
          </a:p>
        </p:txBody>
      </p:sp>
      <p:sp>
        <p:nvSpPr>
          <p:cNvPr id="65" name="Shape 63"/>
          <p:cNvSpPr/>
          <p:nvPr/>
        </p:nvSpPr>
        <p:spPr>
          <a:xfrm>
            <a:off x="2905049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 rot="16200000">
            <a:off x="2863901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KOR</a:t>
            </a:r>
            <a:endParaRPr lang="en-US" sz="550" dirty="0"/>
          </a:p>
        </p:txBody>
      </p:sp>
      <p:sp>
        <p:nvSpPr>
          <p:cNvPr id="67" name="Shape 65"/>
          <p:cNvSpPr/>
          <p:nvPr/>
        </p:nvSpPr>
        <p:spPr>
          <a:xfrm>
            <a:off x="3080614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 rot="16200000">
            <a:off x="3039466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KOR</a:t>
            </a:r>
            <a:endParaRPr lang="en-US" sz="550" dirty="0"/>
          </a:p>
        </p:txBody>
      </p:sp>
      <p:sp>
        <p:nvSpPr>
          <p:cNvPr id="69" name="Shape 67"/>
          <p:cNvSpPr/>
          <p:nvPr/>
        </p:nvSpPr>
        <p:spPr>
          <a:xfrm>
            <a:off x="3256178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 rot="16200000">
            <a:off x="3215030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MYS</a:t>
            </a:r>
            <a:endParaRPr lang="en-US" sz="550" dirty="0"/>
          </a:p>
        </p:txBody>
      </p:sp>
      <p:sp>
        <p:nvSpPr>
          <p:cNvPr id="71" name="Shape 69"/>
          <p:cNvSpPr/>
          <p:nvPr/>
        </p:nvSpPr>
        <p:spPr>
          <a:xfrm>
            <a:off x="3431743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 rot="16200000">
            <a:off x="3390595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MDV</a:t>
            </a:r>
            <a:endParaRPr lang="en-US" sz="550" dirty="0"/>
          </a:p>
        </p:txBody>
      </p:sp>
      <p:sp>
        <p:nvSpPr>
          <p:cNvPr id="73" name="Shape 71"/>
          <p:cNvSpPr/>
          <p:nvPr/>
        </p:nvSpPr>
        <p:spPr>
          <a:xfrm>
            <a:off x="3607308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 rot="16200000">
            <a:off x="3566160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MNG</a:t>
            </a:r>
            <a:endParaRPr lang="en-US" sz="550" dirty="0"/>
          </a:p>
        </p:txBody>
      </p:sp>
      <p:sp>
        <p:nvSpPr>
          <p:cNvPr id="75" name="Shape 73"/>
          <p:cNvSpPr/>
          <p:nvPr/>
        </p:nvSpPr>
        <p:spPr>
          <a:xfrm>
            <a:off x="3782873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 rot="16200000">
            <a:off x="3741725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PAK</a:t>
            </a:r>
            <a:endParaRPr lang="en-US" sz="550" dirty="0"/>
          </a:p>
        </p:txBody>
      </p:sp>
      <p:sp>
        <p:nvSpPr>
          <p:cNvPr id="77" name="Shape 75"/>
          <p:cNvSpPr/>
          <p:nvPr/>
        </p:nvSpPr>
        <p:spPr>
          <a:xfrm>
            <a:off x="3958438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 rot="16200000">
            <a:off x="3917290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PAK</a:t>
            </a:r>
            <a:endParaRPr lang="en-US" sz="550" dirty="0"/>
          </a:p>
        </p:txBody>
      </p:sp>
      <p:sp>
        <p:nvSpPr>
          <p:cNvPr id="79" name="Shape 77"/>
          <p:cNvSpPr/>
          <p:nvPr/>
        </p:nvSpPr>
        <p:spPr>
          <a:xfrm>
            <a:off x="4134002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 rot="16200000">
            <a:off x="4092854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PNG</a:t>
            </a:r>
            <a:endParaRPr lang="en-US" sz="550" dirty="0"/>
          </a:p>
        </p:txBody>
      </p:sp>
      <p:sp>
        <p:nvSpPr>
          <p:cNvPr id="81" name="Shape 79"/>
          <p:cNvSpPr/>
          <p:nvPr/>
        </p:nvSpPr>
        <p:spPr>
          <a:xfrm>
            <a:off x="4309567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 rot="16200000">
            <a:off x="4268419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PNG</a:t>
            </a:r>
            <a:endParaRPr lang="en-US" sz="550" dirty="0"/>
          </a:p>
        </p:txBody>
      </p:sp>
      <p:sp>
        <p:nvSpPr>
          <p:cNvPr id="83" name="Shape 81"/>
          <p:cNvSpPr/>
          <p:nvPr/>
        </p:nvSpPr>
        <p:spPr>
          <a:xfrm>
            <a:off x="4485132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 rot="16200000">
            <a:off x="4443984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PHL</a:t>
            </a:r>
            <a:endParaRPr lang="en-US" sz="550" dirty="0"/>
          </a:p>
        </p:txBody>
      </p:sp>
      <p:sp>
        <p:nvSpPr>
          <p:cNvPr id="85" name="Shape 83"/>
          <p:cNvSpPr/>
          <p:nvPr/>
        </p:nvSpPr>
        <p:spPr>
          <a:xfrm>
            <a:off x="4660697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 rot="16200000">
            <a:off x="4619549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PHL</a:t>
            </a:r>
            <a:endParaRPr lang="en-US" sz="550" dirty="0"/>
          </a:p>
        </p:txBody>
      </p:sp>
      <p:sp>
        <p:nvSpPr>
          <p:cNvPr id="87" name="Shape 85"/>
          <p:cNvSpPr/>
          <p:nvPr/>
        </p:nvSpPr>
        <p:spPr>
          <a:xfrm>
            <a:off x="4850892" y="3929177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4228186" y="3915461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LKA</a:t>
            </a:r>
            <a:endParaRPr lang="en-US" sz="550" dirty="0"/>
          </a:p>
        </p:txBody>
      </p:sp>
      <p:sp>
        <p:nvSpPr>
          <p:cNvPr id="89" name="Shape 87"/>
          <p:cNvSpPr/>
          <p:nvPr/>
        </p:nvSpPr>
        <p:spPr>
          <a:xfrm>
            <a:off x="4850892" y="3753612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4228186" y="373989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THA</a:t>
            </a:r>
            <a:endParaRPr lang="en-US" sz="550" dirty="0"/>
          </a:p>
        </p:txBody>
      </p:sp>
      <p:sp>
        <p:nvSpPr>
          <p:cNvPr id="91" name="Shape 89"/>
          <p:cNvSpPr/>
          <p:nvPr/>
        </p:nvSpPr>
        <p:spPr>
          <a:xfrm>
            <a:off x="4850892" y="3578047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4228186" y="3564331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THA</a:t>
            </a:r>
            <a:endParaRPr lang="en-US" sz="550" dirty="0"/>
          </a:p>
        </p:txBody>
      </p:sp>
      <p:sp>
        <p:nvSpPr>
          <p:cNvPr id="93" name="Shape 91"/>
          <p:cNvSpPr/>
          <p:nvPr/>
        </p:nvSpPr>
        <p:spPr>
          <a:xfrm>
            <a:off x="4850892" y="3402482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4228186" y="338876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TUR</a:t>
            </a:r>
            <a:endParaRPr lang="en-US" sz="550" dirty="0"/>
          </a:p>
        </p:txBody>
      </p:sp>
      <p:sp>
        <p:nvSpPr>
          <p:cNvPr id="95" name="Shape 93"/>
          <p:cNvSpPr/>
          <p:nvPr/>
        </p:nvSpPr>
        <p:spPr>
          <a:xfrm>
            <a:off x="4850892" y="3226918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4228186" y="321320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TUR</a:t>
            </a:r>
            <a:endParaRPr lang="en-US" sz="550" dirty="0"/>
          </a:p>
        </p:txBody>
      </p:sp>
      <p:sp>
        <p:nvSpPr>
          <p:cNvPr id="97" name="Shape 95"/>
          <p:cNvSpPr/>
          <p:nvPr/>
        </p:nvSpPr>
        <p:spPr>
          <a:xfrm>
            <a:off x="4850892" y="3051353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4228186" y="3037637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UZB</a:t>
            </a:r>
            <a:endParaRPr lang="en-US" sz="550" dirty="0"/>
          </a:p>
        </p:txBody>
      </p:sp>
      <p:sp>
        <p:nvSpPr>
          <p:cNvPr id="99" name="Shape 97"/>
          <p:cNvSpPr/>
          <p:nvPr/>
        </p:nvSpPr>
        <p:spPr>
          <a:xfrm>
            <a:off x="4850892" y="2875788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4228186" y="28620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UZB</a:t>
            </a:r>
            <a:endParaRPr lang="en-US" sz="550" dirty="0"/>
          </a:p>
        </p:txBody>
      </p:sp>
      <p:sp>
        <p:nvSpPr>
          <p:cNvPr id="101" name="Shape 99"/>
          <p:cNvSpPr/>
          <p:nvPr/>
        </p:nvSpPr>
        <p:spPr>
          <a:xfrm>
            <a:off x="4850892" y="2700223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4228186" y="2686507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VNM</a:t>
            </a:r>
            <a:endParaRPr lang="en-US" sz="550" dirty="0"/>
          </a:p>
        </p:txBody>
      </p:sp>
      <p:sp>
        <p:nvSpPr>
          <p:cNvPr id="103" name="Shape 101"/>
          <p:cNvSpPr/>
          <p:nvPr/>
        </p:nvSpPr>
        <p:spPr>
          <a:xfrm>
            <a:off x="4850892" y="2524658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4228186" y="251094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VNM</a:t>
            </a:r>
            <a:endParaRPr lang="en-US" sz="550" dirty="0"/>
          </a:p>
        </p:txBody>
      </p:sp>
      <p:sp>
        <p:nvSpPr>
          <p:cNvPr id="105" name="Shape 103"/>
          <p:cNvSpPr/>
          <p:nvPr/>
        </p:nvSpPr>
        <p:spPr>
          <a:xfrm>
            <a:off x="4850892" y="2349094"/>
            <a:ext cx="118872" cy="118872"/>
          </a:xfrm>
          <a:prstGeom prst="rect">
            <a:avLst/>
          </a:prstGeom>
          <a:solidFill>
            <a:srgbClr val="0E7C7B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4228186" y="233537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NZL</a:t>
            </a:r>
            <a:endParaRPr lang="en-US" sz="550" dirty="0"/>
          </a:p>
        </p:txBody>
      </p:sp>
      <p:sp>
        <p:nvSpPr>
          <p:cNvPr id="107" name="Shape 105"/>
          <p:cNvSpPr/>
          <p:nvPr/>
        </p:nvSpPr>
        <p:spPr>
          <a:xfrm>
            <a:off x="4850892" y="2173529"/>
            <a:ext cx="118872" cy="118872"/>
          </a:xfrm>
          <a:prstGeom prst="rect">
            <a:avLst/>
          </a:prstGeom>
          <a:solidFill>
            <a:srgbClr val="0E7C7B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4228186" y="2159813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NZL</a:t>
            </a:r>
            <a:endParaRPr lang="en-US" sz="550" dirty="0"/>
          </a:p>
        </p:txBody>
      </p:sp>
      <p:sp>
        <p:nvSpPr>
          <p:cNvPr id="109" name="Shape 107"/>
          <p:cNvSpPr/>
          <p:nvPr/>
        </p:nvSpPr>
        <p:spPr>
          <a:xfrm>
            <a:off x="1530706" y="2145182"/>
            <a:ext cx="131674" cy="2618842"/>
          </a:xfrm>
          <a:prstGeom prst="rect">
            <a:avLst/>
          </a:prstGeom>
          <a:solidFill>
            <a:srgbClr val="D9B48F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363870" y="2145182"/>
            <a:ext cx="131674" cy="2618842"/>
          </a:xfrm>
          <a:prstGeom prst="rect">
            <a:avLst/>
          </a:prstGeom>
          <a:solidFill>
            <a:srgbClr val="D9B48F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530706" y="4764024"/>
            <a:ext cx="3964838" cy="131674"/>
          </a:xfrm>
          <a:prstGeom prst="rect">
            <a:avLst/>
          </a:prstGeom>
          <a:solidFill>
            <a:srgbClr val="D9B48F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378001" y="2182673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547665" y="2182673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378001" y="2358238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547665" y="2358238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378001" y="2533802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547665" y="2533802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378001" y="2709367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547665" y="2709367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378001" y="2884932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547665" y="2884932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378001" y="3060497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547665" y="3060497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378001" y="3236062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547665" y="3236062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378001" y="3411626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547665" y="3411626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378001" y="3587191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547665" y="3587191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378001" y="3762756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547665" y="3762756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378001" y="3938321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547665" y="3938321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378001" y="4113886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547665" y="4113886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378001" y="4289450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547665" y="4289450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378001" y="4465015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547665" y="4465015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699870" y="4947818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875434" y="4947818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050999" y="4947818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226564" y="4947818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402129" y="4947818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2577694" y="4947818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753258" y="4947818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928823" y="4947818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3104388" y="4947818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3279953" y="4947818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3455518" y="4947818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3631082" y="4947818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3806647" y="4947818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3982212" y="4947818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4157777" y="4947818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4333342" y="4947818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4508906" y="4947818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684471" y="4947818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4860036" y="4947818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035601" y="4947818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211166" y="4947818"/>
            <a:ext cx="100584" cy="100584"/>
          </a:xfrm>
          <a:prstGeom prst="ellipse">
            <a:avLst/>
          </a:prstGeom>
          <a:solidFill>
            <a:srgbClr val="D0D0D0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841602" y="3055925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02A2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074920" y="3055925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02A2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3032516" y="4475074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02A2A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4015679" y="4475074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02A2A"/>
            </a:solidFill>
            <a:prstDash val="solid"/>
          </a:ln>
        </p:spPr>
      </p:sp>
      <p:sp>
        <p:nvSpPr>
          <p:cNvPr id="165" name="Text 163"/>
          <p:cNvSpPr txBox="1"/>
          <p:nvPr/>
        </p:nvSpPr>
        <p:spPr>
          <a:xfrm>
            <a:off x="806501" y="2159813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666666"/>
                </a:solidFill>
              </a:rPr>
              <a:t>MIYAKI (ED)</a:t>
            </a:r>
            <a:endParaRPr lang="en-US" sz="500" dirty="0"/>
          </a:p>
        </p:txBody>
      </p:sp>
      <p:sp>
        <p:nvSpPr>
          <p:cNvPr id="166" name="Text 164"/>
          <p:cNvSpPr txBox="1"/>
          <p:nvPr/>
        </p:nvSpPr>
        <p:spPr>
          <a:xfrm>
            <a:off x="806501" y="233537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666666"/>
                </a:solidFill>
              </a:rPr>
              <a:t>KODAMA (Dir.)</a:t>
            </a:r>
            <a:endParaRPr lang="en-US" sz="500" dirty="0"/>
          </a:p>
        </p:txBody>
      </p:sp>
      <p:sp>
        <p:nvSpPr>
          <p:cNvPr id="167" name="Text 165"/>
          <p:cNvSpPr txBox="1"/>
          <p:nvPr/>
        </p:nvSpPr>
        <p:spPr>
          <a:xfrm>
            <a:off x="5671109" y="2159813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666666"/>
                </a:solidFill>
              </a:rPr>
              <a:t>ADPC</a:t>
            </a:r>
            <a:endParaRPr lang="en-US" sz="500" dirty="0"/>
          </a:p>
        </p:txBody>
      </p:sp>
      <p:sp>
        <p:nvSpPr>
          <p:cNvPr id="168" name="Text 166"/>
          <p:cNvSpPr txBox="1"/>
          <p:nvPr/>
        </p:nvSpPr>
        <p:spPr>
          <a:xfrm>
            <a:off x="5671109" y="233537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666666"/>
                </a:solidFill>
              </a:rPr>
              <a:t>ADPC</a:t>
            </a:r>
            <a:endParaRPr lang="en-US" sz="500" dirty="0"/>
          </a:p>
        </p:txBody>
      </p:sp>
      <p:sp>
        <p:nvSpPr>
          <p:cNvPr id="169" name="Text 167"/>
          <p:cNvSpPr txBox="1"/>
          <p:nvPr/>
        </p:nvSpPr>
        <p:spPr>
          <a:xfrm>
            <a:off x="5671109" y="251094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666666"/>
                </a:solidFill>
              </a:rPr>
              <a:t>NZ 3rd</a:t>
            </a:r>
            <a:endParaRPr lang="en-US" sz="500" dirty="0"/>
          </a:p>
        </p:txBody>
      </p:sp>
      <p:sp>
        <p:nvSpPr>
          <p:cNvPr id="170" name="Text 168"/>
          <p:cNvSpPr txBox="1"/>
          <p:nvPr/>
        </p:nvSpPr>
        <p:spPr>
          <a:xfrm>
            <a:off x="1784909" y="508955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66666"/>
                </a:solidFill>
              </a:rPr>
              <a:t>IND 3rd</a:t>
            </a:r>
            <a:endParaRPr lang="en-US" sz="500" dirty="0"/>
          </a:p>
        </p:txBody>
      </p:sp>
      <p:sp>
        <p:nvSpPr>
          <p:cNvPr id="171" name="Shape 169"/>
          <p:cNvSpPr/>
          <p:nvPr/>
        </p:nvSpPr>
        <p:spPr>
          <a:xfrm>
            <a:off x="8458200" y="1088136"/>
            <a:ext cx="128016" cy="12801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2" name="Text 170"/>
          <p:cNvSpPr txBox="1"/>
          <p:nvPr/>
        </p:nvSpPr>
        <p:spPr>
          <a:xfrm>
            <a:off x="8668512" y="10515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ADRC / Japan (chair) / Singapore</a:t>
            </a:r>
            <a:endParaRPr lang="en-US" sz="900" dirty="0"/>
          </a:p>
        </p:txBody>
      </p:sp>
      <p:sp>
        <p:nvSpPr>
          <p:cNvPr id="173" name="Shape 171"/>
          <p:cNvSpPr/>
          <p:nvPr/>
        </p:nvSpPr>
        <p:spPr>
          <a:xfrm>
            <a:off x="8458200" y="1325880"/>
            <a:ext cx="128016" cy="12801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4" name="Text 172"/>
          <p:cNvSpPr txBox="1"/>
          <p:nvPr/>
        </p:nvSpPr>
        <p:spPr>
          <a:xfrm>
            <a:off x="8668512" y="128930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Member-country seats with table mic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8458200" y="1563624"/>
            <a:ext cx="128016" cy="12801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6" name="Text 174"/>
          <p:cNvSpPr txBox="1"/>
          <p:nvPr/>
        </p:nvSpPr>
        <p:spPr>
          <a:xfrm>
            <a:off x="8668512" y="15270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Advisers (New Zealand; Australia NEMA if attending)</a:t>
            </a:r>
            <a:endParaRPr lang="en-US" sz="900" dirty="0"/>
          </a:p>
        </p:txBody>
      </p:sp>
      <p:sp>
        <p:nvSpPr>
          <p:cNvPr id="177" name="Shape 175"/>
          <p:cNvSpPr/>
          <p:nvPr/>
        </p:nvSpPr>
        <p:spPr>
          <a:xfrm>
            <a:off x="8458200" y="1801368"/>
            <a:ext cx="128016" cy="128016"/>
          </a:xfrm>
          <a:prstGeom prst="ellipse">
            <a:avLst/>
          </a:prstGeom>
          <a:solidFill>
            <a:srgbClr val="D0D0D0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178" name="Text 176"/>
          <p:cNvSpPr txBox="1"/>
          <p:nvPr/>
        </p:nvSpPr>
        <p:spPr>
          <a:xfrm>
            <a:off x="8668512" y="176479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2nd row and rear row: not used during the SC</a:t>
            </a:r>
            <a:endParaRPr lang="en-US" sz="900" dirty="0"/>
          </a:p>
        </p:txBody>
      </p:sp>
      <p:sp>
        <p:nvSpPr>
          <p:cNvPr id="179" name="Shape 177"/>
          <p:cNvSpPr/>
          <p:nvPr/>
        </p:nvSpPr>
        <p:spPr>
          <a:xfrm>
            <a:off x="8458200" y="203911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02A2A"/>
            </a:solidFill>
            <a:prstDash val="solid"/>
          </a:ln>
        </p:spPr>
      </p:sp>
      <p:sp>
        <p:nvSpPr>
          <p:cNvPr id="180" name="Text 178"/>
          <p:cNvSpPr txBox="1"/>
          <p:nvPr/>
        </p:nvSpPr>
        <p:spPr>
          <a:xfrm>
            <a:off x="8668512" y="200253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Stand mics (not needed)</a:t>
            </a:r>
            <a:endParaRPr lang="en-US" sz="900" dirty="0"/>
          </a:p>
        </p:txBody>
      </p:sp>
      <p:sp>
        <p:nvSpPr>
          <p:cNvPr id="181" name="Shape 179"/>
          <p:cNvSpPr/>
          <p:nvPr/>
        </p:nvSpPr>
        <p:spPr>
          <a:xfrm>
            <a:off x="8458200" y="2276856"/>
            <a:ext cx="128016" cy="128016"/>
          </a:xfrm>
          <a:prstGeom prst="rect">
            <a:avLst/>
          </a:prstGeom>
          <a:solidFill>
            <a:srgbClr val="D9B48F"/>
          </a:solidFill>
          <a:ln w="12700">
            <a:solidFill>
              <a:srgbClr val="D9B48F"/>
            </a:solidFill>
            <a:prstDash val="solid"/>
          </a:ln>
        </p:spPr>
      </p:sp>
      <p:sp>
        <p:nvSpPr>
          <p:cNvPr id="182" name="Text 180"/>
          <p:cNvSpPr txBox="1"/>
          <p:nvPr/>
        </p:nvSpPr>
        <p:spPr>
          <a:xfrm>
            <a:off x="8668512" y="22402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Tables</a:t>
            </a:r>
            <a:endParaRPr lang="en-US" sz="900" dirty="0"/>
          </a:p>
        </p:txBody>
      </p:sp>
      <p:sp>
        <p:nvSpPr>
          <p:cNvPr id="183" name="Shape 181"/>
          <p:cNvSpPr/>
          <p:nvPr/>
        </p:nvSpPr>
        <p:spPr>
          <a:xfrm>
            <a:off x="8458200" y="2514600"/>
            <a:ext cx="128016" cy="12801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4" name="Text 182"/>
          <p:cNvSpPr txBox="1"/>
          <p:nvPr/>
        </p:nvSpPr>
        <p:spPr>
          <a:xfrm>
            <a:off x="8668512" y="247802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AV desk</a:t>
            </a:r>
            <a:endParaRPr lang="en-US" sz="900" dirty="0"/>
          </a:p>
        </p:txBody>
      </p:sp>
      <p:sp>
        <p:nvSpPr>
          <p:cNvPr id="185" name="Shape 183"/>
          <p:cNvSpPr/>
          <p:nvPr/>
        </p:nvSpPr>
        <p:spPr>
          <a:xfrm>
            <a:off x="8458200" y="2752344"/>
            <a:ext cx="128016" cy="128016"/>
          </a:xfrm>
          <a:prstGeom prst="rect">
            <a:avLst/>
          </a:prstGeom>
          <a:solidFill>
            <a:srgbClr val="4E8F3A"/>
          </a:solidFill>
          <a:ln w="12700">
            <a:solidFill>
              <a:srgbClr val="4E8F3A"/>
            </a:solidFill>
            <a:prstDash val="solid"/>
          </a:ln>
        </p:spPr>
      </p:sp>
      <p:sp>
        <p:nvSpPr>
          <p:cNvPr id="186" name="Text 184"/>
          <p:cNvSpPr txBox="1"/>
          <p:nvPr/>
        </p:nvSpPr>
        <p:spPr>
          <a:xfrm>
            <a:off x="8668512" y="27157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ADRC Secretariat</a:t>
            </a:r>
            <a:endParaRPr lang="en-US" sz="900" dirty="0"/>
          </a:p>
        </p:txBody>
      </p:sp>
      <p:sp>
        <p:nvSpPr>
          <p:cNvPr id="187" name="Shape 185"/>
          <p:cNvSpPr/>
          <p:nvPr/>
        </p:nvSpPr>
        <p:spPr>
          <a:xfrm>
            <a:off x="8458200" y="2990088"/>
            <a:ext cx="128016" cy="128016"/>
          </a:xfrm>
          <a:prstGeom prst="ellipse">
            <a:avLst/>
          </a:prstGeom>
          <a:solidFill>
            <a:srgbClr val="B02A2A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188" name="Text 186"/>
          <p:cNvSpPr txBox="1"/>
          <p:nvPr/>
        </p:nvSpPr>
        <p:spPr>
          <a:xfrm>
            <a:off x="8668512" y="295351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Zoom camera</a:t>
            </a:r>
            <a:endParaRPr lang="en-US" sz="900" dirty="0"/>
          </a:p>
        </p:txBody>
      </p:sp>
      <p:sp>
        <p:nvSpPr>
          <p:cNvPr id="189" name="Text 187"/>
          <p:cNvSpPr txBox="1"/>
          <p:nvPr/>
        </p:nvSpPr>
        <p:spPr>
          <a:xfrm>
            <a:off x="8458200" y="3282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Notes</a:t>
            </a:r>
            <a:endParaRPr lang="en-US" sz="1200" dirty="0"/>
          </a:p>
        </p:txBody>
      </p:sp>
      <p:sp>
        <p:nvSpPr>
          <p:cNvPr id="190" name="Text 188"/>
          <p:cNvSpPr txBox="1"/>
          <p:nvPr/>
        </p:nvSpPr>
        <p:spPr>
          <a:xfrm>
            <a:off x="8458200" y="3575304"/>
            <a:ext cx="329184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Chaired by Japan (Cabinet Office) from the front-left of the U; ADRC Executive Director and Managing Director in seats 1–2; ADRC secretary (Moriguchi) at the moderator table or seat 2.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Member countries keep their Roundtable seats; advisers (New Zealand; Australia NEMA if attending) may sit in, as agreed on 19 Aug.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Observers, invited guests and general participants leave during the coffee break (15:30–15:45); ADRC staff use the second row behind seats 1–6.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Documents on the U before the session; decisions shown on the screens from the AV desk.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Gala Dinner departure 17:30 from Dorsett: participants walk back to the hotel after the SC.</a:t>
            </a:r>
            <a:endParaRPr lang="en-US" sz="850" dirty="0"/>
          </a:p>
        </p:txBody>
      </p:sp>
      <p:sp>
        <p:nvSpPr>
          <p:cNvPr id="191" name="Text 189"/>
          <p:cNvSpPr txBox="1"/>
          <p:nvPr/>
        </p:nvSpPr>
        <p:spPr>
          <a:xfrm>
            <a:off x="411480" y="6601968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ADRC proposal, 7 Sep 2026 rev. 3 (draft for COSEM/SCDF/EXPO). Room width 15.4 m from the EXPO floorplan of 28 Jul 2026 (Option 2); seat pitch 0.60 m; room depth 14 m assumed for Peridot 202–205 — EXPO to confirm and redraw to scale.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Technical Session (Day 2, 09:30–11:30)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DRR DX for Isolated and Inaccessible Regions. Front area re-set: co-chairs table left, lectern centre, speakers' table (6) right; the U and second row stay as on Day 1.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325880" y="1325880"/>
            <a:ext cx="4506163" cy="4096512"/>
          </a:xfrm>
          <a:prstGeom prst="rect">
            <a:avLst/>
          </a:prstGeom>
          <a:solidFill>
            <a:srgbClr val="F4F6FA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935224" y="1143000"/>
            <a:ext cx="12874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FRONT (screen wall)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706270" y="1344168"/>
            <a:ext cx="1024128" cy="82296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706270" y="1435608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3864"/>
                </a:solidFill>
              </a:rPr>
              <a:t>Screen L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4427525" y="1344168"/>
            <a:ext cx="1024128" cy="82296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27525" y="1435608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3864"/>
                </a:solidFill>
              </a:rPr>
              <a:t>Screen R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289304" y="1911096"/>
            <a:ext cx="73152" cy="35113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" y="20025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</a:rPr>
              <a:t>Door 203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1289304" y="4105656"/>
            <a:ext cx="73152" cy="35113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" y="419709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</a:rPr>
              <a:t>Door 202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5795467" y="1911096"/>
            <a:ext cx="73152" cy="35113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05195" y="20025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</a:rPr>
              <a:t>Door 204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795467" y="4105656"/>
            <a:ext cx="73152" cy="35113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05195" y="419709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</a:rPr>
              <a:t>Door 205</a:t>
            </a:r>
            <a:endParaRPr lang="en-US" sz="600" dirty="0"/>
          </a:p>
        </p:txBody>
      </p:sp>
      <p:sp>
        <p:nvSpPr>
          <p:cNvPr id="18" name="Text 16"/>
          <p:cNvSpPr txBox="1"/>
          <p:nvPr/>
        </p:nvSpPr>
        <p:spPr>
          <a:xfrm>
            <a:off x="1384402" y="1501445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99999"/>
                </a:solidFill>
              </a:rPr>
              <a:t>Peridot 203</a:t>
            </a:r>
            <a:endParaRPr lang="en-US" sz="550" dirty="0"/>
          </a:p>
        </p:txBody>
      </p:sp>
      <p:sp>
        <p:nvSpPr>
          <p:cNvPr id="19" name="Text 17"/>
          <p:cNvSpPr txBox="1"/>
          <p:nvPr/>
        </p:nvSpPr>
        <p:spPr>
          <a:xfrm>
            <a:off x="5159045" y="1501445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999999"/>
                </a:solidFill>
              </a:rPr>
              <a:t>Peridot 204</a:t>
            </a:r>
            <a:endParaRPr lang="en-US" sz="550" dirty="0"/>
          </a:p>
        </p:txBody>
      </p:sp>
      <p:sp>
        <p:nvSpPr>
          <p:cNvPr id="20" name="Text 18"/>
          <p:cNvSpPr txBox="1"/>
          <p:nvPr/>
        </p:nvSpPr>
        <p:spPr>
          <a:xfrm>
            <a:off x="1384402" y="3842309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99999"/>
                </a:solidFill>
              </a:rPr>
              <a:t>Peridot 202</a:t>
            </a:r>
            <a:endParaRPr lang="en-US" sz="550" dirty="0"/>
          </a:p>
        </p:txBody>
      </p:sp>
      <p:sp>
        <p:nvSpPr>
          <p:cNvPr id="21" name="Text 19"/>
          <p:cNvSpPr txBox="1"/>
          <p:nvPr/>
        </p:nvSpPr>
        <p:spPr>
          <a:xfrm>
            <a:off x="5159045" y="3842309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999999"/>
                </a:solidFill>
              </a:rPr>
              <a:t>Peridot 205</a:t>
            </a:r>
            <a:endParaRPr lang="en-US" sz="55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440680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</a:rPr>
              <a:t>BACK (wall to NOT-IN-USE block)</a:t>
            </a:r>
            <a:endParaRPr lang="en-US" sz="600" dirty="0"/>
          </a:p>
        </p:txBody>
      </p:sp>
      <p:sp>
        <p:nvSpPr>
          <p:cNvPr id="23" name="Text 21"/>
          <p:cNvSpPr txBox="1"/>
          <p:nvPr/>
        </p:nvSpPr>
        <p:spPr>
          <a:xfrm>
            <a:off x="3783787" y="5440680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</a:rPr>
              <a:t>Coffee break (Option 1) in the foyer on this side →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1501445" y="1647749"/>
            <a:ext cx="526694" cy="234086"/>
          </a:xfrm>
          <a:prstGeom prst="rect">
            <a:avLst/>
          </a:prstGeom>
          <a:solidFill>
            <a:srgbClr val="0E7C7B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1445" y="1647749"/>
            <a:ext cx="526694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AV desk +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Zoom host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5159045" y="1647749"/>
            <a:ext cx="468173" cy="526694"/>
          </a:xfrm>
          <a:prstGeom prst="rect">
            <a:avLst/>
          </a:prstGeom>
          <a:solidFill>
            <a:srgbClr val="4E8F3A"/>
          </a:solidFill>
          <a:ln w="9525">
            <a:solidFill>
              <a:srgbClr val="4E8F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59045" y="1647749"/>
            <a:ext cx="468173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ADRC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Secre-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tariat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3505810" y="5217566"/>
            <a:ext cx="146304" cy="146304"/>
          </a:xfrm>
          <a:prstGeom prst="ellipse">
            <a:avLst/>
          </a:prstGeom>
          <a:solidFill>
            <a:srgbClr val="B02A2A"/>
          </a:solidFill>
          <a:ln w="12700">
            <a:solidFill>
              <a:srgbClr val="B02A2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670402" y="520293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B02A2A"/>
                </a:solidFill>
              </a:rPr>
              <a:t>Zoom camera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115922" y="1735531"/>
            <a:ext cx="760781" cy="160934"/>
          </a:xfrm>
          <a:prstGeom prst="rect">
            <a:avLst/>
          </a:prstGeom>
          <a:solidFill>
            <a:srgbClr val="D9B48F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6681" y="1602943"/>
            <a:ext cx="118872" cy="118872"/>
          </a:xfrm>
          <a:prstGeom prst="rect">
            <a:avLst/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070202" y="1911096"/>
            <a:ext cx="47183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222222"/>
                </a:solidFill>
              </a:rPr>
              <a:t>Mod. (SCDF)</a:t>
            </a:r>
            <a:endParaRPr lang="en-US" sz="500" dirty="0"/>
          </a:p>
        </p:txBody>
      </p:sp>
      <p:sp>
        <p:nvSpPr>
          <p:cNvPr id="33" name="Shape 31"/>
          <p:cNvSpPr/>
          <p:nvPr/>
        </p:nvSpPr>
        <p:spPr>
          <a:xfrm>
            <a:off x="2627071" y="1602943"/>
            <a:ext cx="118872" cy="118872"/>
          </a:xfrm>
          <a:prstGeom prst="rect">
            <a:avLst/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450592" y="1911096"/>
            <a:ext cx="47183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222222"/>
                </a:solidFill>
              </a:rPr>
              <a:t>Co-chair (ADRC)</a:t>
            </a:r>
            <a:endParaRPr lang="en-US" sz="500" dirty="0"/>
          </a:p>
        </p:txBody>
      </p:sp>
      <p:sp>
        <p:nvSpPr>
          <p:cNvPr id="35" name="Shape 33"/>
          <p:cNvSpPr/>
          <p:nvPr/>
        </p:nvSpPr>
        <p:spPr>
          <a:xfrm>
            <a:off x="2979115" y="1735531"/>
            <a:ext cx="204826" cy="146304"/>
          </a:xfrm>
          <a:prstGeom prst="rect">
            <a:avLst/>
          </a:prstGeom>
          <a:solidFill>
            <a:srgbClr val="EAD7B5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841955" y="1911096"/>
            <a:ext cx="47914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Lectern</a:t>
            </a:r>
            <a:endParaRPr lang="en-US" sz="550" dirty="0"/>
          </a:p>
        </p:txBody>
      </p:sp>
      <p:sp>
        <p:nvSpPr>
          <p:cNvPr id="37" name="Shape 35"/>
          <p:cNvSpPr/>
          <p:nvPr/>
        </p:nvSpPr>
        <p:spPr>
          <a:xfrm>
            <a:off x="3315614" y="1735531"/>
            <a:ext cx="1141171" cy="160934"/>
          </a:xfrm>
          <a:prstGeom prst="rect">
            <a:avLst/>
          </a:prstGeom>
          <a:solidFill>
            <a:srgbClr val="D9B48F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51276" y="1602943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315614" y="1911096"/>
            <a:ext cx="19019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222222"/>
                </a:solidFill>
              </a:rPr>
              <a:t>S1</a:t>
            </a:r>
            <a:endParaRPr lang="en-US" sz="500" dirty="0"/>
          </a:p>
        </p:txBody>
      </p:sp>
      <p:sp>
        <p:nvSpPr>
          <p:cNvPr id="40" name="Shape 38"/>
          <p:cNvSpPr/>
          <p:nvPr/>
        </p:nvSpPr>
        <p:spPr>
          <a:xfrm>
            <a:off x="3541471" y="1602943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505810" y="1911096"/>
            <a:ext cx="19019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222222"/>
                </a:solidFill>
              </a:rPr>
              <a:t>S2</a:t>
            </a:r>
            <a:endParaRPr lang="en-US" sz="500" dirty="0"/>
          </a:p>
        </p:txBody>
      </p:sp>
      <p:sp>
        <p:nvSpPr>
          <p:cNvPr id="42" name="Shape 40"/>
          <p:cNvSpPr/>
          <p:nvPr/>
        </p:nvSpPr>
        <p:spPr>
          <a:xfrm>
            <a:off x="3731666" y="1602943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696005" y="1911096"/>
            <a:ext cx="19019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222222"/>
                </a:solidFill>
              </a:rPr>
              <a:t>S3</a:t>
            </a:r>
            <a:endParaRPr lang="en-US" sz="500" dirty="0"/>
          </a:p>
        </p:txBody>
      </p:sp>
      <p:sp>
        <p:nvSpPr>
          <p:cNvPr id="44" name="Shape 42"/>
          <p:cNvSpPr/>
          <p:nvPr/>
        </p:nvSpPr>
        <p:spPr>
          <a:xfrm>
            <a:off x="3921862" y="1602943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886200" y="1911096"/>
            <a:ext cx="19019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222222"/>
                </a:solidFill>
              </a:rPr>
              <a:t>S4</a:t>
            </a:r>
            <a:endParaRPr lang="en-US" sz="500" dirty="0"/>
          </a:p>
        </p:txBody>
      </p:sp>
      <p:sp>
        <p:nvSpPr>
          <p:cNvPr id="46" name="Shape 44"/>
          <p:cNvSpPr/>
          <p:nvPr/>
        </p:nvSpPr>
        <p:spPr>
          <a:xfrm>
            <a:off x="4112057" y="1602943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076395" y="1911096"/>
            <a:ext cx="19019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222222"/>
                </a:solidFill>
              </a:rPr>
              <a:t>S5</a:t>
            </a:r>
            <a:endParaRPr lang="en-US" sz="500" dirty="0"/>
          </a:p>
        </p:txBody>
      </p:sp>
      <p:sp>
        <p:nvSpPr>
          <p:cNvPr id="48" name="Shape 46"/>
          <p:cNvSpPr/>
          <p:nvPr/>
        </p:nvSpPr>
        <p:spPr>
          <a:xfrm>
            <a:off x="4302252" y="1602943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266590" y="1911096"/>
            <a:ext cx="19019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222222"/>
                </a:solidFill>
              </a:rPr>
              <a:t>S6</a:t>
            </a:r>
            <a:endParaRPr lang="en-US" sz="500" dirty="0"/>
          </a:p>
        </p:txBody>
      </p:sp>
      <p:sp>
        <p:nvSpPr>
          <p:cNvPr id="50" name="Text 48"/>
          <p:cNvSpPr txBox="1"/>
          <p:nvPr/>
        </p:nvSpPr>
        <p:spPr>
          <a:xfrm>
            <a:off x="2759659" y="2905963"/>
            <a:ext cx="1638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F3864"/>
                </a:solidFill>
              </a:rPr>
              <a:t>Speakers' table 3.9 m: S1 JAXA, S2–S4 EOS-NTU/BRIN, DOST/Nepal, Google, S5 Uzbekistan, S6 Japan (CAO). Table mics, name plates; each presents from the lectern.</a:t>
            </a:r>
            <a:endParaRPr lang="en-US" sz="550" dirty="0"/>
          </a:p>
        </p:txBody>
      </p:sp>
      <p:sp>
        <p:nvSpPr>
          <p:cNvPr id="51" name="Shape 49"/>
          <p:cNvSpPr/>
          <p:nvPr/>
        </p:nvSpPr>
        <p:spPr>
          <a:xfrm>
            <a:off x="2218334" y="2145182"/>
            <a:ext cx="131674" cy="1931213"/>
          </a:xfrm>
          <a:prstGeom prst="rect">
            <a:avLst/>
          </a:prstGeom>
          <a:solidFill>
            <a:srgbClr val="D9B48F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76242" y="2145182"/>
            <a:ext cx="131674" cy="1931213"/>
          </a:xfrm>
          <a:prstGeom prst="rect">
            <a:avLst/>
          </a:prstGeom>
          <a:solidFill>
            <a:srgbClr val="D9B48F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218334" y="4076395"/>
            <a:ext cx="2589581" cy="131674"/>
          </a:xfrm>
          <a:prstGeom prst="rect">
            <a:avLst/>
          </a:prstGeom>
          <a:solidFill>
            <a:srgbClr val="D9B48F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056486" y="2173529"/>
            <a:ext cx="118872" cy="118872"/>
          </a:xfrm>
          <a:prstGeom prst="rect">
            <a:avLst/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386584" y="2159813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ADRC</a:t>
            </a:r>
            <a:endParaRPr lang="en-US" sz="550" dirty="0"/>
          </a:p>
        </p:txBody>
      </p:sp>
      <p:sp>
        <p:nvSpPr>
          <p:cNvPr id="56" name="Shape 54"/>
          <p:cNvSpPr/>
          <p:nvPr/>
        </p:nvSpPr>
        <p:spPr>
          <a:xfrm>
            <a:off x="2056486" y="2349094"/>
            <a:ext cx="118872" cy="118872"/>
          </a:xfrm>
          <a:prstGeom prst="rect">
            <a:avLst/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2386584" y="233537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ADRC</a:t>
            </a:r>
            <a:endParaRPr lang="en-US" sz="550" dirty="0"/>
          </a:p>
        </p:txBody>
      </p:sp>
      <p:sp>
        <p:nvSpPr>
          <p:cNvPr id="58" name="Shape 56"/>
          <p:cNvSpPr/>
          <p:nvPr/>
        </p:nvSpPr>
        <p:spPr>
          <a:xfrm>
            <a:off x="2056486" y="2524658"/>
            <a:ext cx="118872" cy="118872"/>
          </a:xfrm>
          <a:prstGeom prst="rect">
            <a:avLst/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2386584" y="251094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JPN</a:t>
            </a:r>
            <a:endParaRPr lang="en-US" sz="550" dirty="0"/>
          </a:p>
        </p:txBody>
      </p:sp>
      <p:sp>
        <p:nvSpPr>
          <p:cNvPr id="60" name="Shape 58"/>
          <p:cNvSpPr/>
          <p:nvPr/>
        </p:nvSpPr>
        <p:spPr>
          <a:xfrm>
            <a:off x="2056486" y="2700223"/>
            <a:ext cx="118872" cy="118872"/>
          </a:xfrm>
          <a:prstGeom prst="rect">
            <a:avLst/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2386584" y="2686507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JPN</a:t>
            </a:r>
            <a:endParaRPr lang="en-US" sz="550" dirty="0"/>
          </a:p>
        </p:txBody>
      </p:sp>
      <p:sp>
        <p:nvSpPr>
          <p:cNvPr id="62" name="Shape 60"/>
          <p:cNvSpPr/>
          <p:nvPr/>
        </p:nvSpPr>
        <p:spPr>
          <a:xfrm>
            <a:off x="2056486" y="2875788"/>
            <a:ext cx="118872" cy="118872"/>
          </a:xfrm>
          <a:prstGeom prst="rect">
            <a:avLst/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2386584" y="28620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SGP</a:t>
            </a:r>
            <a:endParaRPr lang="en-US" sz="550" dirty="0"/>
          </a:p>
        </p:txBody>
      </p:sp>
      <p:sp>
        <p:nvSpPr>
          <p:cNvPr id="64" name="Shape 62"/>
          <p:cNvSpPr/>
          <p:nvPr/>
        </p:nvSpPr>
        <p:spPr>
          <a:xfrm>
            <a:off x="2056486" y="3051353"/>
            <a:ext cx="118872" cy="118872"/>
          </a:xfrm>
          <a:prstGeom prst="rect">
            <a:avLst/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2386584" y="3037637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SGP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2056486" y="3226918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2386584" y="321320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AZE</a:t>
            </a:r>
            <a:endParaRPr lang="en-US" sz="550" dirty="0"/>
          </a:p>
        </p:txBody>
      </p:sp>
      <p:sp>
        <p:nvSpPr>
          <p:cNvPr id="68" name="Shape 66"/>
          <p:cNvSpPr/>
          <p:nvPr/>
        </p:nvSpPr>
        <p:spPr>
          <a:xfrm>
            <a:off x="2056486" y="3402482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2386584" y="338876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AZE</a:t>
            </a:r>
            <a:endParaRPr lang="en-US" sz="550" dirty="0"/>
          </a:p>
        </p:txBody>
      </p:sp>
      <p:sp>
        <p:nvSpPr>
          <p:cNvPr id="70" name="Shape 68"/>
          <p:cNvSpPr/>
          <p:nvPr/>
        </p:nvSpPr>
        <p:spPr>
          <a:xfrm>
            <a:off x="2056486" y="3578047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2386584" y="3564331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BGD</a:t>
            </a:r>
            <a:endParaRPr lang="en-US" sz="550" dirty="0"/>
          </a:p>
        </p:txBody>
      </p:sp>
      <p:sp>
        <p:nvSpPr>
          <p:cNvPr id="72" name="Shape 70"/>
          <p:cNvSpPr/>
          <p:nvPr/>
        </p:nvSpPr>
        <p:spPr>
          <a:xfrm>
            <a:off x="2056486" y="3753612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2386584" y="373989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ARM</a:t>
            </a:r>
            <a:endParaRPr lang="en-US" sz="550" dirty="0"/>
          </a:p>
        </p:txBody>
      </p:sp>
      <p:sp>
        <p:nvSpPr>
          <p:cNvPr id="74" name="Shape 72"/>
          <p:cNvSpPr/>
          <p:nvPr/>
        </p:nvSpPr>
        <p:spPr>
          <a:xfrm>
            <a:off x="2056486" y="3929177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2386584" y="3915461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KHM</a:t>
            </a:r>
            <a:endParaRPr lang="en-US" sz="550" dirty="0"/>
          </a:p>
        </p:txBody>
      </p:sp>
      <p:sp>
        <p:nvSpPr>
          <p:cNvPr id="76" name="Shape 74"/>
          <p:cNvSpPr/>
          <p:nvPr/>
        </p:nvSpPr>
        <p:spPr>
          <a:xfrm>
            <a:off x="2378354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 rot="16200000">
            <a:off x="2337206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FJI</a:t>
            </a:r>
            <a:endParaRPr lang="en-US" sz="550" dirty="0"/>
          </a:p>
        </p:txBody>
      </p:sp>
      <p:sp>
        <p:nvSpPr>
          <p:cNvPr id="78" name="Shape 76"/>
          <p:cNvSpPr/>
          <p:nvPr/>
        </p:nvSpPr>
        <p:spPr>
          <a:xfrm>
            <a:off x="2553919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 rot="16200000">
            <a:off x="2512771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IND</a:t>
            </a:r>
            <a:endParaRPr lang="en-US" sz="550" dirty="0"/>
          </a:p>
        </p:txBody>
      </p:sp>
      <p:sp>
        <p:nvSpPr>
          <p:cNvPr id="80" name="Shape 78"/>
          <p:cNvSpPr/>
          <p:nvPr/>
        </p:nvSpPr>
        <p:spPr>
          <a:xfrm>
            <a:off x="2729484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 rot="16200000">
            <a:off x="2688336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IND</a:t>
            </a:r>
            <a:endParaRPr lang="en-US" sz="550" dirty="0"/>
          </a:p>
        </p:txBody>
      </p:sp>
      <p:sp>
        <p:nvSpPr>
          <p:cNvPr id="82" name="Shape 80"/>
          <p:cNvSpPr/>
          <p:nvPr/>
        </p:nvSpPr>
        <p:spPr>
          <a:xfrm>
            <a:off x="2905049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 rot="16200000">
            <a:off x="2863901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KOR</a:t>
            </a:r>
            <a:endParaRPr lang="en-US" sz="550" dirty="0"/>
          </a:p>
        </p:txBody>
      </p:sp>
      <p:sp>
        <p:nvSpPr>
          <p:cNvPr id="84" name="Shape 82"/>
          <p:cNvSpPr/>
          <p:nvPr/>
        </p:nvSpPr>
        <p:spPr>
          <a:xfrm>
            <a:off x="3080614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 rot="16200000">
            <a:off x="3039466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KOR</a:t>
            </a:r>
            <a:endParaRPr lang="en-US" sz="550" dirty="0"/>
          </a:p>
        </p:txBody>
      </p:sp>
      <p:sp>
        <p:nvSpPr>
          <p:cNvPr id="86" name="Shape 84"/>
          <p:cNvSpPr/>
          <p:nvPr/>
        </p:nvSpPr>
        <p:spPr>
          <a:xfrm>
            <a:off x="3256178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 rot="16200000">
            <a:off x="3215030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MYS</a:t>
            </a:r>
            <a:endParaRPr lang="en-US" sz="550" dirty="0"/>
          </a:p>
        </p:txBody>
      </p:sp>
      <p:sp>
        <p:nvSpPr>
          <p:cNvPr id="88" name="Shape 86"/>
          <p:cNvSpPr/>
          <p:nvPr/>
        </p:nvSpPr>
        <p:spPr>
          <a:xfrm>
            <a:off x="3431743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 rot="16200000">
            <a:off x="3390595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MDV</a:t>
            </a:r>
            <a:endParaRPr lang="en-US" sz="550" dirty="0"/>
          </a:p>
        </p:txBody>
      </p:sp>
      <p:sp>
        <p:nvSpPr>
          <p:cNvPr id="90" name="Shape 88"/>
          <p:cNvSpPr/>
          <p:nvPr/>
        </p:nvSpPr>
        <p:spPr>
          <a:xfrm>
            <a:off x="3607308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 rot="16200000">
            <a:off x="3566160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MNG</a:t>
            </a:r>
            <a:endParaRPr lang="en-US" sz="550" dirty="0"/>
          </a:p>
        </p:txBody>
      </p:sp>
      <p:sp>
        <p:nvSpPr>
          <p:cNvPr id="92" name="Shape 90"/>
          <p:cNvSpPr/>
          <p:nvPr/>
        </p:nvSpPr>
        <p:spPr>
          <a:xfrm>
            <a:off x="3782873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 rot="16200000">
            <a:off x="3741725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PAK</a:t>
            </a:r>
            <a:endParaRPr lang="en-US" sz="550" dirty="0"/>
          </a:p>
        </p:txBody>
      </p:sp>
      <p:sp>
        <p:nvSpPr>
          <p:cNvPr id="94" name="Shape 92"/>
          <p:cNvSpPr/>
          <p:nvPr/>
        </p:nvSpPr>
        <p:spPr>
          <a:xfrm>
            <a:off x="3958438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 rot="16200000">
            <a:off x="3917290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PAK</a:t>
            </a:r>
            <a:endParaRPr lang="en-US" sz="550" dirty="0"/>
          </a:p>
        </p:txBody>
      </p:sp>
      <p:sp>
        <p:nvSpPr>
          <p:cNvPr id="96" name="Shape 94"/>
          <p:cNvSpPr/>
          <p:nvPr/>
        </p:nvSpPr>
        <p:spPr>
          <a:xfrm>
            <a:off x="4134002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 rot="16200000">
            <a:off x="4092854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PNG</a:t>
            </a:r>
            <a:endParaRPr lang="en-US" sz="550" dirty="0"/>
          </a:p>
        </p:txBody>
      </p:sp>
      <p:sp>
        <p:nvSpPr>
          <p:cNvPr id="98" name="Shape 96"/>
          <p:cNvSpPr/>
          <p:nvPr/>
        </p:nvSpPr>
        <p:spPr>
          <a:xfrm>
            <a:off x="4309567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 rot="16200000">
            <a:off x="4268419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PNG</a:t>
            </a:r>
            <a:endParaRPr lang="en-US" sz="550" dirty="0"/>
          </a:p>
        </p:txBody>
      </p:sp>
      <p:sp>
        <p:nvSpPr>
          <p:cNvPr id="100" name="Shape 98"/>
          <p:cNvSpPr/>
          <p:nvPr/>
        </p:nvSpPr>
        <p:spPr>
          <a:xfrm>
            <a:off x="4485132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 rot="16200000">
            <a:off x="4443984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PHL</a:t>
            </a:r>
            <a:endParaRPr lang="en-US" sz="550" dirty="0"/>
          </a:p>
        </p:txBody>
      </p:sp>
      <p:sp>
        <p:nvSpPr>
          <p:cNvPr id="102" name="Shape 100"/>
          <p:cNvSpPr/>
          <p:nvPr/>
        </p:nvSpPr>
        <p:spPr>
          <a:xfrm>
            <a:off x="4660697" y="4251046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 rot="16200000">
            <a:off x="4619549" y="3655771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PHL</a:t>
            </a:r>
            <a:endParaRPr lang="en-US" sz="550" dirty="0"/>
          </a:p>
        </p:txBody>
      </p:sp>
      <p:sp>
        <p:nvSpPr>
          <p:cNvPr id="104" name="Shape 102"/>
          <p:cNvSpPr/>
          <p:nvPr/>
        </p:nvSpPr>
        <p:spPr>
          <a:xfrm>
            <a:off x="4850892" y="3929177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4228186" y="3915461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LKA</a:t>
            </a:r>
            <a:endParaRPr lang="en-US" sz="550" dirty="0"/>
          </a:p>
        </p:txBody>
      </p:sp>
      <p:sp>
        <p:nvSpPr>
          <p:cNvPr id="106" name="Shape 104"/>
          <p:cNvSpPr/>
          <p:nvPr/>
        </p:nvSpPr>
        <p:spPr>
          <a:xfrm>
            <a:off x="4850892" y="3753612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4228186" y="373989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THA</a:t>
            </a:r>
            <a:endParaRPr lang="en-US" sz="550" dirty="0"/>
          </a:p>
        </p:txBody>
      </p:sp>
      <p:sp>
        <p:nvSpPr>
          <p:cNvPr id="108" name="Shape 106"/>
          <p:cNvSpPr/>
          <p:nvPr/>
        </p:nvSpPr>
        <p:spPr>
          <a:xfrm>
            <a:off x="4850892" y="3578047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4228186" y="3564331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THA</a:t>
            </a:r>
            <a:endParaRPr lang="en-US" sz="550" dirty="0"/>
          </a:p>
        </p:txBody>
      </p:sp>
      <p:sp>
        <p:nvSpPr>
          <p:cNvPr id="110" name="Shape 108"/>
          <p:cNvSpPr/>
          <p:nvPr/>
        </p:nvSpPr>
        <p:spPr>
          <a:xfrm>
            <a:off x="4850892" y="3402482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4228186" y="338876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TUR</a:t>
            </a:r>
            <a:endParaRPr lang="en-US" sz="550" dirty="0"/>
          </a:p>
        </p:txBody>
      </p:sp>
      <p:sp>
        <p:nvSpPr>
          <p:cNvPr id="112" name="Shape 110"/>
          <p:cNvSpPr/>
          <p:nvPr/>
        </p:nvSpPr>
        <p:spPr>
          <a:xfrm>
            <a:off x="4850892" y="3226918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4228186" y="321320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TUR</a:t>
            </a:r>
            <a:endParaRPr lang="en-US" sz="550" dirty="0"/>
          </a:p>
        </p:txBody>
      </p:sp>
      <p:sp>
        <p:nvSpPr>
          <p:cNvPr id="114" name="Shape 112"/>
          <p:cNvSpPr/>
          <p:nvPr/>
        </p:nvSpPr>
        <p:spPr>
          <a:xfrm>
            <a:off x="4850892" y="3051353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4228186" y="3037637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UZB</a:t>
            </a:r>
            <a:endParaRPr lang="en-US" sz="550" dirty="0"/>
          </a:p>
        </p:txBody>
      </p:sp>
      <p:sp>
        <p:nvSpPr>
          <p:cNvPr id="116" name="Shape 114"/>
          <p:cNvSpPr/>
          <p:nvPr/>
        </p:nvSpPr>
        <p:spPr>
          <a:xfrm>
            <a:off x="4850892" y="2875788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4228186" y="28620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UZB</a:t>
            </a:r>
            <a:endParaRPr lang="en-US" sz="550" dirty="0"/>
          </a:p>
        </p:txBody>
      </p:sp>
      <p:sp>
        <p:nvSpPr>
          <p:cNvPr id="118" name="Shape 116"/>
          <p:cNvSpPr/>
          <p:nvPr/>
        </p:nvSpPr>
        <p:spPr>
          <a:xfrm>
            <a:off x="4850892" y="2700223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4228186" y="2686507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VNM</a:t>
            </a:r>
            <a:endParaRPr lang="en-US" sz="550" dirty="0"/>
          </a:p>
        </p:txBody>
      </p:sp>
      <p:sp>
        <p:nvSpPr>
          <p:cNvPr id="120" name="Shape 118"/>
          <p:cNvSpPr/>
          <p:nvPr/>
        </p:nvSpPr>
        <p:spPr>
          <a:xfrm>
            <a:off x="4850892" y="2524658"/>
            <a:ext cx="118872" cy="11887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4228186" y="251094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VNM</a:t>
            </a:r>
            <a:endParaRPr lang="en-US" sz="550" dirty="0"/>
          </a:p>
        </p:txBody>
      </p:sp>
      <p:sp>
        <p:nvSpPr>
          <p:cNvPr id="122" name="Shape 120"/>
          <p:cNvSpPr/>
          <p:nvPr/>
        </p:nvSpPr>
        <p:spPr>
          <a:xfrm>
            <a:off x="4850892" y="2349094"/>
            <a:ext cx="118872" cy="118872"/>
          </a:xfrm>
          <a:prstGeom prst="rect">
            <a:avLst/>
          </a:prstGeom>
          <a:solidFill>
            <a:srgbClr val="0E7C7B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4228186" y="233537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NZL</a:t>
            </a:r>
            <a:endParaRPr lang="en-US" sz="550" dirty="0"/>
          </a:p>
        </p:txBody>
      </p:sp>
      <p:sp>
        <p:nvSpPr>
          <p:cNvPr id="124" name="Shape 122"/>
          <p:cNvSpPr/>
          <p:nvPr/>
        </p:nvSpPr>
        <p:spPr>
          <a:xfrm>
            <a:off x="4850892" y="2173529"/>
            <a:ext cx="118872" cy="118872"/>
          </a:xfrm>
          <a:prstGeom prst="rect">
            <a:avLst/>
          </a:prstGeom>
          <a:solidFill>
            <a:srgbClr val="0E7C7B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4228186" y="2159813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222222"/>
                </a:solidFill>
              </a:rPr>
              <a:t>NZL</a:t>
            </a:r>
            <a:endParaRPr lang="en-US" sz="550" dirty="0"/>
          </a:p>
        </p:txBody>
      </p:sp>
      <p:sp>
        <p:nvSpPr>
          <p:cNvPr id="126" name="Shape 124"/>
          <p:cNvSpPr/>
          <p:nvPr/>
        </p:nvSpPr>
        <p:spPr>
          <a:xfrm>
            <a:off x="1530706" y="2145182"/>
            <a:ext cx="131674" cy="2618842"/>
          </a:xfrm>
          <a:prstGeom prst="rect">
            <a:avLst/>
          </a:prstGeom>
          <a:solidFill>
            <a:srgbClr val="D9B48F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363870" y="2145182"/>
            <a:ext cx="131674" cy="2618842"/>
          </a:xfrm>
          <a:prstGeom prst="rect">
            <a:avLst/>
          </a:prstGeom>
          <a:solidFill>
            <a:srgbClr val="D9B48F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530706" y="4764024"/>
            <a:ext cx="3964838" cy="131674"/>
          </a:xfrm>
          <a:prstGeom prst="rect">
            <a:avLst/>
          </a:prstGeom>
          <a:solidFill>
            <a:srgbClr val="D9B48F"/>
          </a:solidFill>
          <a:ln w="9525">
            <a:solidFill>
              <a:srgbClr val="8A6A3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378001" y="2182673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547665" y="2182673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378001" y="235823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547665" y="235823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378001" y="2533802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547665" y="2533802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378001" y="2709367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547665" y="2709367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378001" y="2884932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547665" y="2884932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378001" y="3060497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547665" y="3060497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378001" y="3236062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547665" y="3236062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378001" y="3411626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547665" y="3411626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378001" y="3587191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547665" y="3587191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378001" y="3762756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547665" y="3762756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378001" y="3938321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547665" y="3938321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378001" y="4113886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547665" y="4113886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378001" y="4289450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547665" y="4289450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378001" y="4465015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547665" y="4465015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699870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875434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2050999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2226564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2402129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2577694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753258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928823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3104388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3279953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3455518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3631082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806647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3982212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157777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4333342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4508906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4684471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4860036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5035601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211166" y="4947818"/>
            <a:ext cx="100584" cy="100584"/>
          </a:xfrm>
          <a:prstGeom prst="ellipse">
            <a:avLst/>
          </a:prstGeom>
          <a:solidFill>
            <a:srgbClr val="CADCFC"/>
          </a:solidFill>
          <a:ln w="5080">
            <a:solidFill>
              <a:srgbClr val="1F3864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841602" y="3055925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02A2A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5074920" y="3055925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02A2A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3032516" y="4475074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02A2A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4015679" y="4475074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02A2A"/>
            </a:solidFill>
            <a:prstDash val="solid"/>
          </a:ln>
        </p:spPr>
      </p:sp>
      <p:sp>
        <p:nvSpPr>
          <p:cNvPr id="182" name="Text 180"/>
          <p:cNvSpPr txBox="1"/>
          <p:nvPr/>
        </p:nvSpPr>
        <p:spPr>
          <a:xfrm>
            <a:off x="806501" y="2159813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666666"/>
                </a:solidFill>
              </a:rPr>
              <a:t>MIYAKI (ED)</a:t>
            </a:r>
            <a:endParaRPr lang="en-US" sz="500" dirty="0"/>
          </a:p>
        </p:txBody>
      </p:sp>
      <p:sp>
        <p:nvSpPr>
          <p:cNvPr id="183" name="Text 181"/>
          <p:cNvSpPr txBox="1"/>
          <p:nvPr/>
        </p:nvSpPr>
        <p:spPr>
          <a:xfrm>
            <a:off x="806501" y="233537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666666"/>
                </a:solidFill>
              </a:rPr>
              <a:t>KODAMA (Dir.)</a:t>
            </a:r>
            <a:endParaRPr lang="en-US" sz="500" dirty="0"/>
          </a:p>
        </p:txBody>
      </p:sp>
      <p:sp>
        <p:nvSpPr>
          <p:cNvPr id="184" name="Text 182"/>
          <p:cNvSpPr txBox="1"/>
          <p:nvPr/>
        </p:nvSpPr>
        <p:spPr>
          <a:xfrm>
            <a:off x="5671109" y="2159813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666666"/>
                </a:solidFill>
              </a:rPr>
              <a:t>ADPC</a:t>
            </a:r>
            <a:endParaRPr lang="en-US" sz="500" dirty="0"/>
          </a:p>
        </p:txBody>
      </p:sp>
      <p:sp>
        <p:nvSpPr>
          <p:cNvPr id="185" name="Text 183"/>
          <p:cNvSpPr txBox="1"/>
          <p:nvPr/>
        </p:nvSpPr>
        <p:spPr>
          <a:xfrm>
            <a:off x="5671109" y="233537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666666"/>
                </a:solidFill>
              </a:rPr>
              <a:t>ADPC</a:t>
            </a:r>
            <a:endParaRPr lang="en-US" sz="500" dirty="0"/>
          </a:p>
        </p:txBody>
      </p:sp>
      <p:sp>
        <p:nvSpPr>
          <p:cNvPr id="186" name="Text 184"/>
          <p:cNvSpPr txBox="1"/>
          <p:nvPr/>
        </p:nvSpPr>
        <p:spPr>
          <a:xfrm>
            <a:off x="5671109" y="251094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666666"/>
                </a:solidFill>
              </a:rPr>
              <a:t>NZ 3rd</a:t>
            </a:r>
            <a:endParaRPr lang="en-US" sz="500" dirty="0"/>
          </a:p>
        </p:txBody>
      </p:sp>
      <p:sp>
        <p:nvSpPr>
          <p:cNvPr id="187" name="Text 185"/>
          <p:cNvSpPr txBox="1"/>
          <p:nvPr/>
        </p:nvSpPr>
        <p:spPr>
          <a:xfrm>
            <a:off x="1784909" y="508955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66666"/>
                </a:solidFill>
              </a:rPr>
              <a:t>IND 3rd</a:t>
            </a:r>
            <a:endParaRPr lang="en-US" sz="500" dirty="0"/>
          </a:p>
        </p:txBody>
      </p:sp>
      <p:sp>
        <p:nvSpPr>
          <p:cNvPr id="188" name="Shape 186"/>
          <p:cNvSpPr/>
          <p:nvPr/>
        </p:nvSpPr>
        <p:spPr>
          <a:xfrm>
            <a:off x="8458200" y="1088136"/>
            <a:ext cx="128016" cy="12801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9" name="Text 187"/>
          <p:cNvSpPr txBox="1"/>
          <p:nvPr/>
        </p:nvSpPr>
        <p:spPr>
          <a:xfrm>
            <a:off x="8668512" y="10515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Host seats on the U: ADRC, Japan, Singapore (6)</a:t>
            </a:r>
            <a:endParaRPr lang="en-US" sz="900" dirty="0"/>
          </a:p>
        </p:txBody>
      </p:sp>
      <p:sp>
        <p:nvSpPr>
          <p:cNvPr id="190" name="Shape 188"/>
          <p:cNvSpPr/>
          <p:nvPr/>
        </p:nvSpPr>
        <p:spPr>
          <a:xfrm>
            <a:off x="8458200" y="1325880"/>
            <a:ext cx="128016" cy="12801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1" name="Text 189"/>
          <p:cNvSpPr txBox="1"/>
          <p:nvPr/>
        </p:nvSpPr>
        <p:spPr>
          <a:xfrm>
            <a:off x="8668512" y="128930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Member-country seats on the U (28), table mics</a:t>
            </a:r>
            <a:endParaRPr lang="en-US" sz="900" dirty="0"/>
          </a:p>
        </p:txBody>
      </p:sp>
      <p:sp>
        <p:nvSpPr>
          <p:cNvPr id="192" name="Shape 190"/>
          <p:cNvSpPr/>
          <p:nvPr/>
        </p:nvSpPr>
        <p:spPr>
          <a:xfrm>
            <a:off x="8458200" y="1563624"/>
            <a:ext cx="128016" cy="12801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3" name="Text 191"/>
          <p:cNvSpPr txBox="1"/>
          <p:nvPr/>
        </p:nvSpPr>
        <p:spPr>
          <a:xfrm>
            <a:off x="8668512" y="15270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Adviser seats on the U: New Zealand (2)</a:t>
            </a:r>
            <a:endParaRPr lang="en-US" sz="900" dirty="0"/>
          </a:p>
        </p:txBody>
      </p:sp>
      <p:sp>
        <p:nvSpPr>
          <p:cNvPr id="194" name="Shape 192"/>
          <p:cNvSpPr/>
          <p:nvPr/>
        </p:nvSpPr>
        <p:spPr>
          <a:xfrm>
            <a:off x="8458200" y="1801368"/>
            <a:ext cx="128016" cy="128016"/>
          </a:xfrm>
          <a:prstGeom prst="ellipse">
            <a:avLst/>
          </a:prstGeom>
          <a:solidFill>
            <a:srgbClr val="CADCFC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195" name="Text 193"/>
          <p:cNvSpPr txBox="1"/>
          <p:nvPr/>
        </p:nvSpPr>
        <p:spPr>
          <a:xfrm>
            <a:off x="8668512" y="176479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2nd row / rear row: chairs with tables, no table mic</a:t>
            </a:r>
            <a:endParaRPr lang="en-US" sz="900" dirty="0"/>
          </a:p>
        </p:txBody>
      </p:sp>
      <p:sp>
        <p:nvSpPr>
          <p:cNvPr id="196" name="Shape 194"/>
          <p:cNvSpPr/>
          <p:nvPr/>
        </p:nvSpPr>
        <p:spPr>
          <a:xfrm>
            <a:off x="8458200" y="203911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02A2A"/>
            </a:solidFill>
            <a:prstDash val="solid"/>
          </a:ln>
        </p:spPr>
      </p:sp>
      <p:sp>
        <p:nvSpPr>
          <p:cNvPr id="197" name="Text 195"/>
          <p:cNvSpPr txBox="1"/>
          <p:nvPr/>
        </p:nvSpPr>
        <p:spPr>
          <a:xfrm>
            <a:off x="8668512" y="200253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Stand microphone in the aisle (4)</a:t>
            </a:r>
            <a:endParaRPr lang="en-US" sz="900" dirty="0"/>
          </a:p>
        </p:txBody>
      </p:sp>
      <p:sp>
        <p:nvSpPr>
          <p:cNvPr id="198" name="Shape 196"/>
          <p:cNvSpPr/>
          <p:nvPr/>
        </p:nvSpPr>
        <p:spPr>
          <a:xfrm>
            <a:off x="8458200" y="2276856"/>
            <a:ext cx="128016" cy="128016"/>
          </a:xfrm>
          <a:prstGeom prst="rect">
            <a:avLst/>
          </a:prstGeom>
          <a:solidFill>
            <a:srgbClr val="D9B48F"/>
          </a:solidFill>
          <a:ln w="12700">
            <a:solidFill>
              <a:srgbClr val="D9B48F"/>
            </a:solidFill>
            <a:prstDash val="solid"/>
          </a:ln>
        </p:spPr>
      </p:sp>
      <p:sp>
        <p:nvSpPr>
          <p:cNvPr id="199" name="Text 197"/>
          <p:cNvSpPr txBox="1"/>
          <p:nvPr/>
        </p:nvSpPr>
        <p:spPr>
          <a:xfrm>
            <a:off x="8668512" y="22402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Tables</a:t>
            </a:r>
            <a:endParaRPr lang="en-US" sz="900" dirty="0"/>
          </a:p>
        </p:txBody>
      </p:sp>
      <p:sp>
        <p:nvSpPr>
          <p:cNvPr id="200" name="Shape 198"/>
          <p:cNvSpPr/>
          <p:nvPr/>
        </p:nvSpPr>
        <p:spPr>
          <a:xfrm>
            <a:off x="8458200" y="2514600"/>
            <a:ext cx="128016" cy="12801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1" name="Text 199"/>
          <p:cNvSpPr txBox="1"/>
          <p:nvPr/>
        </p:nvSpPr>
        <p:spPr>
          <a:xfrm>
            <a:off x="8668512" y="247802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AV desk (COSEM AV + ADRC Zoom host)</a:t>
            </a:r>
            <a:endParaRPr lang="en-US" sz="900" dirty="0"/>
          </a:p>
        </p:txBody>
      </p:sp>
      <p:sp>
        <p:nvSpPr>
          <p:cNvPr id="202" name="Shape 200"/>
          <p:cNvSpPr/>
          <p:nvPr/>
        </p:nvSpPr>
        <p:spPr>
          <a:xfrm>
            <a:off x="8458200" y="2752344"/>
            <a:ext cx="128016" cy="128016"/>
          </a:xfrm>
          <a:prstGeom prst="rect">
            <a:avLst/>
          </a:prstGeom>
          <a:solidFill>
            <a:srgbClr val="4E8F3A"/>
          </a:solidFill>
          <a:ln w="12700">
            <a:solidFill>
              <a:srgbClr val="4E8F3A"/>
            </a:solidFill>
            <a:prstDash val="solid"/>
          </a:ln>
        </p:spPr>
      </p:sp>
      <p:sp>
        <p:nvSpPr>
          <p:cNvPr id="203" name="Text 201"/>
          <p:cNvSpPr txBox="1"/>
          <p:nvPr/>
        </p:nvSpPr>
        <p:spPr>
          <a:xfrm>
            <a:off x="8668512" y="27157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ADRC Secretariat</a:t>
            </a:r>
            <a:endParaRPr lang="en-US" sz="900" dirty="0"/>
          </a:p>
        </p:txBody>
      </p:sp>
      <p:sp>
        <p:nvSpPr>
          <p:cNvPr id="204" name="Shape 202"/>
          <p:cNvSpPr/>
          <p:nvPr/>
        </p:nvSpPr>
        <p:spPr>
          <a:xfrm>
            <a:off x="8458200" y="2990088"/>
            <a:ext cx="128016" cy="128016"/>
          </a:xfrm>
          <a:prstGeom prst="ellipse">
            <a:avLst/>
          </a:prstGeom>
          <a:solidFill>
            <a:srgbClr val="B02A2A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205" name="Text 203"/>
          <p:cNvSpPr txBox="1"/>
          <p:nvPr/>
        </p:nvSpPr>
        <p:spPr>
          <a:xfrm>
            <a:off x="8668512" y="295351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Zoom camera</a:t>
            </a:r>
            <a:endParaRPr lang="en-US" sz="900" dirty="0"/>
          </a:p>
        </p:txBody>
      </p:sp>
      <p:sp>
        <p:nvSpPr>
          <p:cNvPr id="206" name="Text 204"/>
          <p:cNvSpPr txBox="1"/>
          <p:nvPr/>
        </p:nvSpPr>
        <p:spPr>
          <a:xfrm>
            <a:off x="8458200" y="3282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Notes</a:t>
            </a:r>
            <a:endParaRPr lang="en-US" sz="1200" dirty="0"/>
          </a:p>
        </p:txBody>
      </p:sp>
      <p:sp>
        <p:nvSpPr>
          <p:cNvPr id="207" name="Text 205"/>
          <p:cNvSpPr txBox="1"/>
          <p:nvPr/>
        </p:nvSpPr>
        <p:spPr>
          <a:xfrm>
            <a:off x="8458200" y="3575304"/>
            <a:ext cx="329184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Co-chairs table (2.2 m, front-left of the front area): SCDF moderator and ADRC co-chair, facing the U; time-keeping and Q&amp;A from here.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Speakers' table (3.9 m, front-right): 6 speakers together; each presents 15 minutes from the lectern with the ADRC PC at the AV desk (slides by 20 Oct); answers from the table mics.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U and second row unchanged from Day 1; SEPDM observers and general participants in the second row; questions via the stand mics.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Changeover (evening 28 Oct or before 08:00 on 29 Oct): move the moderator table to the left and add the speakers' table — no change to the U or its microphones. ADRC test from 07:30 (item A1).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</a:rPr>
              <a:t>Closing at 11:45 follows without changes (slide 3).</a:t>
            </a:r>
            <a:endParaRPr lang="en-US" sz="850" dirty="0"/>
          </a:p>
        </p:txBody>
      </p:sp>
      <p:sp>
        <p:nvSpPr>
          <p:cNvPr id="208" name="Text 206"/>
          <p:cNvSpPr txBox="1"/>
          <p:nvPr/>
        </p:nvSpPr>
        <p:spPr>
          <a:xfrm>
            <a:off x="411480" y="6601968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ADRC proposal, 7 Sep 2026 rev. 3 (draft for COSEM/SCDF/EXPO). Room width 15.4 m from the EXPO floorplan of 28 Jul 2026 (Option 2); seat pitch 0.60 m; room depth 14 m assumed for Peridot 202–205 — EXPO to confirm and redraw to scale.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Equipment estimate and changeover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for the base plan; to be checked by COSEM's AV vendor once EXPO confirms Peridot 202–205 and its depth.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385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2011680"/>
                <a:gridCol w="1554480"/>
                <a:gridCol w="2011680"/>
                <a:gridCol w="2286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Opening / Closing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Roundtable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Steering Committee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Session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Remarks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Gooseneck (table) mics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(U) + 1 lectern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+ 2 moderator table + 1 lectern = 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+ 1 = 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+ 2 co-chairs + 6 speakers + 1 = 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mic per 2 seats on the U; peak 27 (COSEM estimate 16 Jul: about 30)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 mics (aisle)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handheld mics for the second row; 2 handhelds kept for the rear row and emergencies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(front wall)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monitor near the lectern optional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Presentation 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ADRC laptop at AV desk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COSEM laptop as backup; files handed over in advance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Zoom / hybrid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laptop at AV desk, camera at rear centre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(members only)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Wired LAN for the host laptop requested (item C20)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strips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 2, Secretariat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+ 18 on the U, + 12 on the second row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+ 2 speakers' table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50 extension plugs (COSEM estimate)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plates / flags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U seats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+ moderator table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+ co-chairs + speakers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ADRC prints name plates; flags for member countries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 changeover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 area only (evening 28 Oct)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 and second row untouched for both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11480" y="562356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Capacity: 36 on the U + about 46 second row + 22 rear row = about 104. Registered on-site as of 4 Sep: 42 (22 members, 3 advisers, 1 tbc, 16 general) plus ADRC staff, Singapore/Japan delegations, speakers and expected registrations (Uzbekistan, Thailand, Philippines, Korea, India): about 75–90 in the room.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6601968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ADRC proposal, 7 Sep 2026 rev. 3 (draft for COSEM/SCDF/EXPO). Room width 15.4 m from the EXPO floorplan of 28 Jul 2026 (Option 2); seat pitch 0.60 m; room depth 14 m assumed for Peridot 202–205 — EXPO to confirm and redraw to scale.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Points for COSEM / SCDF / EXPO to confirm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Joint Meeting 5/2026 (15 Sep) or a short AV walkthrough in late September.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74980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Confirmation of Peridot 202–205 and the actual room depth; a floorplan to scale from this seating plan for 28 and 29 October (the current plan shows 29 Oct 08:00–12:00 only).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Whether the U (9.3 m × 7.05 m at 0.60 m pitch) plus a second row with tables and a 1.2 m aisle fits the 15.4 m width; if not, ADRC prefers dropping the rear row first, then the second row on the legs.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Screen type and size; whether the 2.8 m front area keeps the sightlines from the base of the U.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Microphones: 27 gooseneck at the peak, 4 stand mics in the aisle, 2 handhelds; vendor cost allocation (venue is free of charge, confirmed 25 Aug).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AV desk front-left with a wired line for the ADRC Zoom host laptop; who switches between the presenter PC and Zoom.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Front-area re-set on the evening of 28 Oct (moderator table → co-chairs table + speakers' table) and access for the ADRC test from 07:30 on 28 Oct.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Banner / backdrop between the screens and signage (foyer → Peridot, coffee-break area on the right).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SCDF moderator for the Technical Session (LTC Yong Kai or another officer).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503920" y="118872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0" y="132588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Timeline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</a:rPr>
              <a:t>15 Sep: agree the base plan (Joint Meeting 5)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</a:rPr>
              <a:t>late Sep: AV walkthrough on Zoom with EXPO plan v2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</a:rPr>
              <a:t>2 Oct: final seat list and name plates from ADRC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</a:rPr>
              <a:t>20 Oct: presentation files to COSEM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</a:rPr>
              <a:t>28 Oct 07:30: venue and network test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6601968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ADRC proposal, 7 Sep 2026 rev. 3 (draft for COSEM/SCDF/EXPO). Room width 15.4 m from the EXPO floorplan of 28 Jul 2026 (Option 2); seat pitch 0.60 m; room depth 14 m assumed for Peridot 202–205 — EXPO to confirm and redraw to scale.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2026-09-07T01:00:21Z</dcterms:created>
  <dcterms:modified xsi:type="dcterms:W3CDTF">2026-09-07T01:00:21Z</dcterms:modified>
</cp:coreProperties>
</file>