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Classroom block (3 rows x 5 tables x 2 seats = 30) - corrected to the ADRC seating plan of 1 Oct   (* = table microphone for Round Table speakers)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792000"/>
            <a:ext cx="2015999" cy="684000"/>
          </a:xfrm>
          <a:prstGeom prst="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Cabinet Office of Japan (2 pax)</a:t>
            </a:r>
          </a:p>
        </p:txBody>
      </p:sp>
      <p:sp>
        <p:nvSpPr>
          <p:cNvPr id="4" name="Oval 3"/>
          <p:cNvSpPr/>
          <p:nvPr/>
        </p:nvSpPr>
        <p:spPr>
          <a:xfrm>
            <a:off x="1152000" y="1601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32000" y="1601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25999" y="792000"/>
            <a:ext cx="2015999" cy="684000"/>
          </a:xfrm>
          <a:prstGeom prst="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City of Sendai</a:t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Vice Mayor* &amp; staff (2 pax)</a:t>
            </a:r>
          </a:p>
        </p:txBody>
      </p:sp>
      <p:sp>
        <p:nvSpPr>
          <p:cNvPr id="7" name="Oval 6"/>
          <p:cNvSpPr/>
          <p:nvPr/>
        </p:nvSpPr>
        <p:spPr>
          <a:xfrm>
            <a:off x="3257999" y="1601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37999" y="1601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1998" y="792000"/>
            <a:ext cx="2015999" cy="684000"/>
          </a:xfrm>
          <a:prstGeom prst="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JAXA (1 pax)</a:t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BRIN (1 pax)</a:t>
            </a:r>
          </a:p>
        </p:txBody>
      </p:sp>
      <p:sp>
        <p:nvSpPr>
          <p:cNvPr id="10" name="Oval 9"/>
          <p:cNvSpPr/>
          <p:nvPr/>
        </p:nvSpPr>
        <p:spPr>
          <a:xfrm>
            <a:off x="5363998" y="1601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3998" y="1601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37997" y="792000"/>
            <a:ext cx="2015999" cy="684000"/>
          </a:xfrm>
          <a:prstGeom prst="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Google* (1 pax)</a:t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Nepal (1 pax)</a:t>
            </a:r>
          </a:p>
        </p:txBody>
      </p:sp>
      <p:sp>
        <p:nvSpPr>
          <p:cNvPr id="13" name="Oval 12"/>
          <p:cNvSpPr/>
          <p:nvPr/>
        </p:nvSpPr>
        <p:spPr>
          <a:xfrm>
            <a:off x="7469997" y="1601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997" y="1601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3996" y="792000"/>
            <a:ext cx="2015999" cy="684000"/>
          </a:xfrm>
          <a:prstGeom prst="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ADB (1 pax)</a:t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Turkiye (1 pax)</a:t>
            </a:r>
          </a:p>
        </p:txBody>
      </p:sp>
      <p:sp>
        <p:nvSpPr>
          <p:cNvPr id="16" name="Oval 15"/>
          <p:cNvSpPr/>
          <p:nvPr/>
        </p:nvSpPr>
        <p:spPr>
          <a:xfrm>
            <a:off x="9575996" y="1601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55996" y="1601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0000" y="2304000"/>
            <a:ext cx="2015999" cy="684000"/>
          </a:xfrm>
          <a:prstGeom prst="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Cabinet Office of Japan (2 pax)</a:t>
            </a:r>
          </a:p>
        </p:txBody>
      </p:sp>
      <p:sp>
        <p:nvSpPr>
          <p:cNvPr id="19" name="Oval 18"/>
          <p:cNvSpPr/>
          <p:nvPr/>
        </p:nvSpPr>
        <p:spPr>
          <a:xfrm>
            <a:off x="1152000" y="3113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32000" y="3113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25999" y="2304000"/>
            <a:ext cx="2015999" cy="684000"/>
          </a:xfrm>
          <a:prstGeom prst="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City of Sendai staff (2 pax)</a:t>
            </a:r>
          </a:p>
        </p:txBody>
      </p:sp>
      <p:sp>
        <p:nvSpPr>
          <p:cNvPr id="22" name="Oval 21"/>
          <p:cNvSpPr/>
          <p:nvPr/>
        </p:nvSpPr>
        <p:spPr>
          <a:xfrm>
            <a:off x="3257999" y="3113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37999" y="3113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1998" y="2304000"/>
            <a:ext cx="2015999" cy="684000"/>
          </a:xfrm>
          <a:prstGeom prst="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City of Sendai (1 pax)</a:t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JAXA (1 pax)</a:t>
            </a:r>
          </a:p>
        </p:txBody>
      </p:sp>
      <p:sp>
        <p:nvSpPr>
          <p:cNvPr id="25" name="Oval 24"/>
          <p:cNvSpPr/>
          <p:nvPr/>
        </p:nvSpPr>
        <p:spPr>
          <a:xfrm>
            <a:off x="5363998" y="3113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3998" y="3113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37997" y="2304000"/>
            <a:ext cx="2015999" cy="684000"/>
          </a:xfrm>
          <a:prstGeom prst="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Tohoku Univ. (1 pax)</a:t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JICA (1 pax)</a:t>
            </a:r>
          </a:p>
        </p:txBody>
      </p:sp>
      <p:sp>
        <p:nvSpPr>
          <p:cNvPr id="28" name="Oval 27"/>
          <p:cNvSpPr/>
          <p:nvPr/>
        </p:nvSpPr>
        <p:spPr>
          <a:xfrm>
            <a:off x="7469997" y="3113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49997" y="3113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6" y="2304000"/>
            <a:ext cx="2015999" cy="684000"/>
          </a:xfrm>
          <a:prstGeom prst="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ROK (2 pax)</a:t>
            </a:r>
          </a:p>
        </p:txBody>
      </p:sp>
      <p:sp>
        <p:nvSpPr>
          <p:cNvPr id="31" name="Oval 30"/>
          <p:cNvSpPr/>
          <p:nvPr/>
        </p:nvSpPr>
        <p:spPr>
          <a:xfrm>
            <a:off x="9575996" y="3113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55996" y="3113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0000" y="3816000"/>
            <a:ext cx="2015999" cy="684000"/>
          </a:xfrm>
          <a:prstGeom prst="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</a:rPr>
              <a:t>ADRC Secretariat (2 pax)</a:t>
            </a:r>
          </a:p>
        </p:txBody>
      </p:sp>
      <p:sp>
        <p:nvSpPr>
          <p:cNvPr id="34" name="Oval 33"/>
          <p:cNvSpPr/>
          <p:nvPr/>
        </p:nvSpPr>
        <p:spPr>
          <a:xfrm>
            <a:off x="1152000" y="4625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32000" y="4625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25999" y="3816000"/>
            <a:ext cx="2015999" cy="684000"/>
          </a:xfrm>
          <a:prstGeom prst="rect">
            <a:avLst/>
          </a:prstGeom>
          <a:solidFill>
            <a:srgbClr val="BFBFB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404040"/>
                </a:solidFill>
              </a:rPr>
              <a:t>free seating</a:t>
            </a:r>
          </a:p>
        </p:txBody>
      </p:sp>
      <p:sp>
        <p:nvSpPr>
          <p:cNvPr id="37" name="Oval 36"/>
          <p:cNvSpPr/>
          <p:nvPr/>
        </p:nvSpPr>
        <p:spPr>
          <a:xfrm>
            <a:off x="3257999" y="4625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37999" y="4625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31998" y="3816000"/>
            <a:ext cx="2015999" cy="684000"/>
          </a:xfrm>
          <a:prstGeom prst="rect">
            <a:avLst/>
          </a:prstGeom>
          <a:solidFill>
            <a:srgbClr val="BFBFB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404040"/>
                </a:solidFill>
              </a:rPr>
              <a:t>free seating</a:t>
            </a:r>
          </a:p>
        </p:txBody>
      </p:sp>
      <p:sp>
        <p:nvSpPr>
          <p:cNvPr id="40" name="Oval 39"/>
          <p:cNvSpPr/>
          <p:nvPr/>
        </p:nvSpPr>
        <p:spPr>
          <a:xfrm>
            <a:off x="5363998" y="4625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3998" y="4625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37997" y="3816000"/>
            <a:ext cx="2015999" cy="684000"/>
          </a:xfrm>
          <a:prstGeom prst="rect">
            <a:avLst/>
          </a:prstGeom>
          <a:solidFill>
            <a:srgbClr val="BFBFB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404040"/>
                </a:solidFill>
              </a:rPr>
              <a:t>free seating</a:t>
            </a:r>
          </a:p>
        </p:txBody>
      </p:sp>
      <p:sp>
        <p:nvSpPr>
          <p:cNvPr id="43" name="Oval 42"/>
          <p:cNvSpPr/>
          <p:nvPr/>
        </p:nvSpPr>
        <p:spPr>
          <a:xfrm>
            <a:off x="7469997" y="4625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49997" y="4625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3996" y="3816000"/>
            <a:ext cx="2015999" cy="684000"/>
          </a:xfrm>
          <a:prstGeom prst="rect">
            <a:avLst/>
          </a:prstGeom>
          <a:solidFill>
            <a:srgbClr val="BFBFB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404040"/>
                </a:solidFill>
              </a:rPr>
              <a:t>free seating</a:t>
            </a:r>
          </a:p>
        </p:txBody>
      </p:sp>
      <p:sp>
        <p:nvSpPr>
          <p:cNvPr id="46" name="Oval 45"/>
          <p:cNvSpPr/>
          <p:nvPr/>
        </p:nvSpPr>
        <p:spPr>
          <a:xfrm>
            <a:off x="9575996" y="4625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655996" y="4625999"/>
            <a:ext cx="324000" cy="324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0000" y="5508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Front row is nearest to the U-shape. Left side = Japanese delegation (Cabinet Office of Japan 4, City of Sendai 5, JICA, Tohoku Univ., JAXA 2). Name cards on all seats of rows 1 and 2 (20 seats) and on the ADRC Secretariat table; the other 8 seats of row 3 are free seating.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