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19-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2" Type="http://schemas.openxmlformats.org/officeDocument/2006/relationships/hyperlink" Target="https://reliefweb.int/report/indonesia/care-indonesia-distributes-15000-litres-clean-water-earthquake-survivors" TargetMode="External"/><Relationship Id="rId1" Type="http://schemas.openxmlformats.org/officeDocument/2006/relationships/image" Target="../media/image-20-1.png"/><Relationship Id="rId13" Type="http://schemas.openxmlformats.org/officeDocument/2006/relationships/slideLayout" Target="../slideLayouts/slideLayout1.xml"/><Relationship Id="rId1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eliefweb.int/report/indonesia/asean-weekly-disaster-update-week-33-10-16-august-2026" TargetMode="External"/><Relationship Id="rId3" Type="http://schemas.openxmlformats.org/officeDocument/2006/relationships/hyperlink" Target="https://reliefweb.int/report/indonesia/iom-flash-appeal-rohingya-refugee-response-january-december-2026" TargetMode="External"/><Relationship Id="rId4" Type="http://schemas.openxmlformats.org/officeDocument/2006/relationships/hyperlink" Target="https://reliefweb.int/report/indonesia/indonesian-humanitarian-coordination-platform-situation-report-no-7-earthquake-and-tsunami-flores-and-surrounding-areas-28-august-2026" TargetMode="External"/><Relationship Id="rId5" Type="http://schemas.openxmlformats.org/officeDocument/2006/relationships/hyperlink" Target="https://reliefweb.int/report/indonesia/asean-weekly-disaster-update-week-35-24-30-august-2026" TargetMode="External"/><Relationship Id="rId6" Type="http://schemas.openxmlformats.org/officeDocument/2006/relationships/hyperlink" Target="https://reliefweb.int/report/indonesia/gender-alert-1-critical-protection-needs-women-and-girls-following-flores-earthquake-indonesia" TargetMode="External"/><Relationship Id="rId7" Type="http://schemas.openxmlformats.org/officeDocument/2006/relationships/hyperlink" Target="https://reliefweb.int/report/indonesia/gender-alert-1-anticipating-impact-el-nino-2026-women-girls-and-vulnerable-groups-indonesia" TargetMode="External"/><Relationship Id="rId8" Type="http://schemas.openxmlformats.org/officeDocument/2006/relationships/hyperlink" Target="https://reliefweb.int/map/indonesia/indonesia-anak-krakatau-volcanic-eruption-dg-echo-daily-map-07092026" TargetMode="External"/><Relationship Id="rId9" Type="http://schemas.openxmlformats.org/officeDocument/2006/relationships/hyperlink" Target="https://reliefweb.int/report/indonesia/indonesia-wildfire-haze-threatens-children-across-se-asia-and-closes-schools" TargetMode="External"/><Relationship Id="rId10" Type="http://schemas.openxmlformats.org/officeDocument/2006/relationships/hyperlink" Target="https://reliefweb.int/report/indonesia/indonesia-wildfire-haze-threatens-children-across-se-asia-and-closes-schools-save-children" TargetMode="External"/><Relationship Id="rId11" Type="http://schemas.openxmlformats.org/officeDocument/2006/relationships/hyperlink" Target="https://reliefweb.int/report/philippines/asean-weekly-disaster-update-week-36-31-august-6-september-2026" TargetMode="External"/><Relationship Id="rId1" Type="http://schemas.openxmlformats.org/officeDocument/2006/relationships/image" Target="../media/image-21-1.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5zfb8A/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5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15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5zfb8A/generator/images/EQ-2026-000150-IDN/locator_world_en.pn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5zfb8A/generator/images/EQ-2026-000150-IDN/locator_region_en.pn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5zfb8A/generator/images/EQ-2026-000150-IDN/locator_flores.pn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42236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927098"/>
            <a:ext cx="1750297" cy="495268"/>
          </a:xfrm>
          <a:prstGeom prst="line">
            <a:avLst/>
          </a:prstGeom>
          <a:noFill/>
          <a:ln w="19050">
            <a:solidFill>
              <a:srgbClr val="C00000"/>
            </a:solidFill>
            <a:prstDash val="solid"/>
          </a:ln>
        </p:spPr>
      </p:sp>
      <p:sp>
        <p:nvSpPr>
          <p:cNvPr id="24" name="Shape 18"/>
          <p:cNvSpPr/>
          <p:nvPr/>
        </p:nvSpPr>
        <p:spPr>
          <a:xfrm>
            <a:off x="2608343" y="3657115"/>
            <a:ext cx="1750297" cy="853163"/>
          </a:xfrm>
          <a:prstGeom prst="line">
            <a:avLst/>
          </a:prstGeom>
          <a:noFill/>
          <a:ln w="19050">
            <a:solidFill>
              <a:srgbClr val="C00000"/>
            </a:solidFill>
            <a:prstDash val="solid"/>
          </a:ln>
        </p:spPr>
      </p:sp>
      <p:sp>
        <p:nvSpPr>
          <p:cNvPr id="25" name="Shape 19"/>
          <p:cNvSpPr/>
          <p:nvPr/>
        </p:nvSpPr>
        <p:spPr>
          <a:xfrm>
            <a:off x="5713374" y="283892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927098"/>
            <a:ext cx="1903374" cy="911829"/>
          </a:xfrm>
          <a:prstGeom prst="line">
            <a:avLst/>
          </a:prstGeom>
          <a:noFill/>
          <a:ln w="19050">
            <a:solidFill>
              <a:srgbClr val="C00000"/>
            </a:solidFill>
            <a:prstDash val="solid"/>
          </a:ln>
        </p:spPr>
      </p:sp>
      <p:sp>
        <p:nvSpPr>
          <p:cNvPr id="27" name="Shape 21"/>
          <p:cNvSpPr/>
          <p:nvPr/>
        </p:nvSpPr>
        <p:spPr>
          <a:xfrm>
            <a:off x="6448146" y="3653455"/>
            <a:ext cx="1903374" cy="856823"/>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on Flores Island. BMKG issued a tsunami warning for several coastal areas and lifted it at 07:31 WIB. Seven regencies were affected: West Manggarai, Manggarai, East Manggarai, Ngada, Nagekeo, Ende and Sikka. BNPB reported 105 deaths, 1,678 injured or ill, 179,037 displaced and 81,436 houses affected as of 26 August; the AHA Centre's ASEAN Weekly Disaster Update subsequently cited BNPB figures of 120 deaths, 1,658 injured and about 188,673 displaced as of 09:00 WIB on 31 August. The toll rose steadily as access improved: 47 deaths on 16 August, 69 on 18 August, 100 on 24 August, 105 on 26 August and 120 on 31 August. ADRC requested both Sentinel Asia and the International Charter on the day of the earthquake on behalf of BRIN.</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Cambria" pitchFamily="34" charset="0"/>
                <a:ea typeface="Cambria" pitchFamily="34" charset="-122"/>
                <a:cs typeface="Cambria" pitchFamily="34" charset="-120"/>
              </a:rPr>
              <a:t>Chronology of Response (15-31 August 2026 (Western Indonesian Time, UTC+7)) (1/2)</a:t>
            </a:r>
            <a:endParaRPr lang="en-US" sz="165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Tide gauges around the Flores Sea recorded maximum wave heights between 0.30 m and 1.61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Cambria" pitchFamily="34" charset="0"/>
                <a:ea typeface="Cambria" pitchFamily="34" charset="-122"/>
                <a:cs typeface="Cambria" pitchFamily="34" charset="-120"/>
              </a:rPr>
              <a:t>Chronology of Response (15-31 August 2026 (Western Indonesian Time, UTC+7)) (2/2)</a:t>
            </a:r>
            <a:endParaRPr lang="en-US" sz="165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 (BNPB, via AHA Centre, as of 09:00 WIB 31 Aug), up from 105 at the 26 Aug report. BNPB distinguishes 48 deaths caused directly by the earthquake from 57 recorded afterwards through Basarnas SAR operations and health-facility reports, including patients who died in treatment and vulnerable people affected by trauma (26 Aug breakdown). The count rose as access improved: 2 and then 47 on 15 Aug, 68 on 17 Aug, 71 on 19 Aug, 100 on 24 Aug, 105 on 26 Aug, 120 on 31 Aug. The AHA Centre's ASEAN Weekly Disaster Update is the source for the 31 Aug figure; BNPB has not published its own bulletin with this cut-off.</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 (BNPB, via AHA Centre, as of 09:00 WIB 31 Aug), down slightly from 1,678 at the 26 Aug report. Neither BNPB nor the AHA Centre explains the decrease; it may reflect reclassification between the 26 Aug BNPB bulletin and the AHA Centre's own citation rather than a correction to an earlier over-count, but this has not been confirmed. The figure moved 13 (15 Aug) to 213 (17 Aug) to 1,199 (18 Aug, of which 115 serious and 1,084 minor) to 1,603 (24 Aug) to 1,678 (26 Aug) to 1,658 (31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approximately 188,673 (31 Aug). BNPB attributes the very large caseload substantially to fear of continuing aftershocks and to circulating hoaxes predicting a larger earthquake and tsunami, not to housing loss alone.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via AHA Centre ASEAN Weekly Disaster Update Week 35, 31 Aug 09:00 WIB</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(4/6)</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(5/6)</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(6/6)</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5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195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5zfb8A/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5zfb8A/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government </a:t>
                      </a:r>
                      <a:pPr algn="l" indent="0" marL="0">
                        <a:buNone/>
                      </a:pPr>
                      <a:r>
                        <a:rPr lang="en-US" sz="1100" dirty="0">
                          <a:solidFill>
                            <a:srgbClr val="222222"/>
                          </a:solidFill>
                        </a:rPr>
                        <a:t>is </a:t>
                      </a:r>
                      <a:pPr algn="l" indent="0" marL="0">
                        <a:buNone/>
                      </a:pPr>
                      <a:r>
                        <a:rPr lang="en-US" sz="1100" dirty="0">
                          <a:solidFill>
                            <a:srgbClr val="222222"/>
                          </a:solidFill>
                        </a:rPr>
                        <a:t>preparing </a:t>
                      </a:r>
                      <a:pPr algn="l" indent="0" marL="0">
                        <a:buNone/>
                      </a:pPr>
                      <a:r>
                        <a:rPr lang="en-US" sz="1100" dirty="0">
                          <a:solidFill>
                            <a:srgbClr val="222222"/>
                          </a:solidFill>
                        </a:rPr>
                        <a:t>repair </a:t>
                      </a:r>
                      <a:pPr algn="l" indent="0" marL="0">
                        <a:buNone/>
                      </a:pPr>
                      <a:r>
                        <a:rPr lang="en-US" sz="1100" dirty="0">
                          <a:solidFill>
                            <a:srgbClr val="222222"/>
                          </a:solidFill>
                        </a:rPr>
                        <a:t>funding </a:t>
                      </a:r>
                      <a:pPr algn="l" indent="0" marL="0">
                        <a:buNone/>
                      </a:pPr>
                      <a:r>
                        <a:rPr lang="en-US" sz="1100" dirty="0">
                          <a:solidFill>
                            <a:srgbClr val="222222"/>
                          </a:solidFill>
                        </a:rPr>
                        <a:t>for </a:t>
                      </a:r>
                      <a:pPr algn="l" indent="0" marL="0">
                        <a:buNone/>
                      </a:pPr>
                      <a:r>
                        <a:rPr lang="en-US" sz="1100" dirty="0">
                          <a:solidFill>
                            <a:srgbClr val="222222"/>
                          </a:solidFill>
                        </a:rPr>
                        <a:t>affected </a:t>
                      </a:r>
                      <a:pPr algn="l" indent="0" marL="0">
                        <a:buNone/>
                      </a:pPr>
                      <a:r>
                        <a:rPr lang="en-US" sz="1100" dirty="0">
                          <a:solidFill>
                            <a:srgbClr val="222222"/>
                          </a:solidFill>
                        </a:rPr>
                        <a:t>households. </a:t>
                      </a:r>
                      <a:pPr algn="l" indent="0" marL="0">
                        <a:buNone/>
                      </a:pPr>
                      <a:r>
                        <a:rPr lang="en-US" sz="1100" dirty="0">
                          <a:solidFill>
                            <a:srgbClr val="222222"/>
                          </a:solidFill>
                        </a:rPr>
                        <a:t>Per-household </a:t>
                      </a:r>
                      <a:pPr algn="l" indent="0" marL="0">
                        <a:buNone/>
                      </a:pPr>
                      <a:r>
                        <a:rPr lang="en-US" sz="1100" dirty="0">
                          <a:solidFill>
                            <a:srgbClr val="222222"/>
                          </a:solidFill>
                        </a:rPr>
                        <a:t>rates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total </a:t>
                      </a:r>
                      <a:pPr algn="l" indent="0" marL="0">
                        <a:buNone/>
                      </a:pPr>
                      <a:r>
                        <a:rPr lang="en-US" sz="1100" dirty="0">
                          <a:solidFill>
                            <a:srgbClr val="222222"/>
                          </a:solidFill>
                        </a:rPr>
                        <a:t>budget </a:t>
                      </a:r>
                      <a:pPr algn="l" indent="0" marL="0">
                        <a:buNone/>
                      </a:pPr>
                      <a:r>
                        <a:rPr lang="en-US" sz="1100" dirty="0">
                          <a:solidFill>
                            <a:srgbClr val="222222"/>
                          </a:solidFill>
                        </a:rPr>
                        <a:t>had </a:t>
                      </a:r>
                      <a:pPr algn="l" indent="0" marL="0">
                        <a:buNone/>
                      </a:pPr>
                      <a:r>
                        <a:rPr lang="en-US" sz="1100" dirty="0">
                          <a:solidFill>
                            <a:srgbClr val="222222"/>
                          </a:solidFill>
                        </a:rPr>
                        <a:t>not </a:t>
                      </a:r>
                      <a:pPr algn="l" indent="0" marL="0">
                        <a:buNone/>
                      </a:pPr>
                      <a:r>
                        <a:rPr lang="en-US" sz="1100" dirty="0">
                          <a:solidFill>
                            <a:srgbClr val="222222"/>
                          </a:solidFill>
                        </a:rPr>
                        <a:t>been </a:t>
                      </a:r>
                      <a:pPr algn="l" indent="0" marL="0">
                        <a:buNone/>
                      </a:pPr>
                      <a:r>
                        <a:rPr lang="en-US" sz="1100" dirty="0">
                          <a:solidFill>
                            <a:srgbClr val="222222"/>
                          </a:solidFill>
                        </a:rPr>
                        <a:t>published.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BNPB (Pusdatinkom, 27 Aug 2026) via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two </a:t>
                      </a:r>
                      <a:pPr algn="l" indent="0" marL="0">
                        <a:buNone/>
                      </a:pPr>
                      <a:r>
                        <a:rPr lang="en-US" sz="1100" dirty="0">
                          <a:solidFill>
                            <a:srgbClr val="222222"/>
                          </a:solidFill>
                        </a:rPr>
                        <a:t>house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versus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Confirm </a:t>
                      </a:r>
                      <a:pPr algn="l" indent="0" marL="0">
                        <a:buNone/>
                      </a:pPr>
                      <a:r>
                        <a:rPr lang="en-US" sz="1100" dirty="0">
                          <a:solidFill>
                            <a:srgbClr val="222222"/>
                          </a:solidFill>
                        </a:rPr>
                        <a:t>the </a:t>
                      </a:r>
                      <a:pPr algn="l" indent="0" marL="0">
                        <a:buNone/>
                      </a:pPr>
                      <a:r>
                        <a:rPr lang="en-US" sz="1100" dirty="0">
                          <a:solidFill>
                            <a:srgbClr val="222222"/>
                          </a:solidFill>
                        </a:rPr>
                        <a:t>definitional </a:t>
                      </a:r>
                      <a:pPr algn="l" indent="0" marL="0">
                        <a:buNone/>
                      </a:pPr>
                      <a:r>
                        <a:rPr lang="en-US" sz="1100" dirty="0">
                          <a:solidFill>
                            <a:srgbClr val="222222"/>
                          </a:solidFill>
                        </a:rPr>
                        <a:t>boundary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24 </a:t>
                      </a:r>
                      <a:pPr algn="l" indent="0" marL="0">
                        <a:buNone/>
                      </a:pPr>
                      <a:r>
                        <a:rPr lang="en-US" sz="1100" dirty="0">
                          <a:solidFill>
                            <a:srgbClr val="222222"/>
                          </a:solidFill>
                        </a:rPr>
                        <a:t>August </a:t>
                      </a:r>
                      <a:pPr algn="l" indent="0" marL="0">
                        <a:buNone/>
                      </a:pPr>
                      <a:r>
                        <a:rPr lang="en-US" sz="1100" dirty="0">
                          <a:solidFill>
                            <a:srgbClr val="222222"/>
                          </a:solidFill>
                        </a:rPr>
                        <a:t>and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BNPB </a:t>
                      </a:r>
                      <a:pPr algn="l" indent="0" marL="0">
                        <a:buNone/>
                      </a:pPr>
                      <a:r>
                        <a:rPr lang="en-US" sz="1100" dirty="0">
                          <a:solidFill>
                            <a:srgbClr val="222222"/>
                          </a:solidFill>
                        </a:rPr>
                        <a:t>figures </a:t>
                      </a:r>
                      <a:pPr algn="l" indent="0" marL="0">
                        <a:buNone/>
                      </a:pPr>
                      <a:r>
                        <a:rPr lang="en-US" sz="1100" dirty="0">
                          <a:solidFill>
                            <a:srgbClr val="222222"/>
                          </a:solidFill>
                        </a:rPr>
                        <a:t>differ </a:t>
                      </a:r>
                      <a:pPr algn="l" indent="0" marL="0">
                        <a:buNone/>
                      </a:pPr>
                      <a:r>
                        <a:rPr lang="en-US" sz="1100" dirty="0">
                          <a:solidFill>
                            <a:srgbClr val="222222"/>
                          </a:solidFill>
                        </a:rPr>
                        <a:t>substantially </a:t>
                      </a:r>
                      <a:pPr algn="l" indent="0" marL="0">
                        <a:buNone/>
                      </a:pPr>
                      <a:r>
                        <a:rPr lang="en-US" sz="1100" dirty="0">
                          <a:solidFill>
                            <a:srgbClr val="222222"/>
                          </a:solidFill>
                        </a:rPr>
                        <a:t>(education </a:t>
                      </a:r>
                      <a:pPr algn="l" indent="0" marL="0">
                        <a:buNone/>
                      </a:pPr>
                      <a:r>
                        <a:rPr lang="en-US" sz="1100" dirty="0">
                          <a:solidFill>
                            <a:srgbClr val="222222"/>
                          </a:solidFill>
                        </a:rPr>
                        <a:t>1,378 </a:t>
                      </a:r>
                      <a:pPr algn="l" indent="0" marL="0">
                        <a:buNone/>
                      </a:pPr>
                      <a:r>
                        <a:rPr lang="en-US" sz="1100" dirty="0">
                          <a:solidFill>
                            <a:srgbClr val="222222"/>
                          </a:solidFill>
                        </a:rPr>
                        <a:t>vs </a:t>
                      </a:r>
                      <a:pPr algn="l" indent="0" marL="0">
                        <a:buNone/>
                      </a:pPr>
                      <a:r>
                        <a:rPr lang="en-US" sz="1100" dirty="0">
                          <a:solidFill>
                            <a:srgbClr val="222222"/>
                          </a:solidFill>
                        </a:rPr>
                        <a:t>658).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tmp/build_event-5zfb8A/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 Anak Krakatau volcanic eruption - DG ECHO Daily Map (07/09/2026)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(Save the Children)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(duplicate ReliefWeb listing)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36 (31 Aug - 6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2026-09-12T23:10:25Z</dcterms:created>
  <dcterms:modified xsi:type="dcterms:W3CDTF">2026-09-12T23:10:25Z</dcterms:modified>
</cp:coreProperties>
</file>