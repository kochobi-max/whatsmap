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 Type="http://schemas.openxmlformats.org/officeDocument/2006/relationships/image" Target="../media/image-24-1.png"/><Relationship Id="rId12" Type="http://schemas.openxmlformats.org/officeDocument/2006/relationships/slideLayout" Target="../slideLayouts/slideLayout1.xml"/><Relationship Id="rId1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bnpb.go.id/berita" TargetMode="External"/><Relationship Id="rId3" Type="http://schemas.openxmlformats.org/officeDocument/2006/relationships/hyperlink" Target="https://www.antaranews.com/berita/5713387/bnpb-percepat-rehab-rekon-rumah-rusak-karena-gempa-di-flores-ntt" TargetMode="External"/><Relationship Id="rId4" Type="http://schemas.openxmlformats.org/officeDocument/2006/relationships/hyperlink" Target="https://www.antaranews.com/berita/5709283/bnpb-listrik-dan-sinyal-di-flores-pulih-100-persen-pascagempa" TargetMode="External"/><Relationship Id="rId5" Type="http://schemas.openxmlformats.org/officeDocument/2006/relationships/hyperlink" Target="https://news.harianjogja.com/r-1268934/update-gempa-flores-105-orang-meninggal-dan-81436-rumah-terdampak" TargetMode="External"/><Relationship Id="rId6" Type="http://schemas.openxmlformats.org/officeDocument/2006/relationships/hyperlink" Target="https://news.harianjogja.com/r-1268964/gempa-flores-19-puskesmas-belum-pulih-dan-122-tenda-disiapkan" TargetMode="External"/><Relationship Id="rId7" Type="http://schemas.openxmlformats.org/officeDocument/2006/relationships/hyperlink" Target="https://haluanntt.com/2026/08/27/pemprov-ntt-perpanjang-tanggap-darurat-gempa-flores-hingga-12-september-2026/" TargetMode="External"/><Relationship Id="rId8" Type="http://schemas.openxmlformats.org/officeDocument/2006/relationships/hyperlink" Target="https://www.bmkg.go.id/siaran-pers/bmkg-pemerintah-pusat-dan-pemerintah-daerah-kolaborasi-percepat-pemulihan-bencana-gempa-flores" TargetMode="External"/><Relationship Id="rId9" Type="http://schemas.openxmlformats.org/officeDocument/2006/relationships/hyperlink" Target="https://reliefweb.int/report/indonesia/flash-update-no-1-m77-earthquake-east-nusa-tenggara-indonesia-15-august-2026" TargetMode="External"/><Relationship Id="rId10" Type="http://schemas.openxmlformats.org/officeDocument/2006/relationships/hyperlink" Target="https://reliefweb.int/report/indonesia/asia-and-pacific-snapshot-el-nino-middle-east-crisis-28-august-2026" TargetMode="External"/><Relationship Id="rId11" Type="http://schemas.openxmlformats.org/officeDocument/2006/relationships/hyperlink" Target="https://reliefweb.int/report/indonesia/caritas-indonesia-stands-communities-affected-earthquake" TargetMode="External"/><Relationship Id="rId12" Type="http://schemas.openxmlformats.org/officeDocument/2006/relationships/hyperlink" Target="https://reliefweb.int/report/indonesia/care-indonesia-distributes-15000-litres-clean-water-earthquake-survivors" TargetMode="External"/><Relationship Id="rId1" Type="http://schemas.openxmlformats.org/officeDocument/2006/relationships/image" Target="../media/image-25-1.png"/><Relationship Id="rId13" Type="http://schemas.openxmlformats.org/officeDocument/2006/relationships/slideLayout" Target="../slideLayouts/slideLayout1.xml"/><Relationship Id="rId1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reliefweb.int/report/indonesia/asean-weekly-disaster-update-week-33-10-16-august-2026" TargetMode="External"/><Relationship Id="rId3" Type="http://schemas.openxmlformats.org/officeDocument/2006/relationships/hyperlink" Target="https://reliefweb.int/report/indonesia/iom-flash-appeal-rohingya-refugee-response-january-december-2026" TargetMode="External"/><Relationship Id="rId4" Type="http://schemas.openxmlformats.org/officeDocument/2006/relationships/hyperlink" Target="https://reliefweb.int/report/indonesia/indonesian-humanitarian-coordination-platform-situation-report-no-7-earthquake-and-tsunami-flores-and-surrounding-areas-28-august-2026" TargetMode="External"/><Relationship Id="rId5" Type="http://schemas.openxmlformats.org/officeDocument/2006/relationships/hyperlink" Target="https://reliefweb.int/report/indonesia/asean-weekly-disaster-update-week-35-24-30-august-2026" TargetMode="External"/><Relationship Id="rId6" Type="http://schemas.openxmlformats.org/officeDocument/2006/relationships/hyperlink" Target="https://reliefweb.int/report/indonesia/gender-alert-1-critical-protection-needs-women-and-girls-following-flores-earthquake-indonesia" TargetMode="External"/><Relationship Id="rId7" Type="http://schemas.openxmlformats.org/officeDocument/2006/relationships/hyperlink" Target="https://reliefweb.int/report/indonesia/gender-alert-1-anticipating-impact-el-nino-2026-women-girls-and-vulnerable-groups-indonesia" TargetMode="External"/><Relationship Id="rId8" Type="http://schemas.openxmlformats.org/officeDocument/2006/relationships/hyperlink" Target="https://reliefweb.int/map/indonesia/indonesia-anak-krakatau-volcanic-eruption-dg-echo-daily-map-07092026" TargetMode="External"/><Relationship Id="rId9" Type="http://schemas.openxmlformats.org/officeDocument/2006/relationships/hyperlink" Target="https://reliefweb.int/report/indonesia/indonesia-wildfire-haze-threatens-children-across-se-asia-and-closes-schools" TargetMode="External"/><Relationship Id="rId10" Type="http://schemas.openxmlformats.org/officeDocument/2006/relationships/hyperlink" Target="https://reliefweb.int/report/indonesia/indonesia-wildfire-haze-threatens-children-across-se-asia-and-closes-schools-save-children" TargetMode="External"/><Relationship Id="rId11" Type="http://schemas.openxmlformats.org/officeDocument/2006/relationships/hyperlink" Target="https://reliefweb.int/report/philippines/asean-weekly-disaster-update-week-36-31-august-6-september-2026" TargetMode="External"/><Relationship Id="rId1" Type="http://schemas.openxmlformats.org/officeDocument/2006/relationships/image" Target="../media/image-26-1.png"/><Relationship Id="rId12" Type="http://schemas.openxmlformats.org/officeDocument/2006/relationships/slideLayout" Target="../slideLayouts/slideLayout1.xml"/><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reliefweb.int/report/philippines/asean-weekly-disaster-update-week-37-7-13-september-2026" TargetMode="External"/><Relationship Id="rId3" Type="http://schemas.openxmlformats.org/officeDocument/2006/relationships/hyperlink" Target="https://en.antaranews.com/news/428627/indonesia-prepares-housing-aid-for-ntt-quake-victims" TargetMode="External"/><Relationship Id="rId4" Type="http://schemas.openxmlformats.org/officeDocument/2006/relationships/hyperlink" Target="https://en.antaranews.com/news/429081/bnpb-reports-ntt-quake-evacuees-decline-as-aftershocks-begin-to-ease" TargetMode="External"/><Relationship Id="rId5" Type="http://schemas.openxmlformats.org/officeDocument/2006/relationships/hyperlink" Target="https://en.antaranews.com/news/429936/ntt-earthquake-17-road-sections-14-bridges-restored" TargetMode="External"/><Relationship Id="rId6" Type="http://schemas.openxmlformats.org/officeDocument/2006/relationships/hyperlink" Target="https://en.antaranews.com/news/430027/1931-education-facilities-resume-classes-after-ntt-quake" TargetMode="External"/><Relationship Id="rId7" Type="http://schemas.openxmlformats.org/officeDocument/2006/relationships/hyperlink" Target="https://en.antaranews.com/news/430328/minister-urges-ntt-regions-to-optimize-rp200-billion-quake-funds" TargetMode="External"/><Relationship Id="rId8" Type="http://schemas.openxmlformats.org/officeDocument/2006/relationships/hyperlink" Target="https://en.antaranews.com/news/430347/ministry-sends-160-health-workers-to-ntt-for-earthquake-trauma-care" TargetMode="External"/><Relationship Id="rId9" Type="http://schemas.openxmlformats.org/officeDocument/2006/relationships/hyperlink" Target="https://en.antaranews.com/news/430597/flores-aftershocks-decline-residents-urged-to-remain-vigilant" TargetMode="External"/><Relationship Id="rId1" Type="http://schemas.openxmlformats.org/officeDocument/2006/relationships/image" Target="../media/image-27-1.png"/><Relationship Id="rId10" Type="http://schemas.openxmlformats.org/officeDocument/2006/relationships/slideLayout" Target="../slideLayouts/slideLayout1.xml"/><Relationship Id="rId11"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DEW3BJ/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East Nusa Tenggara Earthquake (Indonesia)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50" dirty="0">
                <a:solidFill>
                  <a:srgbClr val="222222"/>
                </a:solidFill>
                <a:latin typeface="Meiryo" pitchFamily="34" charset="0"/>
                <a:ea typeface="Meiryo" pitchFamily="34" charset="-122"/>
                <a:cs typeface="Meiryo" pitchFamily="34" charset="-120"/>
              </a:rPr>
              <a:t>M7.7   ·   Offshore Nagekeo Regency, about 30 km northeast of Mbay, Flores Island, East Nusa Tenggara</a:t>
            </a:r>
            <a:endParaRPr lang="en-US" sz="115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845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a:t>
            </a:r>
            <a:endParaRPr lang="en-US" sz="1250" dirty="0"/>
          </a:p>
        </p:txBody>
      </p:sp>
      <p:sp>
        <p:nvSpPr>
          <p:cNvPr id="8" name="Shape 5"/>
          <p:cNvSpPr/>
          <p:nvPr/>
        </p:nvSpPr>
        <p:spPr>
          <a:xfrm>
            <a:off x="365760" y="1652778"/>
            <a:ext cx="3444240" cy="2583180"/>
          </a:xfrm>
          <a:prstGeom prst="rect">
            <a:avLst/>
          </a:prstGeom>
          <a:solidFill>
            <a:srgbClr val="F2F2F2"/>
          </a:solidFill>
          <a:ln w="9525">
            <a:solidFill>
              <a:srgbClr val="D9D9D9"/>
            </a:solidFill>
            <a:prstDash val="solid"/>
          </a:ln>
        </p:spPr>
      </p:sp>
      <p:pic>
        <p:nvPicPr>
          <p:cNvPr id="9" name="Image 1" descr="/tmp/build_event-DEW3BJ/generator/images/EQ-2026-000150-IDN/locator_world_en.png">    </p:cNvPr>
          <p:cNvPicPr>
            <a:picLocks noChangeAspect="1"/>
          </p:cNvPicPr>
          <p:nvPr/>
        </p:nvPicPr>
        <p:blipFill>
          <a:blip r:embed="rId2"/>
          <a:srcRect l="0" r="0" t="0" b="0"/>
          <a:stretch/>
        </p:blipFill>
        <p:spPr>
          <a:xfrm>
            <a:off x="365760" y="1652778"/>
            <a:ext cx="3444240" cy="2583180"/>
          </a:xfrm>
          <a:prstGeom prst="rect">
            <a:avLst/>
          </a:prstGeom>
        </p:spPr>
      </p:pic>
      <p:sp>
        <p:nvSpPr>
          <p:cNvPr id="10" name="Shape 6"/>
          <p:cNvSpPr/>
          <p:nvPr/>
        </p:nvSpPr>
        <p:spPr>
          <a:xfrm>
            <a:off x="2602992" y="399821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399821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37845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Indonesia</a:t>
            </a:r>
            <a:endParaRPr lang="en-US" sz="1250" dirty="0"/>
          </a:p>
        </p:txBody>
      </p:sp>
      <p:sp>
        <p:nvSpPr>
          <p:cNvPr id="13" name="Shape 9"/>
          <p:cNvSpPr/>
          <p:nvPr/>
        </p:nvSpPr>
        <p:spPr>
          <a:xfrm>
            <a:off x="4358640" y="1652778"/>
            <a:ext cx="3444240" cy="2583180"/>
          </a:xfrm>
          <a:prstGeom prst="rect">
            <a:avLst/>
          </a:prstGeom>
          <a:solidFill>
            <a:srgbClr val="F2F2F2"/>
          </a:solidFill>
          <a:ln w="9525">
            <a:solidFill>
              <a:srgbClr val="D9D9D9"/>
            </a:solidFill>
            <a:prstDash val="solid"/>
          </a:ln>
        </p:spPr>
      </p:sp>
      <p:pic>
        <p:nvPicPr>
          <p:cNvPr id="14" name="Image 2" descr="/tmp/build_event-DEW3BJ/generator/images/EQ-2026-000150-IDN/locator_region_en.png">    </p:cNvPr>
          <p:cNvPicPr>
            <a:picLocks noChangeAspect="1"/>
          </p:cNvPicPr>
          <p:nvPr/>
        </p:nvPicPr>
        <p:blipFill>
          <a:blip r:embed="rId3"/>
          <a:srcRect l="0" r="0" t="0" b="0"/>
          <a:stretch/>
        </p:blipFill>
        <p:spPr>
          <a:xfrm>
            <a:off x="4358640" y="1652778"/>
            <a:ext cx="3444240" cy="2583180"/>
          </a:xfrm>
          <a:prstGeom prst="rect">
            <a:avLst/>
          </a:prstGeom>
        </p:spPr>
      </p:pic>
      <p:sp>
        <p:nvSpPr>
          <p:cNvPr id="15" name="Shape 10"/>
          <p:cNvSpPr/>
          <p:nvPr/>
        </p:nvSpPr>
        <p:spPr>
          <a:xfrm>
            <a:off x="6595872" y="399821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399821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37845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Flores, NTT</a:t>
            </a:r>
            <a:endParaRPr lang="en-US" sz="1250" dirty="0"/>
          </a:p>
        </p:txBody>
      </p:sp>
      <p:sp>
        <p:nvSpPr>
          <p:cNvPr id="18" name="Shape 13"/>
          <p:cNvSpPr/>
          <p:nvPr/>
        </p:nvSpPr>
        <p:spPr>
          <a:xfrm>
            <a:off x="8351520" y="1652778"/>
            <a:ext cx="3444240" cy="2583180"/>
          </a:xfrm>
          <a:prstGeom prst="rect">
            <a:avLst/>
          </a:prstGeom>
          <a:solidFill>
            <a:srgbClr val="F2F2F2"/>
          </a:solidFill>
          <a:ln w="9525">
            <a:solidFill>
              <a:srgbClr val="D9D9D9"/>
            </a:solidFill>
            <a:prstDash val="solid"/>
          </a:ln>
        </p:spPr>
      </p:sp>
      <p:pic>
        <p:nvPicPr>
          <p:cNvPr id="19" name="Image 3" descr="/tmp/build_event-DEW3BJ/generator/images/EQ-2026-000150-IDN/locator_flores.png">    </p:cNvPr>
          <p:cNvPicPr>
            <a:picLocks noChangeAspect="1"/>
          </p:cNvPicPr>
          <p:nvPr/>
        </p:nvPicPr>
        <p:blipFill>
          <a:blip r:embed="rId4"/>
          <a:srcRect l="0" r="0" t="0" b="0"/>
          <a:stretch/>
        </p:blipFill>
        <p:spPr>
          <a:xfrm>
            <a:off x="8351520" y="1652778"/>
            <a:ext cx="3444240" cy="2583180"/>
          </a:xfrm>
          <a:prstGeom prst="rect">
            <a:avLst/>
          </a:prstGeom>
        </p:spPr>
      </p:pic>
      <p:sp>
        <p:nvSpPr>
          <p:cNvPr id="20" name="Shape 14"/>
          <p:cNvSpPr/>
          <p:nvPr/>
        </p:nvSpPr>
        <p:spPr>
          <a:xfrm>
            <a:off x="10588752" y="399821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99821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14804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1652778"/>
            <a:ext cx="1750297" cy="495268"/>
          </a:xfrm>
          <a:prstGeom prst="line">
            <a:avLst/>
          </a:prstGeom>
          <a:noFill/>
          <a:ln w="19050">
            <a:solidFill>
              <a:srgbClr val="C00000"/>
            </a:solidFill>
            <a:prstDash val="solid"/>
          </a:ln>
        </p:spPr>
      </p:sp>
      <p:sp>
        <p:nvSpPr>
          <p:cNvPr id="24" name="Shape 18"/>
          <p:cNvSpPr/>
          <p:nvPr/>
        </p:nvSpPr>
        <p:spPr>
          <a:xfrm>
            <a:off x="2608343" y="3382795"/>
            <a:ext cx="1750297" cy="853163"/>
          </a:xfrm>
          <a:prstGeom prst="line">
            <a:avLst/>
          </a:prstGeom>
          <a:noFill/>
          <a:ln w="19050">
            <a:solidFill>
              <a:srgbClr val="C00000"/>
            </a:solidFill>
            <a:prstDash val="solid"/>
          </a:ln>
        </p:spPr>
      </p:sp>
      <p:sp>
        <p:nvSpPr>
          <p:cNvPr id="25" name="Shape 19"/>
          <p:cNvSpPr/>
          <p:nvPr/>
        </p:nvSpPr>
        <p:spPr>
          <a:xfrm>
            <a:off x="5713374" y="256460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1652778"/>
            <a:ext cx="1903374" cy="911829"/>
          </a:xfrm>
          <a:prstGeom prst="line">
            <a:avLst/>
          </a:prstGeom>
          <a:noFill/>
          <a:ln w="19050">
            <a:solidFill>
              <a:srgbClr val="C00000"/>
            </a:solidFill>
            <a:prstDash val="solid"/>
          </a:ln>
        </p:spPr>
      </p:sp>
      <p:sp>
        <p:nvSpPr>
          <p:cNvPr id="27" name="Shape 21"/>
          <p:cNvSpPr/>
          <p:nvPr/>
        </p:nvSpPr>
        <p:spPr>
          <a:xfrm>
            <a:off x="6448146" y="3379135"/>
            <a:ext cx="1903374" cy="856823"/>
          </a:xfrm>
          <a:prstGeom prst="line">
            <a:avLst/>
          </a:prstGeom>
          <a:noFill/>
          <a:ln w="19050">
            <a:solidFill>
              <a:srgbClr val="C00000"/>
            </a:solidFill>
            <a:prstDash val="solid"/>
          </a:ln>
        </p:spPr>
      </p:sp>
      <p:sp>
        <p:nvSpPr>
          <p:cNvPr id="28" name="Shape 22"/>
          <p:cNvSpPr/>
          <p:nvPr/>
        </p:nvSpPr>
        <p:spPr>
          <a:xfrm>
            <a:off x="0" y="4370832"/>
            <a:ext cx="12188952" cy="1956816"/>
          </a:xfrm>
          <a:prstGeom prst="rect">
            <a:avLst/>
          </a:prstGeom>
          <a:solidFill>
            <a:srgbClr val="262626"/>
          </a:solidFill>
          <a:ln w="12700">
            <a:solidFill>
              <a:srgbClr val="333333"/>
            </a:solidFill>
            <a:prstDash val="solid"/>
          </a:ln>
        </p:spPr>
      </p:sp>
      <p:sp>
        <p:nvSpPr>
          <p:cNvPr id="29" name="Text 23"/>
          <p:cNvSpPr/>
          <p:nvPr/>
        </p:nvSpPr>
        <p:spPr>
          <a:xfrm>
            <a:off x="457200" y="4443984"/>
            <a:ext cx="11274552" cy="181051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 magnitude 7.7 earthquake struck offshore Nagekeo Regency, East Nusa Tenggara, at 04:58 WIB on 15 August 2026, about 30 km northeast of Mbay on Flores Island. BMKG issued a tsunami warning for several coastal areas and lifted it at 07:31 WIB. Seven regencies were affected: West Manggarai, Manggarai, East Manggarai, Ngada, Nagekeo, Ende and Sikka. BNPB reported 105 deaths, 1,678 injured or ill, 179,037 displaced and 81,436 houses affected as of 26 August; the AHA Centre's ASEAN Weekly Disaster Update subsequently cited BNPB figures of 120 deaths, 1,658 injured and about 188,673 displaced as of 09:00 WIB on 31 August. The toll rose steadily as access improved: 47 deaths on 16 August, 69 on 18 August, 100 on 24 August, 105 on 26 August and 120 on 31 August. ADRC requested both Sentinel Asia and the International Charter on the day of the earthquake on behalf of BRIN. No official figure has been found superseding the 31 August toll as of this edition (14 Sep); through early September the response shifted into recovery, with roads and bridges fully restored, 1,931 schools resuming classes, additional health personnel deployed for psychosocial care, and Rp200 billion in central contingency funds released to NTT, while aftershocks (about 13,000 by 5 September) continued to decline gradually.</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- 11 September 2026 (Western Indonesian Time, UTC+7)) (1/3)</a:t>
            </a:r>
            <a:endParaRPr lang="en-US" sz="145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emergency observation is activated for the Flores region earthquake at the request of the National Research and Innovation Agency (BRIN); the record notes escalation to the International Charter and carries GLIDE EQ-2026-000150-IDN.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magnitude 7.7 earthquake strikes offshore Nagekeo Regency, East Nusa Tenggara, about 30 km northeast of Mbay on Flores Island. USGS gives Mww 7.7 at 10 km depth (14 Aug 21:58 UTC); BMKG reports 15 km.</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M6.1 aftershock is located in the same area, 30 minutes after the main shock.</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lifts the tsunami warning at 07:31 WIB. Tide gauges around the Flores Sea recorded maximum wave heights between 0.30 m and 1.61 m, with arrival times of 10 to 60 minutes.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first report: 2 deaths at Laurentius Say Port, Maumere.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#1050 (13:54 UTC+09:00), with ADRC recorded as the requestor on behalf of BRIN. Project management is assigned to 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Landslides sever the Trans-Flores highway and Nagekeo Regency is isolated.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and 101 injuries, with more than 5,000 people displaced and 1,357 houses damaged (914 severely).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341 aftershocks of M2.5-6.2. The displaced figure is revised to 9,290.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5.5 aftershock kills two people in Ngada Regency, one of them in a landslide (times in WITA, WIB+1h).</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toll reaches 69 deaths and 1,199 injured, with 46,252 displaced and 11,213 houses damaged. 283 educational, 211 health and 97 government facilities are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 Aug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5.8 aftershock; one death at Ruteng hospital is reported in association with it (WITA).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- 11 September 2026 (Western Indonesian Time, UTC+7)) (2/3)</a:t>
            </a:r>
            <a:endParaRPr lang="en-US" sz="145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Sentinel-1 SLC coherence analyses (VH and VV polarisation) are delivered under the Charter activation.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 / 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Aug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5,688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100 deaths, 1,603 injured or ill and 180,327 displaced, with 73,818 houses damaged, 1,378 educational facilities, 118 health facilities, 504 government offices and 396 places of worship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line-of-sight displacement analysis of the Flores earthquake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SAR-based earthquake damage proxy map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announces housing repair-grant rates: Rp15 million per lightly damaged house and Rp30 million per moderately damaged house; severely damaged houses to be handled through new construction or replacement. Distribution mechanisms and common damage-grading guidance are still being finalised.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(Berton SP Panjaitan),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deploys assessment teams to all seven affected regencies to accelerate rehabilitation and reconstruction, without waiting for the emergency period to end.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 - 12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 Province extends the emergency response period.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multi-stakeholder meeting on 25 Aug and its Situation Report No. 7 (published 28 Aug, citing the BNPB dashboard as of 27 Aug 09:00 WIB) flag continuing gaps in IDP data collection, especially among self-settled displaced people in West Manggarai, and record damage to 118 health facilities, 499 places of worship, 530 office units, 39 other public facilities, 19 irrigation facilities, 128 road points and 71 bridges.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 (MPBI), 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AHA Centre's ASEAN Weekly Disaster Update Week 35 reports that BNPB's emergency response period for the earthquake has been extended to 12 September, and records 120 deaths, 1,658 injured and approximately 188,673 displaced as of 09:00 WIB on 31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 (ASEAN), 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- 11 September 2026 (Western Indonesian Time, UTC+7)) (3/3)</a:t>
            </a:r>
            <a:endParaRPr lang="en-US" sz="145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 Jakarta press conference, BNPB reports 111 deaths, 1,631 injured (223 severe, 1,408 minor), 188,161 displaced (down 4,142 from the prior count) and 95,567 houses damaged (46,161 light, 21,992 moderate, 27,414 severe). Manggarai and Nagekeo hold the largest evacuee caseloads. Cumulative aftershocks reach 9,765 (155 felt), M1.0-6.2.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(Berton SP Panjaitan),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 (data) / 4 Sep (reported)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Ministry of Public Works confirms all 17 affected road sections and 14 bridges (plus 3 culverts) are restored and operational, and separately records 651 damaged public buildings (112 religious education facilities, 300 places of worship, 238 health facilities) plus damage to 81 drinking-water systems, 2 sludge plants, 1 landfill and several water-resource facilities, based on data as of 30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Public Works (Dody Hanggodo),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ministry reports 1,931 education facilities serving 171,476 students have resumed classes (1,504 in makeshift classrooms, 392 via distance learning, 35 fully normal), with 3,763 emergency classroom units targeted in total.</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 (Abdul Mu'ti),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batch of 160 Reserve Health Workers (TCK), focused on psychosocial and mental-health support, departs for Ngada, Manggarai, Manggarai Barat and Manggarai Timur, adding to 206 TCK personnel already deployed for primary care. Two field hospitals remain operational in Ruteng and Ngada.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Health (Sumarjaya),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 disaster-mitigation meeting chaired by President Prabowo on 7 September, the Home Affairs Minister urges NTT regions to accelerate use of Rp200 billion in central-government contingency funds (Rp40 billion to the province, Rp20 billion each to eight districts), noting the pace of realisation has been slow. The ministry has reissued 11,000 civil registration documents for affected residents.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Home Affairs Ministry (Tito Karnavian),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NTT Governor reports aftershocks declining but still fluctuating (about 13,000 cumulative, 177 felt, as of 5 September; BMKG expects activity may continue 3-4 more weeks). In Sikka District, 925 families remain registered as evacuees, a continuing decline; province-wide house-damage re-verification continues (3,042 houses confirmed damaged, 1,252 being entered, about 2,808 still in data collection).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NTT Governor (Melki Laka Lena), citing BMKG,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120 (BNPB, via AHA Centre, as of 09:00 WIB 31 Aug), up from 105 at the 26 Aug report. BNPB distinguishes 48 deaths caused directly by the earthquake from 57 recorded afterwards through Basarnas SAR operations and health-facility reports, including patients who died in treatment and vulnerable people affected by trauma (26 Aug breakdown). The count rose as access improved: 2 and then 47 on 15 Aug, 68 on 17 Aug, 71 on 19 Aug, 100 on 24 Aug, 105 on 26 Aug, 111 on 30 Aug (BNPB press conference, via ANTARA), 120 on 31 Aug. The AHA Centre's ASEAN Weekly Disaster Update is the source for the 31 Aug figure; BNPB has not published its own bulletin with this cut-off. As of this edition (14 Sep), no BNPB or media report found since 31 Aug supersedes 120; ANTARA's English edition, searched through 11 Sep, has no dedicated death-toll update after the 31 Aug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 ill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1,658 (BNPB, via AHA Centre, as of 09:00 WIB 31 Aug), down slightly from 1,678 at the 26 Aug report. Neither BNPB nor the AHA Centre explains the decrease; it may reflect reclassification between the 26 Aug BNPB bulletin and the AHA Centre's own citation rather than a correction to an earlier over-count, but this has not been confirmed. The figure moved 13 (15 Aug) to 213 (17 Aug) to 1,199 (18 Aug, of which 115 serious and 1,084 minor) to 1,603 (24 Aug) to 1,678 (26 Aug) to 1,631 (30 Aug, BNPB press conference via ANTARA: 223 severe, 1,408 minor) to 1,658 (31 Aug). The figure has moved up and down within a narrow band since 24 Aug without an official explanation; ADRC has not smoothed this into a single trend.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Approximately 188,673 (BNPB, via AHA Centre, as of 09:00 WIB 31 Aug), up from 179,037 at the 26 Aug report. The figure moved about 2,000 (15 Aug) to 9,290 (16 Aug) to 46,252 (18 Aug) to 59,647 (19 Aug) to 180,327 (24 Aug) to 179,037 (26 Aug) to 188,161 (30 Aug 07:00 WIB, BNPB press conference via ANTARA - down 4,142 from the prior count as aftershocks began to ease; Manggarai and Nagekeo the largest caseloads at 50,556 and 50,574) to approximately 188,673 (31 Aug). BNPB attributes the very large caseload substantially to fear of continuing aftershocks and to circulating hoaxes predicting a larger earthquake and tsunami, not to housing loss alone. No BNPB or media figure found after 31 Aug supersedes this; a 9 Sep ANTARA report on Sikka District alone (925 families still registered, and falling) is consistent with a continuing gradual decline but is not a province-wide count.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 houses affected (BNPB, 26 Aug). This is a broader measure than the 24 August data lock of 77,912 damaged houses, which carries the by-regency breakdown. The two must not be used interchangeably; confirm the definitional boundary before external use.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(data lock)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 (BNPB data lock, 24 Aug): 24,597 destroyed, 18,537 moderately damaged, 34,778 lightly damaged. This is the figure that carries the by-regency breakdown.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(30 Aug BNPB press conference)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95,567 houses damaged as of 07:00 WIB 30 Aug (BNPB, via ANTARA): 46,161 lightly damaged, 21,992 moderately damaged, 27,414 severely damaged. This is a third, larger house-damage total alongside the 77,912 (24 Aug data lock) and 81,436 (26 Aug, 'affected') figures above; BNPB has not published a reconciliation across the three. The rise is consistent with the by-name-by-address survey still running (see observations), not necessarily new damage. BNPB flagged an urgent need for temporary housing or relocation for the 27,414 severely damaged houses.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30 Aug 07:00 WIB,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(26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Education 658 units, health 172 units (19 puskesmas not yet operational; 122 tents deployed), places of worship 172, government offices 187, other public facilities 89 (BNPB, 26 Aug). These differ from the 24 August figures below; BNPB has not published a reconciliation, so both are shown with their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Ministry of Health,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(27 Aug, BNPB dashboard via IHCP)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Health 118 units, places of worship 499, office units 530, other public facilities 39, irrigation facilities 19, road points 128 and bridges 71 damaged, as of 27 Aug 09:00 WIB (BNPB dashboard, cited by the Indonesian Humanitarian Coordination Platform / MPBI). The health-facility count matches the 24 Aug figure below; the places-of-worship and office counts are far higher than either the 24 Aug or 26 Aug figures above. BNPB has not published a reconciliation across these three counts, so all are shown with their dates rather than replacing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dashboard, via Indonesian Humanitarian Coordination Platform (MPBI) Situation Report No. 7,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Power and telecommunications restored to 100% (Telkomsel had reached 85% by 17 Aug). All road sections closed by landslides, including the Trans-Flores highway at Nangaba, are functionally passable again. No bridge severely damaged; some approaches affected by landslides. Five airports and two seaports were affected on 15 Aug and the Maumere port passenger terminal collapsed; logistics now move by air and sea.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ANTARA / Beritasatu,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 recovery (Ministry of Public Works, 30 Aug data / reported 4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Minister Dody Hanggodo confirmed all 17 affected road sections (88 landslide points, 3 fault breaks) and all 14 affected bridges plus 3 culverts have been restored and are operational; work is continuing on smaller provincial and regency roads. Separately, the ministry is verifying damage to 81 drinking-water supply systems (SPAM, 1 already repaired), 2 sludge treatment plants and 1 landfill, and is assessing 2 weirs, 1 dam, 15 irrigation areas, 14 raw-water wells, 3 reservoirs, 4 coastal protection structures and 2 rivers.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Public Works (Dody Hanggodo), via ANTARA, 4 Sep 2026 (response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(Ministry of Public Works, 30 Aug data / reported 4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651 affected public buildings recorded: 112 religious education facilities, 300 places of worship and 238 health facilities, of which 152 have undergone phased verification. A further 17 government buildings and 1 military building are affected and under assessment. This is a fourth distinct public-facility count alongside the 24 Aug, 26 Aug and 27 Aug (IHCP dashboard) figures above, using yet another methodology; BNPB/the ministries have not reconciled any of these counts against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Public Works (Dody Hanggodo), via ANTARA, 4 Sep 2026 (response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Housing repair funding rates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BNPB announced repair-grant rates of Rp15 million per unit for lightly damaged houses and Rp30 million for moderately damaged houses; severely damaged houses are to be handled separately through new construction or replacement housing. Distribution and accounting mechanisms were still being prepared as of 27 Aug, and assessors were given common technical guidance to standardise damage grading (light/moderate/severe) across agencies.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(Berton SP Panjaitan), via ANTARA,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Central government contingency funds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President Prabowo Subianto approved Rp200 billion (about US$11.3 million) in contingency funds for NTT's disaster response: Rp40 billion to the NTT provincial government and Rp20 billion each to eight district administrations. Discussed at a disaster-mitigation meeting chaired by Prabowo on 7 Sep, Home Affairs Minister Tito Karnavian noted the relatively slow pace of fund realisation and said his ministry had deployed a team to help NTT administrations use the funds, including via direct procurement. The ministry separately reported reissuing 11,000 civil registration documents for affected residents.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Home Affairs Ministry (Tito Karnavian), via ANTARA, 8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27</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workforce deployment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Ministry of Health has deployed 206 Reserve Health Workers (TCK) for primary medical care plus a second batch of 160 TCK personnel dispatched on 7 Sep focused on psychosocial and mental-health support, to Ngada, Manggarai, Manggarai Barat and Manggarai Timur districts. Two field hospitals are operational, in Ruteng and Ngada. TCK rotations follow WHO-standard 14-day shifts, aligned with the emergency response period through 12 Sep.</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Health (Sumarjaya), via ANTARA, 8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 recovery</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Ministry of Primary and Secondary Education reported 1,931 education facilities serving 171,476 students had resumed classes as of 5 Sep: 1,504 schools in makeshift classrooms, 392 via distance learning and 35 back to normal in-person classes. The ministry has distributed 100 large tents for makeshift classrooms, 9,500 reading books, 5,500 school-kit packages and 1,500 family kits, disbursed Rp1.1 billion for debris clearance at severely damaged schools, and is targeting 3,763 emergency classroom units in total.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Primary and Secondary Education (Abdul Mu'ti), via ANTARA,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 Province extended the emergency response period to 12 September 2026. It was reported as a 14-day extension, but 29 August to 12 September inclusive is 15 days, so the stated end date and duration do not fully agree.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Governor Melki Laka Lena,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27</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(24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1,378 educational facilities, 118 health facilities, 504 government offices and 396 places of worship damaged (BNPB, 24 Aug). On 18 August the figures were 283 educational, 211 health, 97 government, 96 places of worship and 106 business premises.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regencies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Seven regencies in East Nusa Tenggara: West Manggarai, Manggarai, East Manggarai, Ngada, Nagekeo, Ende and Sikka. Displacement was also reported in Bima Regency, West Nusa Tenggara (71 people on 18 Aug) and in the Selayar Islands.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Tsunami</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Warning issued with the 05:09:54 WIB bulletin and lifted at 07:30 WIB. Seven BMKG tide gauges recorded 0.14-0.94 m: Maurole (Ende) 0.94, Kuwapante Port 0.38, Labuan Bajo 0.36, East Flores 0.25, Sikka 0.19, Dompu 0.17, Bakalan (Alor) 0.14. BNPB's aerial assessment characterised the tsunami impact as minor and no tsunami deaths have been reported. Some secondary compilations cite a maximum run-up of 1.61 m, which exceeds every BMKG gauge value and is not used here as a primary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15 Aug (7 tide gauges); BNPB aerial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27</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Aftershocks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 recorded 341 aftershocks of magnitude 2.5 to 6.2 by 17 August, including M6.1 and M5.9 events. USGS separately located an M6.1 at 22:28 UTC on 14 August, 30 minutes after the main shock. Thousands of aftershocks have continued, discouraging families from returning to damaged homes. The cumulative count later reached 9,765 (M1.0-6.2, 155 felt) as of 30 Aug and around 13,000 (177 felt) as of 5 Sep, per BNPB/BMKG cited by ANTARA. On 9 Sep the NTT Governor, citing BMKG, described the trend as declining but still fluctuating, with aftershocks possibly continuing another 3-4 weeks from the mainshock.</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17 Aug / USGS; BNPB via ANTARA, 30 Aug and 9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Yellow alert for both estimated fatalities and estimated economic losses. Maximum estimated shaking MMI VIII; 51 felt reports.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 last updated 17 Aug 21:56 UTC</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Larantuka-Maumere road is passable; the Ende-Nagekeo road was cut. Damaged roads, power outages and communication disruptions have hampered assessment and relief. Access along major routes has since improved, but remote villages and island communities remain logistically constrained. Existing dry-season and El Nino water shortages compound the situation.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&amp; PMI, 16-24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For comparison - 1992</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12 December 1992 Flores earthquake was also M7.7, at 28 km depth, and caused more than 2,500 fatalities according to BNPB. The 2026 event has a comparable magnitude at shallower depth.</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cited in DG ECHO / ERCC daily map, 18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27</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(10/10)</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 issued a red alert for this earthquake.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 via DG ECHO / ERCC daily map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 damaged (hospitals / community health centres)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 hospitals and 68 community health centres (puskesmas) damaged, as of 30 Aug (Gender Alert #1, jointly issued by Indonesia's Ministry of Women's Empowerment and Child Protection, the Indonesia Humanitarian Coordination Platform, UNFPA and UN Women, published 2 Sep). This is a hospital/puskesmas breakdown not previously published; it sits alongside, and has not been reconciled with, the BNPB 26 Aug figure of 172 health units damaged (including 19 puskesmas not yet operational).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Protection needs of women and girls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 identifies heightened protection risks for women and girls in displacement settings - gender-based violence, limited access to maternal and reproductive health services, and gaps in safe and inclusive evacuation facilities - and calls for gender-responsive assistance, disaggregated data collection, GBV coordination and survivor-centred services, and gender- and disability-inclusive WASH, shelter and evacuation facilities.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27</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Indonesian Red Cross (PMI) is responding alongside IFRC under DREF operation MDRID029. Priority needs are emergency shelter, safe water and sanitation, healthcare, essential household items, protection and psychosocial support.</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27</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requested both Sentinel Asia and the International Charter Space and Major Disasters on the day of the earthquake, on behalf of Indonesia's National Research and Innovation Agency (BRIN). The Charter records the requestor as "ADRC on behalf of BRIN" - Activation #1050, 15 August, 13:54 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Value adding was contributed by Masahiko Nagai (Yamaguchi University) and Yenni Vetrita (BRIN). Four products were delivered: Sentinel-1 SLC coherence analyses in VH and VV polarisation (22 August), a line-of-sight displacement analysis (25 August) and a SAR-based earthquake damage proxy map (26 August).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opened a DREF operation (MDRID029) for the Flores earthquake response. Caritas Indonesia and CARE Indonesia are also responding; CARE reported distributing 15,000 litres of clean water.</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27</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50" b="1" dirty="0">
                <a:solidFill>
                  <a:srgbClr val="1F3864"/>
                </a:solidFill>
                <a:latin typeface="Cambria" pitchFamily="34" charset="0"/>
                <a:ea typeface="Cambria" pitchFamily="34" charset="-122"/>
                <a:cs typeface="Cambria" pitchFamily="34" charset="-120"/>
              </a:rPr>
              <a:t>International Activation Pages (requested by ADRC on behalf of BRIN)</a:t>
            </a:r>
            <a:endParaRPr lang="en-US" sz="195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DEW3BJ/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Earthquake in Flores region, Indonesia (requested by 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DEW3BJ/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Earthquake in Indonesia,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for the Flores region earthquake, requested by BRIN and activated on the day of the event. The record notes escalation to the International Charter and carries GLIDE EQ-2026-000150-IDN. ADRC (M. Sugiura) formally ended the EOR (SA-00656) on 31 Aug 2026, 23:45 JST.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15 Aug, ended by ADRC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Requestor recorded as "ADRC on behalf of BRIN". Project management: Virgilius Rivan Seran (BRIN). Value adding: Masahiko Nagai (Yamaguchi University) and Yenni Vetrita (BRIN). Four products delivered between 22 and 26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#1050 (15 Aug, 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 archive and observation images. Archive observations of 30 May 2020 (L1.1, f3780/f3790, SB6) and 6 March 2021 (L1.1, f3780/f3790, SB7).</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observed on 20, 21 and 23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Two KazEOSAT-1 observation images, both observed on 23 August 2026 at 02:01 and 02:02 UTC.</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sequence has been unusually productive: 7,259 events to 25 August, against 265 in the first ten hours. The largest aftershock was M6.2 and no event exceeded the mainshock.</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Aftershocks are distributed along the north coast of Flores - Aesesa, Riung, Kota Ambai, Manggarai and Ruteng - consistent with an E-W striking rupture on the Flores Back-Arc 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first-day totals understated the final picture by one to two orders of magnitude: deaths 2 to 105, evacuees about 2,000 to 179,037, injuries 13 to 1,678. This is characteristic of a shallow event that severs road and telecom access to the worst-hit districts.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 attributes the very large displacement caseload substantially to fear of continuing aftershocks and to hoaxes predicting a larger earthquake, not to housing loss alone. Government and partners are running counter-messaging.</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Rupture length, slip distribution and a finite-fault model had not been published in accessible sources at the time of writing. Figures remain provisional; BNPB collects data in stages from hamlet level upward and the by-name-by-address survey is still running.</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27</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Housing Damage by Regency</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August 2026. Manggarai Timur and Manggarai together account for 46% of all damaged houses and 54% of houses destroyed.</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rPr>
                        <a:t>Regency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Destroyed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Moderate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Light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Total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Timur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6,833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4,996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6,973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18,802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Manggarai</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6,360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5,196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5,552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17,108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Barat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3,732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2,014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5,067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10,813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Nagekeo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3,218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1,598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4,828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9,644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2,256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2,116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5,190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9,562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Ende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1,208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1,725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4,547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7,480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Sikka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892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2,621</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4,503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Total</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24,597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18,537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34,778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77,912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Nagekeo - nearest the epicentre and cut off in the first days - ranks fourth by total damage and third by overall impact in BNPB's assessment, which is consistent with its early absence from national tallies having been a reporting lag rather than an absence of damage. That reading is an ADRC inference, not an official finding.</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50" b="1" dirty="0">
                <a:solidFill>
                  <a:srgbClr val="6A6A6A"/>
                </a:solidFill>
                <a:latin typeface="Meiryo" pitchFamily="34" charset="0"/>
                <a:ea typeface="Meiryo" pitchFamily="34" charset="-122"/>
                <a:cs typeface="Meiryo" pitchFamily="34" charset="-120"/>
              </a:rPr>
              <a:t>Sources: </a:t>
            </a:r>
            <a:pPr algn="l" indent="0" marL="0">
              <a:buNone/>
            </a:pPr>
            <a:r>
              <a:rPr lang="en-US" sz="950" dirty="0">
                <a:solidFill>
                  <a:srgbClr val="6A6A6A"/>
                </a:solidFill>
                <a:latin typeface="Meiryo" pitchFamily="34" charset="0"/>
                <a:ea typeface="Meiryo" pitchFamily="34" charset="-122"/>
                <a:cs typeface="Meiryo" pitchFamily="34" charset="-120"/>
              </a:rPr>
              <a:t>BNPB data lock 24 Aug 2026 (via ANTARA) — </a:t>
            </a:r>
            <a:pPr algn="l" indent="0" marL="0">
              <a:buNone/>
            </a:pPr>
            <a:r>
              <a:rPr lang="en-US" sz="9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9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27</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 Central Government</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rPr>
                        <a:t>Actor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Action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President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Prabowo </a:t>
                      </a:r>
                      <a:pPr algn="l" indent="0" marL="0">
                        <a:buNone/>
                      </a:pPr>
                      <a:r>
                        <a:rPr lang="en-US" sz="1100" dirty="0">
                          <a:solidFill>
                            <a:srgbClr val="222222"/>
                          </a:solidFill>
                        </a:rPr>
                        <a:t>Subianto </a:t>
                      </a:r>
                      <a:pPr algn="l" indent="0" marL="0">
                        <a:buNone/>
                      </a:pPr>
                      <a:r>
                        <a:rPr lang="en-US" sz="1100" dirty="0">
                          <a:solidFill>
                            <a:srgbClr val="222222"/>
                          </a:solidFill>
                        </a:rPr>
                        <a:t>visited </a:t>
                      </a:r>
                      <a:pPr algn="l" indent="0" marL="0">
                        <a:buNone/>
                      </a:pPr>
                      <a:r>
                        <a:rPr lang="en-US" sz="1100" dirty="0">
                          <a:solidFill>
                            <a:srgbClr val="222222"/>
                          </a:solidFill>
                        </a:rPr>
                        <a:t>Nagekeo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Maumere </a:t>
                      </a:r>
                      <a:pPr algn="l" indent="0" marL="0">
                        <a:buNone/>
                      </a:pPr>
                      <a:r>
                        <a:rPr lang="en-US" sz="1100" dirty="0">
                          <a:solidFill>
                            <a:srgbClr val="222222"/>
                          </a:solidFill>
                        </a:rPr>
                        <a:t>evacuation </a:t>
                      </a:r>
                      <a:pPr algn="l" indent="0" marL="0">
                        <a:buNone/>
                      </a:pPr>
                      <a:r>
                        <a:rPr lang="en-US" sz="1100" dirty="0">
                          <a:solidFill>
                            <a:srgbClr val="222222"/>
                          </a:solidFill>
                        </a:rPr>
                        <a:t>posts </a:t>
                      </a:r>
                      <a:pPr algn="l" indent="0" marL="0">
                        <a:buNone/>
                      </a:pPr>
                      <a:r>
                        <a:rPr lang="en-US" sz="1100" dirty="0">
                          <a:solidFill>
                            <a:srgbClr val="222222"/>
                          </a:solidFill>
                        </a:rPr>
                        <a:t>on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chairing </a:t>
                      </a:r>
                      <a:pPr algn="l" indent="0" marL="0">
                        <a:buNone/>
                      </a:pPr>
                      <a:r>
                        <a:rPr lang="en-US" sz="1100" dirty="0">
                          <a:solidFill>
                            <a:srgbClr val="222222"/>
                          </a:solidFill>
                        </a:rPr>
                        <a:t>a </a:t>
                      </a:r>
                      <a:pPr algn="l" indent="0" marL="0">
                        <a:buNone/>
                      </a:pPr>
                      <a:r>
                        <a:rPr lang="en-US" sz="1100" dirty="0">
                          <a:solidFill>
                            <a:srgbClr val="222222"/>
                          </a:solidFill>
                        </a:rPr>
                        <a:t>response </a:t>
                      </a:r>
                      <a:pPr algn="l" indent="0" marL="0">
                        <a:buNone/>
                      </a:pPr>
                      <a:r>
                        <a:rPr lang="en-US" sz="1100" dirty="0">
                          <a:solidFill>
                            <a:srgbClr val="222222"/>
                          </a:solidFill>
                        </a:rPr>
                        <a:t>meeting </a:t>
                      </a:r>
                      <a:pPr algn="l" indent="0" marL="0">
                        <a:buNone/>
                      </a:pPr>
                      <a:r>
                        <a:rPr lang="en-US" sz="1100" dirty="0">
                          <a:solidFill>
                            <a:srgbClr val="222222"/>
                          </a:solidFill>
                        </a:rPr>
                        <a:t>on </a:t>
                      </a:r>
                      <a:pPr algn="l" indent="0" marL="0">
                        <a:buNone/>
                      </a:pPr>
                      <a:r>
                        <a:rPr lang="en-US" sz="1100" dirty="0">
                          <a:solidFill>
                            <a:srgbClr val="222222"/>
                          </a:solidFill>
                        </a:rPr>
                        <a:t>site. </a:t>
                      </a:r>
                      <a:pPr algn="l" indent="0" marL="0">
                        <a:buNone/>
                      </a:pPr>
                      <a:r>
                        <a:rPr lang="en-US" sz="1100" dirty="0">
                          <a:solidFill>
                            <a:srgbClr val="222222"/>
                          </a:solidFill>
                        </a:rPr>
                        <a:t>Earlier </a:t>
                      </a:r>
                      <a:pPr algn="l" indent="0" marL="0">
                        <a:buNone/>
                      </a:pPr>
                      <a:r>
                        <a:rPr lang="en-US" sz="1100" dirty="0">
                          <a:solidFill>
                            <a:srgbClr val="222222"/>
                          </a:solidFill>
                        </a:rPr>
                        <a:t>he </a:t>
                      </a:r>
                      <a:pPr algn="l" indent="0" marL="0">
                        <a:buNone/>
                      </a:pPr>
                      <a:r>
                        <a:rPr lang="en-US" sz="1100" dirty="0">
                          <a:solidFill>
                            <a:srgbClr val="222222"/>
                          </a:solidFill>
                        </a:rPr>
                        <a:t>ordered </a:t>
                      </a:r>
                      <a:pPr algn="l" indent="0" marL="0">
                        <a:buNone/>
                      </a:pPr>
                      <a:r>
                        <a:rPr lang="en-US" sz="1100" dirty="0">
                          <a:solidFill>
                            <a:srgbClr val="222222"/>
                          </a:solidFill>
                        </a:rPr>
                        <a:t>50,000 </a:t>
                      </a:r>
                      <a:pPr algn="l" indent="0" marL="0">
                        <a:buNone/>
                      </a:pPr>
                      <a:r>
                        <a:rPr lang="en-US" sz="1100" dirty="0">
                          <a:solidFill>
                            <a:srgbClr val="222222"/>
                          </a:solidFill>
                        </a:rPr>
                        <a:t>relief </a:t>
                      </a:r>
                      <a:pPr algn="l" indent="0" marL="0">
                        <a:buNone/>
                      </a:pPr>
                      <a:r>
                        <a:rPr lang="en-US" sz="1100" dirty="0">
                          <a:solidFill>
                            <a:srgbClr val="222222"/>
                          </a:solidFill>
                        </a:rPr>
                        <a:t>packages </a:t>
                      </a:r>
                      <a:pPr algn="l" indent="0" marL="0">
                        <a:buNone/>
                      </a:pPr>
                      <a:r>
                        <a:rPr lang="en-US" sz="1100" dirty="0">
                          <a:solidFill>
                            <a:srgbClr val="222222"/>
                          </a:solidFill>
                        </a:rPr>
                        <a:t>(275 </a:t>
                      </a:r>
                      <a:pPr algn="l" indent="0" marL="0">
                        <a:buNone/>
                      </a:pPr>
                      <a:r>
                        <a:rPr lang="en-US" sz="1100" dirty="0">
                          <a:solidFill>
                            <a:srgbClr val="222222"/>
                          </a:solidFill>
                        </a:rPr>
                        <a:t>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National </a:t>
                      </a:r>
                      <a:pPr algn="l" indent="0" marL="0">
                        <a:buNone/>
                      </a:pPr>
                      <a:r>
                        <a:rPr lang="en-US" sz="1100" dirty="0">
                          <a:solidFill>
                            <a:srgbClr val="222222"/>
                          </a:solidFill>
                        </a:rPr>
                        <a:t>command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Posko </a:t>
                      </a:r>
                      <a:pPr algn="l" indent="0" marL="0">
                        <a:buNone/>
                      </a:pPr>
                      <a:r>
                        <a:rPr lang="en-US" sz="1100" dirty="0">
                          <a:solidFill>
                            <a:srgbClr val="222222"/>
                          </a:solidFill>
                        </a:rPr>
                        <a:t>Pengendalian </a:t>
                      </a:r>
                      <a:pPr algn="l" indent="0" marL="0">
                        <a:buNone/>
                      </a:pPr>
                      <a:r>
                        <a:rPr lang="en-US" sz="1100" dirty="0">
                          <a:solidFill>
                            <a:srgbClr val="222222"/>
                          </a:solidFill>
                        </a:rPr>
                        <a:t>Nasional </a:t>
                      </a:r>
                      <a:pPr algn="l" indent="0" marL="0">
                        <a:buNone/>
                      </a:pPr>
                      <a:r>
                        <a:rPr lang="en-US" sz="1100" dirty="0">
                          <a:solidFill>
                            <a:srgbClr val="222222"/>
                          </a:solidFill>
                        </a:rPr>
                        <a:t>activated </a:t>
                      </a:r>
                      <a:pPr algn="l" indent="0" marL="0">
                        <a:buNone/>
                      </a:pPr>
                      <a:r>
                        <a:rPr lang="en-US" sz="1100" dirty="0">
                          <a:solidFill>
                            <a:srgbClr val="222222"/>
                          </a:solidFill>
                        </a:rPr>
                        <a:t>from </a:t>
                      </a:r>
                      <a:pPr algn="l" indent="0" marL="0">
                        <a:buNone/>
                      </a:pPr>
                      <a:r>
                        <a:rPr lang="en-US" sz="1100" dirty="0">
                          <a:solidFill>
                            <a:srgbClr val="222222"/>
                          </a:solidFill>
                        </a:rPr>
                        <a:t>day </a:t>
                      </a:r>
                      <a:pPr algn="l" indent="0" marL="0">
                        <a:buNone/>
                      </a:pPr>
                      <a:r>
                        <a:rPr lang="en-US" sz="1100" dirty="0">
                          <a:solidFill>
                            <a:srgbClr val="222222"/>
                          </a:solidFill>
                        </a:rPr>
                        <a:t>one. </a:t>
                      </a:r>
                      <a:pPr algn="l" indent="0" marL="0">
                        <a:buNone/>
                      </a:pPr>
                      <a:r>
                        <a:rPr lang="en-US" sz="1100" dirty="0">
                          <a:solidFill>
                            <a:srgbClr val="222222"/>
                          </a:solidFill>
                        </a:rPr>
                        <a:t>Tiered </a:t>
                      </a:r>
                      <a:pPr algn="l" indent="0" marL="0">
                        <a:buNone/>
                      </a:pPr>
                      <a:r>
                        <a:rPr lang="en-US" sz="1100" dirty="0">
                          <a:solidFill>
                            <a:srgbClr val="222222"/>
                          </a:solidFill>
                        </a:rPr>
                        <a:t>task </a:t>
                      </a:r>
                      <a:pPr algn="l" indent="0" marL="0">
                        <a:buNone/>
                      </a:pPr>
                      <a:r>
                        <a:rPr lang="en-US" sz="1100" dirty="0">
                          <a:solidFill>
                            <a:srgbClr val="222222"/>
                          </a:solidFill>
                        </a:rPr>
                        <a:t>forces </a:t>
                      </a:r>
                      <a:pPr algn="l" indent="0" marL="0">
                        <a:buNone/>
                      </a:pPr>
                      <a:r>
                        <a:rPr lang="en-US" sz="1100" dirty="0">
                          <a:solidFill>
                            <a:srgbClr val="222222"/>
                          </a:solidFill>
                        </a:rPr>
                        <a:t>(Satgas): </a:t>
                      </a:r>
                      <a:pPr algn="l" indent="0" marL="0">
                        <a:buNone/>
                      </a:pPr>
                      <a:r>
                        <a:rPr lang="en-US" sz="1100" dirty="0">
                          <a:solidFill>
                            <a:srgbClr val="222222"/>
                          </a:solidFill>
                        </a:rPr>
                        <a:t>regency </a:t>
                      </a:r>
                      <a:pPr algn="l" indent="0" marL="0">
                        <a:buNone/>
                      </a:pPr>
                      <a:r>
                        <a:rPr lang="en-US" sz="1100" dirty="0">
                          <a:solidFill>
                            <a:srgbClr val="222222"/>
                          </a:solidFill>
                        </a:rPr>
                        <a:t>level </a:t>
                      </a:r>
                      <a:pPr algn="l" indent="0" marL="0">
                        <a:buNone/>
                      </a:pPr>
                      <a:r>
                        <a:rPr lang="en-US" sz="1100" dirty="0">
                          <a:solidFill>
                            <a:srgbClr val="222222"/>
                          </a:solidFill>
                        </a:rPr>
                        <a:t>led </a:t>
                      </a:r>
                      <a:pPr algn="l" indent="0" marL="0">
                        <a:buNone/>
                      </a:pPr>
                      <a:r>
                        <a:rPr lang="en-US" sz="1100" dirty="0">
                          <a:solidFill>
                            <a:srgbClr val="222222"/>
                          </a:solidFill>
                        </a:rPr>
                        <a:t>by </a:t>
                      </a:r>
                      <a:pPr algn="l" indent="0" marL="0">
                        <a:buNone/>
                      </a:pPr>
                      <a:r>
                        <a:rPr lang="en-US" sz="1100" dirty="0">
                          <a:solidFill>
                            <a:srgbClr val="222222"/>
                          </a:solidFill>
                        </a:rPr>
                        <a:t>each </a:t>
                      </a:r>
                      <a:pPr algn="l" indent="0" marL="0">
                        <a:buNone/>
                      </a:pPr>
                      <a:r>
                        <a:rPr lang="en-US" sz="1100" dirty="0">
                          <a:solidFill>
                            <a:srgbClr val="222222"/>
                          </a:solidFill>
                        </a:rPr>
                        <a:t>bupati, </a:t>
                      </a:r>
                      <a:pPr algn="l" indent="0" marL="0">
                        <a:buNone/>
                      </a:pPr>
                      <a:r>
                        <a:rPr lang="en-US" sz="1100" dirty="0">
                          <a:solidFill>
                            <a:srgbClr val="222222"/>
                          </a:solidFill>
                        </a:rPr>
                        <a:t>provincial </a:t>
                      </a:r>
                      <a:pPr algn="l" indent="0" marL="0">
                        <a:buNone/>
                      </a:pPr>
                      <a:r>
                        <a:rPr lang="en-US" sz="1100" dirty="0">
                          <a:solidFill>
                            <a:srgbClr val="222222"/>
                          </a:solidFill>
                        </a:rPr>
                        <a:t>level </a:t>
                      </a:r>
                      <a:pPr algn="l" indent="0" marL="0">
                        <a:buNone/>
                      </a:pPr>
                      <a:r>
                        <a:rPr lang="en-US" sz="1100" dirty="0">
                          <a:solidFill>
                            <a:srgbClr val="222222"/>
                          </a:solidFill>
                        </a:rPr>
                        <a:t>by </a:t>
                      </a:r>
                      <a:pPr algn="l" indent="0" marL="0">
                        <a:buNone/>
                      </a:pPr>
                      <a:r>
                        <a:rPr lang="en-US" sz="1100" dirty="0">
                          <a:solidFill>
                            <a:srgbClr val="222222"/>
                          </a:solidFill>
                        </a:rPr>
                        <a:t>the </a:t>
                      </a:r>
                      <a:pPr algn="l" indent="0" marL="0">
                        <a:buNone/>
                      </a:pPr>
                      <a:r>
                        <a:rPr lang="en-US" sz="1100" dirty="0">
                          <a:solidFill>
                            <a:srgbClr val="222222"/>
                          </a:solidFill>
                        </a:rPr>
                        <a:t>governor, </a:t>
                      </a:r>
                      <a:pPr algn="l" indent="0" marL="0">
                        <a:buNone/>
                      </a:pPr>
                      <a:r>
                        <a:rPr lang="en-US" sz="1100" dirty="0">
                          <a:solidFill>
                            <a:srgbClr val="222222"/>
                          </a:solidFill>
                        </a:rPr>
                        <a:t>and </a:t>
                      </a:r>
                      <a:pPr algn="l" indent="0" marL="0">
                        <a:buNone/>
                      </a:pPr>
                      <a:r>
                        <a:rPr lang="en-US" sz="1100" dirty="0">
                          <a:solidFill>
                            <a:srgbClr val="222222"/>
                          </a:solidFill>
                        </a:rPr>
                        <a:t>a </a:t>
                      </a:r>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mentoring </a:t>
                      </a:r>
                      <a:pPr algn="l" indent="0" marL="0">
                        <a:buNone/>
                      </a:pPr>
                      <a:r>
                        <a:rPr lang="en-US" sz="1100" dirty="0">
                          <a:solidFill>
                            <a:srgbClr val="222222"/>
                          </a:solidFill>
                        </a:rPr>
                        <a:t>task </a:t>
                      </a:r>
                      <a:pPr algn="l" indent="0" marL="0">
                        <a:buNone/>
                      </a:pPr>
                      <a:r>
                        <a:rPr lang="en-US" sz="1100" dirty="0">
                          <a:solidFill>
                            <a:srgbClr val="222222"/>
                          </a:solidFill>
                        </a:rPr>
                        <a:t>force.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Forward </a:t>
                      </a:r>
                      <a:pPr algn="l" indent="0" marL="0">
                        <a:buNone/>
                      </a:pPr>
                      <a:r>
                        <a:rPr lang="en-US" sz="1100" dirty="0">
                          <a:solidFill>
                            <a:srgbClr val="222222"/>
                          </a:solidFill>
                        </a:rPr>
                        <a:t>posts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Two </a:t>
                      </a:r>
                      <a:pPr algn="l" indent="0" marL="0">
                        <a:buNone/>
                      </a:pPr>
                      <a:r>
                        <a:rPr lang="en-US" sz="1100" dirty="0">
                          <a:solidFill>
                            <a:srgbClr val="222222"/>
                          </a:solidFill>
                        </a:rPr>
                        <a:t>forward </a:t>
                      </a:r>
                      <a:pPr algn="l" indent="0" marL="0">
                        <a:buNone/>
                      </a:pPr>
                      <a:r>
                        <a:rPr lang="en-US" sz="1100" dirty="0">
                          <a:solidFill>
                            <a:srgbClr val="222222"/>
                          </a:solidFill>
                        </a:rPr>
                        <a:t>posts </a:t>
                      </a:r>
                      <a:pPr algn="l" indent="0" marL="0">
                        <a:buNone/>
                      </a:pPr>
                      <a:r>
                        <a:rPr lang="en-US" sz="1100" dirty="0">
                          <a:solidFill>
                            <a:srgbClr val="222222"/>
                          </a:solidFill>
                        </a:rPr>
                        <a:t>split </a:t>
                      </a:r>
                      <a:pPr algn="l" indent="0" marL="0">
                        <a:buNone/>
                      </a:pPr>
                      <a:r>
                        <a:rPr lang="en-US" sz="1100" dirty="0">
                          <a:solidFill>
                            <a:srgbClr val="222222"/>
                          </a:solidFill>
                        </a:rPr>
                        <a:t>the </a:t>
                      </a:r>
                      <a:pPr algn="l" indent="0" marL="0">
                        <a:buNone/>
                      </a:pPr>
                      <a:r>
                        <a:rPr lang="en-US" sz="1100" dirty="0">
                          <a:solidFill>
                            <a:srgbClr val="222222"/>
                          </a:solidFill>
                        </a:rPr>
                        <a:t>seven </a:t>
                      </a:r>
                      <a:pPr algn="l" indent="0" marL="0">
                        <a:buNone/>
                      </a:pPr>
                      <a:r>
                        <a:rPr lang="en-US" sz="1100" dirty="0">
                          <a:solidFill>
                            <a:srgbClr val="222222"/>
                          </a:solidFill>
                        </a:rPr>
                        <a:t>regencies: </a:t>
                      </a:r>
                      <a:pPr algn="l" indent="0" marL="0">
                        <a:buNone/>
                      </a:pPr>
                      <a:r>
                        <a:rPr lang="en-US" sz="1100" dirty="0">
                          <a:solidFill>
                            <a:srgbClr val="222222"/>
                          </a:solidFill>
                        </a:rPr>
                        <a:t>Labuan </a:t>
                      </a:r>
                      <a:pPr algn="l" indent="0" marL="0">
                        <a:buNone/>
                      </a:pPr>
                      <a:r>
                        <a:rPr lang="en-US" sz="1100" dirty="0">
                          <a:solidFill>
                            <a:srgbClr val="222222"/>
                          </a:solidFill>
                        </a:rPr>
                        <a:t>Bajo </a:t>
                      </a:r>
                      <a:pPr algn="l" indent="0" marL="0">
                        <a:buNone/>
                      </a:pPr>
                      <a:r>
                        <a:rPr lang="en-US" sz="1100" dirty="0">
                          <a:solidFill>
                            <a:srgbClr val="222222"/>
                          </a:solidFill>
                        </a:rPr>
                        <a:t>covers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Manggarai, </a:t>
                      </a:r>
                      <a:pPr algn="l" indent="0" marL="0">
                        <a:buNone/>
                      </a:pPr>
                      <a:r>
                        <a:rPr lang="en-US" sz="1100" dirty="0">
                          <a:solidFill>
                            <a:srgbClr val="222222"/>
                          </a:solidFill>
                        </a:rPr>
                        <a:t>Manggarai </a:t>
                      </a:r>
                      <a:pPr algn="l" indent="0" marL="0">
                        <a:buNone/>
                      </a:pPr>
                      <a:r>
                        <a:rPr lang="en-US" sz="1100" dirty="0">
                          <a:solidFill>
                            <a:srgbClr val="222222"/>
                          </a:solidFill>
                        </a:rPr>
                        <a:t>Timur </a:t>
                      </a:r>
                      <a:pPr algn="l" indent="0" marL="0">
                        <a:buNone/>
                      </a:pPr>
                      <a:r>
                        <a:rPr lang="en-US" sz="1100" dirty="0">
                          <a:solidFill>
                            <a:srgbClr val="222222"/>
                          </a:solidFill>
                        </a:rPr>
                        <a:t>and </a:t>
                      </a:r>
                      <a:pPr algn="l" indent="0" marL="0">
                        <a:buNone/>
                      </a:pPr>
                      <a:r>
                        <a:rPr lang="en-US" sz="1100" dirty="0">
                          <a:solidFill>
                            <a:srgbClr val="222222"/>
                          </a:solidFill>
                        </a:rPr>
                        <a:t>Nagekeo; </a:t>
                      </a:r>
                      <a:pPr algn="l" indent="0" marL="0">
                        <a:buNone/>
                      </a:pPr>
                      <a:r>
                        <a:rPr lang="en-US" sz="1100" dirty="0">
                          <a:solidFill>
                            <a:srgbClr val="222222"/>
                          </a:solidFill>
                        </a:rPr>
                        <a:t>Maumere </a:t>
                      </a:r>
                      <a:pPr algn="l" indent="0" marL="0">
                        <a:buNone/>
                      </a:pPr>
                      <a:r>
                        <a:rPr lang="en-US" sz="1100" dirty="0">
                          <a:solidFill>
                            <a:srgbClr val="222222"/>
                          </a:solidFill>
                        </a:rPr>
                        <a:t>covers </a:t>
                      </a:r>
                      <a:pPr algn="l" indent="0" marL="0">
                        <a:buNone/>
                      </a:pPr>
                      <a:r>
                        <a:rPr lang="en-US" sz="1100" dirty="0">
                          <a:solidFill>
                            <a:srgbClr val="222222"/>
                          </a:solidFill>
                        </a:rPr>
                        <a:t>Sikka, </a:t>
                      </a:r>
                      <a:pPr algn="l" indent="0" marL="0">
                        <a:buNone/>
                      </a:pPr>
                      <a:r>
                        <a:rPr lang="en-US" sz="1100" dirty="0">
                          <a:solidFill>
                            <a:srgbClr val="222222"/>
                          </a:solidFill>
                        </a:rPr>
                        <a:t>Ende </a:t>
                      </a:r>
                      <a:pPr algn="l" indent="0" marL="0">
                        <a:buNone/>
                      </a:pPr>
                      <a:r>
                        <a:rPr lang="en-US" sz="1100" dirty="0">
                          <a:solidFill>
                            <a:srgbClr val="222222"/>
                          </a:solidFill>
                        </a:rPr>
                        <a:t>and </a:t>
                      </a:r>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Line </a:t>
                      </a:r>
                      <a:pPr algn="l" indent="0" marL="0">
                        <a:buNone/>
                      </a:pPr>
                      <a:r>
                        <a:rPr lang="en-US" sz="1100" dirty="0">
                          <a:solidFill>
                            <a:srgbClr val="222222"/>
                          </a:solidFill>
                        </a:rPr>
                        <a:t>ministries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Health </a:t>
                      </a:r>
                      <a:pPr algn="l" indent="0" marL="0">
                        <a:buNone/>
                      </a:pPr>
                      <a:r>
                        <a:rPr lang="en-US" sz="1100" dirty="0">
                          <a:solidFill>
                            <a:srgbClr val="222222"/>
                          </a:solidFill>
                        </a:rPr>
                        <a:t>field </a:t>
                      </a:r>
                      <a:pPr algn="l" indent="0" marL="0">
                        <a:buNone/>
                      </a:pPr>
                      <a:r>
                        <a:rPr lang="en-US" sz="1100" dirty="0">
                          <a:solidFill>
                            <a:srgbClr val="222222"/>
                          </a:solidFill>
                        </a:rPr>
                        <a:t>hospital </a:t>
                      </a:r>
                      <a:pPr algn="l" indent="0" marL="0">
                        <a:buNone/>
                      </a:pPr>
                      <a:r>
                        <a:rPr lang="en-US" sz="1100" dirty="0">
                          <a:solidFill>
                            <a:srgbClr val="222222"/>
                          </a:solidFill>
                        </a:rPr>
                        <a:t>designed </a:t>
                      </a:r>
                      <a:pPr algn="l" indent="0" marL="0">
                        <a:buNone/>
                      </a:pPr>
                      <a:r>
                        <a:rPr lang="en-US" sz="1100" dirty="0">
                          <a:solidFill>
                            <a:srgbClr val="222222"/>
                          </a:solidFill>
                        </a:rPr>
                        <a:t>to </a:t>
                      </a:r>
                      <a:pPr algn="l" indent="0" marL="0">
                        <a:buNone/>
                      </a:pPr>
                      <a:r>
                        <a:rPr lang="en-US" sz="1100" dirty="0">
                          <a:solidFill>
                            <a:srgbClr val="222222"/>
                          </a:solidFill>
                        </a:rPr>
                        <a:t>remain </a:t>
                      </a:r>
                      <a:pPr algn="l" indent="0" marL="0">
                        <a:buNone/>
                      </a:pPr>
                      <a:r>
                        <a:rPr lang="en-US" sz="1100" dirty="0">
                          <a:solidFill>
                            <a:srgbClr val="222222"/>
                          </a:solidFill>
                        </a:rPr>
                        <a:t>safe </a:t>
                      </a:r>
                      <a:pPr algn="l" indent="0" marL="0">
                        <a:buNone/>
                      </a:pPr>
                      <a:r>
                        <a:rPr lang="en-US" sz="1100" dirty="0">
                          <a:solidFill>
                            <a:srgbClr val="222222"/>
                          </a:solidFill>
                        </a:rPr>
                        <a:t>during </a:t>
                      </a:r>
                      <a:pPr algn="l" indent="0" marL="0">
                        <a:buNone/>
                      </a:pPr>
                      <a:r>
                        <a:rPr lang="en-US" sz="1100" dirty="0">
                          <a:solidFill>
                            <a:srgbClr val="222222"/>
                          </a:solidFill>
                        </a:rPr>
                        <a:t>aftershocks;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Energy </a:t>
                      </a:r>
                      <a:pPr algn="l" indent="0" marL="0">
                        <a:buNone/>
                      </a:pPr>
                      <a:r>
                        <a:rPr lang="en-US" sz="1100" dirty="0">
                          <a:solidFill>
                            <a:srgbClr val="222222"/>
                          </a:solidFill>
                        </a:rPr>
                        <a:t>generators;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Higher </a:t>
                      </a:r>
                      <a:pPr algn="l" indent="0" marL="0">
                        <a:buNone/>
                      </a:pPr>
                      <a:r>
                        <a:rPr lang="en-US" sz="1100" dirty="0">
                          <a:solidFill>
                            <a:srgbClr val="222222"/>
                          </a:solidFill>
                        </a:rPr>
                        <a:t>Education </a:t>
                      </a:r>
                      <a:pPr algn="l" indent="0" marL="0">
                        <a:buNone/>
                      </a:pPr>
                      <a:r>
                        <a:rPr lang="en-US" sz="1100" dirty="0">
                          <a:solidFill>
                            <a:srgbClr val="222222"/>
                          </a:solidFill>
                        </a:rPr>
                        <a:t>waived </a:t>
                      </a:r>
                      <a:pPr algn="l" indent="0" marL="0">
                        <a:buNone/>
                      </a:pPr>
                      <a:r>
                        <a:rPr lang="en-US" sz="1100" dirty="0">
                          <a:solidFill>
                            <a:srgbClr val="222222"/>
                          </a:solidFill>
                        </a:rPr>
                        <a:t>tuition </a:t>
                      </a:r>
                      <a:pPr algn="l" indent="0" marL="0">
                        <a:buNone/>
                      </a:pPr>
                      <a:r>
                        <a:rPr lang="en-US" sz="1100" dirty="0">
                          <a:solidFill>
                            <a:srgbClr val="222222"/>
                          </a:solidFill>
                        </a:rPr>
                        <a:t>for </a:t>
                      </a:r>
                      <a:pPr algn="l" indent="0" marL="0">
                        <a:buNone/>
                      </a:pPr>
                      <a:r>
                        <a:rPr lang="en-US" sz="1100" dirty="0">
                          <a:solidFill>
                            <a:srgbClr val="222222"/>
                          </a:solidFill>
                        </a:rPr>
                        <a:t>5,000 </a:t>
                      </a:r>
                      <a:pPr algn="l" indent="0" marL="0">
                        <a:buNone/>
                      </a:pPr>
                      <a:r>
                        <a:rPr lang="en-US" sz="1100" dirty="0">
                          <a:solidFill>
                            <a:srgbClr val="222222"/>
                          </a:solidFill>
                        </a:rPr>
                        <a:t>affected </a:t>
                      </a:r>
                      <a:pPr algn="l" indent="0" marL="0">
                        <a:buNone/>
                      </a:pPr>
                      <a:r>
                        <a:rPr lang="en-US" sz="1100" dirty="0">
                          <a:solidFill>
                            <a:srgbClr val="222222"/>
                          </a:solidFill>
                        </a:rPr>
                        <a:t>students;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Religious </a:t>
                      </a:r>
                      <a:pPr algn="l" indent="0" marL="0">
                        <a:buNone/>
                      </a:pPr>
                      <a:r>
                        <a:rPr lang="en-US" sz="1100" dirty="0">
                          <a:solidFill>
                            <a:srgbClr val="222222"/>
                          </a:solidFill>
                        </a:rPr>
                        <a:t>Affairs </a:t>
                      </a:r>
                      <a:pPr algn="l" indent="0" marL="0">
                        <a:buNone/>
                      </a:pPr>
                      <a:r>
                        <a:rPr lang="en-US" sz="1100" dirty="0">
                          <a:solidFill>
                            <a:srgbClr val="222222"/>
                          </a:solidFill>
                        </a:rPr>
                        <a:t>strengthened </a:t>
                      </a:r>
                      <a:pPr algn="l" indent="0" marL="0">
                        <a:buNone/>
                      </a:pPr>
                      <a:r>
                        <a:rPr lang="en-US" sz="1100" dirty="0">
                          <a:solidFill>
                            <a:srgbClr val="222222"/>
                          </a:solidFill>
                        </a:rPr>
                        <a:t>its </a:t>
                      </a:r>
                      <a:pPr algn="l" indent="0" marL="0">
                        <a:buNone/>
                      </a:pPr>
                      <a:r>
                        <a:rPr lang="en-US" sz="1100" dirty="0">
                          <a:solidFill>
                            <a:srgbClr val="222222"/>
                          </a:solidFill>
                        </a:rPr>
                        <a:t>response.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Logistics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Citilink </a:t>
                      </a:r>
                      <a:pPr algn="l" indent="0" marL="0">
                        <a:buNone/>
                      </a:pPr>
                      <a:r>
                        <a:rPr lang="en-US" sz="1100" dirty="0">
                          <a:solidFill>
                            <a:srgbClr val="222222"/>
                          </a:solidFill>
                        </a:rPr>
                        <a:t>carried </a:t>
                      </a:r>
                      <a:pPr algn="l" indent="0" marL="0">
                        <a:buNone/>
                      </a:pPr>
                      <a:r>
                        <a:rPr lang="en-US" sz="1100" dirty="0">
                          <a:solidFill>
                            <a:srgbClr val="222222"/>
                          </a:solidFill>
                        </a:rPr>
                        <a:t>91.5 </a:t>
                      </a:r>
                      <a:pPr algn="l" indent="0" marL="0">
                        <a:buNone/>
                      </a:pPr>
                      <a:r>
                        <a:rPr lang="en-US" sz="1100" dirty="0">
                          <a:solidFill>
                            <a:srgbClr val="222222"/>
                          </a:solidFill>
                        </a:rPr>
                        <a:t>t </a:t>
                      </a:r>
                      <a:pPr algn="l" indent="0" marL="0">
                        <a:buNone/>
                      </a:pPr>
                      <a:r>
                        <a:rPr lang="en-US" sz="1100" dirty="0">
                          <a:solidFill>
                            <a:srgbClr val="222222"/>
                          </a:solidFill>
                        </a:rPr>
                        <a:t>of </a:t>
                      </a:r>
                      <a:pPr algn="l" indent="0" marL="0">
                        <a:buNone/>
                      </a:pPr>
                      <a:r>
                        <a:rPr lang="en-US" sz="1100" dirty="0">
                          <a:solidFill>
                            <a:srgbClr val="222222"/>
                          </a:solidFill>
                        </a:rPr>
                        <a:t>relief </a:t>
                      </a:r>
                      <a:pPr algn="l" indent="0" marL="0">
                        <a:buNone/>
                      </a:pPr>
                      <a:r>
                        <a:rPr lang="en-US" sz="1100" dirty="0">
                          <a:solidFill>
                            <a:srgbClr val="222222"/>
                          </a:solidFill>
                        </a:rPr>
                        <a:t>cargo; </a:t>
                      </a:r>
                      <a:pPr algn="l" indent="0" marL="0">
                        <a:buNone/>
                      </a:pPr>
                      <a:r>
                        <a:rPr lang="en-US" sz="1100" dirty="0">
                          <a:solidFill>
                            <a:srgbClr val="222222"/>
                          </a:solidFill>
                        </a:rPr>
                        <a:t>Baznas </a:t>
                      </a:r>
                      <a:pPr algn="l" indent="0" marL="0">
                        <a:buNone/>
                      </a:pPr>
                      <a:r>
                        <a:rPr lang="en-US" sz="1100" dirty="0">
                          <a:solidFill>
                            <a:srgbClr val="222222"/>
                          </a:solidFill>
                        </a:rPr>
                        <a:t>and </a:t>
                      </a:r>
                      <a:pPr algn="l" indent="0" marL="0">
                        <a:buNone/>
                      </a:pPr>
                      <a:r>
                        <a:rPr lang="en-US" sz="1100" dirty="0">
                          <a:solidFill>
                            <a:srgbClr val="222222"/>
                          </a:solidFill>
                        </a:rPr>
                        <a:t>other </a:t>
                      </a:r>
                      <a:pPr algn="l" indent="0" marL="0">
                        <a:buNone/>
                      </a:pPr>
                      <a:r>
                        <a:rPr lang="en-US" sz="1100" dirty="0">
                          <a:solidFill>
                            <a:srgbClr val="222222"/>
                          </a:solidFill>
                        </a:rPr>
                        <a:t>bodies </a:t>
                      </a:r>
                      <a:pPr algn="l" indent="0" marL="0">
                        <a:buNone/>
                      </a:pPr>
                      <a:r>
                        <a:rPr lang="en-US" sz="1100" dirty="0">
                          <a:solidFill>
                            <a:srgbClr val="222222"/>
                          </a:solidFill>
                        </a:rPr>
                        <a:t>are </a:t>
                      </a:r>
                      <a:pPr algn="l" indent="0" marL="0">
                        <a:buNone/>
                      </a:pPr>
                      <a:r>
                        <a:rPr lang="en-US" sz="1100" dirty="0">
                          <a:solidFill>
                            <a:srgbClr val="222222"/>
                          </a:solidFill>
                        </a:rPr>
                        <a:t>operating </a:t>
                      </a:r>
                      <a:pPr algn="l" indent="0" marL="0">
                        <a:buNone/>
                      </a:pPr>
                      <a:r>
                        <a:rPr lang="en-US" sz="1100" dirty="0">
                          <a:solidFill>
                            <a:srgbClr val="222222"/>
                          </a:solidFill>
                        </a:rPr>
                        <a:t>public </a:t>
                      </a:r>
                      <a:pPr algn="l" indent="0" marL="0">
                        <a:buNone/>
                      </a:pPr>
                      <a:r>
                        <a:rPr lang="en-US" sz="1100" dirty="0">
                          <a:solidFill>
                            <a:srgbClr val="222222"/>
                          </a:solidFill>
                        </a:rPr>
                        <a:t>kitchens.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27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Recovery and Reconstruction</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response has entered rehabilitation and reconstruction while the emergency period still runs to 12 September 2026.</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Workstream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Content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teams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deployed </a:t>
                      </a:r>
                      <a:pPr algn="l" indent="0" marL="0">
                        <a:buNone/>
                      </a:pPr>
                      <a:r>
                        <a:rPr lang="en-US" sz="1100" dirty="0">
                          <a:solidFill>
                            <a:srgbClr val="222222"/>
                          </a:solidFill>
                        </a:rPr>
                        <a:t>teams </a:t>
                      </a:r>
                      <a:pPr algn="l" indent="0" marL="0">
                        <a:buNone/>
                      </a:pPr>
                      <a:r>
                        <a:rPr lang="en-US" sz="1100" dirty="0">
                          <a:solidFill>
                            <a:srgbClr val="222222"/>
                          </a:solidFill>
                        </a:rPr>
                        <a:t>to </a:t>
                      </a:r>
                      <a:pPr algn="l" indent="0" marL="0">
                        <a:buNone/>
                      </a:pPr>
                      <a:r>
                        <a:rPr lang="en-US" sz="1100" dirty="0">
                          <a:solidFill>
                            <a:srgbClr val="222222"/>
                          </a:solidFill>
                        </a:rPr>
                        <a:t>all </a:t>
                      </a:r>
                      <a:pPr algn="l" indent="0" marL="0">
                        <a:buNone/>
                      </a:pPr>
                      <a:r>
                        <a:rPr lang="en-US" sz="1100" dirty="0">
                          <a:solidFill>
                            <a:srgbClr val="222222"/>
                          </a:solidFill>
                        </a:rPr>
                        <a:t>seven </a:t>
                      </a:r>
                      <a:pPr algn="l" indent="0" marL="0">
                        <a:buNone/>
                      </a:pPr>
                      <a:r>
                        <a:rPr lang="en-US" sz="1100" dirty="0">
                          <a:solidFill>
                            <a:srgbClr val="222222"/>
                          </a:solidFill>
                        </a:rPr>
                        <a:t>affected </a:t>
                      </a:r>
                      <a:pPr algn="l" indent="0" marL="0">
                        <a:buNone/>
                      </a:pPr>
                      <a:r>
                        <a:rPr lang="en-US" sz="1100" dirty="0">
                          <a:solidFill>
                            <a:srgbClr val="222222"/>
                          </a:solidFill>
                        </a:rPr>
                        <a:t>regencies </a:t>
                      </a:r>
                      <a:pPr algn="l" indent="0" marL="0">
                        <a:buNone/>
                      </a:pPr>
                      <a:r>
                        <a:rPr lang="en-US" sz="1100" dirty="0">
                          <a:solidFill>
                            <a:srgbClr val="222222"/>
                          </a:solidFill>
                        </a:rPr>
                        <a:t>to </a:t>
                      </a:r>
                      <a:pPr algn="l" indent="0" marL="0">
                        <a:buNone/>
                      </a:pPr>
                      <a:r>
                        <a:rPr lang="en-US" sz="1100" dirty="0">
                          <a:solidFill>
                            <a:srgbClr val="222222"/>
                          </a:solidFill>
                        </a:rPr>
                        <a:t>accelerate </a:t>
                      </a:r>
                      <a:pPr algn="l" indent="0" marL="0">
                        <a:buNone/>
                      </a:pPr>
                      <a:r>
                        <a:rPr lang="en-US" sz="1100" dirty="0">
                          <a:solidFill>
                            <a:srgbClr val="222222"/>
                          </a:solidFill>
                        </a:rPr>
                        <a:t>rehabilitation </a:t>
                      </a:r>
                      <a:pPr algn="l" indent="0" marL="0">
                        <a:buNone/>
                      </a:pPr>
                      <a:r>
                        <a:rPr lang="en-US" sz="1100" dirty="0">
                          <a:solidFill>
                            <a:srgbClr val="222222"/>
                          </a:solidFill>
                        </a:rPr>
                        <a:t>and </a:t>
                      </a:r>
                      <a:pPr algn="l" indent="0" marL="0">
                        <a:buNone/>
                      </a:pPr>
                      <a:r>
                        <a:rPr lang="en-US" sz="1100" dirty="0">
                          <a:solidFill>
                            <a:srgbClr val="222222"/>
                          </a:solidFill>
                        </a:rPr>
                        <a:t>reconstruction </a:t>
                      </a:r>
                      <a:pPr algn="l" indent="0" marL="0">
                        <a:buNone/>
                      </a:pPr>
                      <a:r>
                        <a:rPr lang="en-US" sz="1100" dirty="0">
                          <a:solidFill>
                            <a:srgbClr val="222222"/>
                          </a:solidFill>
                        </a:rPr>
                        <a:t>of </a:t>
                      </a:r>
                      <a:pPr algn="l" indent="0" marL="0">
                        <a:buNone/>
                      </a:pPr>
                      <a:r>
                        <a:rPr lang="en-US" sz="1100" dirty="0">
                          <a:solidFill>
                            <a:srgbClr val="222222"/>
                          </a:solidFill>
                        </a:rPr>
                        <a:t>damaged </a:t>
                      </a:r>
                      <a:pPr algn="l" indent="0" marL="0">
                        <a:buNone/>
                      </a:pPr>
                      <a:r>
                        <a:rPr lang="en-US" sz="1100" dirty="0">
                          <a:solidFill>
                            <a:srgbClr val="222222"/>
                          </a:solidFill>
                        </a:rPr>
                        <a:t>housing.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Not </a:t>
                      </a:r>
                      <a:pPr algn="l" indent="0" marL="0">
                        <a:buNone/>
                      </a:pPr>
                      <a:r>
                        <a:rPr lang="en-US" sz="1100" dirty="0">
                          <a:solidFill>
                            <a:srgbClr val="222222"/>
                          </a:solidFill>
                        </a:rPr>
                        <a:t>waiting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phase </a:t>
                      </a:r>
                      <a:pPr algn="l" indent="0" marL="0">
                        <a:buNone/>
                      </a:pPr>
                      <a:r>
                        <a:rPr lang="en-US" sz="1100" dirty="0">
                          <a:solidFill>
                            <a:srgbClr val="222222"/>
                          </a:solidFill>
                        </a:rPr>
                        <a:t>to </a:t>
                      </a:r>
                      <a:pPr algn="l" indent="0" marL="0">
                        <a:buNone/>
                      </a:pPr>
                      <a:r>
                        <a:rPr lang="en-US" sz="1100" dirty="0">
                          <a:solidFill>
                            <a:srgbClr val="222222"/>
                          </a:solidFill>
                        </a:rPr>
                        <a:t>end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preparation </a:t>
                      </a:r>
                      <a:pPr algn="l" indent="0" marL="0">
                        <a:buNone/>
                      </a:pPr>
                      <a:r>
                        <a:rPr lang="en-US" sz="1100" dirty="0">
                          <a:solidFill>
                            <a:srgbClr val="222222"/>
                          </a:solidFill>
                        </a:rPr>
                        <a:t>and </a:t>
                      </a:r>
                      <a:pPr algn="l" indent="0" marL="0">
                        <a:buNone/>
                      </a:pPr>
                      <a:r>
                        <a:rPr lang="en-US" sz="1100" dirty="0">
                          <a:solidFill>
                            <a:srgbClr val="222222"/>
                          </a:solidFill>
                        </a:rPr>
                        <a:t>damage-grading </a:t>
                      </a:r>
                      <a:pPr algn="l" indent="0" marL="0">
                        <a:buNone/>
                      </a:pPr>
                      <a:r>
                        <a:rPr lang="en-US" sz="1100" dirty="0">
                          <a:solidFill>
                            <a:srgbClr val="222222"/>
                          </a:solidFill>
                        </a:rPr>
                        <a:t>standardisation </a:t>
                      </a:r>
                      <a:pPr algn="l" indent="0" marL="0">
                        <a:buNone/>
                      </a:pPr>
                      <a:r>
                        <a:rPr lang="en-US" sz="1100" dirty="0">
                          <a:solidFill>
                            <a:srgbClr val="222222"/>
                          </a:solidFill>
                        </a:rPr>
                        <a:t>proceed </a:t>
                      </a:r>
                      <a:pPr algn="l" indent="0" marL="0">
                        <a:buNone/>
                      </a:pPr>
                      <a:r>
                        <a:rPr lang="en-US" sz="1100" dirty="0">
                          <a:solidFill>
                            <a:srgbClr val="222222"/>
                          </a:solidFill>
                        </a:rPr>
                        <a:t>in </a:t>
                      </a:r>
                      <a:pPr algn="l" indent="0" marL="0">
                        <a:buNone/>
                      </a:pPr>
                      <a:r>
                        <a:rPr lang="en-US" sz="1100" dirty="0">
                          <a:solidFill>
                            <a:srgbClr val="222222"/>
                          </a:solidFill>
                        </a:rPr>
                        <a:t>parallel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response </a:t>
                      </a:r>
                      <a:pPr algn="l" indent="0" marL="0">
                        <a:buNone/>
                      </a:pPr>
                      <a:r>
                        <a:rPr lang="en-US" sz="1100" dirty="0">
                          <a:solidFill>
                            <a:srgbClr val="222222"/>
                          </a:solidFill>
                        </a:rPr>
                        <a:t>period.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By </a:t>
                      </a:r>
                      <a:pPr algn="l" indent="0" marL="0">
                        <a:buNone/>
                      </a:pPr>
                      <a:r>
                        <a:rPr lang="en-US" sz="1100" dirty="0">
                          <a:solidFill>
                            <a:srgbClr val="222222"/>
                          </a:solidFill>
                        </a:rPr>
                        <a:t>name </a:t>
                      </a:r>
                      <a:pPr algn="l" indent="0" marL="0">
                        <a:buNone/>
                      </a:pPr>
                      <a:r>
                        <a:rPr lang="en-US" sz="1100" dirty="0">
                          <a:solidFill>
                            <a:srgbClr val="222222"/>
                          </a:solidFill>
                        </a:rPr>
                        <a:t>by </a:t>
                      </a:r>
                      <a:pPr algn="l" indent="0" marL="0">
                        <a:buNone/>
                      </a:pPr>
                      <a:r>
                        <a:rPr lang="en-US" sz="1100" dirty="0">
                          <a:solidFill>
                            <a:srgbClr val="222222"/>
                          </a:solidFill>
                        </a:rPr>
                        <a:t>address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Technical </a:t>
                      </a:r>
                      <a:pPr algn="l" indent="0" marL="0">
                        <a:buNone/>
                      </a:pPr>
                      <a:r>
                        <a:rPr lang="en-US" sz="1100" dirty="0">
                          <a:solidFill>
                            <a:srgbClr val="222222"/>
                          </a:solidFill>
                        </a:rPr>
                        <a:t>guidance </a:t>
                      </a:r>
                      <a:pPr algn="l" indent="0" marL="0">
                        <a:buNone/>
                      </a:pPr>
                      <a:r>
                        <a:rPr lang="en-US" sz="1100" dirty="0">
                          <a:solidFill>
                            <a:srgbClr val="222222"/>
                          </a:solidFill>
                        </a:rPr>
                        <a:t>delivered </a:t>
                      </a:r>
                      <a:pPr algn="l" indent="0" marL="0">
                        <a:buNone/>
                      </a:pPr>
                      <a:r>
                        <a:rPr lang="en-US" sz="1100" dirty="0">
                          <a:solidFill>
                            <a:srgbClr val="222222"/>
                          </a:solidFill>
                        </a:rPr>
                        <a:t>to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agencies </a:t>
                      </a:r>
                      <a:pPr algn="l" indent="0" marL="0">
                        <a:buNone/>
                      </a:pPr>
                      <a:r>
                        <a:rPr lang="en-US" sz="1100" dirty="0">
                          <a:solidFill>
                            <a:srgbClr val="222222"/>
                          </a:solidFill>
                        </a:rPr>
                        <a:t>(OPD) </a:t>
                      </a:r>
                      <a:pPr algn="l" indent="0" marL="0">
                        <a:buNone/>
                      </a:pPr>
                      <a:r>
                        <a:rPr lang="en-US" sz="1100" dirty="0">
                          <a:solidFill>
                            <a:srgbClr val="222222"/>
                          </a:solidFill>
                        </a:rPr>
                        <a:t>and </a:t>
                      </a:r>
                      <a:pPr algn="l" indent="0" marL="0">
                        <a:buNone/>
                      </a:pPr>
                      <a:r>
                        <a:rPr lang="en-US" sz="1100" dirty="0">
                          <a:solidFill>
                            <a:srgbClr val="222222"/>
                          </a:solidFill>
                        </a:rPr>
                        <a:t>hundreds </a:t>
                      </a:r>
                      <a:pPr algn="l" indent="0" marL="0">
                        <a:buNone/>
                      </a:pPr>
                      <a:r>
                        <a:rPr lang="en-US" sz="1100" dirty="0">
                          <a:solidFill>
                            <a:srgbClr val="222222"/>
                          </a:solidFill>
                        </a:rPr>
                        <a:t>of </a:t>
                      </a:r>
                      <a:pPr algn="l" indent="0" marL="0">
                        <a:buNone/>
                      </a:pPr>
                      <a:r>
                        <a:rPr lang="en-US" sz="1100" dirty="0">
                          <a:solidFill>
                            <a:srgbClr val="222222"/>
                          </a:solidFill>
                        </a:rPr>
                        <a:t>volunteer </a:t>
                      </a:r>
                      <a:pPr algn="l" indent="0" marL="0">
                        <a:buNone/>
                      </a:pPr>
                      <a:r>
                        <a:rPr lang="en-US" sz="1100" dirty="0">
                          <a:solidFill>
                            <a:srgbClr val="222222"/>
                          </a:solidFill>
                        </a:rPr>
                        <a:t>enumerators, </a:t>
                      </a:r>
                      <a:pPr algn="l" indent="0" marL="0">
                        <a:buNone/>
                      </a:pPr>
                      <a:r>
                        <a:rPr lang="en-US" sz="1100" dirty="0">
                          <a:solidFill>
                            <a:srgbClr val="222222"/>
                          </a:solidFill>
                        </a:rPr>
                        <a:t>beginning </a:t>
                      </a:r>
                      <a:pPr algn="l" indent="0" marL="0">
                        <a:buNone/>
                      </a:pPr>
                      <a:r>
                        <a:rPr lang="en-US" sz="1100" dirty="0">
                          <a:solidFill>
                            <a:srgbClr val="222222"/>
                          </a:solidFill>
                        </a:rPr>
                        <a:t>in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and </a:t>
                      </a:r>
                      <a:pPr algn="l" indent="0" marL="0">
                        <a:buNone/>
                      </a:pPr>
                      <a:r>
                        <a:rPr lang="en-US" sz="1100" dirty="0">
                          <a:solidFill>
                            <a:srgbClr val="222222"/>
                          </a:solidFill>
                        </a:rPr>
                        <a:t>Manggarai, </a:t>
                      </a:r>
                      <a:pPr algn="l" indent="0" marL="0">
                        <a:buNone/>
                      </a:pPr>
                      <a:r>
                        <a:rPr lang="en-US" sz="1100" dirty="0">
                          <a:solidFill>
                            <a:srgbClr val="222222"/>
                          </a:solidFill>
                        </a:rPr>
                        <a:t>to </a:t>
                      </a:r>
                      <a:pPr algn="l" indent="0" marL="0">
                        <a:buNone/>
                      </a:pPr>
                      <a:r>
                        <a:rPr lang="en-US" sz="1100" dirty="0">
                          <a:solidFill>
                            <a:srgbClr val="222222"/>
                          </a:solidFill>
                        </a:rPr>
                        <a:t>produce </a:t>
                      </a:r>
                      <a:pPr algn="l" indent="0" marL="0">
                        <a:buNone/>
                      </a:pPr>
                      <a:r>
                        <a:rPr lang="en-US" sz="1100" dirty="0">
                          <a:solidFill>
                            <a:srgbClr val="222222"/>
                          </a:solidFill>
                        </a:rPr>
                        <a:t>name-and-address </a:t>
                      </a:r>
                      <a:pPr algn="l" indent="0" marL="0">
                        <a:buNone/>
                      </a:pPr>
                      <a:r>
                        <a:rPr lang="en-US" sz="1100" dirty="0">
                          <a:solidFill>
                            <a:srgbClr val="222222"/>
                          </a:solidFill>
                        </a:rPr>
                        <a:t>level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Reconstruction </a:t>
                      </a:r>
                      <a:pPr algn="l" indent="0" marL="0">
                        <a:buNone/>
                      </a:pPr>
                      <a:r>
                        <a:rPr lang="en-US" sz="1100" dirty="0">
                          <a:solidFill>
                            <a:srgbClr val="222222"/>
                          </a:solidFill>
                        </a:rPr>
                        <a:t>is </a:t>
                      </a:r>
                      <a:pPr algn="l" indent="0" marL="0">
                        <a:buNone/>
                      </a:pPr>
                      <a:r>
                        <a:rPr lang="en-US" sz="1100" dirty="0">
                          <a:solidFill>
                            <a:srgbClr val="222222"/>
                          </a:solidFill>
                        </a:rPr>
                        <a:t>to </a:t>
                      </a:r>
                      <a:pPr algn="l" indent="0" marL="0">
                        <a:buNone/>
                      </a:pPr>
                      <a:r>
                        <a:rPr lang="en-US" sz="1100" dirty="0">
                          <a:solidFill>
                            <a:srgbClr val="222222"/>
                          </a:solidFill>
                        </a:rPr>
                        <a:t>follow </a:t>
                      </a:r>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 </a:t>
                      </a:r>
                      <a:pPr algn="l" indent="0" marL="0">
                        <a:buNone/>
                      </a:pPr>
                      <a:r>
                        <a:rPr lang="en-US" sz="1100" dirty="0">
                          <a:solidFill>
                            <a:srgbClr val="222222"/>
                          </a:solidFill>
                        </a:rPr>
                        <a:t>principles </a:t>
                      </a:r>
                      <a:pPr algn="l" indent="0" marL="0">
                        <a:buNone/>
                      </a:pPr>
                      <a:r>
                        <a:rPr lang="en-US" sz="1100" dirty="0">
                          <a:solidFill>
                            <a:srgbClr val="222222"/>
                          </a:solidFill>
                        </a:rPr>
                        <a:t>so </a:t>
                      </a:r>
                      <a:pPr algn="l" indent="0" marL="0">
                        <a:buNone/>
                      </a:pPr>
                      <a:r>
                        <a:rPr lang="en-US" sz="1100" dirty="0">
                          <a:solidFill>
                            <a:srgbClr val="222222"/>
                          </a:solidFill>
                        </a:rPr>
                        <a:t>that </a:t>
                      </a:r>
                      <a:pPr algn="l" indent="0" marL="0">
                        <a:buNone/>
                      </a:pPr>
                      <a:r>
                        <a:rPr lang="en-US" sz="1100" dirty="0">
                          <a:solidFill>
                            <a:srgbClr val="222222"/>
                          </a:solidFill>
                        </a:rPr>
                        <a:t>rebuilt </a:t>
                      </a:r>
                      <a:pPr algn="l" indent="0" marL="0">
                        <a:buNone/>
                      </a:pPr>
                      <a:r>
                        <a:rPr lang="en-US" sz="1100" dirty="0">
                          <a:solidFill>
                            <a:srgbClr val="222222"/>
                          </a:solidFill>
                        </a:rPr>
                        <a:t>housing </a:t>
                      </a:r>
                      <a:pPr algn="l" indent="0" marL="0">
                        <a:buNone/>
                      </a:pPr>
                      <a:r>
                        <a:rPr lang="en-US" sz="1100" dirty="0">
                          <a:solidFill>
                            <a:srgbClr val="222222"/>
                          </a:solidFill>
                        </a:rPr>
                        <a:t>is </a:t>
                      </a:r>
                      <a:pPr algn="l" indent="0" marL="0">
                        <a:buNone/>
                      </a:pPr>
                      <a:r>
                        <a:rPr lang="en-US" sz="1100" dirty="0">
                          <a:solidFill>
                            <a:srgbClr val="222222"/>
                          </a:solidFill>
                        </a:rPr>
                        <a:t>more </a:t>
                      </a:r>
                      <a:pPr algn="l" indent="0" marL="0">
                        <a:buNone/>
                      </a:pPr>
                      <a:r>
                        <a:rPr lang="en-US" sz="1100" dirty="0">
                          <a:solidFill>
                            <a:srgbClr val="222222"/>
                          </a:solidFill>
                        </a:rPr>
                        <a:t>resilient, </a:t>
                      </a:r>
                      <a:pPr algn="l" indent="0" marL="0">
                        <a:buNone/>
                      </a:pPr>
                      <a:r>
                        <a:rPr lang="en-US" sz="1100" dirty="0">
                          <a:solidFill>
                            <a:srgbClr val="222222"/>
                          </a:solidFill>
                        </a:rPr>
                        <a:t>based </a:t>
                      </a:r>
                      <a:pPr algn="l" indent="0" marL="0">
                        <a:buNone/>
                      </a:pPr>
                      <a:r>
                        <a:rPr lang="en-US" sz="1100" dirty="0">
                          <a:solidFill>
                            <a:srgbClr val="222222"/>
                          </a:solidFill>
                        </a:rPr>
                        <a:t>on </a:t>
                      </a:r>
                      <a:pPr algn="l" indent="0" marL="0">
                        <a:buNone/>
                      </a:pPr>
                      <a:r>
                        <a:rPr lang="en-US" sz="1100" dirty="0">
                          <a:solidFill>
                            <a:srgbClr val="222222"/>
                          </a:solidFill>
                        </a:rPr>
                        <a:t>objective </a:t>
                      </a:r>
                      <a:pPr algn="l" indent="0" marL="0">
                        <a:buNone/>
                      </a:pPr>
                      <a:r>
                        <a:rPr lang="en-US" sz="1100" dirty="0">
                          <a:solidFill>
                            <a:srgbClr val="222222"/>
                          </a:solidFill>
                        </a:rPr>
                        <a:t>and </a:t>
                      </a:r>
                      <a:pPr algn="l" indent="0" marL="0">
                        <a:buNone/>
                      </a:pPr>
                      <a:r>
                        <a:rPr lang="en-US" sz="1100" dirty="0">
                          <a:solidFill>
                            <a:srgbClr val="222222"/>
                          </a:solidFill>
                        </a:rPr>
                        <a:t>auditable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Housing </a:t>
                      </a:r>
                      <a:pPr algn="l" indent="0" marL="0">
                        <a:buNone/>
                      </a:pPr>
                      <a:r>
                        <a:rPr lang="en-US" sz="1100" dirty="0">
                          <a:solidFill>
                            <a:srgbClr val="222222"/>
                          </a:solidFill>
                        </a:rPr>
                        <a:t>repair </a:t>
                      </a:r>
                      <a:pPr algn="l" indent="0" marL="0">
                        <a:buNone/>
                      </a:pPr>
                      <a:r>
                        <a:rPr lang="en-US" sz="1100" dirty="0">
                          <a:solidFill>
                            <a:srgbClr val="222222"/>
                          </a:solidFill>
                        </a:rPr>
                        <a:t>funding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announced </a:t>
                      </a:r>
                      <a:pPr algn="l" indent="0" marL="0">
                        <a:buNone/>
                      </a:pPr>
                      <a:r>
                        <a:rPr lang="en-US" sz="1100" dirty="0">
                          <a:solidFill>
                            <a:srgbClr val="222222"/>
                          </a:solidFill>
                        </a:rPr>
                        <a:t>per-unit </a:t>
                      </a:r>
                      <a:pPr algn="l" indent="0" marL="0">
                        <a:buNone/>
                      </a:pPr>
                      <a:r>
                        <a:rPr lang="en-US" sz="1100" dirty="0">
                          <a:solidFill>
                            <a:srgbClr val="222222"/>
                          </a:solidFill>
                        </a:rPr>
                        <a:t>repair </a:t>
                      </a:r>
                      <a:pPr algn="l" indent="0" marL="0">
                        <a:buNone/>
                      </a:pPr>
                      <a:r>
                        <a:rPr lang="en-US" sz="1100" dirty="0">
                          <a:solidFill>
                            <a:srgbClr val="222222"/>
                          </a:solidFill>
                        </a:rPr>
                        <a:t>rates </a:t>
                      </a:r>
                      <a:pPr algn="l" indent="0" marL="0">
                        <a:buNone/>
                      </a:pPr>
                      <a:r>
                        <a:rPr lang="en-US" sz="1100" dirty="0">
                          <a:solidFill>
                            <a:srgbClr val="222222"/>
                          </a:solidFill>
                        </a:rPr>
                        <a:t>on </a:t>
                      </a:r>
                      <a:pPr algn="l" indent="0" marL="0">
                        <a:buNone/>
                      </a:pPr>
                      <a:r>
                        <a:rPr lang="en-US" sz="1100" dirty="0">
                          <a:solidFill>
                            <a:srgbClr val="222222"/>
                          </a:solidFill>
                        </a:rPr>
                        <a:t>27 </a:t>
                      </a:r>
                      <a:pPr algn="l" indent="0" marL="0">
                        <a:buNone/>
                      </a:pPr>
                      <a:r>
                        <a:rPr lang="en-US" sz="1100" dirty="0">
                          <a:solidFill>
                            <a:srgbClr val="222222"/>
                          </a:solidFill>
                        </a:rPr>
                        <a:t>August: </a:t>
                      </a:r>
                      <a:pPr algn="l" indent="0" marL="0">
                        <a:buNone/>
                      </a:pPr>
                      <a:r>
                        <a:rPr lang="en-US" sz="1100" dirty="0">
                          <a:solidFill>
                            <a:srgbClr val="222222"/>
                          </a:solidFill>
                        </a:rPr>
                        <a:t>Rp15 </a:t>
                      </a:r>
                      <a:pPr algn="l" indent="0" marL="0">
                        <a:buNone/>
                      </a:pPr>
                      <a:r>
                        <a:rPr lang="en-US" sz="1100" dirty="0">
                          <a:solidFill>
                            <a:srgbClr val="222222"/>
                          </a:solidFill>
                        </a:rPr>
                        <a:t>million </a:t>
                      </a:r>
                      <a:pPr algn="l" indent="0" marL="0">
                        <a:buNone/>
                      </a:pPr>
                      <a:r>
                        <a:rPr lang="en-US" sz="1100" dirty="0">
                          <a:solidFill>
                            <a:srgbClr val="222222"/>
                          </a:solidFill>
                        </a:rPr>
                        <a:t>for </a:t>
                      </a:r>
                      <a:pPr algn="l" indent="0" marL="0">
                        <a:buNone/>
                      </a:pPr>
                      <a:r>
                        <a:rPr lang="en-US" sz="1100" dirty="0">
                          <a:solidFill>
                            <a:srgbClr val="222222"/>
                          </a:solidFill>
                        </a:rPr>
                        <a:t>lightly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and </a:t>
                      </a:r>
                      <a:pPr algn="l" indent="0" marL="0">
                        <a:buNone/>
                      </a:pPr>
                      <a:r>
                        <a:rPr lang="en-US" sz="1100" dirty="0">
                          <a:solidFill>
                            <a:srgbClr val="222222"/>
                          </a:solidFill>
                        </a:rPr>
                        <a:t>Rp30 </a:t>
                      </a:r>
                      <a:pPr algn="l" indent="0" marL="0">
                        <a:buNone/>
                      </a:pPr>
                      <a:r>
                        <a:rPr lang="en-US" sz="1100" dirty="0">
                          <a:solidFill>
                            <a:srgbClr val="222222"/>
                          </a:solidFill>
                        </a:rPr>
                        <a:t>million </a:t>
                      </a:r>
                      <a:pPr algn="l" indent="0" marL="0">
                        <a:buNone/>
                      </a:pPr>
                      <a:r>
                        <a:rPr lang="en-US" sz="1100" dirty="0">
                          <a:solidFill>
                            <a:srgbClr val="222222"/>
                          </a:solidFill>
                        </a:rPr>
                        <a:t>for </a:t>
                      </a:r>
                      <a:pPr algn="l" indent="0" marL="0">
                        <a:buNone/>
                      </a:pPr>
                      <a:r>
                        <a:rPr lang="en-US" sz="1100" dirty="0">
                          <a:solidFill>
                            <a:srgbClr val="222222"/>
                          </a:solidFill>
                        </a:rPr>
                        <a:t>moderately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severely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are </a:t>
                      </a:r>
                      <a:pPr algn="l" indent="0" marL="0">
                        <a:buNone/>
                      </a:pPr>
                      <a:r>
                        <a:rPr lang="en-US" sz="1100" dirty="0">
                          <a:solidFill>
                            <a:srgbClr val="222222"/>
                          </a:solidFill>
                        </a:rPr>
                        <a:t>handled </a:t>
                      </a:r>
                      <a:pPr algn="l" indent="0" marL="0">
                        <a:buNone/>
                      </a:pPr>
                      <a:r>
                        <a:rPr lang="en-US" sz="1100" dirty="0">
                          <a:solidFill>
                            <a:srgbClr val="222222"/>
                          </a:solidFill>
                        </a:rPr>
                        <a:t>separately </a:t>
                      </a:r>
                      <a:pPr algn="l" indent="0" marL="0">
                        <a:buNone/>
                      </a:pPr>
                      <a:r>
                        <a:rPr lang="en-US" sz="1100" dirty="0">
                          <a:solidFill>
                            <a:srgbClr val="222222"/>
                          </a:solidFill>
                        </a:rPr>
                        <a:t>via </a:t>
                      </a:r>
                      <a:pPr algn="l" indent="0" marL="0">
                        <a:buNone/>
                      </a:pPr>
                      <a:r>
                        <a:rPr lang="en-US" sz="1100" dirty="0">
                          <a:solidFill>
                            <a:srgbClr val="222222"/>
                          </a:solidFill>
                        </a:rPr>
                        <a:t>new </a:t>
                      </a:r>
                      <a:pPr algn="l" indent="0" marL="0">
                        <a:buNone/>
                      </a:pPr>
                      <a:r>
                        <a:rPr lang="en-US" sz="1100" dirty="0">
                          <a:solidFill>
                            <a:srgbClr val="222222"/>
                          </a:solidFill>
                        </a:rPr>
                        <a:t>construction </a:t>
                      </a:r>
                      <a:pPr algn="l" indent="0" marL="0">
                        <a:buNone/>
                      </a:pPr>
                      <a:r>
                        <a:rPr lang="en-US" sz="1100" dirty="0">
                          <a:solidFill>
                            <a:srgbClr val="222222"/>
                          </a:solidFill>
                        </a:rPr>
                        <a:t>or </a:t>
                      </a:r>
                      <a:pPr algn="l" indent="0" marL="0">
                        <a:buNone/>
                      </a:pPr>
                      <a:r>
                        <a:rPr lang="en-US" sz="1100" dirty="0">
                          <a:solidFill>
                            <a:srgbClr val="222222"/>
                          </a:solidFill>
                        </a:rPr>
                        <a:t>replacement. </a:t>
                      </a:r>
                      <a:pPr algn="l" indent="0" marL="0">
                        <a:buNone/>
                      </a:pPr>
                      <a:r>
                        <a:rPr lang="en-US" sz="1100" dirty="0">
                          <a:solidFill>
                            <a:srgbClr val="222222"/>
                          </a:solidFill>
                        </a:rPr>
                        <a:t>Distribution/accounting </a:t>
                      </a:r>
                      <a:pPr algn="l" indent="0" marL="0">
                        <a:buNone/>
                      </a:pPr>
                      <a:r>
                        <a:rPr lang="en-US" sz="1100" dirty="0">
                          <a:solidFill>
                            <a:srgbClr val="222222"/>
                          </a:solidFill>
                        </a:rPr>
                        <a:t>mechanisms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aggregate </a:t>
                      </a:r>
                      <a:pPr algn="l" indent="0" marL="0">
                        <a:buNone/>
                      </a:pPr>
                      <a:r>
                        <a:rPr lang="en-US" sz="1100" dirty="0">
                          <a:solidFill>
                            <a:srgbClr val="222222"/>
                          </a:solidFill>
                        </a:rPr>
                        <a:t>budget </a:t>
                      </a:r>
                      <a:pPr algn="l" indent="0" marL="0">
                        <a:buNone/>
                      </a:pPr>
                      <a:r>
                        <a:rPr lang="en-US" sz="1100" dirty="0">
                          <a:solidFill>
                            <a:srgbClr val="222222"/>
                          </a:solidFill>
                        </a:rPr>
                        <a:t>total </a:t>
                      </a:r>
                      <a:pPr algn="l" indent="0" marL="0">
                        <a:buNone/>
                      </a:pPr>
                      <a:r>
                        <a:rPr lang="en-US" sz="1100" dirty="0">
                          <a:solidFill>
                            <a:srgbClr val="222222"/>
                          </a:solidFill>
                        </a:rPr>
                        <a:t>were </a:t>
                      </a:r>
                      <a:pPr algn="l" indent="0" marL="0">
                        <a:buNone/>
                      </a:pPr>
                      <a:r>
                        <a:rPr lang="en-US" sz="1100" dirty="0">
                          <a:solidFill>
                            <a:srgbClr val="222222"/>
                          </a:solidFill>
                        </a:rPr>
                        <a:t>still </a:t>
                      </a:r>
                      <a:pPr algn="l" indent="0" marL="0">
                        <a:buNone/>
                      </a:pPr>
                      <a:r>
                        <a:rPr lang="en-US" sz="1100" dirty="0">
                          <a:solidFill>
                            <a:srgbClr val="222222"/>
                          </a:solidFill>
                        </a:rPr>
                        <a:t>being </a:t>
                      </a:r>
                      <a:pPr algn="l" indent="0" marL="0">
                        <a:buNone/>
                      </a:pPr>
                      <a:r>
                        <a:rPr lang="en-US" sz="1100" dirty="0">
                          <a:solidFill>
                            <a:srgbClr val="222222"/>
                          </a:solidFill>
                        </a:rPr>
                        <a:t>finalised </a:t>
                      </a:r>
                      <a:pPr algn="l" indent="0" marL="0">
                        <a:buNone/>
                      </a:pPr>
                      <a:r>
                        <a:rPr lang="en-US" sz="1100" dirty="0">
                          <a:solidFill>
                            <a:srgbClr val="222222"/>
                          </a:solidFill>
                        </a:rPr>
                        <a:t>as </a:t>
                      </a:r>
                      <a:pPr algn="l" indent="0" marL="0">
                        <a:buNone/>
                      </a:pPr>
                      <a:r>
                        <a:rPr lang="en-US" sz="1100" dirty="0">
                          <a:solidFill>
                            <a:srgbClr val="222222"/>
                          </a:solidFill>
                        </a:rPr>
                        <a:t>of </a:t>
                      </a:r>
                      <a:pPr algn="l" indent="0" marL="0">
                        <a:buNone/>
                      </a:pPr>
                      <a:r>
                        <a:rPr lang="en-US" sz="1100" dirty="0">
                          <a:solidFill>
                            <a:srgbClr val="222222"/>
                          </a:solidFill>
                        </a:rPr>
                        <a:t>that </a:t>
                      </a:r>
                      <a:pPr algn="l" indent="0" marL="0">
                        <a:buNone/>
                      </a:pPr>
                      <a:r>
                        <a:rPr lang="en-US" sz="1100" dirty="0">
                          <a:solidFill>
                            <a:srgbClr val="222222"/>
                          </a:solidFill>
                        </a:rPr>
                        <a:t>date.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contingency </a:t>
                      </a:r>
                      <a:pPr algn="l" indent="0" marL="0">
                        <a:buNone/>
                      </a:pPr>
                      <a:r>
                        <a:rPr lang="en-US" sz="1100" dirty="0">
                          <a:solidFill>
                            <a:srgbClr val="222222"/>
                          </a:solidFill>
                        </a:rPr>
                        <a:t>funds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President </a:t>
                      </a:r>
                      <a:pPr algn="l" indent="0" marL="0">
                        <a:buNone/>
                      </a:pPr>
                      <a:r>
                        <a:rPr lang="en-US" sz="1100" dirty="0">
                          <a:solidFill>
                            <a:srgbClr val="222222"/>
                          </a:solidFill>
                        </a:rPr>
                        <a:t>Prabowo </a:t>
                      </a:r>
                      <a:pPr algn="l" indent="0" marL="0">
                        <a:buNone/>
                      </a:pPr>
                      <a:r>
                        <a:rPr lang="en-US" sz="1100" dirty="0">
                          <a:solidFill>
                            <a:srgbClr val="222222"/>
                          </a:solidFill>
                        </a:rPr>
                        <a:t>approved </a:t>
                      </a:r>
                      <a:pPr algn="l" indent="0" marL="0">
                        <a:buNone/>
                      </a:pPr>
                      <a:r>
                        <a:rPr lang="en-US" sz="1100" dirty="0">
                          <a:solidFill>
                            <a:srgbClr val="222222"/>
                          </a:solidFill>
                        </a:rPr>
                        <a:t>Rp200 </a:t>
                      </a:r>
                      <a:pPr algn="l" indent="0" marL="0">
                        <a:buNone/>
                      </a:pPr>
                      <a:r>
                        <a:rPr lang="en-US" sz="1100" dirty="0">
                          <a:solidFill>
                            <a:srgbClr val="222222"/>
                          </a:solidFill>
                        </a:rPr>
                        <a:t>billion </a:t>
                      </a:r>
                      <a:pPr algn="l" indent="0" marL="0">
                        <a:buNone/>
                      </a:pPr>
                      <a:r>
                        <a:rPr lang="en-US" sz="1100" dirty="0">
                          <a:solidFill>
                            <a:srgbClr val="222222"/>
                          </a:solidFill>
                        </a:rPr>
                        <a:t>in </a:t>
                      </a:r>
                      <a:pPr algn="l" indent="0" marL="0">
                        <a:buNone/>
                      </a:pPr>
                      <a:r>
                        <a:rPr lang="en-US" sz="1100" dirty="0">
                          <a:solidFill>
                            <a:srgbClr val="222222"/>
                          </a:solidFill>
                        </a:rPr>
                        <a:t>contingency </a:t>
                      </a:r>
                      <a:pPr algn="l" indent="0" marL="0">
                        <a:buNone/>
                      </a:pPr>
                      <a:r>
                        <a:rPr lang="en-US" sz="1100" dirty="0">
                          <a:solidFill>
                            <a:srgbClr val="222222"/>
                          </a:solidFill>
                        </a:rPr>
                        <a:t>funds </a:t>
                      </a:r>
                      <a:pPr algn="l" indent="0" marL="0">
                        <a:buNone/>
                      </a:pPr>
                      <a:r>
                        <a:rPr lang="en-US" sz="1100" dirty="0">
                          <a:solidFill>
                            <a:srgbClr val="222222"/>
                          </a:solidFill>
                        </a:rPr>
                        <a:t>(Rp40 </a:t>
                      </a:r>
                      <a:pPr algn="l" indent="0" marL="0">
                        <a:buNone/>
                      </a:pPr>
                      <a:r>
                        <a:rPr lang="en-US" sz="1100" dirty="0">
                          <a:solidFill>
                            <a:srgbClr val="222222"/>
                          </a:solidFill>
                        </a:rPr>
                        <a:t>billion </a:t>
                      </a:r>
                      <a:pPr algn="l" indent="0" marL="0">
                        <a:buNone/>
                      </a:pPr>
                      <a:r>
                        <a:rPr lang="en-US" sz="1100" dirty="0">
                          <a:solidFill>
                            <a:srgbClr val="222222"/>
                          </a:solidFill>
                        </a:rPr>
                        <a:t>to </a:t>
                      </a:r>
                      <a:pPr algn="l" indent="0" marL="0">
                        <a:buNone/>
                      </a:pPr>
                      <a:r>
                        <a:rPr lang="en-US" sz="1100" dirty="0">
                          <a:solidFill>
                            <a:srgbClr val="222222"/>
                          </a:solidFill>
                        </a:rPr>
                        <a:t>NTT </a:t>
                      </a:r>
                      <a:pPr algn="l" indent="0" marL="0">
                        <a:buNone/>
                      </a:pPr>
                      <a:r>
                        <a:rPr lang="en-US" sz="1100" dirty="0">
                          <a:solidFill>
                            <a:srgbClr val="222222"/>
                          </a:solidFill>
                        </a:rPr>
                        <a:t>province, </a:t>
                      </a:r>
                      <a:pPr algn="l" indent="0" marL="0">
                        <a:buNone/>
                      </a:pPr>
                      <a:r>
                        <a:rPr lang="en-US" sz="1100" dirty="0">
                          <a:solidFill>
                            <a:srgbClr val="222222"/>
                          </a:solidFill>
                        </a:rPr>
                        <a:t>Rp20 </a:t>
                      </a:r>
                      <a:pPr algn="l" indent="0" marL="0">
                        <a:buNone/>
                      </a:pPr>
                      <a:r>
                        <a:rPr lang="en-US" sz="1100" dirty="0">
                          <a:solidFill>
                            <a:srgbClr val="222222"/>
                          </a:solidFill>
                        </a:rPr>
                        <a:t>billion </a:t>
                      </a:r>
                      <a:pPr algn="l" indent="0" marL="0">
                        <a:buNone/>
                      </a:pPr>
                      <a:r>
                        <a:rPr lang="en-US" sz="1100" dirty="0">
                          <a:solidFill>
                            <a:srgbClr val="222222"/>
                          </a:solidFill>
                        </a:rPr>
                        <a:t>each </a:t>
                      </a:r>
                      <a:pPr algn="l" indent="0" marL="0">
                        <a:buNone/>
                      </a:pPr>
                      <a:r>
                        <a:rPr lang="en-US" sz="1100" dirty="0">
                          <a:solidFill>
                            <a:srgbClr val="222222"/>
                          </a:solidFill>
                        </a:rPr>
                        <a:t>to </a:t>
                      </a:r>
                      <a:pPr algn="l" indent="0" marL="0">
                        <a:buNone/>
                      </a:pPr>
                      <a:r>
                        <a:rPr lang="en-US" sz="1100" dirty="0">
                          <a:solidFill>
                            <a:srgbClr val="222222"/>
                          </a:solidFill>
                        </a:rPr>
                        <a:t>eight </a:t>
                      </a:r>
                      <a:pPr algn="l" indent="0" marL="0">
                        <a:buNone/>
                      </a:pPr>
                      <a:r>
                        <a:rPr lang="en-US" sz="1100" dirty="0">
                          <a:solidFill>
                            <a:srgbClr val="222222"/>
                          </a:solidFill>
                        </a:rPr>
                        <a:t>districts). </a:t>
                      </a:r>
                      <a:pPr algn="l" indent="0" marL="0">
                        <a:buNone/>
                      </a:pPr>
                      <a:r>
                        <a:rPr lang="en-US" sz="1100" dirty="0">
                          <a:solidFill>
                            <a:srgbClr val="222222"/>
                          </a:solidFill>
                        </a:rPr>
                        <a:t>As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7 </a:t>
                      </a:r>
                      <a:pPr algn="l" indent="0" marL="0">
                        <a:buNone/>
                      </a:pPr>
                      <a:r>
                        <a:rPr lang="en-US" sz="1100" dirty="0">
                          <a:solidFill>
                            <a:srgbClr val="222222"/>
                          </a:solidFill>
                        </a:rPr>
                        <a:t>Sep </a:t>
                      </a:r>
                      <a:pPr algn="l" indent="0" marL="0">
                        <a:buNone/>
                      </a:pPr>
                      <a:r>
                        <a:rPr lang="en-US" sz="1100" dirty="0">
                          <a:solidFill>
                            <a:srgbClr val="222222"/>
                          </a:solidFill>
                        </a:rPr>
                        <a:t>disaster-mitigation </a:t>
                      </a:r>
                      <a:pPr algn="l" indent="0" marL="0">
                        <a:buNone/>
                      </a:pPr>
                      <a:r>
                        <a:rPr lang="en-US" sz="1100" dirty="0">
                          <a:solidFill>
                            <a:srgbClr val="222222"/>
                          </a:solidFill>
                        </a:rPr>
                        <a:t>meeting, </a:t>
                      </a:r>
                      <a:pPr algn="l" indent="0" marL="0">
                        <a:buNone/>
                      </a:pPr>
                      <a:r>
                        <a:rPr lang="en-US" sz="1100" dirty="0">
                          <a:solidFill>
                            <a:srgbClr val="222222"/>
                          </a:solidFill>
                        </a:rPr>
                        <a:t>the </a:t>
                      </a:r>
                      <a:pPr algn="l" indent="0" marL="0">
                        <a:buNone/>
                      </a:pPr>
                      <a:r>
                        <a:rPr lang="en-US" sz="1100" dirty="0">
                          <a:solidFill>
                            <a:srgbClr val="222222"/>
                          </a:solidFill>
                        </a:rPr>
                        <a:t>Home </a:t>
                      </a:r>
                      <a:pPr algn="l" indent="0" marL="0">
                        <a:buNone/>
                      </a:pPr>
                      <a:r>
                        <a:rPr lang="en-US" sz="1100" dirty="0">
                          <a:solidFill>
                            <a:srgbClr val="222222"/>
                          </a:solidFill>
                        </a:rPr>
                        <a:t>Affairs </a:t>
                      </a:r>
                      <a:pPr algn="l" indent="0" marL="0">
                        <a:buNone/>
                      </a:pPr>
                      <a:r>
                        <a:rPr lang="en-US" sz="1100" dirty="0">
                          <a:solidFill>
                            <a:srgbClr val="222222"/>
                          </a:solidFill>
                        </a:rPr>
                        <a:t>Ministry </a:t>
                      </a:r>
                      <a:pPr algn="l" indent="0" marL="0">
                        <a:buNone/>
                      </a:pPr>
                      <a:r>
                        <a:rPr lang="en-US" sz="1100" dirty="0">
                          <a:solidFill>
                            <a:srgbClr val="222222"/>
                          </a:solidFill>
                        </a:rPr>
                        <a:t>described </a:t>
                      </a:r>
                      <a:pPr algn="l" indent="0" marL="0">
                        <a:buNone/>
                      </a:pPr>
                      <a:r>
                        <a:rPr lang="en-US" sz="1100" dirty="0">
                          <a:solidFill>
                            <a:srgbClr val="222222"/>
                          </a:solidFill>
                        </a:rPr>
                        <a:t>realisation </a:t>
                      </a:r>
                      <a:pPr algn="l" indent="0" marL="0">
                        <a:buNone/>
                      </a:pPr>
                      <a:r>
                        <a:rPr lang="en-US" sz="1100" dirty="0">
                          <a:solidFill>
                            <a:srgbClr val="222222"/>
                          </a:solidFill>
                        </a:rPr>
                        <a:t>as </a:t>
                      </a:r>
                      <a:pPr algn="l" indent="0" marL="0">
                        <a:buNone/>
                      </a:pPr>
                      <a:r>
                        <a:rPr lang="en-US" sz="1100" dirty="0">
                          <a:solidFill>
                            <a:srgbClr val="222222"/>
                          </a:solidFill>
                        </a:rPr>
                        <a:t>slow </a:t>
                      </a:r>
                      <a:pPr algn="l" indent="0" marL="0">
                        <a:buNone/>
                      </a:pPr>
                      <a:r>
                        <a:rPr lang="en-US" sz="1100" dirty="0">
                          <a:solidFill>
                            <a:srgbClr val="222222"/>
                          </a:solidFill>
                        </a:rPr>
                        <a:t>and </a:t>
                      </a:r>
                      <a:pPr algn="l" indent="0" marL="0">
                        <a:buNone/>
                      </a:pPr>
                      <a:r>
                        <a:rPr lang="en-US" sz="1100" dirty="0">
                          <a:solidFill>
                            <a:srgbClr val="222222"/>
                          </a:solidFill>
                        </a:rPr>
                        <a:t>deployed </a:t>
                      </a:r>
                      <a:pPr algn="l" indent="0" marL="0">
                        <a:buNone/>
                      </a:pPr>
                      <a:r>
                        <a:rPr lang="en-US" sz="1100" dirty="0">
                          <a:solidFill>
                            <a:srgbClr val="222222"/>
                          </a:solidFill>
                        </a:rPr>
                        <a:t>a </a:t>
                      </a:r>
                      <a:pPr algn="l" indent="0" marL="0">
                        <a:buNone/>
                      </a:pPr>
                      <a:r>
                        <a:rPr lang="en-US" sz="1100" dirty="0">
                          <a:solidFill>
                            <a:srgbClr val="222222"/>
                          </a:solidFill>
                        </a:rPr>
                        <a:t>support </a:t>
                      </a:r>
                      <a:pPr algn="l" indent="0" marL="0">
                        <a:buNone/>
                      </a:pPr>
                      <a:r>
                        <a:rPr lang="en-US" sz="1100" dirty="0">
                          <a:solidFill>
                            <a:srgbClr val="222222"/>
                          </a:solidFill>
                        </a:rPr>
                        <a:t>team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regions.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Sources: </a:t>
            </a:r>
            <a:pPr algn="l" indent="0" marL="0">
              <a:buNone/>
            </a:pPr>
            <a:r>
              <a:rPr lang="en-US" sz="850" dirty="0">
                <a:solidFill>
                  <a:srgbClr val="6A6A6A"/>
                </a:solidFill>
                <a:latin typeface="Meiryo" pitchFamily="34" charset="0"/>
                <a:ea typeface="Meiryo" pitchFamily="34" charset="-122"/>
                <a:cs typeface="Meiryo" pitchFamily="34" charset="-120"/>
              </a:rPr>
              <a:t>BNPB, 27 Aug; Home Affairs Ministry, 8 Sep 2026 (via ANTARA) — </a:t>
            </a:r>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27</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Items to Confirm in the Next Cycle</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Detail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Priority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Reconciling </a:t>
                      </a:r>
                      <a:pPr algn="l" indent="0" marL="0">
                        <a:buNone/>
                      </a:pPr>
                      <a:r>
                        <a:rPr lang="en-US" sz="1100" dirty="0">
                          <a:solidFill>
                            <a:srgbClr val="222222"/>
                          </a:solidFill>
                        </a:rPr>
                        <a:t>the </a:t>
                      </a:r>
                      <a:pPr algn="l" indent="0" marL="0">
                        <a:buNone/>
                      </a:pPr>
                      <a:r>
                        <a:rPr lang="en-US" sz="1100" dirty="0">
                          <a:solidFill>
                            <a:srgbClr val="222222"/>
                          </a:solidFill>
                        </a:rPr>
                        <a:t>house-damage </a:t>
                      </a:r>
                      <a:pPr algn="l" indent="0" marL="0">
                        <a:buNone/>
                      </a:pPr>
                      <a:r>
                        <a:rPr lang="en-US" sz="1100" dirty="0">
                          <a:solidFill>
                            <a:srgbClr val="222222"/>
                          </a:solidFill>
                        </a:rPr>
                        <a:t>figures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Now </a:t>
                      </a:r>
                      <a:pPr algn="l" indent="0" marL="0">
                        <a:buNone/>
                      </a:pPr>
                      <a:r>
                        <a:rPr lang="en-US" sz="1100" dirty="0">
                          <a:solidFill>
                            <a:srgbClr val="222222"/>
                          </a:solidFill>
                        </a:rPr>
                        <a:t>three </a:t>
                      </a:r>
                      <a:pPr algn="l" indent="0" marL="0">
                        <a:buNone/>
                      </a:pPr>
                      <a:r>
                        <a:rPr lang="en-US" sz="1100" dirty="0">
                          <a:solidFill>
                            <a:srgbClr val="222222"/>
                          </a:solidFill>
                        </a:rPr>
                        <a:t>unreconciled </a:t>
                      </a:r>
                      <a:pPr algn="l" indent="0" marL="0">
                        <a:buNone/>
                      </a:pPr>
                      <a:r>
                        <a:rPr lang="en-US" sz="1100" dirty="0">
                          <a:solidFill>
                            <a:srgbClr val="222222"/>
                          </a:solidFill>
                        </a:rPr>
                        <a:t>totals: </a:t>
                      </a:r>
                      <a:pPr algn="l" indent="0" marL="0">
                        <a:buNone/>
                      </a:pPr>
                      <a:r>
                        <a:rPr lang="en-US" sz="1100" dirty="0">
                          <a:solidFill>
                            <a:srgbClr val="222222"/>
                          </a:solidFill>
                        </a:rPr>
                        <a:t>77,912 </a:t>
                      </a:r>
                      <a:pPr algn="l" indent="0" marL="0">
                        <a:buNone/>
                      </a:pPr>
                      <a:r>
                        <a:rPr lang="en-US" sz="1100" dirty="0">
                          <a:solidFill>
                            <a:srgbClr val="222222"/>
                          </a:solidFill>
                        </a:rPr>
                        <a:t>'damaged'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data </a:t>
                      </a:r>
                      <a:pPr algn="l" indent="0" marL="0">
                        <a:buNone/>
                      </a:pPr>
                      <a:r>
                        <a:rPr lang="en-US" sz="1100" dirty="0">
                          <a:solidFill>
                            <a:srgbClr val="222222"/>
                          </a:solidFill>
                        </a:rPr>
                        <a:t>lock), </a:t>
                      </a:r>
                      <a:pPr algn="l" indent="0" marL="0">
                        <a:buNone/>
                      </a:pPr>
                      <a:r>
                        <a:rPr lang="en-US" sz="1100" dirty="0">
                          <a:solidFill>
                            <a:srgbClr val="222222"/>
                          </a:solidFill>
                        </a:rPr>
                        <a:t>81,436 </a:t>
                      </a:r>
                      <a:pPr algn="l" indent="0" marL="0">
                        <a:buNone/>
                      </a:pPr>
                      <a:r>
                        <a:rPr lang="en-US" sz="1100" dirty="0">
                          <a:solidFill>
                            <a:srgbClr val="222222"/>
                          </a:solidFill>
                        </a:rPr>
                        <a:t>'affected'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and </a:t>
                      </a:r>
                      <a:pPr algn="l" indent="0" marL="0">
                        <a:buNone/>
                      </a:pPr>
                      <a:r>
                        <a:rPr lang="en-US" sz="1100" dirty="0">
                          <a:solidFill>
                            <a:srgbClr val="222222"/>
                          </a:solidFill>
                        </a:rPr>
                        <a:t>95,567 </a:t>
                      </a:r>
                      <a:pPr algn="l" indent="0" marL="0">
                        <a:buNone/>
                      </a:pPr>
                      <a:r>
                        <a:rPr lang="en-US" sz="1100" dirty="0">
                          <a:solidFill>
                            <a:srgbClr val="222222"/>
                          </a:solidFill>
                        </a:rPr>
                        <a:t>'damaged' </a:t>
                      </a:r>
                      <a:pPr algn="l" indent="0" marL="0">
                        <a:buNone/>
                      </a:pPr>
                      <a:r>
                        <a:rPr lang="en-US" sz="1100" dirty="0">
                          <a:solidFill>
                            <a:srgbClr val="222222"/>
                          </a:solidFill>
                        </a:rPr>
                        <a:t>(30 </a:t>
                      </a:r>
                      <a:pPr algn="l" indent="0" marL="0">
                        <a:buNone/>
                      </a:pPr>
                      <a:r>
                        <a:rPr lang="en-US" sz="1100" dirty="0">
                          <a:solidFill>
                            <a:srgbClr val="222222"/>
                          </a:solidFill>
                        </a:rPr>
                        <a:t>Aug </a:t>
                      </a:r>
                      <a:pPr algn="l" indent="0" marL="0">
                        <a:buNone/>
                      </a:pPr>
                      <a:r>
                        <a:rPr lang="en-US" sz="1100" dirty="0">
                          <a:solidFill>
                            <a:srgbClr val="222222"/>
                          </a:solidFill>
                        </a:rPr>
                        <a:t>BNPB </a:t>
                      </a:r>
                      <a:pPr algn="l" indent="0" marL="0">
                        <a:buNone/>
                      </a:pPr>
                      <a:r>
                        <a:rPr lang="en-US" sz="1100" dirty="0">
                          <a:solidFill>
                            <a:srgbClr val="222222"/>
                          </a:solidFill>
                        </a:rPr>
                        <a:t>press </a:t>
                      </a:r>
                      <a:pPr algn="l" indent="0" marL="0">
                        <a:buNone/>
                      </a:pPr>
                      <a:r>
                        <a:rPr lang="en-US" sz="1100" dirty="0">
                          <a:solidFill>
                            <a:srgbClr val="222222"/>
                          </a:solidFill>
                        </a:rPr>
                        <a:t>conference). </a:t>
                      </a:r>
                      <a:pPr algn="l" indent="0" marL="0">
                        <a:buNone/>
                      </a:pPr>
                      <a:r>
                        <a:rPr lang="en-US" sz="1100" dirty="0">
                          <a:solidFill>
                            <a:srgbClr val="222222"/>
                          </a:solidFill>
                        </a:rPr>
                        <a:t>Each </a:t>
                      </a:r>
                      <a:pPr algn="l" indent="0" marL="0">
                        <a:buNone/>
                      </a:pPr>
                      <a:r>
                        <a:rPr lang="en-US" sz="1100" dirty="0">
                          <a:solidFill>
                            <a:srgbClr val="222222"/>
                          </a:solidFill>
                        </a:rPr>
                        <a:t>is </a:t>
                      </a:r>
                      <a:pPr algn="l" indent="0" marL="0">
                        <a:buNone/>
                      </a:pPr>
                      <a:r>
                        <a:rPr lang="en-US" sz="1100" dirty="0">
                          <a:solidFill>
                            <a:srgbClr val="222222"/>
                          </a:solidFill>
                        </a:rPr>
                        <a:t>larger </a:t>
                      </a:r>
                      <a:pPr algn="l" indent="0" marL="0">
                        <a:buNone/>
                      </a:pPr>
                      <a:r>
                        <a:rPr lang="en-US" sz="1100" dirty="0">
                          <a:solidFill>
                            <a:srgbClr val="222222"/>
                          </a:solidFill>
                        </a:rPr>
                        <a:t>than </a:t>
                      </a:r>
                      <a:pPr algn="l" indent="0" marL="0">
                        <a:buNone/>
                      </a:pPr>
                      <a:r>
                        <a:rPr lang="en-US" sz="1100" dirty="0">
                          <a:solidFill>
                            <a:srgbClr val="222222"/>
                          </a:solidFill>
                        </a:rPr>
                        <a:t>the </a:t>
                      </a:r>
                      <a:pPr algn="l" indent="0" marL="0">
                        <a:buNone/>
                      </a:pPr>
                      <a:r>
                        <a:rPr lang="en-US" sz="1100" dirty="0">
                          <a:solidFill>
                            <a:srgbClr val="222222"/>
                          </a:solidFill>
                        </a:rPr>
                        <a:t>last; </a:t>
                      </a:r>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this </a:t>
                      </a:r>
                      <a:pPr algn="l" indent="0" marL="0">
                        <a:buNone/>
                      </a:pPr>
                      <a:r>
                        <a:rPr lang="en-US" sz="1100" dirty="0">
                          <a:solidFill>
                            <a:srgbClr val="222222"/>
                          </a:solidFill>
                        </a:rPr>
                        <a:t>reflects </a:t>
                      </a:r>
                      <a:pPr algn="l" indent="0" marL="0">
                        <a:buNone/>
                      </a:pPr>
                      <a:r>
                        <a:rPr lang="en-US" sz="1100" dirty="0">
                          <a:solidFill>
                            <a:srgbClr val="222222"/>
                          </a:solidFill>
                        </a:rPr>
                        <a:t>the </a:t>
                      </a:r>
                      <a:pPr algn="l" indent="0" marL="0">
                        <a:buNone/>
                      </a:pPr>
                      <a:r>
                        <a:rPr lang="en-US" sz="1100" dirty="0">
                          <a:solidFill>
                            <a:srgbClr val="222222"/>
                          </a:solidFill>
                        </a:rPr>
                        <a:t>ongoing </a:t>
                      </a:r>
                      <a:pPr algn="l" indent="0" marL="0">
                        <a:buNone/>
                      </a:pPr>
                      <a:r>
                        <a:rPr lang="en-US" sz="1100" dirty="0">
                          <a:solidFill>
                            <a:srgbClr val="222222"/>
                          </a:solidFill>
                        </a:rPr>
                        <a:t>by-name-by-address </a:t>
                      </a:r>
                      <a:pPr algn="l" indent="0" marL="0">
                        <a:buNone/>
                      </a:pPr>
                      <a:r>
                        <a:rPr lang="en-US" sz="1100" dirty="0">
                          <a:solidFill>
                            <a:srgbClr val="222222"/>
                          </a:solidFill>
                        </a:rPr>
                        <a:t>survey </a:t>
                      </a:r>
                      <a:pPr algn="l" indent="0" marL="0">
                        <a:buNone/>
                      </a:pPr>
                      <a:r>
                        <a:rPr lang="en-US" sz="1100" dirty="0">
                          <a:solidFill>
                            <a:srgbClr val="222222"/>
                          </a:solidFill>
                        </a:rPr>
                        <a:t>(ADRC's </a:t>
                      </a:r>
                      <a:pPr algn="l" indent="0" marL="0">
                        <a:buNone/>
                      </a:pPr>
                      <a:r>
                        <a:rPr lang="en-US" sz="1100" dirty="0">
                          <a:solidFill>
                            <a:srgbClr val="222222"/>
                          </a:solidFill>
                        </a:rPr>
                        <a:t>working </a:t>
                      </a:r>
                      <a:pPr algn="l" indent="0" marL="0">
                        <a:buNone/>
                      </a:pPr>
                      <a:r>
                        <a:rPr lang="en-US" sz="1100" dirty="0">
                          <a:solidFill>
                            <a:srgbClr val="222222"/>
                          </a:solidFill>
                        </a:rPr>
                        <a:t>assumption) </a:t>
                      </a:r>
                      <a:pPr algn="l" indent="0" marL="0">
                        <a:buNone/>
                      </a:pPr>
                      <a:r>
                        <a:rPr lang="en-US" sz="1100" dirty="0">
                          <a:solidFill>
                            <a:srgbClr val="222222"/>
                          </a:solidFill>
                        </a:rPr>
                        <a:t>or </a:t>
                      </a:r>
                      <a:pPr algn="l" indent="0" marL="0">
                        <a:buNone/>
                      </a:pPr>
                      <a:r>
                        <a:rPr lang="en-US" sz="1100" dirty="0">
                          <a:solidFill>
                            <a:srgbClr val="222222"/>
                          </a:solidFill>
                        </a:rPr>
                        <a:t>a </a:t>
                      </a:r>
                      <a:pPr algn="l" indent="0" marL="0">
                        <a:buNone/>
                      </a:pPr>
                      <a:r>
                        <a:rPr lang="en-US" sz="1100" dirty="0">
                          <a:solidFill>
                            <a:srgbClr val="222222"/>
                          </a:solidFill>
                        </a:rPr>
                        <a:t>genuine </a:t>
                      </a:r>
                      <a:pPr algn="l" indent="0" marL="0">
                        <a:buNone/>
                      </a:pPr>
                      <a:r>
                        <a:rPr lang="en-US" sz="1100" dirty="0">
                          <a:solidFill>
                            <a:srgbClr val="222222"/>
                          </a:solidFill>
                        </a:rPr>
                        <a:t>methodology </a:t>
                      </a:r>
                      <a:pPr algn="l" indent="0" marL="0">
                        <a:buNone/>
                      </a:pPr>
                      <a:r>
                        <a:rPr lang="en-US" sz="1100" dirty="0">
                          <a:solidFill>
                            <a:srgbClr val="222222"/>
                          </a:solidFill>
                        </a:rPr>
                        <a:t>change </a:t>
                      </a:r>
                      <a:pPr algn="l" indent="0" marL="0">
                        <a:buNone/>
                      </a:pPr>
                      <a:r>
                        <a:rPr lang="en-US" sz="1100" dirty="0">
                          <a:solidFill>
                            <a:srgbClr val="222222"/>
                          </a:solidFill>
                        </a:rPr>
                        <a:t>before </a:t>
                      </a:r>
                      <a:pPr algn="l" indent="0" marL="0">
                        <a:buNone/>
                      </a:pPr>
                      <a:r>
                        <a:rPr lang="en-US" sz="1100" dirty="0">
                          <a:solidFill>
                            <a:srgbClr val="222222"/>
                          </a:solidFill>
                        </a:rPr>
                        <a:t>external </a:t>
                      </a:r>
                      <a:pPr algn="l" indent="0" marL="0">
                        <a:buNone/>
                      </a:pPr>
                      <a:r>
                        <a:rPr lang="en-US" sz="1100" dirty="0">
                          <a:solidFill>
                            <a:srgbClr val="222222"/>
                          </a:solidFill>
                        </a:rPr>
                        <a:t>use.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Public-facility </a:t>
                      </a:r>
                      <a:pPr algn="l" indent="0" marL="0">
                        <a:buNone/>
                      </a:pPr>
                      <a:r>
                        <a:rPr lang="en-US" sz="1100" dirty="0">
                          <a:solidFill>
                            <a:srgbClr val="222222"/>
                          </a:solidFill>
                        </a:rPr>
                        <a:t>counts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Now </a:t>
                      </a:r>
                      <a:pPr algn="l" indent="0" marL="0">
                        <a:buNone/>
                      </a:pPr>
                      <a:r>
                        <a:rPr lang="en-US" sz="1100" dirty="0">
                          <a:solidFill>
                            <a:srgbClr val="222222"/>
                          </a:solidFill>
                        </a:rPr>
                        <a:t>four </a:t>
                      </a:r>
                      <a:pPr algn="l" indent="0" marL="0">
                        <a:buNone/>
                      </a:pPr>
                      <a:r>
                        <a:rPr lang="en-US" sz="1100" dirty="0">
                          <a:solidFill>
                            <a:srgbClr val="222222"/>
                          </a:solidFill>
                        </a:rPr>
                        <a:t>unreconciled </a:t>
                      </a:r>
                      <a:pPr algn="l" indent="0" marL="0">
                        <a:buNone/>
                      </a:pPr>
                      <a:r>
                        <a:rPr lang="en-US" sz="1100" dirty="0">
                          <a:solidFill>
                            <a:srgbClr val="222222"/>
                          </a:solidFill>
                        </a:rPr>
                        <a:t>BNPB/ministry </a:t>
                      </a:r>
                      <a:pPr algn="l" indent="0" marL="0">
                        <a:buNone/>
                      </a:pPr>
                      <a:r>
                        <a:rPr lang="en-US" sz="1100" dirty="0">
                          <a:solidFill>
                            <a:srgbClr val="222222"/>
                          </a:solidFill>
                        </a:rPr>
                        <a:t>counts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27 </a:t>
                      </a:r>
                      <a:pPr algn="l" indent="0" marL="0">
                        <a:buNone/>
                      </a:pPr>
                      <a:r>
                        <a:rPr lang="en-US" sz="1100" dirty="0">
                          <a:solidFill>
                            <a:srgbClr val="222222"/>
                          </a:solidFill>
                        </a:rPr>
                        <a:t>Aug </a:t>
                      </a:r>
                      <a:pPr algn="l" indent="0" marL="0">
                        <a:buNone/>
                      </a:pPr>
                      <a:r>
                        <a:rPr lang="en-US" sz="1100" dirty="0">
                          <a:solidFill>
                            <a:srgbClr val="222222"/>
                          </a:solidFill>
                        </a:rPr>
                        <a:t>IHCP </a:t>
                      </a:r>
                      <a:pPr algn="l" indent="0" marL="0">
                        <a:buNone/>
                      </a:pPr>
                      <a:r>
                        <a:rPr lang="en-US" sz="1100" dirty="0">
                          <a:solidFill>
                            <a:srgbClr val="222222"/>
                          </a:solidFill>
                        </a:rPr>
                        <a:t>dashboard, </a:t>
                      </a:r>
                      <a:pPr algn="l" indent="0" marL="0">
                        <a:buNone/>
                      </a:pPr>
                      <a:r>
                        <a:rPr lang="en-US" sz="1100" dirty="0">
                          <a:solidFill>
                            <a:srgbClr val="222222"/>
                          </a:solidFill>
                        </a:rPr>
                        <a:t>30 </a:t>
                      </a:r>
                      <a:pPr algn="l" indent="0" marL="0">
                        <a:buNone/>
                      </a:pPr>
                      <a:r>
                        <a:rPr lang="en-US" sz="1100" dirty="0">
                          <a:solidFill>
                            <a:srgbClr val="222222"/>
                          </a:solidFill>
                        </a:rPr>
                        <a:t>Aug/4 </a:t>
                      </a:r>
                      <a:pPr algn="l" indent="0" marL="0">
                        <a:buNone/>
                      </a:pPr>
                      <a:r>
                        <a:rPr lang="en-US" sz="1100" dirty="0">
                          <a:solidFill>
                            <a:srgbClr val="222222"/>
                          </a:solidFill>
                        </a:rPr>
                        <a:t>Sep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Public </a:t>
                      </a:r>
                      <a:pPr algn="l" indent="0" marL="0">
                        <a:buNone/>
                      </a:pPr>
                      <a:r>
                        <a:rPr lang="en-US" sz="1100" dirty="0">
                          <a:solidFill>
                            <a:srgbClr val="222222"/>
                          </a:solidFill>
                        </a:rPr>
                        <a:t>Works), </a:t>
                      </a:r>
                      <a:pPr algn="l" indent="0" marL="0">
                        <a:buNone/>
                      </a:pPr>
                      <a:r>
                        <a:rPr lang="en-US" sz="1100" dirty="0">
                          <a:solidFill>
                            <a:srgbClr val="222222"/>
                          </a:solidFill>
                        </a:rPr>
                        <a:t>each </a:t>
                      </a:r>
                      <a:pPr algn="l" indent="0" marL="0">
                        <a:buNone/>
                      </a:pPr>
                      <a:r>
                        <a:rPr lang="en-US" sz="1100" dirty="0">
                          <a:solidFill>
                            <a:srgbClr val="222222"/>
                          </a:solidFill>
                        </a:rPr>
                        <a:t>using </a:t>
                      </a:r>
                      <a:pPr algn="l" indent="0" marL="0">
                        <a:buNone/>
                      </a:pPr>
                      <a:r>
                        <a:rPr lang="en-US" sz="1100" dirty="0">
                          <a:solidFill>
                            <a:srgbClr val="222222"/>
                          </a:solidFill>
                        </a:rPr>
                        <a:t>a </a:t>
                      </a:r>
                      <a:pPr algn="l" indent="0" marL="0">
                        <a:buNone/>
                      </a:pPr>
                      <a:r>
                        <a:rPr lang="en-US" sz="1100" dirty="0">
                          <a:solidFill>
                            <a:srgbClr val="222222"/>
                          </a:solidFill>
                        </a:rPr>
                        <a:t>different </a:t>
                      </a:r>
                      <a:pPr algn="l" indent="0" marL="0">
                        <a:buNone/>
                      </a:pPr>
                      <a:r>
                        <a:rPr lang="en-US" sz="1100" dirty="0">
                          <a:solidFill>
                            <a:srgbClr val="222222"/>
                          </a:solidFill>
                        </a:rPr>
                        <a:t>category </a:t>
                      </a:r>
                      <a:pPr algn="l" indent="0" marL="0">
                        <a:buNone/>
                      </a:pPr>
                      <a:r>
                        <a:rPr lang="en-US" sz="1100" dirty="0">
                          <a:solidFill>
                            <a:srgbClr val="222222"/>
                          </a:solidFill>
                        </a:rPr>
                        <a:t>breakdown. </a:t>
                      </a:r>
                      <a:pPr algn="l" indent="0" marL="0">
                        <a:buNone/>
                      </a:pPr>
                      <a:r>
                        <a:rPr lang="en-US" sz="1100" dirty="0">
                          <a:solidFill>
                            <a:srgbClr val="222222"/>
                          </a:solidFill>
                        </a:rPr>
                        <a:t>Identify </a:t>
                      </a:r>
                      <a:pPr algn="l" indent="0" marL="0">
                        <a:buNone/>
                      </a:pPr>
                      <a:r>
                        <a:rPr lang="en-US" sz="1100" dirty="0">
                          <a:solidFill>
                            <a:srgbClr val="222222"/>
                          </a:solidFill>
                        </a:rPr>
                        <a:t>which </a:t>
                      </a:r>
                      <a:pPr algn="l" indent="0" marL="0">
                        <a:buNone/>
                      </a:pPr>
                      <a:r>
                        <a:rPr lang="en-US" sz="1100" dirty="0">
                          <a:solidFill>
                            <a:srgbClr val="222222"/>
                          </a:solidFill>
                        </a:rPr>
                        <a:t>measure </a:t>
                      </a:r>
                      <a:pPr algn="l" indent="0" marL="0">
                        <a:buNone/>
                      </a:pPr>
                      <a:r>
                        <a:rPr lang="en-US" sz="1100" dirty="0">
                          <a:solidFill>
                            <a:srgbClr val="222222"/>
                          </a:solidFill>
                        </a:rPr>
                        <a:t>each </a:t>
                      </a:r>
                      <a:pPr algn="l" indent="0" marL="0">
                        <a:buNone/>
                      </a:pPr>
                      <a:r>
                        <a:rPr lang="en-US" sz="1100" dirty="0">
                          <a:solidFill>
                            <a:srgbClr val="222222"/>
                          </a:solidFill>
                        </a:rPr>
                        <a:t>uses </a:t>
                      </a:r>
                      <a:pPr algn="l" indent="0" marL="0">
                        <a:buNone/>
                      </a:pPr>
                      <a:r>
                        <a:rPr lang="en-US" sz="1100" dirty="0">
                          <a:solidFill>
                            <a:srgbClr val="222222"/>
                          </a:solidFill>
                        </a:rPr>
                        <a:t>before </a:t>
                      </a:r>
                      <a:pPr algn="l" indent="0" marL="0">
                        <a:buNone/>
                      </a:pPr>
                      <a:r>
                        <a:rPr lang="en-US" sz="1100" dirty="0">
                          <a:solidFill>
                            <a:srgbClr val="222222"/>
                          </a:solidFill>
                        </a:rPr>
                        <a:t>citing </a:t>
                      </a:r>
                      <a:pPr algn="l" indent="0" marL="0">
                        <a:buNone/>
                      </a:pPr>
                      <a:r>
                        <a:rPr lang="en-US" sz="1100" dirty="0">
                          <a:solidFill>
                            <a:srgbClr val="222222"/>
                          </a:solidFill>
                        </a:rPr>
                        <a:t>a </a:t>
                      </a:r>
                      <a:pPr algn="l" indent="0" marL="0">
                        <a:buNone/>
                      </a:pPr>
                      <a:r>
                        <a:rPr lang="en-US" sz="1100" dirty="0">
                          <a:solidFill>
                            <a:srgbClr val="222222"/>
                          </a:solidFill>
                        </a:rPr>
                        <a:t>single </a:t>
                      </a:r>
                      <a:pPr algn="l" indent="0" marL="0">
                        <a:buNone/>
                      </a:pPr>
                      <a:r>
                        <a:rPr lang="en-US" sz="1100" dirty="0">
                          <a:solidFill>
                            <a:srgbClr val="222222"/>
                          </a:solidFill>
                        </a:rPr>
                        <a:t>number </a:t>
                      </a:r>
                      <a:pPr algn="l" indent="0" marL="0">
                        <a:buNone/>
                      </a:pPr>
                      <a:r>
                        <a:rPr lang="en-US" sz="1100" dirty="0">
                          <a:solidFill>
                            <a:srgbClr val="222222"/>
                          </a:solidFill>
                        </a:rPr>
                        <a:t>externally.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Final </a:t>
                      </a:r>
                      <a:pPr algn="l" indent="0" marL="0">
                        <a:buNone/>
                      </a:pPr>
                      <a:r>
                        <a:rPr lang="en-US" sz="1100" dirty="0">
                          <a:solidFill>
                            <a:srgbClr val="222222"/>
                          </a:solidFill>
                        </a:rPr>
                        <a:t>death </a:t>
                      </a:r>
                      <a:pPr algn="l" indent="0" marL="0">
                        <a:buNone/>
                      </a:pPr>
                      <a:r>
                        <a:rPr lang="en-US" sz="1100" dirty="0">
                          <a:solidFill>
                            <a:srgbClr val="222222"/>
                          </a:solidFill>
                        </a:rPr>
                        <a:t>toll </a:t>
                      </a:r>
                      <a:pPr algn="l" indent="0" marL="0">
                        <a:buNone/>
                      </a:pPr>
                      <a:r>
                        <a:rPr lang="en-US" sz="1100" dirty="0">
                          <a:solidFill>
                            <a:srgbClr val="222222"/>
                          </a:solidFill>
                        </a:rPr>
                        <a:t>composition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48 </a:t>
                      </a:r>
                      <a:pPr algn="l" indent="0" marL="0">
                        <a:buNone/>
                      </a:pPr>
                      <a:r>
                        <a:rPr lang="en-US" sz="1100" dirty="0">
                          <a:solidFill>
                            <a:srgbClr val="222222"/>
                          </a:solidFill>
                        </a:rPr>
                        <a:t>direct </a:t>
                      </a:r>
                      <a:pPr algn="l" indent="0" marL="0">
                        <a:buNone/>
                      </a:pPr>
                      <a:r>
                        <a:rPr lang="en-US" sz="1100" dirty="0">
                          <a:solidFill>
                            <a:srgbClr val="222222"/>
                          </a:solidFill>
                        </a:rPr>
                        <a:t>/ </a:t>
                      </a:r>
                      <a:pPr algn="l" indent="0" marL="0">
                        <a:buNone/>
                      </a:pPr>
                      <a:r>
                        <a:rPr lang="en-US" sz="1100" dirty="0">
                          <a:solidFill>
                            <a:srgbClr val="222222"/>
                          </a:solidFill>
                        </a:rPr>
                        <a:t>57 </a:t>
                      </a:r>
                      <a:pPr algn="l" indent="0" marL="0">
                        <a:buNone/>
                      </a:pPr>
                      <a:r>
                        <a:rPr lang="en-US" sz="1100" dirty="0">
                          <a:solidFill>
                            <a:srgbClr val="222222"/>
                          </a:solidFill>
                        </a:rPr>
                        <a:t>subsequent </a:t>
                      </a:r>
                      <a:pPr algn="l" indent="0" marL="0">
                        <a:buNone/>
                      </a:pPr>
                      <a:r>
                        <a:rPr lang="en-US" sz="1100" dirty="0">
                          <a:solidFill>
                            <a:srgbClr val="222222"/>
                          </a:solidFill>
                        </a:rPr>
                        <a:t>split </a:t>
                      </a:r>
                      <a:pPr algn="l" indent="0" marL="0">
                        <a:buNone/>
                      </a:pPr>
                      <a:r>
                        <a:rPr lang="en-US" sz="1100" dirty="0">
                          <a:solidFill>
                            <a:srgbClr val="222222"/>
                          </a:solidFill>
                        </a:rPr>
                        <a:t>will </a:t>
                      </a:r>
                      <a:pPr algn="l" indent="0" marL="0">
                        <a:buNone/>
                      </a:pPr>
                      <a:r>
                        <a:rPr lang="en-US" sz="1100" dirty="0">
                          <a:solidFill>
                            <a:srgbClr val="222222"/>
                          </a:solidFill>
                        </a:rPr>
                        <a:t>likely </a:t>
                      </a:r>
                      <a:pPr algn="l" indent="0" marL="0">
                        <a:buNone/>
                      </a:pPr>
                      <a:r>
                        <a:rPr lang="en-US" sz="1100" dirty="0">
                          <a:solidFill>
                            <a:srgbClr val="222222"/>
                          </a:solidFill>
                        </a:rPr>
                        <a:t>be </a:t>
                      </a:r>
                      <a:pPr algn="l" indent="0" marL="0">
                        <a:buNone/>
                      </a:pPr>
                      <a:r>
                        <a:rPr lang="en-US" sz="1100" dirty="0">
                          <a:solidFill>
                            <a:srgbClr val="222222"/>
                          </a:solidFill>
                        </a:rPr>
                        <a:t>revised </a:t>
                      </a:r>
                      <a:pPr algn="l" indent="0" marL="0">
                        <a:buNone/>
                      </a:pPr>
                      <a:r>
                        <a:rPr lang="en-US" sz="1100" dirty="0">
                          <a:solidFill>
                            <a:srgbClr val="222222"/>
                          </a:solidFill>
                        </a:rPr>
                        <a:t>as </a:t>
                      </a:r>
                      <a:pPr algn="l" indent="0" marL="0">
                        <a:buNone/>
                      </a:pPr>
                      <a:r>
                        <a:rPr lang="en-US" sz="1100" dirty="0">
                          <a:solidFill>
                            <a:srgbClr val="222222"/>
                          </a:solidFill>
                        </a:rPr>
                        <a:t>health-facility </a:t>
                      </a:r>
                      <a:pPr algn="l" indent="0" marL="0">
                        <a:buNone/>
                      </a:pPr>
                      <a:r>
                        <a:rPr lang="en-US" sz="1100" dirty="0">
                          <a:solidFill>
                            <a:srgbClr val="222222"/>
                          </a:solidFill>
                        </a:rPr>
                        <a:t>and </a:t>
                      </a:r>
                      <a:pPr algn="l" indent="0" marL="0">
                        <a:buNone/>
                      </a:pPr>
                      <a:r>
                        <a:rPr lang="en-US" sz="1100" dirty="0">
                          <a:solidFill>
                            <a:srgbClr val="222222"/>
                          </a:solidFill>
                        </a:rPr>
                        <a:t>SAR </a:t>
                      </a:r>
                      <a:pPr algn="l" indent="0" marL="0">
                        <a:buNone/>
                      </a:pPr>
                      <a:r>
                        <a:rPr lang="en-US" sz="1100" dirty="0">
                          <a:solidFill>
                            <a:srgbClr val="222222"/>
                          </a:solidFill>
                        </a:rPr>
                        <a:t>records </a:t>
                      </a:r>
                      <a:pPr algn="l" indent="0" marL="0">
                        <a:buNone/>
                      </a:pPr>
                      <a:r>
                        <a:rPr lang="en-US" sz="1100" dirty="0">
                          <a:solidFill>
                            <a:srgbClr val="222222"/>
                          </a:solidFill>
                        </a:rPr>
                        <a:t>are </a:t>
                      </a:r>
                      <a:pPr algn="l" indent="0" marL="0">
                        <a:buNone/>
                      </a:pPr>
                      <a:r>
                        <a:rPr lang="en-US" sz="1100" dirty="0">
                          <a:solidFill>
                            <a:srgbClr val="222222"/>
                          </a:solidFill>
                        </a:rPr>
                        <a:t>reconciled.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Maximum </a:t>
                      </a:r>
                      <a:pPr algn="l" indent="0" marL="0">
                        <a:buNone/>
                      </a:pPr>
                      <a:r>
                        <a:rPr lang="en-US" sz="1100" dirty="0">
                          <a:solidFill>
                            <a:srgbClr val="222222"/>
                          </a:solidFill>
                        </a:rPr>
                        <a:t>tsunami </a:t>
                      </a:r>
                      <a:pPr algn="l" indent="0" marL="0">
                        <a:buNone/>
                      </a:pPr>
                      <a:r>
                        <a:rPr lang="en-US" sz="1100" dirty="0">
                          <a:solidFill>
                            <a:srgbClr val="222222"/>
                          </a:solidFill>
                        </a:rPr>
                        <a:t>run-up</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Secondary </a:t>
                      </a:r>
                      <a:pPr algn="l" indent="0" marL="0">
                        <a:buNone/>
                      </a:pPr>
                      <a:r>
                        <a:rPr lang="en-US" sz="1100" dirty="0">
                          <a:solidFill>
                            <a:srgbClr val="222222"/>
                          </a:solidFill>
                        </a:rPr>
                        <a:t>compilations </a:t>
                      </a:r>
                      <a:pPr algn="l" indent="0" marL="0">
                        <a:buNone/>
                      </a:pPr>
                      <a:r>
                        <a:rPr lang="en-US" sz="1100" dirty="0">
                          <a:solidFill>
                            <a:srgbClr val="222222"/>
                          </a:solidFill>
                        </a:rPr>
                        <a:t>cite </a:t>
                      </a:r>
                      <a:pPr algn="l" indent="0" marL="0">
                        <a:buNone/>
                      </a:pPr>
                      <a:r>
                        <a:rPr lang="en-US" sz="1100" dirty="0">
                          <a:solidFill>
                            <a:srgbClr val="222222"/>
                          </a:solidFill>
                        </a:rPr>
                        <a:t>1.61 </a:t>
                      </a:r>
                      <a:pPr algn="l" indent="0" marL="0">
                        <a:buNone/>
                      </a:pPr>
                      <a:r>
                        <a:rPr lang="en-US" sz="1100" dirty="0">
                          <a:solidFill>
                            <a:srgbClr val="222222"/>
                          </a:solidFill>
                        </a:rPr>
                        <a:t>m </a:t>
                      </a:r>
                      <a:pPr algn="l" indent="0" marL="0">
                        <a:buNone/>
                      </a:pPr>
                      <a:r>
                        <a:rPr lang="en-US" sz="1100" dirty="0">
                          <a:solidFill>
                            <a:srgbClr val="222222"/>
                          </a:solidFill>
                        </a:rPr>
                        <a:t>against </a:t>
                      </a:r>
                      <a:pPr algn="l" indent="0" marL="0">
                        <a:buNone/>
                      </a:pPr>
                      <a:r>
                        <a:rPr lang="en-US" sz="1100" dirty="0">
                          <a:solidFill>
                            <a:srgbClr val="222222"/>
                          </a:solidFill>
                        </a:rPr>
                        <a:t>a </a:t>
                      </a:r>
                      <a:pPr algn="l" indent="0" marL="0">
                        <a:buNone/>
                      </a:pPr>
                      <a:r>
                        <a:rPr lang="en-US" sz="1100" dirty="0">
                          <a:solidFill>
                            <a:srgbClr val="222222"/>
                          </a:solidFill>
                        </a:rPr>
                        <a:t>maximum </a:t>
                      </a:r>
                      <a:pPr algn="l" indent="0" marL="0">
                        <a:buNone/>
                      </a:pPr>
                      <a:r>
                        <a:rPr lang="en-US" sz="1100" dirty="0">
                          <a:solidFill>
                            <a:srgbClr val="222222"/>
                          </a:solidFill>
                        </a:rPr>
                        <a:t>BMKG </a:t>
                      </a:r>
                      <a:pPr algn="l" indent="0" marL="0">
                        <a:buNone/>
                      </a:pPr>
                      <a:r>
                        <a:rPr lang="en-US" sz="1100" dirty="0">
                          <a:solidFill>
                            <a:srgbClr val="222222"/>
                          </a:solidFill>
                        </a:rPr>
                        <a:t>gauge </a:t>
                      </a:r>
                      <a:pPr algn="l" indent="0" marL="0">
                        <a:buNone/>
                      </a:pPr>
                      <a:r>
                        <a:rPr lang="en-US" sz="1100" dirty="0">
                          <a:solidFill>
                            <a:srgbClr val="222222"/>
                          </a:solidFill>
                        </a:rPr>
                        <a:t>value </a:t>
                      </a:r>
                      <a:pPr algn="l" indent="0" marL="0">
                        <a:buNone/>
                      </a:pPr>
                      <a:r>
                        <a:rPr lang="en-US" sz="1100" dirty="0">
                          <a:solidFill>
                            <a:srgbClr val="222222"/>
                          </a:solidFill>
                        </a:rPr>
                        <a:t>of </a:t>
                      </a:r>
                      <a:pPr algn="l" indent="0" marL="0">
                        <a:buNone/>
                      </a:pPr>
                      <a:r>
                        <a:rPr lang="en-US" sz="1100" dirty="0">
                          <a:solidFill>
                            <a:srgbClr val="222222"/>
                          </a:solidFill>
                        </a:rPr>
                        <a:t>0.94 </a:t>
                      </a:r>
                      <a:pPr algn="l" indent="0" marL="0">
                        <a:buNone/>
                      </a:pPr>
                      <a:r>
                        <a:rPr lang="en-US" sz="1100" dirty="0">
                          <a:solidFill>
                            <a:srgbClr val="222222"/>
                          </a:solidFill>
                        </a:rPr>
                        <a:t>m. </a:t>
                      </a:r>
                      <a:pPr algn="l" indent="0" marL="0">
                        <a:buNone/>
                      </a:pPr>
                      <a:r>
                        <a:rPr lang="en-US" sz="1100" dirty="0">
                          <a:solidFill>
                            <a:srgbClr val="222222"/>
                          </a:solidFill>
                        </a:rPr>
                        <a:t>Identify </a:t>
                      </a:r>
                      <a:pPr algn="l" indent="0" marL="0">
                        <a:buNone/>
                      </a:pPr>
                      <a:r>
                        <a:rPr lang="en-US" sz="1100" dirty="0">
                          <a:solidFill>
                            <a:srgbClr val="222222"/>
                          </a:solidFill>
                        </a:rPr>
                        <a:t>the </a:t>
                      </a:r>
                      <a:pPr algn="l" indent="0" marL="0">
                        <a:buNone/>
                      </a:pPr>
                      <a:r>
                        <a:rPr lang="en-US" sz="1100" dirty="0">
                          <a:solidFill>
                            <a:srgbClr val="222222"/>
                          </a:solidFill>
                        </a:rPr>
                        <a:t>basis </a:t>
                      </a:r>
                      <a:pPr algn="l" indent="0" marL="0">
                        <a:buNone/>
                      </a:pPr>
                      <a:r>
                        <a:rPr lang="en-US" sz="1100" dirty="0">
                          <a:solidFill>
                            <a:srgbClr val="222222"/>
                          </a:solidFill>
                        </a:rPr>
                        <a:t>before </a:t>
                      </a:r>
                      <a:pPr algn="l" indent="0" marL="0">
                        <a:buNone/>
                      </a:pPr>
                      <a:r>
                        <a:rPr lang="en-US" sz="1100" dirty="0">
                          <a:solidFill>
                            <a:srgbClr val="222222"/>
                          </a:solidFill>
                        </a:rPr>
                        <a:t>citing.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USGS </a:t>
                      </a:r>
                      <a:pPr algn="l" indent="0" marL="0">
                        <a:buNone/>
                      </a:pPr>
                      <a:r>
                        <a:rPr lang="en-US" sz="1100" dirty="0">
                          <a:solidFill>
                            <a:srgbClr val="222222"/>
                          </a:solidFill>
                        </a:rPr>
                        <a:t>PAGER </a:t>
                      </a:r>
                      <a:pPr algn="l" indent="0" marL="0">
                        <a:buNone/>
                      </a:pPr>
                      <a:r>
                        <a:rPr lang="en-US" sz="1100" dirty="0">
                          <a:solidFill>
                            <a:srgbClr val="222222"/>
                          </a:solidFill>
                        </a:rPr>
                        <a:t>revision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alert </a:t>
                      </a:r>
                      <a:pPr algn="l" indent="0" marL="0">
                        <a:buNone/>
                      </a:pPr>
                      <a:r>
                        <a:rPr lang="en-US" sz="1100" dirty="0">
                          <a:solidFill>
                            <a:srgbClr val="222222"/>
                          </a:solidFill>
                        </a:rPr>
                        <a:t>level </a:t>
                      </a:r>
                      <a:pPr algn="l" indent="0" marL="0">
                        <a:buNone/>
                      </a:pPr>
                      <a:r>
                        <a:rPr lang="en-US" sz="1100" dirty="0">
                          <a:solidFill>
                            <a:srgbClr val="222222"/>
                          </a:solidFill>
                        </a:rPr>
                        <a:t>was </a:t>
                      </a:r>
                      <a:pPr algn="l" indent="0" marL="0">
                        <a:buNone/>
                      </a:pPr>
                      <a:r>
                        <a:rPr lang="en-US" sz="1100" dirty="0">
                          <a:solidFill>
                            <a:srgbClr val="222222"/>
                          </a:solidFill>
                        </a:rPr>
                        <a:t>revised </a:t>
                      </a:r>
                      <a:pPr algn="l" indent="0" marL="0">
                        <a:buNone/>
                      </a:pPr>
                      <a:r>
                        <a:rPr lang="en-US" sz="1100" dirty="0">
                          <a:solidFill>
                            <a:srgbClr val="222222"/>
                          </a:solidFill>
                        </a:rPr>
                        <a:t>upward </a:t>
                      </a:r>
                      <a:pPr algn="l" indent="0" marL="0">
                        <a:buNone/>
                      </a:pPr>
                      <a:r>
                        <a:rPr lang="en-US" sz="1100" dirty="0">
                          <a:solidFill>
                            <a:srgbClr val="222222"/>
                          </a:solidFill>
                        </a:rPr>
                        <a:t>after </a:t>
                      </a:r>
                      <a:pPr algn="l" indent="0" marL="0">
                        <a:buNone/>
                      </a:pPr>
                      <a:r>
                        <a:rPr lang="en-US" sz="1100" dirty="0">
                          <a:solidFill>
                            <a:srgbClr val="222222"/>
                          </a:solidFill>
                        </a:rPr>
                        <a:t>the </a:t>
                      </a:r>
                      <a:pPr algn="l" indent="0" marL="0">
                        <a:buNone/>
                      </a:pPr>
                      <a:r>
                        <a:rPr lang="en-US" sz="1100" dirty="0">
                          <a:solidFill>
                            <a:srgbClr val="222222"/>
                          </a:solidFill>
                        </a:rPr>
                        <a:t>toll </a:t>
                      </a:r>
                      <a:pPr algn="l" indent="0" marL="0">
                        <a:buNone/>
                      </a:pPr>
                      <a:r>
                        <a:rPr lang="en-US" sz="1100" dirty="0">
                          <a:solidFill>
                            <a:srgbClr val="222222"/>
                          </a:solidFill>
                        </a:rPr>
                        <a:t>reached </a:t>
                      </a:r>
                      <a:pPr algn="l" indent="0" marL="0">
                        <a:buNone/>
                      </a:pPr>
                      <a:r>
                        <a:rPr lang="en-US" sz="1100" dirty="0">
                          <a:solidFill>
                            <a:srgbClr val="222222"/>
                          </a:solidFill>
                        </a:rPr>
                        <a:t>105.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Emergency </a:t>
                      </a:r>
                      <a:pPr algn="l" indent="0" marL="0">
                        <a:buNone/>
                      </a:pPr>
                      <a:r>
                        <a:rPr lang="en-US" sz="1100" dirty="0">
                          <a:solidFill>
                            <a:srgbClr val="222222"/>
                          </a:solidFill>
                        </a:rPr>
                        <a:t>period </a:t>
                      </a:r>
                      <a:pPr algn="l" indent="0" marL="0">
                        <a:buNone/>
                      </a:pPr>
                      <a:r>
                        <a:rPr lang="en-US" sz="1100" dirty="0">
                          <a:solidFill>
                            <a:srgbClr val="222222"/>
                          </a:solidFill>
                        </a:rPr>
                        <a:t>after </a:t>
                      </a:r>
                      <a:pPr algn="l" indent="0" marL="0">
                        <a:buNone/>
                      </a:pPr>
                      <a:r>
                        <a:rPr lang="en-US" sz="1100" dirty="0">
                          <a:solidFill>
                            <a:srgbClr val="222222"/>
                          </a:solidFill>
                        </a:rPr>
                        <a:t>12 </a:t>
                      </a:r>
                      <a:pPr algn="l" indent="0" marL="0">
                        <a:buNone/>
                      </a:pPr>
                      <a:r>
                        <a:rPr lang="en-US" sz="1100" dirty="0">
                          <a:solidFill>
                            <a:srgbClr val="222222"/>
                          </a:solidFill>
                        </a:rPr>
                        <a:t>September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period </a:t>
                      </a:r>
                      <a:pPr algn="l" indent="0" marL="0">
                        <a:buNone/>
                      </a:pPr>
                      <a:r>
                        <a:rPr lang="en-US" sz="1100" dirty="0">
                          <a:solidFill>
                            <a:srgbClr val="222222"/>
                          </a:solidFill>
                        </a:rPr>
                        <a:t>is </a:t>
                      </a:r>
                      <a:pPr algn="l" indent="0" marL="0">
                        <a:buNone/>
                      </a:pPr>
                      <a:r>
                        <a:rPr lang="en-US" sz="1100" dirty="0">
                          <a:solidFill>
                            <a:srgbClr val="222222"/>
                          </a:solidFill>
                        </a:rPr>
                        <a:t>extended </a:t>
                      </a:r>
                      <a:pPr algn="l" indent="0" marL="0">
                        <a:buNone/>
                      </a:pPr>
                      <a:r>
                        <a:rPr lang="en-US" sz="1100" dirty="0">
                          <a:solidFill>
                            <a:srgbClr val="222222"/>
                          </a:solidFill>
                        </a:rPr>
                        <a:t>again </a:t>
                      </a:r>
                      <a:pPr algn="l" indent="0" marL="0">
                        <a:buNone/>
                      </a:pPr>
                      <a:r>
                        <a:rPr lang="en-US" sz="1100" dirty="0">
                          <a:solidFill>
                            <a:srgbClr val="222222"/>
                          </a:solidFill>
                        </a:rPr>
                        <a:t>or </a:t>
                      </a:r>
                      <a:pPr algn="l" indent="0" marL="0">
                        <a:buNone/>
                      </a:pPr>
                      <a:r>
                        <a:rPr lang="en-US" sz="1100" dirty="0">
                          <a:solidFill>
                            <a:srgbClr val="222222"/>
                          </a:solidFill>
                        </a:rPr>
                        <a:t>transitions </a:t>
                      </a:r>
                      <a:pPr algn="l" indent="0" marL="0">
                        <a:buNone/>
                      </a:pPr>
                      <a:r>
                        <a:rPr lang="en-US" sz="1100" dirty="0">
                          <a:solidFill>
                            <a:srgbClr val="222222"/>
                          </a:solidFill>
                        </a:rPr>
                        <a:t>formally </a:t>
                      </a:r>
                      <a:pPr algn="l" indent="0" marL="0">
                        <a:buNone/>
                      </a:pPr>
                      <a:r>
                        <a:rPr lang="en-US" sz="1100" dirty="0">
                          <a:solidFill>
                            <a:srgbClr val="222222"/>
                          </a:solidFill>
                        </a:rPr>
                        <a:t>to </a:t>
                      </a:r>
                      <a:pPr algn="l" indent="0" marL="0">
                        <a:buNone/>
                      </a:pPr>
                      <a:r>
                        <a:rPr lang="en-US" sz="1100" dirty="0">
                          <a:solidFill>
                            <a:srgbClr val="222222"/>
                          </a:solidFill>
                        </a:rPr>
                        <a:t>recovery.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Displacement </a:t>
                      </a:r>
                      <a:pPr algn="l" indent="0" marL="0">
                        <a:buNone/>
                      </a:pPr>
                      <a:r>
                        <a:rPr lang="en-US" sz="1100" dirty="0">
                          <a:solidFill>
                            <a:srgbClr val="222222"/>
                          </a:solidFill>
                        </a:rPr>
                        <a:t>drivers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attributes </a:t>
                      </a:r>
                      <a:pPr algn="l" indent="0" marL="0">
                        <a:buNone/>
                      </a:pPr>
                      <a:r>
                        <a:rPr lang="en-US" sz="1100" dirty="0">
                          <a:solidFill>
                            <a:srgbClr val="222222"/>
                          </a:solidFill>
                        </a:rPr>
                        <a:t>much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179,037 </a:t>
                      </a:r>
                      <a:pPr algn="l" indent="0" marL="0">
                        <a:buNone/>
                      </a:pPr>
                      <a:r>
                        <a:rPr lang="en-US" sz="1100" dirty="0">
                          <a:solidFill>
                            <a:srgbClr val="222222"/>
                          </a:solidFill>
                        </a:rPr>
                        <a:t>caseload </a:t>
                      </a:r>
                      <a:pPr algn="l" indent="0" marL="0">
                        <a:buNone/>
                      </a:pPr>
                      <a:r>
                        <a:rPr lang="en-US" sz="1100" dirty="0">
                          <a:solidFill>
                            <a:srgbClr val="222222"/>
                          </a:solidFill>
                        </a:rPr>
                        <a:t>to </a:t>
                      </a:r>
                      <a:pPr algn="l" indent="0" marL="0">
                        <a:buNone/>
                      </a:pPr>
                      <a:r>
                        <a:rPr lang="en-US" sz="1100" dirty="0">
                          <a:solidFill>
                            <a:srgbClr val="222222"/>
                          </a:solidFill>
                        </a:rPr>
                        <a:t>fear </a:t>
                      </a:r>
                      <a:pPr algn="l" indent="0" marL="0">
                        <a:buNone/>
                      </a:pPr>
                      <a:r>
                        <a:rPr lang="en-US" sz="1100" dirty="0">
                          <a:solidFill>
                            <a:srgbClr val="222222"/>
                          </a:solidFill>
                        </a:rPr>
                        <a:t>and </a:t>
                      </a:r>
                      <a:pPr algn="l" indent="0" marL="0">
                        <a:buNone/>
                      </a:pPr>
                      <a:r>
                        <a:rPr lang="en-US" sz="1100" dirty="0">
                          <a:solidFill>
                            <a:srgbClr val="222222"/>
                          </a:solidFill>
                        </a:rPr>
                        <a:t>hoaxes </a:t>
                      </a:r>
                      <a:pPr algn="l" indent="0" marL="0">
                        <a:buNone/>
                      </a:pPr>
                      <a:r>
                        <a:rPr lang="en-US" sz="1100" dirty="0">
                          <a:solidFill>
                            <a:srgbClr val="222222"/>
                          </a:solidFill>
                        </a:rPr>
                        <a:t>rather </a:t>
                      </a:r>
                      <a:pPr algn="l" indent="0" marL="0">
                        <a:buNone/>
                      </a:pPr>
                      <a:r>
                        <a:rPr lang="en-US" sz="1100" dirty="0">
                          <a:solidFill>
                            <a:srgbClr val="222222"/>
                          </a:solidFill>
                        </a:rPr>
                        <a:t>than </a:t>
                      </a:r>
                      <a:pPr algn="l" indent="0" marL="0">
                        <a:buNone/>
                      </a:pPr>
                      <a:r>
                        <a:rPr lang="en-US" sz="1100" dirty="0">
                          <a:solidFill>
                            <a:srgbClr val="222222"/>
                          </a:solidFill>
                        </a:rPr>
                        <a:t>housing </a:t>
                      </a:r>
                      <a:pPr algn="l" indent="0" marL="0">
                        <a:buNone/>
                      </a:pPr>
                      <a:r>
                        <a:rPr lang="en-US" sz="1100" dirty="0">
                          <a:solidFill>
                            <a:srgbClr val="222222"/>
                          </a:solidFill>
                        </a:rPr>
                        <a:t>loss; </a:t>
                      </a:r>
                      <a:pPr algn="l" indent="0" marL="0">
                        <a:buNone/>
                      </a:pPr>
                      <a:r>
                        <a:rPr lang="en-US" sz="1100" dirty="0">
                          <a:solidFill>
                            <a:srgbClr val="222222"/>
                          </a:solidFill>
                        </a:rPr>
                        <a:t>the </a:t>
                      </a:r>
                      <a:pPr algn="l" indent="0" marL="0">
                        <a:buNone/>
                      </a:pPr>
                      <a:r>
                        <a:rPr lang="en-US" sz="1100" dirty="0">
                          <a:solidFill>
                            <a:srgbClr val="222222"/>
                          </a:solidFill>
                        </a:rPr>
                        <a:t>shelter </a:t>
                      </a:r>
                      <a:pPr algn="l" indent="0" marL="0">
                        <a:buNone/>
                      </a:pPr>
                      <a:r>
                        <a:rPr lang="en-US" sz="1100" dirty="0">
                          <a:solidFill>
                            <a:srgbClr val="222222"/>
                          </a:solidFill>
                        </a:rPr>
                        <a:t>caseload </a:t>
                      </a:r>
                      <a:pPr algn="l" indent="0" marL="0">
                        <a:buNone/>
                      </a:pPr>
                      <a:r>
                        <a:rPr lang="en-US" sz="1100" dirty="0">
                          <a:solidFill>
                            <a:srgbClr val="222222"/>
                          </a:solidFill>
                        </a:rPr>
                        <a:t>may </a:t>
                      </a:r>
                      <a:pPr algn="l" indent="0" marL="0">
                        <a:buNone/>
                      </a:pPr>
                      <a:r>
                        <a:rPr lang="en-US" sz="1100" dirty="0">
                          <a:solidFill>
                            <a:srgbClr val="222222"/>
                          </a:solidFill>
                        </a:rPr>
                        <a:t>fall </a:t>
                      </a:r>
                      <a:pPr algn="l" indent="0" marL="0">
                        <a:buNone/>
                      </a:pPr>
                      <a:r>
                        <a:rPr lang="en-US" sz="1100" dirty="0">
                          <a:solidFill>
                            <a:srgbClr val="222222"/>
                          </a:solidFill>
                        </a:rPr>
                        <a:t>quickly </a:t>
                      </a:r>
                      <a:pPr algn="l" indent="0" marL="0">
                        <a:buNone/>
                      </a:pPr>
                      <a:r>
                        <a:rPr lang="en-US" sz="1100" dirty="0">
                          <a:solidFill>
                            <a:srgbClr val="222222"/>
                          </a:solidFill>
                        </a:rPr>
                        <a:t>once </a:t>
                      </a:r>
                      <a:pPr algn="l" indent="0" marL="0">
                        <a:buNone/>
                      </a:pPr>
                      <a:r>
                        <a:rPr lang="en-US" sz="1100" dirty="0">
                          <a:solidFill>
                            <a:srgbClr val="222222"/>
                          </a:solidFill>
                        </a:rPr>
                        <a:t>aftershocks </a:t>
                      </a:r>
                      <a:pPr algn="l" indent="0" marL="0">
                        <a:buNone/>
                      </a:pPr>
                      <a:r>
                        <a:rPr lang="en-US" sz="1100" dirty="0">
                          <a:solidFill>
                            <a:srgbClr val="222222"/>
                          </a:solidFill>
                        </a:rPr>
                        <a:t>subside.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Lewotobi </a:t>
                      </a:r>
                      <a:pPr algn="l" indent="0" marL="0">
                        <a:buNone/>
                      </a:pPr>
                      <a:r>
                        <a:rPr lang="en-US" sz="1100" dirty="0">
                          <a:solidFill>
                            <a:srgbClr val="222222"/>
                          </a:solidFill>
                        </a:rPr>
                        <a:t>Laki-laki </a:t>
                      </a:r>
                      <a:pPr algn="l" indent="0" marL="0">
                        <a:buNone/>
                      </a:pPr>
                      <a:r>
                        <a:rPr lang="en-US" sz="1100" dirty="0">
                          <a:solidFill>
                            <a:srgbClr val="222222"/>
                          </a:solidFill>
                        </a:rPr>
                        <a:t>eruption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Flores </a:t>
                      </a:r>
                      <a:pPr algn="l" indent="0" marL="0">
                        <a:buNone/>
                      </a:pPr>
                      <a:r>
                        <a:rPr lang="en-US" sz="1100" dirty="0">
                          <a:solidFill>
                            <a:srgbClr val="222222"/>
                          </a:solidFill>
                        </a:rPr>
                        <a:t>Timur </a:t>
                      </a:r>
                      <a:pPr algn="l" indent="0" marL="0">
                        <a:buNone/>
                      </a:pPr>
                      <a:r>
                        <a:rPr lang="en-US" sz="1100" dirty="0">
                          <a:solidFill>
                            <a:srgbClr val="222222"/>
                          </a:solidFill>
                        </a:rPr>
                        <a:t>is </a:t>
                      </a:r>
                      <a:pPr algn="l" indent="0" marL="0">
                        <a:buNone/>
                      </a:pPr>
                      <a:r>
                        <a:rPr lang="en-US" sz="1100" dirty="0">
                          <a:solidFill>
                            <a:srgbClr val="222222"/>
                          </a:solidFill>
                        </a:rPr>
                        <a:t>outside </a:t>
                      </a:r>
                      <a:pPr algn="l" indent="0" marL="0">
                        <a:buNone/>
                      </a:pPr>
                      <a:r>
                        <a:rPr lang="en-US" sz="1100" dirty="0">
                          <a:solidFill>
                            <a:srgbClr val="222222"/>
                          </a:solidFill>
                        </a:rPr>
                        <a:t>the </a:t>
                      </a:r>
                      <a:pPr algn="l" indent="0" marL="0">
                        <a:buNone/>
                      </a:pPr>
                      <a:r>
                        <a:rPr lang="en-US" sz="1100" dirty="0">
                          <a:solidFill>
                            <a:srgbClr val="222222"/>
                          </a:solidFill>
                        </a:rPr>
                        <a:t>earthquake-affected </a:t>
                      </a:r>
                      <a:pPr algn="l" indent="0" marL="0">
                        <a:buNone/>
                      </a:pPr>
                      <a:r>
                        <a:rPr lang="en-US" sz="1100" dirty="0">
                          <a:solidFill>
                            <a:srgbClr val="222222"/>
                          </a:solidFill>
                        </a:rPr>
                        <a:t>area </a:t>
                      </a:r>
                      <a:pPr algn="l" indent="0" marL="0">
                        <a:buNone/>
                      </a:pPr>
                      <a:r>
                        <a:rPr lang="en-US" sz="1100" dirty="0">
                          <a:solidFill>
                            <a:srgbClr val="222222"/>
                          </a:solidFill>
                        </a:rPr>
                        <a:t>but </a:t>
                      </a:r>
                      <a:pPr algn="l" indent="0" marL="0">
                        <a:buNone/>
                      </a:pPr>
                      <a:r>
                        <a:rPr lang="en-US" sz="1100" dirty="0">
                          <a:solidFill>
                            <a:srgbClr val="222222"/>
                          </a:solidFill>
                        </a:rPr>
                        <a:t>under </a:t>
                      </a:r>
                      <a:pPr algn="l" indent="0" marL="0">
                        <a:buNone/>
                      </a:pPr>
                      <a:r>
                        <a:rPr lang="en-US" sz="1100" dirty="0">
                          <a:solidFill>
                            <a:srgbClr val="222222"/>
                          </a:solidFill>
                        </a:rPr>
                        <a:t>volcanic </a:t>
                      </a:r>
                      <a:pPr algn="l" indent="0" marL="0">
                        <a:buNone/>
                      </a:pPr>
                      <a:r>
                        <a:rPr lang="en-US" sz="1100" dirty="0">
                          <a:solidFill>
                            <a:srgbClr val="222222"/>
                          </a:solidFill>
                        </a:rPr>
                        <a:t>response; </a:t>
                      </a:r>
                      <a:pPr algn="l" indent="0" marL="0">
                        <a:buNone/>
                      </a:pPr>
                      <a:r>
                        <a:rPr lang="en-US" sz="1100" dirty="0">
                          <a:solidFill>
                            <a:srgbClr val="222222"/>
                          </a:solidFill>
                        </a:rPr>
                        <a:t>watch </a:t>
                      </a:r>
                      <a:pPr algn="l" indent="0" marL="0">
                        <a:buNone/>
                      </a:pPr>
                      <a:r>
                        <a:rPr lang="en-US" sz="1100" dirty="0">
                          <a:solidFill>
                            <a:srgbClr val="222222"/>
                          </a:solidFill>
                        </a:rPr>
                        <a:t>for </a:t>
                      </a:r>
                      <a:pPr algn="l" indent="0" marL="0">
                        <a:buNone/>
                      </a:pPr>
                      <a:r>
                        <a:rPr lang="en-US" sz="1100" dirty="0">
                          <a:solidFill>
                            <a:srgbClr val="222222"/>
                          </a:solidFill>
                        </a:rPr>
                        <a:t>compounding </a:t>
                      </a:r>
                      <a:pPr algn="l" indent="0" marL="0">
                        <a:buNone/>
                      </a:pPr>
                      <a:r>
                        <a:rPr lang="en-US" sz="1100" dirty="0">
                          <a:solidFill>
                            <a:srgbClr val="222222"/>
                          </a:solidFill>
                        </a:rPr>
                        <a:t>demands </a:t>
                      </a:r>
                      <a:pPr algn="l" indent="0" marL="0">
                        <a:buNone/>
                      </a:pPr>
                      <a:r>
                        <a:rPr lang="en-US" sz="1100" dirty="0">
                          <a:solidFill>
                            <a:srgbClr val="222222"/>
                          </a:solidFill>
                        </a:rPr>
                        <a:t>on </a:t>
                      </a:r>
                      <a:pPr algn="l" indent="0" marL="0">
                        <a:buNone/>
                      </a:pPr>
                      <a:r>
                        <a:rPr lang="en-US" sz="1100" dirty="0">
                          <a:solidFill>
                            <a:srgbClr val="222222"/>
                          </a:solidFill>
                        </a:rPr>
                        <a:t>NTT </a:t>
                      </a:r>
                      <a:pPr algn="l" indent="0" marL="0">
                        <a:buNone/>
                      </a:pPr>
                      <a:r>
                        <a:rPr lang="en-US" sz="1100" dirty="0">
                          <a:solidFill>
                            <a:srgbClr val="222222"/>
                          </a:solidFill>
                        </a:rPr>
                        <a:t>provincial </a:t>
                      </a:r>
                      <a:pPr algn="l" indent="0" marL="0">
                        <a:buNone/>
                      </a:pPr>
                      <a:r>
                        <a:rPr lang="en-US" sz="1100" dirty="0">
                          <a:solidFill>
                            <a:srgbClr val="222222"/>
                          </a:solidFill>
                        </a:rPr>
                        <a:t>capacity.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Low</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27</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Indonesia: Earthquake, Aug 2026 (GLIDE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7.7, 68 km NNW of Ende,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Earthquake in Indonesia,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 / DG ECHO daily map - Indonesia 7.7 M earthquake and tsunami (18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Earthquake in Flores region,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 Update 3: M7.7 East Nusa Tenggara Earthquake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Meteorology, Climatology and Geophysical Agency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Weekly Disaster Update 17-23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Situation Report No. 6 (25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27</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(2/4)</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 news index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BNPB accelerates rehabilitation; house damage by regency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power and telecommunications 100% restored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BNPB: 105 deaths, 179,037 evacuees, 81,436 houses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- 19 puskesmas not yet recovered, 122 tents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 - emergency period extended to 12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press release on recovery cooperation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(17 Aug 2026, day-1 data, superseded)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Asia-Pacific El Nino / Middle East snapshot, 28 Aug 2026 (regional, not earthquake-specific)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 community support update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- 15,000 litres clean water distribution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27</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(3/4)</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33 (10-16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Rohingya refugee response flash appeal (unrelated crisis)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(MPBI) - Situation Report No. 7 (28 Aug 2026, BNPB dashboard as of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35 (24-30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Protection needs of women and girls, Flores earthquake (2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Anticipating the impact of El Niño 2026 (Indonesia, national)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 Anak Krakatau volcanic eruption - DG ECHO Daily Map (07/09/2026)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(Save the Children)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(duplicate ReliefWeb listing)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36 (31 Aug - 6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27</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(4/4)</a:t>
            </a:r>
            <a:endParaRPr lang="en-US" sz="2100" dirty="0"/>
          </a:p>
        </p:txBody>
      </p:sp>
      <p:pic>
        <p:nvPicPr>
          <p:cNvPr id="3" name="Image 0" descr="/tmp/build_event-DEW3B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37 (7-13 Sep 2026, posted 14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https://reliefweb.int/report/philippines/asean-weekly-disaster-update-week-37-7-13-september-2026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Indonesia prepares housing aid for NTT quake victims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https://en.antaranews.com/news/428627/indonesia-prepares-housing-aid-for-ntt-quake-victims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BNPB reports NTT quake evacuees decline as aftershocks begin to ease (30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https://en.antaranews.com/news/429081/bnpb-reports-ntt-quake-evacuees-decline-as-aftershocks-begin-to-ease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NTT earthquake: 17 road sections, 14 bridges restored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https://en.antaranews.com/news/429936/ntt-earthquake-17-road-sections-14-bridges-restored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- 1,931 education facilities resume classes after NTT quake (5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https://en.antaranews.com/news/430027/1931-education-facilities-resume-classes-after-ntt-quake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Minister urges NTT regions to optimize Rp200 billion quake funds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https://en.antaranews.com/news/430328/minister-urges-ntt-regions-to-optimize-rp200-billion-quake-funds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Ministry sends 160 health workers to NTT for earthquake trauma care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https://en.antaranews.com/news/430347/ministry-sends-160-health-workers-to-ntt-for-earthquake-trauma-care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Flores aftershocks decline, residents urged to remain vigilant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https://en.antaranews.com/news/430597/flores-aftershocks-decline-residents-urged-to-remain-vigilant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27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2026-09-14T22:49:57Z</dcterms:created>
  <dcterms:modified xsi:type="dcterms:W3CDTF">2026-09-14T22:49:57Z</dcterms:modified>
</cp:coreProperties>
</file>