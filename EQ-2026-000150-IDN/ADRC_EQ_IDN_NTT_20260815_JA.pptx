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image" Target="../media/image-20-3.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2" Type="http://schemas.openxmlformats.org/officeDocument/2006/relationships/hyperlink" Target="https://www.bnpb.go.id/berita" TargetMode="External"/><Relationship Id="rId1" Type="http://schemas.openxmlformats.org/officeDocument/2006/relationships/image" Target="../media/image-27-1.png"/><Relationship Id="rId13" Type="http://schemas.openxmlformats.org/officeDocument/2006/relationships/slideLayout" Target="../slideLayouts/slideLayout1.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3" Type="http://schemas.openxmlformats.org/officeDocument/2006/relationships/hyperlink" Target="https://www.antaranews.com/berita/5709283/bnpb-listrik-dan-sinyal-di-flores-pulih-100-persen-pascagempa" TargetMode="External"/><Relationship Id="rId4" Type="http://schemas.openxmlformats.org/officeDocument/2006/relationships/hyperlink" Target="https://news.harianjogja.com/r-1268934/update-gempa-flores-105-orang-meninggal-dan-81436-rumah-terdampak" TargetMode="External"/><Relationship Id="rId5" Type="http://schemas.openxmlformats.org/officeDocument/2006/relationships/hyperlink" Target="https://news.harianjogja.com/r-1268964/gempa-flores-19-puskesmas-belum-pulih-dan-122-tenda-disiapkan" TargetMode="External"/><Relationship Id="rId6" Type="http://schemas.openxmlformats.org/officeDocument/2006/relationships/hyperlink" Target="https://haluanntt.com/2026/08/27/pemprov-ntt-perpanjang-tanggap-darurat-gempa-flores-hingga-12-september-2026/" TargetMode="External"/><Relationship Id="rId7" Type="http://schemas.openxmlformats.org/officeDocument/2006/relationships/hyperlink" Target="https://www.bmkg.go.id/siaran-pers/bmkg-pemerintah-pusat-dan-pemerintah-daerah-kolaborasi-percepat-pemulihan-bencana-gempa-flores" TargetMode="External"/><Relationship Id="rId8" Type="http://schemas.openxmlformats.org/officeDocument/2006/relationships/hyperlink" Target="https://reliefweb.int/report/indonesia/flash-update-no-1-m77-earthquake-east-nusa-tenggara-indonesia-15-august-2026" TargetMode="External"/><Relationship Id="rId9" Type="http://schemas.openxmlformats.org/officeDocument/2006/relationships/hyperlink" Target="https://reliefweb.int/report/indonesia/asia-and-pacific-snapshot-el-nino-middle-east-crisis-28-august-2026" TargetMode="External"/><Relationship Id="rId10" Type="http://schemas.openxmlformats.org/officeDocument/2006/relationships/hyperlink" Target="https://reliefweb.int/report/indonesia/caritas-indonesia-stands-communities-affected-earthquake" TargetMode="External"/><Relationship Id="rId11" Type="http://schemas.openxmlformats.org/officeDocument/2006/relationships/hyperlink" Target="https://reliefweb.int/report/indonesia/care-indonesia-distributes-15000-litres-clean-water-earthquake-survivors" TargetMode="External"/><Relationship Id="rId12" Type="http://schemas.openxmlformats.org/officeDocument/2006/relationships/hyperlink" Target="https://reliefweb.int/report/indonesia/asean-weekly-disaster-update-week-33-10-16-august-2026"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reliefweb.int/report/indonesia/iom-flash-appeal-rohingya-refugee-response-january-december-2026" TargetMode="External"/><Relationship Id="rId3" Type="http://schemas.openxmlformats.org/officeDocument/2006/relationships/hyperlink" Target="https://reliefweb.int/report/indonesia/indonesian-humanitarian-coordination-platform-situation-report-no-7-earthquake-and-tsunami-flores-and-surrounding-areas-28-august-2026" TargetMode="External"/><Relationship Id="rId4" Type="http://schemas.openxmlformats.org/officeDocument/2006/relationships/hyperlink" Target="https://reliefweb.int/report/indonesia/asean-weekly-disaster-update-week-35-24-30-august-2026" TargetMode="External"/><Relationship Id="rId5" Type="http://schemas.openxmlformats.org/officeDocument/2006/relationships/hyperlink" Target="https://reliefweb.int/report/indonesia/gender-alert-1-critical-protection-needs-women-and-girls-following-flores-earthquake-indonesia" TargetMode="External"/><Relationship Id="rId6" Type="http://schemas.openxmlformats.org/officeDocument/2006/relationships/hyperlink" Target="https://reliefweb.int/report/indonesia/gender-alert-1-anticipating-impact-el-nino-2026-women-girls-and-vulnerable-groups-indonesia" TargetMode="External"/><Relationship Id="rId7" Type="http://schemas.openxmlformats.org/officeDocument/2006/relationships/hyperlink" Target="https://reliefweb.int/map/indonesia/indonesia-anak-krakatau-volcanic-eruption-dg-echo-daily-map-07092026" TargetMode="External"/><Relationship Id="rId8" Type="http://schemas.openxmlformats.org/officeDocument/2006/relationships/hyperlink" Target="https://reliefweb.int/report/indonesia/indonesia-wildfire-haze-threatens-children-across-se-asia-and-closes-schools" TargetMode="External"/><Relationship Id="rId9" Type="http://schemas.openxmlformats.org/officeDocument/2006/relationships/hyperlink" Target="https://reliefweb.int/report/indonesia/indonesia-wildfire-haze-threatens-children-across-se-asia-and-closes-schools-save-children" TargetMode="External"/><Relationship Id="rId10" Type="http://schemas.openxmlformats.org/officeDocument/2006/relationships/hyperlink" Target="https://reliefweb.int/report/philippines/asean-weekly-disaster-update-week-36-31-august-6-september-2026" TargetMode="External"/><Relationship Id="rId11" Type="http://schemas.openxmlformats.org/officeDocument/2006/relationships/hyperlink" Target="https://reliefweb.int/report/philippines/asean-weekly-disaster-update-week-37-7-13-september-2026" TargetMode="External"/><Relationship Id="rId1" Type="http://schemas.openxmlformats.org/officeDocument/2006/relationships/image" Target="../media/image-29-1.png"/><Relationship Id="rId12" Type="http://schemas.openxmlformats.org/officeDocument/2006/relationships/slideLayout" Target="../slideLayouts/slideLayout1.xml"/><Relationship Id="rId1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n.antaranews.com/news/428627/indonesia-prepares-housing-aid-for-ntt-quake-victims" TargetMode="External"/><Relationship Id="rId3" Type="http://schemas.openxmlformats.org/officeDocument/2006/relationships/hyperlink" Target="https://en.antaranews.com/news/429081/bnpb-reports-ntt-quake-evacuees-decline-as-aftershocks-begin-to-ease" TargetMode="External"/><Relationship Id="rId4" Type="http://schemas.openxmlformats.org/officeDocument/2006/relationships/hyperlink" Target="https://en.antaranews.com/news/429936/ntt-earthquake-17-road-sections-14-bridges-restored" TargetMode="External"/><Relationship Id="rId5" Type="http://schemas.openxmlformats.org/officeDocument/2006/relationships/hyperlink" Target="https://en.antaranews.com/news/430027/1931-education-facilities-resume-classes-after-ntt-quake" TargetMode="External"/><Relationship Id="rId6" Type="http://schemas.openxmlformats.org/officeDocument/2006/relationships/hyperlink" Target="https://en.antaranews.com/news/430328/minister-urges-ntt-regions-to-optimize-rp200-billion-quake-funds" TargetMode="External"/><Relationship Id="rId7" Type="http://schemas.openxmlformats.org/officeDocument/2006/relationships/hyperlink" Target="https://en.antaranews.com/news/430347/ministry-sends-160-health-workers-to-ntt-for-earthquake-trauma-care" TargetMode="External"/><Relationship Id="rId8" Type="http://schemas.openxmlformats.org/officeDocument/2006/relationships/hyperlink" Target="https://en.antaranews.com/news/430597/flores-aftershocks-decline-residents-urged-to-remain-vigilant" TargetMode="External"/><Relationship Id="rId9" Type="http://schemas.openxmlformats.org/officeDocument/2006/relationships/hyperlink" Target="https://reliefweb.int/report/indonesia/unhcr-indonesia-2026-funding-update-31-august-2026" TargetMode="External"/><Relationship Id="rId10" Type="http://schemas.openxmlformats.org/officeDocument/2006/relationships/hyperlink" Target="https://reliefweb.int/report/indonesia/indonesian-humanitarian-coordination-platform-situation-report-no-9-earthquake-and-tsunami-flores-and-surrounding-areas-14-september-2026" TargetMode="External"/><Relationship Id="rId11" Type="http://schemas.openxmlformats.org/officeDocument/2006/relationships/hyperlink" Target="https://tirto.id/sebulan-usai-gempa-ntt-94-orang-tewas-di-pengungsian-hCXo" TargetMode="External"/><Relationship Id="rId12" Type="http://schemas.openxmlformats.org/officeDocument/2006/relationships/hyperlink" Target="https://news.republika.co.id/berita/tlicbu409/bnpb-klarifikasi-data-94-korban-gempa-flores-ntt-meninggal-di-pengungsian" TargetMode="External"/><Relationship Id="rId1" Type="http://schemas.openxmlformats.org/officeDocument/2006/relationships/image" Target="../media/image-30-1.png"/><Relationship Id="rId13" Type="http://schemas.openxmlformats.org/officeDocument/2006/relationships/slideLayout" Target="../slideLayouts/slideLayout1.xm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nasional.kompas.com/read/2026/09/17/14301031/94-orang-meninggal-di-pengungsian-gempa-ntt-anggota-dpr-dorong-audit" TargetMode="External"/><Relationship Id="rId3" Type="http://schemas.openxmlformats.org/officeDocument/2006/relationships/hyperlink" Target="https://www.antaranews.com/berita/5742093/jumlah-pengungsi-gempa-ntt-menurun-signifikan-kini-46461-jiwa" TargetMode="External"/><Relationship Id="rId4" Type="http://schemas.openxmlformats.org/officeDocument/2006/relationships/hyperlink" Target="https://www.antaranews.com/berita/5735263/bnpb-korban-gempa-ntt-capai-136-jiwa-70-persen-rumah-terverifikasi" TargetMode="External"/><Relationship Id="rId5" Type="http://schemas.openxmlformats.org/officeDocument/2006/relationships/hyperlink" Target="https://www.antaranews.com/berita/5745161/pascagempa-ntt-pemerintah-kolaborasi-benahi-sanitasi-cegah-stunting" TargetMode="External"/><Relationship Id="rId6" Type="http://schemas.openxmlformats.org/officeDocument/2006/relationships/hyperlink" Target="https://nasional.kompas.com/read/2026/09/17/17144961/bnpb-luruskan-data-94-warga-meninggal-di-pengungsian-gempa-ntt-disebabkan" TargetMode="External"/><Relationship Id="rId7" Type="http://schemas.openxmlformats.org/officeDocument/2006/relationships/hyperlink" Target="https://nasional.kompas.com/read/2026/09/17/21491021/amnesty-international-soroti-kematian-94-warga-di-pengungsian-gempa-ntt" TargetMode="External"/><Relationship Id="rId8" Type="http://schemas.openxmlformats.org/officeDocument/2006/relationships/hyperlink" Target="https://nasional.kompas.com/read/2026/09/15/16512731/bnpb-ungkap-94-korban-gempa-ntt-meninggal-di-pengungsian" TargetMode="External"/><Relationship Id="rId9" Type="http://schemas.openxmlformats.org/officeDocument/2006/relationships/hyperlink" Target="https://www.antaranews.com/berita/5746076/pemprov-ntt-konsolidasikan-satu-data-percepat-pemulihan-gempa-flores" TargetMode="External"/><Relationship Id="rId10" Type="http://schemas.openxmlformats.org/officeDocument/2006/relationships/hyperlink" Target="https://regional.kompas.com/read/2026/09/21/140540378/gempa-susulan-flores-m77-capai-17073-kali-198-kali-dirasakan-warga" TargetMode="External"/><Relationship Id="rId11" Type="http://schemas.openxmlformats.org/officeDocument/2006/relationships/hyperlink" Target="https://regional.kompas.com/read/2026/09/21/120040378/gempa-m-51-guncang-manggarai-timur-terasa-di-sejumlah-daerah" TargetMode="External"/><Relationship Id="rId12" Type="http://schemas.openxmlformats.org/officeDocument/2006/relationships/hyperlink" Target="https://regional.kompas.com/read/2026/09/21/090000378/gempa-m-53-guncang-manggarai-bmkg-tidak-berpotensi-tsunami" TargetMode="External"/><Relationship Id="rId1" Type="http://schemas.openxmlformats.org/officeDocument/2006/relationships/image" Target="../media/image-31-1.png"/><Relationship Id="rId13" Type="http://schemas.openxmlformats.org/officeDocument/2006/relationships/slideLayout" Target="../slideLayouts/slideLayout1.xml"/><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regional.kompas.com/read/2026/09/21/174624178/baru-3-hari-dibangun-huntara-korban-gempa-di-manggarai-timur-roboh" TargetMode="External"/><Relationship Id="rId3" Type="http://schemas.openxmlformats.org/officeDocument/2006/relationships/hyperlink" Target="https://regional.kompas.com/read/2026/09/21/151815278/disorot-mendagri-soal-dana-gempa-rp-20-miliar-pemda-sikka-tersisa-rp-17" TargetMode="External"/><Relationship Id="rId4" Type="http://schemas.openxmlformats.org/officeDocument/2006/relationships/hyperlink" Target="https://regional.kompas.com/read/2026/09/21/164050278/227-anak-terdampak-gempa-flores-ikuti-trauma-healing-di-manggarai" TargetMode="External"/><Relationship Id="rId5" Type="http://schemas.openxmlformats.org/officeDocument/2006/relationships/hyperlink" Target="https://regional.kompas.com/read/2026/09/18/06192401/tito-presiden-prabowo-tambah-alokasi-belanja-tidak-terduga-di-ntt-rp-20" TargetMode="External"/><Relationship Id="rId6" Type="http://schemas.openxmlformats.org/officeDocument/2006/relationships/hyperlink" Target="https://reliefweb.int/report/indonesia/asean-weekly-disaster-update-week-32-3-9-august-2026" TargetMode="External"/><Relationship Id="rId7" Type="http://schemas.openxmlformats.org/officeDocument/2006/relationships/hyperlink" Target="https://reliefweb.int/report/indonesia/care-responding-indonesia-earthquake" TargetMode="External"/><Relationship Id="rId8" Type="http://schemas.openxmlformats.org/officeDocument/2006/relationships/hyperlink" Target="https://reliefweb.int/report/indonesia/flores-earthquake-512-schools-affected-plan-indonesia-urges-education-recovery-be-prioritized" TargetMode="External"/><Relationship Id="rId9" Type="http://schemas.openxmlformats.org/officeDocument/2006/relationships/hyperlink" Target="https://reliefweb.int/report/indonesia/flores-earthquake-children-face-serious-health-and-safety-risks-amid-prolonged-displacement" TargetMode="External"/><Relationship Id="rId10" Type="http://schemas.openxmlformats.org/officeDocument/2006/relationships/hyperlink" Target="https://reliefweb.int/report/indonesia/idn-earthquake-08-2026-field-report-update-2-m77-east-nusa-tenggara-earthquake-3-2026-08-18" TargetMode="External"/><Relationship Id="rId11" Type="http://schemas.openxmlformats.org/officeDocument/2006/relationships/hyperlink" Target="https://reliefweb.int/report/indonesia/indonesia-77-earthquake-strikes-flores-plan-indonesia-warns-grave-risks-children-and-girls" TargetMode="External"/><Relationship Id="rId12" Type="http://schemas.openxmlformats.org/officeDocument/2006/relationships/hyperlink" Target="https://reliefweb.int/report/indonesia/indonesia-earthquake-situation-overview-18-august-2026" TargetMode="External"/><Relationship Id="rId1" Type="http://schemas.openxmlformats.org/officeDocument/2006/relationships/image" Target="../media/image-32-1.pn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reliefweb.int/report/indonesia/indonesia-over-8000-children-face-disruptions-education-following-deadly-earthquake-save-children" TargetMode="External"/><Relationship Id="rId3" Type="http://schemas.openxmlformats.org/officeDocument/2006/relationships/hyperlink" Target="https://reliefweb.int/report/indonesia/indonesian-humanitarian-coordination-platform-situation-report-no-3-earthquake-and-tsunami-flores-and-surrounding-areas-19-august-2026" TargetMode="External"/><Relationship Id="rId4" Type="http://schemas.openxmlformats.org/officeDocument/2006/relationships/hyperlink" Target="https://reliefweb.int/report/indonesia/world-vision-launches-emergency-response-death-toll-rises-following-powerful-indonesia-earthquake" TargetMode="External"/><Relationship Id="rId5" Type="http://schemas.openxmlformats.org/officeDocument/2006/relationships/hyperlink" Target="https://reliefweb.int/report/indonesia/indonesia-flores-earthquake-response-dref-operation-mdrid029" TargetMode="External"/><Relationship Id="rId6" Type="http://schemas.openxmlformats.org/officeDocument/2006/relationships/hyperlink" Target="https://reliefweb.int/report/indonesia/indonesian-humanitarian-coordination-platform-situation-report-no-8-earthquake-and-tsunami-flores-and-surrounding-areas-september-1-2026" TargetMode="External"/><Relationship Id="rId7" Type="http://schemas.openxmlformats.org/officeDocument/2006/relationships/hyperlink" Target="https://www.antaranews.com/berita/5754315/bnpb-tegaskan-huntara-di-manggarai-timur-kokoh-dan-tahan-gempa" TargetMode="External"/><Relationship Id="rId8" Type="http://schemas.openxmlformats.org/officeDocument/2006/relationships/hyperlink" Target="https://www.antaranews.com/berita/5749213/komisi-x-dpr-desak-percepatan-pemulihan-sekolah-terdampak-gempa-ntt" TargetMode="External"/><Relationship Id="rId9" Type="http://schemas.openxmlformats.org/officeDocument/2006/relationships/hyperlink" Target="https://regional.kompas.com/read/2026/09/25/165607778/korban-gempa-flores-di-manggarai-barat-dapat-dana-tunggu-hunian-rp-600000" TargetMode="External"/><Relationship Id="rId1" Type="http://schemas.openxmlformats.org/officeDocument/2006/relationships/image" Target="../media/image-33-1.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ax1X3g/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ax1X3g/generator/images/EQ-2026-000150-IDN/locator_world_ja.pn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ax1X3g/generator/images/EQ-2026-000150-IDN/locator_region_ja.pn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ax1X3g/generator/images/EQ-2026-000150-IDN/locator_flores.pn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33092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835658"/>
            <a:ext cx="1750297" cy="495268"/>
          </a:xfrm>
          <a:prstGeom prst="line">
            <a:avLst/>
          </a:prstGeom>
          <a:noFill/>
          <a:ln w="19050">
            <a:solidFill>
              <a:srgbClr val="C00000"/>
            </a:solidFill>
            <a:prstDash val="solid"/>
          </a:ln>
        </p:spPr>
      </p:sp>
      <p:sp>
        <p:nvSpPr>
          <p:cNvPr id="24" name="Shape 18"/>
          <p:cNvSpPr/>
          <p:nvPr/>
        </p:nvSpPr>
        <p:spPr>
          <a:xfrm>
            <a:off x="2608343" y="3565675"/>
            <a:ext cx="1750297" cy="853163"/>
          </a:xfrm>
          <a:prstGeom prst="line">
            <a:avLst/>
          </a:prstGeom>
          <a:noFill/>
          <a:ln w="19050">
            <a:solidFill>
              <a:srgbClr val="C00000"/>
            </a:solidFill>
            <a:prstDash val="solid"/>
          </a:ln>
        </p:spPr>
      </p:sp>
      <p:sp>
        <p:nvSpPr>
          <p:cNvPr id="25" name="Shape 19"/>
          <p:cNvSpPr/>
          <p:nvPr/>
        </p:nvSpPr>
        <p:spPr>
          <a:xfrm>
            <a:off x="5713374" y="274748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835658"/>
            <a:ext cx="1903374" cy="911829"/>
          </a:xfrm>
          <a:prstGeom prst="line">
            <a:avLst/>
          </a:prstGeom>
          <a:noFill/>
          <a:ln w="19050">
            <a:solidFill>
              <a:srgbClr val="C00000"/>
            </a:solidFill>
            <a:prstDash val="solid"/>
          </a:ln>
        </p:spPr>
      </p:sp>
      <p:sp>
        <p:nvSpPr>
          <p:cNvPr id="27" name="Shape 21"/>
          <p:cNvSpPr/>
          <p:nvPr/>
        </p:nvSpPr>
        <p:spPr>
          <a:xfrm>
            <a:off x="6448146" y="3562015"/>
            <a:ext cx="1903374" cy="856823"/>
          </a:xfrm>
          <a:prstGeom prst="line">
            <a:avLst/>
          </a:prstGeom>
          <a:noFill/>
          <a:ln w="19050">
            <a:solidFill>
              <a:srgbClr val="C00000"/>
            </a:solidFill>
            <a:prstDash val="solid"/>
          </a:ln>
        </p:spPr>
      </p:sp>
      <p:sp>
        <p:nvSpPr>
          <p:cNvPr id="28" name="Shape 22"/>
          <p:cNvSpPr/>
          <p:nvPr/>
        </p:nvSpPr>
        <p:spPr>
          <a:xfrm>
            <a:off x="0" y="4736592"/>
            <a:ext cx="12188952" cy="1591056"/>
          </a:xfrm>
          <a:prstGeom prst="rect">
            <a:avLst/>
          </a:prstGeom>
          <a:solidFill>
            <a:srgbClr val="262626"/>
          </a:solidFill>
          <a:ln w="12700">
            <a:solidFill>
              <a:srgbClr val="333333"/>
            </a:solidFill>
            <a:prstDash val="solid"/>
          </a:ln>
        </p:spPr>
      </p:sp>
      <p:sp>
        <p:nvSpPr>
          <p:cNvPr id="29" name="Text 23"/>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31日09:00 WIB時点で死者120人、負傷1,658人、避難者約188,673人と発表した。その後9月15日、保健省との合同検証を経て、死者を142人（直接死48人＋避難所での間接死94人）、負傷を1,603人へ修正した。間接死の多くは持病のある高齢避難者で、BNPBは「治療を受けられずに死亡した」との解釈を否定した。DPRは監査を要求。ADRCは発災当日、BRINに代わりセンチネルアジアと国際災害チャーターを要請した。道路・橋梁は全面復旧、中央予備費2,000億ルピアをNTT州へ拠出済み。避難者は46,461人へ急減し、損壊住宅103,427棟を現地で再検証中。余震は9月21日までに計17,073回。同日マンガライ・ティムールで有感M5.1が発生し、同じフローレス背弧衝上断層による活動とBMKGが説明。建設中の仮設住宅1棟が倒壊した。</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対応の時系列（2026年8月15日〜9月21日（西部インドネシア時間 WIB、UTC+7））（1/4）</a:t>
            </a:r>
            <a:endParaRPr lang="en-US" sz="16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BMKGが7時31分（WIB）に津波警報を解除。BMKG検潮所7地点の最大波高は0.14〜0.94m（最大はエンデ県マウロレの0.94m）、到達時間は10〜60分だった。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対応の時系列（2026年8月15日〜9月21日（西部インドネシア時間 WIB、UTC+7））（2/4）</a:t>
            </a:r>
            <a:endParaRPr lang="en-US" sz="16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BNPBが住宅修復助成の単価を発表：一部損壊は1棟1,500万ルピア、半壊は3,000万ルピア。全壊は新築・代替住宅で別途対応。配布の仕組みと被害区分の統一指導は最終調整中。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ジャカルタでの記者会見でBNPBは死者111人、負傷1,631人（重傷223・軽傷1,408）、避難者188,161人（前回集計より4,142人減）、住家被害95,567棟（一部損壊46,161・半壊21,992・全壊27,414）と発表。避難者数はマンガライ県・ナゲケオ県が最多。余震は累計9,765回（有感155回）、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対応の時系列（2026年8月15日〜9月21日（西部インドネシア時間 WIB、UTC+7））（3/4）</a:t>
            </a:r>
            <a:endParaRPr lang="en-US" sz="16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(data) / 9/4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公共事業省（ドディ・ハンゴド大臣）が、被害のあった道路17区間と橋梁14か所（暗渠3か所を含む）はすべて復旧・供用済みと発表。別途、8月30日時点データとして公共施設被害651棟（宗教教育施設112・宗教施設300・保健施設238）、および上水道施設81か所・し尿処理施設2か所・最終処分場1か所・複数の水資源施設の被害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Works（Dody Hanggodo）、経由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初等中等教育省が、教育施設1,931校・児童生徒171,476人が授業を再開（うち仮設教室1,504校、遠隔授業392校、通常授業への完全復帰35校）と発表。緊急教室ユニットは計3,763基を整備目標とする。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Education（Abdul Mu'ti）、経由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心理社会的・メンタルヘルス支援を主眼とする保健予備人材（TCK）第2陣160人が、ンガダ・マンガライ・西マンガライ・東マンガライへ向け出発。既に派遣済みの基礎医療TCK206人に加わる。ルテン・ンガダの野外病院2か所は稼働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Health（Sumarjaya）、経由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9月7日、プラボウォ大統領が主宰した災害対策会議で、内務大臣がNTT各地に中央政府予備費2,000億ルピア（州へ400億、被災8県へ各200億）の活用加速を要請。執行の遅れを指摘した。同省は被災住民向け住民登録書類11,000件を再発行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Ministry（Tito Karnavian）、経由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知事が、余震は減少傾向にあるが依然として変動している（9月5日時点で累計約13,000回、有感177回。BMKGはあと3〜4週間程度続く可能性を示唆）と報告。シッカ県では避難登録世帯が925世帯まで漸減。州全体の住家被害再検証は継続中（確認済み損壊3,042棟、入力中1,252棟、データ収集段階約2,808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Governor（Melki Laka Lena）、citing BMKG、経由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状況報告第9号は、8月19日〜9月4日に実施された合同ニーズアセスメント（JNA、主データ収集は8月24〜26日、被災7県35小地区143調査地点）の結果を要約している。調査はHumanitarian Forum Indonesiaが主導し、World Vision Indonesiaの調整のもと国内外20団体が参加した。主な結果：多くの地点で、中央の避難所への移動ではなく損壊した自宅付近でテント・タープを用いた「その場での避難」が報告された。86.01％の地点で避難場所に私的空間がなく、半数近くで要支援者にとって基本設備へのアクセスが困難と報告された。急性呼吸器感染症が62.24％の地点、皮膚疾患が47.55％、消化器感染症が41.26％の地点で報告された。42地点はまだ食料支援を受けていない。市場は機能しているが、主食・燃料価格への圧力と家計の購買力低下により制約を受けており、特にシッカ県・マンガライ県では水アクセスが課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Indonesian Humanitarian Coordination Platform（IHCP）、Situation Report No. 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対応の時系列（2026年8月15日〜9月21日（西部インドネシア時間 WIB、UTC+7））（4/4）</a:t>
            </a:r>
            <a:endParaRPr lang="en-US" sz="165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のオンライン記者会見で、防災データ・情報・広報担当代理のベルトン・SP・パンジャイタン氏は、避難者数が「15万人超から46,461人へ」大きく減少したと発表し、緊急対応・復旧支援の成果によるものと説明した。合同現地チームが、住民登録庁（Dukcapil）・統計庁（BPS）と連携し、住宅修繕支援の重複給付を防ぐため、損壊住宅103,427棟（全壊・半壊・一部損壊合算）のデータを再検証中である。別途BMKGは、8月15日のM7.7本震から30日間の余震が計15,722回（M0.9〜6.2）で、週ごとに減少傾向（5,011／4,267／3,158／2,421／864）にあると報告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BNPB（記者会見、経由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BNPBが記者会見。累計死者136人（うち間接死88人）、住家被害102,384棟、損壊程度の現地検証は約70％完了。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BNPBが記者会見。直接死48人・避難所での間接死94人（計142人）。避難者は15万人超から46,461人へ減少、損壊住宅103,427棟を再検証中。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動画声明で、間接死94人は地震による直接の外傷や建物倒壊が死因ではないと改めて説明し、先行する情報が不安を招いたことを陳謝。国会（DPR）第IX委員会副委員長が避難所の保健医療サービスの監査を要求し、アムネスティ・インターナショナル・インドネシアが独立した調査を要求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BNPB／DPR／Amnesty（Kompas）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内務大臣ティト・カルナビアン氏は、プラボウォ大統領によるNTT州への予備費追加配分がさらにルピア200億増額されたと発表する一方、シッカ県への従前のルピア200億の配分執行が遅いと指摘。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Minister of Home Affairs Tito Karnavian（Kompas）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内務大臣の指摘を受け、シッカ県副地方書記官は、ルピア200億の大統領支援金は緊急対応期間中に全額執行する必要はなく、一部は復旧移行期（住宅修繕）向けに留保しているとし、9月21日時点の未執行残額は約ルピア170億と説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Sikka Regency acting secretary（Kompas）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は、東マンガライ県ランバレダ郡グルンリウット村に建設した仮設住宅（フンタラ）7棟が、同日発生した有感M5.1の余震（速報M5.3。上記「余震」欄参照）でも損傷なく建っていることを確認したと発表した。同7棟は同日中に受益者への引き渡しも完了していた。BNPBはあわせて、軽量鉄骨が倒れる様子を映したSNS上の拡散動画について、これは別の施工中現場（骨組み未固定・基礎未打設の段階）を撮影したものであり、完成・入居済みの住宅ではないと説明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BNPB（経由 ANTARA、9/23）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ンガライ・バラット県BPBDが、県内で6,657棟の住家被害を検証済みと発表（全壊488棟・中破1,589棟・半壊4,580棟）。BNPBの全国集計とは別の県レベルの検証値。全壊世帯には仮設住宅（フンタラ）建設か、住宅待機手当（DTH、月額60万ルピア）のいずれかを選択できるとし、248世帯がフンタラ用地を持たないことを理由にDTHを選ん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BPBD Manggarai Barat（Kompas）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死者（直接死／間接死）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142人（BNPB、9月15日記者会見）。内訳は**直接死48人と、避難所での間接死94人**。BNPBと保健省（Kemenkes）が被災7県で合同の検証・妥当性確認を行い、94人は地震による物理的外傷や建物倒壊が死因ではないと結論した。医療チームのデータでは大半が高齢者で、脳卒中・糖尿病など既往の慢性疾患の合併症による死亡である。BNPBは9月17日の動画声明で、94人は「地震による直接の物理的外傷や建物の倒壊で死亡したのではない」と改めて説明（原語 meluruskan＝データの訂正・明確化）したうえで、医療チームは各種医療施設・統合保健ポストを通じて最大限の対応を行っており、発災初日から Labuan Bajo と Maumere に兵站支援ポストを立ち上げていたとした。あわせて、先行する情報が社会に不安と憶測を招いたのであれば申し訳ないとして陳謝した。**「公表が遅れたこと」への謝罪ではない。** 国会（DPR）第IX委員会のチャールズ・ホノリス副委員長は同日、避難所の状況と保健医療サービスの監査を政府に求めた。「避難所で亡くなった人のほうが、地震で直接亡くなった人より多い」ことを理由に挙げ、保健省・内務省・BNPB・地方政府が関与する評価を求めている。同日、アムネスティ・インターナショナル・インドネシア（ハエリル・ハリム メディア・マネージャー）は、慢性疾患による死は適切な保健医療が受けられていれば避けられたはずだとし、**即時・独立・公平かつ包括的な調査**を要求した。国家に過失があったかを明らかにするために不可欠だとしている。同じ9月15日時点で州のBPBD NTT「Inatana」は120人としており、乖離の理由を当局が説明した発言は確認できていない。これまでのBNPB値は136人（9月10日）、127人（9月2日）、120人（8月31日、AHA Centre経由）、111人（8月29日）。</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BNPB（9月15日記者会見、Plt. Kapusdatinkom Berton SP Panjaitan。インドネシア語国内報道 ANTARA／Kompas／Tirto／Republika／NU Online 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死者（直接死／間接死）（続き）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月10日の記者会見でBNPBは136人のうち88人を間接死としており、**直接死は一貫して48人で動いておらず、増えているのは間接死である**（57人＝8月26日→72人＝8月31日→88人＝9月10日→94人＝9月15日）。ANTARAは9月17日時点でも間接死94人を現時点のBNPB値として報じ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1,603人（BNPB、9月15日）。8月31日の1,658人（AHA Centre経由）、8月29日の1,678人から下方修正された。検証による遡及修正とみられるが公式の説明は無く、「減少した」ではなく「修正された」と読むべきである。別系統としてKompas.tv（9月13日）が1,776人としている。同じ9月15日時点の州Inatana値は1,191人。</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BNPB（9月15日記者会見、Plt. Kapusdatinkom Berton SP Panjaitan。インドネシア語国内報道 Tirto／Republika／NU Online 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WIB時点）。8月26日報の179,037人から増加。約2,000人（8月15日）→9,290人（16日）→46,252人（18日）→59,647人（19日）→180,327人（24日）→179,037人（26日）→188,161人（30日07:00 WIB、BNPB記者会見、ANTARA経由。余震の沈静化に伴い前回集計より4,142人減。マンガライ県50,556人・ナゲケオ県50,574人が最多）→約188,673人（31日）と推移した。BNPBは避難者数が極めて多い要因を、住家の喪失だけでなく、継続する余震への恐怖と、より大きな地震・津波を予告するデマの流布に帰している。8月31日以降、これを更新するBNPB・報道の数値は見当たらない。9月9日のANTARA報道（シッカ県のみ、925世帯が登録中で漸減傾向）はゆるやかな減少傾向と整合するが、州全体の集計ではない。 9月15日のオンライン記者会見で、BNPB防災データ・情報・広報担当代理のベルトン・SP・パンジャイタン氏は、避難者数が「15万人超から46,461人へ」大きく減少したと発表した。8月31日（約188,673人）と今回の9月15日報の間の期間について「15万人超」という中間のピークを示すBNPB・報道の数値は見当たらず、減少の両端のみが報告されている中間の推移は示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BNPB記者会見（ベルトン・SP・パンジャイタン氏）、9月15日、ANTARA経由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住家被害（8月30日BNPB記者会見）</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住家被害95,567棟、8月30日07:00 WIB時点（BNPB、ANTARA経由）。内訳は一部損壊46,161棟・半壊21,992棟・全壊27,414棟。上記の77,912棟（8月24日データ確定）・81,436棟（8月26日「影響」）に続く3つ目の、より大きい住家被害の総数である。BNPBは3者間の関係を公表していない。増加は氏名・住所単位調査が継続中であること（後述の所見を参照）と整合し、必ずしも新規被害の発生を意味しない。BNPBは全壊27,414棟の世帯への仮設住宅または移転先提供の緊急の必要性を指摘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BNPB記者会見（Berton SP Panjaitan氏）、8月30日07:00 WIB、ANTARA経由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住家被害（9月15日再検証中、BNPB）</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103,427棟（全壊・半壊・一部損壊を合算）、9月15日記者会見でのベルトン・SP・パンジャイタン氏（BNPB）の発言によれば現在、現地で再検証中。上記の77,912棟（8月24日データ確定）・81,436棟（8月26日「影響」）・95,567棟（8月30日記者会見）に続く4つ目の住家被害の総数である。BNPBはこの集計を、住民登録庁（Dukcapil）・統計庁（BPS）と連携した合同現地チームによる、重複給付を防ぐための再検証作業と明示しており、確定集計（データロック）ではない。4者間の関係は公表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BNPB記者会見（ベルトン・SP・パンジャイタン氏）、9月15日、ANTARA経由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インフラ復旧（公共事業省、8月30日時点データ／9月4日発表）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事業省ドディ・ハンゴド大臣は、被害のあった道路17区間（地滑り88箇所・断層による寸断3箇所）と橋梁14か所・暗渠3か所がすべて復旧・供用済みと発表。より小規模な州道・県道の復旧は継続中。別途、上水道施設（SPAM）81か所（うち1か所は修復済み）、し尿処理施設2か所・最終処分場1か所の被害検証を実施中。堰2か所、ダム1か所、灌漑区域15か所、原水井戸14か所、貯水池3か所、海岸保護施設4か所、河川2か所についても評価を進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施設被害651棟を記録：宗教教育施設112、宗教施設300、保健施設238。うち152施設は段階的検証済み。さらに官公庁17棟・軍施設1棟が被害を受け評価中。これは上記8月24日・26日・27日（IHCPダッシュボード）の数値に続く4つ目の、別の集計手法による公共施設被害数であり、BNPB・関係省庁はいずれの数値間の関係も公表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住宅修復資金の単価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は住宅修復助成の単価を、一部損壊は1棟あたり1,500万ルピア、半壊は3,000万ルピアと発表。全壊は新築・代替住宅の提供により別途対応する。配布・会計の仕組みは8月27日時点でなお準備中であり、機関間で被害区分（軽微・中程度・重大）を統一するための技術指導が調査員に実施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BNPB（Berton SP Panjaitan氏）、ANTARA経由、2026年8月27日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中央政府の予備費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プラボウォ大統領は東ヌサトゥンガラ州の災害対応向けに予備費2,000億ルピア（約1,130万米ドル）を承認。内訳はNTT州政府へ400億ルピア、被災8県それぞれへ200億ルピア。9月7日にプラボウォ大統領が主宰した災害対策会議で議題となり、ティト・カルナビアン内務大臣は資金執行の遅れを指摘し、直接調達を含め資金活用を支援するチームをNTT各行政へ派遣したと述べた。同省は被災住民向けに住民登録書類11,000件を再発行したことも報告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内務省（ティト・カルナビアン大臣）、ANTARA経由、2026年9月8日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医療従事者の派遣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省は基礎医療のため保健予備人材（TCK）206人を派遣済みに加え、心理社会的・メンタルヘルス支援を主眼とする第2陣160人を9月7日に派遣、ンガダ・マンガライ・西マンガライ・東マンガライの4県へ配置。ルテンとンガダの2か所で野外病院が稼働中。TCKの交代はWHO基準の14日ローテーションで、9月12日までの緊急対応期間に合わせ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保健省（Sumarjaya氏）、ANTARA経由、2026年9月8日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教育の復旧</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等中等教育省は9月5日時点で教育施設1,931校・児童生徒171,476人が授業を再開したと発表。うち仮設教室での実施1,504校、遠隔授業392校、通常の対面授業への復帰35校。同省は仮設教室用テント100張、絵本9,500冊、学用品セット5,500個、家族向けキット1,500個を配布し、被害の大きい学校の瓦礫撤去に11億ルピアを支出、緊急教室ユニット計3,763基の整備を目標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初等中等教育省（Abdul Mu'ti大臣）、ANTARA経由、2026年9月5日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累計は8月30日時点で9,765回（M1.0〜6.2、有感155回）、9月5日時点で約13,000回（有感177回）に達した（BNPB・BMKG、ANTARA経由）。9月9日、NTT州知事はBMKGを引用し、傾向は減少しつつも変動しており、本震から3〜4週間ほど余震が続く可能性があると述べた。 9月15日に報じられたBMKGのより詳細な内訳によれば、8月15日のM7.7本震から30日間の余震は計15,722回（M0.9〜6.2）で、減衰しつつ減少する傾向にある：第1週5,011回、第2週4,267回、第3週3,158回、第4週2,421回、第5週〜9月15日864回。</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BMKG（8月17日）／USGS；BNPB、ANTARA経由（8月30日・9月9日）／BNPB・BMKG、ANTARA経由（9月15日）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国（BNPB）と州（BPBD NTT「Inatana」）の集計の乖離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同じ9月15日時点で、国と州の公式集計が大きく食い違っている。死者142対120、負傷1,603対1,191、避難者46,461対136,642、住家損壊103,427対86,018以上、保健施設157対573、教育施設712対2,240。乖離の理由を当局が説明した発言は確認できていない。Bapperida NTTは「各地域からの報告が更新され続けているため、Inatanaのデータはなお検証を要する」と述べるにとどまる。州知事は県・州・中央でデータの妥当性が同一でなければならないと指示し、uji publik（公開検証）が進められている。**ADRCはBNPB値を採用し、州値を併記する。両者を混ぜて使わない。**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BNPB／BPBD NTT（Inatana）、いずれも2026年9月15日時点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緊急対応期間とSAR活動の終了</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NTT州の延長期間は8月29日〜9月12日で終了した。Basarnasは9月12日18:00 WITAに捜索救助活動を正式に終了した。余震活動の低下と復旧への移行段階入りが理由で、必要時は再開する。**終了日は県ごとに異なる。** エンデ県は9月12日まで（終了、移行期間入り）、西マンガライ県は9月11日まで（終了）、ンガダ県は移行期間入りで住家被害データの公開検証を実施、ナゲケオ県は14日間延長で9月27日まで、マンガライ県は9月15日〜28日で再延長（後二者は二次情報のみ）。移行期間の日数は確定していない。「30日間」説と「60日間（9月13日〜11月13日）」説が並立し、いずれも一次資料で裏付けが取れていない。ANTARA9月17日には「9月26日まで延長」という記述があるが、対象範囲・決定機関・決定日の記載が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NTT州／Basarnas／各県、2026年9月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被害状況（12/12）</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復旧・復興計画（Jitupasna／R3P）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R3P（Rencana Rehabilitasi dan Rekonstruksi Pascabencana）は、被災7県（西マンガライ、マンガライ、東マンガライ、ンガダ、ナゲケオ、エンデ、シッカ）を対象とする3年間の復興指針で、Jitupasna（被災後ニーズ調査）に立脚する。完成目標は2026年11月中旬で、緊急事態宣言から90日という期限に合わせている。9月17日にクパンで被害データ検証ワークショップを開催し、地理空間技術・ドローン空撮・スマートフォンのジオタグを用いて公共施設の座標の誤りなどの異常値を検出した。標準化後のデータは県・技術官庁に差し戻して検証し、その後TNI・Polri・検察・BNPB・BPBDを巻き込んだuji publik（公開検証）にかける。政府は9月20日以降、必要予算をDPRと協議する予定である。原則は build back better。リハビリ・復興の必要額は約2兆5,900億ルピアと見積もられているが、一次情報源（BPBD NTT公式サイト）に到達できず未確認である。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NTT州／BNPB、2026年9月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公共施設の被害（BNPB、9月15日）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教育施設712、礼拝所558、保健施設157、事務所685、道路175箇所、灌漑施設50。9月15日の記者会見でBNPBが読み上げた国の集計である。同日時点の州BPBD NTT「Inatana」の集計は教育2,240・保健573と大きく異なる。**両者を混ぜて使わない。**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BNPB記者会見（2026年9月15日、Kompas経由）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33</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33</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33</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ax1X3g/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ax1X3g/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33</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33</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IHCP状況報告第9号（9月14日付、9月15日公表）は、Joint Needs Assessment（JNA、8月19日〜9月4日実施、主データ収集は8月24〜26日、35郡143地点、Humanitarian Forum Indonesia／WVI主導、20団体参加）の結果として「地震そのものよりも避難生活の環境から二次的な健康危機が生じ得る」と指摘している。調査地点の62.24％で急性呼吸器感染症、47.55％で皮膚疾患、41.26％で消化器感染症が報告され、アウトリーチ診療・医薬品アクセスは依然限定的。避難先で私的空間が全く無い地点が86.01％に上る。これは、9月中旬のインドネシア報道が伝える「地震による直接死ではなく避難生活中の死亡が死者数に占める割合が増えている」という趣旨と整合するが、本レポートはこの報道内容を一次情報で確認できていない。当該報道が掲載されているドメイン（okezone.com、suara.com、kompas.com、idntimes.com、detik.com、antaranews.com本体および地方版）はネットワークポリシーにより到達不能（CONNECT tunnel failed、HTTP 403）であり、到達可能な en.antaranews.com、および到達はするがサイト自体のCloudflare認証で本文を取得できない bnpb.go.id には、本更新時点で同趣旨の記事が見当たらない。このためBNPB発表に基づく見出しの死者数（120人、8月31日時点）は改定していない。</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出典: </a:t>
            </a:r>
            <a:pPr algn="l" indent="0" marL="0">
              <a:buNone/>
            </a:pPr>
            <a:r>
              <a:rPr lang="en-US" sz="9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33</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BNPBは8月27日、住宅修復助成の単価を発表：一部損壊は1棟1,500万ルピア、半壊は3,000万ルピア。全壊は新築・代替住宅で別途対応する。配布・会計の仕組みと予算総額は同日時点でなお最終調整中。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中央政府予備費</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プラボウォ大統領が予備費2,000億ルピア（NTT州へ400億、被災8県へ各200億）を承認。9月7日の災害対策会議時点で、内務省は執行の遅れを指摘し、支援チームを各地へ派遣した。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 </a:t>
            </a:r>
            <a:pPr algn="l" indent="0" marL="0">
              <a:buNone/>
            </a:pPr>
            <a:r>
              <a:rPr lang="en-US" sz="850" dirty="0">
                <a:solidFill>
                  <a:srgbClr val="6A6A6A"/>
                </a:solidFill>
                <a:latin typeface="Meiryo" pitchFamily="34" charset="0"/>
                <a:ea typeface="Meiryo" pitchFamily="34" charset="-122"/>
                <a:cs typeface="Meiryo" pitchFamily="34" charset="-120"/>
              </a:rPr>
              <a:t>BNPB、8/27、Home Affairs Ministry、9/8 2026（経由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住家被害数値の整合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未整合の総数が3つに増えた：77,912棟「被害」（8/24確定）、81,436棟「影響」（8/26）、95,567棟「被害」（8/30 </a:t>
                      </a:r>
                      <a:pPr algn="l" indent="0" marL="0">
                        <a:buNone/>
                      </a:pPr>
                      <a:r>
                        <a:rPr lang="en-US" sz="1100" dirty="0">
                          <a:solidFill>
                            <a:srgbClr val="222222"/>
                          </a:solidFill>
                          <a:latin typeface="Meiryo" pitchFamily="34" charset="0"/>
                          <a:ea typeface="Meiryo" pitchFamily="34" charset="-122"/>
                          <a:cs typeface="Meiryo" pitchFamily="34" charset="-120"/>
                        </a:rPr>
                        <a:t>BNPB記者会見）。いずれも直前より大きい。氏名・住所単位調査の進展によるもの（ADRCの作業仮説）か、集計手法自体の変更かを対外使用前に確認すること。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関係省庁による未整合の集計が4つに増えた（8月24日、26日、27日IHCPダッシュボード、8月30日／9月4日公共事業省）。それぞれ内訳の区分が異なる。対外的に単一の数値を引用する前に、各々が何を数えているか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33</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33</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33</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インドネシア「アナククラカタウ火山噴火」DG ECHO日次地図（9月7日）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インドネシア「森林火災の煙害が東南アジアの子どもを脅かし休校に」（セーブ・ザ・チルドレン）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インドネシア「森林火災の煙害」（同一資料のReliefWeb重複掲載）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第36週（8月31日〜9月6日）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第37週（9月7日〜13日、9月14日掲載）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33</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ANTARA英語版：NTT地震被災者向け住宅支援を準備（8月27日）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ANTARA英語版：BNPBが避難者数の減少を報告、余震も沈静化（8月30日）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ANTARA英語版：道路17区間・橋梁14か所が復旧（9月4日）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ANTARA英語版：教育施設1,931校が授業を再開（9月5日）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ANTARA英語版：予備費2,000億ルピアの活用加速を要請（9月8日）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ANTARA英語版：保健省が保健人材160人を追加派遣（9月8日）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ANTARA英語版：フローレスの余震は減少傾向も引き続き警戒を（9月9日）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UNHCR インドネシア2026年資金拠出アップデート（8月31日時点）－ 確認済み、無関係（ミャンマー難民支援の資金動向で、NTT地震とは無関係）</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https://reliefweb.int/report/indonesia/unhcr-indonesia-2026-funding-update-31-august-2026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IHCP状況報告第9号（フローレス地震・津波、2026年9月14日）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https://reliefweb.int/report/indonesia/indonesian-humanitarian-coordination-platform-situation-report-no-9-earthquake-and-tsunami-flores-and-surrounding-areas-14-september-2026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https://tirto.id/sebulan-usai-gempa-ntt-94-orang-tewas-di-pengungsian-hCXo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https://news.republika.co.id/berita/tlicbu409/bnpb-klarifikasi-data-94-korban-gempa-flores-ntt-meninggal-di-pengungsian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33</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https://nasional.kompas.com/read/2026/09/17/14301031/94-orang-meninggal-di-pengungsian-gempa-ntt-anggota-dpr-dorong-audit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https://www.antaranews.com/berita/5742093/jumlah-pengungsi-gempa-ntt-menurun-signifikan-kini-46461-jiwa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https://www.antaranews.com/berita/5735263/bnpb-korban-gempa-ntt-capai-136-jiwa-70-persen-rumah-terverifikasi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https://www.antaranews.com/berita/5745161/pascagempa-ntt-pemerintah-kolaborasi-benahi-sanitasi-cegah-stunting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https://nasional.kompas.com/read/2026/09/17/17144961/bnpb-luruskan-data-94-warga-meninggal-di-pengungsian-gempa-ntt-disebabkan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https://nasional.kompas.com/read/2026/09/17/21491021/amnesty-international-soroti-kematian-94-warga-di-pengungsian-gempa-ntt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https://nasional.kompas.com/read/2026/09/15/16512731/bnpb-ungkap-94-korban-gempa-ntt-meninggal-di-pengungsian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NTT州政府、フローレス地震復旧に向け統一データを整備（2026年9月17日）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https://www.antaranews.com/berita/5746076/pemprov-ntt-konsolidasikan-satu-data-percepat-pemulihan-gempa-flores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https://regional.kompas.com/read/2026/09/21/140540378/gempa-susulan-flores-m77-capai-17073-kali-198-kali-dirasakan-warga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https://regional.kompas.com/read/2026/09/21/120040378/gempa-m-51-guncang-manggarai-timur-terasa-di-sejumlah-daerah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https://regional.kompas.com/read/2026/09/21/090000378/gempa-m-53-guncang-manggarai-bmkg-tidak-berpotensi-tsunami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33</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https://regional.kompas.com/read/2026/09/21/174624178/baru-3-hari-dibangun-huntara-korban-gempa-di-manggarai-timur-roboh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https://regional.kompas.com/read/2026/09/21/151815278/disorot-mendagri-soal-dana-gempa-rp-20-miliar-pemda-sikka-tersisa-rp-17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https://regional.kompas.com/read/2026/09/21/164050278/227-anak-terdampak-gempa-flores-ikuti-trauma-healing-di-manggarai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https://regional.kompas.com/read/2026/09/18/06192401/tito-presiden-prabowo-tambah-alokasi-belanja-tidak-terduga-di-ntt-rp-20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https://reliefweb.int/report/indonesia/asean-weekly-disaster-update-week-32-3-9-august-2026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https://reliefweb.int/report/indonesia/care-responding-indonesia-earthquake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https://reliefweb.int/report/indonesia/flores-earthquake-512-schools-affected-plan-indonesia-urges-education-recovery-be-prioritized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https://reliefweb.int/report/indonesia/flores-earthquake-children-face-serious-health-and-safety-risks-amid-prolonged-displacement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https://reliefweb.int/report/indonesia/idn-earthquake-08-2026-field-report-update-2-m77-east-nusa-tenggara-earthquake-3-2026-08-18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https://reliefweb.int/report/indonesia/indonesia-77-earthquake-strikes-flores-plan-indonesia-warns-grave-risks-children-and-girls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https://reliefweb.int/report/indonesia/indonesia-earthquake-situation-overview-18-august-2026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33</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有用リンク・出典（7/7）</a:t>
            </a:r>
            <a:endParaRPr lang="en-US" sz="2100" dirty="0"/>
          </a:p>
        </p:txBody>
      </p:sp>
      <p:pic>
        <p:nvPicPr>
          <p:cNvPr id="3" name="Image 0" descr="/tmp/build_event-ax1X3g/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https://reliefweb.int/report/indonesia/indonesia-over-8000-children-face-disruptions-education-following-deadly-earthquake-save-children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https://reliefweb.int/report/indonesia/indonesian-humanitarian-coordination-platform-situation-report-no-3-earthquake-and-tsunami-flores-and-surrounding-areas-19-august-2026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https://reliefweb.int/report/indonesia/world-vision-launches-emergency-response-death-toll-rises-following-powerful-indonesia-earthquake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https://reliefweb.int/report/indonesia/indonesia-flores-earthquake-response-dref-operation-mdrid029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https://reliefweb.int/report/indonesia/indonesian-humanitarian-coordination-platform-situation-report-no-8-earthquake-and-tsunami-flores-and-surrounding-areas-september-1-2026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ANTARA「BNPB、東マンガライ県の仮設住宅は堅牢で耐震性ありと表明」（2026年9月23日）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https://www.antaranews.com/berita/5754315/bnpb-tegaskan-huntara-di-manggarai-timur-kokoh-dan-tahan-gempa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ANTARA「国会第10委員会、NTT地震で被災した学校の復旧加速を要請」（2026年9月19日）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https://www.antaranews.com/berita/5749213/komisi-x-dpr-desak-percepatan-pemulihan-sekolah-terdampak-gempa-ntt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Kompas「マンガライ・バラット県の地震被災者に月額60万ルピアの住宅待機手当」（2026年9月25日）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https://regional.kompas.com/read/2026/09/25/165607778/korban-gempa-flores-di-manggarai-barat-dapat-dana-tunggu-hunian-rp-600000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33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2026-09-25T22:49:01Z</dcterms:created>
  <dcterms:modified xsi:type="dcterms:W3CDTF">2026-09-25T22:49:01Z</dcterms:modified>
</cp:coreProperties>
</file>