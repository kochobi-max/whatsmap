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2" Type="http://schemas.openxmlformats.org/officeDocument/2006/relationships/hyperlink" Target="https://www.bnpb.go.id/berita" TargetMode="External"/><Relationship Id="rId1" Type="http://schemas.openxmlformats.org/officeDocument/2006/relationships/image" Target="../media/image-22-1.png"/><Relationship Id="rId13" Type="http://schemas.openxmlformats.org/officeDocument/2006/relationships/slideLayout" Target="../slideLayouts/slideLayout1.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3" Type="http://schemas.openxmlformats.org/officeDocument/2006/relationships/hyperlink" Target="https://www.antaranews.com/berita/5709283/bnpb-listrik-dan-sinyal-di-flores-pulih-100-persen-pascagempa" TargetMode="External"/><Relationship Id="rId4" Type="http://schemas.openxmlformats.org/officeDocument/2006/relationships/hyperlink" Target="https://news.harianjogja.com/r-1268934/update-gempa-flores-105-orang-meninggal-dan-81436-rumah-terdampak" TargetMode="External"/><Relationship Id="rId5" Type="http://schemas.openxmlformats.org/officeDocument/2006/relationships/hyperlink" Target="https://news.harianjogja.com/r-1268964/gempa-flores-19-puskesmas-belum-pulih-dan-122-tenda-disiapkan" TargetMode="External"/><Relationship Id="rId6" Type="http://schemas.openxmlformats.org/officeDocument/2006/relationships/hyperlink" Target="https://haluanntt.com/2026/08/27/pemprov-ntt-perpanjang-tanggap-darurat-gempa-flores-hingga-12-september-2026/" TargetMode="External"/><Relationship Id="rId7" Type="http://schemas.openxmlformats.org/officeDocument/2006/relationships/hyperlink" Target="https://www.bmkg.go.id/siaran-pers/bmkg-pemerintah-pusat-dan-pemerintah-daerah-kolaborasi-percepat-pemulihan-bencana-gempa-flores" TargetMode="External"/><Relationship Id="rId8" Type="http://schemas.openxmlformats.org/officeDocument/2006/relationships/hyperlink" Target="https://reliefweb.int/report/indonesia/flash-update-no-1-m77-earthquake-east-nusa-tenggara-indonesia-15-august-2026" TargetMode="External"/><Relationship Id="rId9" Type="http://schemas.openxmlformats.org/officeDocument/2006/relationships/hyperlink" Target="https://reliefweb.int/report/indonesia/asia-and-pacific-snapshot-el-nino-middle-east-crisis-28-august-2026" TargetMode="External"/><Relationship Id="rId10" Type="http://schemas.openxmlformats.org/officeDocument/2006/relationships/hyperlink" Target="https://reliefweb.int/report/indonesia/caritas-indonesia-stands-communities-affected-earthquake" TargetMode="External"/><Relationship Id="rId11" Type="http://schemas.openxmlformats.org/officeDocument/2006/relationships/hyperlink" Target="https://reliefweb.int/report/indonesia/care-indonesia-distributes-15000-litres-clean-water-earthquake-survivors" TargetMode="External"/><Relationship Id="rId12" Type="http://schemas.openxmlformats.org/officeDocument/2006/relationships/hyperlink" Target="https://reliefweb.int/report/indonesia/asean-weekly-disaster-update-week-33-10-16-august-2026" TargetMode="External"/><Relationship Id="rId1" Type="http://schemas.openxmlformats.org/officeDocument/2006/relationships/image" Target="../media/image-23-1.png"/><Relationship Id="rId13" Type="http://schemas.openxmlformats.org/officeDocument/2006/relationships/slideLayout" Target="../slideLayouts/slideLayout1.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reliefweb.int/report/indonesia/iom-flash-appeal-rohingya-refugee-response-january-december-2026" TargetMode="External"/><Relationship Id="rId3" Type="http://schemas.openxmlformats.org/officeDocument/2006/relationships/hyperlink" Target="https://reliefweb.int/report/indonesia/indonesian-humanitarian-coordination-platform-situation-report-no-7-earthquake-and-tsunami-flores-and-surrounding-areas-28-august-2026" TargetMode="External"/><Relationship Id="rId4" Type="http://schemas.openxmlformats.org/officeDocument/2006/relationships/hyperlink" Target="https://reliefweb.int/report/indonesia/asean-weekly-disaster-update-week-35-24-30-august-2026" TargetMode="External"/><Relationship Id="rId5" Type="http://schemas.openxmlformats.org/officeDocument/2006/relationships/hyperlink" Target="https://reliefweb.int/report/indonesia/gender-alert-1-critical-protection-needs-women-and-girls-following-flores-earthquake-indonesia" TargetMode="External"/><Relationship Id="rId6" Type="http://schemas.openxmlformats.org/officeDocument/2006/relationships/hyperlink" Target="https://reliefweb.int/report/indonesia/gender-alert-1-anticipating-impact-el-nino-2026-women-girls-and-vulnerable-groups-indonesia" TargetMode="External"/><Relationship Id="rId7" Type="http://schemas.openxmlformats.org/officeDocument/2006/relationships/hyperlink" Target="https://reliefweb.int/map/indonesia/indonesia-anak-krakatau-volcanic-eruption-dg-echo-daily-map-07092026" TargetMode="External"/><Relationship Id="rId8" Type="http://schemas.openxmlformats.org/officeDocument/2006/relationships/hyperlink" Target="https://reliefweb.int/report/indonesia/indonesia-wildfire-haze-threatens-children-across-se-asia-and-closes-schools" TargetMode="External"/><Relationship Id="rId9" Type="http://schemas.openxmlformats.org/officeDocument/2006/relationships/hyperlink" Target="https://reliefweb.int/report/indonesia/indonesia-wildfire-haze-threatens-children-across-se-asia-and-closes-schools-save-children" TargetMode="External"/><Relationship Id="rId10" Type="http://schemas.openxmlformats.org/officeDocument/2006/relationships/hyperlink" Target="https://reliefweb.int/report/philippines/asean-weekly-disaster-update-week-36-31-august-6-september-2026" TargetMode="External"/><Relationship Id="rId11" Type="http://schemas.openxmlformats.org/officeDocument/2006/relationships/hyperlink" Target="https://reliefweb.int/report/philippines/asean-weekly-disaster-update-week-37-7-13-september-2026" TargetMode="External"/><Relationship Id="rId1" Type="http://schemas.openxmlformats.org/officeDocument/2006/relationships/image" Target="../media/image-24-1.png"/><Relationship Id="rId12" Type="http://schemas.openxmlformats.org/officeDocument/2006/relationships/slideLayout" Target="../slideLayouts/slideLayout1.xml"/><Relationship Id="rId1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n.antaranews.com/news/428627/indonesia-prepares-housing-aid-for-ntt-quake-victims" TargetMode="External"/><Relationship Id="rId3" Type="http://schemas.openxmlformats.org/officeDocument/2006/relationships/hyperlink" Target="https://en.antaranews.com/news/429081/bnpb-reports-ntt-quake-evacuees-decline-as-aftershocks-begin-to-ease" TargetMode="External"/><Relationship Id="rId4" Type="http://schemas.openxmlformats.org/officeDocument/2006/relationships/hyperlink" Target="https://en.antaranews.com/news/429936/ntt-earthquake-17-road-sections-14-bridges-restored" TargetMode="External"/><Relationship Id="rId5" Type="http://schemas.openxmlformats.org/officeDocument/2006/relationships/hyperlink" Target="https://en.antaranews.com/news/430027/1931-education-facilities-resume-classes-after-ntt-quake" TargetMode="External"/><Relationship Id="rId6" Type="http://schemas.openxmlformats.org/officeDocument/2006/relationships/hyperlink" Target="https://en.antaranews.com/news/430328/minister-urges-ntt-regions-to-optimize-rp200-billion-quake-funds" TargetMode="External"/><Relationship Id="rId7" Type="http://schemas.openxmlformats.org/officeDocument/2006/relationships/hyperlink" Target="https://en.antaranews.com/news/430347/ministry-sends-160-health-workers-to-ntt-for-earthquake-trauma-care" TargetMode="External"/><Relationship Id="rId8" Type="http://schemas.openxmlformats.org/officeDocument/2006/relationships/hyperlink" Target="https://en.antaranews.com/news/430597/flores-aftershocks-decline-residents-urged-to-remain-vigilant" TargetMode="External"/><Relationship Id="rId1" Type="http://schemas.openxmlformats.org/officeDocument/2006/relationships/image" Target="../media/image-25-1.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DEW3BJ/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DEW3BJ/generator/images/EQ-2026-000150-IDN/locator_world_ja.pn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DEW3BJ/generator/images/EQ-2026-000150-IDN/locator_region_ja.pn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DEW3BJ/generator/images/EQ-2026-000150-IDN/locator_flores.pn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42236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927098"/>
            <a:ext cx="1750297" cy="495268"/>
          </a:xfrm>
          <a:prstGeom prst="line">
            <a:avLst/>
          </a:prstGeom>
          <a:noFill/>
          <a:ln w="19050">
            <a:solidFill>
              <a:srgbClr val="C00000"/>
            </a:solidFill>
            <a:prstDash val="solid"/>
          </a:ln>
        </p:spPr>
      </p:sp>
      <p:sp>
        <p:nvSpPr>
          <p:cNvPr id="24" name="Shape 18"/>
          <p:cNvSpPr/>
          <p:nvPr/>
        </p:nvSpPr>
        <p:spPr>
          <a:xfrm>
            <a:off x="2608343" y="3657115"/>
            <a:ext cx="1750297" cy="853163"/>
          </a:xfrm>
          <a:prstGeom prst="line">
            <a:avLst/>
          </a:prstGeom>
          <a:noFill/>
          <a:ln w="19050">
            <a:solidFill>
              <a:srgbClr val="C00000"/>
            </a:solidFill>
            <a:prstDash val="solid"/>
          </a:ln>
        </p:spPr>
      </p:sp>
      <p:sp>
        <p:nvSpPr>
          <p:cNvPr id="25" name="Shape 19"/>
          <p:cNvSpPr/>
          <p:nvPr/>
        </p:nvSpPr>
        <p:spPr>
          <a:xfrm>
            <a:off x="5713374" y="283892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927098"/>
            <a:ext cx="1903374" cy="911829"/>
          </a:xfrm>
          <a:prstGeom prst="line">
            <a:avLst/>
          </a:prstGeom>
          <a:noFill/>
          <a:ln w="19050">
            <a:solidFill>
              <a:srgbClr val="C00000"/>
            </a:solidFill>
            <a:prstDash val="solid"/>
          </a:ln>
        </p:spPr>
      </p:sp>
      <p:sp>
        <p:nvSpPr>
          <p:cNvPr id="27" name="Shape 21"/>
          <p:cNvSpPr/>
          <p:nvPr/>
        </p:nvSpPr>
        <p:spPr>
          <a:xfrm>
            <a:off x="6448146" y="3653455"/>
            <a:ext cx="1903374" cy="856823"/>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26日時点で死者105人、負傷・疾病1,678人、避難者179,037人、住家被害（影響）81,436棟と発表しており、その後AHA CentreのASEAN週報が8月31日09:00 WIB時点のBNPB値として死者120人、負傷1,658人、避難者約188,673人を引用している。到達が進むにつれ数値は増え続けており、死者は8月16日47人、18日69人、24日100人、26日105人、31日120人と推移した。ADRCは発災当日、BRINに代わってセンチネルアジアと国際災害チャーターの双方を要請した。9月上旬にかけて対応は復興段階に移行し、道路・橋梁は全面復旧、中央政府予備費2,000億ルピアがNTT州へ拠出された。余震（9月5日時点で約13,000回）は緩やかに減少しており、8月31日の値を上回る公式死者数は確認されてい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対応の時系列（2026年8月15日〜9月11日（西部インドネシア時間 WIB、UTC+7））（1/3）</a:t>
            </a:r>
            <a:endParaRPr lang="en-US" sz="16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BMKGが7時31分（WIB）に津波警報を解除。フローレス海周辺の検潮所は最大波高0.30〜1.61mを記録し、到達時間は10〜60分だった。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対応の時系列（2026年8月15日〜9月11日（西部インドネシア時間 WIB、UTC+7））（2/3）</a:t>
            </a:r>
            <a:endParaRPr lang="en-US" sz="16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BNPBが住宅修復助成の単価を発表：一部損壊は1棟1,500万ルピア、半壊は3,000万ルピア。全壊は新築・代替住宅で別途対応。配布の仕組みと被害区分の統一指導は最終調整中。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ジャカルタでの記者会見でBNPBは死者111人、負傷1,631人（重傷223・軽傷1,408）、避難者188,161人（前回集計より4,142人減）、住家被害95,567棟（一部損壊46,161・半壊21,992・全壊27,414）と発表。避難者数はマンガライ県・ナゲケオ県が最多。余震は累計9,765回（有感155回）、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対応の時系列（2026年8月15日〜9月11日（西部インドネシア時間 WIB、UTC+7））（3/3）</a:t>
            </a:r>
            <a:endParaRPr lang="en-US" sz="16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(data) / 9/4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公共事業省（ドディ・ハンゴド大臣）が、被害のあった道路17区間と橋梁14か所（暗渠3か所を含む）はすべて復旧・供用済みと発表。別途、8月30日時点データとして公共施設被害651棟（宗教教育施設112・宗教施設300・保健施設238）、および上水道施設81か所・し尿処理施設2か所・最終処分場1か所・複数の水資源施設の被害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Works（Dody Hanggodo）、経由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初等中等教育省が、教育施設1,931校・児童生徒171,476人が授業を再開（うち仮設教室1,504校、遠隔授業392校、通常授業への完全復帰35校）と発表。緊急教室ユニットは計3,763基を整備目標とする。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Education（Abdul Mu'ti）、経由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心理社会的・メンタルヘルス支援を主眼とする保健予備人材（TCK）第2陣160人が、ンガダ・マンガライ・西マンガライ・東マンガライへ向け出発。既に派遣済みの基礎医療TCK206人に加わる。ルテン・ンガダの野外病院2か所は稼働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Health（Sumarjaya）、経由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9月7日、プラボウォ大統領が主宰した災害対策会議で、内務大臣がNTT各地に中央政府予備費2,000億ルピア（州へ400億、被災8県へ各200億）の活用加速を要請。執行の遅れを指摘した。同省は被災住民向け住民登録書類11,000件を再発行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Ministry（Tito Karnavian）、経由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知事が、余震は減少傾向にあるが依然として変動している（9月5日時点で累計約13,000回、有感177回。BMKGはあと3〜4週間程度続く可能性を示唆）と報告。シッカ県では避難登録世帯が925世帯まで漸減。州全体の住家被害再検証は継続中（確認済み損壊3,042棟、入力中1,252棟、データ収集段階約2,808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Governor（Melki Laka Lena）、citing BMKG、経由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120人（BNPB、AHA Centre経由、8月31日09:00 WIB時点）。8月26日報の105人から増加。BNPBは地震の直接被害による48人と、その後Basarnasの捜索救助活動および医療機関の報告を通じて計上された57人を区別している（8月26日時点の内訳）。後者には治療中に亡くなった患者や、精神的打撃を受けた要配慮者が含まれる。到達が進むにつれ増加し、8月15日2人→47人、17日68人、19日71人、24日100人、26日105人、30日111人（BNPB記者会見、ANTARA経由）、31日120人と推移した。8月31日時点の値はAHA CentreのASEAN週報が出典で、BNPB自身によるこの締切のBulletin は未確認。本報（9月14日）時点で、8月31日の120人を上回る新しいBNPB・報道の数値は見当たらない。ANTARA英語版を9月11日まで確認したが、8月31日以降の死者数専門の続報は無い。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1,658人（BNPB、AHA Centre経由、8月31日09:00 WIB時点）。8月26日報の1,678人からわずかに減少。BNPB・AHA Centreとも減少の理由を説明していない。8月26日のBNPB報とAHA Centreによる引用の間の再分類による可能性はあるが、それ以前の集計の訂正であるかは確認できていない。13人（8月15日）→213人（17日）→1,199人（18日、うち重傷115人・軽傷1,084人）→1,603人（24日）→1,678人（26日）→1,631人（30日、BNPB記者会見、ANTARA経由。重傷223人・軽傷1,408人）→1,658人（31日）と推移した。8月24日以降、公式な説明のないまま狭い範囲で増減しており、ADRCは単一の傾向として平準化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WIB時点）。8月26日報の179,037人から増加。約2,000人（8月15日）→9,290人（16日）→46,252人（18日）→59,647人（19日）→180,327人（24日）→179,037人（26日）→188,161人（30日07:00 WIB、BNPB記者会見、ANTARA経由。余震の沈静化に伴い前回集計より4,142人減。マンガライ県50,556人・ナゲケオ県50,574人が最多）→約188,673人（31日）と推移した。BNPBは避難者数が極めて多い要因を、住家の喪失だけでなく、継続する余震への恐怖と、より大きな地震・津波を予告するデマの流布に帰している。8月31日以降、これを更新するBNPB・報道の数値は見当たらない。9月9日のANTARA報道（シッカ県のみ、925世帯が登録中で漸減傾向）はゆるやかな減少傾向と整合するが、州全体の集計では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住家被害（8月30日BNPB記者会見）</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住家被害95,567棟、8月30日07:00 WIB時点（BNPB、ANTARA経由）。内訳は一部損壊46,161棟・半壊21,992棟・全壊27,414棟。上記の77,912棟（8月24日データ確定）・81,436棟（8月26日「影響」）に続く3つ目の、より大きい住家被害の総数である。BNPBは3者間の関係を公表していない。増加は氏名・住所単位調査が継続中であること（後述の所見を参照）と整合し、必ずしも新規被害の発生を意味しない。BNPBは全壊27,414棟の世帯への仮設住宅または移転先提供の緊急の必要性を指摘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BNPB記者会見（Berton SP Panjaitan氏）、8月30日07:00 WIB、ANTARA経由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インフラ復旧（公共事業省、8月30日時点データ／9月4日発表）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事業省ドディ・ハンゴド大臣は、被害のあった道路17区間（地滑り88箇所・断層による寸断3箇所）と橋梁14か所・暗渠3か所がすべて復旧・供用済みと発表。より小規模な州道・県道の復旧は継続中。別途、上水道施設（SPAM）81か所（うち1か所は修復済み）、し尿処理施設2か所・最終処分場1か所の被害検証を実施中。堰2か所、ダム1か所、灌漑区域15か所、原水井戸14か所、貯水池3か所、海岸保護施設4か所、河川2か所についても評価を進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施設被害651棟を記録：宗教教育施設112、宗教施設300、保健施設238。うち152施設は段階的検証済み。さらに官公庁17棟・軍施設1棟が被害を受け評価中。これは上記8月24日・26日・27日（IHCPダッシュボード）の数値に続く4つ目の、別の集計手法による公共施設被害数であり、BNPB・関係省庁はいずれの数値間の関係も公表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住宅修復資金の単価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は住宅修復助成の単価を、一部損壊は1棟あたり1,500万ルピア、半壊は3,000万ルピアと発表。全壊は新築・代替住宅の提供により別途対応する。配布・会計の仕組みは8月27日時点でなお準備中であり、機関間で被害区分（軽微・中程度・重大）を統一するための技術指導が調査員に実施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BNPB（Berton SP Panjaitan氏）、ANTARA経由、2026年8月27日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中央政府の予備費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プラボウォ大統領は東ヌサトゥンガラ州の災害対応向けに予備費2,000億ルピア（約1,130万米ドル）を承認。内訳はNTT州政府へ400億ルピア、被災8県それぞれへ200億ルピア。9月7日にプラボウォ大統領が主宰した災害対策会議で議題となり、ティト・カルナビアン内務大臣は資金執行の遅れを指摘し、直接調達を含め資金活用を支援するチームをNTT各行政へ派遣したと述べた。同省は被災住民向けに住民登録書類11,000件を再発行したことも報告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内務省（ティト・カルナビアン大臣）、ANTARA経由、2026年9月8日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医療従事者の派遣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省は基礎医療のため保健予備人材（TCK）206人を派遣済みに加え、心理社会的・メンタルヘルス支援を主眼とする第2陣160人を9月7日に派遣、ンガダ・マンガライ・西マンガライ・東マンガライの4県へ配置。ルテンとンガダの2か所で野外病院が稼働中。TCKの交代はWHO基準の14日ローテーションで、9月12日までの緊急対応期間に合わせ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保健省（Sumarjaya氏）、ANTARA経由、2026年9月8日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教育の復旧</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等中等教育省は9月5日時点で教育施設1,931校・児童生徒171,476人が授業を再開したと発表。うち仮設教室での実施1,504校、遠隔授業392校、通常の対面授業への復帰35校。同省は仮設教室用テント100張、絵本9,500冊、学用品セット5,500個、家族向けキット1,500個を配布し、被害の大きい学校の瓦礫撤去に11億ルピアを支出、緊急教室ユニット計3,763基の整備を目標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初等中等教育省（Abdul Mu'ti大臣）、ANTARA経由、2026年9月5日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累計は8月30日時点で9,765回（M1.0〜6.2、有感155回）、9月5日時点で約13,000回（有感177回）に達した（BNPB・BMKG、ANTARA経由）。9月9日、NTT州知事はBMKGを引用し、傾向は減少しつつも変動しており、本震から3〜4週間ほど余震が続く可能性があ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BMKG（8月17日）／USGS；BNPB、ANTARA経由（8月30日・9月9日）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被害状況（8/8）</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EW3BJ/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DEW3BJ/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出典: </a:t>
            </a:r>
            <a:pPr algn="l" indent="0" marL="0">
              <a:buNone/>
            </a:pPr>
            <a:r>
              <a:rPr lang="en-US" sz="9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BNPBは8月27日、住宅修復助成の単価を発表：一部損壊は1棟1,500万ルピア、半壊は3,000万ルピア。全壊は新築・代替住宅で別途対応する。配布・会計の仕組みと予算総額は同日時点でなお最終調整中。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中央政府予備費</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プラボウォ大統領が予備費2,000億ルピア（NTT州へ400億、被災8県へ各200億）を承認。9月7日の災害対策会議時点で、内務省は執行の遅れを指摘し、支援チームを各地へ派遣した。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 </a:t>
            </a:r>
            <a:pPr algn="l" indent="0" marL="0">
              <a:buNone/>
            </a:pPr>
            <a:r>
              <a:rPr lang="en-US" sz="850" dirty="0">
                <a:solidFill>
                  <a:srgbClr val="6A6A6A"/>
                </a:solidFill>
                <a:latin typeface="Meiryo" pitchFamily="34" charset="0"/>
                <a:ea typeface="Meiryo" pitchFamily="34" charset="-122"/>
                <a:cs typeface="Meiryo" pitchFamily="34" charset="-120"/>
              </a:rPr>
              <a:t>BNPB、8/27、Home Affairs Ministry、9/8 2026（経由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住家被害数値の整合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未整合の総数が3つに増えた：77,912棟「被害」（8/24確定）、81,436棟「影響」（8/26）、95,567棟「被害」（8/30 </a:t>
                      </a:r>
                      <a:pPr algn="l" indent="0" marL="0">
                        <a:buNone/>
                      </a:pPr>
                      <a:r>
                        <a:rPr lang="en-US" sz="1100" dirty="0">
                          <a:solidFill>
                            <a:srgbClr val="222222"/>
                          </a:solidFill>
                          <a:latin typeface="Meiryo" pitchFamily="34" charset="0"/>
                          <a:ea typeface="Meiryo" pitchFamily="34" charset="-122"/>
                          <a:cs typeface="Meiryo" pitchFamily="34" charset="-120"/>
                        </a:rPr>
                        <a:t>BNPB記者会見）。いずれも直前より大きい。氏名・住所単位調査の進展によるもの（ADRCの作業仮説）か、集計手法自体の変更かを対外使用前に確認すること。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関係省庁による未整合の集計が4つに増えた（8月24日、26日、27日IHCPダッシュボード、8月30日／9月4日公共事業省）。それぞれ内訳の区分が異なる。対外的に単一の数値を引用する前に、各々が何を数えているか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25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25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インドネシア「アナククラカタウ火山噴火」DG ECHO日次地図（9月7日）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インドネシア「森林火災の煙害が東南アジアの子どもを脅かし休校に」（セーブ・ザ・チルドレン）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インドネシア「森林火災の煙害」（同一資料のReliefWeb重複掲載）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第36週（8月31日〜9月6日）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第37週（9月7日〜13日、9月14日掲載）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25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ANTARA英語版：NTT地震被災者向け住宅支援を準備（8月27日）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ANTARA英語版：BNPBが避難者数の減少を報告、余震も沈静化（8月30日）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ANTARA英語版：道路17区間・橋梁14か所が復旧（9月4日）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ANTARA英語版：教育施設1,931校が授業を再開（9月5日）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ANTARA英語版：予備費2,000億ルピアの活用加速を要請（9月8日）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ANTARA英語版：保健省が保健人材160人を追加派遣（9月8日）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ANTARA英語版：フローレスの余震は減少傾向も引き続き警戒を（9月9日）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2026-09-14T22:49:57Z</dcterms:created>
  <dcterms:modified xsi:type="dcterms:W3CDTF">2026-09-14T22:49:57Z</dcterms:modified>
</cp:coreProperties>
</file>