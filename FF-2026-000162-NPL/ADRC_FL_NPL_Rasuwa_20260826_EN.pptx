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google.com/maps/@28.28,85.38,9z" TargetMode="External"/><Relationship Id="rId6" Type="http://schemas.openxmlformats.org/officeDocument/2006/relationships/hyperlink" Target="https://unosat.org/products/4259" TargetMode="External"/><Relationship Id="rId7" Type="http://schemas.openxmlformats.org/officeDocument/2006/relationships/hyperlink" Target="https://bipadportal.gov.np/"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sentinel-asia.org/EO/2026/article20260826NP.html" TargetMode="External"/><Relationship Id="rId5" Type="http://schemas.openxmlformats.org/officeDocument/2006/relationships/hyperlink" Target="https://disasterscharter.org/activations/flood-in-nepal-activation-1052-" TargetMode="External"/><Relationship Id="rId6" Type="http://schemas.openxmlformats.org/officeDocument/2006/relationships/hyperlink" Target="https://sentinel-asia.org/EO/2026/article20260826NP.html" TargetMode="External"/><Relationship Id="rId1" Type="http://schemas.openxmlformats.org/officeDocument/2006/relationships/image" Target="../media/image-19-1.png"/><Relationship Id="rId2" Type="http://schemas.openxmlformats.org/officeDocument/2006/relationships/image" Target="../media/image-19-2.png"/><Relationship Id="rId4" Type="http://schemas.openxmlformats.org/officeDocument/2006/relationships/image" Target="../media/image-19-3.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20-1.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21-1.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unosat.org/products/4259" TargetMode="External"/><Relationship Id="rId4" Type="http://schemas.openxmlformats.org/officeDocument/2006/relationships/hyperlink" Target="https://unosat.org/products/4259" TargetMode="External"/><Relationship Id="rId1" Type="http://schemas.openxmlformats.org/officeDocument/2006/relationships/image" Target="../media/image-24-1.png"/><Relationship Id="rId2" Type="http://schemas.openxmlformats.org/officeDocument/2006/relationships/image" Target="../media/image-24-2.jp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sentinel-asia.org/EO/2026/article20260826NP.html" TargetMode="External"/><Relationship Id="rId4" Type="http://schemas.openxmlformats.org/officeDocument/2006/relationships/hyperlink" Target="https://disasterscharter.org/activations/flood-in-nepal-activation-1052-" TargetMode="External"/><Relationship Id="rId5" Type="http://schemas.openxmlformats.org/officeDocument/2006/relationships/hyperlink" Target="https://earthquake.usgs.gov/earthquakes/eventpage/us7000tbwb" TargetMode="External"/><Relationship Id="rId6" Type="http://schemas.openxmlformats.org/officeDocument/2006/relationships/hyperlink" Target="https://reliefweb.int/map/nepal/nepal-satellite-detected-mudflow-rockflow-extent-26-27-august-2026-rasuwa-district-bagmati-province-imagery-analysis-2627082026-published-27082026-v1" TargetMode="External"/><Relationship Id="rId7" Type="http://schemas.openxmlformats.org/officeDocument/2006/relationships/hyperlink" Target="https://reliefweb.int/report/nepal/ifrc-launches-chf-25-million-emergency-appeal-response-devastating-nepal-flash-floods" TargetMode="External"/><Relationship Id="rId8" Type="http://schemas.openxmlformats.org/officeDocument/2006/relationships/hyperlink" Target="https://reliefweb.int/report/nepal/flash-floods-nepal-leave-more-17000-children-need-urgent-humanitarian-assistance-enar" TargetMode="External"/><Relationship Id="rId9" Type="http://schemas.openxmlformats.org/officeDocument/2006/relationships/hyperlink" Target="https://reliefweb.int/report/nepal/wfp-nepal-external-situation-report-27-august-2026" TargetMode="External"/><Relationship Id="rId10" Type="http://schemas.openxmlformats.org/officeDocument/2006/relationships/hyperlink" Target="https://bipadportal.gov.np/" TargetMode="External"/><Relationship Id="rId11" Type="http://schemas.openxmlformats.org/officeDocument/2006/relationships/hyperlink" Target="https://unosat.org/products/4259" TargetMode="External"/><Relationship Id="rId1" Type="http://schemas.openxmlformats.org/officeDocument/2006/relationships/image" Target="../media/image-25-1.png"/><Relationship Id="rId12" Type="http://schemas.openxmlformats.org/officeDocument/2006/relationships/slideLayout" Target="../slideLayouts/slideLayout1.xml"/><Relationship Id="rId1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3" Type="http://schemas.openxmlformats.org/officeDocument/2006/relationships/hyperlink" Target="https://reliefweb.int/report/nepal/nepal-rasuwa-flood-flash-update-3" TargetMode="External"/><Relationship Id="rId4" Type="http://schemas.openxmlformats.org/officeDocument/2006/relationships/hyperlink" Target="https://reliefweb.int/report/nepal/wfp-nepal-external-situation-report-29-august-2026" TargetMode="External"/><Relationship Id="rId5" Type="http://schemas.openxmlformats.org/officeDocument/2006/relationships/hyperlink" Target="https://reliefweb.int/report/nepal/wfp-nepal-external-situation-report-30-august-2026" TargetMode="External"/><Relationship Id="rId6" Type="http://schemas.openxmlformats.org/officeDocument/2006/relationships/hyperlink" Target="https://reliefweb.int/report/nepal/nepal-rasuwa-flood-flash-update-4-31-august-2026" TargetMode="External"/><Relationship Id="rId7" Type="http://schemas.openxmlformats.org/officeDocument/2006/relationships/hyperlink" Target="https://reliefweb.int/report/nepal/dispatch-korea-disaster-relief-team-kdrt-response-flood-damage-nepal" TargetMode="External"/><Relationship Id="rId8" Type="http://schemas.openxmlformats.org/officeDocument/2006/relationships/hyperlink" Target="https://reliefweb.int/report/nepal/nepal-flood-emergency-situation-report-reporting-period-30-31-august-2026" TargetMode="External"/><Relationship Id="rId9" Type="http://schemas.openxmlformats.org/officeDocument/2006/relationships/hyperlink" Target="https://reliefweb.int/report/nepal/water-mission-responds-devastating-flash-floods-nepal" TargetMode="External"/><Relationship Id="rId10" Type="http://schemas.openxmlformats.org/officeDocument/2006/relationships/hyperlink" Target="https://www.ndrrma.gov.np/" TargetMode="External"/><Relationship Id="rId11" Type="http://schemas.openxmlformats.org/officeDocument/2006/relationships/hyperlink" Target="https://ndrrma.gov.np/mediafiles/rasuwa/SitRep_11_NEP_01092026.pdf" TargetMode="External"/><Relationship Id="rId12" Type="http://schemas.openxmlformats.org/officeDocument/2006/relationships/hyperlink" Target="https://reliefweb.int/map/nepal/mudflowrockflow-impact-assessment-nuwakot-district-bagmati-province-nepal-26-27-august-2026-imagery-analysis-2627082026-published-28082026-v1" TargetMode="External"/><Relationship Id="rId13" Type="http://schemas.openxmlformats.org/officeDocument/2006/relationships/hyperlink" Target="https://reliefweb.int/map/nepal/satellite-detected-newly-formed-barrier-lakes-following-ice-rock-avalanche-rasuwa-district-nepal-28-august-2026-imagery-analysis-2627082026-published-27082026-v1" TargetMode="External"/><Relationship Id="rId1" Type="http://schemas.openxmlformats.org/officeDocument/2006/relationships/image" Target="../media/image-26-1.png"/><Relationship Id="rId14" Type="http://schemas.openxmlformats.org/officeDocument/2006/relationships/slideLayout" Target="../slideLayouts/slideLayout1.xml"/><Relationship Id="rId1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reliefweb.int/map/nepal/nepal-china-eu-response-ice-rock-avalanche-and-flash-flood-event-dg-echo-daily-map-02092026" TargetMode="External"/><Relationship Id="rId3" Type="http://schemas.openxmlformats.org/officeDocument/2006/relationships/hyperlink" Target="https://reliefweb.int/report/nepal/rapid-disaster-impact-report-satellite-remote-sensing-reveals-severe-mudslide-impacts-along-china-nepal-border" TargetMode="External"/><Relationship Id="rId4" Type="http://schemas.openxmlformats.org/officeDocument/2006/relationships/hyperlink" Target="https://reliefweb.int/report/nepal/nepal-floods-hit-vulnerable-communities-undp-estimates-22-million-tonnes-debris" TargetMode="External"/><Relationship Id="rId5" Type="http://schemas.openxmlformats.org/officeDocument/2006/relationships/hyperlink" Target="https://reliefweb.int/report/nepal/nepal-flash-floods-medical-teams-deploy-emergency-zone" TargetMode="External"/><Relationship Id="rId6" Type="http://schemas.openxmlformats.org/officeDocument/2006/relationships/hyperlink" Target="https://reliefweb.int/report/nepal/nepal-rasuwa-flood-flash-update-5-1-september-2026" TargetMode="External"/><Relationship Id="rId7" Type="http://schemas.openxmlformats.org/officeDocument/2006/relationships/hyperlink" Target="https://reliefweb.int/report/nepal/unicef-nepal-humanitarian-situation-report-no1-rasuwa-flood-31-august-2026" TargetMode="External"/><Relationship Id="rId8" Type="http://schemas.openxmlformats.org/officeDocument/2006/relationships/hyperlink" Target="https://reliefweb.int/report/nepal/nepal-flood-2026-dref-operation-mdrnp022" TargetMode="External"/><Relationship Id="rId9" Type="http://schemas.openxmlformats.org/officeDocument/2006/relationships/hyperlink" Target="https://reliefweb.int/report/nepal/dispatch-japan-disaster-relief-jdr-expert-team-response-flash-flood-nepal" TargetMode="External"/><Relationship Id="rId10" Type="http://schemas.openxmlformats.org/officeDocument/2006/relationships/hyperlink" Target="https://reliefweb.int/map/nepal/nepal-flash-floods-26th-august-2026-flood-extent-affected-districts-dhading-nuwakot-and-rasuwa-03092026" TargetMode="External"/><Relationship Id="rId11" Type="http://schemas.openxmlformats.org/officeDocument/2006/relationships/hyperlink" Target="https://reliefweb.int/map/nepal/nepal-flash-floods-26th-august-2026-reference-map-nuwakot-district-03092026" TargetMode="External"/><Relationship Id="rId12" Type="http://schemas.openxmlformats.org/officeDocument/2006/relationships/hyperlink" Target="https://reliefweb.int/map/nepal/nepal-flash-floods-26th-august-2026-reference-map-rasuwa-district-03092026" TargetMode="External"/><Relationship Id="rId13" Type="http://schemas.openxmlformats.org/officeDocument/2006/relationships/hyperlink" Target="https://reliefweb.int/report/nepal/iom-nepal-flood-response-situation-report-3-3-september-2026" TargetMode="External"/><Relationship Id="rId1" Type="http://schemas.openxmlformats.org/officeDocument/2006/relationships/image" Target="../media/image-27-1.png"/><Relationship Id="rId14" Type="http://schemas.openxmlformats.org/officeDocument/2006/relationships/slideLayout" Target="../slideLayouts/slideLayout1.xml"/><Relationship Id="rId1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reliefweb.int/report/nepal/wfp-nepal-situation-report-rasuwa-flood-response-04-september-2026" TargetMode="External"/><Relationship Id="rId3" Type="http://schemas.openxmlformats.org/officeDocument/2006/relationships/hyperlink" Target="https://reliefweb.int/report/nepal/nepal-rasuwa-flood-flash-appeal-4-september-2026" TargetMode="External"/><Relationship Id="rId4" Type="http://schemas.openxmlformats.org/officeDocument/2006/relationships/hyperlink" Target="https://reliefweb.int/report/nepal/nepal-flash-floods-displacement-snapshot-27-31-august-2026" TargetMode="External"/><Relationship Id="rId5" Type="http://schemas.openxmlformats.org/officeDocument/2006/relationships/hyperlink" Target="https://reliefweb.int/map/nepal/nepal-rasuwa-floods-26th-august-2026-reference-map-series-affected-area-sheet-01-04092026" TargetMode="External"/><Relationship Id="rId6" Type="http://schemas.openxmlformats.org/officeDocument/2006/relationships/hyperlink" Target="https://reliefweb.int/map/nepal/nepal-rasuwa-floods-26th-august-2026-reference-map-bidur-municipality-04092026" TargetMode="External"/><Relationship Id="rId1" Type="http://schemas.openxmlformats.org/officeDocument/2006/relationships/image" Target="../media/image-28-1.pn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lR8quy/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Bhote Koshi Debris Flow and Flash Flood (Nepal)</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FF-2026-000162-NPL)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   ·   Source area around Deding in the Langtang region; the flood ran down the Bhote Koshi-Trishuli corridor</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 → Nepal</a:t>
            </a:r>
            <a:endParaRPr lang="en-US" sz="1250" dirty="0"/>
          </a:p>
        </p:txBody>
      </p:sp>
      <p:sp>
        <p:nvSpPr>
          <p:cNvPr id="8" name="Shape 5"/>
          <p:cNvSpPr/>
          <p:nvPr/>
        </p:nvSpPr>
        <p:spPr>
          <a:xfrm>
            <a:off x="365760" y="1835658"/>
            <a:ext cx="3444240" cy="2583180"/>
          </a:xfrm>
          <a:prstGeom prst="rect">
            <a:avLst/>
          </a:prstGeom>
          <a:solidFill>
            <a:srgbClr val="F2F2F2"/>
          </a:solidFill>
          <a:ln w="9525">
            <a:solidFill>
              <a:srgbClr val="D9D9D9"/>
            </a:solidFill>
            <a:prstDash val="solid"/>
          </a:ln>
        </p:spPr>
      </p:sp>
      <p:pic>
        <p:nvPicPr>
          <p:cNvPr id="9" name="Image 1" descr="/tmp/build_event-lR8quy/generator/images/FF-2026-000162-NPL/locator_world_manual_en.jpg">    </p:cNvPr>
          <p:cNvPicPr>
            <a:picLocks noChangeAspect="1"/>
          </p:cNvPicPr>
          <p:nvPr/>
        </p:nvPicPr>
        <p:blipFill>
          <a:blip r:embed="rId2"/>
          <a:srcRect l="0" r="0" t="0" b="0"/>
          <a:stretch/>
        </p:blipFill>
        <p:spPr>
          <a:xfrm>
            <a:off x="365760" y="1835658"/>
            <a:ext cx="3444240" cy="2583180"/>
          </a:xfrm>
          <a:prstGeom prst="rect">
            <a:avLst/>
          </a:prstGeom>
        </p:spPr>
      </p:pic>
      <p:sp>
        <p:nvSpPr>
          <p:cNvPr id="10" name="Shape 6"/>
          <p:cNvSpPr/>
          <p:nvPr/>
        </p:nvSpPr>
        <p:spPr>
          <a:xfrm>
            <a:off x="2602992" y="418109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Nepal → Rasuwa District</a:t>
            </a:r>
            <a:endParaRPr lang="en-US" sz="1250" dirty="0"/>
          </a:p>
        </p:txBody>
      </p:sp>
      <p:sp>
        <p:nvSpPr>
          <p:cNvPr id="13" name="Shape 9"/>
          <p:cNvSpPr/>
          <p:nvPr/>
        </p:nvSpPr>
        <p:spPr>
          <a:xfrm>
            <a:off x="4358640" y="1835658"/>
            <a:ext cx="3444240" cy="2583180"/>
          </a:xfrm>
          <a:prstGeom prst="rect">
            <a:avLst/>
          </a:prstGeom>
          <a:solidFill>
            <a:srgbClr val="F2F2F2"/>
          </a:solidFill>
          <a:ln w="9525">
            <a:solidFill>
              <a:srgbClr val="D9D9D9"/>
            </a:solidFill>
            <a:prstDash val="solid"/>
          </a:ln>
        </p:spPr>
      </p:sp>
      <p:pic>
        <p:nvPicPr>
          <p:cNvPr id="14" name="Image 2" descr="/tmp/build_event-lR8quy/generator/images/FF-2026-000162-NPL/locator_region_manual_en.jpg">    </p:cNvPr>
          <p:cNvPicPr>
            <a:picLocks noChangeAspect="1"/>
          </p:cNvPicPr>
          <p:nvPr/>
        </p:nvPicPr>
        <p:blipFill>
          <a:blip r:embed="rId3"/>
          <a:srcRect l="0" r="0" t="0" b="0"/>
          <a:stretch/>
        </p:blipFill>
        <p:spPr>
          <a:xfrm>
            <a:off x="4358640" y="1835658"/>
            <a:ext cx="3444240" cy="2583180"/>
          </a:xfrm>
          <a:prstGeom prst="rect">
            <a:avLst/>
          </a:prstGeom>
        </p:spPr>
      </p:pic>
      <p:sp>
        <p:nvSpPr>
          <p:cNvPr id="15" name="Shape 10"/>
          <p:cNvSpPr/>
          <p:nvPr/>
        </p:nvSpPr>
        <p:spPr>
          <a:xfrm>
            <a:off x="6595872" y="418109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Bhote Koshi valley (Timure)</a:t>
            </a:r>
            <a:endParaRPr lang="en-US" sz="1250" dirty="0"/>
          </a:p>
        </p:txBody>
      </p:sp>
      <p:sp>
        <p:nvSpPr>
          <p:cNvPr id="18" name="Shape 13"/>
          <p:cNvSpPr/>
          <p:nvPr/>
        </p:nvSpPr>
        <p:spPr>
          <a:xfrm>
            <a:off x="8351520" y="1835658"/>
            <a:ext cx="3444240" cy="2583180"/>
          </a:xfrm>
          <a:prstGeom prst="rect">
            <a:avLst/>
          </a:prstGeom>
          <a:solidFill>
            <a:srgbClr val="F2F2F2"/>
          </a:solidFill>
          <a:ln w="9525">
            <a:solidFill>
              <a:srgbClr val="D9D9D9"/>
            </a:solidFill>
            <a:prstDash val="solid"/>
          </a:ln>
        </p:spPr>
      </p:sp>
      <p:pic>
        <p:nvPicPr>
          <p:cNvPr id="19" name="Image 3" descr="/tmp/build_event-lR8quy/generator/images/FF-2026-000162-NPL/google_cities_manual_en.jpg">    </p:cNvPr>
          <p:cNvPicPr>
            <a:picLocks noChangeAspect="1"/>
          </p:cNvPicPr>
          <p:nvPr/>
        </p:nvPicPr>
        <p:blipFill>
          <a:blip r:embed="rId4"/>
          <a:srcRect l="0" r="0" t="0" b="0"/>
          <a:stretch/>
        </p:blipFill>
        <p:spPr>
          <a:xfrm>
            <a:off x="8351520" y="1835658"/>
            <a:ext cx="3444240" cy="2583180"/>
          </a:xfrm>
          <a:prstGeom prst="rect">
            <a:avLst/>
          </a:prstGeom>
        </p:spPr>
      </p:pic>
      <p:sp>
        <p:nvSpPr>
          <p:cNvPr id="20" name="Shape 14"/>
          <p:cNvSpPr/>
          <p:nvPr/>
        </p:nvSpPr>
        <p:spPr>
          <a:xfrm>
            <a:off x="10588752" y="418109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22" name="Shape 16"/>
          <p:cNvSpPr/>
          <p:nvPr/>
        </p:nvSpPr>
        <p:spPr>
          <a:xfrm>
            <a:off x="0" y="4736592"/>
            <a:ext cx="12188952" cy="1591056"/>
          </a:xfrm>
          <a:prstGeom prst="rect">
            <a:avLst/>
          </a:prstGeom>
          <a:solidFill>
            <a:srgbClr val="262626"/>
          </a:solidFill>
          <a:ln w="12700">
            <a:solidFill>
              <a:srgbClr val="333333"/>
            </a:solidFill>
            <a:prstDash val="solid"/>
          </a:ln>
        </p:spPr>
      </p:sp>
      <p:sp>
        <p:nvSpPr>
          <p:cNvPr id="23" name="Text 17"/>
          <p:cNvSpPr/>
          <p:nvPr/>
        </p:nvSpPr>
        <p:spPr>
          <a:xfrm>
            <a:off x="457200" y="4809744"/>
            <a:ext cx="11274552" cy="144475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At about 08:30-08:37 NPT on 26 August 2026 a temporary natural dam on the Bhote Koshi, formed the previous afternoon by an ice, rock and soil mass failure around Deding in the Langtang region, breached and released a debris-laden flood down the Bhote Koshi-Trishuli corridor. The flood reached Rasuwagadhi at about 09:00, Timure at about 09:15 and Betrawati at about 09:20. The steep, narrow valley kept the flow concentrated and fast, and the heavy load of ice, rock and sediment made it far more destructive than its water volume alone. Rasuwa, Nuwakot, Dhading and Chitwan Districts were affected. More than 32 bridges were washed away along the 42 km Betrawati-Rasuwagadhi corridor, the Timure and Rasuwagadhi customs facilities and Nepal-China border trade were severely damaged, and about 748 MW of hydropower capacity was affected. ADRC activated Sentinel Asia and the International Charter on the day of the event at the request of the Department of Hydrology and Meteorology.</a:t>
            </a:r>
            <a:endParaRPr lang="en-US" sz="1250" dirty="0"/>
          </a:p>
        </p:txBody>
      </p:sp>
      <p:sp>
        <p:nvSpPr>
          <p:cNvPr id="24" name="Text 18"/>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Google Maps © Google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BIPAD Portal, Ministry of Home Affairs, Nepal</a:t>
            </a:r>
            <a:endParaRPr lang="en-US" sz="1050" dirty="0"/>
          </a:p>
        </p:txBody>
      </p:sp>
      <p:sp>
        <p:nvSpPr>
          <p:cNvPr id="25"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6"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(25 August - 4 September 2026 (Nepal Standard Time, UTC+5:45)) (1/4)</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 13:00-14:00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ice, rock and soil mass detaches at about 5,000 m around Deding in the Langtang region and descends to the river at about 3,000 m, fracturing and mixing with soil and debris on the way.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 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mass blocks the Bhote Koshi and forms a temporary natural dam. Water accumulates behind it for about 18-19 hours. Inflow from the Mala River and other tributaries keeps the downstream channel flowing, masking the blockage.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08:30-08:37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temporary dam breaches, releasing water, ice, rock, soil and sediment. An M4.4 seismic signal is recorded at about 08:37 and residents report a massive roar.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flood reaches Timure at about 09:15 and Betrawati at about 09:20. The short travel times show exceptionally rapid movement through the narrow upper valley.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logs a magnitude 4.4 signal, later revised to 5.2. IRDR reads this as ground vibration from the sudden dam breach rather than a tectonic earthquake.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 / IRDR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sudden surge of water enters the Bhote Koshi River from the Tibet Autonomous Region of China. Timure, Syabrubesi, the Rasuwagadhi customs and border crossing and roughly a dozen riverside settlements in northern Rasuwa take the earliest and heaviest impact.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DHM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Nepal's NDRRMA requests rapid satellite imagery. ADRC receives the request and activates Sentinel Asia (emergency observation request SA-00658, requester: Department of Hydrology and Meteorology).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ADRC / 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11:45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second glacial-collapse signal, magnitude 4.2, is recorded at the same location (event us7000tc90).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UNOCHA's Bangkok office supplies two areas of interest for imagery tasking - the Syabrubesi area and the Timure area - which ADRC merges into the Sentinel Asia request.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 / JAXA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18:43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International Charter Space and Major Disasters is activated as #1052, with ADRC recorded as the requestor on behalf of the Department of Hydrology and Meteorology (14:58 UTC+02:00). Project management is assigned to UNITAR.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28</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(25 August - 4 September 2026 (Nepal Standard Time, UTC+5:45)) (2/4)</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First official tolls diverge: 72 deaths (NDRRMA) and 95 (Prime Minister's Office). By late evening about 160 are reported, with 157 bodies recovered.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PMO</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08:15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Nepal Police bulletin lists 826 people missing in Nepal alone: 579 travellers (466 foreign nationals, 113 Nepalis), 85 security personnel, 161 residents of Rasuwa and one of Nuwakot.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confirmed toll is put at 165 dead and 73 injured, superseding the previous evening's figures.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launches a CHF 25 million Emergency Appeal for 24 months, one day after releasing nearly CHF 1 million in emergency funding to the Nepal Red Cross Society. Around 93,000 people may have been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appeals for US$17.2 million, reporting at least 17,000 children impacted across Rasuwa, Nuwakot and Dhading and at least four health facilities severely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publishes satellite-detected mudflow/rockflow extent for Rasuwa and Nuwakot districts from Sentinel-2 (27 Aug) and PlanetScope (26 Aug) imagery.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UNOSAT / 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JAXA schedules an ALOS-2 emergency observation. Analyses using Landsat-9 (Rissho University) and a 3D damage map from optical satellites (University of Tokyo) are shared through 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JAXA / 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NEOC reports 539 confirmed dead, 977 missing and 73 injured. 3,742 people have been rescued; 12,249 security personnel and 15 helicopters are mobilised. The Cabinet lifts tax duties on incoming relief items and the One Door policy under which all relief had to be delivered by the government.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NEOC / UN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29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situation report: 616 deaths and 1,924 people missing or out of contact across Dhading, Nuwakot and Rasuwa. NDRRMA warns of a continuing flood risk from an estimated 0.11 sq km lake formed upstream by the blockage of the Lhende Khola. WFP dispatches 2.8 mt of BP-5 fortified biscuits for up to 5,000 people and receives AUD 2 million (USD 1.4 million) from the Australian Government.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28</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(25 August - 4 September 2026 (Nepal Standard Time, UTC+5:45)) (3/4)</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30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situation report: the death toll rises to approximately 734, with around 242 injured and 2,448 people still reported missing; more than 8,198 people have been rescued to date. Damage to infrastructure continues to hamper access, including approximately 40 km of roads, more than 80 bridges and at least 14 hydropower and energy facilities along the Bhote Koshi-Trishuli corridor. WFP has dispatched 31.8 mt of food assistance and secured approximately USD 5.4 million through Australia, CERF and the United States.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 Flash Update #4: NDRRMA's 09:00 bulletin puts the death toll at 903, with 267 injured (156 discharged) and 4,247 still reported missing. 10,451 people have been rescued to date, including 252 foreign nationals and 3,344 Nepalis airlifted by helicopter; 20,819 personnel are mobilised. The Government has allocated NPR 10 million each in emergency funds to Rasuwa and Nuwakot and NPR 0.5 million to Dhading. Joint Nepal-India-China rescue operations continue at the Trishuli 3A, Haku Besi, Trishuli 3B and Chilime hydropower sites. The Mugling-Malekhu section of the Prithvi Highway remains fully blocked by toe-cutting at Krishna Bhir and Parewa Bhir; power has been restored in Dhading and Nuwakot, with work continuing in Rasuwa.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Republic of Korea decides to dispatch the Korea Disaster Relief Team (KDRT) following a request from the Government of Nepal for support to search and rescue operations. The team of 44 members from the Ministry of Foreign Affairs, KOICA and the National Fire Agency, headed by Lee Kyoo-ho, Director-General for Development Cooperation, departs on the night of 1 September aboard Korean military transport aircraft. Korea had earlier announced USD 1 million in humanitarian assistance through international organizations on 27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#01: 987 deceased (including recovered human remains) and 3,916 people reported missing across 62 districts. 279 injured have been treated (168 discharged, 79 still under treatment, 29 referred); the Nepal Army has provided medical treatment to 2,740 people. 11,814 people have been rescued in total, of whom 3,702 by helicopter (253 foreign nationals and 3,449 Nepalis) over 573 air operations. 21,011 security personnel are deployed, including teams from Korea, China and India for joint search and rescue at the Trishuli 3A, Haku Besi, Trishuli 3B and Chilime hydropower sites. Five districts are affected - Rasuwa and Nuwakot severely, with approximately 1.6 million people impacted, and Dhading, Gorkha and Chitwan moderately. 41 motorable bridges have been washed away and 4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3,702 households (14,461 people: 7,453 male, 7,008 female, including 3,650 children and 1,204 older persons) remain isolated in Gosaikunda and Amachhodingmo Rural Municipalities in Rasuwa, with road, electricity and communication services disrupted for up to six days. 30 holding centres accommodate 3,930 people (Nuwakot 19 centres / 2,653 people; Rasuwa 11 centres / 1,277 people). In Nuwakot 1,267 houses are reported fully damaged and 1,253 partially damaged; satellite mapping identifies 4,689 buildings inside the flood-affected zone, which NDRRMA describes as estimated exposure and not verified damage.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28</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(25 August - 4 September 2026 (Nepal Standard Time, UTC+5:45)) (4/4)</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#11: 1,050 deaths (by district: Chitwan 321, Nawalparasi East 216, Nawalparasi West 170, Nuwakot 142, Gorkha 65, Dhading 57, Tanahu 38, Rasuwa 41), 3,916 out of contact (unchanged from the day's earlier cuts) and 292 treated for injuries across 16 health facilities (182 discharged, 74 under treatment, 33 referred, 3 died during treatment). 11,993 people rescued to date, including 4,364 by helicopter. 21,314 security personnel mobilised. The Prithvi Highway remains blocked at the Krishnabhir/Parewabhir section (Malekhu-Muglin) by continuing toe-cutting erosion of the road embankment; an alternative route is being sought. Nearly all cell towers in the affected corridor are back in service (Nepal Telecom: all 110 damaged towers restored; Ncell: 75 of 78). Power has been restored via a separate line from the Sanjen hydropower plant to most of Aamachhodingmo Rural Municipality, Rasuwa. Unidentified bodies are being held at 21 hospitals across districts pending identification.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Government of Japan decided to dispatch a Japan Disaster Relief (JDR) expert team to support identification of the deceased, in response to a request from the Government of Nepal. No new NDRRMA situation report (beyond #11, 1 Sep 18:00) had been published as of this update; NDRRMA's official casualty figures are unchanged.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Japan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Nepal Flood Response Situation Report #3 (as of 3 Sep): authorities reported 1,259 bodies recovered and 5,053 people missing; 12,038 people rescued in total, including 583 foreign nationals, with more than 21,402 security personnel mobilised. About 84,270 people are estimated affected across 17 municipalities in six districts. In Nuwakot District alone, 1,897 households have been displaced, 1,267 houses completely damaged and 1,253 partially damaged; an estimated 5,384 displaced people are at facilities health partners are assessing. This is the first agency figure to move the death toll and missing count beyond NDRRMA's 1 Sep Situation Report #11 (1,050 deaths, 3,916 missing); no NDRRMA PDF situation report matching this cut-off has been found.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Situation Report on the Rasuwa Flood Response (4 Sep): reported fatalities have risen to 1,259, with 5,083 people still missing (both figures again attributed to government/authorities, without a specific NDRRMA report number). WFP has dispatched 85.8 t of food rations for 15 days to Dhading, Nuwakot and Rasuwa, plus 2.8 t of BP-5 and 40 boxes (0.45 t) of fortified biscuits, and has facilitated 101 transport movements (57 supporting Government-led relief, 44 WFP dispatches). Three local governments across the Trishuli River in Rasuwa remain cut off by road. Separately, the Humanitarian Country Team's Nepal: Rasuwa Flood Flash Appeal (OCHA/UN RC Nepal, 4 Sep) reiterates the 84,270-person, 17-municipality, six-district affected estimate (NDRRMA-based) and adds about 19,284 households affected, with all 84,270 targeted for assistance; the appeal frames these as exposure-model estimates to be refined through joint assessment.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28</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(1/11)</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1,050 deaths (NDRRMA Situation Report #11, 1 Sep 18:00 NPT), by district: Chitwan 321, Nawalparasi East 216, Nawalparasi West 170, Nuwakot 142, Gorkha 65, Dhading 57, Tanahu 38, Rasuwa 41. The toll rose through the day of 1 Sep: 987 at the 1 Sep 09:00 cut, 1,003 at the 1 Sep 13:00 cut (cited in OCHA's Rasuwa Flood Flash Update #5), and 1,050 at this 1 Sep 18:00 cut, including 3 deaths recorded during hospital treatment. Earlier: 903 (31 Aug 09:00), 734 (30 Aug), 616 (29 Aug, WFP citing government figures), 539 (NEOC, 28 Aug). The large downstream district counts (Chitwan, Nawalparasi) reflect the surge travelling far down the Trishuli-Narayani river system, not a second event. No NDRRMA PDF situation report beyond #11 has been published as of this update; the figures below for 3-4 Sep come from UN agency situation reports that attribute their numbers to government/authorities without citing a specific NDRRMA report number. IOM's Nepal Flood Response Situation Report #3 (as of 3 Sep) put the toll at 1,259; WFP's Nepal Situation Report on the Rasuwa Flood Response (4 Sep) states "reported fatalities have risen to 1,259", the same figure, suggesting both are citing the same underlying government count without it having moved between the two cut-offs. Neither report gives a district breakdown or exact cut-off time for this figure.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Nepal Situation Report on the Rasuwa Flood Response, 4 Sep 2026 (citing government figures); also IOM Nepal Flood Response Situation Report #3, 3 Sep 2026. Last NDRRMA PDF: Situation Report #11, 1 Sep 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28</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(2/11)</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3,916 people out of contact (approx.; NDRRMA Situation Report #11, 1 Sep 18:00 NPT), unchanged from the 1 Sep 09:00 and (per OCHA) 13:00 cuts the same day. Breakdown: security-agency personnel 2,423 (62%), government-agency personnel 663 (17%), foreign nationals 583 (15%), Nepalis travelling with foreign tourists 164 (4%), reports received from DEOC 63 (2%). NDRRMA gives no explanation for why this count has not moved while deaths have risen through the day; earlier this reported-missing series ran NEOC's 977 (28 Aug) to WFP's 2,448 (30 Aug) to 4,247 (31 Aug 09:00) to 3,916 (1 Sep). Separately, WFP's 29 Aug figure of 1,924 people missing or out of contact was described as a broader measure than NEOC's reported-to-authorities count; the two bases are not interchangeable. By 3 Sep, IOM's Situation Report #3 puts this figure at 5,053; WFP's 4 Sep report gives 5,083 ("still missing"). Neither UN report specifies whether this continues the same reported-missing series as NDRRMA's 3,916 or reflects a broader out-of-contact measure of the kind WFP has used before (see the 29 Aug note above); no NDRRMA PDF situation report beyond #11 confirms either figure.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Nepal Situation Report on the Rasuwa Flood Response, 4 Sep 2026 (citing government figures); also IOM Nepal Flood Response Situation Report #3, 3 Sep 2026. Last NDRRMA PDF: Situation Report #11, 1 Sep 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28</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(3/11)</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292 people treated across 16 health facilities, of whom 182 have been discharged, 74 remain under treatment and 33 have been referred to other hospitals; 3 people have died during treatment, a subset already included in the death toll (NDRRMA Situation Report #11, 1 Sep 18:00 NPT). Up from 279 at the 1 Sep 09:00 cut and 267 at the 31 Aug 09:00 cut. NEOC's 28 Aug count was 73 (Rasuwa 43, Nuwakot 27, Dhading 3); WFP reported about 242 on 30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#11, 1 Sep 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11,993 people rescued to date (NDRRMA Situation Report #11, 1 Sep 18:00 NPT), including 4,364 airlifted by helicopter (273 foreign nationals, 4,091 Nepalis) across 610 total flights (84 that day, 29 by private-sector operators); up from 11,814 at the 1 Sep 13:00 cut (per OCHA) and 10,451 at the 31 Aug cut. The Government has mobilised 21,314 security personnel (Nepal Army 9,119, Nepal Police 7,912, Armed Police Force 4,203). A command post remains active and 15 thematic coordination teams cover health, communications, roads and electricity restoration; fuel stocks on hand are 35,000 L diesel, 15,000 L petrol and 9,000 L aviation fuel. IOM's Situation Report #3 (as of 3 Sep) gives a total of 12,038 rescued, including 583 foreign nationals, with more than 21,402 security personnel mobilised - both up slightly from the 1 Sep NDRRMA cut, though IOM does not itemise the helicopter/airlift breakdown NDRRMA reports.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#11, 1 Sep 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28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(4/11)</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population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Thirteen municipalities across the four worst-hit districts - Rasuwa, Nuwakot, Dhading and Gorkha - are identified as most affected, and several are likely to be declared disaster crisis zones. Food security partners estimate at least 20,000 households across Rasuwa and Nuwakot may need immediate food assistance, with impacts also reported in Dhading, Gorkha, Chitwan and Tanahun. About 18,000 households, more than 50,000 people, need emergency water, sanitation and hygiene support. Nutrition partners estimate about 17,000 children, 1,500 pregnant and breastfeeding women and 9,000 adolescents need immediate nutrition support.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population (UNICEF, 5-district figure)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An estimated 65,000 people affected, including 22,100 children, across Rasuwa, Nuwakot, Dhading, Gorkha and Tanahun districts (UNICEF Nepal Humanitarian Situation Report No.1, 31 Aug) - up from the 28 Aug figure above, which covered three districts and about 17,000 children. Six health facilities and at least 19 schools were reported destroyed or damaged. This is a UNICEF-specific compilation and has not been reconciled with NDRRMA's or OCHA's affected-population figures, which use different bases and dates.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 Nepal Humanitarian Situation Report No.1, 31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28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(5/11)</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 / in need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Displacement figures remain preliminary. Five known sites in Nuwakot District are together sheltering more than 1,000 displaced people against a combined capacity of 1,350 (28 Aug); the whereabouts of people displaced from other districts were not yet known at that point. By 1 September, OCHA's Rasuwa Flood Flash Update #5 reported 3,458 displaced people living in 27 displacement sites in Nuwakot and Rasuwa, mostly in schools, though key gaps remain in who is displaced, where, and their needs. Relief is not reaching all affected areas: parts of Tarkeshwar (Nuwakot) had received no assistance, all wards of Aamachhodingmo (Rasuwa) remained inaccessible by road, and four rural municipalities in Dhading lacked safe drinking water. Access is constrained by 41 destroyed bridges and blocked highways. NDRRMA's Situation Report #11 (1 Sep 18:00) separately counts 27 holding centres (Nuwakot 16, Rasuwa 11) currently housing 2,466 people in Nuwakot, 398 in Rasuwa, 260 in Dhading and 329 in Kathmandu; the two counts (OCHA's 'displacement sites' and NDRRMA's 'holding centres') have not been reconciled.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 OCHA Rasuwa Flood Flash Update #5, as of 1 Sep; NDRRMA Situation Report #11, 1 Sep 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Hydropower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About 748 MW of hydropower capacity was affected - 354 MW from operational projects and 394 MW from projects under construction (Nepal Electricity Authority, preliminary). Rasuwagadhi, Chilime and Trishuli-3A were reported damaged. The 220 kV Trishuli 3B hub substation was completely destroyed and multiple transmission lines were disrupted, so the effects reach beyond the flooded corridor.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 Electricity Authority via IRDR,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28</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(6/11)</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Banks and customs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Nine commercial bank branches were swept away, with 26 staff unaccounted for. The Rasuwa customs office at Timure, on the border crossing to China, lost contact with 15 employees.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Rapid Situation Overview,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Lifelines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Roads, bridges, water systems and telecommunications networks were badly damaged, leaving affected areas largely inaccessible and hampering the delivery of aid. At least four health facilities were severely damaged. Several phone towers were lost, so some of those unaccounted for may simply be out of communication.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 27 Aug; Rapid Situation Overview</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Satellite-detected extent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Of 228 km2 analysed in Rasuwa District, 22 km2 was affected by floodwaters, mudflow or rockflow, and 1,920 of the 19,940 people living in the analysed area were exposed. By municipality: Gosaikunda 18 km2 and 1,160 people exposed, Uttargaya 3 km2 and 670, Kalika 1 km2 and 60, Aamachhodingmo 1 km2 and 30. The map also marks a potential ice-avalanche location on the Lende Khola inside the Tibet Autonomous Region, upstream of Rasuwa Gadhi. Preliminary; not yet validated in the field. A separate map covers Nuwakot District.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 UNITAR, published 27 Aug (Sentinel-2 27 Aug, PlanetScope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28</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(7/11)</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Satellite-detected extent (UNOSAT)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Analysed area about 350 km2, of which an estimated 37 km2 is affected by floodwaters. About 5,000 of the 46,600 buildings in the analysed area are exposed to or near the affected areas; about 120 km of roads are potentially affected. Highest concentration: Bidur Municipality, Nuwakot District (about 2,600 buildings), then Gosaikunda Municipality, Rasuwa District (about 1,030). Preliminary; not validated in the field.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product 4259, imagery 26-27 Aug, published 28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Bridges and roads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 km of roads, more than 80 bridges and 14 energy infrastructure assets damaged, continuing to constrain access and response operations. Large sections of the Bhote Koshi and Trishuli river corridors have suffered extensive damage to settlements, transport infrastructure and energy assets, leaving some communities isolated and dependent on air support for access.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situation report, 29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Border trade and customs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Timure Bazaar, Timure Customs and Rasuwagadhi Customs, together with nearby security posts and commercial facilities, were destroyed or severely damaged, disrupting Nepal-China border trade and tourism.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IRDR rapid analysis,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districts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Rasuwa, Nuwakot, Dhading and Gorkha are the four worst-hit districts, with 13 municipalities identified as most affected. Deaths have also been recorded in Chitwan, Kavrepalanchok and Tanahun further downstream.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NEOC / 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28</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(8/11)</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Land and agriculture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Early estimates point to more than 11,000 hectares of damaged land, including about 2,732 hectares of lost agricultural land, and around 45 km of damaged transport corridors. Damage is still being verified.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Schools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Sixty-nine schools with almost 19,000 enrolled students sit within 500 m of the affected riverbanks; at least 23 will need to be rehabilitated.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Upstream lake - continuing flood risk</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has warned of a continuing flood risk following the formation of an estimated 0.11 sq km lake upstream, caused by the blockage of the Lhende Khola. Authorities are urging downstream communities and responders to remain on high alert. UNOSAT's product 4260 (CARTOSAT-3 imagery, 28 Aug) confirms two newly formed barrier lakes near the Nepal-China border: about 12 ha located roughly 11 km east of the Rasuwagadhi Friendship Bridge along the Chusumdo Tsangpo River (following the approximate mudflow/rockflow path), and about 19 ha located roughly 2 km west of the potential ice-rock avalanche source area. UNOSAT states this is preliminary and not yet field-validated; it has not been confirmed whether either lake corresponds to the 0.11 sq km lake NDRRMA reported on 29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via WFP situation report, 29 Aug; UNOSAT product 4260, imagery 28 Aug, published 27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28</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(9/11)</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Telecommunications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Nepal Telecom reports that 80 of 120 affected sites have been returned to operation, and mobile services have been restored in several flood-affected areas of Rasuwa and Nuwakot (29 Aug). By 1 Sep 18:00, NDRRMA reported nearly all towers in the affected corridor back in service: Nepal Telecom's 110 damaged towers all restored; Ncell's 78 damaged towers, 75 restored.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 Telecom via WFP, 29 Aug; NDRRMA Situation Report #11, 1 Sep 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28</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(10/11)</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Debris volume (UNDP RAPIDA preliminary estimate)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2.2 million tonnes of debris within the analysed areas along the Bhote Koshi-Trishuli river system, combining Copernicus EMS/SERTIT satellite-based building damage assessment with locally adapted engineering estimates; expected to rise as more damage is identified. An estimated 556,200 tonnes is building debris, based on satellite assessment covering 2,359 buildings. Separately, government figures cited in the same release show 84,270 people affected across 17 municipalities in six districts, about three in four of them in areas already facing greater difficulty with livelihoods, basic services and living conditions before the flood. 11 hydropower stations and one solar plant (431.1 MW total) stopped operating, plus 15 more hydropower projects under construction (470 MW planned) damaged. The same 84,270-person, 17-municipality, six-district total (again attributed to NDRRMA data) recurs in the Humanitarian Country Team's Nepal: Rasuwa Flood Flash Appeal (OCHA/UN RC Nepal, 4 Sep), which additionally estimates about 19,284 households affected and states all 84,270 affected people will be targeted for assistance; the appeal notes these are exposure-model estimates pending refinement through joint government/sector assessment, so they show where to look rather than confirmed need. IOM's Situation Report #3 (3 Sep) separately reports, for Nuwakot District alone, 1,897 households displaced, 1,267 houses completely damaged and 1,253 partially damaged (matching NDRRMA's 1 Sep figures for the same two damaged-house counts), plus about 5,384 displaced people at facilities health partners are assessing.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UNDP, 1 Sep 2026 (RAPIDA preliminary assessment)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28</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(11/11)</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China-side impact (Gyirong, Tibet Autonomous Region)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 joint CBAS/IRDR China analysis of satellite imagery finds that floodwaters backed up about 4.9 km upstream along the Gyirong Zangbo River from Gyirong Port, with the water-covered area in the backflow zone increasing from about 0.27 sq km before the event (12 Aug) to about 0.62 sq km after it (12:48 Beijing time, 26 Aug) - 2.3 times the pre-event level. Downstream of the rock-ice avalanche source area, the river channel widened markedly along a 97.2 km stretch, with the river water area increasing from about 6.39 sq km (12 Aug) to about 30.99 sq km (26 Aug) - 4.85 times the pre-event level. This is the China-side counterpart to the Nepal-side UNOSAT mapping; the two have not been cross-referenced.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CBAS / IRDR China National Committee, published 31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28</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Nepal Red Cross Society began distributing water, tarpaulins, blankets and first-aid supplies, though many of the worst-affected communities in Rasuwa remain hard to reach because roads and bridges are destroyed.</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28</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 received the NDRRMA's request for rapid satellite imagery and activated both Sentinel Asia and the International Charter on the day of the event. The Charter records the requestor as "ADRC on behalf of the Department of Hydrology and Meteorology (DHM)" — Activation #1052, 26 August. The Sentinel Asia emergency observation request is SA-00658, and its record notes escalation to the International Charter and carries GLIDE FF-2026-000162-NPL.</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 released nearly CHF 1 million in emergency funding, then launched a 24-month Emergency Appeal for CHF 25 million covering shelter, cash assistance, health, household relief items, water, sanitation and hygiene, and mental health and psychosocial support.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UNICEF appealed for US$17.2 million for emergency response and early recovery, and moved pre-positioned hygiene kits from the Humanitarian Staging Area at Tribhuvan International Airport to Rasuwa, Nuwakot and Dhading.</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China pledged relief funding and India is sending humanitarian supplies. Indian authorities in Bihar opened the Valmikinagar Barrage on the Gandak River as a precaution and prepared to evacuate 10,000-12,000 people downstream.</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Korea Disaster Relief Team (KDRT), 44 members from the Ministry of Foreign Affairs, KOICA and the National Fire Agency, departing 1 September by military transport aircraft for search and rescue support; USD 1 million in humanitarian assistance through international organizations announced on 27 August.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Government of Japan decided on 3 September to dispatch a Japan Disaster Relief (JDR) expert team to support identification (of the deceased), in response to a request from the Government of Nepal.</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28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Activation Pages (requested by DHM, activated through ADRC)</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lR8quy/generator/images/FF-2026-000162-NPL/sentinel_asia.png">    </p:cNvPr>
          <p:cNvPicPr>
            <a:picLocks noChangeAspect="1"/>
          </p:cNvPicPr>
          <p:nvPr/>
        </p:nvPicPr>
        <p:blipFill>
          <a:blip r:embed="rId2"/>
          <a:stretch>
            <a:fillRect/>
          </a:stretch>
        </p:blipFill>
        <p:spPr>
          <a:xfrm>
            <a:off x="365760" y="1273053"/>
            <a:ext cx="5623560" cy="3891270"/>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Sentinel Asia - Flash Flood in Rasuwa District, Nepal (SA-00658, requested by DHM)</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900" dirty="0"/>
          </a:p>
        </p:txBody>
      </p:sp>
      <p:pic>
        <p:nvPicPr>
          <p:cNvPr id="6" name="Image 2" descr="/tmp/build_event-lR8quy/generator/images/FF-2026-000162-NPL/disaster_charter.png">    </p:cNvPr>
          <p:cNvPicPr>
            <a:picLocks noChangeAspect="1"/>
          </p:cNvPicPr>
          <p:nvPr/>
        </p:nvPicPr>
        <p:blipFill>
          <a:blip r:embed="rId4"/>
          <a:stretch>
            <a:fillRect/>
          </a:stretch>
        </p:blipFill>
        <p:spPr>
          <a:xfrm>
            <a:off x="6967687" y="1097280"/>
            <a:ext cx="4032586"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International Charter - Flood in Nepal, Activation #1052</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28</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 (1/2)</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Emergency observation request 20260826-Nepal-Flood, requested by Nepal's Department of Hydrology and Meteorology and activated by ADRC on the day of the event. JAXA scheduled an ALOS-2 emergency observation. The Sentinel Asia record states escalation to the International Charter: Yes, and carries GLIDE FF-2026-000162-NPL.</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(SA-00658)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#1052. The Charter page records the requestor as "ADRC on behalf of the Department of Hydrology and Meteorology (DHM), Ministry of Energy, Water Resources and Irrigation in Nepal". Project management: Samir Belabbes (UNITAR). Value adding: NRSC, British Geological Survey, ISRO, SERTIT (iCube), Copernicus EMS, DHM, University of Ljubljana and the Cryospheric Society of Nepal. Three products had been published as of 28 August.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#1052 (26 Aug, 14:58 UTC+02:00)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UNOSAT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Of 228 km2 analysed in Rasuwa, 22 km2 was affected and 1,920 of 19,940 residents were exposed. The map marks a potential ice-avalanche location on the Lende Khola inside the Tibet Autonomous Region, and includes before/after insets at Timure (WorldView-3, 19 Apr 2024 and Sentinel-2, 27 Aug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Maps published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Rissho University / University of Tokyo</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Landsat-9 based analysis and a 3D damaged-area map derived from optical satellite data were contributed by Sentinel Asia member researchers.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Shared via Sentinel Asia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TASA (Taiwan Space Agency)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Archive and observation data for 22 April 2026 and 28 August 2026, and a value-added product derived from a Sentinel-2 prior image and a FORMOSAT-5 post image (12 and 28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29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 archive/observation imagery and RGB composite data uploaded, covering observations of 19 December 2025, 30 January 2026 and 28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28</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 (2/2)</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Sentinel-1 data acquired on 28 and 31 August 2026 and Sentinel-2 imagery acquired on 27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IWM (Institute of Water Modelling)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available Planet satellite imagery (28 Aug); IWM uploaded a second, extended-extent VAP on 30 Aug generated from PlanetScope imagery up to 28 Aug.</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28 Aug; extended 30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ADRC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ADRC revised the wide-area area of interest on 27 August after the requester narrowed the source location. The Department of Hydrology and Meteorology gave the ice-avalanche coordinates as 28.295727N, 85.507802E, noting that the original AOI had been set before the origin was known.</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AOI revised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28</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hazard is not over. An estimated 0.11 sq km lake has formed upstream behind the blockage of the Lhende Khola, and NDRRMA warns of a continuing flood risk. The same sequence - blockage, impoundment, sudden breach - produced the 26 August flood, and downstream communities and responders are being told to stay on high alert.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28 August UNOSAT analysis extends downstream into Nuwakot District. The largest concentration of affected buildings is not in Rasuwa, where the surge began, but in Bidur Municipality in Nuwakot - about 2,600 buildings against about 1,030 in Gosaikunda, Rasuwa. Reporting that stops at the district where the event started understates the footprint.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There was no rainfall capable of explaining this flood. Rainfall and discharge records show no heavy or sufficiently localised rain, which is what led IRDR to look upstream for a slope failure. Rainfall-threshold flood warning would not have caught this event.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temporary dam was invisible from downstream. Inflow from the Mala River and other tributaries kept the downstream channel flowing normally for the 18-19 hours the blockage held, so nothing in the downstream record signalled what was building upstream.</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damage was multi-sector and cascading. A single source-area disturbance propagated through a narrow, highly exposed mountain corridor and hit settlements, border trade, transport, energy, tourism, communications and the emergency response capacity itself at the same time.</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requester gave a precise source location. On 27 August the Department of Hydrology and Meteorology reported the ice-avalanche coordinates as 28.295727N, 85.507802E, drawn from Planet imagery, and noted that the original area of interest had been set before the origin was known. ADRC revised the wide-area AOI the same day.</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28</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Mechanism - and How the Terminology Changed</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This event was described as a suspected glacial lake outburst flood (GLOF) in the first days. The IRDR rapid analysis of 28 August identifies an ice, rock and soil mass failure that dammed the river and then breached - not the outburst of a glacial lake. Both wordings are recorded here with their dates. The earlier wording was the best reading available at the time, not an error to be hidden.</a:t>
            </a:r>
            <a:endParaRPr lang="en-US" sz="11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2651760"/>
                <a:gridCol w="6675120"/>
                <a:gridCol w="2103120"/>
              </a:tblGrid>
              <a:tr h="0">
                <a:tc>
                  <a:txBody>
                    <a:bodyPr/>
                    <a:lstStyle/>
                    <a:p>
                      <a:pPr algn="l" indent="0" marL="0">
                        <a:buNone/>
                      </a:pPr>
                      <a:r>
                        <a:rPr lang="en-US" sz="1300" b="1" dirty="0">
                          <a:solidFill>
                            <a:srgbClr val="FFFFFF"/>
                          </a:solidFill>
                        </a:rPr>
                        <a:t>Stage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What </a:t>
                      </a:r>
                      <a:pPr algn="l" indent="0" marL="0">
                        <a:buNone/>
                      </a:pPr>
                      <a:r>
                        <a:rPr lang="en-US" sz="1300" b="1" dirty="0">
                          <a:solidFill>
                            <a:srgbClr val="FFFFFF"/>
                          </a:solidFill>
                        </a:rPr>
                        <a:t>happened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When</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Pre-event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Long-term </a:t>
                      </a:r>
                      <a:pPr algn="l" indent="0" marL="0">
                        <a:buNone/>
                      </a:pPr>
                      <a:r>
                        <a:rPr lang="en-US" sz="1100" dirty="0">
                          <a:solidFill>
                            <a:srgbClr val="222222"/>
                          </a:solidFill>
                        </a:rPr>
                        <a:t>environmental </a:t>
                      </a:r>
                      <a:pPr algn="l" indent="0" marL="0">
                        <a:buNone/>
                      </a:pPr>
                      <a:r>
                        <a:rPr lang="en-US" sz="1100" dirty="0">
                          <a:solidFill>
                            <a:srgbClr val="222222"/>
                          </a:solidFill>
                        </a:rPr>
                        <a:t>change </a:t>
                      </a:r>
                      <a:pPr algn="l" indent="0" marL="0">
                        <a:buNone/>
                      </a:pPr>
                      <a:r>
                        <a:rPr lang="en-US" sz="1100" dirty="0">
                          <a:solidFill>
                            <a:srgbClr val="222222"/>
                          </a:solidFill>
                        </a:rPr>
                        <a:t>in </a:t>
                      </a:r>
                      <a:pPr algn="l" indent="0" marL="0">
                        <a:buNone/>
                      </a:pPr>
                      <a:r>
                        <a:rPr lang="en-US" sz="1100" dirty="0">
                          <a:solidFill>
                            <a:srgbClr val="222222"/>
                          </a:solidFill>
                        </a:rPr>
                        <a:t>the </a:t>
                      </a:r>
                      <a:pPr algn="l" indent="0" marL="0">
                        <a:buNone/>
                      </a:pPr>
                      <a:r>
                        <a:rPr lang="en-US" sz="1100" dirty="0">
                          <a:solidFill>
                            <a:srgbClr val="222222"/>
                          </a:solidFill>
                        </a:rPr>
                        <a:t>northern </a:t>
                      </a:r>
                      <a:pPr algn="l" indent="0" marL="0">
                        <a:buNone/>
                      </a:pPr>
                      <a:r>
                        <a:rPr lang="en-US" sz="1100" dirty="0">
                          <a:solidFill>
                            <a:srgbClr val="222222"/>
                          </a:solidFill>
                        </a:rPr>
                        <a:t>Langtang </a:t>
                      </a:r>
                      <a:pPr algn="l" indent="0" marL="0">
                        <a:buNone/>
                      </a:pPr>
                      <a:r>
                        <a:rPr lang="en-US" sz="1100" dirty="0">
                          <a:solidFill>
                            <a:srgbClr val="222222"/>
                          </a:solidFill>
                        </a:rPr>
                        <a:t>region: </a:t>
                      </a:r>
                      <a:pPr algn="l" indent="0" marL="0">
                        <a:buNone/>
                      </a:pPr>
                      <a:r>
                        <a:rPr lang="en-US" sz="1100" dirty="0">
                          <a:solidFill>
                            <a:srgbClr val="222222"/>
                          </a:solidFill>
                        </a:rPr>
                        <a:t>water </a:t>
                      </a:r>
                      <a:pPr algn="l" indent="0" marL="0">
                        <a:buNone/>
                      </a:pPr>
                      <a:r>
                        <a:rPr lang="en-US" sz="1100" dirty="0">
                          <a:solidFill>
                            <a:srgbClr val="222222"/>
                          </a:solidFill>
                        </a:rPr>
                        <a:t>retreat, </a:t>
                      </a:r>
                      <a:pPr algn="l" indent="0" marL="0">
                        <a:buNone/>
                      </a:pPr>
                      <a:r>
                        <a:rPr lang="en-US" sz="1100" dirty="0">
                          <a:solidFill>
                            <a:srgbClr val="222222"/>
                          </a:solidFill>
                        </a:rPr>
                        <a:t>changing </a:t>
                      </a:r>
                      <a:pPr algn="l" indent="0" marL="0">
                        <a:buNone/>
                      </a:pPr>
                      <a:r>
                        <a:rPr lang="en-US" sz="1100" dirty="0">
                          <a:solidFill>
                            <a:srgbClr val="222222"/>
                          </a:solidFill>
                        </a:rPr>
                        <a:t>snow </a:t>
                      </a:r>
                      <a:pPr algn="l" indent="0" marL="0">
                        <a:buNone/>
                      </a:pPr>
                      <a:r>
                        <a:rPr lang="en-US" sz="1100" dirty="0">
                          <a:solidFill>
                            <a:srgbClr val="222222"/>
                          </a:solidFill>
                        </a:rPr>
                        <a:t>and </a:t>
                      </a:r>
                      <a:pPr algn="l" indent="0" marL="0">
                        <a:buNone/>
                      </a:pPr>
                      <a:r>
                        <a:rPr lang="en-US" sz="1100" dirty="0">
                          <a:solidFill>
                            <a:srgbClr val="222222"/>
                          </a:solidFill>
                        </a:rPr>
                        <a:t>ice </a:t>
                      </a:r>
                      <a:pPr algn="l" indent="0" marL="0">
                        <a:buNone/>
                      </a:pPr>
                      <a:r>
                        <a:rPr lang="en-US" sz="1100" dirty="0">
                          <a:solidFill>
                            <a:srgbClr val="222222"/>
                          </a:solidFill>
                        </a:rPr>
                        <a:t>conditions, </a:t>
                      </a:r>
                      <a:pPr algn="l" indent="0" marL="0">
                        <a:buNone/>
                      </a:pPr>
                      <a:r>
                        <a:rPr lang="en-US" sz="1100" dirty="0">
                          <a:solidFill>
                            <a:srgbClr val="222222"/>
                          </a:solidFill>
                        </a:rPr>
                        <a:t>increasing </a:t>
                      </a:r>
                      <a:pPr algn="l" indent="0" marL="0">
                        <a:buNone/>
                      </a:pPr>
                      <a:r>
                        <a:rPr lang="en-US" sz="1100" dirty="0">
                          <a:solidFill>
                            <a:srgbClr val="222222"/>
                          </a:solidFill>
                        </a:rPr>
                        <a:t>ice </a:t>
                      </a:r>
                      <a:pPr algn="l" indent="0" marL="0">
                        <a:buNone/>
                      </a:pPr>
                      <a:r>
                        <a:rPr lang="en-US" sz="1100" dirty="0">
                          <a:solidFill>
                            <a:srgbClr val="222222"/>
                          </a:solidFill>
                        </a:rPr>
                        <a:t>overburden.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Ice </a:t>
                      </a:r>
                      <a:pPr algn="l" indent="0" marL="0">
                        <a:buNone/>
                      </a:pPr>
                      <a:r>
                        <a:rPr lang="en-US" sz="1100" dirty="0">
                          <a:solidFill>
                            <a:srgbClr val="222222"/>
                          </a:solidFill>
                        </a:rPr>
                        <a:t>/ </a:t>
                      </a:r>
                      <a:pPr algn="l" indent="0" marL="0">
                        <a:buNone/>
                      </a:pPr>
                      <a:r>
                        <a:rPr lang="en-US" sz="1100" dirty="0">
                          <a:solidFill>
                            <a:srgbClr val="222222"/>
                          </a:solidFill>
                        </a:rPr>
                        <a:t>rock </a:t>
                      </a:r>
                      <a:pPr algn="l" indent="0" marL="0">
                        <a:buNone/>
                      </a:pPr>
                      <a:r>
                        <a:rPr lang="en-US" sz="1100" dirty="0">
                          <a:solidFill>
                            <a:srgbClr val="222222"/>
                          </a:solidFill>
                        </a:rPr>
                        <a:t>avalanche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 </a:t>
                      </a:r>
                      <a:pPr algn="l" indent="0" marL="0">
                        <a:buNone/>
                      </a:pPr>
                      <a:r>
                        <a:rPr lang="en-US" sz="1100" dirty="0">
                          <a:solidFill>
                            <a:srgbClr val="222222"/>
                          </a:solidFill>
                        </a:rPr>
                        <a:t>massive </a:t>
                      </a:r>
                      <a:pPr algn="l" indent="0" marL="0">
                        <a:buNone/>
                      </a:pPr>
                      <a:r>
                        <a:rPr lang="en-US" sz="1100" dirty="0">
                          <a:solidFill>
                            <a:srgbClr val="222222"/>
                          </a:solidFill>
                        </a:rPr>
                        <a:t>volume </a:t>
                      </a:r>
                      <a:pPr algn="l" indent="0" marL="0">
                        <a:buNone/>
                      </a:pPr>
                      <a:r>
                        <a:rPr lang="en-US" sz="1100" dirty="0">
                          <a:solidFill>
                            <a:srgbClr val="222222"/>
                          </a:solidFill>
                        </a:rPr>
                        <a:t>of </a:t>
                      </a:r>
                      <a:pPr algn="l" indent="0" marL="0">
                        <a:buNone/>
                      </a:pPr>
                      <a:r>
                        <a:rPr lang="en-US" sz="1100" dirty="0">
                          <a:solidFill>
                            <a:srgbClr val="222222"/>
                          </a:solidFill>
                        </a:rPr>
                        <a:t>ice, </a:t>
                      </a:r>
                      <a:pPr algn="l" indent="0" marL="0">
                        <a:buNone/>
                      </a:pPr>
                      <a:r>
                        <a:rPr lang="en-US" sz="1100" dirty="0">
                          <a:solidFill>
                            <a:srgbClr val="222222"/>
                          </a:solidFill>
                        </a:rPr>
                        <a:t>rock </a:t>
                      </a:r>
                      <a:pPr algn="l" indent="0" marL="0">
                        <a:buNone/>
                      </a:pPr>
                      <a:r>
                        <a:rPr lang="en-US" sz="1100" dirty="0">
                          <a:solidFill>
                            <a:srgbClr val="222222"/>
                          </a:solidFill>
                        </a:rPr>
                        <a:t>and </a:t>
                      </a:r>
                      <a:pPr algn="l" indent="0" marL="0">
                        <a:buNone/>
                      </a:pPr>
                      <a:r>
                        <a:rPr lang="en-US" sz="1100" dirty="0">
                          <a:solidFill>
                            <a:srgbClr val="222222"/>
                          </a:solidFill>
                        </a:rPr>
                        <a:t>soil </a:t>
                      </a:r>
                      <a:pPr algn="l" indent="0" marL="0">
                        <a:buNone/>
                      </a:pPr>
                      <a:r>
                        <a:rPr lang="en-US" sz="1100" dirty="0">
                          <a:solidFill>
                            <a:srgbClr val="222222"/>
                          </a:solidFill>
                        </a:rPr>
                        <a:t>detaches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5,000 </a:t>
                      </a:r>
                      <a:pPr algn="l" indent="0" marL="0">
                        <a:buNone/>
                      </a:pPr>
                      <a:r>
                        <a:rPr lang="en-US" sz="1100" dirty="0">
                          <a:solidFill>
                            <a:srgbClr val="222222"/>
                          </a:solidFill>
                        </a:rPr>
                        <a:t>m </a:t>
                      </a:r>
                      <a:pPr algn="l" indent="0" marL="0">
                        <a:buNone/>
                      </a:pPr>
                      <a:r>
                        <a:rPr lang="en-US" sz="1100" dirty="0">
                          <a:solidFill>
                            <a:srgbClr val="222222"/>
                          </a:solidFill>
                        </a:rPr>
                        <a:t>around </a:t>
                      </a:r>
                      <a:pPr algn="l" indent="0" marL="0">
                        <a:buNone/>
                      </a:pPr>
                      <a:r>
                        <a:rPr lang="en-US" sz="1100" dirty="0">
                          <a:solidFill>
                            <a:srgbClr val="222222"/>
                          </a:solidFill>
                        </a:rPr>
                        <a:t>Deding </a:t>
                      </a:r>
                      <a:pPr algn="l" indent="0" marL="0">
                        <a:buNone/>
                      </a:pPr>
                      <a:r>
                        <a:rPr lang="en-US" sz="1100" dirty="0">
                          <a:solidFill>
                            <a:srgbClr val="222222"/>
                          </a:solidFill>
                        </a:rPr>
                        <a:t>and </a:t>
                      </a:r>
                      <a:pPr algn="l" indent="0" marL="0">
                        <a:buNone/>
                      </a:pPr>
                      <a:r>
                        <a:rPr lang="en-US" sz="1100" dirty="0">
                          <a:solidFill>
                            <a:srgbClr val="222222"/>
                          </a:solidFill>
                        </a:rPr>
                        <a:t>descends </a:t>
                      </a:r>
                      <a:pPr algn="l" indent="0" marL="0">
                        <a:buNone/>
                      </a:pPr>
                      <a:r>
                        <a:rPr lang="en-US" sz="1100" dirty="0">
                          <a:solidFill>
                            <a:srgbClr val="222222"/>
                          </a:solidFill>
                        </a:rPr>
                        <a:t>to </a:t>
                      </a:r>
                      <a:pPr algn="l" indent="0" marL="0">
                        <a:buNone/>
                      </a:pPr>
                      <a:r>
                        <a:rPr lang="en-US" sz="1100" dirty="0">
                          <a:solidFill>
                            <a:srgbClr val="222222"/>
                          </a:solidFill>
                        </a:rPr>
                        <a:t>about </a:t>
                      </a:r>
                      <a:pPr algn="l" indent="0" marL="0">
                        <a:buNone/>
                      </a:pPr>
                      <a:r>
                        <a:rPr lang="en-US" sz="1100" dirty="0">
                          <a:solidFill>
                            <a:srgbClr val="222222"/>
                          </a:solidFill>
                        </a:rPr>
                        <a:t>3,000 </a:t>
                      </a:r>
                      <a:pPr algn="l" indent="0" marL="0">
                        <a:buNone/>
                      </a:pPr>
                      <a:r>
                        <a:rPr lang="en-US" sz="1100" dirty="0">
                          <a:solidFill>
                            <a:srgbClr val="222222"/>
                          </a:solidFill>
                        </a:rPr>
                        <a:t>m, </a:t>
                      </a:r>
                      <a:pPr algn="l" indent="0" marL="0">
                        <a:buNone/>
                      </a:pPr>
                      <a:r>
                        <a:rPr lang="en-US" sz="1100" dirty="0">
                          <a:solidFill>
                            <a:srgbClr val="222222"/>
                          </a:solidFill>
                        </a:rPr>
                        <a:t>fracturing </a:t>
                      </a:r>
                      <a:pPr algn="l" indent="0" marL="0">
                        <a:buNone/>
                      </a:pPr>
                      <a:r>
                        <a:rPr lang="en-US" sz="1100" dirty="0">
                          <a:solidFill>
                            <a:srgbClr val="222222"/>
                          </a:solidFill>
                        </a:rPr>
                        <a:t>and </a:t>
                      </a:r>
                      <a:pPr algn="l" indent="0" marL="0">
                        <a:buNone/>
                      </a:pPr>
                      <a:r>
                        <a:rPr lang="en-US" sz="1100" dirty="0">
                          <a:solidFill>
                            <a:srgbClr val="222222"/>
                          </a:solidFill>
                        </a:rPr>
                        <a:t>mixing </a:t>
                      </a:r>
                      <a:pPr algn="l" indent="0" marL="0">
                        <a:buNone/>
                      </a:pPr>
                      <a:r>
                        <a:rPr lang="en-US" sz="1100" dirty="0">
                          <a:solidFill>
                            <a:srgbClr val="222222"/>
                          </a:solidFill>
                        </a:rPr>
                        <a:t>during </a:t>
                      </a:r>
                      <a:pPr algn="l" indent="0" marL="0">
                        <a:buNone/>
                      </a:pPr>
                      <a:r>
                        <a:rPr lang="en-US" sz="1100" dirty="0">
                          <a:solidFill>
                            <a:srgbClr val="222222"/>
                          </a:solidFill>
                        </a:rPr>
                        <a:t>the </a:t>
                      </a:r>
                      <a:pPr algn="l" indent="0" marL="0">
                        <a:buNone/>
                      </a:pPr>
                      <a:r>
                        <a:rPr lang="en-US" sz="1100" dirty="0">
                          <a:solidFill>
                            <a:srgbClr val="222222"/>
                          </a:solidFill>
                        </a:rPr>
                        <a:t>descent.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25 </a:t>
                      </a:r>
                      <a:pPr algn="l" indent="0" marL="0">
                        <a:buNone/>
                      </a:pPr>
                      <a:r>
                        <a:rPr lang="en-US" sz="1100" dirty="0">
                          <a:solidFill>
                            <a:srgbClr val="222222"/>
                          </a:solidFill>
                        </a:rPr>
                        <a:t>Aug, </a:t>
                      </a:r>
                      <a:pPr algn="l" indent="0" marL="0">
                        <a:buNone/>
                      </a:pPr>
                      <a:r>
                        <a:rPr lang="en-US" sz="1100" dirty="0">
                          <a:solidFill>
                            <a:srgbClr val="222222"/>
                          </a:solidFill>
                        </a:rPr>
                        <a:t>13:00-14:00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Temporary </a:t>
                      </a:r>
                      <a:pPr algn="l" indent="0" marL="0">
                        <a:buNone/>
                      </a:pPr>
                      <a:r>
                        <a:rPr lang="en-US" sz="1100" dirty="0">
                          <a:solidFill>
                            <a:srgbClr val="222222"/>
                          </a:solidFill>
                        </a:rPr>
                        <a:t>dam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collapsed </a:t>
                      </a:r>
                      <a:pPr algn="l" indent="0" marL="0">
                        <a:buNone/>
                      </a:pPr>
                      <a:r>
                        <a:rPr lang="en-US" sz="1100" dirty="0">
                          <a:solidFill>
                            <a:srgbClr val="222222"/>
                          </a:solidFill>
                        </a:rPr>
                        <a:t>ice-rock-debris </a:t>
                      </a:r>
                      <a:pPr algn="l" indent="0" marL="0">
                        <a:buNone/>
                      </a:pPr>
                      <a:r>
                        <a:rPr lang="en-US" sz="1100" dirty="0">
                          <a:solidFill>
                            <a:srgbClr val="222222"/>
                          </a:solidFill>
                        </a:rPr>
                        <a:t>mass </a:t>
                      </a:r>
                      <a:pPr algn="l" indent="0" marL="0">
                        <a:buNone/>
                      </a:pPr>
                      <a:r>
                        <a:rPr lang="en-US" sz="1100" dirty="0">
                          <a:solidFill>
                            <a:srgbClr val="222222"/>
                          </a:solidFill>
                        </a:rPr>
                        <a:t>blocks </a:t>
                      </a:r>
                      <a:pPr algn="l" indent="0" marL="0">
                        <a:buNone/>
                      </a:pPr>
                      <a:r>
                        <a:rPr lang="en-US" sz="1100" dirty="0">
                          <a:solidFill>
                            <a:srgbClr val="222222"/>
                          </a:solidFill>
                        </a:rPr>
                        <a:t>the </a:t>
                      </a:r>
                      <a:pPr algn="l" indent="0" marL="0">
                        <a:buNone/>
                      </a:pPr>
                      <a:r>
                        <a:rPr lang="en-US" sz="1100" dirty="0">
                          <a:solidFill>
                            <a:srgbClr val="222222"/>
                          </a:solidFill>
                        </a:rPr>
                        <a:t>channel </a:t>
                      </a:r>
                      <a:pPr algn="l" indent="0" marL="0">
                        <a:buNone/>
                      </a:pPr>
                      <a:r>
                        <a:rPr lang="en-US" sz="1100" dirty="0">
                          <a:solidFill>
                            <a:srgbClr val="222222"/>
                          </a:solidFill>
                        </a:rPr>
                        <a:t>and </a:t>
                      </a:r>
                      <a:pPr algn="l" indent="0" marL="0">
                        <a:buNone/>
                      </a:pPr>
                      <a:r>
                        <a:rPr lang="en-US" sz="1100" dirty="0">
                          <a:solidFill>
                            <a:srgbClr val="222222"/>
                          </a:solidFill>
                        </a:rPr>
                        <a:t>forms </a:t>
                      </a:r>
                      <a:pPr algn="l" indent="0" marL="0">
                        <a:buNone/>
                      </a:pPr>
                      <a:r>
                        <a:rPr lang="en-US" sz="1100" dirty="0">
                          <a:solidFill>
                            <a:srgbClr val="222222"/>
                          </a:solidFill>
                        </a:rPr>
                        <a:t>a </a:t>
                      </a:r>
                      <a:pPr algn="l" indent="0" marL="0">
                        <a:buNone/>
                      </a:pPr>
                      <a:r>
                        <a:rPr lang="en-US" sz="1100" dirty="0">
                          <a:solidFill>
                            <a:srgbClr val="222222"/>
                          </a:solidFill>
                        </a:rPr>
                        <a:t>natural </a:t>
                      </a:r>
                      <a:pPr algn="l" indent="0" marL="0">
                        <a:buNone/>
                      </a:pPr>
                      <a:r>
                        <a:rPr lang="en-US" sz="1100" dirty="0">
                          <a:solidFill>
                            <a:srgbClr val="222222"/>
                          </a:solidFill>
                        </a:rPr>
                        <a:t>impoundment </a:t>
                      </a:r>
                      <a:pPr algn="l" indent="0" marL="0">
                        <a:buNone/>
                      </a:pPr>
                      <a:r>
                        <a:rPr lang="en-US" sz="1100" dirty="0">
                          <a:solidFill>
                            <a:srgbClr val="222222"/>
                          </a:solidFill>
                        </a:rPr>
                        <a:t>dam.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25 </a:t>
                      </a:r>
                      <a:pPr algn="l" indent="0" marL="0">
                        <a:buNone/>
                      </a:pPr>
                      <a:r>
                        <a:rPr lang="en-US" sz="1100" dirty="0">
                          <a:solidFill>
                            <a:srgbClr val="222222"/>
                          </a:solidFill>
                        </a:rPr>
                        <a:t>Aug, </a:t>
                      </a:r>
                      <a:pPr algn="l" indent="0" marL="0">
                        <a:buNone/>
                      </a:pPr>
                      <a:r>
                        <a:rPr lang="en-US" sz="1100" dirty="0">
                          <a:solidFill>
                            <a:srgbClr val="222222"/>
                          </a:solidFill>
                        </a:rPr>
                        <a:t>afternoon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Impoundment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Water </a:t>
                      </a:r>
                      <a:pPr algn="l" indent="0" marL="0">
                        <a:buNone/>
                      </a:pPr>
                      <a:r>
                        <a:rPr lang="en-US" sz="1100" dirty="0">
                          <a:solidFill>
                            <a:srgbClr val="222222"/>
                          </a:solidFill>
                        </a:rPr>
                        <a:t>accumulates </a:t>
                      </a:r>
                      <a:pPr algn="l" indent="0" marL="0">
                        <a:buNone/>
                      </a:pPr>
                      <a:r>
                        <a:rPr lang="en-US" sz="1100" dirty="0">
                          <a:solidFill>
                            <a:srgbClr val="222222"/>
                          </a:solidFill>
                        </a:rPr>
                        <a:t>for </a:t>
                      </a:r>
                      <a:pPr algn="l" indent="0" marL="0">
                        <a:buNone/>
                      </a:pPr>
                      <a:r>
                        <a:rPr lang="en-US" sz="1100" dirty="0">
                          <a:solidFill>
                            <a:srgbClr val="222222"/>
                          </a:solidFill>
                        </a:rPr>
                        <a:t>18-19 </a:t>
                      </a:r>
                      <a:pPr algn="l" indent="0" marL="0">
                        <a:buNone/>
                      </a:pPr>
                      <a:r>
                        <a:rPr lang="en-US" sz="1100" dirty="0">
                          <a:solidFill>
                            <a:srgbClr val="222222"/>
                          </a:solidFill>
                        </a:rPr>
                        <a:t>hours </a:t>
                      </a:r>
                      <a:pPr algn="l" indent="0" marL="0">
                        <a:buNone/>
                      </a:pPr>
                      <a:r>
                        <a:rPr lang="en-US" sz="1100" dirty="0">
                          <a:solidFill>
                            <a:srgbClr val="222222"/>
                          </a:solidFill>
                        </a:rPr>
                        <a:t>from </a:t>
                      </a:r>
                      <a:pPr algn="l" indent="0" marL="0">
                        <a:buNone/>
                      </a:pPr>
                      <a:r>
                        <a:rPr lang="en-US" sz="1100" dirty="0">
                          <a:solidFill>
                            <a:srgbClr val="222222"/>
                          </a:solidFill>
                        </a:rPr>
                        <a:t>river </a:t>
                      </a:r>
                      <a:pPr algn="l" indent="0" marL="0">
                        <a:buNone/>
                      </a:pPr>
                      <a:r>
                        <a:rPr lang="en-US" sz="1100" dirty="0">
                          <a:solidFill>
                            <a:srgbClr val="222222"/>
                          </a:solidFill>
                        </a:rPr>
                        <a:t>flow </a:t>
                      </a:r>
                      <a:pPr algn="l" indent="0" marL="0">
                        <a:buNone/>
                      </a:pPr>
                      <a:r>
                        <a:rPr lang="en-US" sz="1100" dirty="0">
                          <a:solidFill>
                            <a:srgbClr val="222222"/>
                          </a:solidFill>
                        </a:rPr>
                        <a:t>and </a:t>
                      </a:r>
                      <a:pPr algn="l" indent="0" marL="0">
                        <a:buNone/>
                      </a:pPr>
                      <a:r>
                        <a:rPr lang="en-US" sz="1100" dirty="0">
                          <a:solidFill>
                            <a:srgbClr val="222222"/>
                          </a:solidFill>
                        </a:rPr>
                        <a:t>melting </a:t>
                      </a:r>
                      <a:pPr algn="l" indent="0" marL="0">
                        <a:buNone/>
                      </a:pPr>
                      <a:r>
                        <a:rPr lang="en-US" sz="1100" dirty="0">
                          <a:solidFill>
                            <a:srgbClr val="222222"/>
                          </a:solidFill>
                        </a:rPr>
                        <a:t>ice, </a:t>
                      </a:r>
                      <a:pPr algn="l" indent="0" marL="0">
                        <a:buNone/>
                      </a:pPr>
                      <a:r>
                        <a:rPr lang="en-US" sz="1100" dirty="0">
                          <a:solidFill>
                            <a:srgbClr val="222222"/>
                          </a:solidFill>
                        </a:rPr>
                        <a:t>raising </a:t>
                      </a:r>
                      <a:pPr algn="l" indent="0" marL="0">
                        <a:buNone/>
                      </a:pPr>
                      <a:r>
                        <a:rPr lang="en-US" sz="1100" dirty="0">
                          <a:solidFill>
                            <a:srgbClr val="222222"/>
                          </a:solidFill>
                        </a:rPr>
                        <a:t>lateral </a:t>
                      </a:r>
                      <a:pPr algn="l" indent="0" marL="0">
                        <a:buNone/>
                      </a:pPr>
                      <a:r>
                        <a:rPr lang="en-US" sz="1100" dirty="0">
                          <a:solidFill>
                            <a:srgbClr val="222222"/>
                          </a:solidFill>
                        </a:rPr>
                        <a:t>pressure </a:t>
                      </a:r>
                      <a:pPr algn="l" indent="0" marL="0">
                        <a:buNone/>
                      </a:pPr>
                      <a:r>
                        <a:rPr lang="en-US" sz="1100" dirty="0">
                          <a:solidFill>
                            <a:srgbClr val="222222"/>
                          </a:solidFill>
                        </a:rPr>
                        <a:t>on </a:t>
                      </a:r>
                      <a:pPr algn="l" indent="0" marL="0">
                        <a:buNone/>
                      </a:pPr>
                      <a:r>
                        <a:rPr lang="en-US" sz="1100" dirty="0">
                          <a:solidFill>
                            <a:srgbClr val="222222"/>
                          </a:solidFill>
                        </a:rPr>
                        <a:t>the </a:t>
                      </a:r>
                      <a:pPr algn="l" indent="0" marL="0">
                        <a:buNone/>
                      </a:pPr>
                      <a:r>
                        <a:rPr lang="en-US" sz="1100" dirty="0">
                          <a:solidFill>
                            <a:srgbClr val="222222"/>
                          </a:solidFill>
                        </a:rPr>
                        <a:t>dam. </a:t>
                      </a:r>
                      <a:pPr algn="l" indent="0" marL="0">
                        <a:buNone/>
                      </a:pPr>
                      <a:r>
                        <a:rPr lang="en-US" sz="1100" dirty="0">
                          <a:solidFill>
                            <a:srgbClr val="222222"/>
                          </a:solidFill>
                        </a:rPr>
                        <a:t>Inflow </a:t>
                      </a:r>
                      <a:pPr algn="l" indent="0" marL="0">
                        <a:buNone/>
                      </a:pPr>
                      <a:r>
                        <a:rPr lang="en-US" sz="1100" dirty="0">
                          <a:solidFill>
                            <a:srgbClr val="222222"/>
                          </a:solidFill>
                        </a:rPr>
                        <a:t>from </a:t>
                      </a:r>
                      <a:pPr algn="l" indent="0" marL="0">
                        <a:buNone/>
                      </a:pPr>
                      <a:r>
                        <a:rPr lang="en-US" sz="1100" dirty="0">
                          <a:solidFill>
                            <a:srgbClr val="222222"/>
                          </a:solidFill>
                        </a:rPr>
                        <a:t>the </a:t>
                      </a:r>
                      <a:pPr algn="l" indent="0" marL="0">
                        <a:buNone/>
                      </a:pPr>
                      <a:r>
                        <a:rPr lang="en-US" sz="1100" dirty="0">
                          <a:solidFill>
                            <a:srgbClr val="222222"/>
                          </a:solidFill>
                        </a:rPr>
                        <a:t>Mala </a:t>
                      </a:r>
                      <a:pPr algn="l" indent="0" marL="0">
                        <a:buNone/>
                      </a:pPr>
                      <a:r>
                        <a:rPr lang="en-US" sz="1100" dirty="0">
                          <a:solidFill>
                            <a:srgbClr val="222222"/>
                          </a:solidFill>
                        </a:rPr>
                        <a:t>River </a:t>
                      </a:r>
                      <a:pPr algn="l" indent="0" marL="0">
                        <a:buNone/>
                      </a:pPr>
                      <a:r>
                        <a:rPr lang="en-US" sz="1100" dirty="0">
                          <a:solidFill>
                            <a:srgbClr val="222222"/>
                          </a:solidFill>
                        </a:rPr>
                        <a:t>keeps </a:t>
                      </a:r>
                      <a:pPr algn="l" indent="0" marL="0">
                        <a:buNone/>
                      </a:pPr>
                      <a:r>
                        <a:rPr lang="en-US" sz="1100" dirty="0">
                          <a:solidFill>
                            <a:srgbClr val="222222"/>
                          </a:solidFill>
                        </a:rPr>
                        <a:t>the </a:t>
                      </a:r>
                      <a:pPr algn="l" indent="0" marL="0">
                        <a:buNone/>
                      </a:pPr>
                      <a:r>
                        <a:rPr lang="en-US" sz="1100" dirty="0">
                          <a:solidFill>
                            <a:srgbClr val="222222"/>
                          </a:solidFill>
                        </a:rPr>
                        <a:t>downstream </a:t>
                      </a:r>
                      <a:pPr algn="l" indent="0" marL="0">
                        <a:buNone/>
                      </a:pPr>
                      <a:r>
                        <a:rPr lang="en-US" sz="1100" dirty="0">
                          <a:solidFill>
                            <a:srgbClr val="222222"/>
                          </a:solidFill>
                        </a:rPr>
                        <a:t>channel </a:t>
                      </a:r>
                      <a:pPr algn="l" indent="0" marL="0">
                        <a:buNone/>
                      </a:pPr>
                      <a:r>
                        <a:rPr lang="en-US" sz="1100" dirty="0">
                          <a:solidFill>
                            <a:srgbClr val="222222"/>
                          </a:solidFill>
                        </a:rPr>
                        <a:t>flowing </a:t>
                      </a:r>
                      <a:pPr algn="l" indent="0" marL="0">
                        <a:buNone/>
                      </a:pPr>
                      <a:r>
                        <a:rPr lang="en-US" sz="1100" dirty="0">
                          <a:solidFill>
                            <a:srgbClr val="222222"/>
                          </a:solidFill>
                        </a:rPr>
                        <a:t>and </a:t>
                      </a:r>
                      <a:pPr algn="l" indent="0" marL="0">
                        <a:buNone/>
                      </a:pPr>
                      <a:r>
                        <a:rPr lang="en-US" sz="1100" dirty="0">
                          <a:solidFill>
                            <a:srgbClr val="222222"/>
                          </a:solidFill>
                        </a:rPr>
                        <a:t>masks </a:t>
                      </a:r>
                      <a:pPr algn="l" indent="0" marL="0">
                        <a:buNone/>
                      </a:pPr>
                      <a:r>
                        <a:rPr lang="en-US" sz="1100" dirty="0">
                          <a:solidFill>
                            <a:srgbClr val="222222"/>
                          </a:solidFill>
                        </a:rPr>
                        <a:t>the </a:t>
                      </a:r>
                      <a:pPr algn="l" indent="0" marL="0">
                        <a:buNone/>
                      </a:pPr>
                      <a:r>
                        <a:rPr lang="en-US" sz="1100" dirty="0">
                          <a:solidFill>
                            <a:srgbClr val="222222"/>
                          </a:solidFill>
                        </a:rPr>
                        <a:t>blockage.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25-26 </a:t>
                      </a:r>
                      <a:pPr algn="l" indent="0" marL="0">
                        <a:buNone/>
                      </a:pPr>
                      <a:r>
                        <a:rPr lang="en-US" sz="1100" dirty="0">
                          <a:solidFill>
                            <a:srgbClr val="222222"/>
                          </a:solidFill>
                        </a:rPr>
                        <a:t>Aug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Sudden </a:t>
                      </a:r>
                      <a:pPr algn="l" indent="0" marL="0">
                        <a:buNone/>
                      </a:pPr>
                      <a:r>
                        <a:rPr lang="en-US" sz="1100" dirty="0">
                          <a:solidFill>
                            <a:srgbClr val="222222"/>
                          </a:solidFill>
                        </a:rPr>
                        <a:t>breach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Rising </a:t>
                      </a:r>
                      <a:pPr algn="l" indent="0" marL="0">
                        <a:buNone/>
                      </a:pPr>
                      <a:r>
                        <a:rPr lang="en-US" sz="1100" dirty="0">
                          <a:solidFill>
                            <a:srgbClr val="222222"/>
                          </a:solidFill>
                        </a:rPr>
                        <a:t>pressure, </a:t>
                      </a:r>
                      <a:pPr algn="l" indent="0" marL="0">
                        <a:buNone/>
                      </a:pPr>
                      <a:r>
                        <a:rPr lang="en-US" sz="1100" dirty="0">
                          <a:solidFill>
                            <a:srgbClr val="222222"/>
                          </a:solidFill>
                        </a:rPr>
                        <a:t>together </a:t>
                      </a:r>
                      <a:pPr algn="l" indent="0" marL="0">
                        <a:buNone/>
                      </a:pPr>
                      <a:r>
                        <a:rPr lang="en-US" sz="1100" dirty="0">
                          <a:solidFill>
                            <a:srgbClr val="222222"/>
                          </a:solidFill>
                        </a:rPr>
                        <a:t>with </a:t>
                      </a:r>
                      <a:pPr algn="l" indent="0" marL="0">
                        <a:buNone/>
                      </a:pPr>
                      <a:r>
                        <a:rPr lang="en-US" sz="1100" dirty="0">
                          <a:solidFill>
                            <a:srgbClr val="222222"/>
                          </a:solidFill>
                        </a:rPr>
                        <a:t>ice </a:t>
                      </a:r>
                      <a:pPr algn="l" indent="0" marL="0">
                        <a:buNone/>
                      </a:pPr>
                      <a:r>
                        <a:rPr lang="en-US" sz="1100" dirty="0">
                          <a:solidFill>
                            <a:srgbClr val="222222"/>
                          </a:solidFill>
                        </a:rPr>
                        <a:t>melting </a:t>
                      </a:r>
                      <a:pPr algn="l" indent="0" marL="0">
                        <a:buNone/>
                      </a:pPr>
                      <a:r>
                        <a:rPr lang="en-US" sz="1100" dirty="0">
                          <a:solidFill>
                            <a:srgbClr val="222222"/>
                          </a:solidFill>
                        </a:rPr>
                        <a:t>within </a:t>
                      </a:r>
                      <a:pPr algn="l" indent="0" marL="0">
                        <a:buNone/>
                      </a:pPr>
                      <a:r>
                        <a:rPr lang="en-US" sz="1100" dirty="0">
                          <a:solidFill>
                            <a:srgbClr val="222222"/>
                          </a:solidFill>
                        </a:rPr>
                        <a:t>the </a:t>
                      </a:r>
                      <a:pPr algn="l" indent="0" marL="0">
                        <a:buNone/>
                      </a:pPr>
                      <a:r>
                        <a:rPr lang="en-US" sz="1100" dirty="0">
                          <a:solidFill>
                            <a:srgbClr val="222222"/>
                          </a:solidFill>
                        </a:rPr>
                        <a:t>debris </a:t>
                      </a:r>
                      <a:pPr algn="l" indent="0" marL="0">
                        <a:buNone/>
                      </a:pPr>
                      <a:r>
                        <a:rPr lang="en-US" sz="1100" dirty="0">
                          <a:solidFill>
                            <a:srgbClr val="222222"/>
                          </a:solidFill>
                        </a:rPr>
                        <a:t>and </a:t>
                      </a:r>
                      <a:pPr algn="l" indent="0" marL="0">
                        <a:buNone/>
                      </a:pPr>
                      <a:r>
                        <a:rPr lang="en-US" sz="1100" dirty="0">
                          <a:solidFill>
                            <a:srgbClr val="222222"/>
                          </a:solidFill>
                        </a:rPr>
                        <a:t>loosening </a:t>
                      </a:r>
                      <a:pPr algn="l" indent="0" marL="0">
                        <a:buNone/>
                      </a:pPr>
                      <a:r>
                        <a:rPr lang="en-US" sz="1100" dirty="0">
                          <a:solidFill>
                            <a:srgbClr val="222222"/>
                          </a:solidFill>
                        </a:rPr>
                        <a:t>and </a:t>
                      </a:r>
                      <a:pPr algn="l" indent="0" marL="0">
                        <a:buNone/>
                      </a:pPr>
                      <a:r>
                        <a:rPr lang="en-US" sz="1100" dirty="0">
                          <a:solidFill>
                            <a:srgbClr val="222222"/>
                          </a:solidFill>
                        </a:rPr>
                        <a:t>saturation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soil, </a:t>
                      </a:r>
                      <a:pPr algn="l" indent="0" marL="0">
                        <a:buNone/>
                      </a:pPr>
                      <a:r>
                        <a:rPr lang="en-US" sz="1100" dirty="0">
                          <a:solidFill>
                            <a:srgbClr val="222222"/>
                          </a:solidFill>
                        </a:rPr>
                        <a:t>breaches </a:t>
                      </a:r>
                      <a:pPr algn="l" indent="0" marL="0">
                        <a:buNone/>
                      </a:pPr>
                      <a:r>
                        <a:rPr lang="en-US" sz="1100" dirty="0">
                          <a:solidFill>
                            <a:srgbClr val="222222"/>
                          </a:solidFill>
                        </a:rPr>
                        <a:t>the </a:t>
                      </a:r>
                      <a:pPr algn="l" indent="0" marL="0">
                        <a:buNone/>
                      </a:pPr>
                      <a:r>
                        <a:rPr lang="en-US" sz="1100" dirty="0">
                          <a:solidFill>
                            <a:srgbClr val="222222"/>
                          </a:solidFill>
                        </a:rPr>
                        <a:t>dam. </a:t>
                      </a:r>
                      <a:pPr algn="l" indent="0" marL="0">
                        <a:buNone/>
                      </a:pPr>
                      <a:r>
                        <a:rPr lang="en-US" sz="1100" dirty="0">
                          <a:solidFill>
                            <a:srgbClr val="222222"/>
                          </a:solidFill>
                        </a:rPr>
                        <a:t>Strong </a:t>
                      </a:r>
                      <a:pPr algn="l" indent="0" marL="0">
                        <a:buNone/>
                      </a:pPr>
                      <a:r>
                        <a:rPr lang="en-US" sz="1100" dirty="0">
                          <a:solidFill>
                            <a:srgbClr val="222222"/>
                          </a:solidFill>
                        </a:rPr>
                        <a:t>ground </a:t>
                      </a:r>
                      <a:pPr algn="l" indent="0" marL="0">
                        <a:buNone/>
                      </a:pPr>
                      <a:r>
                        <a:rPr lang="en-US" sz="1100" dirty="0">
                          <a:solidFill>
                            <a:srgbClr val="222222"/>
                          </a:solidFill>
                        </a:rPr>
                        <a:t>vibration </a:t>
                      </a:r>
                      <a:pPr algn="l" indent="0" marL="0">
                        <a:buNone/>
                      </a:pPr>
                      <a:r>
                        <a:rPr lang="en-US" sz="1100" dirty="0">
                          <a:solidFill>
                            <a:srgbClr val="222222"/>
                          </a:solidFill>
                        </a:rPr>
                        <a:t>is </a:t>
                      </a:r>
                      <a:pPr algn="l" indent="0" marL="0">
                        <a:buNone/>
                      </a:pPr>
                      <a:r>
                        <a:rPr lang="en-US" sz="1100" dirty="0">
                          <a:solidFill>
                            <a:srgbClr val="222222"/>
                          </a:solidFill>
                        </a:rPr>
                        <a:t>recorded </a:t>
                      </a:r>
                      <a:pPr algn="l" indent="0" marL="0">
                        <a:buNone/>
                      </a:pPr>
                      <a:r>
                        <a:rPr lang="en-US" sz="1100" dirty="0">
                          <a:solidFill>
                            <a:srgbClr val="222222"/>
                          </a:solidFill>
                        </a:rPr>
                        <a:t>as </a:t>
                      </a:r>
                      <a:pPr algn="l" indent="0" marL="0">
                        <a:buNone/>
                      </a:pPr>
                      <a:r>
                        <a:rPr lang="en-US" sz="1100" dirty="0">
                          <a:solidFill>
                            <a:srgbClr val="222222"/>
                          </a:solidFill>
                        </a:rPr>
                        <a:t>an </a:t>
                      </a:r>
                      <a:pPr algn="l" indent="0" marL="0">
                        <a:buNone/>
                      </a:pPr>
                      <a:r>
                        <a:rPr lang="en-US" sz="1100" dirty="0">
                          <a:solidFill>
                            <a:srgbClr val="222222"/>
                          </a:solidFill>
                        </a:rPr>
                        <a:t>M4.4 </a:t>
                      </a:r>
                      <a:pPr algn="l" indent="0" marL="0">
                        <a:buNone/>
                      </a:pPr>
                      <a:r>
                        <a:rPr lang="en-US" sz="1100" dirty="0">
                          <a:solidFill>
                            <a:srgbClr val="222222"/>
                          </a:solidFill>
                        </a:rPr>
                        <a:t>event </a:t>
                      </a:r>
                      <a:pPr algn="l" indent="0" marL="0">
                        <a:buNone/>
                      </a:pPr>
                      <a:r>
                        <a:rPr lang="en-US" sz="1100" dirty="0">
                          <a:solidFill>
                            <a:srgbClr val="222222"/>
                          </a:solidFill>
                        </a:rPr>
                        <a:t>and </a:t>
                      </a:r>
                      <a:pPr algn="l" indent="0" marL="0">
                        <a:buNone/>
                      </a:pPr>
                      <a:r>
                        <a:rPr lang="en-US" sz="1100" dirty="0">
                          <a:solidFill>
                            <a:srgbClr val="222222"/>
                          </a:solidFill>
                        </a:rPr>
                        <a:t>an </a:t>
                      </a:r>
                      <a:pPr algn="l" indent="0" marL="0">
                        <a:buNone/>
                      </a:pPr>
                      <a:r>
                        <a:rPr lang="en-US" sz="1100" dirty="0">
                          <a:solidFill>
                            <a:srgbClr val="222222"/>
                          </a:solidFill>
                        </a:rPr>
                        <a:t>explosion-like </a:t>
                      </a:r>
                      <a:pPr algn="l" indent="0" marL="0">
                        <a:buNone/>
                      </a:pPr>
                      <a:r>
                        <a:rPr lang="en-US" sz="1100" dirty="0">
                          <a:solidFill>
                            <a:srgbClr val="222222"/>
                          </a:solidFill>
                        </a:rPr>
                        <a:t>sound </a:t>
                      </a:r>
                      <a:pPr algn="l" indent="0" marL="0">
                        <a:buNone/>
                      </a:pPr>
                      <a:r>
                        <a:rPr lang="en-US" sz="1100" dirty="0">
                          <a:solidFill>
                            <a:srgbClr val="222222"/>
                          </a:solidFill>
                        </a:rPr>
                        <a:t>is </a:t>
                      </a:r>
                      <a:pPr algn="l" indent="0" marL="0">
                        <a:buNone/>
                      </a:pPr>
                      <a:r>
                        <a:rPr lang="en-US" sz="1100" dirty="0">
                          <a:solidFill>
                            <a:srgbClr val="222222"/>
                          </a:solidFill>
                        </a:rPr>
                        <a:t>heard.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about </a:t>
                      </a:r>
                      <a:pPr algn="l" indent="0" marL="0">
                        <a:buNone/>
                      </a:pPr>
                      <a:r>
                        <a:rPr lang="en-US" sz="1100" dirty="0">
                          <a:solidFill>
                            <a:srgbClr val="222222"/>
                          </a:solidFill>
                        </a:rPr>
                        <a:t>08:35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Downstream </a:t>
                      </a:r>
                      <a:pPr algn="l" indent="0" marL="0">
                        <a:buNone/>
                      </a:pPr>
                      <a:r>
                        <a:rPr lang="en-US" sz="1100" dirty="0">
                          <a:solidFill>
                            <a:srgbClr val="222222"/>
                          </a:solidFill>
                        </a:rPr>
                        <a:t>propagation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Rasuwagadhi </a:t>
                      </a:r>
                      <a:pPr algn="l" indent="0" marL="0">
                        <a:buNone/>
                      </a:pPr>
                      <a:r>
                        <a:rPr lang="en-US" sz="1100" dirty="0">
                          <a:solidFill>
                            <a:srgbClr val="222222"/>
                          </a:solidFill>
                        </a:rPr>
                        <a:t>about </a:t>
                      </a:r>
                      <a:pPr algn="l" indent="0" marL="0">
                        <a:buNone/>
                      </a:pPr>
                      <a:r>
                        <a:rPr lang="en-US" sz="1100" dirty="0">
                          <a:solidFill>
                            <a:srgbClr val="222222"/>
                          </a:solidFill>
                        </a:rPr>
                        <a:t>09:00, </a:t>
                      </a:r>
                      <a:pPr algn="l" indent="0" marL="0">
                        <a:buNone/>
                      </a:pPr>
                      <a:r>
                        <a:rPr lang="en-US" sz="1100" dirty="0">
                          <a:solidFill>
                            <a:srgbClr val="222222"/>
                          </a:solidFill>
                        </a:rPr>
                        <a:t>Timure </a:t>
                      </a:r>
                      <a:pPr algn="l" indent="0" marL="0">
                        <a:buNone/>
                      </a:pPr>
                      <a:r>
                        <a:rPr lang="en-US" sz="1100" dirty="0">
                          <a:solidFill>
                            <a:srgbClr val="222222"/>
                          </a:solidFill>
                        </a:rPr>
                        <a:t>about </a:t>
                      </a:r>
                      <a:pPr algn="l" indent="0" marL="0">
                        <a:buNone/>
                      </a:pPr>
                      <a:r>
                        <a:rPr lang="en-US" sz="1100" dirty="0">
                          <a:solidFill>
                            <a:srgbClr val="222222"/>
                          </a:solidFill>
                        </a:rPr>
                        <a:t>09:15, </a:t>
                      </a:r>
                      <a:pPr algn="l" indent="0" marL="0">
                        <a:buNone/>
                      </a:pPr>
                      <a:r>
                        <a:rPr lang="en-US" sz="1100" dirty="0">
                          <a:solidFill>
                            <a:srgbClr val="222222"/>
                          </a:solidFill>
                        </a:rPr>
                        <a:t>Betrawati </a:t>
                      </a:r>
                      <a:pPr algn="l" indent="0" marL="0">
                        <a:buNone/>
                      </a:pPr>
                      <a:r>
                        <a:rPr lang="en-US" sz="1100" dirty="0">
                          <a:solidFill>
                            <a:srgbClr val="222222"/>
                          </a:solidFill>
                        </a:rPr>
                        <a:t>about </a:t>
                      </a:r>
                      <a:pPr algn="l" indent="0" marL="0">
                        <a:buNone/>
                      </a:pPr>
                      <a:r>
                        <a:rPr lang="en-US" sz="1100" dirty="0">
                          <a:solidFill>
                            <a:srgbClr val="222222"/>
                          </a:solidFill>
                        </a:rPr>
                        <a:t>09:20. </a:t>
                      </a:r>
                      <a:pPr algn="l" indent="0" marL="0">
                        <a:buNone/>
                      </a:pPr>
                      <a:r>
                        <a:rPr lang="en-US" sz="1100" dirty="0">
                          <a:solidFill>
                            <a:srgbClr val="222222"/>
                          </a:solidFill>
                        </a:rPr>
                        <a:t>The </a:t>
                      </a:r>
                      <a:pPr algn="l" indent="0" marL="0">
                        <a:buNone/>
                      </a:pPr>
                      <a:r>
                        <a:rPr lang="en-US" sz="1100" dirty="0">
                          <a:solidFill>
                            <a:srgbClr val="222222"/>
                          </a:solidFill>
                        </a:rPr>
                        <a:t>steep, </a:t>
                      </a:r>
                      <a:pPr algn="l" indent="0" marL="0">
                        <a:buNone/>
                      </a:pPr>
                      <a:r>
                        <a:rPr lang="en-US" sz="1100" dirty="0">
                          <a:solidFill>
                            <a:srgbClr val="222222"/>
                          </a:solidFill>
                        </a:rPr>
                        <a:t>narrow </a:t>
                      </a:r>
                      <a:pPr algn="l" indent="0" marL="0">
                        <a:buNone/>
                      </a:pPr>
                      <a:r>
                        <a:rPr lang="en-US" sz="1100" dirty="0">
                          <a:solidFill>
                            <a:srgbClr val="222222"/>
                          </a:solidFill>
                        </a:rPr>
                        <a:t>corridor </a:t>
                      </a:r>
                      <a:pPr algn="l" indent="0" marL="0">
                        <a:buNone/>
                      </a:pPr>
                      <a:r>
                        <a:rPr lang="en-US" sz="1100" dirty="0">
                          <a:solidFill>
                            <a:srgbClr val="222222"/>
                          </a:solidFill>
                        </a:rPr>
                        <a:t>concentrated </a:t>
                      </a:r>
                      <a:pPr algn="l" indent="0" marL="0">
                        <a:buNone/>
                      </a:pPr>
                      <a:r>
                        <a:rPr lang="en-US" sz="1100" dirty="0">
                          <a:solidFill>
                            <a:srgbClr val="222222"/>
                          </a:solidFill>
                        </a:rPr>
                        <a:t>the </a:t>
                      </a:r>
                      <a:pPr algn="l" indent="0" marL="0">
                        <a:buNone/>
                      </a:pPr>
                      <a:r>
                        <a:rPr lang="en-US" sz="1100" dirty="0">
                          <a:solidFill>
                            <a:srgbClr val="222222"/>
                          </a:solidFill>
                        </a:rPr>
                        <a:t>flow; </a:t>
                      </a:r>
                      <a:pPr algn="l" indent="0" marL="0">
                        <a:buNone/>
                      </a:pPr>
                      <a:r>
                        <a:rPr lang="en-US" sz="1100" dirty="0">
                          <a:solidFill>
                            <a:srgbClr val="222222"/>
                          </a:solidFill>
                        </a:rPr>
                        <a:t>further </a:t>
                      </a:r>
                      <a:pPr algn="l" indent="0" marL="0">
                        <a:buNone/>
                      </a:pPr>
                      <a:r>
                        <a:rPr lang="en-US" sz="1100" dirty="0">
                          <a:solidFill>
                            <a:srgbClr val="222222"/>
                          </a:solidFill>
                        </a:rPr>
                        <a:t>downstream </a:t>
                      </a:r>
                      <a:pPr algn="l" indent="0" marL="0">
                        <a:buNone/>
                      </a:pPr>
                      <a:r>
                        <a:rPr lang="en-US" sz="1100" dirty="0">
                          <a:solidFill>
                            <a:srgbClr val="222222"/>
                          </a:solidFill>
                        </a:rPr>
                        <a:t>the </a:t>
                      </a:r>
                      <a:pPr algn="l" indent="0" marL="0">
                        <a:buNone/>
                      </a:pPr>
                      <a:r>
                        <a:rPr lang="en-US" sz="1100" dirty="0">
                          <a:solidFill>
                            <a:srgbClr val="222222"/>
                          </a:solidFill>
                        </a:rPr>
                        <a:t>valley </a:t>
                      </a:r>
                      <a:pPr algn="l" indent="0" marL="0">
                        <a:buNone/>
                      </a:pPr>
                      <a:r>
                        <a:rPr lang="en-US" sz="1100" dirty="0">
                          <a:solidFill>
                            <a:srgbClr val="222222"/>
                          </a:solidFill>
                        </a:rPr>
                        <a:t>widened, </a:t>
                      </a:r>
                      <a:pPr algn="l" indent="0" marL="0">
                        <a:buNone/>
                      </a:pPr>
                      <a:r>
                        <a:rPr lang="en-US" sz="1100" dirty="0">
                          <a:solidFill>
                            <a:srgbClr val="222222"/>
                          </a:solidFill>
                        </a:rPr>
                        <a:t>the </a:t>
                      </a:r>
                      <a:pPr algn="l" indent="0" marL="0">
                        <a:buNone/>
                      </a:pPr>
                      <a:r>
                        <a:rPr lang="en-US" sz="1100" dirty="0">
                          <a:solidFill>
                            <a:srgbClr val="222222"/>
                          </a:solidFill>
                        </a:rPr>
                        <a:t>flow </a:t>
                      </a:r>
                      <a:pPr algn="l" indent="0" marL="0">
                        <a:buNone/>
                      </a:pPr>
                      <a:r>
                        <a:rPr lang="en-US" sz="1100" dirty="0">
                          <a:solidFill>
                            <a:srgbClr val="222222"/>
                          </a:solidFill>
                        </a:rPr>
                        <a:t>slowed </a:t>
                      </a:r>
                      <a:pPr algn="l" indent="0" marL="0">
                        <a:buNone/>
                      </a:pPr>
                      <a:r>
                        <a:rPr lang="en-US" sz="1100" dirty="0">
                          <a:solidFill>
                            <a:srgbClr val="222222"/>
                          </a:solidFill>
                        </a:rPr>
                        <a:t>and </a:t>
                      </a:r>
                      <a:pPr algn="l" indent="0" marL="0">
                        <a:buNone/>
                      </a:pPr>
                      <a:r>
                        <a:rPr lang="en-US" sz="1100" dirty="0">
                          <a:solidFill>
                            <a:srgbClr val="222222"/>
                          </a:solidFill>
                        </a:rPr>
                        <a:t>less </a:t>
                      </a:r>
                      <a:pPr algn="l" indent="0" marL="0">
                        <a:buNone/>
                      </a:pPr>
                      <a:r>
                        <a:rPr lang="en-US" sz="1100" dirty="0">
                          <a:solidFill>
                            <a:srgbClr val="222222"/>
                          </a:solidFill>
                        </a:rPr>
                        <a:t>additional </a:t>
                      </a:r>
                      <a:pPr algn="l" indent="0" marL="0">
                        <a:buNone/>
                      </a:pPr>
                      <a:r>
                        <a:rPr lang="en-US" sz="1100" dirty="0">
                          <a:solidFill>
                            <a:srgbClr val="222222"/>
                          </a:solidFill>
                        </a:rPr>
                        <a:t>damage </a:t>
                      </a:r>
                      <a:pPr algn="l" indent="0" marL="0">
                        <a:buNone/>
                      </a:pPr>
                      <a:r>
                        <a:rPr lang="en-US" sz="1100" dirty="0">
                          <a:solidFill>
                            <a:srgbClr val="222222"/>
                          </a:solidFill>
                        </a:rPr>
                        <a:t>was </a:t>
                      </a:r>
                      <a:pPr algn="l" indent="0" marL="0">
                        <a:buNone/>
                      </a:pPr>
                      <a:r>
                        <a:rPr lang="en-US" sz="1100" dirty="0">
                          <a:solidFill>
                            <a:srgbClr val="222222"/>
                          </a:solidFill>
                        </a:rPr>
                        <a:t>reported.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09:00-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IRDR states that the precise source mechanism, breach dynamics, peak discharge and any seismic contribution require further investigation. Earlier wording: DHM, NDRRMA, ADRC, Sentinel Asia, JAXA and WFP used 'GLOF' in the first days; UNOSAT described the deposits as mudflow / rockflow; DG ECHO used 'ice-rock avalanche and flash flood'. The GLIDE number FF-2026-000162-NPL (Flash Flood) is a registration category and is unaffected.</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IRDR Rapid Analysis Report, 28 Aug 2026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28</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UNOSAT - Satellite-detected Mudflow / Rockflow Extent (Rasuwa and Nuwakot)</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694944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Product 4259, imagery analysis 26 and 27 August 2026, published 28 August 2026 (v1). Sentinel-2 imagery of 27 August and PlanetScope imagery of 26 August. Within an analysed area of about 350 km2, an estimated 37 km2 appears to be affected by floodwaters. Approximately 5,000 of the 46,600 buildings in the analysed area are exposed to or located near the affected areas, and about 120 km of roads are potentially affected. The highest concentration is in Bidur Municipality, Nuwakot District (about 2,600 buildings), followed by Gosaikunda Municipality, Rasuwa District (about 1,030 buildings). The map also marks the possible triggering location of the ice-rock avalanche on the Tibetan side of the border.</a:t>
            </a:r>
            <a:endParaRPr lang="en-US" sz="1150" dirty="0"/>
          </a:p>
        </p:txBody>
      </p:sp>
      <p:pic>
        <p:nvPicPr>
          <p:cNvPr id="5" name="Image 1" descr="/tmp/build_event-lR8quy/generator/images/FF-2026-000162-NPL/unosat_rasuwa_manual.jpg">    </p:cNvPr>
          <p:cNvPicPr>
            <a:picLocks noChangeAspect="1"/>
          </p:cNvPicPr>
          <p:nvPr/>
        </p:nvPicPr>
        <p:blipFill>
          <a:blip r:embed="rId2"/>
          <a:stretch>
            <a:fillRect/>
          </a:stretch>
        </p:blipFill>
        <p:spPr>
          <a:xfrm>
            <a:off x="8208310" y="1051560"/>
            <a:ext cx="2968659" cy="4105656"/>
          </a:xfrm>
          <a:prstGeom prst="rect">
            <a:avLst/>
          </a:prstGeom>
        </p:spPr>
      </p:pic>
      <p:sp>
        <p:nvSpPr>
          <p:cNvPr id="6" name="Text 2"/>
          <p:cNvSpPr/>
          <p:nvPr/>
        </p:nvSpPr>
        <p:spPr>
          <a:xfrm>
            <a:off x="7589520" y="5175504"/>
            <a:ext cx="420624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UNOSAT product 4259 - Rasuwa and Nuwakot Districts, Bagmati Province</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900" dirty="0"/>
          </a:p>
        </p:txBody>
      </p:sp>
      <p:sp>
        <p:nvSpPr>
          <p:cNvPr id="7" name="Text 3"/>
          <p:cNvSpPr/>
          <p:nvPr/>
        </p:nvSpPr>
        <p:spPr>
          <a:xfrm>
            <a:off x="365760" y="5870448"/>
            <a:ext cx="694944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UNOSAT states this is a preliminary analysis that has not yet been validated in the field. UNOSAT describes the deposits as mudflow / rockflow; this is a description of what the imagery shows and does not contradict the GLOF attribution used by DHM, NDRRMA, ADRC, Sentinel Asia, JAXA and WFP.</a:t>
            </a:r>
            <a:endParaRPr lang="en-US" sz="9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UNOSAT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28</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(1/4)</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endParaRPr lang="en-US" sz="12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Nepal: Flash Floods, Aug 2026 (GLIDE FF-2026-000162-NPL)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https://reliefweb.int/disaster/ff-2026-000162-npl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 emergency observation request for this event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 Flood in Nepal, Activation #1052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5.2 landslide (glacial collapse), 55 km NW of Kodari, Nepal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https://earthquake.usgs.gov/earthquakes/eventpage/us7000tbwb</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 International Charter - satellite-detected extent, Rasuwa District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https://reliefweb.int/map/nepal/nepal-satellite-detected-mudflow-rockflow-extent-26-27-august-2026-rasuwa-district-bagmati-province-imagery-analysis-2627082026-published-27082026-v1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CHF 25 million Emergency Appeal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https://reliefweb.int/report/nepal/ifrc-launches-chf-25-million-emergency-appeal-response-devastating-nepal-flash-floods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 US$17.2 million appeal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https://reliefweb.int/report/nepal/flash-floods-nepal-leave-more-17000-children-need-urgent-humanitarian-assistance-enar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External Situation Report, 27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https://reliefweb.int/report/nepal/wfp-nepal-external-situation-report-27-august-2026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BIPAD Portal (Ministry of Home Affairs) - national incident database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https://bipadportal.gov.np/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product 4259 - Rasuwa and Nuwakot, mudflow/rockflow extent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28</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(2/4)</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IRDR Rapid Analysis Report - Scientific Anatomy of the 26 August 2026 Bhotekoshi Flash Flood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 Nepal: Rasuwa Flood Flash Update #3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https://reliefweb.int/report/nepal/nepal-rasuwa-flood-flash-update-3</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 Situation Report on Flood Emergency, 29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https://reliefweb.int/report/nepal/nepal-rasuwa-flood-flash-update-4-31-august-2026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https://reliefweb.int/report/nepal/dispatch-korea-disaster-relief-team-kdrt-response-flood-damage-nepal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https://reliefweb.int/report/nepal/nepal-flood-emergency-situation-report-reporting-period-30-31-august-2026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https://reliefweb.int/report/nepal/water-mission-responds-devastating-flash-floods-nepal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https://www.ndrrma.gov.np/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https://ndrrma.gov.np/mediafiles/rasuwa/SitRep_11_NEP_01092026.pdf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https://reliefweb.int/map/nepal/mudflowrockflow-impact-assessment-nuwakot-district-bagmati-province-nepal-26-27-august-2026-imagery-analysis-2627082026-published-28082026-v1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https://reliefweb.int/map/nepal/satellite-detected-newly-formed-barrier-lakes-following-ice-rock-avalanche-rasuwa-district-nepal-28-august-2026-imagery-analysis-2627082026-published-27082026-v1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28</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(3/4)</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https://reliefweb.int/map/nepal/nepal-china-eu-response-ice-rock-avalanche-and-flash-flood-event-dg-echo-daily-map-02092026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https://reliefweb.int/report/nepal/rapid-disaster-impact-report-satellite-remote-sensing-reveals-severe-mudslide-impacts-along-china-nepal-border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https://reliefweb.int/report/nepal/nepal-floods-hit-vulnerable-communities-undp-estimates-22-million-tonnes-debris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https://reliefweb.int/report/nepal/nepal-flash-floods-medical-teams-deploy-emergency-zone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https://reliefweb.int/report/nepal/nepal-rasuwa-flood-flash-update-5-1-september-2026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https://reliefweb.int/report/nepal/unicef-nepal-humanitarian-situation-report-no1-rasuwa-flood-31-august-2026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https://reliefweb.int/report/nepal/nepal-flood-2026-dref-operation-mdrnp022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https://reliefweb.int/report/nepal/dispatch-japan-disaster-relief-jdr-expert-team-response-flash-flood-nepal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https://reliefweb.int/map/nepal/nepal-flash-floods-26th-august-2026-flood-extent-affected-districts-dhading-nuwakot-and-rasuwa-03092026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https://reliefweb.int/map/nepal/nepal-flash-floods-26th-august-2026-reference-map-nuwakot-district-03092026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https://reliefweb.int/map/nepal/nepal-flash-floods-26th-august-2026-reference-map-rasuwa-district-03092026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https://reliefweb.int/report/nepal/iom-nepal-flood-response-situation-report-3-3-september-2026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28</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(4/4)</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https://reliefweb.int/report/nepal/wfp-nepal-situation-report-rasuwa-flood-response-04-september-2026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https://reliefweb.int/report/nepal/nepal-rasuwa-flood-flash-appeal-4-september-2026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https://reliefweb.int/report/nepal/nepal-flash-floods-displacement-snapshot-27-31-august-2026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https://reliefweb.int/map/nepal/nepal-rasuwa-floods-26th-august-2026-reference-map-series-affected-area-sheet-01-04092026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https://reliefweb.int/map/nepal/nepal-rasuwa-floods-26th-august-2026-reference-map-bidur-municipality-04092026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28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2026-09-04T22:58:15Z</dcterms:created>
  <dcterms:modified xsi:type="dcterms:W3CDTF">2026-09-04T22:58:15Z</dcterms:modified>
</cp:coreProperties>
</file>