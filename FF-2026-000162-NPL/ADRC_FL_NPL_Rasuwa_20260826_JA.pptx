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google.com/maps/@28.28,85.38,9z" TargetMode="External"/><Relationship Id="rId6" Type="http://schemas.openxmlformats.org/officeDocument/2006/relationships/hyperlink" Target="https://unosat.org/products/4259" TargetMode="External"/><Relationship Id="rId7" Type="http://schemas.openxmlformats.org/officeDocument/2006/relationships/hyperlink" Target="https://bipadportal.gov.np/"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4-1.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5-1.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9-1.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6-1.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disasterscharter.org/activations/flood-in-nepal-activation-1052-" TargetMode="External"/><Relationship Id="rId4" Type="http://schemas.openxmlformats.org/officeDocument/2006/relationships/hyperlink" Target="https://sentinel-asia.org/EO/2026/article20260826NP.html" TargetMode="External"/><Relationship Id="rId1"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1" Type="http://schemas.openxmlformats.org/officeDocument/2006/relationships/image" Target="../media/image-52-1.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1" Type="http://schemas.openxmlformats.org/officeDocument/2006/relationships/image" Target="../media/image-53-1.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hyperlink" Target="https://sentinel-asia.org/EO/2026/article20260826NP.html" TargetMode="External"/><Relationship Id="rId5" Type="http://schemas.openxmlformats.org/officeDocument/2006/relationships/hyperlink" Target="https://disasterscharter.org/activations/flood-in-nepal-activation-1052-" TargetMode="External"/><Relationship Id="rId6" Type="http://schemas.openxmlformats.org/officeDocument/2006/relationships/hyperlink" Target="https://sentinel-asia.org/EO/2026/article20260826NP.html" TargetMode="External"/><Relationship Id="rId1" Type="http://schemas.openxmlformats.org/officeDocument/2006/relationships/image" Target="../media/image-54-1.png"/><Relationship Id="rId2" Type="http://schemas.openxmlformats.org/officeDocument/2006/relationships/image" Target="../media/image-54-2.png"/><Relationship Id="rId4" Type="http://schemas.openxmlformats.org/officeDocument/2006/relationships/image" Target="../media/image-54-3.png"/><Relationship Id="rId7" Type="http://schemas.openxmlformats.org/officeDocument/2006/relationships/slideLayout" Target="../slideLayouts/slideLayout1.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3" Type="http://schemas.openxmlformats.org/officeDocument/2006/relationships/hyperlink" Target="https://disasterscharter.org/activations/flood-in-nepal-activation-1052-" TargetMode="External"/><Relationship Id="rId1" Type="http://schemas.openxmlformats.org/officeDocument/2006/relationships/image" Target="../media/image-55-1.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hyperlink" Target="https://sentinel-asia.org/EO/2026/article20260826NP.html" TargetMode="External"/><Relationship Id="rId3" Type="http://schemas.openxmlformats.org/officeDocument/2006/relationships/hyperlink" Target="https://disasterscharter.org/activations/flood-in-nepal-activation-1052-" TargetMode="External"/><Relationship Id="rId1" Type="http://schemas.openxmlformats.org/officeDocument/2006/relationships/image" Target="../media/image-56-1.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hyperlink" Target="https://reliefweb.int/report/nepal/irdr-rapid-analysis-report-scientific-anatomy-26-august-2026-bhotekoshi-flash-flood" TargetMode="External"/><Relationship Id="rId1" Type="http://schemas.openxmlformats.org/officeDocument/2006/relationships/image" Target="../media/image-58-1.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hyperlink" Target="https://unosat.org/products/4259" TargetMode="External"/><Relationship Id="rId4" Type="http://schemas.openxmlformats.org/officeDocument/2006/relationships/hyperlink" Target="https://unosat.org/products/4259" TargetMode="External"/><Relationship Id="rId1" Type="http://schemas.openxmlformats.org/officeDocument/2006/relationships/image" Target="../media/image-59-1.png"/><Relationship Id="rId2" Type="http://schemas.openxmlformats.org/officeDocument/2006/relationships/image" Target="../media/image-59-2.jpg"/><Relationship Id="rId5" Type="http://schemas.openxmlformats.org/officeDocument/2006/relationships/slideLayout" Target="../slideLayouts/slideLayout1.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hyperlink" Target="https://reliefweb.int/disaster/ff-2026-000162-npl" TargetMode="External"/><Relationship Id="rId3" Type="http://schemas.openxmlformats.org/officeDocument/2006/relationships/hyperlink" Target="https://sentinel-asia.org/EO/2026/article20260826NP.html" TargetMode="External"/><Relationship Id="rId4" Type="http://schemas.openxmlformats.org/officeDocument/2006/relationships/hyperlink" Target="https://disasterscharter.org/activations/flood-in-nepal-activation-1052-" TargetMode="External"/><Relationship Id="rId5" Type="http://schemas.openxmlformats.org/officeDocument/2006/relationships/hyperlink" Target="https://earthquake.usgs.gov/earthquakes/eventpage/us7000tbwb" TargetMode="External"/><Relationship Id="rId6" Type="http://schemas.openxmlformats.org/officeDocument/2006/relationships/hyperlink" Target="https://reliefweb.int/map/nepal/nepal-satellite-detected-mudflow-rockflow-extent-26-27-august-2026-rasuwa-district-bagmati-province-imagery-analysis-2627082026-published-27082026-v1" TargetMode="External"/><Relationship Id="rId7" Type="http://schemas.openxmlformats.org/officeDocument/2006/relationships/hyperlink" Target="https://reliefweb.int/report/nepal/ifrc-launches-chf-25-million-emergency-appeal-response-devastating-nepal-flash-floods" TargetMode="External"/><Relationship Id="rId8" Type="http://schemas.openxmlformats.org/officeDocument/2006/relationships/hyperlink" Target="https://reliefweb.int/report/nepal/flash-floods-nepal-leave-more-17000-children-need-urgent-humanitarian-assistance-enar" TargetMode="External"/><Relationship Id="rId9" Type="http://schemas.openxmlformats.org/officeDocument/2006/relationships/hyperlink" Target="https://reliefweb.int/report/nepal/wfp-nepal-external-situation-report-27-august-2026" TargetMode="External"/><Relationship Id="rId10" Type="http://schemas.openxmlformats.org/officeDocument/2006/relationships/hyperlink" Target="https://bipadportal.gov.np/" TargetMode="External"/><Relationship Id="rId11" Type="http://schemas.openxmlformats.org/officeDocument/2006/relationships/hyperlink" Target="https://unosat.org/products/4259" TargetMode="External"/><Relationship Id="rId1" Type="http://schemas.openxmlformats.org/officeDocument/2006/relationships/image" Target="../media/image-60-1.png"/><Relationship Id="rId12" Type="http://schemas.openxmlformats.org/officeDocument/2006/relationships/slideLayout" Target="../slideLayouts/slideLayout1.xml"/><Relationship Id="rId1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2" Type="http://schemas.openxmlformats.org/officeDocument/2006/relationships/hyperlink" Target="https://reliefweb.int/report/nepal/irdr-rapid-analysis-report-scientific-anatomy-26-august-2026-bhotekoshi-flash-flood" TargetMode="External"/><Relationship Id="rId3" Type="http://schemas.openxmlformats.org/officeDocument/2006/relationships/hyperlink" Target="https://reliefweb.int/report/nepal/nepal-rasuwa-flood-flash-update-3" TargetMode="External"/><Relationship Id="rId4" Type="http://schemas.openxmlformats.org/officeDocument/2006/relationships/hyperlink" Target="https://reliefweb.int/report/nepal/wfp-nepal-external-situation-report-29-august-2026" TargetMode="External"/><Relationship Id="rId5" Type="http://schemas.openxmlformats.org/officeDocument/2006/relationships/hyperlink" Target="https://reliefweb.int/report/nepal/wfp-nepal-external-situation-report-30-august-2026" TargetMode="External"/><Relationship Id="rId6" Type="http://schemas.openxmlformats.org/officeDocument/2006/relationships/hyperlink" Target="https://reliefweb.int/report/nepal/nepal-rasuwa-flood-flash-update-4-31-august-2026" TargetMode="External"/><Relationship Id="rId7" Type="http://schemas.openxmlformats.org/officeDocument/2006/relationships/hyperlink" Target="https://reliefweb.int/report/nepal/dispatch-korea-disaster-relief-team-kdrt-response-flood-damage-nepal" TargetMode="External"/><Relationship Id="rId8" Type="http://schemas.openxmlformats.org/officeDocument/2006/relationships/hyperlink" Target="https://reliefweb.int/report/nepal/nepal-flood-emergency-situation-report-reporting-period-30-31-august-2026" TargetMode="External"/><Relationship Id="rId9" Type="http://schemas.openxmlformats.org/officeDocument/2006/relationships/hyperlink" Target="https://reliefweb.int/report/nepal/water-mission-responds-devastating-flash-floods-nepal" TargetMode="External"/><Relationship Id="rId10" Type="http://schemas.openxmlformats.org/officeDocument/2006/relationships/hyperlink" Target="https://www.ndrrma.gov.np/" TargetMode="External"/><Relationship Id="rId11" Type="http://schemas.openxmlformats.org/officeDocument/2006/relationships/hyperlink" Target="https://ndrrma.gov.np/mediafiles/rasuwa/SitRep_11_NEP_01092026.pdf" TargetMode="External"/><Relationship Id="rId12" Type="http://schemas.openxmlformats.org/officeDocument/2006/relationships/hyperlink" Target="https://reliefweb.int/map/nepal/mudflowrockflow-impact-assessment-nuwakot-district-bagmati-province-nepal-26-27-august-2026-imagery-analysis-2627082026-published-28082026-v1" TargetMode="External"/><Relationship Id="rId13" Type="http://schemas.openxmlformats.org/officeDocument/2006/relationships/hyperlink" Target="https://reliefweb.int/map/nepal/satellite-detected-newly-formed-barrier-lakes-following-ice-rock-avalanche-rasuwa-district-nepal-28-august-2026-imagery-analysis-2627082026-published-27082026-v1" TargetMode="External"/><Relationship Id="rId1" Type="http://schemas.openxmlformats.org/officeDocument/2006/relationships/image" Target="../media/image-61-1.png"/><Relationship Id="rId14" Type="http://schemas.openxmlformats.org/officeDocument/2006/relationships/slideLayout" Target="../slideLayouts/slideLayout1.xml"/><Relationship Id="rId1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hyperlink" Target="https://reliefweb.int/map/nepal/nepal-china-eu-response-ice-rock-avalanche-and-flash-flood-event-dg-echo-daily-map-02092026" TargetMode="External"/><Relationship Id="rId3" Type="http://schemas.openxmlformats.org/officeDocument/2006/relationships/hyperlink" Target="https://reliefweb.int/report/nepal/rapid-disaster-impact-report-satellite-remote-sensing-reveals-severe-mudslide-impacts-along-china-nepal-border" TargetMode="External"/><Relationship Id="rId4" Type="http://schemas.openxmlformats.org/officeDocument/2006/relationships/hyperlink" Target="https://reliefweb.int/report/nepal/nepal-floods-hit-vulnerable-communities-undp-estimates-22-million-tonnes-debris" TargetMode="External"/><Relationship Id="rId5" Type="http://schemas.openxmlformats.org/officeDocument/2006/relationships/hyperlink" Target="https://reliefweb.int/report/nepal/nepal-flash-floods-medical-teams-deploy-emergency-zone" TargetMode="External"/><Relationship Id="rId6" Type="http://schemas.openxmlformats.org/officeDocument/2006/relationships/hyperlink" Target="https://reliefweb.int/report/nepal/nepal-rasuwa-flood-flash-update-5-1-september-2026" TargetMode="External"/><Relationship Id="rId7" Type="http://schemas.openxmlformats.org/officeDocument/2006/relationships/hyperlink" Target="https://reliefweb.int/report/nepal/unicef-nepal-humanitarian-situation-report-no1-rasuwa-flood-31-august-2026" TargetMode="External"/><Relationship Id="rId8" Type="http://schemas.openxmlformats.org/officeDocument/2006/relationships/hyperlink" Target="https://reliefweb.int/report/nepal/nepal-flood-2026-dref-operation-mdrnp022" TargetMode="External"/><Relationship Id="rId9" Type="http://schemas.openxmlformats.org/officeDocument/2006/relationships/hyperlink" Target="https://reliefweb.int/report/nepal/dispatch-japan-disaster-relief-jdr-expert-team-response-flash-flood-nepal" TargetMode="External"/><Relationship Id="rId10" Type="http://schemas.openxmlformats.org/officeDocument/2006/relationships/hyperlink" Target="https://reliefweb.int/map/nepal/nepal-flash-floods-26th-august-2026-flood-extent-affected-districts-dhading-nuwakot-and-rasuwa-03092026" TargetMode="External"/><Relationship Id="rId11" Type="http://schemas.openxmlformats.org/officeDocument/2006/relationships/hyperlink" Target="https://reliefweb.int/map/nepal/nepal-flash-floods-26th-august-2026-reference-map-nuwakot-district-03092026" TargetMode="External"/><Relationship Id="rId12" Type="http://schemas.openxmlformats.org/officeDocument/2006/relationships/hyperlink" Target="https://reliefweb.int/map/nepal/nepal-flash-floods-26th-august-2026-reference-map-rasuwa-district-03092026" TargetMode="External"/><Relationship Id="rId13" Type="http://schemas.openxmlformats.org/officeDocument/2006/relationships/hyperlink" Target="https://reliefweb.int/report/nepal/iom-nepal-flood-response-situation-report-3-3-september-2026" TargetMode="External"/><Relationship Id="rId1" Type="http://schemas.openxmlformats.org/officeDocument/2006/relationships/image" Target="../media/image-62-1.png"/><Relationship Id="rId14" Type="http://schemas.openxmlformats.org/officeDocument/2006/relationships/slideLayout" Target="../slideLayouts/slideLayout1.xml"/><Relationship Id="rId1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hyperlink" Target="https://reliefweb.int/report/nepal/wfp-nepal-situation-report-rasuwa-flood-response-04-september-2026" TargetMode="External"/><Relationship Id="rId3" Type="http://schemas.openxmlformats.org/officeDocument/2006/relationships/hyperlink" Target="https://reliefweb.int/report/nepal/nepal-rasuwa-flood-flash-appeal-4-september-2026" TargetMode="External"/><Relationship Id="rId4" Type="http://schemas.openxmlformats.org/officeDocument/2006/relationships/hyperlink" Target="https://reliefweb.int/report/nepal/nepal-flash-floods-displacement-snapshot-27-31-august-2026" TargetMode="External"/><Relationship Id="rId5" Type="http://schemas.openxmlformats.org/officeDocument/2006/relationships/hyperlink" Target="https://reliefweb.int/map/nepal/nepal-rasuwa-floods-26th-august-2026-reference-map-series-affected-area-sheet-01-04092026" TargetMode="External"/><Relationship Id="rId6" Type="http://schemas.openxmlformats.org/officeDocument/2006/relationships/hyperlink" Target="https://reliefweb.int/map/nepal/nepal-rasuwa-floods-26th-august-2026-reference-map-bidur-municipality-04092026" TargetMode="External"/><Relationship Id="rId7" Type="http://schemas.openxmlformats.org/officeDocument/2006/relationships/hyperlink" Target="https://reliefweb.int/report/nepal/nepal-rasuwa-flood-situation-report-no-6" TargetMode="External"/><Relationship Id="rId8" Type="http://schemas.openxmlformats.org/officeDocument/2006/relationships/hyperlink" Target="https://reliefweb.int/report/nepal/nepal-rasuwa-flood-situation-report-no-6-5-september-2026" TargetMode="External"/><Relationship Id="rId9" Type="http://schemas.openxmlformats.org/officeDocument/2006/relationships/hyperlink" Target="https://risingnepaldaily.com/news/86182" TargetMode="External"/><Relationship Id="rId10" Type="http://schemas.openxmlformats.org/officeDocument/2006/relationships/hyperlink" Target="https://risingnepaldaily.com/news/86159" TargetMode="External"/><Relationship Id="rId11" Type="http://schemas.openxmlformats.org/officeDocument/2006/relationships/hyperlink" Target="https://reliefweb.int/report/nepal/nepal-flood-emergency-situation-report-reporting-period-4-6-september-2026" TargetMode="External"/><Relationship Id="rId12" Type="http://schemas.openxmlformats.org/officeDocument/2006/relationships/hyperlink" Target="https://reliefweb.int/report/nepal/nepal-flash-floods-un-women-gender-alert-2" TargetMode="External"/><Relationship Id="rId13" Type="http://schemas.openxmlformats.org/officeDocument/2006/relationships/hyperlink" Target="https://reliefweb.int/map/nepal/nepal-rasuwa-floods-26th-august-2026-reference-map-series-affected-area-06092026" TargetMode="External"/><Relationship Id="rId1" Type="http://schemas.openxmlformats.org/officeDocument/2006/relationships/image" Target="../media/image-63-1.png"/><Relationship Id="rId14" Type="http://schemas.openxmlformats.org/officeDocument/2006/relationships/slideLayout" Target="../slideLayouts/slideLayout1.xml"/><Relationship Id="rId1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hyperlink" Target="https://reliefweb.int/map/nepal/nepal-flash-floods-26th-august-2026-affected-municipalities-settlements-06092026" TargetMode="External"/><Relationship Id="rId3" Type="http://schemas.openxmlformats.org/officeDocument/2006/relationships/hyperlink" Target="https://reliefweb.int/map/nepal/nepal-flash-floods-26th-august-2026-affected-population-06092026" TargetMode="External"/><Relationship Id="rId4" Type="http://schemas.openxmlformats.org/officeDocument/2006/relationships/hyperlink" Target="https://reliefweb.int/report/nepal/marking-international-day-charity-stories-giving-through-qatar-charity-go-beyond-humanitarian-assistance" TargetMode="External"/><Relationship Id="rId5" Type="http://schemas.openxmlformats.org/officeDocument/2006/relationships/hyperlink" Target="https://reliefweb.int/report/nepal/nepal-preliminary-findings-baseline-site-profile-assessment-31-august-06-september-2026" TargetMode="External"/><Relationship Id="rId6" Type="http://schemas.openxmlformats.org/officeDocument/2006/relationships/hyperlink" Target="https://reliefweb.int/report/nepal/nepal-floods-ifrc-delivers-safe-water-and-health-care-affected-communities" TargetMode="External"/><Relationship Id="rId7" Type="http://schemas.openxmlformats.org/officeDocument/2006/relationships/hyperlink" Target="https://reliefweb.int/map/nepal/nepal-ltc-logistics-concept-operations-september-6-2026" TargetMode="External"/><Relationship Id="rId8" Type="http://schemas.openxmlformats.org/officeDocument/2006/relationships/hyperlink" Target="https://ndrrma.gov.np/mediafiles/rasuwa/Situation_update_English_2026.9.08_6_PM.pdf" TargetMode="External"/><Relationship Id="rId9" Type="http://schemas.openxmlformats.org/officeDocument/2006/relationships/hyperlink" Target="https://ndrrma.gov.np/mediafiles/rasuwa/SitRep_18_NEP_08092026.pdf" TargetMode="External"/><Relationship Id="rId10" Type="http://schemas.openxmlformats.org/officeDocument/2006/relationships/hyperlink" Target="https://reliefweb.int/report/nepal/nepal-landslides-flash-floods-situation-report-4-september-8-2026" TargetMode="External"/><Relationship Id="rId11" Type="http://schemas.openxmlformats.org/officeDocument/2006/relationships/hyperlink" Target="https://reliefweb.int/map/nepal/nepal-rasuwa-floods-26th-august-2026-dtm-baseline-site-profile-assessment-31-august-05-september-2026-rasuwa-district" TargetMode="External"/><Relationship Id="rId12" Type="http://schemas.openxmlformats.org/officeDocument/2006/relationships/hyperlink" Target="https://reliefweb.int/report/nepal/nepal-flash-floods-five-days-after-floods-secondary-health-risks-rise" TargetMode="External"/><Relationship Id="rId1" Type="http://schemas.openxmlformats.org/officeDocument/2006/relationships/image" Target="../media/image-64-1.png"/><Relationship Id="rId13" Type="http://schemas.openxmlformats.org/officeDocument/2006/relationships/slideLayout" Target="../slideLayouts/slideLayout1.xml"/><Relationship Id="rId1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hyperlink" Target="https://ndrrma.gov.np/mediafiles/rasuwa/SitRep_ENG_09_09092026.pdf" TargetMode="External"/><Relationship Id="rId3" Type="http://schemas.openxmlformats.org/officeDocument/2006/relationships/hyperlink" Target="https://ndrrma.gov.np/mediafiles/rasuwa/SitRep_19_NEP_09092026.pdf" TargetMode="External"/><Relationship Id="rId4" Type="http://schemas.openxmlformats.org/officeDocument/2006/relationships/hyperlink" Target="https://reliefweb.int/report/nepal/wfp-nepal-external-situation-report-10-september-2026" TargetMode="External"/><Relationship Id="rId5" Type="http://schemas.openxmlformats.org/officeDocument/2006/relationships/hyperlink" Target="https://reliefweb.int/map/nepal/nepal-rasuwa-floods-26th-august-2026-dtm-baseline-site-profile-assessment-31-august-05-september-2026-nuwakot-district" TargetMode="External"/><Relationship Id="rId6" Type="http://schemas.openxmlformats.org/officeDocument/2006/relationships/hyperlink" Target="https://reliefweb.int/map/nepal/nepal-rasuwa-floods-26th-august-2026-dtm-baseline-site-profile-assessment-31-august-05-september-2026-dhading-district" TargetMode="External"/><Relationship Id="rId7" Type="http://schemas.openxmlformats.org/officeDocument/2006/relationships/hyperlink" Target="https://reliefweb.int/report/nepal/nepal-rasuwa-flood-situation-report-no-7-8-september-2026" TargetMode="External"/><Relationship Id="rId8" Type="http://schemas.openxmlformats.org/officeDocument/2006/relationships/hyperlink" Target="https://reliefweb.int/report/nepal/government-decides-provide-emergency-relief-supplies-response-flood-damage-nepal" TargetMode="External"/><Relationship Id="rId9" Type="http://schemas.openxmlformats.org/officeDocument/2006/relationships/hyperlink" Target="https://reliefweb.int/report/nepal/canada-deploys-victim-identification-experts-support-response-severe-flooding-along-nepal-china-border" TargetMode="External"/><Relationship Id="rId10" Type="http://schemas.openxmlformats.org/officeDocument/2006/relationships/hyperlink" Target="https://reliefweb.int/report/nepal/nepal-operational-update-humanitarian-response-after-devastating-floods" TargetMode="External"/><Relationship Id="rId11" Type="http://schemas.openxmlformats.org/officeDocument/2006/relationships/hyperlink" Target="https://reliefweb.int/report/nepal/nepal-over-500-children-separated-parents-and-hundreds-still-missing-after-floods" TargetMode="External"/><Relationship Id="rId1" Type="http://schemas.openxmlformats.org/officeDocument/2006/relationships/image" Target="../media/image-65-1.png"/><Relationship Id="rId12" Type="http://schemas.openxmlformats.org/officeDocument/2006/relationships/slideLayout" Target="../slideLayouts/slideLayout1.xml"/><Relationship Id="rId1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2" Type="http://schemas.openxmlformats.org/officeDocument/2006/relationships/hyperlink" Target="https://reliefweb.int/map/nepal/nepal-flash-floods-26th-august-2026-affected-municipalities-09092026" TargetMode="External"/><Relationship Id="rId3" Type="http://schemas.openxmlformats.org/officeDocument/2006/relationships/hyperlink" Target="https://ndrrma.gov.np/mediafiles/rasuwa/SitRep_ENG_09_09092026.pdf" TargetMode="External"/><Relationship Id="rId4" Type="http://schemas.openxmlformats.org/officeDocument/2006/relationships/hyperlink" Target="https://reliefweb.int/map/nepal/nepal-rasuwa-floods-26th-august-2026-affected-settlements-09092026" TargetMode="External"/><Relationship Id="rId5" Type="http://schemas.openxmlformats.org/officeDocument/2006/relationships/hyperlink" Target="https://reliefweb.int/map/nepal/nepal-rasuwa-floods-26th-august-2026-affected-wards-nuwakot-district-08092026" TargetMode="External"/><Relationship Id="rId6" Type="http://schemas.openxmlformats.org/officeDocument/2006/relationships/hyperlink" Target="https://reliefweb.int/map/nepal/nepal-rasuwa-floods-26th-august-2026-affected-wards-rasuwa-district-08092026" TargetMode="External"/><Relationship Id="rId7" Type="http://schemas.openxmlformats.org/officeDocument/2006/relationships/hyperlink" Target="https://reliefweb.int/report/nepal/medicines-arrive-nepal-health-providers-work-reach-last-mile" TargetMode="External"/><Relationship Id="rId8" Type="http://schemas.openxmlformats.org/officeDocument/2006/relationships/hyperlink" Target="https://reliefweb.int/report/nepal/nepal-asia-pacific-flash-flood-emergency-appeal-mdrnp022" TargetMode="External"/><Relationship Id="rId9" Type="http://schemas.openxmlformats.org/officeDocument/2006/relationships/hyperlink" Target="https://reliefweb.int/report/nepal/nepal-flash-floods-ltc-situation-report-telecoms-area-2-reporting-period-05-11-september-2026" TargetMode="External"/><Relationship Id="rId10" Type="http://schemas.openxmlformats.org/officeDocument/2006/relationships/hyperlink" Target="https://ndrrma.gov.np/mediafiles/rasuwa/SitRep_22_NEP_12092026.pdf" TargetMode="External"/><Relationship Id="rId11" Type="http://schemas.openxmlformats.org/officeDocument/2006/relationships/hyperlink" Target="https://reliefweb.int/report/nepal/nepal-floods-damage-1800-hectares-crops-and-kill-thousands-livestock" TargetMode="External"/><Relationship Id="rId1" Type="http://schemas.openxmlformats.org/officeDocument/2006/relationships/image" Target="../media/image-66-1.png"/><Relationship Id="rId12" Type="http://schemas.openxmlformats.org/officeDocument/2006/relationships/slideLayout" Target="../slideLayouts/slideLayout1.xml"/><Relationship Id="rId1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2" Type="http://schemas.openxmlformats.org/officeDocument/2006/relationships/hyperlink" Target="https://reliefweb.int/report/nepal/nepal-food-security-outlook-update-stressed-ipc-phase-2-likely-rasuwa-district-following-historic-flooding-august-2026-january-2027" TargetMode="External"/><Relationship Id="rId3" Type="http://schemas.openxmlformats.org/officeDocument/2006/relationships/hyperlink" Target="https://reliefweb.int/report/nepal/flight-lands-kathmandu-carrying-vital-humanitarian-supplies-children-and-families-affected-nepal-floods-0" TargetMode="External"/><Relationship Id="rId4" Type="http://schemas.openxmlformats.org/officeDocument/2006/relationships/hyperlink" Target="https://reliefweb.int/report/nepal/unicef-nepal-humanitarian-situation-report-no-3-8-september-2026" TargetMode="External"/><Relationship Id="rId5" Type="http://schemas.openxmlformats.org/officeDocument/2006/relationships/hyperlink" Target="https://reliefweb.int/report/nepal/wfp-nepal-situation-report-rasuwa-flood-response-10-september-2026" TargetMode="External"/><Relationship Id="rId6" Type="http://schemas.openxmlformats.org/officeDocument/2006/relationships/hyperlink" Target="https://reliefweb.int/report/nepal/world-vision-international-nepal-rasuwa-nuwakot-flash-flood-emergency-response-situation-update-5-10-september-2026" TargetMode="External"/><Relationship Id="rId7" Type="http://schemas.openxmlformats.org/officeDocument/2006/relationships/hyperlink" Target="https://ndrrma.gov.np/mediafiles/rasuwa/SitRep_23_NEP_13092026.pdf" TargetMode="External"/><Relationship Id="rId8" Type="http://schemas.openxmlformats.org/officeDocument/2006/relationships/hyperlink" Target="https://reliefweb.int/report/nepal/wfp-scales-response-nepal-remote-communities-remain-isolated" TargetMode="External"/><Relationship Id="rId9" Type="http://schemas.openxmlformats.org/officeDocument/2006/relationships/hyperlink" Target="https://reliefweb.int/report/nepal/le-pam-intensifie-sa-reponse-au-nepal-alors-que-les-communautes-isolees-restent-coupees-du-reste-du-pays" TargetMode="External"/><Relationship Id="rId10" Type="http://schemas.openxmlformats.org/officeDocument/2006/relationships/hyperlink" Target="https://reliefweb.int/report/nepal/el-programa-mundial-de-alimentos-intensifica-su-respuesta-en-nepal-donde-las-comunidades-remotas-siguen-aisladas" TargetMode="External"/><Relationship Id="rId11" Type="http://schemas.openxmlformats.org/officeDocument/2006/relationships/hyperlink" Target="https://reliefweb.int/report/nepal/nepal-anticipatory-action-framework-floods-2026" TargetMode="External"/><Relationship Id="rId1" Type="http://schemas.openxmlformats.org/officeDocument/2006/relationships/image" Target="../media/image-67-1.png"/><Relationship Id="rId12" Type="http://schemas.openxmlformats.org/officeDocument/2006/relationships/slideLayout" Target="../slideLayouts/slideLayout1.xml"/><Relationship Id="rId1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hyperlink" Target="https://ndrrma.gov.np/mediafiles/rasuwa/SitRep_ENG_14_15092026.pdf" TargetMode="External"/><Relationship Id="rId3" Type="http://schemas.openxmlformats.org/officeDocument/2006/relationships/hyperlink" Target="https://reliefweb.int/report/nepal/iom-nepal-flood-response-situation-report-5-15-september-2026" TargetMode="External"/><Relationship Id="rId4" Type="http://schemas.openxmlformats.org/officeDocument/2006/relationships/hyperlink" Target="https://ndrrma.gov.np/mediafiles/rasuwa/SitRep_ENG_15_16092026.pdf" TargetMode="External"/><Relationship Id="rId5" Type="http://schemas.openxmlformats.org/officeDocument/2006/relationships/hyperlink" Target="https://ndrrma.gov.np/mediafiles/rasuwa/Rasuwa_Flood_Situation_Report_ENG_16_17092026.pdf" TargetMode="External"/><Relationship Id="rId6" Type="http://schemas.openxmlformats.org/officeDocument/2006/relationships/hyperlink" Target="https://ndrrma.gov.np/mediafiles/rasuwa/Rapid_Damage_and_Needs_Assessment_RDNA_Rasuwa-Bhotekoshi_Flood_2026.pdf" TargetMode="External"/><Relationship Id="rId7" Type="http://schemas.openxmlformats.org/officeDocument/2006/relationships/hyperlink" Target="https://reliefweb.int/report/nepal/logistics-telecommunication-cluster-nepal-coordination-meeting-minutes-15-september-2026" TargetMode="External"/><Relationship Id="rId8" Type="http://schemas.openxmlformats.org/officeDocument/2006/relationships/hyperlink" Target="https://ndrrma.gov.np/mediafiles/rasuwa/SitRep_ENG_17_18092026.pdf" TargetMode="External"/><Relationship Id="rId9" Type="http://schemas.openxmlformats.org/officeDocument/2006/relationships/hyperlink" Target="https://reliefweb.int/report/nepal/nepal-rasuwa-flood-situation-report-no-8-15-september-2026" TargetMode="External"/><Relationship Id="rId10" Type="http://schemas.openxmlformats.org/officeDocument/2006/relationships/hyperlink" Target="https://reliefweb.int/report/nepal/wfp-nepal-situation-report-rasuwa-flood-response-17-september-2026" TargetMode="External"/><Relationship Id="rId11" Type="http://schemas.openxmlformats.org/officeDocument/2006/relationships/hyperlink" Target="https://reliefweb.int/report/nepal/how-2015-earthquake-lessons-guide-response-nepals-recent-himalayan-tsunami" TargetMode="External"/><Relationship Id="rId12" Type="http://schemas.openxmlformats.org/officeDocument/2006/relationships/hyperlink" Target="https://reliefweb.int/report/nepal/additional-emergency-assistance-nepal-response-flash-flood" TargetMode="External"/><Relationship Id="rId1" Type="http://schemas.openxmlformats.org/officeDocument/2006/relationships/image" Target="../media/image-68-1.png"/><Relationship Id="rId13" Type="http://schemas.openxmlformats.org/officeDocument/2006/relationships/slideLayout" Target="../slideLayouts/slideLayout1.xml"/><Relationship Id="rId1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hyperlink" Target="https://reliefweb.int/report/nepal/over-17000-flood-affected-children-nepal-need-urgent-mental-health-and-psychosocial-support" TargetMode="External"/><Relationship Id="rId3" Type="http://schemas.openxmlformats.org/officeDocument/2006/relationships/hyperlink" Target="https://reliefweb.int/report/nepal/anticipatory-action-framework-nepal-monsoon-floods-2026" TargetMode="External"/><Relationship Id="rId4" Type="http://schemas.openxmlformats.org/officeDocument/2006/relationships/hyperlink" Target="https://reliefweb.int/report/nepal/nepal-flash-flood-2026-situation-report-3-13-september-2026" TargetMode="External"/><Relationship Id="rId5" Type="http://schemas.openxmlformats.org/officeDocument/2006/relationships/hyperlink" Target="https://ndrrma.gov.np/mediafiles/rasuwa/SitRep_ENG_18_19092026.pdf" TargetMode="External"/><Relationship Id="rId6" Type="http://schemas.openxmlformats.org/officeDocument/2006/relationships/hyperlink" Target="https://reliefweb.int/map/nepal/nepal-flood-and-landslide-risk-rasuwa-valley-september-2026" TargetMode="External"/><Relationship Id="rId7" Type="http://schemas.openxmlformats.org/officeDocument/2006/relationships/hyperlink" Target="https://reliefweb.int/map/nepal/nepal-bagmati-and-gandaki-provinces-rapid-built-damage-screening-using-10-m-sentinel-1-satellite-radar-data-26th-august-flash-flood-02-september-2026" TargetMode="External"/><Relationship Id="rId8" Type="http://schemas.openxmlformats.org/officeDocument/2006/relationships/hyperlink" Target="https://reliefweb.int/map/nepal/nepal-china-eu-response-ice-rock-avalanche-and-flood-event-dg-echo-daily-map-14092026" TargetMode="External"/><Relationship Id="rId9" Type="http://schemas.openxmlformats.org/officeDocument/2006/relationships/hyperlink" Target="https://reliefweb.int/report/nepal/logistics-telecommunication-cluster-nepal-coordination-meeting-minutes-11-september-2026" TargetMode="External"/><Relationship Id="rId10" Type="http://schemas.openxmlformats.org/officeDocument/2006/relationships/hyperlink" Target="https://reliefweb.int/report/nepal/nepal-logistics-telecommunications-cluster-8-september-2026-presentation" TargetMode="External"/><Relationship Id="rId11" Type="http://schemas.openxmlformats.org/officeDocument/2006/relationships/hyperlink" Target="https://reliefweb.int/report/nepal/nepal-logistics-and-telecommunications-cluster-common-logistics-services-services-available-and-how-access-them-12-september-2026" TargetMode="External"/><Relationship Id="rId1" Type="http://schemas.openxmlformats.org/officeDocument/2006/relationships/image" Target="../media/image-69-1.png"/><Relationship Id="rId12" Type="http://schemas.openxmlformats.org/officeDocument/2006/relationships/slideLayout" Target="../slideLayouts/slideLayout1.xml"/><Relationship Id="rId1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2" Type="http://schemas.openxmlformats.org/officeDocument/2006/relationships/hyperlink" Target="https://ndrrma.gov.np/mediafiles/rasuwa/Rasuwa_Flood_Situation_Report_30_NEP_20092026.pdf" TargetMode="External"/><Relationship Id="rId3" Type="http://schemas.openxmlformats.org/officeDocument/2006/relationships/hyperlink" Target="https://ndrrma.gov.np/mediafiles/rasuwa/SitRep_31_NEP_21092026.pdf" TargetMode="External"/><Relationship Id="rId4" Type="http://schemas.openxmlformats.org/officeDocument/2006/relationships/hyperlink" Target="https://reliefweb.int/report/nepal/nepal-flash-floods-ltc-situation-report-telecoms-area-32-reporting-period-12-20-september-2026" TargetMode="External"/><Relationship Id="rId5" Type="http://schemas.openxmlformats.org/officeDocument/2006/relationships/hyperlink" Target="https://ndrrma.gov.np/mediafiles/rasuwa/SitRep_ENG_20_21092026.pdf" TargetMode="External"/><Relationship Id="rId6" Type="http://schemas.openxmlformats.org/officeDocument/2006/relationships/hyperlink" Target="https://reliefweb.int/report/nepal/unicef-nepal-humanitarian-situation-report-no-4-16-september-2026" TargetMode="External"/><Relationship Id="rId7" Type="http://schemas.openxmlformats.org/officeDocument/2006/relationships/hyperlink" Target="https://reliefweb.int/report/nepal/world-vision-international-nepal-rasuwa-nuwakot-flash-flood-emergency-response-situation-update-6-18-september-2026" TargetMode="External"/><Relationship Id="rId8" Type="http://schemas.openxmlformats.org/officeDocument/2006/relationships/hyperlink" Target="https://reliefweb.int/report/nepal/unfpa-situation-report-nepal-floods-4-9-september-2026" TargetMode="External"/><Relationship Id="rId9" Type="http://schemas.openxmlformats.org/officeDocument/2006/relationships/hyperlink" Target="https://reliefweb.int/report/nepal/nepal-flash-flood-2026-situation-report-4-15-september-2026" TargetMode="External"/><Relationship Id="rId10" Type="http://schemas.openxmlformats.org/officeDocument/2006/relationships/hyperlink" Target="https://reliefweb.int/report/nepal/logistics-telecommunication-cluster-nepal-coordination-meeting-minutes-18-september-2026" TargetMode="External"/><Relationship Id="rId1" Type="http://schemas.openxmlformats.org/officeDocument/2006/relationships/image" Target="../media/image-70-1.png"/><Relationship Id="rId11" Type="http://schemas.openxmlformats.org/officeDocument/2006/relationships/slideLayout" Target="../slideLayouts/slideLayout1.xml"/><Relationship Id="rId1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hyperlink" Target="https://reliefweb.int/report/nepal/nepal-logistics-and-telecommunications-cluster-common-logistics-services-services-available-and-how-access-them-18-september-2026" TargetMode="External"/><Relationship Id="rId3" Type="http://schemas.openxmlformats.org/officeDocument/2006/relationships/hyperlink" Target="https://reliefweb.int/report/nepal/nepal-guidance-air-transportation-dangerous-goods-september-2026" TargetMode="External"/><Relationship Id="rId4" Type="http://schemas.openxmlformats.org/officeDocument/2006/relationships/hyperlink" Target="https://reliefweb.int/report/nepal/japan-contributes-usd-1-million-support-wfps-emergency-flood-response-nepal-world-food-programme" TargetMode="External"/><Relationship Id="rId5" Type="http://schemas.openxmlformats.org/officeDocument/2006/relationships/hyperlink" Target="https://reliefweb.int/report/nepal/nepal-rasuwa-flood-situation-report-no-9-22-september-2026" TargetMode="External"/><Relationship Id="rId6" Type="http://schemas.openxmlformats.org/officeDocument/2006/relationships/hyperlink" Target="https://reliefweb.int/report/nepal/wfp-nepal-external-situation-report-24-september-2026" TargetMode="External"/><Relationship Id="rId7" Type="http://schemas.openxmlformats.org/officeDocument/2006/relationships/hyperlink" Target="https://reliefweb.int/report/nepal/nepal-rasuwa-bhotekoshi-flood-urgent-call-assistance" TargetMode="External"/><Relationship Id="rId8" Type="http://schemas.openxmlformats.org/officeDocument/2006/relationships/hyperlink" Target="https://reliefweb.int/report/nepal/nepal-flash-floods-2026-how-red-cross-responding" TargetMode="External"/><Relationship Id="rId9" Type="http://schemas.openxmlformats.org/officeDocument/2006/relationships/hyperlink" Target="https://reliefweb.int/report/nepal/one-month-after-floods-efforts-restore-education-are-helping-children-return-learning-nepal" TargetMode="External"/><Relationship Id="rId10" Type="http://schemas.openxmlformats.org/officeDocument/2006/relationships/hyperlink" Target="https://reliefweb.int/report/nepal/logistics-telecommunication-cluster-nepal-coordination-meeting-minutes-22-september-2026" TargetMode="External"/><Relationship Id="rId11" Type="http://schemas.openxmlformats.org/officeDocument/2006/relationships/hyperlink" Target="https://reliefweb.int/report/nepal/unicef-nepal-humanitarian-situation-report-no-5-22-september-2026" TargetMode="External"/><Relationship Id="rId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hyperlink" Target="https://reliefweb.int/report/nepal/rapid-market-functionality-and-price-monitoring-assessment-flood-affected-areas-rasuwa-nuwakot-and-dhading-september-2026" TargetMode="External"/><Relationship Id="rId3" Type="http://schemas.openxmlformats.org/officeDocument/2006/relationships/hyperlink" Target="https://reliefweb.int/report/nepal/illusion-food-security-food-security-protected-emergency-assistance-wfps-household-survey-flood-affected-areas-rasuwa-nuwakot-and-dhading-september-2026" TargetMode="External"/><Relationship Id="rId4" Type="http://schemas.openxmlformats.org/officeDocument/2006/relationships/hyperlink" Target="https://reliefweb.int/report/nepal/nepal-logistics-and-telecommunications-cluster-standard-operating-procedures-sops-common-logistics-services-september-24-2026" TargetMode="External"/><Relationship Id="rId5" Type="http://schemas.openxmlformats.org/officeDocument/2006/relationships/hyperlink" Target="https://reliefweb.int/report/nepal/one-month-nepal-floods-homeless-survivors-still-need-aid-hunger-spreads-0" TargetMode="External"/><Relationship Id="rId6" Type="http://schemas.openxmlformats.org/officeDocument/2006/relationships/hyperlink" Target="https://reliefweb.int/report/nepal/nepal-protection-girls-must-be-stepped-trafficking-and-violence-risks-rise-one-month-after-devastating-floods" TargetMode="External"/><Relationship Id="rId7" Type="http://schemas.openxmlformats.org/officeDocument/2006/relationships/hyperlink" Target="https://reliefweb.int/report/nepal/world-vision-international-nepal-rasuwa-nuwakot-flash-flood-emergency-response-situation-update-7-23-september-2026" TargetMode="External"/><Relationship Id="rId8" Type="http://schemas.openxmlformats.org/officeDocument/2006/relationships/hyperlink" Target="https://reliefweb.int/report/nepal/nepal-flood-2026-dref-operation-update-01-mdrnp022" TargetMode="External"/><Relationship Id="rId9" Type="http://schemas.openxmlformats.org/officeDocument/2006/relationships/hyperlink" Target="https://reliefweb.int/report/nepal/one-month-nepals-flood-affected-children-still-carry-weight-loss" TargetMode="External"/><Relationship Id="rId10" Type="http://schemas.openxmlformats.org/officeDocument/2006/relationships/hyperlink" Target="https://reliefweb.int/report/nepal/news-quote-floods-drive-hundreds-families-western-nepal-their-homes" TargetMode="External"/><Relationship Id="rId11" Type="http://schemas.openxmlformats.org/officeDocument/2006/relationships/hyperlink" Target="https://reliefweb.int/report/nepal/nepal-preliminary-findings-baseline-site-profiles-assessment-round-2-15-22-september-2026" TargetMode="External"/><Relationship Id="rId1" Type="http://schemas.openxmlformats.org/officeDocument/2006/relationships/image" Target="../media/image-72-1.png"/><Relationship Id="rId12" Type="http://schemas.openxmlformats.org/officeDocument/2006/relationships/slideLayout" Target="../slideLayouts/slideLayout1.xml"/><Relationship Id="rId1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2" Type="http://schemas.openxmlformats.org/officeDocument/2006/relationships/hyperlink" Target="https://reliefweb.int/report/nepal/inondations-au-nepal-un-mois-apres-la-croix-rouge-renforce-son-soutien-face-la-persistance-des-fortes-pluies-ifrc" TargetMode="External"/><Relationship Id="rId3" Type="http://schemas.openxmlformats.org/officeDocument/2006/relationships/hyperlink" Target="https://reliefweb.int/report/nepal/nepal-meeting-minutes-29-september-2026" TargetMode="External"/><Relationship Id="rId4" Type="http://schemas.openxmlformats.org/officeDocument/2006/relationships/hyperlink" Target="https://reliefweb.int/report/nepal/nepal-coordination-meeting-slides-29-september-2026" TargetMode="External"/><Relationship Id="rId5" Type="http://schemas.openxmlformats.org/officeDocument/2006/relationships/hyperlink" Target="https://reliefweb.int/report/nepal/nepal-china-eu-response-ice-rock-avalanche-and-flood-event-dg-echo-daily-map-29092026" TargetMode="External"/><Relationship Id="rId6" Type="http://schemas.openxmlformats.org/officeDocument/2006/relationships/hyperlink" Target="https://reliefweb.int/report/nepal/when-disaster-hits-transport-decides-how-fast-country-recovers" TargetMode="External"/><Relationship Id="rId7" Type="http://schemas.openxmlformats.org/officeDocument/2006/relationships/hyperlink" Target="https://reliefweb.int/report/nepal/nepal-rasuwa-flood-situation-report-no-10-29-september-2026" TargetMode="External"/><Relationship Id="rId8" Type="http://schemas.openxmlformats.org/officeDocument/2006/relationships/hyperlink" Target="https://reliefweb.int/report/nepal/nepal-flash-floods-ltc-telecoms-situation-report-4-final-reporting-period-26-august-30-september-2026" TargetMode="External"/><Relationship Id="rId9" Type="http://schemas.openxmlformats.org/officeDocument/2006/relationships/hyperlink" Target="https://reliefweb.int/report/nepal/wfp-nepal-external-situation-report-01-october-2026" TargetMode="External"/><Relationship Id="rId10" Type="http://schemas.openxmlformats.org/officeDocument/2006/relationships/hyperlink" Target="https://reliefweb.int/report/nepal/nepal-rasuwa-nuwakot-flash-flood-emergency-response-situation-update-8-world-vision-1-october-2026" TargetMode="External"/><Relationship Id="rId11" Type="http://schemas.openxmlformats.org/officeDocument/2006/relationships/hyperlink" Target="https://reliefweb.int/report/nepal/nepal-flash-flood-2026-situation-report-6-1-october-2026" TargetMode="External"/><Relationship Id="rId12" Type="http://schemas.openxmlformats.org/officeDocument/2006/relationships/hyperlink" Target="https://reliefweb.int/report/nepal/wfp-nepal-external-situation-report-1-october-2026" TargetMode="External"/><Relationship Id="rId1" Type="http://schemas.openxmlformats.org/officeDocument/2006/relationships/image" Target="../media/image-73-1.png"/><Relationship Id="rId13" Type="http://schemas.openxmlformats.org/officeDocument/2006/relationships/slideLayout" Target="../slideLayouts/slideLayout1.xml"/><Relationship Id="rId1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2" Type="http://schemas.openxmlformats.org/officeDocument/2006/relationships/hyperlink" Target="https://reliefweb.int/report/nepal/unicef-nepal-humanitarian-situation-report-no-6-5-october-2026" TargetMode="External"/><Relationship Id="rId3" Type="http://schemas.openxmlformats.org/officeDocument/2006/relationships/hyperlink" Target="https://reliefweb.int/report/nepal/nepal-logistics-telecommunications-cluster-one-month-activation-4-sept-4-oct-2026" TargetMode="External"/><Relationship Id="rId4" Type="http://schemas.openxmlformats.org/officeDocument/2006/relationships/hyperlink" Target="https://reliefweb.int/report/nepal/nepal-key-message-update-weak-income-localized-disasters-and-high-prices-constrain-food-access-september-2026-january-2027" TargetMode="External"/><Relationship Id="rId5" Type="http://schemas.openxmlformats.org/officeDocument/2006/relationships/hyperlink" Target="https://reliefweb.int/report/nepal/nepal-logistics-telecommunications-cluster-02-october-2026-i-1500-kathmandu-meeting-slides" TargetMode="External"/><Relationship Id="rId6" Type="http://schemas.openxmlformats.org/officeDocument/2006/relationships/hyperlink" Target="https://reliefweb.int/report/nepal/offering-some-hope-and-medical-support-health-providers-care-nepals-flood-survivors" TargetMode="External"/><Relationship Id="rId7" Type="http://schemas.openxmlformats.org/officeDocument/2006/relationships/hyperlink" Target="https://reliefweb.int/report/nepal/nepal-meeting-minutes-06-october-2026" TargetMode="External"/><Relationship Id="rId8" Type="http://schemas.openxmlformats.org/officeDocument/2006/relationships/hyperlink" Target="https://reliefweb.int/report/nepal/nepal-coordination-meeting-slides-06-october-2026" TargetMode="External"/><Relationship Id="rId9" Type="http://schemas.openxmlformats.org/officeDocument/2006/relationships/hyperlink" Target="https://reliefweb.int/report/nepal/recovery-and-resilience-package-nepal-8-october-2026" TargetMode="External"/><Relationship Id="rId10" Type="http://schemas.openxmlformats.org/officeDocument/2006/relationships/hyperlink" Target="https://reliefweb.int/report/nepal/nepal-long-road-recovery" TargetMode="External"/><Relationship Id="rId1" Type="http://schemas.openxmlformats.org/officeDocument/2006/relationships/image" Target="../media/image-74-1.png"/><Relationship Id="rId11" Type="http://schemas.openxmlformats.org/officeDocument/2006/relationships/slideLayout" Target="../slideLayouts/slideLayout1.xml"/><Relationship Id="rId1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_event-W5XXyw/generator/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457200" y="104242"/>
            <a:ext cx="11274552" cy="603504"/>
          </a:xfrm>
          <a:prstGeom prst="rect">
            <a:avLst/>
          </a:prstGeom>
          <a:noFill/>
          <a:ln/>
        </p:spPr>
        <p:txBody>
          <a:bodyPr wrap="square" rtlCol="0" anchor="ctr"/>
          <a:lstStyle/>
          <a:p>
            <a:pPr algn="ctr" indent="0" marL="0">
              <a:buNone/>
            </a:pPr>
            <a:r>
              <a:rPr lang="en-US" sz="2200" b="1" dirty="0">
                <a:solidFill>
                  <a:srgbClr val="111111"/>
                </a:solidFill>
                <a:latin typeface="Meiryo" pitchFamily="34" charset="0"/>
                <a:ea typeface="Meiryo" pitchFamily="34" charset="-122"/>
                <a:cs typeface="Meiryo" pitchFamily="34" charset="-120"/>
              </a:rPr>
              <a:t>2026年 ボテコシ川 土石流・鉄砲水（ネパール）</a:t>
            </a:r>
            <a:endParaRPr lang="en-US" sz="2200" dirty="0"/>
          </a:p>
        </p:txBody>
      </p:sp>
      <p:sp>
        <p:nvSpPr>
          <p:cNvPr id="4" name="Text 1"/>
          <p:cNvSpPr/>
          <p:nvPr/>
        </p:nvSpPr>
        <p:spPr>
          <a:xfrm>
            <a:off x="457200" y="562356"/>
            <a:ext cx="11274552" cy="274320"/>
          </a:xfrm>
          <a:prstGeom prst="rect">
            <a:avLst/>
          </a:prstGeom>
          <a:noFill/>
          <a:ln/>
        </p:spPr>
        <p:txBody>
          <a:bodyPr wrap="square" rtlCol="0" anchor="ctr"/>
          <a:lstStyle/>
          <a:p>
            <a:pPr algn="ctr" indent="0" marL="0">
              <a:buNone/>
            </a:pPr>
            <a:r>
              <a:rPr lang="en-US" sz="1400" b="1" dirty="0">
                <a:solidFill>
                  <a:srgbClr val="6A6A6A"/>
                </a:solidFill>
                <a:latin typeface="Meiryo" pitchFamily="34" charset="0"/>
                <a:ea typeface="Meiryo" pitchFamily="34" charset="-122"/>
                <a:cs typeface="Meiryo" pitchFamily="34" charset="-120"/>
              </a:rPr>
              <a:t>(GLIDE No. FF-2026-000162-NPL)</a:t>
            </a:r>
            <a:endParaRPr lang="en-US" sz="1400" dirty="0"/>
          </a:p>
        </p:txBody>
      </p:sp>
      <p:sp>
        <p:nvSpPr>
          <p:cNvPr id="5" name="Text 2"/>
          <p:cNvSpPr/>
          <p:nvPr/>
        </p:nvSpPr>
        <p:spPr>
          <a:xfrm>
            <a:off x="457200" y="801014"/>
            <a:ext cx="11274552" cy="274320"/>
          </a:xfrm>
          <a:prstGeom prst="rect">
            <a:avLst/>
          </a:prstGeom>
          <a:noFill/>
          <a:ln/>
        </p:spPr>
        <p:txBody>
          <a:bodyPr wrap="square" rtlCol="0" anchor="ctr"/>
          <a:lstStyle/>
          <a:p>
            <a:pPr algn="ctr" indent="0" marL="0">
              <a:buNone/>
            </a:pPr>
            <a:r>
              <a:rPr lang="en-US" sz="1300" dirty="0">
                <a:solidFill>
                  <a:srgbClr val="222222"/>
                </a:solidFill>
                <a:latin typeface="Meiryo" pitchFamily="34" charset="0"/>
                <a:ea typeface="Meiryo" pitchFamily="34" charset="-122"/>
                <a:cs typeface="Meiryo" pitchFamily="34" charset="-120"/>
              </a:rPr>
              <a:t>   ランタン地域デディン付近／ボテコシ川</a:t>
            </a:r>
            <a:endParaRPr lang="en-US" sz="1300" dirty="0"/>
          </a:p>
        </p:txBody>
      </p:sp>
      <p:sp>
        <p:nvSpPr>
          <p:cNvPr id="6" name="Shape 3"/>
          <p:cNvSpPr/>
          <p:nvPr/>
        </p:nvSpPr>
        <p:spPr>
          <a:xfrm>
            <a:off x="365760" y="1147572"/>
            <a:ext cx="11457432" cy="0"/>
          </a:xfrm>
          <a:prstGeom prst="line">
            <a:avLst/>
          </a:prstGeom>
          <a:noFill/>
          <a:ln w="12700">
            <a:solidFill>
              <a:srgbClr val="D9D9D9"/>
            </a:solidFill>
            <a:prstDash val="solid"/>
          </a:ln>
        </p:spPr>
      </p:sp>
      <p:sp>
        <p:nvSpPr>
          <p:cNvPr id="7" name="Text 4"/>
          <p:cNvSpPr/>
          <p:nvPr/>
        </p:nvSpPr>
        <p:spPr>
          <a:xfrm>
            <a:off x="365760" y="174421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世界→ネパール</a:t>
            </a:r>
            <a:endParaRPr lang="en-US" sz="1250" dirty="0"/>
          </a:p>
        </p:txBody>
      </p:sp>
      <p:sp>
        <p:nvSpPr>
          <p:cNvPr id="8" name="Shape 5"/>
          <p:cNvSpPr/>
          <p:nvPr/>
        </p:nvSpPr>
        <p:spPr>
          <a:xfrm>
            <a:off x="365760" y="2018538"/>
            <a:ext cx="3444240" cy="2583180"/>
          </a:xfrm>
          <a:prstGeom prst="rect">
            <a:avLst/>
          </a:prstGeom>
          <a:solidFill>
            <a:srgbClr val="F2F2F2"/>
          </a:solidFill>
          <a:ln w="9525">
            <a:solidFill>
              <a:srgbClr val="D9D9D9"/>
            </a:solidFill>
            <a:prstDash val="solid"/>
          </a:ln>
        </p:spPr>
      </p:sp>
      <p:pic>
        <p:nvPicPr>
          <p:cNvPr id="9" name="Image 1" descr="/tmp/build_event-W5XXyw/generator/images/FF-2026-000162-NPL/locator_world_manual_ja.jpg">    </p:cNvPr>
          <p:cNvPicPr>
            <a:picLocks noChangeAspect="1"/>
          </p:cNvPicPr>
          <p:nvPr/>
        </p:nvPicPr>
        <p:blipFill>
          <a:blip r:embed="rId2"/>
          <a:srcRect l="0" r="0" t="0" b="0"/>
          <a:stretch/>
        </p:blipFill>
        <p:spPr>
          <a:xfrm>
            <a:off x="365760" y="2018538"/>
            <a:ext cx="3444240" cy="2583180"/>
          </a:xfrm>
          <a:prstGeom prst="rect">
            <a:avLst/>
          </a:prstGeom>
        </p:spPr>
      </p:pic>
      <p:sp>
        <p:nvSpPr>
          <p:cNvPr id="10" name="Shape 6"/>
          <p:cNvSpPr/>
          <p:nvPr/>
        </p:nvSpPr>
        <p:spPr>
          <a:xfrm>
            <a:off x="2602992" y="4363974"/>
            <a:ext cx="1207008" cy="237744"/>
          </a:xfrm>
          <a:prstGeom prst="rect">
            <a:avLst/>
          </a:prstGeom>
          <a:solidFill>
            <a:srgbClr val="000000">
              <a:alpha val="65000"/>
            </a:srgbClr>
          </a:solidFill>
          <a:ln w="12700">
            <a:solidFill>
              <a:srgbClr val="333333"/>
            </a:solidFill>
            <a:prstDash val="solid"/>
          </a:ln>
        </p:spPr>
      </p:sp>
      <p:sp>
        <p:nvSpPr>
          <p:cNvPr id="11" name="Text 7"/>
          <p:cNvSpPr/>
          <p:nvPr/>
        </p:nvSpPr>
        <p:spPr>
          <a:xfrm>
            <a:off x="2602992" y="436397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2" name="Text 8"/>
          <p:cNvSpPr/>
          <p:nvPr/>
        </p:nvSpPr>
        <p:spPr>
          <a:xfrm>
            <a:off x="4358640" y="174421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ネパール→ラスワ郡</a:t>
            </a:r>
            <a:endParaRPr lang="en-US" sz="1250" dirty="0"/>
          </a:p>
        </p:txBody>
      </p:sp>
      <p:sp>
        <p:nvSpPr>
          <p:cNvPr id="13" name="Shape 9"/>
          <p:cNvSpPr/>
          <p:nvPr/>
        </p:nvSpPr>
        <p:spPr>
          <a:xfrm>
            <a:off x="4358640" y="2018538"/>
            <a:ext cx="3444240" cy="2583180"/>
          </a:xfrm>
          <a:prstGeom prst="rect">
            <a:avLst/>
          </a:prstGeom>
          <a:solidFill>
            <a:srgbClr val="F2F2F2"/>
          </a:solidFill>
          <a:ln w="9525">
            <a:solidFill>
              <a:srgbClr val="D9D9D9"/>
            </a:solidFill>
            <a:prstDash val="solid"/>
          </a:ln>
        </p:spPr>
      </p:sp>
      <p:pic>
        <p:nvPicPr>
          <p:cNvPr id="14" name="Image 2" descr="/tmp/build_event-W5XXyw/generator/images/FF-2026-000162-NPL/locator_region_manual_ja.jpg">    </p:cNvPr>
          <p:cNvPicPr>
            <a:picLocks noChangeAspect="1"/>
          </p:cNvPicPr>
          <p:nvPr/>
        </p:nvPicPr>
        <p:blipFill>
          <a:blip r:embed="rId3"/>
          <a:srcRect l="0" r="0" t="0" b="0"/>
          <a:stretch/>
        </p:blipFill>
        <p:spPr>
          <a:xfrm>
            <a:off x="4358640" y="2018538"/>
            <a:ext cx="3444240" cy="2583180"/>
          </a:xfrm>
          <a:prstGeom prst="rect">
            <a:avLst/>
          </a:prstGeom>
        </p:spPr>
      </p:pic>
      <p:sp>
        <p:nvSpPr>
          <p:cNvPr id="15" name="Shape 10"/>
          <p:cNvSpPr/>
          <p:nvPr/>
        </p:nvSpPr>
        <p:spPr>
          <a:xfrm>
            <a:off x="6595872" y="4363974"/>
            <a:ext cx="1207008" cy="237744"/>
          </a:xfrm>
          <a:prstGeom prst="rect">
            <a:avLst/>
          </a:prstGeom>
          <a:solidFill>
            <a:srgbClr val="000000">
              <a:alpha val="65000"/>
            </a:srgbClr>
          </a:solidFill>
          <a:ln w="12700">
            <a:solidFill>
              <a:srgbClr val="333333"/>
            </a:solidFill>
            <a:prstDash val="solid"/>
          </a:ln>
        </p:spPr>
      </p:sp>
      <p:sp>
        <p:nvSpPr>
          <p:cNvPr id="16" name="Text 11"/>
          <p:cNvSpPr/>
          <p:nvPr/>
        </p:nvSpPr>
        <p:spPr>
          <a:xfrm>
            <a:off x="6595872" y="436397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7" name="Text 12"/>
          <p:cNvSpPr/>
          <p:nvPr/>
        </p:nvSpPr>
        <p:spPr>
          <a:xfrm>
            <a:off x="8351520" y="174421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ボテコシ川の谷（ティムレ）</a:t>
            </a:r>
            <a:endParaRPr lang="en-US" sz="1250" dirty="0"/>
          </a:p>
        </p:txBody>
      </p:sp>
      <p:sp>
        <p:nvSpPr>
          <p:cNvPr id="18" name="Shape 13"/>
          <p:cNvSpPr/>
          <p:nvPr/>
        </p:nvSpPr>
        <p:spPr>
          <a:xfrm>
            <a:off x="8351520" y="2018538"/>
            <a:ext cx="3444240" cy="2583180"/>
          </a:xfrm>
          <a:prstGeom prst="rect">
            <a:avLst/>
          </a:prstGeom>
          <a:solidFill>
            <a:srgbClr val="F2F2F2"/>
          </a:solidFill>
          <a:ln w="9525">
            <a:solidFill>
              <a:srgbClr val="D9D9D9"/>
            </a:solidFill>
            <a:prstDash val="solid"/>
          </a:ln>
        </p:spPr>
      </p:sp>
      <p:pic>
        <p:nvPicPr>
          <p:cNvPr id="19" name="Image 3" descr="/tmp/build_event-W5XXyw/generator/images/FF-2026-000162-NPL/google_cities_manual_ja.jpg">    </p:cNvPr>
          <p:cNvPicPr>
            <a:picLocks noChangeAspect="1"/>
          </p:cNvPicPr>
          <p:nvPr/>
        </p:nvPicPr>
        <p:blipFill>
          <a:blip r:embed="rId4"/>
          <a:srcRect l="0" r="0" t="0" b="0"/>
          <a:stretch/>
        </p:blipFill>
        <p:spPr>
          <a:xfrm>
            <a:off x="8351520" y="2018538"/>
            <a:ext cx="3444240" cy="2583180"/>
          </a:xfrm>
          <a:prstGeom prst="rect">
            <a:avLst/>
          </a:prstGeom>
        </p:spPr>
      </p:pic>
      <p:sp>
        <p:nvSpPr>
          <p:cNvPr id="20" name="Shape 14"/>
          <p:cNvSpPr/>
          <p:nvPr/>
        </p:nvSpPr>
        <p:spPr>
          <a:xfrm>
            <a:off x="10588752" y="4363974"/>
            <a:ext cx="1207008" cy="237744"/>
          </a:xfrm>
          <a:prstGeom prst="rect">
            <a:avLst/>
          </a:prstGeom>
          <a:solidFill>
            <a:srgbClr val="000000">
              <a:alpha val="65000"/>
            </a:srgbClr>
          </a:solidFill>
          <a:ln w="12700">
            <a:solidFill>
              <a:srgbClr val="333333"/>
            </a:solidFill>
            <a:prstDash val="solid"/>
          </a:ln>
        </p:spPr>
      </p:sp>
      <p:sp>
        <p:nvSpPr>
          <p:cNvPr id="21" name="Text 15"/>
          <p:cNvSpPr/>
          <p:nvPr/>
        </p:nvSpPr>
        <p:spPr>
          <a:xfrm>
            <a:off x="10588752" y="436397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22" name="Shape 16"/>
          <p:cNvSpPr/>
          <p:nvPr/>
        </p:nvSpPr>
        <p:spPr>
          <a:xfrm>
            <a:off x="0" y="5102352"/>
            <a:ext cx="12188952" cy="1225296"/>
          </a:xfrm>
          <a:prstGeom prst="rect">
            <a:avLst/>
          </a:prstGeom>
          <a:solidFill>
            <a:srgbClr val="262626"/>
          </a:solidFill>
          <a:ln w="12700">
            <a:solidFill>
              <a:srgbClr val="333333"/>
            </a:solidFill>
            <a:prstDash val="solid"/>
          </a:ln>
        </p:spPr>
      </p:sp>
      <p:sp>
        <p:nvSpPr>
          <p:cNvPr id="23" name="Text 17"/>
          <p:cNvSpPr/>
          <p:nvPr/>
        </p:nvSpPr>
        <p:spPr>
          <a:xfrm>
            <a:off x="457200" y="5175504"/>
            <a:ext cx="11274552" cy="1078992"/>
          </a:xfrm>
          <a:prstGeom prst="rect">
            <a:avLst/>
          </a:prstGeom>
          <a:noFill/>
          <a:ln/>
        </p:spPr>
        <p:txBody>
          <a:bodyPr wrap="square" lIns="38100" tIns="38100" rIns="38100" bIns="38100" rtlCol="0" anchor="t"/>
          <a:lstStyle/>
          <a:p>
            <a:pPr algn="l" indent="0" marL="0">
              <a:buNone/>
            </a:pPr>
            <a:r>
              <a:rPr lang="en-US" sz="1250" b="1" dirty="0">
                <a:solidFill>
                  <a:srgbClr val="FFC000"/>
                </a:solidFill>
                <a:latin typeface="Meiryo" pitchFamily="34" charset="0"/>
                <a:ea typeface="Meiryo" pitchFamily="34" charset="-122"/>
                <a:cs typeface="Meiryo" pitchFamily="34" charset="-120"/>
              </a:rPr>
              <a:t>概要   </a:t>
            </a:r>
            <a:pPr algn="l" indent="0" marL="0">
              <a:buNone/>
            </a:pPr>
            <a:r>
              <a:rPr lang="en-US" sz="1100" dirty="0">
                <a:solidFill>
                  <a:srgbClr val="FFFFFF"/>
                </a:solidFill>
                <a:latin typeface="Meiryo" pitchFamily="34" charset="0"/>
                <a:ea typeface="Meiryo" pitchFamily="34" charset="-122"/>
                <a:cs typeface="Meiryo" pitchFamily="34" charset="-120"/>
              </a:rPr>
              <a:t>2026年8月26日08時30分〜08時37分ごろ（NPT）、前日午後にランタン地域デディン付近の氷・岩・土砂の崩落によってボテコシ川に形成された一時的な天然ダムが決壊し、岩屑を大量に含んだ出水がボテコシ川〜トリシュリ川の回廊を流下した。出水はラスワガディに約09時00分、ティムレに約09時15分、ベトラワティに約09時20分に到達している。急勾配で狭い谷が流れを集中させて速度を保ち、氷・岩・土砂の重い荷重が破壊力を大きく高めた。ラスワ郡・ヌワコット郡・ダディン郡・チトワン郡が被災。ベトラワティ〜ラスワガディ間42kmで32を超える橋梁が流失し、ティムレとラスワガディの税関施設とネパール・中国国境の交易が大きな被害を受け、約748MWの水力発電設備が影響を受けた。ADRCは発災当日、ネパール水文気象局（DHM）の要請を受けてセンチネルアジアと国際災害チャーターを発動した。</a:t>
            </a:r>
            <a:endParaRPr lang="en-US" sz="1250" dirty="0"/>
          </a:p>
        </p:txBody>
      </p:sp>
      <p:sp>
        <p:nvSpPr>
          <p:cNvPr id="24" name="Text 18"/>
          <p:cNvSpPr/>
          <p:nvPr/>
        </p:nvSpPr>
        <p:spPr>
          <a:xfrm>
            <a:off x="365760" y="6455664"/>
            <a:ext cx="969264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Google Maps © Google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BIPAD Portal、Ministry of Home Affairs、Nepal</a:t>
            </a:r>
            <a:endParaRPr lang="en-US" sz="1050" dirty="0"/>
          </a:p>
        </p:txBody>
      </p:sp>
      <p:sp>
        <p:nvSpPr>
          <p:cNvPr id="25" name="Shape 19"/>
          <p:cNvSpPr/>
          <p:nvPr/>
        </p:nvSpPr>
        <p:spPr>
          <a:xfrm>
            <a:off x="10268712" y="6510528"/>
            <a:ext cx="1554480" cy="274320"/>
          </a:xfrm>
          <a:prstGeom prst="rect">
            <a:avLst/>
          </a:prstGeom>
          <a:solidFill>
            <a:srgbClr val="E8A317"/>
          </a:solidFill>
          <a:ln w="12700">
            <a:solidFill>
              <a:srgbClr val="E8A317"/>
            </a:solidFill>
            <a:prstDash val="solid"/>
          </a:ln>
        </p:spPr>
      </p:sp>
      <p:sp>
        <p:nvSpPr>
          <p:cNvPr id="26" name="Text 20"/>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UTC+5:45））（1/16）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8/25 13:00-14:00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ランタン地域デディン付近の標高約5,000mで氷・岩・土砂の塊が崩落し、標高約3,000mの河道まで落下。落下の途中で氷は砕け、土砂・岩屑と混合した。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IRDR（8/28）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8/25 午後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この塊がボテコシ川を堰き止め、一時的な天然ダムを形成。約18〜19時間にわたって水を貯める。西側のマラ川などの支流からの流入が下流の水位を保ち、上流の閉塞を分かりにくくした。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IRDR（8/28）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08:30-08:37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天然ダムが決壊し、水・氷・岩・土砂を一気に流下させる。08時37分ごろにM4.4の地震動が記録され、住民は轟音を聞いたと証言している。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IRDR（8/28）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09:15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出水はティムレに約09時15分、ベトラワティに約09時20分に到達。到達時間の短さは、狭い上流部を極めて速く流下したことを示す。</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IRDR（8/28）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08:37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USGSがM4.4の信号を記録（のちM5.2に改訂）。IRDRはこれを構造性の地震ではなく、天然ダムの急激な決壊による地面の振動と解釈している。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USGS／IRDR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中国チベット自治区側からボテコシ川に突発的な出水。ティムレ、シャブルベシ、ラスワガディ検問所・税関、ラスワ郡北部の川沿い十数集落が最初に、かつ最も強く被災した。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DHM／NDRRMA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11:00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ネパールNDRRMAが緊急の衛星画像提供を要請。ADRCがこれを受けてセンチネルアジアを発動した（緊急観測要請 SA-00658、要請元は水文気象局）。</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ADRC／Sentinel Asia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11:45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同じ場所でM4.2の氷河崩落を再度観測（イベントus7000tc90）。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12:30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UNOCHAバンコク事務所が観測対象範囲（AOI）2か所（シャブルベシ地区、ティムレ地区）を提供。ADRCがセンチネルアジア側の要請に統合した。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UNOCHA／JAXA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18:43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国際災害チャーターが Activation #1052 として発動（14:58 UTC+02:00）。要請者は「水文気象局に代わってADRC」と記録されている。案件管理はUNITAR。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International 国際災害チャーター</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 夕</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最初の公式発表は食い違い、NDRRMA 72人、首相府95人。同日深夜には約160人（遺体収容157体）となった。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NDRRMA／PMO</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 08:15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ネパール警察が、国内だけで行方不明826人と発表。旅行者579人（外国人466人・ネパール人113人）、治安要員85人、ラスワ郡住民161人、ヌワコット郡住民1人。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Nepal Police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 / 74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UTC+5:45））（2/16）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 朝</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死者165人・負傷73人と発表。前夜の数値を更新した。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NDRRMA／Nepal Police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IFRCが24か月・2,500万スイスフランの緊急アピールを開始。前日にはネパール赤十字社へ約100万スイスフランを緊急拠出していた。被災者は約93,000人の可能性。</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IFRC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UNICEFが1,720万米ドルの支援を要請。ラスワ・ヌワコット・ダディンの3郡で子ども17,000人以上が影響を受け、医療施設少なくとも4か所が甚大な被害と報告。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UNOSATが、Sentinel-2（8月27日）とPlanetScope（8月26日）の画像から、ラスワ郡・ヌワコット郡の土石流・岩屑流の範囲図を公表。</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UNOSAT／Int'l 国際災害チャーター</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JAXAがALOS-2の緊急観測を計画。立正大学によるLandsat-9解析、東京大学による光学衛星の3次元被害図が、センチネルアジアを通じて共有された。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JAXA／Sentinel Asia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NEOCが死者539人・行方不明977人・負傷73人と発表。これまでに3,742人を救助し、治安要員12,249人とヘリ15機を動員。閣議は救援物資の輸入関税と、救援物資を政府一元で届ける One Door 方針を解除した。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NEOC／UN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状況報告。ダディン・ヌワコット・ラスワで死者616人、行方不明または連絡が取れない者1,924人。NDRRMAは、レンデ川の閉塞により上流に推定0.11km2の湖が形成されたとして、洪水リスクの継続を警告。WFPはBP-5強化ビスケット2.8トン（最大5,000人分）を送り、豪州政府からAUD200万（USD140万）を受領。</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状況報告。死者は約734人に増加し、負傷者約242人、行方不明者2,448人。これまでに8,198人以上が救助された。ボテコシ・トリスリ川沿いで道路約40km、橋梁80か所以上、水力発電・エネルギー施設少なくとも14か所が被災し、進入の妨げが続いている。WFPは食料31.8トンを送り、豪州・CERF・米国から約USD540万を確保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 / 74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UTC+5:45））（3/16）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OCHA/国連ネパール常駐調整官事務所 Flash Update #4。NDRRMAの09:00発表によると、死者903人、負傷267人（うち156人退院済み）、行方不明4,247人。これまでに10,451人を救助し、うち外国人252人、ヘリコプターで空輸されたネパール人3,344人を含む。要員20,819人を動員。政府はラスワ郡・ヌワコット郡に各NPR1,000万、ダディン郡にNPR50万の緊急資金を配分した。トリシュリ3A、ハクベシ、トリシュリ3B、チリメの各水力発電施設でネパール・インド・中国による合同救助活動が続いている。プリトビ・ハイウェイのムグリン〜マレクー区間は、クリシュナ・ビル、パレワ・ビルの法面崩壊により全面通行止めが続く。電力はダディン郡・ヌワコット郡で復旧し、ラスワ郡では復旧作業が続い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NDRRMA／OCHA-UN RC Nepal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韓国政府が、ネパール政府からの捜索・救助支援の要請を受けて、韓国災害救助隊（KDRT）の派遣を決定。外務省・KOICA・消防庁などからなる44人で、外務省開発協力局長の李圭虎氏が団長。9月1日夜、韓国軍の輸送機でネパールへ向かう。韓国は8月27日に、現地で活動する国際機関を通じた100万米ドルの人道支援も表明してい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the Republic of Korea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号。死者987人（収容した遺体の一部を含む）、行方不明3,916人（全国62郡から届出）。負傷279人が手当てを受け、168人が退院、79人が治療中、29人が転院。ネパール陸軍は2,740人に医療を提供。救助は累計11,814人で、うちヘリコプターによる救助が3,702人（外国人253人、ネパール人3,449人）、航空運用は573回。治安要員21,011人を動員し、韓国・中国・インドの部隊がトリシュリ3A、ハクベシ、トリシュリ3B、チリメの各水力発電所で合同の捜索・救助にあたっている。被災は5郡で、ラスワ郡・ヌワコット郡が甚大（影響を受けた人口は約160万人）、ダディン・ゴルカ・チトワンの3郡が中程度。車両通行可能な橋梁41橋が流失、4橋が損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ラスワ郡のゴサインクンダ、アマチョディンモの両村では3,702世帯・14,461人（男性7,453人、女性7,008人。うち子ども3,650人、高齢者1,204人）が孤立したままで、道路・電力・通信が最大6日間途絶している。避難所30か所に3,930人（ヌワコット19か所2,653人、ラスワ11か所1,277人）。ヌワコットでは住家1,267棟が全壊、1,253棟が半壊と報告された。衛星判読では浸水範囲内に4,689棟の建物が確認されているが、NDRRMAはこれを「推定される曝露であり、確認された被害ではない」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 / 74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UTC+5:45））（4/16）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 18:00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11号。死者1,050人（郡別：チトワン321、ナワルパラシ東216、ナワルパラシ西170、ヌワコット142、ゴルカ65、ダディン57、タナフ38、ラスワ41）、連絡不通3,916人（同日のこれまでの締めから横ばい）、16の医療施設で計292人を負傷治療（退院182、治療継続74、転送33、治療中死亡3）。これまでの救助者数は11,993人、うちヘリコプター救助4,364人。治安要員21,314人を動員。プリトビ・ハイウェイはムグリン〜マレクー間のクリシュナビール／パレワビール地区で、道路盛土の侵食（トー・カッティング）が継続し依然通行止め、迂回路を模索中。被災回廊内の携帯電話基地局はほぼ復旧（ネパール・テレコムは被害110基地局すべて復旧、エヌセルは78基地局中75基地局復旧）。ラスワ郡アマチョディンモ村の大部分で、サンジェン水力発電所からの別系統により電力が復旧。身元不明の遺体は各郡の病院21か所で保管され、身元確認を継続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日本政府は、ネパール政府からの要請を受け、身元確認（遺体の識別）支援のため国際緊急援助隊（JDR）専門家チームの派遣を決定した。本更新時点でNDRRMAの新しい状況報告（第11号・9月1日18:00より後のもの）は公表されておらず、NDRRMAの公式な死傷者数は横ばいであ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Japan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ネパール洪水対応状況報告第3号」（9月3日時点）。当局発表として遺体収容1,259人、行方不明5,053人。これまでの救助累計12,038人（うち外国人583人）、動員した治安要員21,402人超。6郡17市町村で推計84,270人が被災。ヌワコット郡のみで1,897世帯が避難、住家1,267棟が全壊、1,253棟が半壊。保健関係機関が状況を確認中の避難施設に推計5,384人が滞在。この数値は、NDRRMA状況報告第11号（9月1日、死者1,050人・行方不明3,916人）を上回る、国連機関発の初めての更新である。この締め時点に対応するNDRRMAのPDF状況報告は見つかってい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IOM</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ラスワ洪水対応状況報告」（9月4日）。死者は1,259人に増加、行方不明はなお5,083人（いずれも「政府・当局」を出典とし、NDRRMAの報番号は示されていない）。WFPはダディン・ヌワコット・ラスワへ15日分の食料85.8トン、BP-5強化ビスケット2.8トンと強化ビスケット40箱（0.45トン）を配布し、輸送101回（政府主導の救援支援57回、WFP独自配送44回）を実施した。ラスワ郡のトリシュリ川対岸の3自治体は依然として道路が寸断され孤立している。別途、人道country teamによる「ネパール：ラスワ洪水 フラッシュアピール」（OCHA／国連ネパール常駐調整官事務所、9月4日）は、6郡17市町村・被災者84,270人という（NDRRMAに基づく）推計を踏襲し、新たに約19,284世帯が被災、84,270人全員を支援対象とするとしている。同アピールはこれらを、今後の合同調査で精緻化される曝露モデルの推計だ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U人道援助の支援を受けたUNICEFの物資輸送便（急性水様性下痢対応キット・診断機材、給水タンク、衛生キット、浄水資材、テント、乳幼児・子ども向け防寒着キット、学習用品など計84トン）がコペンハーゲンの物資拠点を出発し、カトマンズに到着。以降、多数のトラックでラスワ・ヌワコット・ダディン各郡へ物資を輸送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UNICEF（reported 9/11）</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 / 74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UTC+5:45））（5/16）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国連ネパール常駐調整官事務所「ラスワ洪水状況報告第6号」（9月5日時点）は、死者1,259人・行方不明（連絡不通）5,083人・救助12,038人という数値を、初めて「NDRRMAの9月3日19:00締め」という具体的な出典に結びつけた国連報告である（従来は「政府・当局」としか示されていなかった）。ただしこの締め時刻に対応するNDRRMAのPDFはなお見つかっていない。同報告は避難者数も更新し、ヌワコット・ラスワ・ダディン・カトマンズの4郡34か所に3,844人が避難しているとした（9月1日時点のOCHA集計はヌワコット・ラスワ2郡27か所・3,458人）。IOMの避難民追跡調査（DTM）は、洪水で被災した世帯を4,288、うち避難した世帯を2,886と推計している。人道country teamのフラッシュアピールは、6郡17市町村の84,270人（19,284世帯）向けに4,960万米ドルを要請しており、分野別では食料安全保障（794万ドル）、水・衛生（790万ドル）、保健（760万ドル）、ロジスティクス・緊急通信（733万ドル）、シェルター（710万ドル）が大きい。CERF拠出はアピールに先立ち250万米ドルへ再調整された。WFPの支援によりヌワコット郡ビドゥルに国連・パートナー向けの調整拠点が設置されつつあ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OCHA／UN RC Nepal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5-9/6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が人道支援用の貨物ドローン（UAS）による初の食料支援を、ラスワ郡ブリディムへ実施した。ネパールの緊急対応でドローン配送が使われるのは初めて。道路が途絶した地域向けのヘリコプター輸送を補完するもの。WFP自身の9月10日付状況報告はこれを9月6日としているが、国連常駐調整官事務所のフラッシュレポート第7号（9月4〜7日を対象）は同じ初回飛行を9月5日としており、日付は一致させず両方のまま記録す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WFP（Rasuwa Flood Response SitRep、9/10）</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9/6 11:00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NDRRMAの11:00時点の集計（The Rising Nepal〈RSS配信〉9月6日報道）。遺体収容1,341人、行方不明の名簿に4,996人（外国人589人、治安要員・職員約100人を含む）。郡別の遺体収容はラスワ163、ヌワコット195、ダディン67、チトワン362、ゴルカ74、タナフン38、ナワルパラシ東222、同西220。98人の身元が確認され遺族に引き渡された。救助は13,104人、負傷者6,075人が手当てを受けた。ラスワ・ヌワコット・ダディン・カトマンズの救援キャンプ39か所に3,652人が滞在。動員した治安要員は21,465人（ネパール警察7,975、ネパール陸軍9,287、武装警察4,203）。カトマンズからトラック83台・ジープ38台・ヘリ9便で物資を輸送し、武装警察がラスワ・ヌワコットへ173便を飛ば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NDRRMA（The Rising Nepal、RSS）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迅速被害・ニーズ評価（RDNA）の暫定結果。外務省が9月5日に示し、The Rising Nepal が9月6日に報じた。被災は約32,933人、住家は約7,570棟が損壊または被災。道路55km、車道橋37橋、吊り橋68橋が破壊された。道路局は別途、道路と車道橋だけで200億ネパールルピーの被害としている。農地約1,806ha、水力発電13事業、太陽光発電1か所、送電線2条が被害を受け、水力発電容量783MWが影響を受けた。RDNAの完全な報告は未公表で、NDRRMAは専門家チームが最終化中としている。並行して包括的な災害後ニーズ評価（PDNA）も実施されている。豪州の災害支援・対応チーム（DART）15人が金曜に、マレーシアの特別災害支援・救助チーム（SMART）11人が土曜朝に到着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MoFA／NDRRMA（The Rising Nepal、RSS）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 / 74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UTC+5:45））（6/16）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は、要請していた医療物資14トン（抗生物質、輸液、慢性疾患治療薬、浄水資材、個人防護具）が9月5〜6日の週末にカトマンズへ到着し、9月6日にも追加物資が到着、保健人口省と調整のうえ配布するとした。パートナー団体（One Heart Worldwide、Shanti Foundation、Mountain Heart Nepal、Dhulikhel Hospital）はトリシュリ病院（ヌワコット）およびジブジベ第一次病院への医薬品搬送や、ラスワへの酸素濃縮器の移送を報告し、橋40以上が流失しラスワ〜ヌワコット間の道路が寸断されている状況を挙げ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Direct Relief（NGO announcement）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観光局が、8月26日の洪水以降、観光客に限った集計として775人の行方不明を発表。内訳は34か国の外国人587人、ネパール人188人（ガイド・同行スタッフ・巡礼者）。外国人観光客307人が救助され、連絡不通だった7人はその後連絡が取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Department of Tourism（経由 The Rising Nepal）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ネパール陸軍は、洪水で被災した水力発電施設のトンネル内に最大121人が取り残されている可能性があると推計し、突破口が開くまで坑内の捜索を続けるとした。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Nepali Army（NDRRMA 記者会見）</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ラスワ郡アマチョディンモ村（行方不明203人）からの現地報道。発災から11日経ても陸路が完全に途絶し、ヘリコプターのみが到達手段。住民は食料・塩が尽きたと訴えている。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The Kathmandu Post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パキスタンが、洪水・地滑りの被災者支援のため救援物資100トンをネパールへ引き渡した。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Pakistan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9/9 (arrived 9/5)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韓国政府は9月9日、緊急救援物資（緊急用防寒毛布36,000枚・中間用防寒毛布2,320枚、総額1億3,000万ウォン相当）を送付し、商業便で9月5日にネパールへ到着したと発表した。8月27日発表の100万米ドルの人道支援、9月1日のKDRT派遣に続く追加支援。</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the Republic of Korea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 / 74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UTC+5:45））（7/16）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9/8 18:00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の18:00時点フラッシュアップデート。人的被害（収容遺体）は計1,358人、郡別ではラスワ170、ヌワコット197、ダディン70、ゴルカ75、タナフ38、チトワン363、ナワルパラシ東223、ナワルパラシ西222。遺族への遺体引き渡しは102体。行方不明は約5,326人で、この102体はすでに総数から差し引き済み。内訳はラスワからの行方不明2,860人（同郡住民1,393人、他郡住民1,286人、ネパール陸軍45人、ネパール警察25人、武装警察12人、政府職員73人、銀行・金融機関職員26人）、ヌワコットからの行方不明ネパール人約1,981人（出典：ヌワコット郡行政事務所）、外国人観光客約587人。治療中・治療済みの負傷者は計7,037人（うち10病院で329人、退院252人・治療中43人・他院転送30人、治療中の死亡4人を含む。ネパール陸軍による治療3,421人、武装警察による治療3,287人）。救出は累計13,583人で、ネパール陸軍ヘリの累計飛行1,157回（9月7日まで）に加え当日はネパール陸軍・民間ヘリで112回、カトマンズ発の民間セクター便129回、武装警察便210回。動員した治安要員は計21,146人（ネパール警察7,912人、ネパール陸軍9,031人、武装警察4,203人）。34ではなく37か所のホールディングセンターに3,628人が避難（ラスワ733人、ヌワコット2,699人、ダディン196人）。被災地の燃料在庫はディーゼル45,000リットル、ガソリン16,000リットル、航空燃料16,000リットル、LPガスボンベ457本。9月1日18:00の第11報以来はじめて確認できたNDRRMAのPDF状況報告である。NDRRMA自身のPDFシリーズは実際には毎日発行され続けていたが、正しいAPI一覧（/api/v1/publication/rasuwa-sitrep/）を9月1日以降確認し直していなかっ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NDRRMA（Rasuwa Flood: Search、Rescue and Relief Update）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 / 74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UTC+5:45））（8/16）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9/8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NDRRMA状況報告第18号（ネパール暦バドラ23日19:00）。第11号（9月1日18:00）以来はじめて確認できた、番号を付した正式なNDRRMA PDF状況報告である（第12〜17号はndrrma.gov.npで毎日公表されていたが、これまで取得できていなかった）。死傷者・救出関連の数値は同日18:00のフラッシュアップデートと整合（死者1,358人、行方不明約5,326人、治療中7,037人、救出13,583人、治安要員21,146人）。ただし1点、同日内で食い違いがある。本報告はホールディングセンター34か所・避難者3,328人（ラスワ9か所・634人、ヌワコット25か所・2,694人。ダディンの内訳なし）とする一方、同日18:00のフラッシュアップデートはダディン196人を含む37か所・3,628人としており、両者は未調整のままである。ボテコシ・トリシュリ回廊沿いの6つの水力発電事業で捜索救助が継続中。ラスワガディ（120MW）ではComposite Quick Response Teamが発電所・変圧器室・制御地点まで到達（発見なし）。ラングタン（20MW）では脱出路をふさぐ推定10メートルの土砂・巨石の撤去作業中。チリメ（22MW）ではトンネルへの道路の巨石を重機とウインチで除去済み。アッパートリシュリ1（216MW）とマイルン・コーラ（5MW）ではネパール陸軍と韓国災害救援隊（KDRT）の合同チームがトンネル周辺約1kmをドローンで捜索（発見なし）。トリシュリ3A（60MW）ではネパール陸軍・武装警察・警察・事業者合同チームがトンネルと発電所を捜索（発見なし）、トリシュリ3B（37MW）には必要な掘削機4台を搬入。橋梁復旧では、デヴィガート付近ガルチ・トリシュリ道路のタディ川に架けるアクロウ橋（Acrow Bridge）で全19ベイ中15ベイの設置が完了、残る4ベイのヒンジ・ローラー位置調整・ジャッキ・ボルト締めを急いでいる。また、ネパール陸軍工兵がドゥンチェ（仏塔下）とトリシュリ・バザールを結ぶ約250メートルの吊り橋建設に着手した。資金面では、国際NGO45団体が総額約3億7,149万ネパールルピー相当の支援（うち現金3,190万7,777ルピーを首相災害救援・首相自然災害救援基金へ拠出）、国内NGO24団体が約1億2,113万ルピー相当（うち727万2,427ルピーを同基金へ）を拠出。簡易承認手続きにより、バドラ15日から22日（8月31日〜9月7日）にかけて52団体・65新規事業と2件の変更事業、計7億810万6,800ルピー相当が承認された。緊急医療チーム38隊（保健従事者177人）が4,722人超を治療し、4,111人に心理社会的支援を提供。ラスワで身元不明遺体のDNA検体採取を開始。プリトビ・ハイウェイのクリシュナビール地点は法面崩落（toe cutting）により依然通行止めで、250メートルの迂回路を開設のうえ拡幅工事を急いでいる。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の状況報告第3号は、被災者を6郡17市町村で84,270人（うち子ども32,021人、障害者1,854人）とし、9月7日時点で3郡37か所の避難所に3,630人が滞在しているとする。給水施設46か所、学校23校、医療施設7か所が損壊と報告。WASH支援が48,600人に到達し、17,500人分の給水施設が復旧。心理社会的支援はコミュニティ活動で1,952人（子ども782人）、専門的支援で2,893人（子ども・若者1,382人）に到達。保護者不明・離散した子どもは541人確認され、うち18人が家族と再会。教育用品は9,500人超の子ども向けに発送済み、緊急情報はラジオ7局を通じ推計167万人に到達。UNICEFは被災した子どもと家族の緊急ニーズに17.2百万米ドルが必要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 Nepal Humanitarian Situation Report No.3、9/8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9 / 74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対応の時系列（2026年8月25日〜10月5日（ネパール標準時 UTC+5:45））（9/16）</a:t>
            </a:r>
            <a:endParaRPr lang="en-US" sz="185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9/9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NDRRMA状況報告第19号（19:00 NPT）。死者1,369人（11人増）、行方不明5,132人（9月8日締めから194人減。ラスワと外国人観光客の内訳は変わらず、減少はすべてヌワコットの数値の下方修正によるもので、同郡住民651人・他郡住民1,136人に新たに分解された）、治療中・治療済みの負傷者7,474人（19病院で333人、ほかネパール陸軍による治療3,535人、武装警察による治療3,606人）、累計救出13,646人、動員治安要員21,185人。34か所のホールディングセンターに3,395人が避難（ラスワ9か所・775人、ヌワコット25か所・2,620人）。児童権利国家評議会（NCRC）の緊急調査により、30か所のホールディングセンターで親を失った子ども102人を確認、離散した子ども439人の追跡・家族再統合の手続きが進行中。アッパートリシュリ1水力発電事業（ハクベシ）のオーディット3トンネル内、約1,200メートル地点で遺体1体を収容。トリシュリ3Bでは深さ11メートルまでの掘削で梁・柱状の構造物とレンガを発見し、作業を継続中。陸路が途絶した地域の危険な妊産婦・新生児を空輸する新たな仕組みのもと、産科的に重篤な状態の女性1人とその新生児がパロパカール母子病院へ空輸された。 トリシュリ3Bでは、ネパール陸軍とオーストラリアSARチームの合同チームが、掘削作業とあわせて事業区域の地形図作成を実施。道路が途絶しているラスワ郡アマチョディンモ地方自治体へは、これまでにドローン31便で食料1,591kgを配送済み。</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#19</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災害リスク削減管理執行委員会が緊急倉庫の運用手続きを改定し、NDRRMAが保有する備蓄物資を災害時に国連機関・ネパール赤十字社・地域病院へ直接放出できるようにした。受領団体は郡・地方の災害委員会と配布を調整し、当局へ報告することが条件。</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Disaster Risk Reduction and Management Executive Committee（経由 UN RC Nepal Flash Report No.7）</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担当国連常駐調整官のリラ・ピータース・ヤヒア氏が、ジュネーブでの国連加盟国向けブリーフィングで「ネパール・ラスワ洪水フラッシュアピール」を正式に立ち上げた。6郡・84,270人を対象に12月31日までの支援として4,960万米ドルを要請。250万米ドルのCERF拠出が当初対応の資金となったが、必要額の大半は依然未充足であるとし、本アピールは中長期の復旧・復興ではなく的を絞った人道支援を対象とすると強調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 Resident Coordinator Nepal（UN Member States 説明会、Geneva）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は、ダディン・ヌワコット・ラスワの3郡へ食料114.8トン（15日分、うちヘリ空輸13.3トン）を配送済みとし、追加の輸送手段として貨物用ドローンも活用しているとする。ロジスティクス・電気通信クラスターは人道パートナー向けに無償の共通サービスを開始。WFPによれば、ラスワ郡上流のゴサインクンダ・アマチョディンモでは約14,500人が発災以来、道路・電力・電話回線から依然孤立しており、ヌワコット・ラスワ・ダディン・カトマンズの各政府避難所には引き続き約3,500人が滞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 Nepal Situation Report on the Rasuwa Flood Response、9/10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10 / 74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UTC+5:45））（10/16）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カナダはRCMP（王立カナダ騎馬警察）の遺体身元確認（DVI）専門家2人をカトマンズへ派遣し、インターポールのDVI基準の下、既に現地入りしていたカナダ当局者と合流させた。RCMPはインターポール・オタワを通じ、行方不明のカナダ人家族からのDNA検体採取を調整している。カナダ政府は、所在が未確認のカナダ人・永住者がネパールおよびチベット自治区に29人いるとしており、人道支援として500万カナダドルを拠出、カナダ赤十字社が管理する緊急備蓄から救援物資18,000点超を提供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Canada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CRCは、ネパール赤十字社と協力し、発災前から備蓄していた遺体袋700枚に加え、その後到着した3,500枚超を提供したと発表。デリー地域代表部からRFL（家族再統合）・法医学・運営の専門家を派遣し、家族の追跡調査と遺体の尊厳ある取り扱いを支援しているとし、ヌワコットへの合同訪問やカトマンズ・ポカラの病院への法医学支援を挙げた。同報告が引用する当局発表は、収容遺体1,000体超、行方不明5,000人超、救出約12,000人としており、丸めた数値であること、また救出数については同日のNDRRMA発表より少ないことから、訂正ではなく二次的な集計の遅れによるものとみられ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ICRC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ロジスティクス・電気通信クラスター（LTC）電気通信分野が状況報告第2号（対象期間9月5〜11日）を発出。テレコム・コーディネーターが9月5日にカトマンズ入りし、当初2週間の任務で人道支援拠点における通信ニーズの特定・優先順位付けを支援。政府は、燃料供給の途絶で発電機依存の運用が困難になっているアクセス困難な通信塔への持続可能な予備電源の導入支援を要請。2か月間のテレコム対応計画を策定中。新規の死傷者・被害数値なし。</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Emergency Telecommunications Cluster／Logistics Cluster／WFP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9/12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NDRRMA状況報告第22号（19:00 NPT）。死者1,386人（第19号から17人増）— チトワン364、ナワルパラシ東229、ナワルパラシ西222、ヌワコット199、ラスワ185、ゴルカ77、ダディン70、タナフ38、カトマンズ2。行方不明5,130人（2人減、ほぼ横ばい）。累計救出13,728人（82人増）。ヘリコプター総飛行回数1,482回。19の医療施設で339人を治療（退院269人、治療中34人、他院転送32人、治療中の死亡4人）。別途、各種治安機関による治療8,615人、ネパール陸軍独自の治療実績3,732人と報告されているが、いずれも病院集計や相互とも未突合。収容遺体のうち身元確認済みは104体、行方不明者親族からのDNA参照検体1,779件を採取。NDRRMAのRDNAチームは暫定の災害被害・ニーズ迅速評価を公表：物的被害・損失総額NPR 4,082.9億（USD 26億9,533万）、復旧・復興必要額NPR 7,233.2億（USD 47億7,499万）で、インフラ（特にエネルギー分野）が被害・必要額とも最大。ボテコシ・トリシュリ回廊沿いの6水力発電事業（ラスワガディ、ランタン、チリメ、アッパートリシュリ1、マイルンコーラ、トリシュリ3A/3B）で捜索救助が継続中。ラスワガディ水力発電のトンネル内で遺体1体を発見、他の地点ではこれ以上の発見は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#22</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11 / 74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UTC+5:45））（11/16）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9/13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NDRRMA状況報告第23号（19:00 NPT）。死者1,388人（第22号から2人増）— チトワン364、ナワルパラシ東230、ナワルパラシ西222、ヌワコット199、ラスワ185、ゴルカ77、ダディン71、タナフ38、うち治療中にカトマンズで死亡した2人を含む。内訳は女性334、男性542、部分遺体512。行方不明5,130人で変化なし。累計救出13,728人で横ばい。ネパール陸軍のヘリコプター累計飛行1,516回（当日34回）、別途武装警察便320回。19の医療施設で339人を治療（退院271人、+2。他院転送32人・治療中死亡4人は横ばい）。別途、各種治安機関による治療者数は9,314人（8,615人から増加）とされ、病院集計とは未突合。身元確認済み遺体は引き続き104体。DNA参照検体の採取は、遺体からの採取1,286件・行方不明者親族からの採取1,846件に区分して報告された。今回は水力発電6か所での新たな発見はなく、トリシュリ3Bの掘削は約651メートル深に達したが発電所建屋の構造物は未発見。NDRRMAは、政府が初期被害・損失評価を完了し、詳細な災害後ニーズ評価（PDNA）のプロセスが進行中であるとしている。33か所のホールディングセンターに2,532人が避難（ヌワコット1,613人、ラスワ825人、ダディン94人）で、第19号の34か所・3,395人から減少。8月25日（2083年ブハドラ25日、9月10日）の閣議決定により、ラスワ・ヌワコット・ダディン・タナフ・ゴルカの5郡15地方自治体で住家が完全損壊した世帯へ、4人までの世帯に月額NPR15,000・超過1人につき月額NPR2,000を最長6か月間支給する緊急現金給付が決定された。捜索救助資材調達のための追加予算措置（ネパール陸軍にNPR1億、ネパール警察・武装警察に各NPR6,000万）も講じられた。ネパールで洪水後としては初めて、水文気象・水資源研究センター（CHWRR）がティムレの河川水面から約70メートル上にCCTVカメラを設置し、CHWRRの24時間洪水予測サービスと連動した常時監視を開始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#23</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9/14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NDRRMA状況報告第13号（英語版）／第24号（ネパール語版）、9月14日19:00 NPT：死者1,395人（+7）、行方不明5,130人（横ばい）、病院治療の負傷者341人（19施設）、救助13,737人（+9）。33か所のホールディングセンターに2,418人が残る（ヌワコット1,499人、ラスワ825人、ダディン94人）。前回報告から114人減少。水力発電6か所（ラスワガディ、ランタン、チリメ、アッパートリシュリ1、トリシュリ3A、3B）での捜索は継続するも新たな発見なし。DNA検体採取は計3,139件（遺体1,286件・遺族1,853件）に達し、インド・韓国・シンガポール・中国・米国の法医学チームが検査を開始した。NDRRMAはまた教育分野の最新数値として、教育施設18か所被害（うち全損13）、学校建物45棟・教室268室が全壊、教員24人・児童生徒500人がなお行方不明と報告。9,430人の学習に影響が生じ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#13（EN）／#24（NEP）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12 / 74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UTC+5:45））（12/16）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9/15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NDRRMA状況報告第14号（19:00 NPT）。死者1,399人（第13号から+4）— チトワン364、ナワルパラシ東232、ナワルパラシ西222、ヌワコット202、ラスワ189、ゴルカ78、ダディン72、タナフン38、うち治療中の死亡2人を含む。行方不明5,179人（5,130人から49人増。NDRRMAのグラフ注記は身元確認済み遺体を差し引いたうえでの改定値としているが、差し引き後になお増加した理由は説明していない）。累計救出13,742人（+5）。19の医療施設で343人を治療（退院282人、治療中25人、他院転送32人、治療中の死亡4人）。別途、各種治安機関経由の治療者数は9,496人と報告されているが、病院集計とは依然未突合。30か所のホールディングセンターに2,155人が残る（ラスワ825人、ヌワコット1,236人、ダディン94人）。第13号の2,418人から263人減少。水力発電6か所での新たな遺体発見の報告はなし。トリシュリ3Bでは河川水面から約2メートル下の掘削で事業事務所建屋の基礎と発電所建屋の柱の一部を確認。デヴィガートにアクロウ橋が設置・稼働開始。ラスワへの代替路（ディクレ〜ジブジベ〜ボガティタール経由）が通行可能となり、ガルチ〜デヴィガート区間のラタマテでも通行が再開した。別途、IOMネパール洪水対応状況報告第5号（9月15日付、9月16日公表）は、人道分野の予備分析として6郡17市町村で84,270人が被災していると推計し、政府主導のRDNAは住宅約7,570棟に被害、約32,963人に影響が及んでいるとしている。いずれもNDRRMA自身の集計とは突合されてい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#14</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9/16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NDRRMA状況報告第15号（19:00 NPT）。死者1,403人（第14号から+4）―チトワン364、ナワルパラシ東232、ナワルパラシ西222、ヌワコット202、ラスワ193、ゴルカ78、ダディン72、タナフ38、うち治療中にカトマンズで死亡した2人を含む。内訳は女性336、男性544、部分遺体523。行方不明6,150人（脚注：身元判明遺体105体〈第14号の104体から増加〉を差し引いた後の数値）。累計救出13,742人で第14号から横ばい。当日のヘリ運航42便（ネパール陸軍累計1,603便、武装警察320便、いずれも横ばい）。19の医療施設で344人を治療（退院289人、治療中19人、他院転送32人、治療中死亡4人）。別途、各種治安機関経由の治療者数は9,496人で第14号から横ばい、病院集計とは依然未突合。29か所のホールディングセンターに1,743人が避難（ヌワコット1,185人、ラスワ817人、ダディン94人）、第14号の30か所から減少。</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#15</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13 / 74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UTC+5:45））（13/16）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9/17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NDRRMA状況報告第16号（19:00 NPT）。死者1,410人（第15号から+7）―チトワン364、ナワルパラシ東232、ナワルパラシ西222、ヌワコット203、ラスワ199、ゴルカ78、ダディン72、タナフ38、うち治療中にカトマンズで死亡した2人を含む。内訳は女性336、男性525、部分遺体549（3区分の合計が総数に一致）。行方不明6,145人（-5。脚注：身元判明遺体110体〈第15号の105体から増加〉を差し引いた後の数値）で、純増減の理由はNDRRMAから説明されていない。累計救出13,756人（+14）。別途、空路による救出のみを対象とした数値として4,191人（ネパール国民3,908人、外国人283人、ヘリ運航1,731便）が今回新たに示されたが、累計総数とは突合されていない。19の医療施設で344人を治療（退院290人、治療中18人、他院転送32人、治療中死亡4人）。別途、各種治安機関経由の治療者数は9,820人（9,496人から増加）で、病院集計とは依然未突合。27か所のホールディングセンターに1,743人が避難（ヌワコット832人、ラスワ817人、ダディン94人）、第15号の29か所から減少。チリメ水力では250mトンネルを貫通し制御室への到達後、遺体5体を回収。アッパー・トリスリ1では遺体5体がトンネル内に残り、切断機材の到着待ち。同日、NDRRMAはRDNA（災害被害・ニーズ迅速評価）の完全版も公表し、状況報告第22号／第23号で既報の総被害・損失額（USD 26億9,533万＝被害USD 18億1,201万＋損失USD 8億8,332万）・復旧必要額（USD 47億7,499万）を、分野別の詳細（エネルギー・水力単独で被害USD 9億9,713万・復旧必要額USD 25億7,871万）を加えて確認した。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9/18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NDRRMA状況報告第17号（19:00 NPT）。死者1,410人、第16号から横ばい―郡別内訳・女性336/男性525/部分遺体549の区分もいずれも変化なし。行方不明6,055人（-90。脚注の身元判明遺体数は第16号と同じ110体であり、新規の身元判明では説明できない減少）で、純増減の理由はNDRRMAから説明されていない。累計救出13,756人で横ばい。別途、空路救出のみの狭義の数値はやや増えて4,195人（ネパール国民3,912人、外国人283人、ヘリ運航1,797便）となったが、累計とは依然未突合。19の医療施設で344人を治療、第16号から横ばい（退院290人、治療中18人、他院転送32人、治療中死亡4人）。別途、各種治安機関経由の治療者数は9,984人（9,820人から増加）で、病院集計とは依然未突合。ホールディングセンターの避難者数は963人・23か所へ急減（ヌワコット611人、ラスワ231人、ダディン121人）、第16号の1,743人・27か所から大幅減。現地調査の結果、ラスワ郡治安委員会とプロジェクト管理者は、ランタン水力・チリメ水力の両プロジェクトで捜索救助活動をこれ以上必要としないと判断した。アッパー・トリスリ1のハクベシ・アディット3では遺体13体を回収（当初6体、その後さらに7体）。トンネル内の泥の下に埋もれているとみられる約20体の捜索は継続中。トリブバン大学教育病院に保管されていた身元不明遺体50体は、9月18日12時40分、カトマンズの公共の場所で弔わ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#17</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14 / 74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UTC+5:45））（14/16）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9/19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NDRRMA状況報告第18号（19:00 NPT）。死者1,411人（第17号から+1）―チトワン364、ナワルパラシ東232、ナワルパラシ西222、ヌワコット203、ラスワ199、ゴルカ79、ダディン72、タナフン38、うち治療中にカトマンズで死亡した2人を含む。内訳は女性336、男性549、部分遺体526（男性と部分遺体の内訳が第17号の525／549から入れ替わっており、理由の説明なし）。行方不明5,875人（-180。脚注の身元判明遺体数は第17号と同じ110体であり、新規の身元判明では説明できない減少）で、純増減の理由はNDRRMAから説明されていない。累計救出13,784人（+28）。ネパール陸軍のヘリコプター飛行は累計1,692回（当日41回）、別途APF-Nepalの飛行が320回（変化なし）。19の医療施設で344人を治療、第17号から横ばい（退院290人、治療中18人、他院転送32人、治療中死亡4人）。別途、各種治安機関経由の治療者数は10,041人（9,984人から増加）で、病院集計とは依然未突合。ホールディングセンターの避難者数は1,342人・24か所へ増加（ラスワ794人、ヌワコット427人、ダディン121人）、第17号の963人・23か所から増加。治安要員の動員は20,935人（20,929人から増加）。アッパー・トリスリ1のハクベシ・アディット3では鉄筋メッシュ構造物からさらに6体を回収し、約2,000m区間で計31体回収、うち13体をトリシュリへ搬送予定。ランタン水力に加え、チリメ水力でも捜索救助活動は今後不要と判断さ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#18</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9/20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NDRRMA状況報告第30号（ネパール語版、19:00 NPT。英語版はこの更新時点で未公表）。死者1,451人（+40、大半はヌワコット郡+33）、行方不明5,786人（-89、未説明の集計調整が継続）、累計救出13,784人（横ばい）。病院治療の集計は19施設で440人へ増加（第18号の344人から）。各種治安機関経由の治療者数は10,163人（10,041人から）。ホールディングセンターの避難者は20か所1,231人（ラスワ786人、ヌワコット324人、ダディン121人）へ減少（24か所1,342人から）。治安要員の動員は20,929人（20,935人から）。DNA検体採取は遺体1,286件、遺族1,997件。展開していた外国救助隊6か国はすべて帰国済み。第16号／第22号／第23号で既報のRDNA（被害・ニーズ迅速評価）の総額に変化なし。</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#30（Nepali）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9/21 19:00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NDRRMA状況報告第31号（ネパール語版、19:00 NPT。第18号以降、英語版は未公表）。死者1,451人（第30号から横ばい）、行方不明5,745人（-41。チャート脚注はラスワ郡の遺体特定控除を112人と記載、第30号の110人から増加。第14号以来続く未説明の集計調整の一部）、累計救出13,784人（横ばい）。ホールディングセンターの避難者は21か所1,215人（ラスワ788人、ヌワコット306人、ダディン121人）へ減少（第30号は20か所1,231人）。治安要員の動員は20,929人で横ばい。DNA検体採取は遺体1,286件・遺族1,997件で横ばい。病院治療に関する記述は「19施設、344人治療、12人治療中、4人が治療中に死亡」と第18号と同一の文言が再度記載されており、第30号が示した別系統の合計440人とは整合しない。両数値とも原文のまま併記し、突き合わせは行っていない。ラスワガリ、ランタン、トリスリ3A・3Bの各水力発電所での捜索救助は当面終了（新たな発見なし）。チリメトンネルではコントロールルームへ向け250m区間のがれき撤去中に遺体5体を新たに収容。上部トリスリ1・アディット3では、格子構造に引っかかっていた遺体31体をグラインダー・ガスカッター・ロータリーレスキューソーで金属を切断して収容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NDRRMA Situation Report #31（Nepali）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15 / 74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UTC+5:45））（15/16）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22-9/23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国連常駐調整官事務所ネパール「ラスワ洪水状況報告第9号」（9月22日時点、9月24日投稿）は、より新しいNDRRMAの締め（9月23日19:00、ネパール時間）として死者1,453人・行方不明5,644人・生存救出13,795人を引用している（上記「死者」「行方不明」「捜索・救助」の項参照）。あわせて避難センター21か所に1,112人が残留しているとし、WFPの「市場機能・価格モニタリング迅速評価」により、多くの地元市場が再開した一方でサプライチェーンには依然ひずみがあり、輸送の混乱が続くなか業者の在庫補充が難しいことが判明した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OCHA／UN RC Nepal（Rasuwa Flood Situation Report No. 9、posted 9/24）</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AOが、完了した農業被害評価に基づく緊急支援の呼びかけを公表した。ラスワ・ヌワコット・ダディン・ゴルカ各郡における作物・家畜・水産分野の損失を詳述している（数値は上記「農業・家畜（FAO）」の項参照）。FAOは、家畜の死亡と死骸処理の課題、水源汚染により家畜疾病発生のリスクが高まっていること、次期作付け時期までの農地・生産の復旧が復興のかぎであることを強調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FAO（Rasuwa-Bhotekoshi flood: urgent call for assistance）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日本政府がWFPのネパール洪水緊急対応に対し緊急無償資金100万米ドルを拠出した。ラスワ・ヌワコット・ダディンでの食料支援と、政府主導対応への物流支援の継続を可能にするもの。WFPは、日本を含む拠出国の支援により、緊急食料の提供に続き、2週間分の現物支援（強化米・レンズ豆・食用油・ヨウ素添加塩）を15,000人超に提供した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WFP（Japan contribution announcement）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が、ヌワコット郡ビドゥルにおけるネパール赤十字社（NRCS）の対応を紹介する記事を公表した。同地では洪水により町と公立病院を結ぶ橋が流失。NRCSボランティアはトリスリ川に張ったロープを使って患者・家族を病院側へ渡す活動を継続しており、あわせてバイタルサイン・栄養チェック、酸素投与、投薬を行う野外診療所も運営している。記事は、最も被害の大きい一部地域が依然ヘリコプターか、ラスワへの狭く通行困難な1本の道路でしか到達できないと伝え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IFRC（Nepal flash floods 2026: how the Red Cross is responding）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の第5次状況報告（9月22日付）は、洪水による被災者84,270人（うち子ども32,021人、障害者1,854人）、給水施設64か所・トイレ1万基・保健施設7か所・学校23校が損壊・破壊されたとしている。これまでに心理社会的支援が9,711人に到達。ヌワコット・ラスワ両郡でコレラワクチン接種66,950人。子ども1,702人の急性栄養不良スクリーニング（うち39人が治療中）。WASH設備を備えた仮設学習センター48か所が1,400人超の子どもに対応。家族再統合24人、一時保護施設29人、身元確認・照合中238人。UNICEFは必要額1,720万米ドルに対し970万米ドル（250万米ドルの融資を含む）を確保済みとし、資金ギャップ1,000万米ドルを残す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UNICEF（Nepal Humanitarian Situation Report No. 5、9/22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16 / 74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00" b="1" dirty="0">
                <a:solidFill>
                  <a:srgbClr val="1F3864"/>
                </a:solidFill>
                <a:latin typeface="Meiryo" pitchFamily="34" charset="0"/>
                <a:ea typeface="Meiryo" pitchFamily="34" charset="-122"/>
                <a:cs typeface="Meiryo" pitchFamily="34" charset="-120"/>
              </a:rPr>
              <a:t>対応の時系列（2026年8月25日〜10月5日（ネパール標準時 UTC+5:45））（16/16）</a:t>
            </a:r>
            <a:endParaRPr lang="en-US" sz="18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発災からの政府・機関の主要な動き（すべて公的情報）。時刻は特記なき限りネパール標準時（NPT、UTC+5:45）。</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OCHA／国連常駐調整官事務所の状況報告第10号（9月29日時点）がNDRRMAの9月26日19:00 NPT締めを引用：死者1,453人、行方不明5,285人、救出13,795人。ラスワ・ヌワコット・ダディンの21か所の避難所に1,109人。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OCHA／UN RC Nepal（Rasuwa Flood Situation Report No. 10）</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最終のLTC通信状況報告（8月26日〜9月30日）は、最も被害の大きい地区で通信サービスがおおむね復旧し、NDRRMA主導の対応が人命救助から復旧・早期回復へ移行し始めたと報告している。LTC通信調整官の派遣は9月5〜18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Logistics Cluster／ETC／WFP（LTC Telecoms Situation Report #4 [Final]）</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家防災評議会（首相議長、10月5日）は、ボテコシ・トリスリ川の洪水に関する捜索救助を緊急時を除き停止し、復興・復旧へ軸足を移すと決定。あわせて504事業・5,591.7億ルピーの復興予算を財務省に勧告することを決めた（カトマンズ・ポスト、10月5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The Kathmandu Post（10/6 2026 retrieved、article 10/5）、citing the Prime Minister's secretariat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NDRRMA／Nepal Police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UNOSAT／UNITAR</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17 / 74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1,050人（NDRRMA状況報告第11号、9月1日18:00 NPT）。郡別内訳：チトワン321、ナワルパラシ東216、ナワルパラシ西170、ヌワコット142、ゴルカ65、ダディン57、タナフ38、ラスワ41。9月1日中に987人（同日09:00締め）→1,003人（同日13:00締め、OCHA「Rasuwa Flood Flash Update #5」引用）→1,050人（本18:00締め、うち治療中の死亡3人を含む）と推移した。それ以前は903人（8月31日09:00）、734人（8月30日）、616人（8月29日、WFPが政府集計を引用）、539人（NEOC、8月28日）。下流のチトワン・ナワルパラシで多数を占めるのは、トリシュリ川からナラヤニ川へと出水が遠く下流まで及んだためであり、別の災害ではない。本更新時点で、NDRRMAの第11号より後のPDF状況報告は公表されていない。以下9月3〜4日の数値は国連機関の状況報告によるもので、いずれも「政府・当局」を出典とするのみでNDRRMAの報番号は示していない。IOM「ネパール洪水対応状況報告第3号」（9月3日時点）は死者1,259人とし、WFP「ラスワ洪水対応状況報告」（9月4日）も「死者は1,259人に増加」と同じ数値を示している。両者が同じ政府集計を引用し、その間に数値が動いていない可能性がある。いずれの報告も郡別内訳や正確な締め時刻は示していない。OCHA「ラスワ洪水状況報告第6号」（9月5日時点）は、初めてこの数値に具体的な締め時刻を付し、「NDRRMA、9月3日19:00」としている。ただしこの締めに対応するNDRRMAのPDFはなお見つかっていない。 NDRRMAのPDFは9月8日から再確認できた（状況報告第18号19:00、同日18:00更新と整合）：死者1,358人（ラスワ170、ヌワコット197、ダディン70、ゴルカ75、タナフ38、チトワン363、ナワルパラシ東223、西222）、遺体引き渡し102体。NDRRMAは第12〜17号も毎日発行していたが再確認していなかっただけで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OCHA／国連常駐調整官事務所ネパール「ラスワ洪水状況報告第9号」（2026年9月22日時点）が引用するNDRRMA、2026年9月23日19:00（ネパール時間）</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18 / 74</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 第19号（9月9日19:00）は1,369人（8日から11人増）。今回は郡別内訳の記載なし。 第22号（9月12日19:00）は1,386人（+17）。身元確認済み104体、DNA検体1,779件採取。 第23号（9月13日19:00）は1,388人（+2）— チトワン364、ナワルパラシ東230、ナワルパラシ西222、ヌワコット199、ラスワ185、ゴルカ77、ダディン71、タナフ38、うち治療中にカトマンズで死亡した2人を含む。遺体の内訳は女性334、男性542、部分遺体（身体の一部等）512で、合計は死者総数1,388人と一致する。 NDRRMA状況報告第13号（英語版）／第24号（ネパール語版）、9月14日19:00 NPT：1,395人（+7）— チトワン364、ナワルパラシ東232、ナワルパラシ西222、ヌワコット202、ラスワ186、ゴルカ77、ダディン71、タナフ38、うち治療中にカトマンズで死亡した2人を含む。内訳（女性334・男性542・部分遺体512）は変化なし。 NDRRMA状況報告第14号（9月15日19:00 NPT）：1,399人（+4）— チトワン364、ナワルパラシ東232、ナワルパラシ西222、ヌワコット202、ラスワ189、ゴルカ78、ダディン72、タナフン38、うち治療中にカトマンズで死亡した2人を含む。内訳：女性336、男性544、部分遺体（身元未確認の遺体断片）519。 NDRRMA状況報告第15号（9月16日19:00 NPT）：1,403人（+4）―チトワン364、ナワルパラシ東232、ナワルパラシ西222、ヌワコット202、ラスワ193、ゴルカ78、ダディン72、タナフ38、ほかカトマンズでの治療中死亡2人。区分：女性336、男性544、身元不明遺体部分523。NDRRMA状況報告第16号（9月17日19:00 NPT）：1,410人（+7）―チトワン364、ナワルパラシ東232、ナワルパラシ西222、ヌワコット203、ラスワ199、ゴルカ78、ダディン72、タナフ38、ほかカトマンズでの治療中死亡2人。区分：女性336、男性525、身元不明遺体部分549（3区分の合計が1,410人に一致）。</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19 / 74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NDRRMA状況報告第17号（9月18日19:00 NPT）：1,410人で第16号から横ばい。郡別内訳（チトワン364、ナワルパラシ東232、ナワルパラシ西222、ヌワコット203、ラスワ199、ゴルカ78、ダディン72、タナフン38、ほかカトマンズでの治療中死亡2人）、女性336・男性525・部分遺体549の区分もいずれも変化なし。NDRRMA状況報告第18号（9月19日19:00 NPT）：1,411人（+1）―チトワン364、ナワルパラシ東232、ナワルパラシ西222、ヌワコット203、ラスワ199、ゴルカ79、ダディン72、タナフン38、ほかカトマンズでの治療中死亡2人。区分：女性336、男性549、身元不明遺体部分526（3区分の合計が1,411人に一致。男性と遺体部分の内訳は第17号の525／549から入れ替わっており、NDRRMAは理由を説明していない。郡別合計の+1を超える新たな死者ではなく、2区分間の再分類として扱う）。 NDRRMA状況報告第30号（ネパール語版、9月20日19:00 NPT。この更新時点で英語版〈第19号相当と見込まれる〉は未公表のため、ネパール語版を直接読んだ）。死者1,451人（第18号の1,411人から+40）―チトワン367、ナワルパラシ東232、ナワルパラシ西222、ヌワコット236、ラスワ203、ゴルカ79、ダディン72、タナフ38、ほかカトマンズでの治療中死亡2人（9項目の合計が1,451人に一致）。増加の大半はヌワコット郡（203→236、+33）で、チトワン（+3）・ラスワ（+4）も小幅に増加。区分：女性336（横ばい）、男性585（第18号の549から+36）、部分遺体530（526から+4）（3区分の合計が総数に一致）。 NDRRMA状況報告第31号（ネパール語版、9月21日19:00 NPT）：1,451人で第30号から変化なし。郡別内訳、女性336人・男性585人・遺体一部530人の区分もいずれも同一。</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20 / 74</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被害状況（4/33）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OCHA「ラスワ洪水状況報告第9号」（9月22日時点、9月24日投稿）は、より新しい締め「NDRRMA、9月23日19:00」として死者1,453人（第31号の1,451人から+2）を引用している。この二次引用には郡別内訳や性別・部分遺体の内訳は付されておらず、第31号より後のNDRRMA PDFも直接には見つかっていない。OCHA／国連常駐調整官事務所ネパールがNDRRMA発表として報じた数値として、ここに別掲する。 更新（10月1日）：NDRRMA 9月26日19:00 NPT締めで死者1,453人（OCHA／国連常駐調整官事務所「ラスワ洪水状況報告第10号」（9月29日）経由）。9月23日締めから横ばい。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21 / 74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被害状況（5/33）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行方不明</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約3,916人が連絡不通（NDRRMA状況報告第11号、9月1日18:00 NPT）。同日09:00締め、および（OCHA経由の）13:00締めから横ばい。内訳：治安機関要員2,423人（62%）、政府機関要員663人（17%）、外国人583人（15%）、外国人旅行者に同行していたネパール人164人（4%）、DEOC経由の届出63人（2%）。死者数が同日中に増え続けている一方でこの数値が動いていない理由をNDRRMAは説明していない。この「届出に基づく行方不明」の系列は、NEOC977人（8月28日）→WFP2,448人（8月30日）→4,247人（8月31日09:00）→3,916人（9月1日）と推移している。なお、WFPが8月29日に示した1,924人（行方不明または連絡が取れない者）は、NEOCの「当局への届出」に基づく集計より広い概念とされており、両者は互換的に使えない。9月3日時点でIOM状況報告第3号はこの数値を5,053人とし、WFPの9月4日報告は5,083人（「なお行方不明」）としている。いずれの国連機関報告も、これがNDRRMAの3,916人と同じ「届出ベース」の系列を継続するものか、WFPが8月29日に示したような広い「連絡不通」概念によるものかを明示していない。NDRRMAのPDF状況報告（第11号が最新）では、いずれの数値も確認できていない。OCHA「ラスワ洪水状況報告第6号」（9月5日時点）も同じ5,083人を「NDRRMA、9月3日19:00」の出典として示し、救助12,038人も併記している（この救助数値はIOMが9月3日時点で示していたものと同じ）。 NDRRMAの9月8日18:00フラッシュアップデートと状況報告第18号（19:00）は行方不明約5,326人とする（遺体引き渡し102体はすでに差し引き済み）。</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OCHA／国連常駐調整官事務所ネパール「ラスワ洪水状況報告第9号」（2026年9月22日時点）が引用するNDRRMA、2026年9月23日19:00（ネパール時間）</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22 / 74</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被害状況（6/33）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行方不明（続き）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内訳はラスワからの行方不明約2,860人（同郡住民1,393人、他郡住民1,286人、ネパール陸軍45人、ネパール警察25人、武装警察12人、政府職員73人、銀行・金融機関職員26人）、ヌワコットからの行方不明ネパール人約1,981人（出典：ヌワコット郡行政事務所）、外国人観光客約587人。 第19号は5,132人（194人減）。ヌワコットの初回内訳分解（651+1,136＝1,787人、旧約1,981人）による整理で新情報ではない。 第22号（9月12日）は5,130人（2人減、ほぼ横ばい）。 第23号（9月13日19:00）も5,130人で変わらず。内訳も変化なし：ラスワは同郡住民1,393人＋他郡住民1,286人＋ネパール陸軍45人＋ネパール警察25人＋武装警察12人＋政府職員73人＋銀行・金融機関職員26人、ヌワコットは同郡住民651人＋他郡住民1,136人、外国人観光客587人。第13号（英語版）／第24号（ネパール語版）（9月14日19:00）も5,130人で第22・23号から変わらず。外国人観光客587人の内訳も変化なし。 NDRRMA状況報告第14号（9月15日19:00 NPT）は5,179人とし、第22号（9月12日）以来横ばいだった5,130人から49人増加した。NDRRMAのグラフ注記は、行方不明者の総数について「身元確認済み遺体（累計104体）を差し引いたうえで改定した」としており、すなわち報告値は身元確認が進んだ遺体を除いた後の純計であることを示す。この差し引きを経てなお数値が増加した理由についてNDRRMAは説明しておらず、ここでは新たな被害の発生ではなく基礎数値の整理として扱う。第14号の要約部分では郡別内訳は示されていない。 NDRRMA状況報告第15号（9月16日19:00）：6,150人（脚注：これまでに身元判明した遺体105体を差し引いた後の数値）。</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23 / 74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被害状況（7/33）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行方不明（続き）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状況報告第16号（9月17日19:00）：6,145人（-5）、脚注は身元判明遺体110体（第15号の105体から増加）を差し引いた後の数値としており、NDRRMAはこの純増減の理由を説明していないため、実際の行方不明者数の変化ではなく集計上の整理として扱う。区分別内訳は第15号・第16号のハイライトには示されていない。NDRRMA状況報告第17号（9月18日19:00）：6,055人（-90）。脚注の身元判明遺体数は110体で第16号と変わっておらず、第14号・第15号の増加のように新規の身元判明では説明できない減少である。NDRRMAはこれ以外の説明を示していないため、実際に90人の所在が新たに判明したのではなく、これまでの報告と同様の集計上の整理として扱う。区分別内訳は第17号のハイライトには示されていない。NDRRMA状況報告第18号（9月19日19:00）：5,875人（第17号の6,055から-180）。図表脚注は「身元確認済み遺体110体を控除して算出」とあり、第17号と同じ控除数（110）であるため、この-180の変動も新たな身元確認では説明できない。NDRRMAは他の理由を示しておらず、第14号以降続く「集計上の整理」の一環として扱う。NDRRMA自身、この行方不明者数には「身元未確認遺体、一部の救助済みの人、重複記載が含まれ得る」とし、照合作業が進行中で数値は変わり得るとしている。第18号のハイライトに区分別内訳の記載はない。 NDRRMA状況報告第30号（ネパール語版、9月20日19:00 NPT）。行方不明5,786人（第18号の5,875人から-89）。脚注の身元判明遺体控除数は第17号・第18号と同じ110体であり、直近の複数報と同様、この減少は新規の身元判明では説明できない。NDRRMAは他の説明を示しておらず、第14号以降続く未説明の集計調整のパターンが継続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24 / 74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被害状況（8/33）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行方不明（続き）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NDRRMA自身の報告も、行方不明者数には「身元未確認の遺体、一部の救助済み個人、重複記載が含まれうる」とし、検証中で変動しうるとしている。 NDRRMA状況報告第31号（ネパール語版、9月21日19:00 NPT）：行方不明5,745人（第30号の5,786人から-41）。脚注の身元判明遺体控除数は112体（第30号の110体から増加）とわずかに動いたが、NDRRMAはこの控除数の変化と純減の関係を説明しておらず、引き続き新規の身元判明では説明できない集計上の整理として扱う。OCHA「ラスワ洪水状況報告第9号」（9月22日時点、9月24日投稿）は「NDRRMA、9月23日19:00」として行方不明5,644人（第31号の5,745人から-101）を引用している。第14号以降続く説明のない調整の一環であり、この二次引用には身元判明遺体の控除数などの説明は付されていない。第31号より後のNDRRMA PDFも直接には見つかっていない。 更新（10月1日）：NDRRMA 9月26日19:00 NPT締めで行方不明5,285人（OCHA／国連常駐調整官事務所 状況報告第10号）。9月23日締めの5,644人から359人減。理由の説明はなく、死亡確認ではなく集計の整理として扱う。</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25 / 74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被害状況（9/33）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負傷者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16の医療施設で計292人を治療、うち182人が退院、74人が治療継続中、33人が他院へ転送。治療中に3人が死亡しており、この3人は死者数に既に含まれる（NDRRMA状況報告第11号、9月1日18:00 NPT）。9月1日09:00締めの279人、8月31日09:00締めの267人から増加。NEOCの8月28日集計では73人（ラスワ43、ヌワコット27、ダディン3）、WFPは8月30日時点で約242人としていた。 NDRRMAの9月8日18:00フラッシュアップデートと状況報告第18号（19:00）は、治療中・治療済みの負傷者を計7,037人とする（うち（現在）10病院で329人＝退院252人・治療中43人・他院転送30人、治療中の死亡4人を含む。ほかネパール陸軍による治療3,421人、武装警察による治療3,287人）。これは第11号以来追ってきた病院ベースの数値よりはるかに広い集計であり、両者は同一の系列ではない。 NDRRMA状況報告第19号（9月9日19:00）は同じ広い集計を7,474人とする（現在19の医療施設で333人＝退院256人・治療中42人・他院転送31人、治療中の死亡4人を含む。ほかネパール陸軍による治療3,535人、武装警察による治療3,606人）。 第22号（9月12日）は19病院で339人（退院269、治療中34、転送32、死亡4）。別途、治安機関経由8,615人・陸軍医療班3,732人と報告するが病院集計とは未突合。 第23号（9月13日19:00）も19病院で339人のままだが、退院271人（+2）、転送32人・治療中死亡4人は横ばい（算術上、治療中は約33人）。別途、各種治安機関経由の治療者数は9,314人（8,615人から増加）とされているが、第22号にあった陸軍・治安機関の内訳別集計ではなく単一の合算値としての報告であり、病院集計との突合はなお未了。見出しは直近の合算値である第19号の7,474人のまま。</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NDRRMA状況報告第18号、2026年9月19日19:00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26 / 74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被害状況（10/33）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負傷者（続き）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第13号（英語版）／第24号（ネパール語版）（9月14日19:00）：19病院で341人（退院278人・治療中27人・転送32人・治療中死亡4人〈死者数に計上済み〉）。別途NDRRMAは、4郡38の保健センターが医療従事者149人体制で計7,707人（うち直近24時間で135人）に緊急医療を提供したと報告しており、これは病院集計・従来の治安機関経由9,314人とも異なる第3の広義集計で、いずれとも突合されていない。見出しは直近の合算値である第19号の7,474人のまま、NDRRMAによる整理を待つ。 第14号（9月15日19:00）：19病院で343人を治療（退院282人、治療中25人、他院転送32人、治療中の死亡4人〈死者数に計上済み〉）。別途、各種治安機関経由の治療者数は9,496人（第13号／第24号の9,314人から増加）と報告されているが、病院集計・前回報告の保健センター系7,707人とも依然未突合。見出しは直近の合算値である第19号の7,474人のまま、NDRRMAによる整理を待つ。 第15号（9月16日19:00）：19病院で344人（退院289人、治療中19人、転送32人、治療中死亡4人〈死者数に計上済み〉）。別途、治安機関経由の治療者数は9,496人で横ばい。見出しは直近の合算値である第19号の7,474人のまま、NDRRMAによる整理を待つ。 第16号（9月17日19:00）：19病院で344人（退院290人、治療中18人、転送32人、治療中死亡4人）。別途、各種治安機関経由の治療者数は9,820人（第14号・第15号の9,496人から増加）と報告されているが、病院集計とは依然未突合。また緊急医療チーム（ネパール武装警察病院・EpiNurses Nepal）が別途7,995人（直近24時間で142人）に医療を提供したとする第4の広義集計が新たに示された。見出しは直近の合算値である第19号の7,474人のまま、NDRRMAによる整理を待つ。</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27 / 74</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被害状況（11/33）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負傷者（続き）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第17号（9月18日19:00）：19病院で344人、第16号から横ばい（退院290人、治療中18人、転送32人、治療中死亡4人）。別途、各種治安機関経由の治療者数は9,984人（第16号の9,820人から増加）と報告されているが、病院集計とは依然未突合。見出しは直近の合算値である第19号の7,474人のまま、NDRRMAによる整理を待つ。第18号（9月19日19:00 NPT）：19病院で344人、第17号から変化なし（退院290、治療中18、転送32、治療中死亡4人＝死者数に計上済み）。別枠で、各治安機関による治療実績は10,041人（第17号の9,984から増加）で、病院の集計とはなお照合されていない。見出し数値は最後に整合が取れた第19号の7,474で据え置き、NDRRMAの照合待ち。 NDRRMA状況報告第30号（ネパール語版、9月20日19:00 NPT）。病院集計のみの系列（更新を止めている広義の見出し値7,474人とは別系列）は19施設で計440人となり、第18号の344人から増加（退院・治療中・転送の内訳は今回の要約ページには記載なし）。別途、各種治安機関経由の治療者数は10,163人（第18号の10,041人から増加）で、病院集計とは依然未突合。同報告は別途、報告時点で5施設・計15人が治療中としている。 NDRRMA状況報告第31号（ネパール語版、9月21日19:00 NPT）：保健施設に関する記述は再び「19施設で344人治療、12人治療中、4人が治療中に死亡」となっており、第30号の440人という数値からの継続ではなく第18号の文言と一致する。両者は整合せず、原文のまま併記する。治安機関経由の治療者数はこの号の要約には記載なし。</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28 / 74</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被害状況（12/33）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捜索・救助</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これまでに11,993人を救助（NDRRMA状況報告第11号、9月1日18:00 NPT）。うちヘリコプター空輸4,364人（外国人273人、ネパール人4,091人）、総飛行回数610回（当日84回、うち民間29回）。9月1日13:00締め（OCHA経由）の11,814人、8月31日締めの10,451人から増加。政府は治安要員21,314人を動員（ネパール軍9,119人、ネパール警察7,912人、武装警察隊4,203人）。指揮所は稼働を継続し、保健・通信・道路・電力復旧を担当する15の分野別調整チームが活動。燃料在庫はディーゼル35,000リットル、ガソリン15,000リットル、航空燃料9,000リットル。IOM状況報告第3号（9月3日時点）は救助累計12,038人（外国人583人を含む）、治安要員21,402人超を動員としており、NDRRMAの9月1日締めからわずかに増加しているが、IOMはNDRRMAが示すヘリコプター空輸の内訳までは示していない。 NDRRMAの9月8日18:00フラッシュアップデートと状況報告第18号（19:00）は、累計救出13,583人（ネパール陸軍ヘリの累計飛行1,157回〈9月7日まで〉に加え当日はネパール陸軍・民間ヘリで112回、カトマンズ発民間便129回、武装警察便210回を含む）、動員治安要員21,146人（ネパール警察7,912人、ネパール陸軍9,031人、武装警察4,203人）とする。9月1日時点の21,314人（ネパール陸軍9,119人）からわずかに減っており、理由は示されていない。 NDRRMA状況報告第19号（9月9日19:00）は累計救出13,646人（63人増）、当日のヘリコプター便84回・武装警察便258回とする。動員治安要員は21,185人（ネパール陸軍9,007人、ネパール警察7,975人、武装警察4,203人）。 第22号（9月12日）は累計救出13,728人（+82）、総飛行1,482回。水力発電6か所で捜索継続、ラスワガディのトンネル内で遺体1体発見。 第23号（9月13日19:00）は累計救出13,728人で横ばい。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NDRRMA状況報告第18号、2026年9月19日19:00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29 / 74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被害状況（13/33）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捜索・救助（続き）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ネパール陸軍のヘリコプター累計飛行1,516回（当日34回）、別途武装警察の飛行320回。今回は水力発電6か所での新たな発見なし：ラスワガディではネパール・オーストラリアDART合同チームが捜索を終え帰還（発見なし）、アッパートリシュリ1（オーディット3トンネル）は約200メートル地点まで捜索（発見なし）、トリシュリ3Bは掘削が河床水位に近い約651メートル深に達したが発電所建屋の構造物は未発見、ランタン・チリメ・トリシュリ3Aは作業継続中。NDRRMAはまた、捜索救助資材調達のための追加予算措置（ネパール陸軍にNPR1億、ネパール警察・武装警察に各NPR6,000万）を報告している。第13号（英語版）／第24号（ネパール語版）（9月14日19:00）：救助13,737人（+9）。ネパール陸軍ヘリの累計飛行1,531回（当日15回）、武装警察の飛行320回（横ばい）。DNA検体は計3,139件（遺体由来1,286件、遺族由来1,853件）採取、うちネパール警察中央法科学研究所へ1,661件、国立法科学研究所へ1,496件を送付。インド・韓国・シンガポール・中国・米国の法医学チームが血液検体1,205件・骨/歯検体202件の検査を開始。水力発電6か所では今回新たな遺体発見なし：ラスワガディではネパール・オーストラリア合同DARTチームが発電所建屋・変圧器室・制御室の捜索を完了、ランタンではネパール陸軍・中国DARTチームがトンネル内約170mを熱源ドローンで捜索、チリメは瓦礫撤去が約90m地点、アッパートリシュリ1のオーディット1は200m地点まで捜索、トリシュリ3Aは新たな地滑りでトンネル入口が閉塞し手作業で除去中、トリシュリ3Bは掘削が河床水位（653m）に近い約651m地点に達したが発電所・居住区の建屋は未発見。 第14号（9月15日19:00）：累計救出13,742人（第13号の13,737人から+5）。</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30 / 74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被害状況（14/33）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捜索・救助（続き）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ネパール陸軍のヘリコプター累計飛行1,561回（当日30回）、武装警察便320回（第13号から横ばい）。チリメでは250メートルのトンネルのうち150メートルの捜索が完了し、うち80メートルで瓦礫の除去も完了。トリシュリ3Bでは河川水面から約2メートル下で事業事務所建屋の基礎と発電所建屋のものと見られる柱の一部を確認、アディット1は476メートル、アディット2は2.7キロメートルまで開通。今回、水力発電6か所いずれでも新たな遺体発見の報告はなかった。 第15号（9月16日19:00）：13,742人（第14号から横ばい）。当日のヘリ運航42便（ネパール陸軍による運航は累計1,603便、武装警察320便、いずれも横ばい）。避難拠点は29か所に減少（ヌワコット1,185人、ラスワ817人、ダディン94人）。 第16号（9月17日19:00）：13,756人（+14）。当日のヘリ運航31便（ネパール陸軍累計1,634便、武装警察320便、横ばい）。別途、空路による救出のみを対象とした数値として4,191人（ネパール国民3,908人、外国人283人、ヘリ運航1,731便）が今回新たに示されたが、これは従来内訳のなかった狭義の空路救出数であり、累計13,756人とは突合されていない。避難拠点はさらに27か所に減少（ヌワコット832人、ラスワ817人、ダディン94人、計1,743人）。チリメ水力では250mトンネルを貫通し制御室への到達後、遺体5体を回収。アッパー・トリスリ1では遺体5体がトンネル内に残り、切断機材の到着待ち。第17号（9月18日19:00）：13,756人で第16号から横ばい。当日のヘリ運航17便（ネパール陸軍累計1,651便）、武装警察便320便（横ばい）。別途、空路救出のみの狭義の数値はやや増えて4,195人（ネパール国民3,912人、外国人283人、ヘリ運航1,797便）となったが、累計13,756人とは依然未突合。</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31 / 74</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被害状況（15/33）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捜索・救助（続き）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避難拠点は23か所へ大きく減少（計963人：ヌワコット611人、ラスワ231人、ダディン121人）。現地調査の結果、ラスワ郡治安委員会とプロジェクト管理者は、ランタン水力・チリメ水力の両プロジェクトで捜索救助活動をこれ以上必要としないと判断した。アッパー・トリスリ1のハクベシ・アディット3では遺体13体を回収（当初6体は鉄筋メッシュに絡まった状態で発見、その後さらに7体）。トンネル内の泥の下に埋もれているとみられる約20体の捜索は継続中。アディット3からアディット1への通路は1,200メートルまで開通し、5人編成の別チームがアディット1内を200メートル捜索したが発見はなかった。捜索救助には計8,751人が投入されており、動員治安要員は全体で20,929人。トリブバン大学教育病院に保管されていた身元不明遺体50体は、9月18日12時40分、カトマンズのゴカルネシュワル7区ダクシンドカ近郊の公共の場所で弔われた。第18号（9月19日19:00）：累計救助13,784人（第17号の13,756から+28）。ネパール陸軍のヘリコプター飛行は累計1,692回（当日41回）、別途APF-Nepalの飛行が320回（変化なし）。全機関を合算した累計ヘリ飛行回数の表では1,838回。治安要員の動員は20,935人（第17号の20,929から増）。避難収容施設は24か所・収容者1,342人（ラスワ794、ヌワコット427、ダディン121）に増加（第17号は23か所・963人）。DNA検体採取は遺体由来1,286件（変化なし）、遺族由来1,991件（第17号から増加）。追加の現地確認の結果、チリメ及びアッパー・トリシュリ1（ハクベシのアディット3トンネルを除く）でも捜索・救助活動は不要と判断された。アディット3では鉄筋メッシュ構造物からさらに6体を回収し、切断作業が続いている。同トンネルは約2,000m区間の作業が完了し、これまでに計31体を回収、うち13体をトリシュリへ搬送予定。</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32 / 74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被害状況（16/33）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捜索・救助（続き）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 状況報告第30号（ネパール語版、9月20日19:00）。累計救出13,784人、第18号から横ばい。DNA検体採取は遺体1,286件（横ばい）、遺族1,997件（第18号の1,991件から+6）。治安要員の動員は20,929人で、第18号の20,935人からわずかに減少。ホールディングセンターの避難者数は1,231人・20か所へ減少（ラスワ786人、ヌワコット324人、ダディン121人）、第18号の1,342人・24か所から減少し、ホールディングセンターからの退去が引き続き進んでいる。これまで展開していた外国救助隊6か国（中国・インド・韓国・UAE・マレーシア・オーストラリア、計170人）は全て帰国済みで、最後の帰国（中国隊・インド隊、および韓国の第2隊）は9月17日（アショージ1日）であった。アッパー・トリスリ1のハクベシ・アディット3では鉄材切断作業が継続中で、約2,000m区間で計31体を回収、うち13体はトリシュリへ搬送予定。 NDRRMA状況報告第31号（9月21日19:00 NPT）：ラスワガリ、ランタン、トリスリ3A・3Bでの捜索救助は当面終了（新たな発見なし）。チリメトンネルのがれき撤去は継続中（遺体5体を新たに収容）。上部トリスリ1・アディット3の収容遺体数は31体で変化なし。OCHA「ラスワ洪水状況報告第9号」（9月22日時点、9月24日投稿）は「NDRRMA、9月23日19:00」として生存救出13,795人（第31号の13,784人から+11）を引用している。追加で救出された11人の詳細（場所・経緯）は、この二次引用には示さ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33 / 74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被害状況（17/33）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災害被害・ニーズ迅速評価（RDNA）— 暫定値</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NDRRMAのRDNA（災害被害・ニーズ迅速評価）暫定値が状況報告第22号（9月12日）で公表された。物的被害・損失総額NPR 4,082.9億（USD 26億9,533万）、復旧・復興必要額NPR 7,233.2億（USD 47億7,499万）。分野別：インフラ―被害USD 12億5,458万、復旧必要額USD 31億2,630万（最大。うちエネルギー分野だけで被害USD 9億9,713万、復旧USD 25億7,871万）。生産分野―被害USD 9億9,270万、復旧USD 3億3,519万。社会分野―被害USD 4億4,805万、復旧USD 6億8,359万。分野横断―復旧USD 3億4,244万。 第23号（9月13日）は、政府が初期被害・損失評価を完了し、詳細な災害後ニーズ評価（PDNA）のプロセスが現在進行中であり、必要な財源を確保したうえで復旧・復興事業を迅速に進めるとしている。PDNAの具体的な数値はまだ公表されていない。 NDRRMAはSitRep第16号と同日（9月17日、NDRRMAサイトに掲載）、RDNA報告書の完全版を公表した（表紙記載は2026年9月、集計締めは9月3日、9月10日に査読・確定）。総額は状況報告第22号／第23号で既報の数値と完全に一致する―総被害・損失額USD 26億9,533万（被害USD 18億1,201万＋損失USD 8億8,332万、NPR 4,082.891億）、復旧・復興必要額USD 47億7,499万（NPR 7,233.152億、うち6か月以内の早期復旧はUSD 5,766万）。これまで未記載だった分野別内訳として、インフラのうちエネルギー・水力単独で被害USD 9億9,713万・復旧必要額USD 25億7,871万（単一項目で最大）、生産分野のうち経済活動・生業で損失USD 9億6,513万。発生機構は、ラスワガディ国境地点の約20km上流、レンデコーラ上流域での氷・岩の崩落が土石流を発生させたとされ、デブガート水文観測所（ナラヤニ川）でのピーク流量は約5,850m3/秒、8月26日14:10〜18:00の総流量は約5,740万m3（うち基底流量を上回る分が約1,996万m3）と推定。</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NDRRMA「災害被害・ニーズ迅速評価（RDNA）ラスワ・ボテコシ洪水2026」（完全版、2026年9月17日掲載）</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34 / 74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被害状況（18/33）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災害被害・ニーズ迅速評価（RDNA）— 暫定値（続き）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これは本レポートが既に採用している「土石流（土砂崩落起源）」という発生機構を裏づけるものであり、GLOF（氷河湖決壊洪水）ではない。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被害が最も大きい4郡（ラスワ、ヌワコット、ダディン、ゴルカ）の13市町村が最も影響を受けたと特定され、いくつかは災害危機区域に指定される見込み。食料安全保障の関係機関は、ラスワ・ヌワコット両郡で少なくとも20,000世帯が緊急の食料支援を要する可能性があるとしている（ダディン、ゴルカ、チトワン、タナフンでも影響が報告されている）。約18,000世帯・50,000人超が緊急の水・衛生支援を必要とする。栄養分野の関係機関は、子ども約17,000人、妊産婦・授乳婦1,500人、思春期の若者9,000人が緊急の栄養支援を要すると推計している。別途、WFPの9月17日付ラスワ洪水対応状況報告は、政府のRapid Damage and Needs Assessment（迅速被害・ニーズ評価）を引用し、より新しい・異なる規模の被災者推計を示している：被災者約160万人、住宅損壊7,570棟、復旧・復興必要額USD 53億（インフラ分野が全体の4分の3を占める）。これは上記の郡別の食料・水衛生・栄養の数値（時期の早い、より限定的なFlash Updateによる）とは突合されていない。UNICEF（9月15日）は、推計17,000人の子どもが心理社会的支援を緊急に必要としており、541人の保護者不在・separated児童が高いリスクにあると報告。うち18人がこれまでに家族との再統合を果たし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国連 Flash Update #3（8月28日）／WFP「ラスワ洪水対応状況報告」（9月17日）／UNICEF（9月15日）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35 / 74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被害状況（19/33）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被災者数（UNICEF、5郡集計）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推計65,000人が被災、うち子ども22,100人。ラスワ、ヌワコット、ダディン、ゴルカ、タナフンの5郡（UNICEFネパール人道状況報告第1号、8月31日）。上記8月28日時点の数値（3郡・子ども約17,000人）から拡大。医療施設6か所、学校少なくとも19校が損壊・全壊と報告された。これはUNICEF独自の集計であり、NDRRMAやOCHAの被災者数（基準・時点が異なる）とは突合さ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UNICEFネパール人道状況報告第1号（2026年8月31日）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36 / 74</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被害状況（20/33）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避難・要支援者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避難者数はなお暫定で、複数の未突合の集計が並存する。避難所（ホールディングセンター）系：ヌワコット5か所で1,000人超（8月28日）。NDRRMA第11号は27か所・3,453人（ヌワコット2,466、ラスワ398、ダディン260、カトマンズ329、9月1日18:00）。OCHA「避難拠点」系：27か所・3,458人、ヌワコット・ラスワ中心（Flash Update #5、9月1日）、34か所・3,844人、ヌワコット・ラスワ・ダディン・カトマンズ（状況報告第6号、9月5日）。9月1日時点のアクセス課題：タルケシュワル（ヌワコット）一部未支援、アマチョディンモ（ラスワ）全域道路不通、ダディン4村で安全な水が不足、橋41本流失。IOM DTM世帯系：被災4,288世帯、うち避難2,886世帯（累計）、ヌワコット限定1,897世帯（第3号、9月3日）。NDRRMAの9月8日18:00フラッシュアップデートは37か所のホールディングセンターに3,628人（ラスワ733人、ヌワコット2,699人、ダディン196人）、同19:00の状況報告第18号は34か所に3,328人（ラスワ634人、ヌワコット2,694人、ダディン内訳なし）とし、両者は未調整。IOMのDTM基礎サイトプロファイル調査（8月31日〜9月6日、公表9月8日）は別途、カトマンズ・ダディン・ヌワコット・ラスワの37サイトで1,237世帯（3,888人）の避難を確認しており、これは調査時点のサイト単位の人数で、上記各数値とは未調整。 NDRRMA状況報告第19号（9月9日19:00）は34か所のホールディングセンターに3,395人（ラスワ9か所・775人、ヌワコット25か所・2,620人。ダディンの内訳はここにもなし）とする。別途、児童権利国家評議会（NCRC）の緊急調査により、30か所のホールディングセンターで親を失った子ども102人を確認、離散した子ども439人の追跡・家族再統合の手続きが進行中、保護者と共に避難所にいる子どもは692人と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 状況報告第31号（ネパール語版、2026年9月21日19:00 NPT／英語版は9月22日付で公表、最新）。それ以前のNDRRMA／OCHA／UNICEF／国連各報告は上記の数値推移本文中に出典として記載</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37 / 74</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被害状況（21/33）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避難・要支援者（続き）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 NDRRMA状況報告第23号（9月13日19:00）は33か所のホールディングセンターに2,532人（ヌワコット1,613人、ラスワ825人、ダディン94人）とし、第19号の3,395人・34か所から減少している。第23号では避難所別の内訳は示されていないが、この減少は訂正ではなく避難所からの退去・他の住まいへの移行によるものとみられる。別途、第23号は、8月25日（暦法上は2083年ブハドラ25日、9月10日）の閣議決定により、ラスワ・ヌワコット・ダディン・タナフ・ゴルカの5郡15地方自治体で住家が完全に破壊され居住不能となった世帯に対し、住まいと生計のための緊急現金給付を行うことを決定したと報告している：4人までの世帯には月額NPR15,000、4人を超える世帯には超過1人につき月額NPR2,000を加算し、代替住宅が整うまで最長6か月間支給する。この現金給付は、ホールディングセンターに滞在せず自ら仮住まいを手配することを希望する被災世帯にのみ適用され、これを希望しない世帯には恒久的な再建までの間、政府による仮設住宅の提供という選択肢も用意されている。NDRRMAは、この決定の実施のため関係する郡行政事務所へ既に通知済みとしている。NDRRMA状況報告第13号（英語版）／第24号（ネパール語版）（9月14日19:00）：33か所のホールディングセンターに2,418人（ヌワコット1,499人・22か所〈1,613人から減少〉、ラスワ825人・9か所〈横ばい〉、ダディン94人・2か所〈横ばい〉）。第23号の2,532人から114人減少しており、避難所からの継続的な退去傾向と整合する。 NDRRMA状況報告第14号（9月15日19:00 NPT）：30か所のホールディングセンターに2,155人（ラスワ825人・9か所〈横ばい〉、ヌワコット1,236人・19か所〈1,499人から減少〉、ダディン94人・2か所〈横ばい〉）で、第13号／第24号の2,418人から263人減少。</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38 / 74</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被害状況（22/33）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避難・要支援者（続き）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第23号で発表された現金給付制度のもとでの避難所からの継続的な退去傾向と整合する。UNICEFネパール人道状況報告第4号（9月16日時点、公表9月21日）は別途、3郡29か所のホールディングセンターに避難者2,096人としており、NDRRMAの系列に近いが未調整。 NDRRMA状況報告第18号（9月19日19:00 NPT）：24か所のホールディングセンターに1,342人（ラスワ794人、ヌワコット427人、ダディン121人）で、第17号の23か所963人から増加（この系列で唯一の増加）。 NDRRMA状況報告第30号（ネパール語版、9月20日19:00 NPT）：20か所のホールディングセンターに1,231人（ラスワ786人、ヌワコット324人、ダディン121人）で、第18号の24か所1,342人から減少。 NDRRMA状況報告第31号（ネパール語版、9月21日19:00 NPT。英語版も9月22日付で公表されているが、ファイル名はSitRep_ENG_20、ページ見出しは「第19号」「第20号」と不統一。数値は第31号と完全一致しており、同一報の英訳であって別の更新ではないと確認できる）：21か所のホールディングセンターに1,215人（ラスワ788人、ヌワコット306人、ダディン121人）で、第30号の20か所1,231人から減少。現金給付制度のもとでの避難所からの継続的な退去傾向と整合する。 更新（10月1日）：ラスワ・ヌワコット・ダディンの21か所の避難所に1,109人が滞在（OCHA／国連常駐調整官事務所 状況報告第10号、9月29日）。</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39 / 74</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被害状況（23/33）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人道アピール（資金）</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人道country teamによる「ネパール：ラスワ洪水 フラッシュアピール」（OCHA／国連ネパール常駐調整官事務所、9月4日）は、6郡（ラスワ、ヌワコット、ダディン、チトワン、ゴルカ、タナフ）17市町村の84,270人（19,284世帯）を対象に、2026年末までの支援として4,960万米ドルを要請している。10分野にわたる資金需要のうち約4分の3を占める上位5分野は、食料安全保障（794万ドル）、水・衛生（790万ドル）、保健（760万ドル）、ロジスティクス・緊急通信（733万ドル）、シェルター（710万ドル）。同アピールは政府の8月27日付「公式災害救援アピール」を補完するものであり、復旧計画ではなく期限を区切った人道対応で、復旧・復興のニーズは「災害後ニーズ評価（PDNA）」で扱われる。アピールに先立ち、被害の大きい郡での当面の対応を維持するためCERF拠出は250万米ドルへ再調整され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OCHA／国連ネパール常駐調整官事務所「ネパール：ラスワ洪水 フラッシュアピール」（9月4日）／「ラスワ洪水状況報告第6号」（9月5日）で確認</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水力発電</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約748MWの水力発電設備が影響を受けた（内訳は稼働中354MW・建設中394MW。ネパール電力庁の暫定値）。ラスワガディ、チリメ、トリシュリ3Aが損壊と報告されている。220kVトリシュリ3Bハブ変電所は全壊し、複数の送電線も途絶したため、影響は浸水した回廊の外へ及んで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ネパール電力庁（IRDR 8月28日経由）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金融機関・税関</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商業銀行9支店が流失し、職員26人の安否が不明。中国国境のティムレにあるラスワ税関では職員15人と連絡が取れていない。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状況概観（8月27日）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40 / 74</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被害状況（24/33）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ライフライン</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道路・橋梁・水道・通信網が大きく損壊し、被災地の多くが到達困難となって支援の搬入を妨げている。医療施設少なくとも4か所が甚大な被害。通信鉄塔が失われており、安否不明者の一部は連絡が取れないだけの可能性が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UNICEF（8月27日）／状況概観</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衛星で捉えた被災範囲</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ラスワ郡では解析対象228km2のうち22km2が出水・土石流・岩屑流の影響を受け、解析域の居住人口19,940人のうち1,920人が被災域に曝露した。自治体別ではゴサインクンダ村18km2・1,160人、ウッタルガヤ村3km2・670人、カリカ村1km2・60人、アーマチョディンモ村1km2・30人。図には、チベット自治区内のレンデ川上流（ラスワガディの上流側）に「氷雪崩の推定発生地点」が示されている。暫定解析であり現地検証は未了。ヌワコット郡については別図が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UNOSAT・UNITAR（8月27日公表。Sentinel-2 8月27日／PlanetScope 8月26日）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衛星解析による被災範囲（UNOSAT）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解析対象面積 約350km2 のうち、約37km2 が出水の影響を受けたと推定。解析範囲内の建物 約46,600棟のうち約5,000棟が影響範囲内またはその近傍、道路 約120km が影響を受けた可能性。最も集中しているのはヌワコット郡ビドゥル市の約2,600棟、次いでラスワ郡ゴサインクンダ村の約1,030棟。暫定値であり現地検証は未実施。</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UNOSAT 製品4259（8月26-27日の画像、8月28日公開）</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橋梁・道路</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道路40km、橋梁80超、エネルギー関連施設14件が被災し、到達と対応の妨げとなっている。ボテコシ川・トリシュリ川の回廊の広い区間で集落・交通・エネルギー施設が大きな被害を受け、一部の集落は孤立して空路に頼る状態が続い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WFP 状況報告（8月29日）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41 / 74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被害状況（25/33）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国境交易・税関</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ティムレ・バザール、ティムレ税関、ラスワガディ税関と、周辺の警備施設・商業施設が全壊または大きく損壊し、ネパール・中国間の国境交易と観光が止まった。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IRDR速報解析（8月28日）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被災した郡</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被害が最も大きいのはラスワ、ヌワコット、ダディン、ゴルカの4郡で、13市町村が最も影響を受けたと特定されている。さらに下流のチトワン、カブレパランチョーク、タナフンでも死者が出ている。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NEOC・国連 Flash Update #3（8月28日）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土地・農地</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初期推計で11,000haを超える土地が被災し、うち約2,732haの農地が失われた。輸送路は約45kmが被災。被害はなお確認中である。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国連 Flash Update #3（8月28日）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42 / 74</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被害状況（26/33）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農業・畜産（FAO）</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FAOの暫定評価によると、約1,800haの農地（大半は水田）が被災し、生産損失は約7,700トンに上る。被災11市町村には洪水前、牛・水牛・羊・山羊が計35万頭超、家禽が約160万羽おり、FAOはこれら地域の家畜・家禽の5〜10%が完全に失われたと推計している。養魚池、食料備蓄、農業関連施設も被害を受けた。FAOはネパール政府の対応を、緊急獣医支援などを通じて支援しており、次の作付期までに生産を回復させることが復旧の鍵になるとしている。FAO「ラスワ〜ボテコシ洪水 緊急支援の呼びかけ」（9月23日）は、評価完了後のより精緻な数値を示している。直接被災者は約32,960人で、ラスワ・ヌワコット・ダディン・ゴルカの各郡に集中。作物被害は約1,806ha（水稲1,669ha、野菜137ha）、生産損失は約7,686トン。家畜損失は牛・水牛9,000頭超、ヤギ・羊26,000頭、家禽214,000羽超（このほか豚等）。水産分野では鯉養殖池24か所、養殖用水路51か所、研究用水路30か所、孵化場2か所、貯水池6か所が被害を受けた。これらの数値は、上記の初期概算（約1,800ha・約7,700トン・家畜の5〜10%喪失）を更新するもので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FAO（2026年9月10日、ベス・ベクドル事務局次長インタビュー）</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43 / 74</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被害状況（27/33）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食料安全保障見通し（FEWS NET）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FEWS NET「食料安全保障見通し更新」（9月10日）は、ラスワ郡の被害最大地域で、食料支援が継続することを前提に、少なくとも2027年1月まで「ストレス（IPC フェーズ2）」相当の状況が続くと予測し、支援を受けられない一部世帯は「危機（IPC フェーズ3）」相当に陥る可能性があるとしている。観光・交易・運輸・水力発電関連の収入への長期的な打撃、幹線道路や対中国国境交易インフラの被害継続により、ラスワ郡の食料アクセスは見通し期間を通じて制約されると見込む。ネパール全体では、9月末〜10月にトウモロコシ・コメの収穫が入り始めることで「最小限（IPCフェーズ1）」へ改善が進むと見込まれる一方、主食価格の高止まりや局地的な洪水・地滑り被害により、一部の貧困世帯では全国的に（本災害固有ではない、既存の傾向として）アクセス制約が続くと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FEWS NET「ネパール食料安全保障見通し更新」（2026年9月10日）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44 / 74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被害状況（28/33）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学校</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被災した河岸から500m以内に69校・在籍児童生徒約19,000人の学校が所在し、少なくとも23校の復旧が必要（国連 Flash Update #3、8月28日）。NDRRMA状況報告第13号（英語版）／第24号（ネパール語版）（9月14日19:00）は、8月28日の国連集計とは必ずしも同一の集計ではないより新しく詳細な数値を示している：教育施設18か所で物的被害を確認（うち全損13・一部損壊5）、学校建物45棟・教室268室が全壊。洪水後、教員24人・児童生徒500人がなお行方不明と報告されている。9,430人の学習に影響が生じており、うち1,372人が避難中。25校が緊急避難所として使用中。必要な仮設学習センター68か所のうち13か所を設置済み。ダディン郡の被災教育施設6か所は全て授業を再開した。UNICEF（9月23日、発災1か月時点）は、ダディン・ヌワコット・ラスワの3郡で62校・学習拠点、14,000人超の子どもの学びに支障が生じているとし、教育関係者・児童生徒あわせて約440人が死亡・行方不明（うち児童414人）と報告している。これは教育セクター限定の集計であり、上記NDRRMAの全国死者・行方不明集計には合算しない。UNICEFはこれまでに仮設学習センター48か所を支援し、1,400人超の子どもが学びに復帰し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国連 Flash Update #3（8月28日）／NDRRMA 状況報告第13号（英語版）／第24号（ネパール語版）、9月14日19:00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45 / 74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被害状況（29/33）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上流の湖 — 継続する洪水リスク</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DRRMAは、レンデ川の閉塞によって上流に推定0.11km2の湖が形成されたことを受け、洪水リスクが継続しているとして警告している。当局は下流の住民と対応要員に高度な警戒の維持を求めている。UNOSAT製品4260（CARTOSAT-3画像、8月28日）は、ネパール・中国国境付近に新たに形成された2つの堰止め湖を確認した。1つはラスワガディ友好橋の東約11km、チュスンド・ツァンポ川沿い（土石流/岩屑流の推定経路上）で約12ha、もう1つは氷・岩の雪崩の推定発生地点の西約2kmで約19ha。UNOSATはこれを暫定値であり現地検証は未実施としており、いずれかがNDRRMAが8月29日に報告した0.11km2の湖と対応するかは確認でき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NDRRMA（WFP 状況報告 8月29日経由）／UNOSAT 製品4260（8月28日の画像、8月27日公開）</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通信</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ネパールテレコムは、被災した120か所のうち80か所が復旧し、ラスワ郡・ヌワコット郡の複数の被災地で携帯サービスが再開したとしている（8月29日）。9月1日18:00時点でNDRRMAは、被災回廊内のほぼ全ての基地局が復旧したと報告：ネパールテレコムは被害110基地局すべて復旧、エヌセルは被害78基地局中75基地局が復旧。</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ネパールテレコム（WFP 8月29日経由）／NDRRMA 状況報告第11号（9月1日18:00 NPT）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46 / 74</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被害状況（30/33）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堆積物量（UNDP RAPIDA 暫定推計）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ボテコシ川〜トリシュリ川流域の解析対象地域内で、堆積物は少なくとも220万トン（UNDPのRAPIDA暫定推計。コペルニクスEMS／SERTITの衛星判読による建物被害評価と、現地に即した工学的推計を組み合わせたもの）。被害の把握が進むにつれ増加する見込み。うち建物由来の堆積物は約556,200トンで、衛星判読による建物2,359棟の被害評価に基づく。同発表が引用する政府集計では、6郡17市町村で84,270人が被災し、その約4人に3人は地震前から生活基盤・基礎サービス・生活条件で困難を抱えていた地域に住む。水力発電所11か所・太陽光発電所1か所（計431.1MW）が停止したほか、建設中の水力発電事業15件（計画470MW）も被害を受けた。同じ84,270人・17市町村・6郡という集計（同じくNDRRMAデータに基づくとされる）は、人道country team による「ネパール：ラスワ洪水 フラッシュアピール」（OCHA／国連ネパール常駐調整官事務所、9月4日）にも引用されており、これに加えて約19,284世帯が被災したと推計し、被災者84,270人全員を支援対象とするとしている。同アピールは、これらが曝露モデルによる推計であり、政府・分野別調査との突合を経て精緻化される途上にあること、つまり「どこを見るべきか」を示すもので確認済みの支援ニーズそのものではないことを明記している。IOM状況報告第3号（9月3日）は別途、ヌワコット郡のみで1,897世帯が避難、1,267棟が全壊、1,253棟が半壊としており（全壊・半壊の棟数はNDRRMAの9月1日時点の数値と一致）、保健関係機関が状況を確認中の避難施設に約5,384人が滞在していると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UNDP（2026年9月1日、RAPIDA暫定評価）</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47 / 74</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被害状況（31/33）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行方不明の観光客（観光局集計）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観光局（Department of Tourism）は、8月26日の洪水以降、34か国の外国人観光客587人とネパール人188人（現地ガイド・同行スタッフ、および巡礼中のネパール人を含む）、計775人が行方不明としている。外国人の内訳は男性256人・女性329人・性別不明2人。国別ではインド184人が最多で、マレーシア55人、ウクライナ54人、米国67人、ラトビア33人、オーストラリア33人ほか28か国に分散する。行方不明者の多くはカイラス山巡礼またはジャナイ・プールニマ祭のため訪れていた。これまでに外国人観光客307人（男性254人・女性53人）が救助され、連絡不通だった7人（男性2人・女性4人・その他1人）はその後連絡が取れた。この集計は観光局独自のものであり、NDRRMAの全国行方不明者数（9月6日11:00締め4,996人）とは突合さ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観光局（The Rising Nepal〈RSS配信〉、9月7日報道）</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水力発電施設トンネル内の取り残し（推計）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ネパール陸軍は、洪水で被災した水力発電事業のトンネル内に最大121人が取り残されている可能性があると推計し、突破口が開くか政府が別の判断を下すまで坑内の捜索・救助を続けるとしている。9月7日、NDRRMAで開かれた記者会見でスバス・ジャン・タパ准将が発表した。この推計はNDRRMAの全国行方不明者数とは突合されていない。 NDRRMA状況報告第18号（9月8日19:00）は、ボテコシ・トリシュリ回廊沿いの6事業（ラスワガディ、ラングタン、チリメ、韓国災害救援隊と合同のアッパートリシュリ1・マイルンコーラ、トリシュリ3A/3B）で捜索が続くとし、これまで発見はないとしている。詳細は時系列を参照。</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ネパール陸軍（NDRRMA記者会見、The Rising Nepal〈RSS配信〉9月7日報道）</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48 / 74</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被害状況（32/33）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到達困難の継続 — ラスワ郡アマチョディンモ村</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アマチョディンモ村（人口7,000人超。アッパートリシュリ1、チリメ、ランタンの各水力発電事業が所在）では少なくとも203人がなお行方不明の名簿に残っており、地元当局はさらに増える可能性があるとしている。同村は発災から11日間、道路・吊り橋・タイン（ケーブル渡し）がすべて損壊して陸路が完全に途絶しており、到達手段はヘリコプターに限られる。住民は食料・塩・食用油が尽きたと訴えており、村長は物資が届かなければ飢饉に近い状況になりかねないと述べ、NGOはヘリのチャーター費用がかさむため支援物資を届けられずにいると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The Kathmandu Post（9月7日、現地取材）</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報道</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中国側の影響（チベット自治区・ギロン）</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CBAS（国際大数据・持続可能な開発目標研究センター）とIRDR中国国家委員会の共同衛星画像解析によると、出水はギロン税関からギロン・ツァンポ川を約4.9km遡って逆流し、逆流域の湛水面積は発災前（8月12日）の約0.27km2から発災後（北京時間8月26日12:48）約0.62km2へと2.3倍に拡大した。氷・岩の雪崩の推定発生地点より下流では、河道が97.2kmの区間で著しく拡幅し、河川水面積は発災前の約6.39km2から発災後約30.99km2へと4.85倍に拡大した。これはネパール側のUNOSAT解析に対応する中国側の解析であり、両者の突合はまだ行わ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CBAS／IRDR中国国家委員会（2026年8月31日公表）</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49 / 74</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被害状況（33/33）</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NDRRMA・ネパール警察・国連機関等の集計。各行に出典と時点を示す。いずれも暫定値。</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被災者数・住家被害（RDNA、IOM経由）</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IOMネパール洪水対応状況報告第5号（9月16日公表、9月15日付）は、人道分野の予備分析として6郡17市町村で84,270人が被災していると推計し、別途、政府主導の災害被害・ニーズ迅速評価（RDNA、NDRRMA公表）が住宅約7,570棟に被害があり、約32,963人に影響が及んでいるとしていると引用している。これらはNDRRMA自身の財務面のRDNA総額（被害・損失NPR 4,082.9億、状況報告第22号）とは別の数値であり、上記に既に併記した各種の被災者数（国連Flash Update #3の世帯推計、UNICEFの5郡65,000人）とも突合されていない。同報告はまた、調査対象拠点の73％で衛生設備が不十分、46％で貯水能力が不十分、51％で児童保護サービス・紹介経路がなく、54％で女性・女児のための安全で私的な空間がないと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IOMネパール洪水対応状況報告第5号（2026年9月15日付、9月16日公表）、政府主導RDNAを引用</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50 / 74</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対応・支援（国内）</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ネパール赤十字社が飲料水、ターポリン、毛布、応急手当用品の配布を開始した。ただし道路と橋の損壊により、ラスワ郡の被害の大きい集落の多くは依然として到達困難である。</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51 / 74</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対応・支援（国際）（1/2）</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ADRCはNDRRMAからの緊急衛星画像要請を受け、発災当日にセンチネルアジアと国際災害チャーターの双方を発動した。チャーター側の記載では要請者は「水文気象局（DHM）に代わってADRC」で、Activation #1052、8月26日。センチネルアジアの緊急観測要請番号は SA-00658 で、その記録には国際災害チャーターへのエスカレーションと GLIDE番号 FF-2026-000162-NPL が明記されている。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IFRCは約100万スイスフランを緊急拠出したのち、24か月・2,500万スイスフランの緊急アピールを開始した。住まい、現金給付、保健、生活物資、水・衛生、心理社会的支援を対象とする。 9月8日、IFRCはアクセスが依然として最大の制約であるとし、ヌワコットからラスワ・ドゥンチェまでの所要時間は通常約3時間のところ、道路被害により9時間以上かかることもあるとした。NRCSとともに、ヌワコットで貯水タンクとポンプを設置して約2,000人への安全な飲料水供給を回復させ、1日最大100人を診察できる移動式プライマリーヘルスケアクリニックを展開したほか、給水車による水の運搬と、被災した水道網の長期的な修復に向けた調査を継続しているとし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UNICEFは緊急対応と早期復旧のため1,720万米ドルを要請し、トリブバン国際空港の人道支援集積拠点に備蓄していた衛生キットをラスワ・ヌワコット・ダディンへ搬送している。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中国は救援資金の拠出を表明し、インドは人道支援物資を送っている。インド・ビハール州当局は予防措置としてガンダック川のバルミキナガル堰を開放し、下流の10,000〜12,000人の避難に備えた。</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韓国災害救助隊（KDRT）44人（外務省・KOICA・消防庁ほか）を9月1日に軍輸送機で派遣し、捜索・救助を支援。8月27日には国際機関を通じた100万米ドルの人道支援を表明。 9月9日には、緊急用防寒毛布36,000枚・中間用防寒毛布2,320枚（総額1億3,000万ウォン相当）の追加救援物資派遣を発表。物資は9月5日に商業便で既に到着している。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日本政府は9月3日、身元確認支援のため国際緊急援助隊（JDR）専門家チームの派遣を決定。9月17日には追加要請を受け、緊急援助物資としてDNA鑑定機材の供与も決定した。</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パキスタンは、洪水・地滑りの被災者支援のため、ネパールへ救援物資100トンを引き渡した（9月7日）。</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カナダはRCMP連絡官を含む当局者をカトマンズへ派遣済みで、9月10日にはRCMPの遺体身元確認（DVI）専門家2人を追加派遣し、インターポールのDVI基準の下で活動させている。RCMPはインターポール・オタワを通じ、行方不明のカナダ人家族からのDNA検体採取を調整。人道支援として500万カナダドルを拠出し、カナダ赤十字社が管理する緊急備蓄から救援物資18,000点超を提供している。カナダ外務省は、所在・安否が未確認のカナダ人・永住者がネパールおよびチベット自治区に29人いるとしている。</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センチネルアジア 本災害の緊急観測要請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52 / 74</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対応・支援（国際）（2/2）</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日本政府は、ラスワ・ヌワコット・ダディンの洪水被災者への緊急食料支援と、政府主導の対応へのWFPの物流支援継続を目的として、世界食糧計画（WFP）へ緊急無償資金100万米ドルを拠出した（9月23日発表）。WFPによれば、日本を含む donor の支援により、即席の緊急食料に続き、2週間分の現物支援（強化米、レンズ豆、食用油、ヨウ素添加塩）を15,000人超に提供済みで、カトマンズ人道物資中継拠点および新設のヌワコット人道共同事務所・ビドゥール保管施設を通じ政府の物流を支援している。これは上記の日本のJDR専門家チーム派遣・DNA鑑定機材供与とは別の支援であ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セーブ・ザ・チルドレンは、発災から1か月が経過し住まいと生計の見通しが立たない状況が続く中で、人身取引・暴力・搾取・児童婚のリスクが高まっているとして、洪水被災地域における女児の保護対策の強化を訴えた。共同避難所や道端のテント集落の女児からは、安全・プライバシーへの懸念が寄せられているという。同団体は避難先での見守り強化や、人身取引・搾取の発見に向けた警察検問所への支援を行っており、緊急支援は子ども約2,300人を含む7,500人超に到達しているとしている（9月26日発表、9月24日時点の状況を報告）。</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センチネルアジア 本災害の緊急観測要請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53 / 74</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900" b="1" dirty="0">
                <a:solidFill>
                  <a:srgbClr val="1F3864"/>
                </a:solidFill>
                <a:latin typeface="Meiryo" pitchFamily="34" charset="0"/>
                <a:ea typeface="Meiryo" pitchFamily="34" charset="-122"/>
                <a:cs typeface="Meiryo" pitchFamily="34" charset="-120"/>
              </a:rPr>
              <a:t>国際メカニズムの発動ページ（要請：ネパール水文気象局／発動：ADRC経由）</a:t>
            </a:r>
            <a:endParaRPr lang="en-US" sz="19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W5XXyw/generator/images/FF-2026-000162-NPL/sentinel_asia.png">    </p:cNvPr>
          <p:cNvPicPr>
            <a:picLocks noChangeAspect="1"/>
          </p:cNvPicPr>
          <p:nvPr/>
        </p:nvPicPr>
        <p:blipFill>
          <a:blip r:embed="rId2"/>
          <a:stretch>
            <a:fillRect/>
          </a:stretch>
        </p:blipFill>
        <p:spPr>
          <a:xfrm>
            <a:off x="365760" y="1273053"/>
            <a:ext cx="5623560" cy="3891270"/>
          </a:xfrm>
          <a:prstGeom prst="rect">
            <a:avLst/>
          </a:prstGeom>
        </p:spPr>
      </p:pic>
      <p:sp>
        <p:nvSpPr>
          <p:cNvPr id="5" name="Text 1"/>
          <p:cNvSpPr/>
          <p:nvPr/>
        </p:nvSpPr>
        <p:spPr>
          <a:xfrm>
            <a:off x="36576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センチネルアジア 緊急観測 SA-00658（要請：ネパール水文気象局）</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900" dirty="0"/>
          </a:p>
        </p:txBody>
      </p:sp>
      <p:pic>
        <p:nvPicPr>
          <p:cNvPr id="6" name="Image 2" descr="/tmp/build_event-W5XXyw/generator/images/FF-2026-000162-NPL/disaster_charter.png">    </p:cNvPr>
          <p:cNvPicPr>
            <a:picLocks noChangeAspect="1"/>
          </p:cNvPicPr>
          <p:nvPr/>
        </p:nvPicPr>
        <p:blipFill>
          <a:blip r:embed="rId4"/>
          <a:stretch>
            <a:fillRect/>
          </a:stretch>
        </p:blipFill>
        <p:spPr>
          <a:xfrm>
            <a:off x="6967687" y="1097280"/>
            <a:ext cx="4032586" cy="4242816"/>
          </a:xfrm>
          <a:prstGeom prst="rect">
            <a:avLst/>
          </a:prstGeom>
        </p:spPr>
      </p:pic>
      <p:sp>
        <p:nvSpPr>
          <p:cNvPr id="7" name="Text 2"/>
          <p:cNvSpPr/>
          <p:nvPr/>
        </p:nvSpPr>
        <p:spPr>
          <a:xfrm>
            <a:off x="617220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国際災害チャーター Flood in Nepal（Activation #1052）</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https://disasterscharter.org/activations/flood-in-nepal-activation-1052-</a:t>
            </a:r>
            <a:endParaRPr lang="en-US" sz="900" dirty="0"/>
          </a:p>
        </p:txBody>
      </p:sp>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センチネルアジア 本災害の緊急観測要請 — </a:t>
            </a:r>
            <a:pPr algn="l" indent="0" marL="0">
              <a:buNone/>
            </a:pPr>
            <a:r>
              <a:rPr lang="en-US" sz="10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54 / 74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緊急観測の参加機関とプロダクト（1/2）</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観測またはプロダクトを提供した全機関（各行に出典ティアを表示）。</a:t>
            </a:r>
            <a:endParaRPr lang="en-US" sz="1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機関</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提供内容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状況</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Sentinel Asia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緊急観測要請 20260826-Nepal-Flood。ネパール水文気象局の要請を受け、ADRCが発災当日に発動した。JAXAはALOS-2の緊急観測を計画している。センチネルアジアの記録には国際災害チャーターへのエスカレーション「あり」、GLIDE番号 FF-2026-000162-NPL が明記されている。</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発動（SA-00658）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International Charter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Activation #1052。チャーターの発動ページには要請者が「ネパール・エネルギー水資源灌漑省 水文気象局（DHM）に代わって ADRC」と記載されている。案件管理は Samir Belabbes（UNITAR）。付加価値解析は NRSC、英国地質調査所、ISRO、SERTIT（iCube）、コペルニクス緊急管理サービス、DHM、リュブリャナ大学、ネパール雪氷学会。8月28日時点で3件のプロダクトが公開されている。</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発動 #1052（8/26、14:58 UTC+02:00）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UNOSAT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ラスワ郡の解析対象228km2のうち22km2が被災、解析域の居住人口19,940人のうち1,920人が曝露。図にはチベット自治区内のレンデ川上流の「氷雪崩の推定発生地点」が示され、ティムレの被災前後（WorldView-3 2024年4月19日／Sentinel-2 2026年8月27日）の拡大図が添えられている。</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Maps published 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Rissho University / University of Tokyo</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センチネルアジア参加研究者から、Landsat-9による解析と、光学衛星データによる3次元被害図が提供された。</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Shared 経由 Sentinel Asia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TASA (Taiwan Space Agency)</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2026年4月22日および8月28日のアーカイブ・観測データ。あわせて、Sentinel-2の発災前画像とFORMOSAT-5の発災後画像から作成した付加価値プロダクト（8月12日・28日）。</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8/29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JAXA (via RESTEC)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ALOS-2のアーカイブ・観測画像とRGB合成画像が提供された。観測日は2025年12月19日、2026年1月30日、2026年8月28日。</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センチネルアジア 本災害の緊急観測要請</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国際災害チャーター Activation #1052</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55 / 74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緊急観測の参加機関とプロダクト（2/2）</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観測またはプロダクトを提供した全機関（各行に出典ティアを表示）。</a:t>
            </a:r>
            <a:endParaRPr lang="en-US" sz="1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機関</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提供内容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状況</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GIC-AIT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2026年8月28日・31日に取得されたSentinel-1データと、8月27日に取得されたSentinel-2画像を用いて作成した付加価値プロダクト。</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IWM (Institute of Water Modelling)</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入手可能なPlanet衛星画像を用いて作成した付加価値プロダクト（8月28日）。IWMは8月30日、8月28日までのPlanetScope画像を用いて対象範囲を拡張した2件目のVAPを提供した。</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8/28、extended 8/30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ADRC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8月27日、要請元が発生源の位置を絞り込んだことを受け、ADRCが広域の観測対象範囲（AOI）を見直した。ネパール水文気象局は氷雪崩の座標を北緯28.295727度・東経85.507802度としており、当初のAOIは発生源が分からない段階で設定したものだと説明している。</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AOI revised 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センチネルアジア 本災害の緊急観測要請</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国際災害チャーター Activation #1052</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56 / 74</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所見・注視点</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498348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危険はまだ終わっていない。レンデ川の閉塞により上流に推定0.11km2の湖が形成され、NDRRMAは洪水リスクの継続を警告している。8月26日の出水を起こしたのと同じ経過（閉塞→湛水→急激な決壊）であり、下流の住民と対応要員には高度な警戒の維持が求められている。</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8月28日のUNOSATの解析は、下流のヌワコット郡まで範囲を広げている。影響を受けた建物が最も集中しているのは、出水が始まったラスワ郡ではなくヌワコット郡ビドゥル市である（約2,600棟に対し、ラスワ郡ゴサインクンダ村は約1,030棟）。発災地の郡だけを見ていると、被害の広がりを小さく見積もることになる。</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この出水を説明できる降雨は無い。 降水量と流量の記録に、大雨も局地的な集中豪雨も見当たらないことが、IRDRが上流の斜面崩壊を疑う出発点になった。降雨のしきい値に頼る洪水警報では、この災害は捉えられない。</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天然ダムは下流からは見えなかった。 閉塞していた18〜19時間、西側のマラ川などからの流入が下流の水位を保っていたため、下流の記録には上流で何が起きているかを示すものが現れなかった。</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被害は分野をまたいで連鎖した。 発生源での1つの崩壊が、狭く曝露の大きい山岳回廊を伝わり、集落・国境交易・交通・エネルギー・観光・通信、そして応急対応能力そのものを同時に直撃した。</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要請元が発生源の位置を特定した。8月27日、ネパール水文気象局はPlanetの画像から氷雪崩の座標を北緯28.295727度・東経85.507802度と報告し、当初の観測対象範囲は発生源が分からない段階で設定したものだと説明した。ADRCは同日、広域のAOIを見直している。</a:t>
            </a:r>
            <a:endParaRPr lang="en-US" sz="12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57 / 74</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発生機構と、呼び方が変わった経緯</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本災害は発災直後、氷河湖決壊洪水（GLOF）の疑いとして扱われた。8月28日のIRDR速報解析は、氷・岩・土砂の崩落が川を堰き止め、それが決壊したものと特定している。氷河湖の決壊ではない。 ここでは両方の呼び方を日付とともに残す。当初の呼び方はその時点で得られていた最善の読みであり、隠すべき誤りではない。</a:t>
            </a:r>
            <a:endParaRPr lang="en-US" sz="11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2651760"/>
                <a:gridCol w="6675120"/>
                <a:gridCol w="210312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段階</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発災前</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ランタン地域北部の長期的な環境変化。水の後退、雪氷の状態の変化、氷の荷重の増加。</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氷・岩の崩落</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デディン付近の標高約5,000mで氷・岩・土砂の大量の塊が崩落し、約3,000mまで落下。落下中に砕けて混合する。</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8月25日 </a:t>
                      </a:r>
                      <a:pPr algn="l" indent="0" marL="0">
                        <a:buNone/>
                      </a:pPr>
                      <a:r>
                        <a:rPr lang="en-US" sz="1100" dirty="0">
                          <a:solidFill>
                            <a:srgbClr val="222222"/>
                          </a:solidFill>
                          <a:latin typeface="Meiryo" pitchFamily="34" charset="0"/>
                          <a:ea typeface="Meiryo" pitchFamily="34" charset="-122"/>
                          <a:cs typeface="Meiryo" pitchFamily="34" charset="-120"/>
                        </a:rPr>
                        <a:t>13〜14時</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天然ダムの形成</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崩落した氷・岩・岩屑の塊が河道を塞ぎ、天然のダムを作る。</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8月25日 </a:t>
                      </a:r>
                      <a:pPr algn="l" indent="0" marL="0">
                        <a:buNone/>
                      </a:pPr>
                      <a:r>
                        <a:rPr lang="en-US" sz="1100" dirty="0">
                          <a:solidFill>
                            <a:srgbClr val="222222"/>
                          </a:solidFill>
                          <a:latin typeface="Meiryo" pitchFamily="34" charset="0"/>
                          <a:ea typeface="Meiryo" pitchFamily="34" charset="-122"/>
                          <a:cs typeface="Meiryo" pitchFamily="34" charset="-120"/>
                        </a:rPr>
                        <a:t>午後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湛水</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河川流と氷の融解により18〜19時間にわたり湛水し、ダムへの側圧が高まる。マラ川からの流入が下流の流れを保ち、閉塞を覆い隠す。</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8月25〜26日</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急激な決壊</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側圧の上昇に加え、岩屑の中の氷の融解と土砂の緩み・飽和が重なってダムが決壊。強い地面の振動がM4.4として記録され、爆発音のような音が聞かれた。</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8月26日 </a:t>
                      </a:r>
                      <a:pPr algn="l" indent="0" marL="0">
                        <a:buNone/>
                      </a:pPr>
                      <a:r>
                        <a:rPr lang="en-US" sz="1100" dirty="0">
                          <a:solidFill>
                            <a:srgbClr val="222222"/>
                          </a:solidFill>
                          <a:latin typeface="Meiryo" pitchFamily="34" charset="0"/>
                          <a:ea typeface="Meiryo" pitchFamily="34" charset="-122"/>
                          <a:cs typeface="Meiryo" pitchFamily="34" charset="-120"/>
                        </a:rPr>
                        <a:t>08時35分ごろ</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下流への伝播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ラスワガディ約09時00分、ティムレ約09時15分、ベトラワティ約09時20分。急勾配で狭い回廊が流れを集中させた。さらに下流では谷が広がって流速が落ち、追加の被害は限られた。</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8月26日 </a:t>
                      </a:r>
                      <a:pPr algn="l" indent="0" marL="0">
                        <a:buNone/>
                      </a:pPr>
                      <a:r>
                        <a:rPr lang="en-US" sz="1100" dirty="0">
                          <a:solidFill>
                            <a:srgbClr val="222222"/>
                          </a:solidFill>
                          <a:latin typeface="Meiryo" pitchFamily="34" charset="0"/>
                          <a:ea typeface="Meiryo" pitchFamily="34" charset="-122"/>
                          <a:cs typeface="Meiryo" pitchFamily="34" charset="-120"/>
                        </a:rPr>
                        <a:t>09時〜</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IRDRは、発生源の詳細な機構・決壊の力学・ピーク流量・地震動との関係は今後の調査を要すると明記している。当初の呼び方：DHM・NDRRMA・ADRC・センチネルアジア・JAXA・WFP は発災直後「GLOF」を用い、UNOSATは堆積物を mudflow / rockflow と記述、DG ECHO は ice-rock avalanche and flash flood としていた。GLIDE番号 FF-2026-000162-NPL（Flash Flood）は登録上の分類であり、この変更の影響を受けない。</a:t>
            </a:r>
            <a:endParaRPr lang="en-US" sz="9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900" b="1" dirty="0">
                <a:solidFill>
                  <a:srgbClr val="6A6A6A"/>
                </a:solidFill>
                <a:latin typeface="Meiryo" pitchFamily="34" charset="0"/>
                <a:ea typeface="Meiryo" pitchFamily="34" charset="-122"/>
                <a:cs typeface="Meiryo" pitchFamily="34" charset="-120"/>
              </a:rPr>
              <a:t>出典: </a:t>
            </a:r>
            <a:pPr algn="l" indent="0" marL="0">
              <a:buNone/>
            </a:pPr>
            <a:r>
              <a:rPr lang="en-US" sz="900" dirty="0">
                <a:solidFill>
                  <a:srgbClr val="6A6A6A"/>
                </a:solidFill>
                <a:latin typeface="Meiryo" pitchFamily="34" charset="0"/>
                <a:ea typeface="Meiryo" pitchFamily="34" charset="-122"/>
                <a:cs typeface="Meiryo" pitchFamily="34" charset="-120"/>
              </a:rPr>
              <a:t>IRDR Rapid Analysis Report、8/28 2026 — </a:t>
            </a:r>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https://reliefweb.int/report/nepal/irdr-rapid-analysis-report-scientific-anatomy-26-august-2026-bhotekoshi-flash-flood</a:t>
            </a:r>
            <a:endParaRPr lang="en-US" sz="90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58 / 74</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000" b="1" dirty="0">
                <a:solidFill>
                  <a:srgbClr val="1F3864"/>
                </a:solidFill>
                <a:latin typeface="Meiryo" pitchFamily="34" charset="0"/>
                <a:ea typeface="Meiryo" pitchFamily="34" charset="-122"/>
                <a:cs typeface="Meiryo" pitchFamily="34" charset="-120"/>
              </a:rPr>
              <a:t>UNOSAT 衛星解析による土石流・岩屑流の範囲（ラスワ郡・ヌワコット郡）</a:t>
            </a:r>
            <a:endParaRPr lang="en-US" sz="20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694944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製品番号4259。2026年8月26日・27日の画像解析、8月28日公開（v1）。8月27日のSentinel-2と8月26日のPlanetScopeの画像による。解析対象面積 約350km2 のうち、約37km2 が出水の影響を受けたと推定される。解析範囲内の建物 約46,600棟のうち約5,000棟が影響範囲内またはその近傍にあり、道路 約120km が影響を受けた可能性がある。最も集中しているのはヌワコット郡ビドゥル市の約2,600棟で、次いでラスワ郡ゴサインクンダ村の約1,030棟。氷と岩の雪崩の発生地点と推定される位置（国境の中国側）も図示されている。</a:t>
            </a:r>
            <a:endParaRPr lang="en-US" sz="1150" dirty="0"/>
          </a:p>
        </p:txBody>
      </p:sp>
      <p:pic>
        <p:nvPicPr>
          <p:cNvPr id="5" name="Image 1" descr="/tmp/build_event-W5XXyw/generator/images/FF-2026-000162-NPL/unosat_rasuwa_manual.jpg">    </p:cNvPr>
          <p:cNvPicPr>
            <a:picLocks noChangeAspect="1"/>
          </p:cNvPicPr>
          <p:nvPr/>
        </p:nvPicPr>
        <p:blipFill>
          <a:blip r:embed="rId2"/>
          <a:stretch>
            <a:fillRect/>
          </a:stretch>
        </p:blipFill>
        <p:spPr>
          <a:xfrm>
            <a:off x="8208310" y="1051560"/>
            <a:ext cx="2968659" cy="4105656"/>
          </a:xfrm>
          <a:prstGeom prst="rect">
            <a:avLst/>
          </a:prstGeom>
        </p:spPr>
      </p:pic>
      <p:sp>
        <p:nvSpPr>
          <p:cNvPr id="6" name="Text 2"/>
          <p:cNvSpPr/>
          <p:nvPr/>
        </p:nvSpPr>
        <p:spPr>
          <a:xfrm>
            <a:off x="7589520" y="5175504"/>
            <a:ext cx="420624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UNOSAT 製品4259 — バグマティ州ラスワ郡・ヌワコット郡</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https://unosat.org/products/4259</a:t>
            </a:r>
            <a:endParaRPr lang="en-US" sz="900" dirty="0"/>
          </a:p>
        </p:txBody>
      </p:sp>
      <p:sp>
        <p:nvSpPr>
          <p:cNvPr id="7" name="Text 3"/>
          <p:cNvSpPr/>
          <p:nvPr/>
        </p:nvSpPr>
        <p:spPr>
          <a:xfrm>
            <a:off x="365760" y="5870448"/>
            <a:ext cx="694944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UNOSATは、これは暫定的な解析であり現地での検証は行われていないと明記している。堆積物を mudflow / rockflow と記述しているが、これは図に写っているものの呼び方であり、DHM・NDRRMA・ADRC・センチネルアジア・JAXA・WFP が用いる GLOF という位置づけと矛盾しない。</a:t>
            </a:r>
            <a:endParaRPr lang="en-US" sz="950" dirty="0"/>
          </a:p>
        </p:txBody>
      </p:sp>
      <p:sp>
        <p:nvSpPr>
          <p:cNvPr id="8"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UNOSAT／UNITAR product 4259 — </a:t>
            </a:r>
            <a:pPr algn="l" indent="0" marL="0">
              <a:buNone/>
            </a:pPr>
            <a:r>
              <a:rPr lang="en-US" sz="10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https://unosat.org/products/4259</a:t>
            </a:r>
            <a:endParaRPr lang="en-US" sz="1050" dirty="0"/>
          </a:p>
        </p:txBody>
      </p:sp>
      <p:sp>
        <p:nvSpPr>
          <p:cNvPr id="9"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11" name="Text 7"/>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59 / 74</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566928"/>
          </a:xfrm>
          <a:prstGeom prst="rect">
            <a:avLst/>
          </a:prstGeom>
          <a:noFill/>
          <a:ln/>
        </p:spPr>
        <p:txBody>
          <a:bodyPr wrap="square" lIns="25400" tIns="25400" rIns="25400" bIns="25400" rtlCol="0" anchor="t"/>
          <a:lstStyle/>
          <a:p>
            <a:pPr algn="l" indent="0" marL="0">
              <a:buNone/>
            </a:pPr>
            <a:r>
              <a:rPr lang="en-US" sz="1250" b="1" dirty="0">
                <a:solidFill>
                  <a:srgbClr val="1F3864"/>
                </a:solidFill>
                <a:latin typeface="Meiryo" pitchFamily="34" charset="0"/>
                <a:ea typeface="Meiryo" pitchFamily="34" charset="-122"/>
                <a:cs typeface="Meiryo" pitchFamily="34" charset="-120"/>
              </a:rPr>
              <a:t>情報源方針: </a:t>
            </a:r>
            <a:pPr algn="l" indent="0" marL="0">
              <a:buNone/>
            </a:pPr>
            <a:endParaRPr lang="en-US" sz="12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災害ページ（GLIDE FF-2026-000162-NPL）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https://reliefweb.int/disaster/ff-2026-000162-npl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センチネルアジア 本災害の緊急観測要請</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https://sentinel-asia.org/EO/2026/article20260826NP.html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国際災害チャーター Activation #1052</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https://disasterscharter.org/activations/flood-in-nepal-activation-1052-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M5.2 氷河崩落（コダリ北西55km）</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https://earthquake.usgs.gov/earthquakes/eventpage/us7000tbwb</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UNOSAT・国際災害チャーター 被災範囲図（ラスワ郡）</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https://reliefweb.int/map/nepal/nepal-satellite-detected-mudflow-rockflow-extent-26-27-august-2026-rasuwa-district-bagmati-province-imagery-analysis-2627082026-published-27082026-v1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緊急アピール（2,500万スイスフラン）</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https://reliefweb.int/report/nepal/ifrc-launches-chf-25-million-emergency-appeal-response-devastating-nepal-flash-floods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支援要請（1,720万米ドル）</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https://reliefweb.int/report/nepal/flash-floods-nepal-leave-more-17000-children-need-urgent-humanitarian-assistance-enar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ネパール状況報告（8月27日）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https://reliefweb.int/report/nepal/wfp-nepal-external-situation-report-27-august-2026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BIPADポータル（内務省）災害統計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https://bipadportal.gov.np/</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UNOSAT 製品4259 — ラスワ郡・ヌワコット郡 土石流/岩屑流の範囲（8月28日）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https://unosat.org/products/4259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60 / 74</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有用リンク・出典（2/15）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IRDR 速報解析『2026年8月26日 ボテコシ鉄砲水の科学的解剖』（8月28日）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https://reliefweb.int/report/nepal/irdr-rapid-analysis-report-scientific-anatomy-26-august-2026-bhotekoshi-flash-flood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国連 ネパール・ラスワ洪水 Flash Update #3（8月28日）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https://reliefweb.int/report/nepal/nepal-rasuwa-flood-flash-update-3</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ネパール 洪水緊急事態 状況報告（8月29日）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https://reliefweb.int/report/nepal/wfp-nepal-external-situation-report-29-august-2026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https://reliefweb.int/report/nepal/wfp-nepal-external-situation-report-30-august-2026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https://reliefweb.int/report/nepal/nepal-rasuwa-flood-flash-update-4-31-august-2026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https://reliefweb.int/report/nepal/dispatch-korea-disaster-relief-team-kdrt-response-flood-damage-nepal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https://reliefweb.int/report/nepal/nepal-flood-emergency-situation-report-reporting-period-30-31-august-2026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https://reliefweb.int/report/nepal/water-mission-responds-devastating-flash-floods-nepal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https://www.ndrrma.gov.np/</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https://ndrrma.gov.np/mediafiles/rasuwa/SitRep_11_NEP_01092026.pdf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https://reliefweb.int/map/nepal/mudflowrockflow-impact-assessment-nuwakot-district-bagmati-province-nepal-26-27-august-2026-imagery-analysis-2627082026-published-28082026-v1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https://reliefweb.int/map/nepal/satellite-detected-newly-formed-barrier-lakes-following-ice-rock-avalanche-rasuwa-district-nepal-28-august-2026-imagery-analysis-2627082026-published-27082026-v1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61 / 74</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有用リンク・出典（3/15）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https://reliefweb.int/map/nepal/nepal-china-eu-response-ice-rock-avalanche-and-flash-flood-event-dg-echo-daily-map-02092026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https://reliefweb.int/report/nepal/rapid-disaster-impact-report-satellite-remote-sensing-reveals-severe-mudslide-impacts-along-china-nepal-border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https://reliefweb.int/report/nepal/nepal-floods-hit-vulnerable-communities-undp-estimates-22-million-tonnes-debris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https://reliefweb.int/report/nepal/nepal-flash-floods-medical-teams-deploy-emergency-zone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https://reliefweb.int/report/nepal/nepal-rasuwa-flood-flash-update-5-1-september-2026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https://reliefweb.int/report/nepal/unicef-nepal-humanitarian-situation-report-no1-rasuwa-flood-31-august-2026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https://reliefweb.int/report/nepal/nepal-flood-2026-dref-operation-mdrnp022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https://reliefweb.int/report/nepal/dispatch-japan-disaster-relief-jdr-expert-team-response-flash-flood-nepal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https://reliefweb.int/map/nepal/nepal-flash-floods-26th-august-2026-flood-extent-affected-districts-dhading-nuwakot-and-rasuwa-03092026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https://reliefweb.int/map/nepal/nepal-flash-floods-26th-august-2026-reference-map-nuwakot-district-03092026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https://reliefweb.int/map/nepal/nepal-flash-floods-26th-august-2026-reference-map-rasuwa-district-03092026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https://reliefweb.int/report/nepal/iom-nepal-flood-response-situation-report-3-3-september-2026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62 / 74</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有用リンク・出典（4/15）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https://reliefweb.int/report/nepal/wfp-nepal-situation-report-rasuwa-flood-response-04-september-2026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https://reliefweb.int/report/nepal/nepal-rasuwa-flood-flash-appeal-4-september-2026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https://reliefweb.int/report/nepal/nepal-flash-floods-displacement-snapshot-27-31-august-2026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https://reliefweb.int/map/nepal/nepal-rasuwa-floods-26th-august-2026-reference-map-series-affected-area-sheet-01-04092026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https://reliefweb.int/map/nepal/nepal-rasuwa-floods-26th-august-2026-reference-map-bidur-municipality-04092026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https://reliefweb.int/report/nepal/nepal-rasuwa-flood-situation-report-no-6-5-september-2026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https://risingnepaldaily.com/news/86182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https://risingnepaldaily.com/news/86159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https://reliefweb.int/report/nepal/nepal-flood-emergency-situation-report-reporting-period-4-6-september-2026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https://reliefweb.int/report/nepal/nepal-flash-floods-un-women-gender-alert-2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https://reliefweb.int/map/nepal/nepal-rasuwa-floods-26th-august-2026-reference-map-series-affected-area-06092026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63 / 74</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有用リンク・出典（5/15）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https://reliefweb.int/map/nepal/nepal-flash-floods-26th-august-2026-affected-municipalities-settlements-06092026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https://reliefweb.int/map/nepal/nepal-flash-floods-26th-august-2026-affected-population-06092026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https://reliefweb.int/report/nepal/marking-international-day-charity-stories-giving-through-qatar-charity-go-beyond-humanitarian-assistance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ネパール DTM基礎サイトプロファイル調査 予備所見（8月31日〜9月6日）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https://reliefweb.int/report/nepal/nepal-preliminary-findings-baseline-site-profile-assessment-31-august-06-september-2026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ネパール洪水：安全な水と保健医療の提供（9月8日）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https://reliefweb.int/report/nepal/nepal-floods-ifrc-delivers-safe-water-and-health-care-affected-communities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ロジスティクス・クラスター／WFP ネパール物流拠点 運用構想図（9月6日）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https://reliefweb.int/map/nepal/nepal-ltc-logistics-concept-operations-september-6-2026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ラスワ洪水 捜索・救助・救援アップデート（9月8日18:00）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https://ndrrma.gov.np/mediafiles/rasuwa/Situation_update_English_2026.9.08_6_PM.pdf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状況報告第18号（ネパール語、9月8日19:00）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https://ndrrma.gov.np/mediafiles/rasuwa/SitRep_18_NEP_08092026.pdf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Project HOPE ネパール地滑り・鉄砲水 状況報告第4号（9月8日付、投稿9月9日）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https://reliefweb.int/report/nepal/nepal-landslides-flash-floods-situation-report-4-september-8-2026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 ラスワ洪水 DTM基礎サイトプロファイル調査（ラスワ・ヌワコット・ダディン郡、8月31日〜9月5日、地図3点）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https://reliefweb.int/map/nepal/nepal-rasuwa-floods-26th-august-2026-dtm-baseline-site-profile-assessment-31-august-05-september-2026-rasuwa-district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Relief「ネパール鉄砲水：発災5日後、二次的な健康リスクが高まる」</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https://reliefweb.int/report/nepal/nepal-flash-floods-five-days-after-floods-secondary-health-risks-rise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64 / 74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有用リンク・出典（6/15）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状況報告第19号（英語版、9月9日19:00）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https://ndrrma.gov.np/mediafiles/rasuwa/SitRep_ENG_09_09092026.pdf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状況報告第19号（ネパール語版、9月9日）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https://ndrrma.gov.np/mediafiles/rasuwa/SitRep_19_NEP_09092026.pdf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WFPネパール ラスワ洪水対応 状況報告（9月10日付）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ネパール：ラスワ洪水 DTM基礎サイトプロファイル評価（8月31日〜9月5日）：ヌワコット郡（MapAction）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https://reliefweb.int/map/nepal/nepal-rasuwa-floods-26th-august-2026-dtm-baseline-site-profile-assessment-31-august-05-september-2026-nuwakot-district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ネパール：ラスワ洪水 DTM基礎サイトプロファイル評価（8月31日〜9月5日）：ダディン郡（MapAction）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https://reliefweb.int/map/nepal/nepal-rasuwa-floods-26th-august-2026-dtm-baseline-site-profile-assessment-31-august-05-september-2026-dhading-district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ネパール：ラスワ洪水 状況報告第7号（国連常駐調整官事務所、9月8日付、対象期間9月4〜7日）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https://reliefweb.int/report/nepal/nepal-rasuwa-flood-situation-report-no-7-8-september-2026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ネパール洪水被害への緊急救援物資提供決定（韓国政府、9月9日付）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https://reliefweb.int/report/nepal/government-decides-provide-emergency-relief-supplies-response-flood-damage-nepal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カナダ、ネパール・中国国境の洪水対応支援のため遺体身元確認専門家を派遣（カナダ政府、9月10日付）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https://reliefweb.int/report/nepal/canada-deploys-victim-identification-experts-support-response-severe-flooding-along-nepal-china-border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ネパール：壊滅的な洪水後の人道対応に関する活動状況（ICRC、9月10日付）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https://reliefweb.int/report/nepal/nepal-operational-update-humanitarian-response-after-devastating-floods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ネパール：洪水で500人超の子どもが親と離散、数百人が依然行方不明（セーブ・ザ・チルドレン、9月9日付）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https://reliefweb.int/report/nepal/nepal-over-500-children-separated-parents-and-hundreds-still-missing-after-floods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65 / 74</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有用リンク・出典（7/15）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ネパール：鉄砲水 被災自治体地図（9月9日時点、MapAction）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https://reliefweb.int/map/nepal/nepal-flash-floods-26th-august-2026-affected-municipalities-09092026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ラスワ・ボテコシ洪水 捜索救助・救援対応 状況報告 英語版第9号（ネパール語版第19号に相当）、9月9日19:00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https://ndrrma.gov.np/mediafiles/rasuwa/SitRep_ENG_09_09092026.pdf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MapAction／UNCTネパール ラスワ洪水 被災集落図（9月9日付）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https://reliefweb.int/map/nepal/nepal-rasuwa-floods-26th-august-2026-affected-settlements-09092026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MapAction／UNCTネパール ラスワ洪水 ヌワコット郡 被災ワード図（9月8日付）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https://reliefweb.int/map/nepal/nepal-rasuwa-floods-26th-august-2026-affected-wards-nuwakot-district-08092026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MapAction／UNCTネパール ラスワ洪水 ラスワ郡 被災ワード図（9月8日付）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https://reliefweb.int/map/nepal/nepal-rasuwa-floods-26th-august-2026-affected-wards-rasuwa-district-08092026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 医療物資がネパールに到着、医療従事者は僻地到達に苦慮（9月8日付）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https://reliefweb.int/report/nepal/medicines-arrive-nepal-health-providers-work-reach-last-mile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ネパール・アジア太平洋 鉄砲水緊急アピール（MDRNP022、8月28日付）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https://reliefweb.int/report/nepal/nepal-asia-pacific-flash-flood-emergency-appeal-mdrnp022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ETC／ロジスティクスクラスター／WFP ネパール鉄砲水 LTC状況報告（電気通信分野）第2号（9月5〜11日）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https://reliefweb.int/report/nepal/nepal-flash-floods-ltc-situation-report-telecoms-area-2-reporting-period-05-11-september-2026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ラスワ・ボテコシ洪水 状況報告第22号（2026年9月12日19:00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https://ndrrma.gov.np/mediafiles/rasuwa/SitRep_22_NEP_12092026.pdf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FAO ネパール洪水、農地1,800ha被災・家畜多数死亡（2026年9月10日）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https://reliefweb.int/report/nepal/nepal-floods-damage-1800-hectares-crops-and-kill-thousands-livestock</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66 / 74</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有用リンク・出典（8/15）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FEWS NET ネパール食料安全保障見通し更新（2026年9月10日）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https://reliefweb.int/report/nepal/nepal-food-security-outlook-update-stressed-ipc-phase-2-likely-rasuwa-district-following-historic-flooding-august-2026-january-2027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 人道支援物資輸送便がカトマンズに到着（2026年9月4日）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https://reliefweb.int/report/nepal/flight-lands-kathmandu-carrying-vital-humanitarian-supplies-children-and-families-affected-nepal-floods-0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UNICEFネパール人道状況報告第3号（2026年9月8日）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https://reliefweb.int/report/nepal/unicef-nepal-humanitarian-situation-report-no-3-8-september-2026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ラスワ洪水対応状況報告（2026年9月10日）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https://reliefweb.int/report/nepal/wfp-nepal-situation-report-rasuwa-flood-response-10-september-2026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World Vision International Nepal ラスワ・ヌワコット鉄砲水緊急対応 状況更新5（2026年9月10日）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https://reliefweb.int/report/nepal/world-vision-international-nepal-rasuwa-nuwakot-flash-flood-emergency-response-situation-update-5-10-september-2026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ラスワ・ボテコシ洪水 状況報告第23号（2026年9月13日19:00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https://ndrrma.gov.np/mediafiles/rasuwa/SitRep_23_NEP_13092026.pdf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WFP「ネパールで対応を拡大、遠隔地の地域社会は依然孤立」（原文2026年9月4日発行、ReliefWeb再掲9月10日）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https://reliefweb.int/report/nepal/wfp-scales-response-nepal-remote-communities-remain-isolated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WFP（フランス語版）ネパールでの対応拡大に関する記事（英語版と同一内容）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https://reliefweb.int/report/nepal/le-pam-intensifie-sa-reponse-au-nepal-alors-que-les-communautes-isolees-restent-coupees-du-reste-du-pays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WFP（スペイン語版）ネパールでの対応拡大に関する記事（英語版と同一内容）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https://reliefweb.int/report/nepal/el-programa-mundial-de-alimentos-intensifica-su-respuesta-en-nepal-donde-las-comunidades-remotas-siguen-aisladas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OCHA「ネパール洪水事前行動枠組み（2026年）」（2026年9月14日掲載）</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https://reliefweb.int/report/nepal/nepal-anticipatory-action-framework-floods-2026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67 / 74</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有用リンク・出典（9/15）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状況報告第14号（2026年9月15日19:00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https://ndrrma.gov.np/mediafiles/rasuwa/SitRep_ENG_14_15092026.pdf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IOMネパール洪水対応状況報告第5号（2026年9月15日）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https://reliefweb.int/report/nepal/iom-nepal-flood-response-situation-report-5-15-september-2026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状況報告第15号（2026年9月16日19:00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https://ndrrma.gov.np/mediafiles/rasuwa/SitRep_ENG_15_16092026.pdf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状況報告第16号（2026年9月17日19:00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https://ndrrma.gov.np/mediafiles/rasuwa/Rasuwa_Flood_Situation_Report_ENG_16_17092026.pdf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NDRRMA「災害被害・ニーズ迅速評価（RDNA）ラスワ・ボテコシ洪水2026」（完全版、2026年9月17日掲載）</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https://ndrrma.gov.np/mediafiles/rasuwa/Rapid_Damage_and_Needs_Assessment_RDNA_Rasuwa-Bhotekoshi_Flood_2026.pdf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物流・通信クラスター ネパール調整会議議事録（2026年9月15日）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状況報告第17号（2026年9月18日19:00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https://ndrrma.gov.np/mediafiles/rasuwa/SitRep_ENG_17_18092026.pdf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OCHA／国連ネパール常駐調整官事務所「ラスワ洪水状況報告第8号」（2026年9月15日時点）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https://reliefweb.int/report/nepal/nepal-rasuwa-flood-situation-report-no-8-15-september-2026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WFP「ラスワ洪水対応状況報告」（2026年9月17日）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https://reliefweb.int/report/nepal/wfp-nepal-situation-report-rasuwa-flood-response-17-september-2026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Direct Relief「2015年地震の教訓がネパール『ヒマラヤ津波』への対応をどう導いたか」（2026年9月16日）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https://reliefweb.int/report/nepal/how-2015-earthquake-lessons-guide-response-nepals-recent-himalayan-tsunami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日本政府「洪水被害に対応する追加緊急支援について」（2026年9月17日）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https://reliefweb.int/report/nepal/additional-emergency-assistance-nepal-response-flash-flood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68 / 74</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有用リンク・出典（10/15）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UNICEF「ネパールの洪水被災児童17,000人超が緊急の心理社会的支援を必要としている」（2026年9月15日）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https://reliefweb.int/report/nepal/over-17000-flood-affected-children-nepal-need-urgent-mental-health-and-psychosocial-support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OCHA「事前対応枠組み：ネパール モンスーン洪水2026」（2026年9月14日）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https://reliefweb.int/report/nepal/anticipatory-action-framework-nepal-monsoon-floods-2026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プラン・インターナショナル「ネパール鉄砲水2026 状況報告第3号」（2026年9月13日）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https://reliefweb.int/report/nepal/nepal-flash-flood-2026-situation-report-3-13-september-2026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NDRRMA状況報告第18号（2026年9月19日19:00 NPT）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https://ndrrma.gov.np/mediafiles/rasuwa/SitRep_ENG_18_19092026.pdf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PDC ネパール洪水・地滑りリスク：ラスワ渓谷（2026年9月17日）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https://reliefweb.int/map/nepal/nepal-flood-and-landslide-risk-rasuwa-valley-september-2026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IMPACT Initiatives 建物被害簡易スクリーニング、バグマティ・ガンダキ両州（Sentinel-1、2026年9月2日）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https://reliefweb.int/map/nepal/nepal-bagmati-and-gandaki-provinces-rapid-built-damage-screening-using-10-m-sentinel-1-satellite-radar-data-26th-august-flash-flood-02-september-2026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DG ECHO 日次地図 ネパール・中国 氷岩雪崩・洪水（2026年9月14日）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https://reliefweb.int/map/nepal/nepal-china-eu-response-ice-rock-avalanche-and-flood-event-dg-echo-daily-map-14092026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ロジスティクス・通信クラスター ネパール 調整会議議事録（2026年9月11日）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https://reliefweb.int/report/nepal/logistics-telecommunication-cluster-nepal-coordination-meeting-minutes-11-september-2026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 ロジスティクス・通信クラスター 説明資料（2026年9月8日）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https://reliefweb.int/report/nepal/nepal-logistics-telecommunications-cluster-8-september-2026-presentation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 ロジスティクス・通信クラスター 共同物流サービス（2026年9月12日）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https://reliefweb.int/report/nepal/nepal-logistics-and-telecommunications-cluster-common-logistics-services-services-available-and-how-access-them-12-september-2026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69 / 74</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有用リンク・出典（11/15）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ラスワ・ボテコシ洪水 状況報告第30号（ネパール語版、2026年9月20日）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https://ndrrma.gov.np/mediafiles/rasuwa/Rasuwa_Flood_Situation_Report_30_NEP_20092026.pdf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https://ndrrma.gov.np/mediafiles/rasuwa/SitRep_31_NEP_21092026.pdf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https://reliefweb.int/report/nepal/nepal-flash-floods-ltc-situation-report-telecoms-area-32-reporting-period-12-20-september-2026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NDRRMA ラスワ・ボテコシ洪水状況報告 英語版（SitRep_ENG_20。内部見出しは第19号／第20号と不統一。数値はネパール語版第31号〈9月21日19:00 NPT〉と一致）</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https://ndrrma.gov.np/mediafiles/rasuwa/SitRep_ENG_20_21092026.pdf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UNICEFネパール人道状況報告第4号、2026年9月16日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https://reliefweb.int/report/nepal/unicef-nepal-humanitarian-situation-report-no-4-16-september-2026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ワールド・ビジョン・ネパール ラスワ・ヌワコット鉄砲水対応 — 状況更新6、2026年9月18日（概況記述のみ、新規数値なし）</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https://reliefweb.int/report/nepal/world-vision-international-nepal-rasuwa-nuwakot-flash-flood-emergency-response-situation-update-6-18-september-2026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UNFPA状況報告: ネパール洪水（2026年9月4-9日）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https://reliefweb.int/report/nepal/unfpa-situation-report-nepal-floods-4-9-september-2026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プラン・インターナショナル: ネパール鉄砲水2026 状況報告4（発災当初のGLOF調査中という記述を踏襲しており、本イベントで既に反映済みの後続の解析結果より古い）</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https://reliefweb.int/report/nepal/nepal-flash-flood-2026-situation-report-4-15-september-2026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ロジスティクス・テレコムクラスター ネパール — 調整会議議事録（2026年9月18日、事務的内容）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https://reliefweb.int/report/nepal/logistics-telecommunication-cluster-nepal-coordination-meeting-minutes-18-september-2026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70 / 74</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有用リンク・出典（12/15）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 ロジスティクス・テレコムクラスター — 共通ロジスティクスサービス（2026年9月18日、事務的内容）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https://reliefweb.int/report/nepal/nepal-logistics-and-telecommunications-cluster-common-logistics-services-services-available-and-how-access-them-18-september-2026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ネパール — 危険物の航空輸送に関する指針、2026年9月（事務的内容、対応実績データではない）</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https://reliefweb.int/report/nepal/nepal-guidance-air-transportation-dangerous-goods-september-2026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日本、WFPのネパール洪水緊急対応支援へ100万米ドルを拠出（2026年9月23日）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https://reliefweb.int/report/nepal/japan-contributes-usd-1-million-support-wfps-emergency-flood-response-nepal-world-food-programme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OCHA／国連常駐調整官事務所ネパール「ラスワ洪水状況報告第9号」（2026年9月22日時点、9月24日投稿）</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https://reliefweb.int/report/nepal/nepal-rasuwa-flood-situation-report-no-9-22-september-2026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WFPネパール 対外状況報告（2026年9月24日）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https://reliefweb.int/report/nepal/wfp-nepal-external-situation-report-24-september-2026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FAO「ラスワ〜ボテコシ洪水 緊急支援の呼びかけ」（2026年9月23日）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https://reliefweb.int/report/nepal/nepal-rasuwa-bhotekoshi-flood-urgent-call-assistance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IFRC「2026年ネパール鉄砲水 — 赤十字社の対応」（2026年9月24日）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https://reliefweb.int/report/nepal/nepal-flash-floods-2026-how-red-cross-responding</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UNICEF「洪水から1か月、教育復旧の取り組みが子どもたちの学び再開を後押し」（2026年9月23日）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https://reliefweb.int/report/nepal/one-month-after-floods-efforts-restore-education-are-helping-children-return-learning-nepal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物流・通信クラスター ネパール 調整会議議事録（2026年9月22日）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https://reliefweb.int/report/nepal/logistics-telecommunication-cluster-nepal-coordination-meeting-minutes-22-september-2026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ReliefWeb「UNICEFネパール人道状況報告第5号」（2026年9月22日）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https://reliefweb.int/report/nepal/unicef-nepal-humanitarian-situation-report-no-5-22-september-2026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71 / 74</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有用リンク・出典（13/15）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ReliefWeb「WFP市場機能・価格モニタリング迅速評価（ラスワ・ヌワコット・ダディン）」（2026年9月）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https://reliefweb.int/report/nepal/rapid-market-functionality-and-price-monitoring-assessment-flood-affected-areas-rasuwa-nuwakot-and-dhading-september-2026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ReliefWeb「食料安全保障の見かけ — WFP世帯調査」（2026年9月）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https://reliefweb.int/report/nepal/illusion-food-security-food-security-protected-emergency-assistance-wfps-household-survey-flood-affected-areas-rasuwa-nuwakot-and-dhading-september-2026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ReliefWeb「ネパール・ロジスティクス／通信クラスター標準業務手順書」（2026年9月24日）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https://reliefweb.int/report/nepal/nepal-logistics-and-telecommunications-cluster-standard-operating-procedures-sops-common-logistics-services-september-24-2026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ReliefWeb「ネパール洪水から1か月、Islamic Relief」（2026年9月25日）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https://reliefweb.int/report/nepal/one-month-nepal-floods-homeless-survivors-still-need-aid-hunger-spreads-0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ReliefWeb「セーブ・ザ・チルドレン：発災1か月、女児の保護対策」（2026年9月26日）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https://reliefweb.int/report/nepal/nepal-protection-girls-must-be-stepped-trafficking-and-violence-risks-rise-one-month-after-devastating-floods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ReliefWeb「World Vision ネパール状況更新7」（2026年9月23日）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https://reliefweb.int/report/nepal/world-vision-international-nepal-rasuwa-nuwakot-flash-flood-emergency-response-situation-update-7-23-september-2026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ReliefWeb「IFRC DREF運用更新#01」（2026年9月25日）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https://reliefweb.int/report/nepal/nepal-flood-2026-dref-operation-update-01-mdrnp022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ReliefWeb「World Vision 発災1か月」（2026年9月26日）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https://reliefweb.int/report/nepal/one-month-nepals-flood-affected-children-still-carry-weight-loss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ReliefWeb「Save the Children 西部ネパールの洪水」（2026年9月28日）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https://reliefweb.int/report/nepal/news-quote-floods-drive-hundreds-families-western-nepal-their-homes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IOM DTM Baseline Site Profiles Round 2 (15-22 Sep), 30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https://reliefweb.int/report/nepal/nepal-preliminary-findings-baseline-site-profiles-assessment-round-2-15-22-september-2026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72 / 74</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有用リンク・出典（14/15）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IFRC one month on (FR), 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https://reliefweb.int/report/nepal/inondations-au-nepal-un-mois-apres-la-croix-rouge-renforce-son-soutien-face-la-persistance-des-fortes-pluies-ifrc</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Logistics Cluster meeting minutes,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https://reliefweb.int/report/nepal/nepal-meeting-minutes-29-september-2026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Coordination meeting slides,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https://reliefweb.int/report/nepal/nepal-coordination-meeting-slides-29-september-2026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DG ECHO Daily Map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https://reliefweb.int/report/nepal/nepal-china-eu-response-ice-rock-avalanche-and-flood-event-dg-echo-daily-map-29092026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Transport and recovery commentary</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https://reliefweb.int/report/nepal/when-disaster-hits-transport-decides-how-fast-country-recovers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ラスワ洪水状況報告第10号（9月29日）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https://reliefweb.int/report/nepal/nepal-rasuwa-flood-situation-report-no-10-29-september-2026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LTC通信状況報告第4号［最終］</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https://reliefweb.int/report/nepal/nepal-flash-floods-ltc-telecoms-situation-report-4-final-reporting-period-26-august-30-september-2026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WFPネパール外部状況報告（10月1日）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https://reliefweb.int/report/nepal/wfp-nepal-external-situation-report-01-october-2026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ワールド・ビジョン状況更新8（10月1日）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https://reliefweb.int/report/nepal/nepal-rasuwa-nuwakot-flash-flood-emergency-response-situation-update-8-world-vision-1-october-2026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プラン・インターナショナル ネパール洪水状況報告6（10月1日）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https://reliefweb.int/report/nepal/nepal-flash-flood-2026-situation-report-6-1-october-2026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WFPネパール外部状況報告（10月1日・別URL）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https://reliefweb.int/report/nepal/wfp-nepal-external-situation-report-1-october-2026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73 / 74</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有用リンク・出典（15/15）</a:t>
            </a:r>
            <a:endParaRPr lang="en-US" sz="2100" dirty="0"/>
          </a:p>
        </p:txBody>
      </p:sp>
      <p:pic>
        <p:nvPicPr>
          <p:cNvPr id="3" name="Image 0" descr="/tmp/build_event-W5XXyw/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UNICEF Nepal Humanitarian Situation Report No. 6 (5 Oct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https://reliefweb.int/report/nepal/unicef-nepal-humanitarian-situation-report-no-6-5-october-2026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Logistics &amp; Telecommunications Cluster one month (4 Sep-4 Oct)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https://reliefweb.int/report/nepal/nepal-logistics-telecommunications-cluster-one-month-activation-4-sept-4-oct-2026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FEWS NET Key Message Update Sep 2026-Jan 2027</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https://reliefweb.int/report/nepal/nepal-key-message-update-weak-income-localized-disasters-and-high-prices-constrain-food-access-september-2026-january-2027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LTC Cluster 2 Oct meeting slides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https://reliefweb.int/report/nepal/nepal-logistics-telecommunications-cluster-02-october-2026-i-1500-kathmandu-meeting-slides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Direct Relief: health providers care for flood survivors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https://reliefweb.int/report/nepal/offering-some-hope-and-medical-support-health-providers-care-nepals-flood-survivors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Logistics Cluster: Meeting minutes 06 Oct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https://reliefweb.int/report/nepal/nepal-meeting-minutes-06-october-2026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Logistics Cluster: Coordination meeting slides 06 Oct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https://reliefweb.int/report/nepal/nepal-coordination-meeting-slides-06-october-2026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Govt. Australia: Recovery and resilience package (8 Oct)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https://reliefweb.int/report/nepal/recovery-and-resilience-package-nepal-8-october-2026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UNICEF: Nepal: A long road to recovery (9 Oct)</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https://reliefweb.int/report/nepal/nepal-long-road-recovery</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07/10/2026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74 / 74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2026-10-09T22:38:49Z</dcterms:created>
  <dcterms:modified xsi:type="dcterms:W3CDTF">2026-10-09T22:38:49Z</dcterms:modified>
</cp:coreProperties>
</file>