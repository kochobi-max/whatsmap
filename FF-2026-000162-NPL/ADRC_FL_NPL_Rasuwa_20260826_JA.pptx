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google.com/maps/@28.28,85.38,9z" TargetMode="External"/><Relationship Id="rId6" Type="http://schemas.openxmlformats.org/officeDocument/2006/relationships/hyperlink" Target="https://unosat.org/products/4259" TargetMode="External"/><Relationship Id="rId7" Type="http://schemas.openxmlformats.org/officeDocument/2006/relationships/hyperlink" Target="https://bipadportal.gov.np/"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sentinel-asia.org/EO/2026/article20260826NP.html" TargetMode="External"/><Relationship Id="rId5" Type="http://schemas.openxmlformats.org/officeDocument/2006/relationships/hyperlink" Target="https://disasterscharter.org/activations/flood-in-nepal-activation-1052-" TargetMode="External"/><Relationship Id="rId6" Type="http://schemas.openxmlformats.org/officeDocument/2006/relationships/hyperlink" Target="https://sentinel-asia.org/EO/2026/article20260826NP.html" TargetMode="External"/><Relationship Id="rId1" Type="http://schemas.openxmlformats.org/officeDocument/2006/relationships/image" Target="../media/image-17-1.png"/><Relationship Id="rId2" Type="http://schemas.openxmlformats.org/officeDocument/2006/relationships/image" Target="../media/image-17-2.png"/><Relationship Id="rId4" Type="http://schemas.openxmlformats.org/officeDocument/2006/relationships/image" Target="../media/image-17-3.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unosat.org/products/4259" TargetMode="External"/><Relationship Id="rId4" Type="http://schemas.openxmlformats.org/officeDocument/2006/relationships/hyperlink" Target="https://unosat.org/products/4259" TargetMode="External"/><Relationship Id="rId1" Type="http://schemas.openxmlformats.org/officeDocument/2006/relationships/image" Target="../media/image-22-1.png"/><Relationship Id="rId2" Type="http://schemas.openxmlformats.org/officeDocument/2006/relationships/image" Target="../media/image-22-2.jp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sentinel-asia.org/EO/2026/article20260826NP.html" TargetMode="External"/><Relationship Id="rId4" Type="http://schemas.openxmlformats.org/officeDocument/2006/relationships/hyperlink" Target="https://disasterscharter.org/activations/flood-in-nepal-activation-1052-" TargetMode="External"/><Relationship Id="rId5" Type="http://schemas.openxmlformats.org/officeDocument/2006/relationships/hyperlink" Target="https://earthquake.usgs.gov/earthquakes/eventpage/us7000tbwb" TargetMode="External"/><Relationship Id="rId6" Type="http://schemas.openxmlformats.org/officeDocument/2006/relationships/hyperlink" Target="https://reliefweb.int/map/nepal/nepal-satellite-detected-mudflow-rockflow-extent-26-27-august-2026-rasuwa-district-bagmati-province-imagery-analysis-2627082026-published-27082026-v1" TargetMode="External"/><Relationship Id="rId7" Type="http://schemas.openxmlformats.org/officeDocument/2006/relationships/hyperlink" Target="https://reliefweb.int/report/nepal/ifrc-launches-chf-25-million-emergency-appeal-response-devastating-nepal-flash-floods" TargetMode="External"/><Relationship Id="rId8" Type="http://schemas.openxmlformats.org/officeDocument/2006/relationships/hyperlink" Target="https://reliefweb.int/report/nepal/flash-floods-nepal-leave-more-17000-children-need-urgent-humanitarian-assistance-enar" TargetMode="External"/><Relationship Id="rId9" Type="http://schemas.openxmlformats.org/officeDocument/2006/relationships/hyperlink" Target="https://reliefweb.int/report/nepal/wfp-nepal-external-situation-report-27-august-2026" TargetMode="External"/><Relationship Id="rId10" Type="http://schemas.openxmlformats.org/officeDocument/2006/relationships/hyperlink" Target="https://bipadportal.gov.np/" TargetMode="External"/><Relationship Id="rId11" Type="http://schemas.openxmlformats.org/officeDocument/2006/relationships/hyperlink" Target="https://unosat.org/products/4259" TargetMode="External"/><Relationship Id="rId1" Type="http://schemas.openxmlformats.org/officeDocument/2006/relationships/image" Target="../media/image-23-1.png"/><Relationship Id="rId12" Type="http://schemas.openxmlformats.org/officeDocument/2006/relationships/slideLayout" Target="../slideLayouts/slideLayout1.xml"/><Relationship Id="rId1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3" Type="http://schemas.openxmlformats.org/officeDocument/2006/relationships/hyperlink" Target="https://reliefweb.int/report/nepal/nepal-rasuwa-flood-flash-update-3" TargetMode="External"/><Relationship Id="rId4" Type="http://schemas.openxmlformats.org/officeDocument/2006/relationships/hyperlink" Target="https://reliefweb.int/report/nepal/wfp-nepal-external-situation-report-29-august-2026" TargetMode="External"/><Relationship Id="rId5" Type="http://schemas.openxmlformats.org/officeDocument/2006/relationships/hyperlink" Target="https://reliefweb.int/report/nepal/wfp-nepal-external-situation-report-30-august-2026" TargetMode="External"/><Relationship Id="rId6" Type="http://schemas.openxmlformats.org/officeDocument/2006/relationships/hyperlink" Target="https://reliefweb.int/report/nepal/nepal-rasuwa-flood-flash-update-4-31-august-2026" TargetMode="External"/><Relationship Id="rId7" Type="http://schemas.openxmlformats.org/officeDocument/2006/relationships/hyperlink" Target="https://reliefweb.int/report/nepal/dispatch-korea-disaster-relief-team-kdrt-response-flood-damage-nepal" TargetMode="External"/><Relationship Id="rId8" Type="http://schemas.openxmlformats.org/officeDocument/2006/relationships/hyperlink" Target="https://reliefweb.int/report/nepal/nepal-flood-emergency-situation-report-reporting-period-30-31-august-2026" TargetMode="External"/><Relationship Id="rId9" Type="http://schemas.openxmlformats.org/officeDocument/2006/relationships/hyperlink" Target="https://reliefweb.int/report/nepal/water-mission-responds-devastating-flash-floods-nepal" TargetMode="External"/><Relationship Id="rId10" Type="http://schemas.openxmlformats.org/officeDocument/2006/relationships/hyperlink" Target="https://www.ndrrma.gov.np/" TargetMode="External"/><Relationship Id="rId11" Type="http://schemas.openxmlformats.org/officeDocument/2006/relationships/hyperlink" Target="https://ndrrma.gov.np/mediafiles/rasuwa/SitRep_11_NEP_01092026.pdf" TargetMode="External"/><Relationship Id="rId12" Type="http://schemas.openxmlformats.org/officeDocument/2006/relationships/hyperlink" Target="https://reliefweb.int/map/nepal/mudflowrockflow-impact-assessment-nuwakot-district-bagmati-province-nepal-26-27-august-2026-imagery-analysis-2627082026-published-28082026-v1" TargetMode="External"/><Relationship Id="rId13" Type="http://schemas.openxmlformats.org/officeDocument/2006/relationships/hyperlink" Target="https://reliefweb.int/map/nepal/satellite-detected-newly-formed-barrier-lakes-following-ice-rock-avalanche-rasuwa-district-nepal-28-august-2026-imagery-analysis-2627082026-published-27082026-v1" TargetMode="External"/><Relationship Id="rId1" Type="http://schemas.openxmlformats.org/officeDocument/2006/relationships/image" Target="../media/image-24-1.png"/><Relationship Id="rId14" Type="http://schemas.openxmlformats.org/officeDocument/2006/relationships/slideLayout" Target="../slideLayouts/slideLayout1.xml"/><Relationship Id="rId1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reliefweb.int/map/nepal/nepal-china-eu-response-ice-rock-avalanche-and-flash-flood-event-dg-echo-daily-map-02092026" TargetMode="External"/><Relationship Id="rId3" Type="http://schemas.openxmlformats.org/officeDocument/2006/relationships/hyperlink" Target="https://reliefweb.int/report/nepal/rapid-disaster-impact-report-satellite-remote-sensing-reveals-severe-mudslide-impacts-along-china-nepal-border" TargetMode="External"/><Relationship Id="rId4" Type="http://schemas.openxmlformats.org/officeDocument/2006/relationships/hyperlink" Target="https://reliefweb.int/report/nepal/nepal-floods-hit-vulnerable-communities-undp-estimates-22-million-tonnes-debris" TargetMode="External"/><Relationship Id="rId5" Type="http://schemas.openxmlformats.org/officeDocument/2006/relationships/hyperlink" Target="https://reliefweb.int/report/nepal/nepal-flash-floods-medical-teams-deploy-emergency-zone" TargetMode="External"/><Relationship Id="rId6" Type="http://schemas.openxmlformats.org/officeDocument/2006/relationships/hyperlink" Target="https://reliefweb.int/report/nepal/nepal-rasuwa-flood-flash-update-5-1-september-2026" TargetMode="External"/><Relationship Id="rId7" Type="http://schemas.openxmlformats.org/officeDocument/2006/relationships/hyperlink" Target="https://reliefweb.int/report/nepal/unicef-nepal-humanitarian-situation-report-no1-rasuwa-flood-31-august-2026" TargetMode="External"/><Relationship Id="rId8" Type="http://schemas.openxmlformats.org/officeDocument/2006/relationships/hyperlink" Target="https://reliefweb.int/report/nepal/nepal-flood-2026-dref-operation-mdrnp022" TargetMode="External"/><Relationship Id="rId9" Type="http://schemas.openxmlformats.org/officeDocument/2006/relationships/hyperlink" Target="https://reliefweb.int/report/nepal/dispatch-japan-disaster-relief-jdr-expert-team-response-flash-flood-nepal" TargetMode="External"/><Relationship Id="rId10" Type="http://schemas.openxmlformats.org/officeDocument/2006/relationships/hyperlink" Target="https://reliefweb.int/map/nepal/nepal-flash-floods-26th-august-2026-flood-extent-affected-districts-dhading-nuwakot-and-rasuwa-03092026" TargetMode="External"/><Relationship Id="rId11" Type="http://schemas.openxmlformats.org/officeDocument/2006/relationships/hyperlink" Target="https://reliefweb.int/map/nepal/nepal-flash-floods-26th-august-2026-reference-map-nuwakot-district-03092026" TargetMode="External"/><Relationship Id="rId12" Type="http://schemas.openxmlformats.org/officeDocument/2006/relationships/hyperlink" Target="https://reliefweb.int/map/nepal/nepal-flash-floods-26th-august-2026-reference-map-rasuwa-district-03092026" TargetMode="External"/><Relationship Id="rId13" Type="http://schemas.openxmlformats.org/officeDocument/2006/relationships/hyperlink" Target="https://reliefweb.int/report/nepal/iom-nepal-flood-response-situation-report-3-3-september-2026" TargetMode="External"/><Relationship Id="rId1" Type="http://schemas.openxmlformats.org/officeDocument/2006/relationships/image" Target="../media/image-25-1.png"/><Relationship Id="rId14" Type="http://schemas.openxmlformats.org/officeDocument/2006/relationships/slideLayout" Target="../slideLayouts/slideLayout1.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reliefweb.int/report/nepal/wfp-nepal-situation-report-rasuwa-flood-response-04-september-2026" TargetMode="External"/><Relationship Id="rId3" Type="http://schemas.openxmlformats.org/officeDocument/2006/relationships/hyperlink" Target="https://reliefweb.int/report/nepal/nepal-rasuwa-flood-flash-appeal-4-september-2026" TargetMode="External"/><Relationship Id="rId4" Type="http://schemas.openxmlformats.org/officeDocument/2006/relationships/hyperlink" Target="https://reliefweb.int/report/nepal/nepal-flash-floods-displacement-snapshot-27-31-august-2026" TargetMode="External"/><Relationship Id="rId5" Type="http://schemas.openxmlformats.org/officeDocument/2006/relationships/hyperlink" Target="https://reliefweb.int/map/nepal/nepal-rasuwa-floods-26th-august-2026-reference-map-series-affected-area-sheet-01-04092026" TargetMode="External"/><Relationship Id="rId6" Type="http://schemas.openxmlformats.org/officeDocument/2006/relationships/hyperlink" Target="https://reliefweb.int/map/nepal/nepal-rasuwa-floods-26th-august-2026-reference-map-bidur-municipality-04092026" TargetMode="External"/><Relationship Id="rId1" Type="http://schemas.openxmlformats.org/officeDocument/2006/relationships/image" Target="../media/image-26-1.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lR8quy/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ボテコシ川 土石流・鉄砲水（ネパール）</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FF-2026-000162-NPL)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   ランタン地域デディン付近／ボテコシ川</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世界→ネパール</a:t>
            </a:r>
            <a:endParaRPr lang="en-US" sz="1250" dirty="0"/>
          </a:p>
        </p:txBody>
      </p:sp>
      <p:sp>
        <p:nvSpPr>
          <p:cNvPr id="8" name="Shape 5"/>
          <p:cNvSpPr/>
          <p:nvPr/>
        </p:nvSpPr>
        <p:spPr>
          <a:xfrm>
            <a:off x="365760" y="2018538"/>
            <a:ext cx="3444240" cy="2583180"/>
          </a:xfrm>
          <a:prstGeom prst="rect">
            <a:avLst/>
          </a:prstGeom>
          <a:solidFill>
            <a:srgbClr val="F2F2F2"/>
          </a:solidFill>
          <a:ln w="9525">
            <a:solidFill>
              <a:srgbClr val="D9D9D9"/>
            </a:solidFill>
            <a:prstDash val="solid"/>
          </a:ln>
        </p:spPr>
      </p:sp>
      <p:pic>
        <p:nvPicPr>
          <p:cNvPr id="9" name="Image 1" descr="/tmp/build_event-lR8quy/generator/images/FF-2026-000162-NPL/locator_world_manual_ja.jpg">    </p:cNvPr>
          <p:cNvPicPr>
            <a:picLocks noChangeAspect="1"/>
          </p:cNvPicPr>
          <p:nvPr/>
        </p:nvPicPr>
        <p:blipFill>
          <a:blip r:embed="rId2"/>
          <a:srcRect l="0" r="0" t="0" b="0"/>
          <a:stretch/>
        </p:blipFill>
        <p:spPr>
          <a:xfrm>
            <a:off x="365760" y="2018538"/>
            <a:ext cx="3444240" cy="2583180"/>
          </a:xfrm>
          <a:prstGeom prst="rect">
            <a:avLst/>
          </a:prstGeom>
        </p:spPr>
      </p:pic>
      <p:sp>
        <p:nvSpPr>
          <p:cNvPr id="10" name="Shape 6"/>
          <p:cNvSpPr/>
          <p:nvPr/>
        </p:nvSpPr>
        <p:spPr>
          <a:xfrm>
            <a:off x="2602992" y="436397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ネパール→ラスワ郡</a:t>
            </a:r>
            <a:endParaRPr lang="en-US" sz="1250" dirty="0"/>
          </a:p>
        </p:txBody>
      </p:sp>
      <p:sp>
        <p:nvSpPr>
          <p:cNvPr id="13" name="Shape 9"/>
          <p:cNvSpPr/>
          <p:nvPr/>
        </p:nvSpPr>
        <p:spPr>
          <a:xfrm>
            <a:off x="4358640" y="2018538"/>
            <a:ext cx="3444240" cy="2583180"/>
          </a:xfrm>
          <a:prstGeom prst="rect">
            <a:avLst/>
          </a:prstGeom>
          <a:solidFill>
            <a:srgbClr val="F2F2F2"/>
          </a:solidFill>
          <a:ln w="9525">
            <a:solidFill>
              <a:srgbClr val="D9D9D9"/>
            </a:solidFill>
            <a:prstDash val="solid"/>
          </a:ln>
        </p:spPr>
      </p:sp>
      <p:pic>
        <p:nvPicPr>
          <p:cNvPr id="14" name="Image 2" descr="/tmp/build_event-lR8quy/generator/images/FF-2026-000162-NPL/locator_region_manual_ja.jpg">    </p:cNvPr>
          <p:cNvPicPr>
            <a:picLocks noChangeAspect="1"/>
          </p:cNvPicPr>
          <p:nvPr/>
        </p:nvPicPr>
        <p:blipFill>
          <a:blip r:embed="rId3"/>
          <a:srcRect l="0" r="0" t="0" b="0"/>
          <a:stretch/>
        </p:blipFill>
        <p:spPr>
          <a:xfrm>
            <a:off x="4358640" y="2018538"/>
            <a:ext cx="3444240" cy="2583180"/>
          </a:xfrm>
          <a:prstGeom prst="rect">
            <a:avLst/>
          </a:prstGeom>
        </p:spPr>
      </p:pic>
      <p:sp>
        <p:nvSpPr>
          <p:cNvPr id="15" name="Shape 10"/>
          <p:cNvSpPr/>
          <p:nvPr/>
        </p:nvSpPr>
        <p:spPr>
          <a:xfrm>
            <a:off x="6595872" y="436397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ボテコシ川の谷（ティムレ）</a:t>
            </a:r>
            <a:endParaRPr lang="en-US" sz="1250" dirty="0"/>
          </a:p>
        </p:txBody>
      </p:sp>
      <p:sp>
        <p:nvSpPr>
          <p:cNvPr id="18" name="Shape 13"/>
          <p:cNvSpPr/>
          <p:nvPr/>
        </p:nvSpPr>
        <p:spPr>
          <a:xfrm>
            <a:off x="8351520" y="2018538"/>
            <a:ext cx="3444240" cy="2583180"/>
          </a:xfrm>
          <a:prstGeom prst="rect">
            <a:avLst/>
          </a:prstGeom>
          <a:solidFill>
            <a:srgbClr val="F2F2F2"/>
          </a:solidFill>
          <a:ln w="9525">
            <a:solidFill>
              <a:srgbClr val="D9D9D9"/>
            </a:solidFill>
            <a:prstDash val="solid"/>
          </a:ln>
        </p:spPr>
      </p:sp>
      <p:pic>
        <p:nvPicPr>
          <p:cNvPr id="19" name="Image 3" descr="/tmp/build_event-lR8quy/generator/images/FF-2026-000162-NPL/google_cities_manual_ja.jpg">    </p:cNvPr>
          <p:cNvPicPr>
            <a:picLocks noChangeAspect="1"/>
          </p:cNvPicPr>
          <p:nvPr/>
        </p:nvPicPr>
        <p:blipFill>
          <a:blip r:embed="rId4"/>
          <a:srcRect l="0" r="0" t="0" b="0"/>
          <a:stretch/>
        </p:blipFill>
        <p:spPr>
          <a:xfrm>
            <a:off x="8351520" y="2018538"/>
            <a:ext cx="3444240" cy="2583180"/>
          </a:xfrm>
          <a:prstGeom prst="rect">
            <a:avLst/>
          </a:prstGeom>
        </p:spPr>
      </p:pic>
      <p:sp>
        <p:nvSpPr>
          <p:cNvPr id="20" name="Shape 14"/>
          <p:cNvSpPr/>
          <p:nvPr/>
        </p:nvSpPr>
        <p:spPr>
          <a:xfrm>
            <a:off x="10588752" y="436397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22" name="Shape 16"/>
          <p:cNvSpPr/>
          <p:nvPr/>
        </p:nvSpPr>
        <p:spPr>
          <a:xfrm>
            <a:off x="0" y="5102352"/>
            <a:ext cx="12188952" cy="1225296"/>
          </a:xfrm>
          <a:prstGeom prst="rect">
            <a:avLst/>
          </a:prstGeom>
          <a:solidFill>
            <a:srgbClr val="262626"/>
          </a:solidFill>
          <a:ln w="12700">
            <a:solidFill>
              <a:srgbClr val="333333"/>
            </a:solidFill>
            <a:prstDash val="solid"/>
          </a:ln>
        </p:spPr>
      </p:sp>
      <p:sp>
        <p:nvSpPr>
          <p:cNvPr id="23" name="Text 17"/>
          <p:cNvSpPr/>
          <p:nvPr/>
        </p:nvSpPr>
        <p:spPr>
          <a:xfrm>
            <a:off x="457200" y="5175504"/>
            <a:ext cx="11274552" cy="10789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26日08時30分〜08時37分ごろ（NPT）、前日午後にランタン地域デディン付近の氷・岩・土砂の崩落によってボテコシ川に形成された一時的な天然ダムが決壊し、岩屑を大量に含んだ出水がボテコシ川〜トリシュリ川の回廊を流下した。出水はラスワガディに約09時00分、ティムレに約09時15分、ベトラワティに約09時20分に到達している。急勾配で狭い谷が流れを集中させて速度を保ち、氷・岩・土砂の重い荷重が破壊力を大きく高めた。ラスワ郡・ヌワコット郡・ダディン郡・チトワン郡が被災。ベトラワティ〜ラスワガディ間42kmで32を超える橋梁が流失し、ティムレとラスワガディの税関施設とネパール・中国国境の交易が大きな被害を受け、約748MWの水力発電設備が影響を受けた。ADRCは発災当日、ネパール水文気象局（DHM）の要請を受けてセンチネルアジアと国際災害チャーターを発動した。</a:t>
            </a:r>
            <a:endParaRPr lang="en-US" sz="1250" dirty="0"/>
          </a:p>
        </p:txBody>
      </p:sp>
      <p:sp>
        <p:nvSpPr>
          <p:cNvPr id="24" name="Text 18"/>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Google Maps © Google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BIPAD Portal、Ministry of Home Affairs、Nepal</a:t>
            </a:r>
            <a:endParaRPr lang="en-US" sz="1050" dirty="0"/>
          </a:p>
        </p:txBody>
      </p:sp>
      <p:sp>
        <p:nvSpPr>
          <p:cNvPr id="25"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6"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対応の時系列（2026年8月25日〜9月4日（ネパール標準時 UTC+5:45））（1/4）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 13:00-14:00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ランタン地域デディン付近の標高約5,000mで氷・岩・土砂の塊が崩落し、標高約3,000mの河道まで落下。落下の途中で氷は砕け、土砂・岩屑と混合した。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 午後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この塊がボテコシ川を堰き止め、一時的な天然ダムを形成。約18〜19時間にわたって水を貯める。西側のマラ川などの支流からの流入が下流の水位を保ち、上流の閉塞を分かりにくくした。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08:30-08:37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天然ダムが決壊し、水・氷・岩・土砂を一気に流下させる。08時37分ごろにM4.4の地震動が記録され、住民は轟音を聞いたと証言している。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出水はティムレに約09時15分、ベトラワティに約09時20分に到達。到達時間の短さは、狭い上流部を極めて速く流下したことを示す。</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USGSがM4.4の信号を記録（のちM5.2に改訂）。IRDRはこれを構造性の地震ではなく、天然ダムの急激な決壊による地面の振動と解釈している。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USGS／IRDR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中国チベット自治区側からボテコシ川に突発的な出水。ティムレ、シャブルベシ、ラスワガディ検問所・税関、ラスワ郡北部の川沿い十数集落が最初に、かつ最も強く被災した。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DHM／NDRRMA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ネパールNDRRMAが緊急の衛星画像提供を要請。ADRCがこれを受けてセンチネルアジアを発動した（緊急観測要請 SA-00658、要請元は水文気象局）。</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ADRC／Sentinel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11:45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同じ場所でM4.2の氷河崩落を再度観測（イベントus7000tc90）。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UNOCHAバンコク事務所が観測対象範囲（AOI）2か所（シャブルベシ地区、ティムレ地区）を提供。ADRCがセンチネルアジア側の要請に統合した。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UNOCHA／JAXA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18:43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国際災害チャーターが Activation #1052 として発動（14:58 UTC+02:00）。要請者は「水文気象局に代わってADRC」と記録されている。案件管理はUNITAR。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夕</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最初の公式発表は食い違い、NDRRMA 72人、首相府95人。同日深夜には約160人（遺体収容157体）となった。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NDRRMA／PMO</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08:15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ネパール警察が、国内だけで行方不明826人と発表。旅行者579人（外国人466人・ネパール人113人）、治安要員85人、ラスワ郡住民161人、ヌワコット郡住民1人。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朝</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死者165人・負傷73人と発表。前夜の数値を更新した。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26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対応の時系列（2026年8月25日〜9月4日（ネパール標準時 UTC+5:45））（2/4）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IFRCが24か月・2,500万スイスフランの緊急アピールを開始。前日にはネパール赤十字社へ約100万スイスフランを緊急拠出していた。被災者は約93,000人の可能性。</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UNICEFが1,720万米ドルの支援を要請。ラスワ・ヌワコット・ダディンの3郡で子ども17,000人以上が影響を受け、医療施設少なくとも4か所が甚大な被害と報告。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UNOSATが、Sentinel-2（8月27日）とPlanetScope（8月26日）の画像から、ラスワ郡・ヌワコット郡の土石流・岩屑流の範囲図を公表。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UNOSAT／Int'l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JAXAがALOS-2の緊急観測を計画。立正大学によるLandsat-9解析、東京大学による光学衛星の3次元被害図が、センチネルアジアを通じて共有された。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JAXA／Sentinel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NEOCが死者539人・行方不明977人・負傷73人と発表。これまでに3,742人を救助し、治安要員12,249人とヘリ15機を動員。閣議は救援物資の輸入関税と、救援物資を政府一元で届ける One Door 方針を解除した。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NEOC／UN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状況報告。ダディン・ヌワコット・ラスワで死者616人、行方不明または連絡が取れない者1,924人。NDRRMAは、レンデ川の閉塞により上流に推定0.11km2の湖が形成されたとして、洪水リスクの継続を警告。WFPはBP-5強化ビスケット2.8トン（最大5,000人分）を送り、豪州政府からAUD200万（USD140万）を受領。</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状況報告。死者は約734人に増加し、負傷者約242人、行方不明者2,448人。これまでに8,198人以上が救助された。ボテコシ・トリスリ川沿いで道路約40km、橋梁80か所以上、水力発電・エネルギー施設少なくとも14か所が被災し、進入の妨げが続いている。WFPは食料31.8トンを送り、豪州・CERF・米国から約USD540万を確保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 Flash Update #4。NDRRMAの09:00発表によると、死者903人、負傷267人（うち156人退院済み）、行方不明4,247人。これまでに10,451人を救助し、うち外国人252人、ヘリコプターで空輸されたネパール人3,344人を含む。要員20,819人を動員。政府はラスワ郡・ヌワコット郡に各NPR1,000万、ダディン郡にNPR50万の緊急資金を配分した。トリシュリ3A、ハクベシ、トリシュリ3B、チリメの各水力発電施設でネパール・インド・中国による合同救助活動が続いている。プリトビ・ハイウェイのムグリン〜マレクー区間は、クリシュナ・ビル、パレワ・ビルの法面崩壊により全面通行止めが続く。電力はダディン郡・ヌワコット郡で復旧し、ラスワ郡では復旧作業が続い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韓国政府が、ネパール政府からの捜索・救助支援の要請を受けて、韓国災害救助隊（KDRT）の派遣を決定。外務省・KOICA・消防庁などからなる44人で、外務省開発協力局長の李圭虎氏が団長。9月1日夜、韓国軍の輸送機でネパールへ向かう。韓国は8月27日に、現地で活動する国際機関を通じた100万米ドルの人道支援も表明してい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26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対応の時系列（2026年8月25日〜9月4日（ネパール標準時 UTC+5:45））（3/4）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号。死者987人（収容した遺体の一部を含む）、行方不明3,916人（全国62郡から届出）。負傷279人が手当てを受け、168人が退院、79人が治療中、29人が転院。ネパール陸軍は2,740人に医療を提供。救助は累計11,814人で、うちヘリコプターによる救助が3,702人（外国人253人、ネパール人3,449人）、航空運用は573回。治安要員21,011人を動員し、韓国・中国・インドの部隊がトリシュリ3A、ハクベシ、トリシュリ3B、チリメの各水力発電所で合同の捜索・救助にあたっている。被災は5郡で、ラスワ郡・ヌワコット郡が甚大（影響を受けた人口は約160万人）、ダディン・ゴルカ・チトワンの3郡が中程度。車両通行可能な橋梁41橋が流失、4橋が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スワ郡のゴサインクンダ、アマチョディンモの両村では3,702世帯・14,461人（男性7,453人、女性7,008人。うち子ども3,650人、高齢者1,204人）が孤立したままで、道路・電力・通信が最大6日間途絶している。避難所30か所に3,930人（ヌワコット19か所2,653人、ラスワ11か所1,277人）。ヌワコットでは住家1,267棟が全壊、1,253棟が半壊と報告された。衛星判読では浸水範囲内に4,689棟の建物が確認されているが、NDRRMAはこれを「推定される曝露であり、確認された被害ではない」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11号。死者1,050人（郡別：チトワン321、ナワルパラシ東216、ナワルパラシ西170、ヌワコット142、ゴルカ65、ダディン57、タナフ38、ラスワ41）、連絡不通3,916人（同日のこれまでの締めから横ばい）、16の医療施設で計292人を負傷治療（退院182、治療継続74、転送33、治療中死亡3）。これまでの救助者数は11,993人、うちヘリコプター救助4,364人。治安要員21,314人を動員。プリトビ・ハイウェイはムグリン〜マレクー間のクリシュナビール／パレワビール地区で、道路盛土の侵食（トー・カッティング）が継続し依然通行止め、迂回路を模索中。被災回廊内の携帯電話基地局はほぼ復旧（ネパール・テレコムは被害110基地局すべて復旧、エヌセルは78基地局中75基地局復旧）。ラスワ郡アマチョディンモ村の大部分で、サンジェン水力発電所からの別系統により電力が復旧。身元不明の遺体は各郡の病院21か所で保管され、身元確認を継続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26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対応の時系列（2026年8月25日〜9月4日（ネパール標準時 UTC+5:45））（4/4）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政府は、ネパール政府からの要請を受け、身元確認（遺体の識別）支援のため国際緊急援助隊（JDR）専門家チームの派遣を決定した。本更新時点でNDRRMAの新しい状況報告（第11号・9月1日18:00より後のもの）は公表されておらず、NDRRMAの公式な死傷者数は横ばい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Japan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ネパール洪水対応状況報告第3号」（9月3日時点）。当局発表として遺体収容1,259人、行方不明5,053人。これまでの救助累計12,038人（うち外国人583人）、動員した治安要員21,402人超。6郡17市町村で推計84,270人が被災。ヌワコット郡のみで1,897世帯が避難、住家1,267棟が全壊、1,253棟が半壊。保健関係機関が状況を確認中の避難施設に推計5,384人が滞在。この数値は、NDRRMA状況報告第11号（9月1日、死者1,050人・行方不明3,916人）を上回る、国連機関発の初めての更新である。この締め時点に対応するNDRRMAのPDF状況報告は見つかっ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ラスワ洪水対応状況報告」（9月4日）。死者は1,259人に増加、行方不明はなお5,083人（いずれも「政府・当局」を出典とし、NDRRMAの報番号は示されていない）。WFPはダディン・ヌワコット・ラスワへ15日分の食料85.8トン、BP-5強化ビスケット2.8トンと強化ビスケット40箱（0.45トン）を配布し、輸送101回（政府主導の救援支援57回、WFP独自配送44回）を実施した。ラスワ郡のトリシュリ川対岸の3自治体は依然として道路が寸断され孤立している。別途、人道country teamによる「ネパール：ラスワ洪水 フラッシュアピール」（OCHA／国連ネパール常駐調整官事務所、9月4日）は、6郡17市町村・被災者84,270人という（NDRRMAに基づく）推計を踏襲し、新たに約19,284世帯が被災、84,270人全員を支援対象とするとしている。同アピールはこれらを、今後の合同調査で精緻化される曝露モデルの推計だ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26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被害状況（1/9）</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1,050人（NDRRMA状況報告第11号、9月1日18:00 NPT）。郡別内訳：チトワン321、ナワルパラシ東216、ナワルパラシ西170、ヌワコット142、ゴルカ65、ダディン57、タナフ38、ラスワ41。9月1日中に987人（同日09:00締め）→1,003人（同日13:00締め、OCHA「Rasuwa Flood Flash Update #5」引用）→1,050人（本18:00締め、うち治療中の死亡3人を含む）と推移した。それ以前は903人（8月31日09:00）、734人（8月30日）、616人（8月29日、WFPが政府集計を引用）、539人（NEOC、8月28日）。下流のチトワン・ナワルパラシで多数を占めるのは、トリシュリ川からナラヤニ川へと出水が遠く下流まで及んだためであり、別の災害ではない。本更新時点で、NDRRMAの第11号より後のPDF状況報告は公表されていない。以下9月3〜4日の数値は国連機関の状況報告によるもので、いずれも「政府・当局」を出典とするのみでNDRRMAの報番号は示していない。IOM「ネパール洪水対応状況報告第3号」（9月3日時点）は死者1,259人とし、WFP「ラスワ洪水対応状況報告」（9月4日）も「死者は1,259人に増加」と同じ数値を示している。両者が同じ政府集計を引用し、その間に数値が動いていない可能性がある。いずれの報告も郡別内訳や正確な締め時刻は示し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WFP「ラスワ洪水対応状況報告」（9月4日、政府集計を引用）／IOM「ネパール洪水対応状況報告第3号」（9月3日）。NDRRMAのPDFとしては状況報告第11号（9月1日18:00 NPT）が最新</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26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被害状況（2/9）</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約3,916人が連絡不通（NDRRMA状況報告第11号、9月1日18:00 NPT）。同日09:00締め、および（OCHA経由の）13:00締めから横ばい。内訳：治安機関要員2,423人（62%）、政府機関要員663人（17%）、外国人583人（15%）、外国人旅行者に同行していたネパール人164人（4%）、DEOC経由の届出63人（2%）。死者数が同日中に増え続けている一方でこの数値が動いていない理由をNDRRMAは説明していない。この「届出に基づく行方不明」の系列は、NEOC977人（8月28日）→WFP2,448人（8月30日）→4,247人（8月31日09:00）→3,916人（9月1日）と推移している。なお、WFPが8月29日に示した1,924人（行方不明または連絡が取れない者）は、NEOCの「当局への届出」に基づく集計より広い概念とされており、両者は互換的に使えない。9月3日時点でIOM状況報告第3号はこの数値を5,053人とし、WFPの9月4日報告は5,083人（「なお行方不明」）としている。いずれの国連機関報告も、これがNDRRMAの3,916人と同じ「届出ベース」の系列を継続するものか、WFPが8月29日に示したような広い「連絡不通」概念によるものかを明示していない。NDRRMAのPDF状況報告（第11号が最新）では、いずれの数値も確認でき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WFP「ラスワ洪水対応状況報告」（9月4日、政府集計を引用）／IOM「ネパール洪水対応状況報告第3号」（9月3日）。NDRRMAのPDFとしては状況報告第11号（9月1日18:00 NPT）が最新</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16の医療施設で計292人を治療、うち182人が退院、74人が治療継続中、33人が他院へ転送。治療中に3人が死亡しており、この3人は死者数に既に含まれる（NDRRMA状況報告第11号、9月1日18:00 NPT）。9月1日09:00締めの279人、8月31日09:00締めの267人から増加。NEOCの8月28日集計では73人（ラスワ43、ヌワコット27、ダディン3）、WFPは8月30日時点で約242人としていた。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状況報告第11号（9月1日18:00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26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被害状況（3/9）</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これまでに11,993人を救助（NDRRMA状況報告第11号、9月1日18:00 NPT）。うちヘリコプター空輸4,364人（外国人273人、ネパール人4,091人）、総飛行回数610回（当日84回、うち民間29回）。9月1日13:00締め（OCHA経由）の11,814人、8月31日締めの10,451人から増加。政府は治安要員21,314人を動員（ネパール軍9,119人、ネパール警察7,912人、武装警察隊4,203人）。指揮所は稼働を継続し、保健・通信・道路・電力復旧を担当する15の分野別調整チームが活動。燃料在庫はディーゼル35,000リットル、ガソリン15,000リットル、航空燃料9,000リットル。IOM状況報告第3号（9月3日時点）は救助累計12,038人（外国人583人を含む）、治安要員21,402人超を動員としており、NDRRMAの9月1日締めからわずかに増加しているが、IOMはNDRRMAが示すヘリコプター空輸の内訳までは示し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状況報告第11号（9月1日18:00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害が最も大きい4郡（ラスワ、ヌワコット、ダディン、ゴルカ）の13市町村が最も影響を受けたと特定され、いくつかは災害危機区域に指定される見込み。食料安全保障の関係機関は、ラスワ・ヌワコット両郡で少なくとも20,000世帯が緊急の食料支援を要する可能性があるとしている（ダディン、ゴルカ、チトワン、タナフンでも影響が報告されている）。約18,000世帯・50,000人超が緊急の水・衛生支援を必要とする。栄養分野の関係機関は、子ども約17,000人、妊産婦・授乳婦1,500人、思春期の若者9,000人が緊急の栄養支援を要すると推計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26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被害状況（4/9）</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被災者数（UNICEF、5郡集計）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推計65,000人が被災、うち子ども22,100人。ラスワ、ヌワコット、ダディン、ゴルカ、タナフンの5郡（UNICEFネパール人道状況報告第1号、8月31日）。上記8月28日時点の数値（3郡・子ども約17,000人）から拡大。医療施設6か所、学校少なくとも19校が損壊・全壊と報告された。これはUNICEF独自の集計であり、NDRRMAやOCHAの被災者数（基準・時点が異なる）とは突合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UNICEFネパール人道状況報告第1号（2026年8月31日）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避難・要支援者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避難者数はなお暫定。ヌワコット郡で把握されている5か所の避難所が、収容力1,350人に対し合計1,000人超を受け入れている（8月28日時点）。他の郡で避難した人々の所在はその時点で把握できていなかった。9月1日時点でOCHAの「Rasuwa Flood Flash Update #5」は、ヌワコット・ラスワ両郡の避難拠点27か所（大半は学校）に3,458人が避難していると報告。ただし誰がどこに避難し何を必要としているかの把握には依然として大きな空白がある。支援が全ての被災地域に届いていない：ヌワコット郡タルケシュワルの一部は支援を受けておらず、ラスワ郡アマチョディンモの全ワードは道路で到達不能、ダディン郡の4村では安全な飲料水が不足。橋梁41本の流失と幹線道路の寸断がアクセスを制約している。NDRRMA状況報告第11号（9月1日18:00）は別途、避難所（ホールディングセンター）27か所（ヌワコット16、ラスワ11）に、ヌワコット2,466人・ラスワ398人・ダディン260人・カトマンズ329人が滞在中としている。OCHAの「避難拠点」とNDRRMAの「ホールディングセンター」の2つの集計は突合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#3（8月28日）／OCHA「Rasuwa Flood Flash Update #5」（9月1日時点）／NDRRMA 状況報告第11号（9月1日18:00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26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被害状況（5/9）</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水力発電</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748MWの水力発電設備が影響を受けた（内訳は稼働中354MW・建設中394MW。ネパール電力庁の暫定値）。ラスワガディ、チリメ、トリシュリ3Aが損壊と報告されている。220kVトリシュリ3Bハブ変電所は全壊し、複数の送電線も途絶したため、影響は浸水した回廊の外へ及んで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ネパール電力庁（IRDR 8月28日経由）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金融機関・税関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商業銀行9支店が流失し、職員26人の安否が不明。中国国境のティムレにあるラスワ税関では職員15人と連絡が取れていない。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状況概観（8月27日）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ライフライン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橋梁・水道・通信網が大きく損壊し、被災地の多くが到達困難となって支援の搬入を妨げている。医療施設少なくとも4か所が甚大な被害。通信鉄塔が失われており、安否不明者の一部は連絡が取れないだけの可能性が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UNICEF（8月27日）／状況概観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衛星で捉えた被災範囲</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ラスワ郡では解析対象228km2のうち22km2が出水・土石流・岩屑流の影響を受け、解析域の居住人口19,940人のうち1,920人が被災域に曝露した。自治体別ではゴサインクンダ村18km2・1,160人、ウッタルガヤ村3km2・670人、カリカ村1km2・60人、アーマチョディンモ村1km2・30人。図には、チベット自治区内のレンデ川上流（ラスワガディの上流側）に「氷雪崩の推定発生地点」が示されている。暫定解析であり現地検証は未了。ヌワコット郡については別図が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UNOSAT・UNITAR（8月27日公表。Sentinel-2 8月27日／PlanetScope 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26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被害状況（6/9）</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衛星解析による被災範囲（UNOSAT）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解析対象面積 約350km2 のうち、約37km2 が出水の影響を受けたと推定。解析範囲内の建物 約46,600棟のうち約5,000棟が影響範囲内またはその近傍、道路 約120km が影響を受けた可能性。最も集中しているのはヌワコット郡ビドゥル市の約2,600棟、次いでラスワ郡ゴサインクンダ村の約1,030棟。暫定値であり現地検証は未実施。</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製品4259（8月26-27日の画像、8月28日公開）</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橋梁・道路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40km、橋梁80超、エネルギー関連施設14件が被災し、到達と対応の妨げとなっている。ボテコシ川・トリシュリ川の回廊の広い区間で集落・交通・エネルギー施設が大きな被害を受け、一部の集落は孤立して空路に頼る状態が続い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状況報告（8月29日）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国境交易・税関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ティムレ・バザール、ティムレ税関、ラスワガディ税関と、周辺の警備施設・商業施設が全壊または大きく損壊し、ネパール・中国間の国境交易と観光が止まった。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IRDR速報解析（8月28日）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被災した郡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被害が最も大きいのはラスワ、ヌワコット、ダディン、ゴルカの4郡で、13市町村が最も影響を受けたと特定されている。さらに下流のチトワン、カブレパランチョーク、タナフンでも死者が出ている。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NEOC・国連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土地・農地</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初期推計で11,000haを超える土地が被災し、うち約2,732haの農地が失われた。輸送路は約45kmが被災。被害はなお確認中である。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学校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被災した河岸から500m以内に69校・在籍児童生徒約19,000人の学校が所在し、少なくとも23校の復旧が必要となる。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26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被害状況（7/9）</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上流の湖 — 継続する洪水リスク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は、レンデ川の閉塞によって上流に推定0.11km2の湖が形成されたことを受け、洪水リスクが継続しているとして警告している。当局は下流の住民と対応要員に高度な警戒の維持を求めている。UNOSAT製品4260（CARTOSAT-3画像、8月28日）は、ネパール・中国国境付近に新たに形成された2つの堰止め湖を確認した。1つはラスワガディ友好橋の東約11km、チュスンド・ツァンポ川沿い（土石流/岩屑流の推定経路上）で約12ha、もう1つは氷・岩の雪崩の推定発生地点の西約2kmで約19ha。UNOSATはこれを暫定値であり現地検証は未実施としており、いずれかがNDRRMAが8月29日に報告した0.11km2の湖と対応するかは確認でき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NDRRMA（WFP 状況報告 8月29日経由）／UNOSAT 製品4260（8月28日の画像、8月27日公開）</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通信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テレコムは、被災した120か所のうち80か所が復旧し、ラスワ郡・ヌワコット郡の複数の被災地で携帯サービスが再開したとしている（8月29日）。9月1日18:00時点でNDRRMAは、被災回廊内のほぼ全ての基地局が復旧したと報告：ネパールテレコムは被害110基地局すべて復旧、エヌセルは被害78基地局中75基地局が復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ネパールテレコム（WFP 8月29日経由）／NDRRMA 状況報告第11号（9月1日18:00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26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被害状況（8/9）</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堆積物量（UNDP RAPIDA 暫定推計）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ボテコシ川〜トリシュリ川流域の解析対象地域内で、堆積物は少なくとも220万トン（UNDPのRAPIDA暫定推計。コペルニクスEMS／SERTITの衛星判読による建物被害評価と、現地に即した工学的推計を組み合わせたもの）。被害の把握が進むにつれ増加する見込み。うち建物由来の堆積物は約556,200トンで、衛星判読による建物2,359棟の被害評価に基づく。同発表が引用する政府集計では、6郡17市町村で84,270人が被災し、その約4人に3人は地震前から生活基盤・基礎サービス・生活条件で困難を抱えていた地域に住む。水力発電所11か所・太陽光発電所1か所（計431.1MW）が停止したほか、建設中の水力発電事業15件（計画470MW）も被害を受けた。同じ84,270人・17市町村・6郡という集計（同じくNDRRMAデータに基づくとされる）は、人道country team による「ネパール：ラスワ洪水 フラッシュアピール」（OCHA／国連ネパール常駐調整官事務所、9月4日）にも引用されており、これに加えて約19,284世帯が被災したと推計し、被災者84,270人全員を支援対象とするとしている。同アピールは、これらが曝露モデルによる推計であり、政府・分野別調査との突合を経て精緻化される途上にあること、つまり「どこを見るべきか」を示すもので確認済みの支援ニーズそのものではないことを明記している。IOM状況報告第3号（9月3日）は別途、ヌワコット郡のみで1,897世帯が避難、1,267棟が全壊、1,253棟が半壊としており（全壊・半壊の棟数はNDRRMAの9月1日時点の数値と一致）、保健関係機関が状況を確認中の避難施設に約5,384人が滞在している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UNDP（2026年9月1日、RAPIDA暫定評価）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26</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被害状況（9/9）</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中国側の影響（チベット自治区・ギロン）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BAS（国際大数据・持続可能な開発目標研究センター）とIRDR中国国家委員会の共同衛星画像解析によると、出水はギロン税関からギロン・ツァンポ川を約4.9km遡って逆流し、逆流域の湛水面積は発災前（8月12日）の約0.27km2から発災後（北京時間8月26日12:48）約0.62km2へと2.3倍に拡大した。氷・岩の雪崩の推定発生地点より下流では、河道が97.2kmの区間で著しく拡幅し、河川水面積は発災前の約6.39km2から発災後約30.99km2へと4.85倍に拡大した。これはネパール側のUNOSAT解析に対応する中国側の解析であり、両者の突合はまだ行わ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CBAS／IRDR中国国家委員会（2026年8月31日公表）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26</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ネパール赤十字社が飲料水、ターポリン、毛布、応急手当用品の配布を開始した。ただし道路と橋の損壊により、ラスワ郡の被害の大きい集落の多くは依然として到達困難である。</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26</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ADRCはNDRRMAからの緊急衛星画像要請を受け、発災当日にセンチネルアジアと国際災害チャーターの双方を発動した。チャーター側の記載では要請者は「水文気象局（DHM）に代わってADRC」で、Activation #1052、8月26日。センチネルアジアの緊急観測要請番号は SA-00658 で、その記録には国際災害チャーターへのエスカレーションと GLIDE番号 FF-2026-000162-NPL が明記されている。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IFRCは約100万スイスフランを緊急拠出したのち、24か月・2,500万スイスフランの緊急アピールを開始した。住まい、現金給付、保健、生活物資、水・衛生、心理社会的支援を対象とする。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UNICEFは緊急対応と早期復旧のため1,720万米ドルを要請し、トリブバン国際空港の人道支援集積拠点に備蓄していた衛生キットをラスワ・ヌワコット・ダディンへ搬送している。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中国は救援資金の拠出を表明し、インドは人道支援物資を送っている。インド・ビハール州当局は予防措置としてガンダック川のバルミキナガル堰を開放し、下流の10,000〜12,000人の避難に備えた。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韓国災害救助隊（KDRT）44人（外務省・KOICA・消防庁ほか）を9月1日に軍輸送機で派遣し、捜索・救助を支援。8月27日には国際機関を通じた100万米ドルの人道支援を表明。</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日本政府は9月3日、ネパール政府からの要請を受け、身元確認（遺体の識別）支援のため国際緊急援助隊（JDR）専門家チームの派遣を決定した。</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26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国際メカニズムの発動ページ（要請：ネパール水文気象局／発動：ADRC経由）</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lR8quy/generator/images/FF-2026-000162-NPL/sentinel_asia.png">    </p:cNvPr>
          <p:cNvPicPr>
            <a:picLocks noChangeAspect="1"/>
          </p:cNvPicPr>
          <p:nvPr/>
        </p:nvPicPr>
        <p:blipFill>
          <a:blip r:embed="rId2"/>
          <a:stretch>
            <a:fillRect/>
          </a:stretch>
        </p:blipFill>
        <p:spPr>
          <a:xfrm>
            <a:off x="365760" y="1273053"/>
            <a:ext cx="5623560" cy="3891270"/>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センチネルアジア 緊急観測 SA-00658（要請：ネパール水文気象局）</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900" dirty="0"/>
          </a:p>
        </p:txBody>
      </p:sp>
      <p:pic>
        <p:nvPicPr>
          <p:cNvPr id="6" name="Image 2" descr="/tmp/build_event-lR8quy/generator/images/FF-2026-000162-NPL/disaster_charter.png">    </p:cNvPr>
          <p:cNvPicPr>
            <a:picLocks noChangeAspect="1"/>
          </p:cNvPicPr>
          <p:nvPr/>
        </p:nvPicPr>
        <p:blipFill>
          <a:blip r:embed="rId4"/>
          <a:stretch>
            <a:fillRect/>
          </a:stretch>
        </p:blipFill>
        <p:spPr>
          <a:xfrm>
            <a:off x="6967687" y="1097280"/>
            <a:ext cx="4032586"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国際災害チャーター Flood in Nepal（Activation #1052）</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26</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緊急観測の参加機関とプロダクト（1/2）</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緊急観測要請 20260826-Nepal-Flood。ネパール水文気象局の要請を受け、ADRCが発災当日に発動した。JAXAはALOS-2の緊急観測を計画している。センチネルアジアの記録には国際災害チャーターへのエスカレーション「あり」、GLIDE番号 FF-2026-000162-NPL が明記されている。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発動（SA-00658）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#1052。チャーターの発動ページには要請者が「ネパール・エネルギー水資源灌漑省 水文気象局（DHM）に代わって ADRC」と記載されている。案件管理は Samir Belabbes（UNITAR）。付加価値解析は NRSC、英国地質調査所、ISRO、SERTIT（iCube）、コペルニクス緊急管理サービス、DHM、リュブリャナ大学、ネパール雪氷学会。8月28日時点で3件のプロダクトが公開されている。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#1052（8/26、14:58 UTC+02:00）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UNOSAT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ラスワ郡の解析対象228km2のうち22km2が被災、解析域の居住人口19,940人のうち1,920人が曝露。図にはチベット自治区内のレンデ川上流の「氷雪崩の推定発生地点」が示され、ティムレの被災前後（WorldView-3 2024年4月19日／Sentinel-2 2026年8月27日）の拡大図が添えられている。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Maps published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Rissho University / University of Tokyo</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センチネルアジア参加研究者から、Landsat-9による解析と、光学衛星データによる3次元被害図が提供された。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Shared 経由 Sentinel Asia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TASA (Taiwan Space Agency)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2026年4月22日および8月28日のアーカイブ・観測データ。あわせて、Sentinel-2の発災前画像とFORMOSAT-5の発災後画像から作成した付加価値プロダクト（8月12日・28日）。</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ALOS-2のアーカイブ・観測画像とRGB合成画像が提供された。観測日は2025年12月19日、2026年1月30日、2026年8月28日。</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本災害の緊急観測要請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#1052</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26</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緊急観測の参加機関とプロダクト（2/2）</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2026年8月28日・31日に取得されたSentinel-1データと、8月27日に取得されたSentinel-2画像を用いて作成した付加価値プロダクト。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IWM (Institute of Water Modelling)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入手可能なPlanet衛星画像を用いて作成した付加価値プロダクト（8月28日）。IWMは8月30日、8月28日までのPlanetScope画像を用いて対象範囲を拡張した2件目のVAPを提供した。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8/28、extended 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ADRC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8月27日、要請元が発生源の位置を絞り込んだことを受け、ADRCが広域の観測対象範囲（AOI）を見直した。ネパール水文気象局は氷雪崩の座標を北緯28.295727度・東経85.507802度としており、当初のAOIは発生源が分からない段階で設定したものだと説明し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AOI revised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本災害の緊急観測要請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#1052</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26</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危険はまだ終わっていない。レンデ川の閉塞により上流に推定0.11km2の湖が形成され、NDRRMAは洪水リスクの継続を警告している。8月26日の出水を起こしたのと同じ経過（閉塞→湛水→急激な決壊）であり、下流の住民と対応要員には高度な警戒の維持が求められてい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8月28日のUNOSATの解析は、下流のヌワコット郡まで範囲を広げている。影響を受けた建物が最も集中しているのは、出水が始まったラスワ郡ではなくヌワコット郡ビドゥル市である（約2,600棟に対し、ラスワ郡ゴサインクンダ村は約1,030棟）。発災地の郡だけを見ていると、被害の広がりを小さく見積もることに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この出水を説明できる降雨は無い。 降水量と流量の記録に、大雨も局地的な集中豪雨も見当たらないことが、IRDRが上流の斜面崩壊を疑う出発点になった。降雨のしきい値に頼る洪水警報では、この災害は捉えられない。</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天然ダムは下流からは見えなかった。 閉塞していた18〜19時間、西側のマラ川などからの流入が下流の水位を保っていたため、下流の記録には上流で何が起きているかを示すものが現れなかった。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被害は分野をまたいで連鎖した。 発生源での1つの崩壊が、狭く曝露の大きい山岳回廊を伝わり、集落・国境交易・交通・エネルギー・観光・通信、そして応急対応能力そのものを同時に直撃した。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要請元が発生源の位置を特定した。8月27日、ネパール水文気象局はPlanetの画像から氷雪崩の座標を北緯28.295727度・東経85.507802度と報告し、当初の観測対象範囲は発生源が分からない段階で設定したものだと説明した。ADRCは同日、広域のAOIを見直している。</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26</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発生機構と、呼び方が変わった経緯</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本災害は発災直後、氷河湖決壊洪水（GLOF）の疑いとして扱われた。8月28日のIRDR速報解析は、氷・岩・土砂の崩落が川を堰き止め、それが決壊したものと特定している。氷河湖の決壊ではない。 ここでは両方の呼び方を日付とともに残す。当初の呼び方はその時点で得られていた最善の読みであり、隠すべき誤りではない。</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2651760"/>
                <a:gridCol w="6675120"/>
                <a:gridCol w="210312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段階</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発災前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ランタン地域北部の長期的な環境変化。水の後退、雪氷の状態の変化、氷の荷重の増加。</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氷・岩の崩落</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デディン付近の標高約5,000mで氷・岩・土砂の大量の塊が崩落し、約3,000mまで落下。落下中に砕けて混合する。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8月25日 </a:t>
                      </a:r>
                      <a:pPr algn="l" indent="0" marL="0">
                        <a:buNone/>
                      </a:pPr>
                      <a:r>
                        <a:rPr lang="en-US" sz="1100" dirty="0">
                          <a:solidFill>
                            <a:srgbClr val="222222"/>
                          </a:solidFill>
                          <a:latin typeface="Meiryo" pitchFamily="34" charset="0"/>
                          <a:ea typeface="Meiryo" pitchFamily="34" charset="-122"/>
                          <a:cs typeface="Meiryo" pitchFamily="34" charset="-120"/>
                        </a:rPr>
                        <a:t>13〜14時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天然ダムの形成</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崩落した氷・岩・岩屑の塊が河道を塞ぎ、天然のダムを作る。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8月25日 </a:t>
                      </a:r>
                      <a:pPr algn="l" indent="0" marL="0">
                        <a:buNone/>
                      </a:pPr>
                      <a:r>
                        <a:rPr lang="en-US" sz="1100" dirty="0">
                          <a:solidFill>
                            <a:srgbClr val="222222"/>
                          </a:solidFill>
                          <a:latin typeface="Meiryo" pitchFamily="34" charset="0"/>
                          <a:ea typeface="Meiryo" pitchFamily="34" charset="-122"/>
                          <a:cs typeface="Meiryo" pitchFamily="34" charset="-120"/>
                        </a:rPr>
                        <a:t>午後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湛水</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河川流と氷の融解により18〜19時間にわたり湛水し、ダムへの側圧が高まる。マラ川からの流入が下流の流れを保ち、閉塞を覆い隠す。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8月25〜26日</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急激な決壊</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側圧の上昇に加え、岩屑の中の氷の融解と土砂の緩み・飽和が重なってダムが決壊。強い地面の振動がM4.4として記録され、爆発音のような音が聞かれた。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8月26日 </a:t>
                      </a:r>
                      <a:pPr algn="l" indent="0" marL="0">
                        <a:buNone/>
                      </a:pPr>
                      <a:r>
                        <a:rPr lang="en-US" sz="1100" dirty="0">
                          <a:solidFill>
                            <a:srgbClr val="222222"/>
                          </a:solidFill>
                          <a:latin typeface="Meiryo" pitchFamily="34" charset="0"/>
                          <a:ea typeface="Meiryo" pitchFamily="34" charset="-122"/>
                          <a:cs typeface="Meiryo" pitchFamily="34" charset="-120"/>
                        </a:rPr>
                        <a:t>08時35分ごろ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下流への伝播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ラスワガディ約09時00分、ティムレ約09時15分、ベトラワティ約09時20分。急勾配で狭い回廊が流れを集中させた。さらに下流では谷が広がって流速が落ち、追加の被害は限られた。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8月26日 </a:t>
                      </a:r>
                      <a:pPr algn="l" indent="0" marL="0">
                        <a:buNone/>
                      </a:pPr>
                      <a:r>
                        <a:rPr lang="en-US" sz="1100" dirty="0">
                          <a:solidFill>
                            <a:srgbClr val="222222"/>
                          </a:solidFill>
                          <a:latin typeface="Meiryo" pitchFamily="34" charset="0"/>
                          <a:ea typeface="Meiryo" pitchFamily="34" charset="-122"/>
                          <a:cs typeface="Meiryo" pitchFamily="34" charset="-120"/>
                        </a:rPr>
                        <a:t>09時〜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IRDRは、発生源の詳細な機構・決壊の力学・ピーク流量・地震動との関係は今後の調査を要すると明記している。当初の呼び方：DHM・NDRRMA・ADRC・センチネルアジア・JAXA・WFP は発災直後「GLOF」を用い、UNOSATは堆積物を mudflow / rockflow と記述、DG ECHO は ice-rock avalanche and flash flood としていた。GLIDE番号 FF-2026-000162-NPL（Flash Flood）は登録上の分類であり、この変更の影響を受けない。</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IRDR Rapid Analysis Report、8/28 2026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26</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UNOSAT 衛星解析による土石流・岩屑流の範囲（ラスワ郡・ヌワコット郡）</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694944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製品番号4259。2026年8月26日・27日の画像解析、8月28日公開（v1）。8月27日のSentinel-2と8月26日のPlanetScopeの画像による。解析対象面積 約350km2 のうち、約37km2 が出水の影響を受けたと推定される。解析範囲内の建物 約46,600棟のうち約5,000棟が影響範囲内またはその近傍にあり、道路 約120km が影響を受けた可能性がある。最も集中しているのはヌワコット郡ビドゥル市の約2,600棟で、次いでラスワ郡ゴサインクンダ村の約1,030棟。氷と岩の雪崩の発生地点と推定される位置（国境の中国側）も図示されている。</a:t>
            </a:r>
            <a:endParaRPr lang="en-US" sz="1150" dirty="0"/>
          </a:p>
        </p:txBody>
      </p:sp>
      <p:pic>
        <p:nvPicPr>
          <p:cNvPr id="5" name="Image 1" descr="/tmp/build_event-lR8quy/generator/images/FF-2026-000162-NPL/unosat_rasuwa_manual.jpg">    </p:cNvPr>
          <p:cNvPicPr>
            <a:picLocks noChangeAspect="1"/>
          </p:cNvPicPr>
          <p:nvPr/>
        </p:nvPicPr>
        <p:blipFill>
          <a:blip r:embed="rId2"/>
          <a:stretch>
            <a:fillRect/>
          </a:stretch>
        </p:blipFill>
        <p:spPr>
          <a:xfrm>
            <a:off x="8208310" y="1051560"/>
            <a:ext cx="2968659" cy="4105656"/>
          </a:xfrm>
          <a:prstGeom prst="rect">
            <a:avLst/>
          </a:prstGeom>
        </p:spPr>
      </p:pic>
      <p:sp>
        <p:nvSpPr>
          <p:cNvPr id="6" name="Text 2"/>
          <p:cNvSpPr/>
          <p:nvPr/>
        </p:nvSpPr>
        <p:spPr>
          <a:xfrm>
            <a:off x="7589520" y="5175504"/>
            <a:ext cx="420624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UNOSAT 製品4259 — バグマティ州ラスワ郡・ヌワコット郡</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900" dirty="0"/>
          </a:p>
        </p:txBody>
      </p:sp>
      <p:sp>
        <p:nvSpPr>
          <p:cNvPr id="7" name="Text 3"/>
          <p:cNvSpPr/>
          <p:nvPr/>
        </p:nvSpPr>
        <p:spPr>
          <a:xfrm>
            <a:off x="365760" y="5870448"/>
            <a:ext cx="694944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UNOSATは、これは暫定的な解析であり現地での検証は行われていないと明記している。堆積物を mudflow / rockflow と記述しているが、これは図に写っているものの呼び方であり、DHM・NDRRMA・ADRC・センチネルアジア・JAXA・WFP が用いる GLOF という位置づけと矛盾しない。</a:t>
            </a:r>
            <a:endParaRPr lang="en-US" sz="9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UNOSAT／UNITAR product 4259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26</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災害ページ（GLIDE FF-2026-000162-NPL）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https://reliefweb.int/disaster/ff-2026-000162-npl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 本災害の緊急観測要請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Activation #1052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M5.2 氷河崩落（コダリ北西55km）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https://earthquake.usgs.gov/earthquakes/eventpage/us7000tbwb</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UNOSAT・国際災害チャーター 被災範囲図（ラスワ郡）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https://reliefweb.int/map/nepal/nepal-satellite-detected-mudflow-rockflow-extent-26-27-august-2026-rasuwa-district-bagmati-province-imagery-analysis-2627082026-published-27082026-v1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緊急アピール（2,500万スイスフラン）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https://reliefweb.int/report/nepal/ifrc-launches-chf-25-million-emergency-appeal-response-devastating-nepal-flash-floods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支援要請（1,720万米ドル）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https://reliefweb.int/report/nepal/flash-floods-nepal-leave-more-17000-children-need-urgent-humanitarian-assistance-enar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ネパール状況報告（8月27日）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https://reliefweb.int/report/nepal/wfp-nepal-external-situation-report-27-august-2026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BIPADポータル（内務省）災害統計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https://bipadportal.gov.np/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製品4259 — ラスワ郡・ヌワコット郡 土石流/岩屑流の範囲（8月28日）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26</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IRDR 速報解析『2026年8月26日 ボテコシ鉄砲水の科学的解剖』（8月28日）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 ネパール・ラスワ洪水 Flash Update #3（8月28日）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https://reliefweb.int/report/nepal/nepal-rasuwa-flood-flash-update-3</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ネパール 洪水緊急事態 状況報告（8月29日）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https://reliefweb.int/report/nepal/nepal-rasuwa-flood-flash-update-4-31-august-2026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https://reliefweb.int/report/nepal/dispatch-korea-disaster-relief-team-kdrt-response-flood-damage-nepal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https://reliefweb.int/report/nepal/nepal-flood-emergency-situation-report-reporting-period-30-31-august-2026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https://reliefweb.int/report/nepal/water-mission-responds-devastating-flash-floods-nepal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https://www.ndrrma.gov.np/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https://ndrrma.gov.np/mediafiles/rasuwa/SitRep_11_NEP_01092026.pdf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https://reliefweb.int/map/nepal/mudflowrockflow-impact-assessment-nuwakot-district-bagmati-province-nepal-26-27-august-2026-imagery-analysis-2627082026-published-28082026-v1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https://reliefweb.int/map/nepal/satellite-detected-newly-formed-barrier-lakes-following-ice-rock-avalanche-rasuwa-district-nepal-28-august-2026-imagery-analysis-2627082026-published-27082026-v1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26</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https://reliefweb.int/map/nepal/nepal-china-eu-response-ice-rock-avalanche-and-flash-flood-event-dg-echo-daily-map-02092026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https://reliefweb.int/report/nepal/rapid-disaster-impact-report-satellite-remote-sensing-reveals-severe-mudslide-impacts-along-china-nepal-border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https://reliefweb.int/report/nepal/nepal-floods-hit-vulnerable-communities-undp-estimates-22-million-tonnes-debris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https://reliefweb.int/report/nepal/nepal-flash-floods-medical-teams-deploy-emergency-zone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https://reliefweb.int/report/nepal/nepal-rasuwa-flood-flash-update-5-1-september-2026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https://reliefweb.int/report/nepal/unicef-nepal-humanitarian-situation-report-no1-rasuwa-flood-31-august-2026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https://reliefweb.int/report/nepal/dispatch-japan-disaster-relief-jdr-expert-team-response-flash-flood-nepal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https://reliefweb.int/map/nepal/nepal-flash-floods-26th-august-2026-flood-extent-affected-districts-dhading-nuwakot-and-rasuwa-03092026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https://reliefweb.int/map/nepal/nepal-flash-floods-26th-august-2026-reference-map-nuwakot-district-03092026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https://reliefweb.int/map/nepal/nepal-flash-floods-26th-august-2026-reference-map-rasuwa-district-03092026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https://reliefweb.int/report/nepal/iom-nepal-flood-response-situation-report-3-3-september-2026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26</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有用リンク・出典（4/4）</a:t>
            </a:r>
            <a:endParaRPr lang="en-US" sz="2100" dirty="0"/>
          </a:p>
        </p:txBody>
      </p:sp>
      <p:pic>
        <p:nvPicPr>
          <p:cNvPr id="3" name="Image 0" descr="/tmp/build_event-lR8qu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https://reliefweb.int/report/nepal/wfp-nepal-situation-report-rasuwa-flood-response-04-september-2026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https://reliefweb.int/report/nepal/nepal-rasuwa-flood-flash-appeal-4-september-2026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https://reliefweb.int/report/nepal/nepal-flash-floods-displacement-snapshot-27-31-august-2026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https://reliefweb.int/map/nepal/nepal-rasuwa-floods-26th-august-2026-reference-map-series-affected-area-sheet-01-04092026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https://reliefweb.int/map/nepal/nepal-rasuwa-floods-26th-august-2026-reference-map-bidur-municipality-04092026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2026-09-04T22:58:14Z</dcterms:created>
  <dcterms:modified xsi:type="dcterms:W3CDTF">2026-09-04T22:58:14Z</dcterms:modified>
</cp:coreProperties>
</file>