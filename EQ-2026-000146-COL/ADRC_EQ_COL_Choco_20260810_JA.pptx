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5-1.png"/><Relationship Id="rId2" Type="http://schemas.openxmlformats.org/officeDocument/2006/relationships/image" Target="../media/image-15-2.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8-1.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39-1.png"/><Relationship Id="rId14" Type="http://schemas.openxmlformats.org/officeDocument/2006/relationships/slideLayout" Target="../slideLayouts/slideLayout1.xml"/><Relationship Id="rId1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40-1.png"/><Relationship Id="rId14" Type="http://schemas.openxmlformats.org/officeDocument/2006/relationships/slideLayout" Target="../slideLayouts/slideLayout1.xml"/><Relationship Id="rId1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41-1.png"/><Relationship Id="rId14" Type="http://schemas.openxmlformats.org/officeDocument/2006/relationships/slideLayout" Target="../slideLayouts/slideLayout1.xml"/><Relationship Id="rId1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 Type="http://schemas.openxmlformats.org/officeDocument/2006/relationships/image" Target="../media/image-42-1.png"/><Relationship Id="rId13" Type="http://schemas.openxmlformats.org/officeDocument/2006/relationships/slideLayout" Target="../slideLayouts/slideLayout1.xml"/><Relationship Id="rId1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semana.com/tecnologia/articulo/servicio-geologico-revela-el-numero-total-de-replicas-que-ha-habido-en-colombia-tras-fuerte-terremoto-que-estremecio-al-pais/202641/" TargetMode="External"/><Relationship Id="rId3" Type="http://schemas.openxmlformats.org/officeDocument/2006/relationships/hyperlink" Target="https://www.mofa.go.jp/mofaj/la_c/sa/co/pageit_000001_00001.html" TargetMode="External"/><Relationship Id="rId4" Type="http://schemas.openxmlformats.org/officeDocument/2006/relationships/hyperlink" Target="https://x.com/MofaJapan_jp/status/2087155064855261537" TargetMode="External"/><Relationship Id="rId5" Type="http://schemas.openxmlformats.org/officeDocument/2006/relationships/hyperlink" Target="https://www.eltiempo.com/mundo/mas-regiones/la-comunidad-internacional-se-vuelca-en-ayudas-para-colombia-lista-de-paises-que-han-ofrecido-apoyo-tras-el-terremoto-de-magnitud-7-3577512" TargetMode="External"/><Relationship Id="rId6" Type="http://schemas.openxmlformats.org/officeDocument/2006/relationships/hyperlink" Target="https://colombia.un.org/es/320793-informaci%C3%B3n-y-actualizaciones-sobre-el-terremoto-en-colombia" TargetMode="External"/><Relationship Id="rId7" Type="http://schemas.openxmlformats.org/officeDocument/2006/relationships/hyperlink" Target="https://news.un.org/es/story/2026/08/1541792" TargetMode="External"/><Relationship Id="rId8" Type="http://schemas.openxmlformats.org/officeDocument/2006/relationships/hyperlink" Target="https://www.colombiatebusca.com/" TargetMode="External"/><Relationship Id="rId9" Type="http://schemas.openxmlformats.org/officeDocument/2006/relationships/hyperlink" Target="https://www.asocapitales.co/terremoto-colombia.html" TargetMode="External"/><Relationship Id="rId10" Type="http://schemas.openxmlformats.org/officeDocument/2006/relationships/hyperlink" Target="https://www.infobae.com/colombia/2026/08/12/de-la-espriella-anuncio-alivios-y-subsidios-tras-emergencia-en-el-eje-cafetero-por-el-terremoto-detallo-plan-de-choque-para-educacion-y-vivienda/" TargetMode="External"/><Relationship Id="rId11" Type="http://schemas.openxmlformats.org/officeDocument/2006/relationships/hyperlink" Target="https://www.pulzo.com/nacion/terremoto-en-colombia-ungrd-reporta-danos-y-victimas-en-valle-del-cauca-y-risaralda-PP5272829A" TargetMode="External"/><Relationship Id="rId1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 Type="http://schemas.openxmlformats.org/officeDocument/2006/relationships/image" Target="../media/image-43-1.png"/><Relationship Id="rId13" Type="http://schemas.openxmlformats.org/officeDocument/2006/relationships/slideLayout" Target="../slideLayouts/slideLayout1.xml"/><Relationship Id="rId1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asocapitales.co/actualidad/noticias/ciudades-seguras/terremoto-deja-188-fallecidos-y-1677-heridos-en-ciudades" TargetMode="External"/><Relationship Id="rId3" Type="http://schemas.openxmlformats.org/officeDocument/2006/relationships/hyperlink" Target="https://www.infolibre.es/internacional/terremoto-colombia-deja-254-muertos-continua-busqueda-escombros_1_2235003.html" TargetMode="External"/><Relationship Id="rId4" Type="http://schemas.openxmlformats.org/officeDocument/2006/relationships/hyperlink" Target="https://www.elcolombiano.com/colombia/cifra-muertos-heridos-desaparecidos-por-terremoto-colombia-MK39884181" TargetMode="External"/><Relationship Id="rId5" Type="http://schemas.openxmlformats.org/officeDocument/2006/relationships/hyperlink" Target="https://www.eltiempo.com/colombia/otras-ciudades/balance-oficial-de-la-ungrd-tras-terremoto-de-magnitud-7-4-en-colombia-273-fallecidos-3-824-heridos-y-377-desaparecidos-3578196" TargetMode="External"/><Relationship Id="rId6" Type="http://schemas.openxmlformats.org/officeDocument/2006/relationships/hyperlink" Target="https://www.eltiempo.com/vida/40-753-familias-afectadas-y-273-muertos-ungrd-entrega-nuevo-balance-del-terremoto-en-colombia-3578185" TargetMode="External"/><Relationship Id="rId7" Type="http://schemas.openxmlformats.org/officeDocument/2006/relationships/hyperlink" Target="https://www.eltiempo.com/colombia/otras-ciudades/nuevo-temblor-de-magnitud-4-2-se-registro-en-san-jose-del-palmar-choco-en-la-manana-de-este-jueves-13-de-agosto-3578131" TargetMode="External"/><Relationship Id="rId8" Type="http://schemas.openxmlformats.org/officeDocument/2006/relationships/hyperlink" Target="https://www.infobae.com/colombia/2026/08/13/colombia-recibira-equipos-de-rescate-de-ee-uu-israel-ecuador-y-el-salvador-por-terremoto/" TargetMode="External"/><Relationship Id="rId9" Type="http://schemas.openxmlformats.org/officeDocument/2006/relationships/hyperlink" Target="https://www.eltiempo.com/colombia/otras-ciudades/balance-oficial-de-la-ungrd-tras-terremoto-de-magnitud-7-4-en-colombia-287-fallecidos-3-975-heridos-y-378-desaparecidos-3578445" TargetMode="External"/><Relationship Id="rId10" Type="http://schemas.openxmlformats.org/officeDocument/2006/relationships/hyperlink" Target="https://www.infobae.com/colombia/2026/08/14/temblor-de-74-en-colombia-el-10-de-agosto-se-actualizo-el-numero-de-fallecidos-en-todo-el-pais/" TargetMode="External"/><Relationship Id="rId11" Type="http://schemas.openxmlformats.org/officeDocument/2006/relationships/hyperlink" Target="https://www.infobae.com/colombia/2026/08/14/aumenta-la-ayuda-internacional-a-colombia-tras-el-terremoto-de-74-india-envia-20-toneladas-y-noruega-suecia-y-espana-anuncian-nuevos-recursos/" TargetMode="External"/><Relationship Id="rId1" Type="http://schemas.openxmlformats.org/officeDocument/2006/relationships/image" Target="../media/image-44-1.png"/><Relationship Id="rId12" Type="http://schemas.openxmlformats.org/officeDocument/2006/relationships/slideLayout" Target="../slideLayouts/slideLayout1.xml"/><Relationship Id="rId1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elheraldo.co/colombia/2026/08/14/italia-india-espana-chile-y-banco-mundial-entre-los-paises-y-organismos-que-han-enviado-ayudas-a-colombia-por-el-terremoto/" TargetMode="External"/><Relationship Id="rId3" Type="http://schemas.openxmlformats.org/officeDocument/2006/relationships/hyperlink" Target="https://www.jrc.or.jp/international/news/2026/0812_054987.html" TargetMode="External"/><Relationship Id="rId4"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5"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6" Type="http://schemas.openxmlformats.org/officeDocument/2006/relationships/hyperlink" Target="https://cnnespanol.cnn.com/2026/08/12/colombia/live-news/terremoto-en-vivo-muertos-videos-rescates-orix" TargetMode="External"/><Relationship Id="rId7"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8" Type="http://schemas.openxmlformats.org/officeDocument/2006/relationships/hyperlink" Target="https://www.semana.com/nacion/articulo/ascienden-a-294-los-fallecidos-del-terremoto-del-10-de-agosto-y-van-81506-viviendas-averiadas-segun-cifras-oficiales/202627/" TargetMode="External"/><Relationship Id="rId9" Type="http://schemas.openxmlformats.org/officeDocument/2006/relationships/hyperlink" Target="https://www.elheraldo.co/colombia/2026/08/12/presidente-de-la-espriella-decreta-tres-dias-de-duelo-nacional-por-victimas-del-terremoto/" TargetMode="External"/><Relationship Id="rId10"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1"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45-1.png"/><Relationship Id="rId12" Type="http://schemas.openxmlformats.org/officeDocument/2006/relationships/slideLayout" Target="../slideLayouts/slideLayout1.xml"/><Relationship Id="rId1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1" Type="http://schemas.openxmlformats.org/officeDocument/2006/relationships/hyperlink" Target="https://reliefweb.int/report/colombia/oim-respuesta-al-terremoto-en-colombia-reporte-de-situacion-6-28-agosto-2026" TargetMode="External"/><Relationship Id="rId12" Type="http://schemas.openxmlformats.org/officeDocument/2006/relationships/hyperlink" Target="https://x.com/UNGRD/status/2094414373506736128" TargetMode="External"/><Relationship Id="rId1" Type="http://schemas.openxmlformats.org/officeDocument/2006/relationships/image" Target="../media/image-46-1.png"/><Relationship Id="rId13" Type="http://schemas.openxmlformats.org/officeDocument/2006/relationships/slideLayout" Target="../slideLayouts/slideLayout1.xml"/><Relationship Id="rId1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3" Type="http://schemas.openxmlformats.org/officeDocument/2006/relationships/hyperlink" Target="https://reliefweb.int/report/colombia/colombia-flash-update-011-actualizacion-afectaciones-por-terremoto-en-colombia-02-de-septiembre-de-2026" TargetMode="External"/><Relationship Id="rId1" Type="http://schemas.openxmlformats.org/officeDocument/2006/relationships/image" Target="../media/image-47-1.png"/><Relationship Id="rId14" Type="http://schemas.openxmlformats.org/officeDocument/2006/relationships/slideLayout" Target="../slideLayouts/slideLayout1.xml"/><Relationship Id="rId1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reliefweb.int/report/colombia/colombia-flash-update-011-update-impact-earthquake-colombia-september-2-2026" TargetMode="External"/><Relationship Id="rId3" Type="http://schemas.openxmlformats.org/officeDocument/2006/relationships/hyperlink" Target="https://reliefweb.int/report/colombia/urgent-needs-persist-three-weeks-after-earthquake-colombia" TargetMode="External"/><Relationship Id="rId4" Type="http://schemas.openxmlformats.org/officeDocument/2006/relationships/hyperlink" Target="https://reliefweb.int/report/colombia/informe-de-monitoreo-de-proteccion-trimestral-de-drc-colombia-abril-junio-2026" TargetMode="External"/><Relationship Id="rId5" Type="http://schemas.openxmlformats.org/officeDocument/2006/relationships/hyperlink" Target="https://reliefweb.int/report/colombia/colombia-earthquake-situation-report-7-31-aug-2026" TargetMode="External"/><Relationship Id="rId6" Type="http://schemas.openxmlformats.org/officeDocument/2006/relationships/hyperlink" Target="https://reliefweb.int/report/colombia/respuesta-al-terremoto-en-colombia-reporte-de-situacion-7-31-agosto-2026" TargetMode="External"/><Relationship Id="rId7" Type="http://schemas.openxmlformats.org/officeDocument/2006/relationships/hyperlink" Target="https://reliefweb.int/report/colombia/amda-emergency-relief-2-earthquake-colombia-3-september-2026" TargetMode="External"/><Relationship Id="rId8" Type="http://schemas.openxmlformats.org/officeDocument/2006/relationships/hyperlink" Target="https://reliefweb.int/map/colombia/manizales-colombia-barrios-afectados-terremoto-10-de-agosto-2026-03092026" TargetMode="External"/><Relationship Id="rId9" Type="http://schemas.openxmlformats.org/officeDocument/2006/relationships/hyperlink" Target="https://reliefweb.int/report/colombia/amda-emergency-relief-3-earthquake-colombia-7-september-2026" TargetMode="External"/><Relationship Id="rId10" Type="http://schemas.openxmlformats.org/officeDocument/2006/relationships/hyperlink" Target="https://reliefweb.int/report/colombia/resumen-actualizado-de-la-intervencion-psicosocial-de-abbacol-fecha-de-resumen-y-actualizacion-04-septiembre-2026" TargetMode="External"/><Relationship Id="rId11" Type="http://schemas.openxmlformats.org/officeDocument/2006/relationships/hyperlink" Target="https://reliefweb.int/report/colombia/colombia-food-security-outlook-update-august-2026-january-2027-earthquake-impacts-reduce-food-access-affected-areas-el-nino-strengthens" TargetMode="External"/><Relationship Id="rId12" Type="http://schemas.openxmlformats.org/officeDocument/2006/relationships/hyperlink" Target="https://reliefweb.int/map/colombia/quibdo-colombia-barrios-afectados-terremoto-10-de-agosto-2026-03092026" TargetMode="External"/><Relationship Id="rId13" Type="http://schemas.openxmlformats.org/officeDocument/2006/relationships/hyperlink" Target="https://reliefweb.int/report/colombia/iom-colombia-earthquake-situation-report-8-03-september-2026" TargetMode="External"/><Relationship Id="rId1" Type="http://schemas.openxmlformats.org/officeDocument/2006/relationships/image" Target="../media/image-48-1.png"/><Relationship Id="rId14" Type="http://schemas.openxmlformats.org/officeDocument/2006/relationships/slideLayout" Target="../slideLayouts/slideLayout1.xml"/><Relationship Id="rId1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8-3-septiembre-2026" TargetMode="External"/><Relationship Id="rId3" Type="http://schemas.openxmlformats.org/officeDocument/2006/relationships/hyperlink" Target="https://reliefweb.int/report/colombia/wfp-colombia-earthquake-response-7-september-2026" TargetMode="External"/><Relationship Id="rId4" Type="http://schemas.openxmlformats.org/officeDocument/2006/relationships/hyperlink" Target="https://reliefweb.int/report/colombia/amda-emergency-relief-4-earthquake-colombia-8-september-2026" TargetMode="External"/><Relationship Id="rId5" Type="http://schemas.openxmlformats.org/officeDocument/2006/relationships/hyperlink" Target="https://reliefweb.int/report/colombia/colombia-reporte-plan-de-respuesta-necesidades-humanitarias-hnrp-2026-en-el-sistema-5w-entre-enero-y-julio-de-2026" TargetMode="External"/><Relationship Id="rId6" Type="http://schemas.openxmlformats.org/officeDocument/2006/relationships/hyperlink" Target="https://reliefweb.int/report/colombia/analisis-de-situacion-y-respuesta-al-terremoto-4-de-septiembre-2026" TargetMode="External"/><Relationship Id="rId7" Type="http://schemas.openxmlformats.org/officeDocument/2006/relationships/hyperlink" Target="https://reliefweb.int/report/colombia/analisis-de-situacion-y-respuesta-al-terremoto-16-agosto-2026" TargetMode="External"/><Relationship Id="rId8" Type="http://schemas.openxmlformats.org/officeDocument/2006/relationships/hyperlink" Target="https://reliefweb.int/map/colombia/cali-colombia-barrios-afectados-terremoto-10-de-agosto-2026-08092026" TargetMode="External"/><Relationship Id="rId9" Type="http://schemas.openxmlformats.org/officeDocument/2006/relationships/hyperlink" Target="https://reliefweb.int/report/colombia/colombia-flash-update-012-update-impact-earthquake-colombia-september-10-2026" TargetMode="External"/><Relationship Id="rId10" Type="http://schemas.openxmlformats.org/officeDocument/2006/relationships/hyperlink" Target="https://reliefweb.int/report/colombia/seisme-en-colombie-caritas-passe-de-laide-durgence-au-relevement" TargetMode="External"/><Relationship Id="rId11" Type="http://schemas.openxmlformats.org/officeDocument/2006/relationships/hyperlink" Target="https://reliefweb.int/report/colombia/terremoto-en-colombia-caritas-pasa-de-la-respuesta-de-emergencia-la-recuperacion" TargetMode="External"/><Relationship Id="rId12" Type="http://schemas.openxmlformats.org/officeDocument/2006/relationships/hyperlink" Target="https://reliefweb.int/map/colombia/buenaventura-colombia-barrios-afectados-terremoto-10-de-agosto-2026-11092026" TargetMode="External"/><Relationship Id="rId1" Type="http://schemas.openxmlformats.org/officeDocument/2006/relationships/image" Target="../media/image-49-1.png"/><Relationship Id="rId13" Type="http://schemas.openxmlformats.org/officeDocument/2006/relationships/slideLayout" Target="../slideLayouts/slideLayout1.xml"/><Relationship Id="rId1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reliefweb.int/report/colombia/colombia-situacion-agua-saneamiento-e-higiene-wash-un-mes-del-sismo-de-agosto-de-2026-respuesta-brechas-y-prioridades" TargetMode="External"/><Relationship Id="rId3" Type="http://schemas.openxmlformats.org/officeDocument/2006/relationships/hyperlink" Target="https://reliefweb.int/report/colombia/drc-colombia-monitoreo-de-proteccion-enero-marzo-2026" TargetMode="External"/><Relationship Id="rId4" Type="http://schemas.openxmlformats.org/officeDocument/2006/relationships/hyperlink" Target="https://x.com/UNGRD/status/2098758429951078754" TargetMode="External"/><Relationship Id="rId5" Type="http://schemas.openxmlformats.org/officeDocument/2006/relationships/hyperlink" Target="https://portal.gestiondelriesgo.gov.co/Paginas/Noticias/2026/356-personas-rescatadas-la-respuesta-de-la-UNGRD-continua-un-mes-despues-del-terremoto.aspx" TargetMode="External"/><Relationship Id="rId6" Type="http://schemas.openxmlformats.org/officeDocument/2006/relationships/hyperlink" Target="https://portal.gestiondelriesgo.gov.co/Paginas/Noticias/2026/Inicia-el-pago-de-mas-de-3324-millones-en-apoyo-economico-para-las-familias-damnificadas-por-el-terremoto-en-Choco.aspx" TargetMode="External"/><Relationship Id="rId7" Type="http://schemas.openxmlformats.org/officeDocument/2006/relationships/hyperlink" Target="https://reliefweb.int/report/colombia/colombia-ifrc-calls-sustained-support-earthquake-affected-communities-one-month" TargetMode="External"/><Relationship Id="rId8" Type="http://schemas.openxmlformats.org/officeDocument/2006/relationships/hyperlink" Target="https://reliefweb.int/report/colombia/iom-colombia-earthquake-situation-report-9-10-september-2026" TargetMode="External"/><Relationship Id="rId9" Type="http://schemas.openxmlformats.org/officeDocument/2006/relationships/hyperlink" Target="https://reliefweb.int/report/colombia/colombia-emergency-response-situation-report-2-18-august-10-september-2026" TargetMode="External"/><Relationship Id="rId10" Type="http://schemas.openxmlformats.org/officeDocument/2006/relationships/hyperlink" Target="https://reliefweb.int/report/colombia/colombia-flash-update-013-actualizacion-afectaciones-por-terremoto-en-colombia-17-de-septiembre-de-2026" TargetMode="External"/><Relationship Id="rId11" Type="http://schemas.openxmlformats.org/officeDocument/2006/relationships/hyperlink" Target="https://reliefweb.int/report/colombia/colombia-flash-update-013-update-impact-earthquake-colombia-september-18-2026"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EPdQI7/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2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2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EPdQI7/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EPdQI7/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EPdQI7/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対応の時系列（発災以降）（6/8）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が、アベラルド・デ・ラ・エスプリエジャ大統領および住宅相とともにブガ・カリを訪問し、8月10日の地震被害を視察した。ブガでは、奇跡の主バシリカ聖堂、ITA教育機関、プエブロ・ヌエボ地区の構造被害を確認。カリではクアルト・デ・レグア地区を訪れ、被災住民と面会した。国は地元自治体と連携し、被災調査（センサス）の迅速化と経済支援の直接給付を進め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とWFPコロンビア・カントリーディレクターのニールス・グリード氏が、9月4日の会談を踏まえ、地震被災世帯への食料支援を確保する戦略的提携を正式化した。両機関はエルニーニョ現象や森林火災など今後の対応に向けた協力関係も強化す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6日06:30（コロンビア時間）締めのUNGRD集計現在（投稿は11:48）。9月3日06:30締め以来はじめての新しい集計で、9月4日・5日は集計の投稿が無かった。16県・498市町村（横ばい）で死者331人（横ばい）、負傷4,505人（4,519人から減少）、行方不明111人（122人から減少）、生存救出364人（横ばい）。被災は296,725世帯・466,644人で、293,743世帯・466,606人から増加。住家は損壊201,989棟（201,010棟から増加）・全壊36,326棟（36,336棟から減少）、ほか建物損壊6,005棟・倒壊743棟（いずれも5,889棟・709棟から増加）。負傷・行方不明・住家全壊のわずかな減少についてUNGRDは理由を説明していないが、これまでの改定と同様、死傷者に関する新しい情報や訂正報ではなく、集計継続中の届出・解消・重複整理によるものとして扱う。UNGRDは引き続き、数値は速報値であり地方団体・実施機関による集計が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対応の時系列（発災以降）（7/8）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7日06:30（コロンビア時間）締めのUNGRD集計現在（投稿は07:43）。死者331人（横ばい）、負傷4,505人（横ばい）、行方不明111人（横ばい）、生存救出364人（横ばい）。16県・498市町村（横ばい）。被災は296,738世帯・466,709人で、9月6日06:30締めの296,725世帯・466,644人からわずかに増加。住家は損壊202,002棟（201,989棟から増加）・全壊36,326棟（横ばい）、ほか建物損壊6,005棟・倒壊743棟（いずれも横ばい）。この集計であらためて内訳が示されたインフラ被害：保健施設400、教育施設4,313（4,288から増加）、コミュニティ施設6,033（6,035から減少）、道路521（491から増加）、空港5、上水道141（横ばい）、道路橋102（91から増加）、歩道橋13（横ばい）。UNGRDは引き続き、数値は速報値であり集計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カタール国から寄贈された14.9トンの野戦病院を受領した。ICU用ベッド6床、一般病床44床、毛布・シーツ・枕各50組、エアコン26台、ディーゼル貯蔵タンク1基を含む。地震対応や他の緊急事態に応じて必要な地域へ移設できる。在ボゴタ・カタール大使館を通じて調整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発災1か月を機に、UNGRDは捜索救助活動の終了を発表。288時間超、54隊・1,849人（コロンビア、アルゼンチン、チリ、メキシコ、ベネズエラ、スペイン、米国）が生存者356人を救出、遺体259体を収容した。住宅一時経済支援（3か月分のうち初月分）としてCOP 427億5,400万を投入。UNDP・国・地方団体・16分野が参加する「総合復旧のための被害評価・ニーズ分析（EDANPRI）」プロセスを開始し、復旧計画の基礎とする。人道支援物資の輸送量は累計2,071トン（国際協力477.1トン、大統領夫人経由1,500トン、ほかアトランティコ県・ボゴタ市の分を含む）。カルダス、キンディオ、チョコ、バジェ・デル・カウカの仮設避難所35か所に4,720人が残る。空軍は106時間40分の飛行支援、Starlinkアンテナ60基を展開、動物1,976頭を救出。記事は「本日9月10日時点」として、死者331人・負傷4,505人・行方不明111人、16県497市町村で被災466,345人、住宅全壊36,327棟・損壊201,939棟、建物倒壊759棟、教育施設4,316・医療施設397・コミュニティ施設6,118か所、道路521・道路橋107・歩道橋13・上水道141・空港5を挙げる。死者・負傷者・行方不明はいずれも9月6〜7日の公式集計と一致するが、被災者数（-364人）、市町村数（-1）、住家損壊（-63棟）、医療施設（-3）はいずれも上記9月7日06:30締め集計をわずかに下回っており、理由は示されていない。本レポートがこれまで同種の小幅な増減を集計整理によるものとして扱ってきたのと同様に、ここでは既存の集計値を訂正せず、別の記述値として併記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対応の時系列（発災以降）（8/8）</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UNGRDが、地震被災世帯向けの住宅一時経済支援金の支払いを開始した。チョコ県では9月11日から（住宅が全壊または居住不能となった世帯向けに初月分としてCOP 33億2,400万超）、カリ市では9月12日から、いずれもSuperGiros窓口で原本の身分証を提示して受け取る方式で、申請受付期間は15日間。UNGRDは今後バジェ・デル・カウカ県、カルダス県、キンディオ県、リサラルダ県へも支払いを拡大するとしている。9月7日から12日にかけて、新しい死傷者・被害の集計（balance）の投稿は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被災者統一登録（RUD）」ツールによる新しい集計を、2026年9月15日06:30（コロンビア時間）締めで発表した。被災登録は303,934世帯・486,917人で、9月7日06:30締めの296,738世帯・466,709人から増加。住家は損壊206,931棟（202,002棟から増加）・全壊36,478棟（36,326棟から増加）。UNGRDはRUDについて、市町村がSNGRD関係機関の支援を受けて被災者・被害情報を登録・アップロードするツールと説明している。死者・負傷者・行方不明・生存救出の集計は9月7日06:30締め以来更新されておらず、公表されている最新値は死者331人・負傷4,505人・行方不明111人・生存救出364人のまま。</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X、RUD）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 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OCHAのFlash Update 013（コロンビア時間14:00締め）は9月15日のUNGRD RUD集計を変更なしとして再掲（被災486,917人・303,934世帯、住家全壊36,478棟）し、支援提供者数13万7,000人超（Flash Update 012〈9月10日〉時点の13万5,000人から増加）と報告。UNGRDによる死者・負傷者・行方不明・生存救出の集計は9月7日06:30締め以来更新されていない。この間のUNGRD自身の広報は、UNDP・CEPALと連携した復旧特定行動計画（PAE）や分野別作業部会など復旧段階の内容が中心で、日次の死傷者速報の更新は見られ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Flash Update 013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EPdQI7/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PdQI7/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PdQI7/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EPdQI7/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EPdQI7/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人（UNGRD、9月7日06:30締め、投稿は07:43）。9月6日06:30締めから横ばい。推移は273→281→285→287→288→294→289→287→329→331→331→331→331→331→331。UNGRDは以前の変動について、地方から報告された数値の検証・集計整理によるもの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4,505人（UNGRD、9月7日06:30締め）。9月6日06:30締めから横ばい。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111人（UNGRD、9月7日06:30締め）。9月6日06:30締めから横ばい。推移は496→377→378→202→320→143→194→151→136→136→136→122→111→111。届出・解消・重複整理が同時に進むため、この数値は増減する。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364人（UNGRD、9月7日06:30締め）。9月6日から横ばい。動物救助3,003頭・被災3,277頭（いずれも9月6日から横ばい）。これは死傷者数と併記される全国集計値。個別の救助事例は下記8月16日の項を参照。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16県・498市町村（UNGRD、9月7日06:30締め）。9月6日06:30締めから横ばい。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被災者統一登録（RUD）」集計、2026年9月15日06:30（コロンビア時間）締めで、303,934世帯・486,917人が被災登録された。9月7日06:30締めの296,738世帯・466,709人から増加。UNGRDはRUDについて、市町村がSNGRD関係機関の支援を受けて被災者・被害情報を登録・アップロードするツールと説明しており、本レポートはこれをこれまでの被災者集計の続きとして扱う。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別途、WFPの「コロンビア地震緊急事態状況報告」（9月7日付）は、その時点で「当局は被災者759,311人、死者331人、負傷4,519人、行方不明136人と報告した」としている。これはUNGRD自身の集計を大きく上回る被災者数であり、一方でWFPが引用する死傷者数値（負傷4,519人・行方不明136人）はUNGRDのより早い9月1〜2日締めの数値と一致する。同報告は759,311人が何を数えた値か、どのUNGRD集計に基づくかを説明していない。ここではUNGRDの集計と統合せず、日付を付して別掲する。 別途、IFRC（9月10日、発災1か月の声明）は、9月4日時点で661,000人超が正式に被災者として登録されているとしている。これはUNGRDのRUD系列、OCHAのFlash Update系列、WFPの759,311人のいずれとも一致しない第4の、かつ大幅に大きい数値であり、いずれも登録基準が同一と確認できないため、統合せず各々の日付を付して別掲する。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UNGRD（RUD、9月15日06:30）／OCHA Flash Update 011（9月2日17:00時点）／IFRC（9月10日、発災1か月の声明）</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243,409棟。全壊36,478棟、損壊206,931棟（UNGRD RUD集計、9月15日06:30締め）。9月7日06:30締めの238,328棟（全壊36,326棟・損壊202,002棟）から増加。OCHAのFlash Update 011（9月2日17:00時点）も別途「住家全壊36,000棟超」とし、UNGRDの値と整合する。バジェ・デル・カウカ県山間部のコーヒー産地エル・カイロでは住宅の80％が被害を受けた（8月16日時点）。 CESVIの「コロンビア緊急対応状況報告第2号」（9月11日、8月18日〜9月10日を対象）は別途、9月9日時点で「居住不能な住宅」101,416棟としている。これはUNGRDの全壊・損壊の内訳とは異なる指標であり、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UNGRD（RUD、9月15日06:30）／OCHA Flash Update 011（9月2日17:00時点）／CESVI（9月11日）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206,931（UNGRD RUD集計、9月15日06:30締め）。9月7日06:30締めの202,002から増加。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36,478（UNGRD RUD集計、9月15日06:30締め）。9月7日06:30締めの36,326から増加。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743棟が倒壊、ほか6,005棟が損壊（UNGRD、9月7日06:30締め）。9月6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UNGRD、9月7日06:30／Asocapitales（8月16日）／カリ市（8月16日）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6日06:30締め）。9月3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か所が被害（UNGRD、9月7日06:30締め）。9月6日06:30締めの4,288か所から増加。UNGRDは理由を示しておらず、訂正ではなく集計上の整理として扱う（9月3日4,292か所、9月2日4,287か所、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か所が被害（UNGRD、9月7日06:30締め）。9月6日06:30締めの6,035か所から減少。UNGRDは理由を示しておらず、訂正ではなく集計上の整理として扱う（9月3日5,600か所、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521路線が被害（UNGRD、9月7日06:30締め）。9月6日06:30締めの491路線から増加（9月3日468路線、8月31日462路線、8月16日18:30締め410路線、同日朝210路線、8月10日18路線）。道路橋102橋、歩道橋13橋も被害（道路橋は9月6日の91橋から増加。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141系統が被害（UNGRD、9月7日06:30締め）。9月6日06:30締めから横ばい（9月3日140系統、8月31日122系統、8月16日18:30締め95系統、同日朝73系統）。金融機関29拠点が業務停止（8月16日時点）。震央付近では停電と通信途絶が報告されている（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全国で動物3,277頭が被災、3,003頭を救出（UNGRD、9月7日06:30締め）。9月6日06:30締めから横ばい。8月16日18:30締めは被災768頭・救出496頭。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 OCHAのFlash Update 012（9月10日、発災1か月時点）は、政府・SNGRD・国際パートナーが優先53市町村で135,000人超に多分野の支援を提供したと報告し、Flash Update 011時点の123,000人・49市町村から拡大した。同報告は武力紛争・森林火災・干ばつ・洪水等が同時進行する中での復旧の課題拡大を指摘し、年末までの追加的・時宜を得た資金を求めている。別途、コロンビア赤十字社／IFRCは、最初の1か月でボランティア・職員1,844人が3,600トン超の支援物資を配布、5,300件超の保健支援、15,700リットル超の給水、家族再統合支援4,400人超を実施したと報告し、IFRCはこの対応を継続するため2,500万スイスフラン（3,000万米ドル）の緊急アピールを発出した。 OCHAのFlash Update 013（9月17日14:00コロンビア時間締め）は支援提供者数13万7,000人超（Flash Update 012〈9月10日〉時点の13万5,000人から増加）と報告。被災者数・住家被害はいずれも9月15日のUNGRD RUD集計（被災486,917人・303,934世帯、住家全壊36,478棟）と同じ数値を繰り返しており、RUDのさらなる更新は示されていない。あわせて、洪水・森林火災・継続する地震活動・火山警報・武力紛争の動態など複数の脅威が最も被害の大きい地域の脆弱性を増していると指摘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012（9月10日）／IFRC（9月10日、発災1か月の声明）／OCHA Flash Update 013（9月17日）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EPdQI7/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50</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50</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50</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ほか、NGOのAMDA（アジア医師連絡協議会）も8月30日に看護師を派遣し、AMDAコロンビア・サラマンドラ財団とともにカリ市・チョコ県で救援活動を支援、9月4日に緊急対応フェーズを終了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50</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50</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50</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50</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50</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50</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50</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PdQI7/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50</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50</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50</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50</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50</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50</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50</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50</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50</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AMDA緊急救援活動報告#3（コロンビア地震、9月7日。イスミナの病院・教会でのニーズ調査）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ABBACOL財団「心理社会的支援の更新」（カリ、9月4日時点）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NET「コロンビア食料安全保障見通し」（2026年8月〜2027年1月。地震の影響とエルニーニョの強まり）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3iS「キブドー市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50</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コロンビア地震緊急事態状況報告（9月7日）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 第4報（9月8日）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HNRP2026 5Wシステム対応報告（1〜7月）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状況・対応分析（9月4日付）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状況・対応分析（8月16日付）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 被災地区図（3iS作成、9月8日付）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フラッシュアップデート第12号（9月10日付）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コロンビア地震：緊急対応から復旧支援へ移行（仏語版、9月10日付）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コロンビア地震：緊急対応から復旧支援へ移行（西語版、9月10日付）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ブエナベントゥーラ市 被災地区図（9月11日付）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50</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コロンビア 水・衛生・衛生教育（WASH）分野 発災1か月時点の状況・対応・課題（9月11日付）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コロンビア 保護モニタリング（2026年1〜3月期）</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UNGRD（X）住宅一時経済支援金の支払い開始、チョコ県・カリ市（2026年9月11-12日）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UNGRD（サイト）「救出356人」発災1か月時点の対応状況（9月10日付）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UNGRD（サイト）チョコ県 住宅支援金の支払い開始（9月11日付）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IFRC「発災1か月、継続的な支援を呼びかけ」（2026年9月10日）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https://reliefweb.int/report/colombia/colombia-ifrc-calls-sustained-support-earthquake-affected-communities-one-month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IOMコロンビア地震状況報告第9号（2026年9月10日）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https://reliefweb.int/report/colombia/iom-colombia-earthquake-situation-report-9-10-september-2026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CESVI「コロンビア緊急対応状況報告第2号」（2026年9月11日）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https://reliefweb.int/report/colombia/colombia-emergency-response-situation-report-2-18-august-10-september-2026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OCHA「コロンビア・フラッシュアップデート第13号」（2026年9月17日）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https://reliefweb.int/report/colombia/colombia-flash-update-013-actualizacion-afectaciones-por-terremoto-en-colombia-17-de-septiembre-de-2026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OCHA「コロンビア・フラッシュアップデート第13号」英語版（2026年9月18日掲載）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https://reliefweb.int/report/colombia/colombia-flash-update-013-update-impact-earthquake-colombia-september-18-2026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EPdQI7/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2026-09-18 07:30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2026-09-18T22:58:38Z</dcterms:created>
  <dcterms:modified xsi:type="dcterms:W3CDTF">2026-09-18T22:58:38Z</dcterms:modified>
</cp:coreProperties>
</file>