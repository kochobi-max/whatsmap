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4-1.png"/><Relationship Id="rId2" Type="http://schemas.openxmlformats.org/officeDocument/2006/relationships/image" Target="../media/image-14-2.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28-1.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36-1.png"/><Relationship Id="rId14" Type="http://schemas.openxmlformats.org/officeDocument/2006/relationships/slideLayout" Target="../slideLayouts/slideLayout1.xml"/><Relationship Id="rId1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37-1.png"/><Relationship Id="rId14" Type="http://schemas.openxmlformats.org/officeDocument/2006/relationships/slideLayout" Target="../slideLayouts/slideLayout1.xml"/><Relationship Id="rId1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8-1.png"/><Relationship Id="rId14" Type="http://schemas.openxmlformats.org/officeDocument/2006/relationships/slideLayout" Target="../slideLayouts/slideLayout1.xml"/><Relationship Id="rId1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 Type="http://schemas.openxmlformats.org/officeDocument/2006/relationships/image" Target="../media/image-39-1.png"/><Relationship Id="rId13" Type="http://schemas.openxmlformats.org/officeDocument/2006/relationships/slideLayout" Target="../slideLayouts/slideLayout1.xml"/><Relationship Id="rId1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www.semana.com/tecnologia/articulo/servicio-geologico-revela-el-numero-total-de-replicas-que-ha-habido-en-colombia-tras-fuerte-terremoto-que-estremecio-al-pais/202641/" TargetMode="External"/><Relationship Id="rId3" Type="http://schemas.openxmlformats.org/officeDocument/2006/relationships/hyperlink" Target="https://www.mofa.go.jp/mofaj/la_c/sa/co/pageit_000001_00001.html" TargetMode="External"/><Relationship Id="rId4" Type="http://schemas.openxmlformats.org/officeDocument/2006/relationships/hyperlink" Target="https://x.com/MofaJapan_jp/status/2087155064855261537" TargetMode="External"/><Relationship Id="rId5" Type="http://schemas.openxmlformats.org/officeDocument/2006/relationships/hyperlink" Target="https://www.eltiempo.com/mundo/mas-regiones/la-comunidad-internacional-se-vuelca-en-ayudas-para-colombia-lista-de-paises-que-han-ofrecido-apoyo-tras-el-terremoto-de-magnitud-7-3577512" TargetMode="External"/><Relationship Id="rId6" Type="http://schemas.openxmlformats.org/officeDocument/2006/relationships/hyperlink" Target="https://colombia.un.org/es/320793-informaci%C3%B3n-y-actualizaciones-sobre-el-terremoto-en-colombia" TargetMode="External"/><Relationship Id="rId7" Type="http://schemas.openxmlformats.org/officeDocument/2006/relationships/hyperlink" Target="https://news.un.org/es/story/2026/08/1541792" TargetMode="External"/><Relationship Id="rId8" Type="http://schemas.openxmlformats.org/officeDocument/2006/relationships/hyperlink" Target="https://www.colombiatebusca.com/" TargetMode="External"/><Relationship Id="rId9" Type="http://schemas.openxmlformats.org/officeDocument/2006/relationships/hyperlink" Target="https://www.asocapitales.co/terremoto-colombia.html" TargetMode="External"/><Relationship Id="rId10" Type="http://schemas.openxmlformats.org/officeDocument/2006/relationships/hyperlink" Target="https://www.infobae.com/colombia/2026/08/12/de-la-espriella-anuncio-alivios-y-subsidios-tras-emergencia-en-el-eje-cafetero-por-el-terremoto-detallo-plan-de-choque-para-educacion-y-vivienda/" TargetMode="External"/><Relationship Id="rId11" Type="http://schemas.openxmlformats.org/officeDocument/2006/relationships/hyperlink" Target="https://www.pulzo.com/nacion/terremoto-en-colombia-ungrd-reporta-danos-y-victimas-en-valle-del-cauca-y-risaralda-PP5272829A" TargetMode="External"/><Relationship Id="rId1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 Type="http://schemas.openxmlformats.org/officeDocument/2006/relationships/image" Target="../media/image-40-1.png"/><Relationship Id="rId13" Type="http://schemas.openxmlformats.org/officeDocument/2006/relationships/slideLayout" Target="../slideLayouts/slideLayout1.xml"/><Relationship Id="rId1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www.asocapitales.co/actualidad/noticias/ciudades-seguras/terremoto-deja-188-fallecidos-y-1677-heridos-en-ciudades" TargetMode="External"/><Relationship Id="rId3" Type="http://schemas.openxmlformats.org/officeDocument/2006/relationships/hyperlink" Target="https://www.infolibre.es/internacional/terremoto-colombia-deja-254-muertos-continua-busqueda-escombros_1_2235003.html" TargetMode="External"/><Relationship Id="rId4" Type="http://schemas.openxmlformats.org/officeDocument/2006/relationships/hyperlink" Target="https://www.elcolombiano.com/colombia/cifra-muertos-heridos-desaparecidos-por-terremoto-colombia-MK39884181" TargetMode="External"/><Relationship Id="rId5" Type="http://schemas.openxmlformats.org/officeDocument/2006/relationships/hyperlink" Target="https://www.eltiempo.com/colombia/otras-ciudades/balance-oficial-de-la-ungrd-tras-terremoto-de-magnitud-7-4-en-colombia-273-fallecidos-3-824-heridos-y-377-desaparecidos-3578196" TargetMode="External"/><Relationship Id="rId6" Type="http://schemas.openxmlformats.org/officeDocument/2006/relationships/hyperlink" Target="https://www.eltiempo.com/vida/40-753-familias-afectadas-y-273-muertos-ungrd-entrega-nuevo-balance-del-terremoto-en-colombia-3578185" TargetMode="External"/><Relationship Id="rId7" Type="http://schemas.openxmlformats.org/officeDocument/2006/relationships/hyperlink" Target="https://www.eltiempo.com/colombia/otras-ciudades/nuevo-temblor-de-magnitud-4-2-se-registro-en-san-jose-del-palmar-choco-en-la-manana-de-este-jueves-13-de-agosto-3578131" TargetMode="External"/><Relationship Id="rId8" Type="http://schemas.openxmlformats.org/officeDocument/2006/relationships/hyperlink" Target="https://www.infobae.com/colombia/2026/08/13/colombia-recibira-equipos-de-rescate-de-ee-uu-israel-ecuador-y-el-salvador-por-terremoto/" TargetMode="External"/><Relationship Id="rId9" Type="http://schemas.openxmlformats.org/officeDocument/2006/relationships/hyperlink" Target="https://www.eltiempo.com/colombia/otras-ciudades/balance-oficial-de-la-ungrd-tras-terremoto-de-magnitud-7-4-en-colombia-287-fallecidos-3-975-heridos-y-378-desaparecidos-3578445" TargetMode="External"/><Relationship Id="rId10" Type="http://schemas.openxmlformats.org/officeDocument/2006/relationships/hyperlink" Target="https://www.infobae.com/colombia/2026/08/14/temblor-de-74-en-colombia-el-10-de-agosto-se-actualizo-el-numero-de-fallecidos-en-todo-el-pais/" TargetMode="External"/><Relationship Id="rId11" Type="http://schemas.openxmlformats.org/officeDocument/2006/relationships/hyperlink" Target="https://www.infobae.com/colombia/2026/08/14/aumenta-la-ayuda-internacional-a-colombia-tras-el-terremoto-de-74-india-envia-20-toneladas-y-noruega-suecia-y-espana-anuncian-nuevos-recursos/" TargetMode="External"/><Relationship Id="rId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elheraldo.co/colombia/2026/08/14/italia-india-espana-chile-y-banco-mundial-entre-los-paises-y-organismos-que-han-enviado-ayudas-a-colombia-por-el-terremoto/" TargetMode="External"/><Relationship Id="rId3" Type="http://schemas.openxmlformats.org/officeDocument/2006/relationships/hyperlink" Target="https://www.jrc.or.jp/international/news/2026/0812_054987.html" TargetMode="External"/><Relationship Id="rId4"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5"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6" Type="http://schemas.openxmlformats.org/officeDocument/2006/relationships/hyperlink" Target="https://cnnespanol.cnn.com/2026/08/12/colombia/live-news/terremoto-en-vivo-muertos-videos-rescates-orix" TargetMode="External"/><Relationship Id="rId7"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8" Type="http://schemas.openxmlformats.org/officeDocument/2006/relationships/hyperlink" Target="https://www.semana.com/nacion/articulo/ascienden-a-294-los-fallecidos-del-terremoto-del-10-de-agosto-y-van-81506-viviendas-averiadas-segun-cifras-oficiales/202627/" TargetMode="External"/><Relationship Id="rId9" Type="http://schemas.openxmlformats.org/officeDocument/2006/relationships/hyperlink" Target="https://www.elheraldo.co/colombia/2026/08/12/presidente-de-la-espriella-decreta-tres-dias-de-duelo-nacional-por-victimas-del-terremoto/" TargetMode="External"/><Relationship Id="rId10"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1"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42-1.png"/><Relationship Id="rId12" Type="http://schemas.openxmlformats.org/officeDocument/2006/relationships/slideLayout" Target="../slideLayouts/slideLayout1.xml"/><Relationship Id="rId1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reliefweb.int/report/colombia/colombia-flash-update-010-update-impact-earthquake-colombia-august-27-2026" TargetMode="External"/><Relationship Id="rId7" Type="http://schemas.openxmlformats.org/officeDocument/2006/relationships/hyperlink" Target="https://reliefweb.int/report/colombia/colombia-flash-update-010-actualizacion-afectaciones-por-terremoto-en-colombia-27-de-agosto-de-2026" TargetMode="External"/><Relationship Id="rId8" Type="http://schemas.openxmlformats.org/officeDocument/2006/relationships/hyperlink" Target="https://reliefweb.int/report/colombia/colombia-flash-update-009-update-impact-earthquake-colombia-august-24-2026" TargetMode="External"/><Relationship Id="rId9" Type="http://schemas.openxmlformats.org/officeDocument/2006/relationships/hyperlink" Target="https://reliefweb.int/report/colombia/colombia-flash-update-009-actualizacion-afectaciones-por-terremoto-en-colombia-24-de-agosto-de-2026" TargetMode="External"/><Relationship Id="rId10" Type="http://schemas.openxmlformats.org/officeDocument/2006/relationships/hyperlink" Target="https://reliefweb.int/report/colombia/iom-colombia-earthquake-response-situation-report-6-28-august-2026" TargetMode="External"/><Relationship Id="rId11" Type="http://schemas.openxmlformats.org/officeDocument/2006/relationships/hyperlink" Target="https://reliefweb.int/report/colombia/oim-respuesta-al-terremoto-en-colombia-reporte-de-situacion-6-28-agosto-2026" TargetMode="External"/><Relationship Id="rId12" Type="http://schemas.openxmlformats.org/officeDocument/2006/relationships/hyperlink" Target="https://x.com/UNGRD/status/2094414373506736128" TargetMode="External"/><Relationship Id="rId1" Type="http://schemas.openxmlformats.org/officeDocument/2006/relationships/image" Target="../media/image-43-1.png"/><Relationship Id="rId13" Type="http://schemas.openxmlformats.org/officeDocument/2006/relationships/slideLayout" Target="../slideLayouts/slideLayout1.xml"/><Relationship Id="rId1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x.com/UNGRD/status/2094764781831872512" TargetMode="External"/><Relationship Id="rId3" Type="http://schemas.openxmlformats.org/officeDocument/2006/relationships/hyperlink" Target="https://reliefweb.int/report/colombia/colombia-earthquake-ltc-telecoms-situation-report-02-reporting-period-25-31-august-2026" TargetMode="External"/><Relationship Id="rId4" Type="http://schemas.openxmlformats.org/officeDocument/2006/relationships/hyperlink" Target="https://reliefweb.int/report/colombia/amda-emergency-relief-1-earthquake-colombia-1-september-2026" TargetMode="External"/><Relationship Id="rId5" Type="http://schemas.openxmlformats.org/officeDocument/2006/relationships/hyperlink" Target="https://reliefweb.int/report/colombia/colombia-icrc-assesses-needs-communities-affected-armed-conflict-following-earthquake" TargetMode="External"/><Relationship Id="rId6" Type="http://schemas.openxmlformats.org/officeDocument/2006/relationships/hyperlink" Target="https://reliefweb.int/map/colombia/colombia-74-m-earthquake-10-august-and-eu-response-dg-echo-daily-map-26082026" TargetMode="External"/><Relationship Id="rId7" Type="http://schemas.openxmlformats.org/officeDocument/2006/relationships/hyperlink" Target="https://reliefweb.int/map/colombia/pereira-colombia-alojamientos-temporales-terremoto-10-de-agosto-2026-19082026" TargetMode="External"/><Relationship Id="rId8" Type="http://schemas.openxmlformats.org/officeDocument/2006/relationships/hyperlink" Target="https://reliefweb.int/map/colombia/manizales-colombia-barrios-afectados-terremoto-10-de-agosto-2026-20082026" TargetMode="External"/><Relationship Id="rId9" Type="http://schemas.openxmlformats.org/officeDocument/2006/relationships/hyperlink" Target="https://reliefweb.int/report/colombia/colombia-addendum-humanitarian-response-plan-earthquake-august-2026" TargetMode="External"/><Relationship Id="rId10" Type="http://schemas.openxmlformats.org/officeDocument/2006/relationships/hyperlink" Target="https://reliefweb.int/report/colombia/colombia-adenda-al-plan-de-respuesta-humanitaria-terremoto-agosto-2026" TargetMode="External"/><Relationship Id="rId11" Type="http://schemas.openxmlformats.org/officeDocument/2006/relationships/hyperlink" Target="https://reliefweb.int/report/colombia/colombia-plan-de-respuesta-necesidades-humanitarias-febrero-2026-enes" TargetMode="External"/><Relationship Id="rId12" Type="http://schemas.openxmlformats.org/officeDocument/2006/relationships/hyperlink" Target="https://reliefweb.int/report/colombia/humanitarian-action-children-2026-colombia" TargetMode="External"/><Relationship Id="rId13" Type="http://schemas.openxmlformats.org/officeDocument/2006/relationships/hyperlink" Target="https://reliefweb.int/report/colombia/colombia-flash-update-011-actualizacion-afectaciones-por-terremoto-en-colombia-02-de-septiembre-de-2026" TargetMode="External"/><Relationship Id="rId1" Type="http://schemas.openxmlformats.org/officeDocument/2006/relationships/image" Target="../media/image-44-1.png"/><Relationship Id="rId14" Type="http://schemas.openxmlformats.org/officeDocument/2006/relationships/slideLayout" Target="../slideLayouts/slideLayout1.xml"/><Relationship Id="rId1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reliefweb.int/report/colombia/colombia-flash-update-011-update-impact-earthquake-colombia-september-2-2026" TargetMode="External"/><Relationship Id="rId3" Type="http://schemas.openxmlformats.org/officeDocument/2006/relationships/hyperlink" Target="https://reliefweb.int/report/colombia/urgent-needs-persist-three-weeks-after-earthquake-colombia" TargetMode="External"/><Relationship Id="rId4" Type="http://schemas.openxmlformats.org/officeDocument/2006/relationships/hyperlink" Target="https://reliefweb.int/report/colombia/informe-de-monitoreo-de-proteccion-trimestral-de-drc-colombia-abril-junio-2026" TargetMode="External"/><Relationship Id="rId5" Type="http://schemas.openxmlformats.org/officeDocument/2006/relationships/hyperlink" Target="https://reliefweb.int/report/colombia/colombia-earthquake-situation-report-7-31-aug-2026" TargetMode="External"/><Relationship Id="rId6" Type="http://schemas.openxmlformats.org/officeDocument/2006/relationships/hyperlink" Target="https://reliefweb.int/report/colombia/respuesta-al-terremoto-en-colombia-reporte-de-situacion-7-31-agosto-2026" TargetMode="External"/><Relationship Id="rId7" Type="http://schemas.openxmlformats.org/officeDocument/2006/relationships/hyperlink" Target="https://reliefweb.int/report/colombia/amda-emergency-relief-2-earthquake-colombia-3-september-2026" TargetMode="External"/><Relationship Id="rId8" Type="http://schemas.openxmlformats.org/officeDocument/2006/relationships/hyperlink" Target="https://reliefweb.int/map/colombia/manizales-colombia-barrios-afectados-terremoto-10-de-agosto-2026-03092026" TargetMode="External"/><Relationship Id="rId9" Type="http://schemas.openxmlformats.org/officeDocument/2006/relationships/hyperlink" Target="https://reliefweb.int/report/colombia/amda-emergency-relief-3-earthquake-colombia-7-september-2026" TargetMode="External"/><Relationship Id="rId10" Type="http://schemas.openxmlformats.org/officeDocument/2006/relationships/hyperlink" Target="https://reliefweb.int/report/colombia/resumen-actualizado-de-la-intervencion-psicosocial-de-abbacol-fecha-de-resumen-y-actualizacion-04-septiembre-2026" TargetMode="External"/><Relationship Id="rId11" Type="http://schemas.openxmlformats.org/officeDocument/2006/relationships/hyperlink" Target="https://reliefweb.int/report/colombia/colombia-food-security-outlook-update-august-2026-january-2027-earthquake-impacts-reduce-food-access-affected-areas-el-nino-strengthens" TargetMode="External"/><Relationship Id="rId12" Type="http://schemas.openxmlformats.org/officeDocument/2006/relationships/hyperlink" Target="https://reliefweb.int/map/colombia/quibdo-colombia-barrios-afectados-terremoto-10-de-agosto-2026-03092026" TargetMode="External"/><Relationship Id="rId13" Type="http://schemas.openxmlformats.org/officeDocument/2006/relationships/hyperlink" Target="https://reliefweb.int/report/colombia/iom-colombia-earthquake-situation-report-8-03-september-2026" TargetMode="External"/><Relationship Id="rId1" Type="http://schemas.openxmlformats.org/officeDocument/2006/relationships/image" Target="../media/image-45-1.png"/><Relationship Id="rId14" Type="http://schemas.openxmlformats.org/officeDocument/2006/relationships/slideLayout" Target="../slideLayouts/slideLayout1.xml"/><Relationship Id="rId1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8-3-septiembre-2026" TargetMode="External"/><Relationship Id="rId3" Type="http://schemas.openxmlformats.org/officeDocument/2006/relationships/hyperlink" Target="https://reliefweb.int/report/colombia/wfp-colombia-earthquake-response-7-september-2026" TargetMode="External"/><Relationship Id="rId4" Type="http://schemas.openxmlformats.org/officeDocument/2006/relationships/hyperlink" Target="https://reliefweb.int/report/colombia/amda-emergency-relief-4-earthquake-colombia-8-september-2026" TargetMode="External"/><Relationship Id="rId5" Type="http://schemas.openxmlformats.org/officeDocument/2006/relationships/hyperlink" Target="https://reliefweb.int/report/colombia/colombia-reporte-plan-de-respuesta-necesidades-humanitarias-hnrp-2026-en-el-sistema-5w-entre-enero-y-julio-de-2026" TargetMode="External"/><Relationship Id="rId6" Type="http://schemas.openxmlformats.org/officeDocument/2006/relationships/hyperlink" Target="https://reliefweb.int/report/colombia/analisis-de-situacion-y-respuesta-al-terremoto-4-de-septiembre-2026" TargetMode="External"/><Relationship Id="rId7" Type="http://schemas.openxmlformats.org/officeDocument/2006/relationships/hyperlink" Target="https://reliefweb.int/report/colombia/analisis-de-situacion-y-respuesta-al-terremoto-16-agosto-2026" TargetMode="External"/><Relationship Id="rId8" Type="http://schemas.openxmlformats.org/officeDocument/2006/relationships/hyperlink" Target="https://reliefweb.int/map/colombia/cali-colombia-barrios-afectados-terremoto-10-de-agosto-2026-08092026" TargetMode="External"/><Relationship Id="rId9" Type="http://schemas.openxmlformats.org/officeDocument/2006/relationships/hyperlink" Target="https://reliefweb.int/report/colombia/colombia-flash-update-012-update-impact-earthquake-colombia-september-10-2026" TargetMode="External"/><Relationship Id="rId10" Type="http://schemas.openxmlformats.org/officeDocument/2006/relationships/hyperlink" Target="https://reliefweb.int/report/colombia/seisme-en-colombie-caritas-passe-de-laide-durgence-au-relevement" TargetMode="External"/><Relationship Id="rId11" Type="http://schemas.openxmlformats.org/officeDocument/2006/relationships/hyperlink" Target="https://reliefweb.int/report/colombia/terremoto-en-colombia-caritas-pasa-de-la-respuesta-de-emergencia-la-recuperacion" TargetMode="External"/><Relationship Id="rId12" Type="http://schemas.openxmlformats.org/officeDocument/2006/relationships/hyperlink" Target="https://reliefweb.int/map/colombia/buenaventura-colombia-barrios-afectados-terremoto-10-de-agosto-2026-11092026" TargetMode="External"/><Relationship Id="rId1" Type="http://schemas.openxmlformats.org/officeDocument/2006/relationships/image" Target="../media/image-46-1.png"/><Relationship Id="rId13" Type="http://schemas.openxmlformats.org/officeDocument/2006/relationships/slideLayout" Target="../slideLayouts/slideLayout1.xml"/><Relationship Id="rId1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reliefweb.int/report/colombia/colombia-situacion-agua-saneamiento-e-higiene-wash-un-mes-del-sismo-de-agosto-de-2026-respuesta-brechas-y-prioridades" TargetMode="External"/><Relationship Id="rId3" Type="http://schemas.openxmlformats.org/officeDocument/2006/relationships/hyperlink" Target="https://reliefweb.int/report/colombia/drc-colombia-monitoreo-de-proteccion-enero-marzo-2026" TargetMode="External"/><Relationship Id="rId4" Type="http://schemas.openxmlformats.org/officeDocument/2006/relationships/hyperlink" Target="https://x.com/UNGRD/status/2098758429951078754" TargetMode="External"/><Relationship Id="rId5" Type="http://schemas.openxmlformats.org/officeDocument/2006/relationships/hyperlink" Target="https://portal.gestiondelriesgo.gov.co/Paginas/Noticias/2026/356-personas-rescatadas-la-respuesta-de-la-UNGRD-continua-un-mes-despues-del-terremoto.aspx" TargetMode="External"/><Relationship Id="rId6" Type="http://schemas.openxmlformats.org/officeDocument/2006/relationships/hyperlink" Target="https://portal.gestiondelriesgo.gov.co/Paginas/Noticias/2026/Inicia-el-pago-de-mas-de-3324-millones-en-apoyo-economico-para-las-familias-damnificadas-por-el-terremoto-en-Choco.aspx" TargetMode="External"/><Relationship Id="rId1" Type="http://schemas.openxmlformats.org/officeDocument/2006/relationships/image" Target="../media/image-47-1.png"/><Relationship Id="rId7" Type="http://schemas.openxmlformats.org/officeDocument/2006/relationships/slideLayout" Target="../slideLayouts/slideLayout1.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UwfZbQ/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チョコ地震（コロンビア）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200" dirty="0">
                <a:solidFill>
                  <a:srgbClr val="222222"/>
                </a:solidFill>
                <a:latin typeface="Meiryo" pitchFamily="34" charset="0"/>
                <a:ea typeface="Meiryo" pitchFamily="34" charset="-122"/>
                <a:cs typeface="Meiryo" pitchFamily="34" charset="-120"/>
              </a:rPr>
              <a:t>最大震度MMI VII（USGS ShakeMap）   ·   チョコ県サンホセ・デル・パルマルの南5km（USGS）</a:t>
            </a:r>
            <a:endParaRPr lang="en-US" sz="12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世界→コロンビア</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UwfZbQ/generator/images/EQ-2026-000146-COL/locator_world_manual.jp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コロンビア→チョコ県</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UwfZbQ/generator/images/EQ-2026-000146-COL/locator_region_manual.jp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SGC 体感震度図</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UwfZbQ/generator/images/EQ-2026-000146-COL/sgc_shakemap_manual.jp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781725" y="2629437"/>
            <a:ext cx="747017" cy="1091775"/>
          </a:xfrm>
          <a:prstGeom prst="rect">
            <a:avLst/>
          </a:prstGeom>
          <a:solidFill>
            <a:srgbClr val="FFFFFF">
              <a:alpha val="0"/>
            </a:srgbClr>
          </a:solidFill>
          <a:ln w="22225">
            <a:solidFill>
              <a:srgbClr val="C00000"/>
            </a:solidFill>
            <a:prstDash val="solid"/>
          </a:ln>
        </p:spPr>
      </p:sp>
      <p:sp>
        <p:nvSpPr>
          <p:cNvPr id="23" name="Shape 17"/>
          <p:cNvSpPr/>
          <p:nvPr/>
        </p:nvSpPr>
        <p:spPr>
          <a:xfrm flipV="1">
            <a:off x="2528743" y="1927098"/>
            <a:ext cx="1829897" cy="702339"/>
          </a:xfrm>
          <a:prstGeom prst="line">
            <a:avLst/>
          </a:prstGeom>
          <a:noFill/>
          <a:ln w="19050">
            <a:solidFill>
              <a:srgbClr val="C00000"/>
            </a:solidFill>
            <a:prstDash val="solid"/>
          </a:ln>
        </p:spPr>
      </p:sp>
      <p:sp>
        <p:nvSpPr>
          <p:cNvPr id="24" name="Shape 18"/>
          <p:cNvSpPr/>
          <p:nvPr/>
        </p:nvSpPr>
        <p:spPr>
          <a:xfrm>
            <a:off x="2528743" y="3721211"/>
            <a:ext cx="1829897" cy="789067"/>
          </a:xfrm>
          <a:prstGeom prst="line">
            <a:avLst/>
          </a:prstGeom>
          <a:noFill/>
          <a:ln w="19050">
            <a:solidFill>
              <a:srgbClr val="C00000"/>
            </a:solidFill>
            <a:prstDash val="solid"/>
          </a:ln>
        </p:spPr>
      </p:sp>
      <p:sp>
        <p:nvSpPr>
          <p:cNvPr id="25" name="Shape 19"/>
          <p:cNvSpPr/>
          <p:nvPr/>
        </p:nvSpPr>
        <p:spPr>
          <a:xfrm>
            <a:off x="5443958" y="1965846"/>
            <a:ext cx="930710" cy="2137708"/>
          </a:xfrm>
          <a:prstGeom prst="rect">
            <a:avLst/>
          </a:prstGeom>
          <a:solidFill>
            <a:srgbClr val="FFFFFF">
              <a:alpha val="0"/>
            </a:srgbClr>
          </a:solidFill>
          <a:ln w="22225">
            <a:solidFill>
              <a:srgbClr val="C00000"/>
            </a:solidFill>
            <a:prstDash val="solid"/>
          </a:ln>
        </p:spPr>
      </p:sp>
      <p:sp>
        <p:nvSpPr>
          <p:cNvPr id="26" name="Shape 20"/>
          <p:cNvSpPr/>
          <p:nvPr/>
        </p:nvSpPr>
        <p:spPr>
          <a:xfrm flipV="1">
            <a:off x="6374668" y="1927098"/>
            <a:ext cx="1976852" cy="38748"/>
          </a:xfrm>
          <a:prstGeom prst="line">
            <a:avLst/>
          </a:prstGeom>
          <a:noFill/>
          <a:ln w="19050">
            <a:solidFill>
              <a:srgbClr val="C00000"/>
            </a:solidFill>
            <a:prstDash val="solid"/>
          </a:ln>
        </p:spPr>
      </p:sp>
      <p:sp>
        <p:nvSpPr>
          <p:cNvPr id="27" name="Shape 21"/>
          <p:cNvSpPr/>
          <p:nvPr/>
        </p:nvSpPr>
        <p:spPr>
          <a:xfrm>
            <a:off x="6374668" y="4103554"/>
            <a:ext cx="1976852" cy="406724"/>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1999年アルメニア地震と復興</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15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1999年の被害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死者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約1,185人</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負傷者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5,000人超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損壊・全壊建物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約5万棟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住まいを失った人</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20万人超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コーヒー産業</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農園約8,000、加工施設約1,200が被害</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復興とそれが変えたこと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対応の時系列（発災以降）（2/7）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対応の時系列（発災以降）（3/7）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対応の時系列（発災以降）（4/7）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対応の時系列（発災以降）（5/7）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12:44締めのUNGRD集計（国家危機管理室から公表）。16県・494市町村で死者329人、負傷4,592人、行方不明151人。UNGRDは、被災世帯が支援・補助金を受けられるかを決める被災者登録簿（RUD）の追跡と、緊急人道支援・仮設住居・重機の可用性の監視を進めているとしている。住家被害の数値はこの集計には示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406,000人超・193,011世帯が被災し、リサラルダ、バジェ・デル・カウカ、チョコ、キンディオ、カルダスに集中。25以上の人道機関が36市町村でおよそ72,000人を支援し、ドナーは4,000万米ドル超、CERFは500万米ドルを配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4,505人、行方不明136人、生存救出364人。16県・497市町村で被災225,024世帯・449,442人。8月16日以来はじめて住家の数値を更新し、損壊198,720棟・全壊37,255棟、ほか建物損壊5,849棟・倒壊646棟。医療406、教育4,268、コミュニティ5,524か所。道路462路線、空港5か所、上水道122系統、道路橋91橋、歩道橋13橋が被害。動物2,874頭が被災、2,976頭を救出。UNGRDは、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横ばい）、負傷4,519人、行方不明136人（横ばい）、生存救出364人（横ばい）。16県・497市町村で被災290,252世帯・466,606人。住家は損壊200,929棟・全壊37,542棟、ほか建物損壊5,871棟・倒壊651棟。医療400、教育4,290、コミュニティ5,698か所。道路468路線、空港5か所、上水道140系統、道路橋91橋、歩道橋13橋が被害。動物3,018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行方不明136人、生存救出364人（いずれも9月1日から横ばい）。16県・497市町村（横ばい）で被災293,743世帯・466,606人（横ばい）。住家は損壊201,005棟・全壊36,336棟。全壊棟数は9月1日締めの37,542棟から減少しており、UNGRDは理由を示していない。ほか建物損壊5,889棟・倒壊709棟（5,871棟・651棟から増加）。医療400、教育4,287、コミュニティ5,600か所。道路468路線、空港5か所、上水道140系統、道路橋91橋、歩道橋13橋が被害。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被災者466,600人超（うち死者331人、負傷・行方不明者多数）、住家全壊36,000棟超。同日のUNGRD集計と整合する水準。人道機関29以上が49市町村でおよそ123,000人を支援。国際協力による拠出は4,000万米ドル超。人道対応計画への補遺は年末までの資金確保を継続して求めている。あわせて、地震被害と武力紛争に伴うリスクの双方に直面する「二重被災」が引き続き課題である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対応の時系列（発災以降）（6/7）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生存救出364人（いずれも9月2日から横ばい）。行方不明は9月2日締めの136人から122人へ減少し、理由は示されていない。16県・498市町村（497から増加）で被災293,743世帯・466,606人（横ばい）。住家は損壊201,010棟（201,005棟から増加）・全壊36,336棟（横ばい）、ほか建物損壊5,889棟・倒壊709棟（いずれも横ばい）。医療400、教育4,292（4,287から増加）、コミュニティ5,600か所。道路468路線、空港5か所、上水道140系統、道路橋91橋、歩道橋13橋が被害（いずれも横ばい）。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UNGRDが、RUDに登録され住宅が全壊または居住不能と判定された世帯を対象に、月額78万7,907〜105万543コロンビアペソを3か月間支給する一時的な経済支援を発表した。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更新時点で、UNGRDが公表した最新の集計は9月3日06:30締めのままである（9月4日午後時点で新しい集計の投稿は無い）。UNGRD長官はWFPコロンビアのカントリーディレクターと会談し、被災世帯への食料支援策を協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UNGRD／WFP（official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が、アベラルド・デ・ラ・エスプリエジャ大統領および住宅相とともにブガ・カリを訪問し、8月10日の地震被害を視察した。ブガでは、奇跡の主バシリカ聖堂、ITA教育機関、プエブロ・ヌエボ地区の構造被害を確認。カリではクアルト・デ・レグア地区を訪れ、被災住民と面会した。国は地元自治体と連携し、被災調査（センサス）の迅速化と経済支援の直接給付を進め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とWFPコロンビア・カントリーディレクターのニールス・グリード氏が、9月4日の会談を踏まえ、地震被災世帯への食料支援を確保する戦略的提携を正式化した。両機関はエルニーニョ現象や森林火災など今後の対応に向けた協力関係も強化す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6日06:30（コロンビア時間）締めのUNGRD集計現在（投稿は11:48）。9月3日06:30締め以来はじめての新しい集計で、9月4日・5日は集計の投稿が無かった。16県・498市町村（横ばい）で死者331人（横ばい）、負傷4,505人（4,519人から減少）、行方不明111人（122人から減少）、生存救出364人（横ばい）。被災は296,725世帯・466,644人で、293,743世帯・466,606人から増加。住家は損壊201,989棟（201,010棟から増加）・全壊36,326棟（36,336棟から減少）、ほか建物損壊6,005棟・倒壊743棟（いずれも5,889棟・709棟から増加）。負傷・行方不明・住家全壊のわずかな減少についてUNGRDは理由を説明していないが、これまでの改定と同様、死傷者に関する新しい情報や訂正報ではなく、集計継続中の届出・解消・重複整理によるものとして扱う。UNGRDは引き続き、数値は速報値であり地方団体・実施機関による集計が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対応の時系列（発災以降）（7/7）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7日06:30（コロンビア時間）締めのUNGRD集計現在（投稿は07:43）。死者331人（横ばい）、負傷4,505人（横ばい）、行方不明111人（横ばい）、生存救出364人（横ばい）。16県・498市町村（横ばい）。被災は296,738世帯・466,709人で、9月6日06:30締めの296,725世帯・466,644人からわずかに増加。住家は損壊202,002棟（201,989棟から増加）・全壊36,326棟（横ばい）、ほか建物損壊6,005棟・倒壊743棟（いずれも横ばい）。この集計であらためて内訳が示されたインフラ被害：保健施設400、教育施設4,313（4,288から増加）、コミュニティ施設6,033（6,035から減少）、道路521（491から増加）、空港5、上水道141（横ばい）、道路橋102（91から増加）、歩道橋13（横ばい）。UNGRDは引き続き、数値は速報値であり集計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カタール国から寄贈された14.9トンの野戦病院を受領した。ICU用ベッド6床、一般病床44床、毛布・シーツ・枕各50組、エアコン26台、ディーゼル貯蔵タンク1基を含む。地震対応や他の緊急事態に応じて必要な地域へ移設できる。在ボゴタ・カタール大使館を通じて調整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発災1か月を機に、UNGRDは捜索救助活動の終了を発表。288時間超、54隊・1,849人（コロンビア、アルゼンチン、チリ、メキシコ、ベネズエラ、スペイン、米国）が生存者356人を救出、遺体259体を収容した。住宅一時経済支援（3か月分のうち初月分）としてCOP 427億5,400万を投入。UNDP・国・地方団体・16分野が参加する「総合復旧のための被害評価・ニーズ分析（EDANPRI）」プロセスを開始し、復旧計画の基礎とする。人道支援物資の輸送量は累計2,071トン（国際協力477.1トン、大統領夫人経由1,500トン、ほかアトランティコ県・ボゴタ市の分を含む）。カルダス、キンディオ、チョコ、バジェ・デル・カウカの仮設避難所35か所に4,720人が残る。空軍は106時間40分の飛行支援、Starlinkアンテナ60基を展開、動物1,976頭を救出。記事は「本日9月10日時点」として、死者331人・負傷4,505人・行方不明111人、16県497市町村で被災466,345人、住宅全壊36,327棟・損壊201,939棟、建物倒壊759棟、教育施設4,316・医療施設397・コミュニティ施設6,118か所、道路521・道路橋107・歩道橋13・上水道141・空港5を挙げる。死者・負傷者・行方不明はいずれも9月6〜7日の公式集計と一致するが、被災者数（-364人）、市町村数（-1）、住家損壊（-63棟）、医療施設（-3）はいずれも上記9月7日06:30締め集計をわずかに下回っており、理由は示されていない。本レポートがこれまで同種の小幅な増減を集計整理によるものとして扱ってきたのと同様に、ここでは既存の集計値を訂正せず、別の記述値として併記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UNGRDが、地震被災世帯向けの住宅一時経済支援金の支払いを開始した。チョコ県では9月11日から（住宅が全壊または居住不能となった世帯向けに初月分としてCOP 33億2,400万超）、カリ市では9月12日から、いずれもSuperGiros窓口で原本の身分証を提示して受け取る方式で、申請受付期間は15日間。UNGRDは今後バジェ・デル・カウカ県、カルダス県、キンディオ県、リサラルダ県へも支払いを拡大するとしている。9月7日から12日にかけて、新しい死傷者・被害の集計（balance）の投稿は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被災地域</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UwfZbQ/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震源</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市町村</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震央距離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チョコ県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サンホセ・デル・パルマル／キブド</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リサラルダ県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ペレイラ、ドスケブラダス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バジェ・デル・カウカ県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カリ、カルタゴ、ブエナベントゥーラ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他4地域（データ参照）</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震源・震度</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wfZbQ/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体感震度図（ShakeMap）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発生時刻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震源地</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USGS：チョコ県サンホセ・デル・パルマルの南5km（ボゴタの西約280km）／SGC：同町から12km（北緯4.8436度・東経-76.2422度）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7.4（USGS）　・　7.4（SGC）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深さ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110.3km（USGS、PAGER第5版）／103km（SGC、8月11日改訂）</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最大震度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発震機構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有感範囲</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出典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UNGRD／SGC／USGS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47</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地震活動 - 震央分布・余震</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wfZbQ/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震央分布図：本震および余震284回（2026年8月10〜19日）。SGC地震カタログ、地形はNatural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UwfZbQ/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余震の時系列</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47</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地震テクトニクス</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47</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発震機構・波形解析</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規模 M7.4（USGS Mww）／M7.4（SGC）、深さ約110km（USGS）／103km（SGC）。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沈み込むナスカプレート内部のスラブ内地震。プレート境界の巨大地震ではない。</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地表地震断層および津波は生じていない。揺れはボゴタ・キト・パナマシティまで到達。</a:t>
            </a:r>
            <a:endParaRPr lang="en-US" sz="1300" dirty="0"/>
          </a:p>
        </p:txBody>
      </p:sp>
      <p:pic>
        <p:nvPicPr>
          <p:cNvPr id="5" name="Image 1" descr="/tmp/build_event-UwfZbQ/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発震機構・モーメントテンソル図</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波形解析の情報源
</a:t>
            </a:r>
            <a:pPr algn="l" indent="0" marL="0">
              <a:buNone/>
            </a:pPr>
            <a:r>
              <a:rPr lang="en-US" sz="1200" dirty="0">
                <a:solidFill>
                  <a:srgbClr val="222222"/>
                </a:solidFill>
                <a:latin typeface="Meiryo" pitchFamily="34" charset="0"/>
                <a:ea typeface="Meiryo" pitchFamily="34" charset="-122"/>
                <a:cs typeface="Meiryo" pitchFamily="34" charset="-120"/>
              </a:rPr>
              <a:t>• USGS — モーメントテンソル・有限断層モデル（イベントページ）
</a:t>
            </a:r>
            <a:pPr algn="l" indent="0" marL="0">
              <a:buNone/>
            </a:pPr>
            <a:r>
              <a:rPr lang="en-US" sz="1200" dirty="0">
                <a:solidFill>
                  <a:srgbClr val="222222"/>
                </a:solidFill>
                <a:latin typeface="Meiryo" pitchFamily="34" charset="0"/>
                <a:ea typeface="Meiryo" pitchFamily="34" charset="-122"/>
                <a:cs typeface="Meiryo" pitchFamily="34" charset="-120"/>
              </a:rPr>
              <a:t>• SGC — コロンビア国家地震観測網（RSNC）
</a:t>
            </a:r>
            <a:pPr algn="l" indent="0" marL="0">
              <a:buNone/>
            </a:pPr>
            <a:r>
              <a:rPr lang="en-US" sz="1200" dirty="0">
                <a:solidFill>
                  <a:srgbClr val="222222"/>
                </a:solidFill>
                <a:latin typeface="Meiryo" pitchFamily="34" charset="0"/>
                <a:ea typeface="Meiryo" pitchFamily="34" charset="-122"/>
                <a:cs typeface="Meiryo" pitchFamily="34" charset="-120"/>
              </a:rPr>
              <a:t>• GEOFON／GFZ — 広域広帯域モーメントテンソル解</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47</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主な余震</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08:18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(13:18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10:01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(15:01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11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00:12 </a:t>
                      </a:r>
                      <a:pPr algn="l" indent="0" marL="0">
                        <a:buNone/>
                      </a:pPr>
                      <a:r>
                        <a:rPr lang="en-US" sz="1150" dirty="0">
                          <a:solidFill>
                            <a:srgbClr val="222222"/>
                          </a:solidFill>
                          <a:latin typeface="Meiryo" pitchFamily="34" charset="0"/>
                          <a:ea typeface="Meiryo" pitchFamily="34" charset="-122"/>
                          <a:cs typeface="Meiryo" pitchFamily="34" charset="-120"/>
                        </a:rPr>
                        <a:t>/ </a:t>
                      </a:r>
                      <a:pPr algn="l" indent="0" marL="0">
                        <a:buNone/>
                      </a:pPr>
                      <a:r>
                        <a:rPr lang="en-US" sz="1150" dirty="0">
                          <a:solidFill>
                            <a:srgbClr val="222222"/>
                          </a:solidFill>
                          <a:latin typeface="Meiryo" pitchFamily="34" charset="0"/>
                          <a:ea typeface="Meiryo" pitchFamily="34" charset="-122"/>
                          <a:cs typeface="Meiryo" pitchFamily="34" charset="-120"/>
                        </a:rPr>
                        <a:t>10:43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M3.6 </a:t>
                      </a:r>
                      <a:pPr algn="ctr" indent="0" marL="0">
                        <a:buNone/>
                      </a:pPr>
                      <a:r>
                        <a:rPr lang="en-US" sz="1150" b="1" dirty="0">
                          <a:solidFill>
                            <a:srgbClr val="1F3864"/>
                          </a:solidFill>
                          <a:latin typeface="Meiryo" pitchFamily="34" charset="0"/>
                          <a:ea typeface="Meiryo" pitchFamily="34" charset="-122"/>
                          <a:cs typeface="Meiryo" pitchFamily="34" charset="-120"/>
                        </a:rPr>
                        <a:t>/ </a:t>
                      </a:r>
                      <a:pPr algn="ctr" indent="0" marL="0">
                        <a:buNone/>
                      </a:pPr>
                      <a:r>
                        <a:rPr lang="en-US" sz="1150" b="1" dirty="0">
                          <a:solidFill>
                            <a:srgbClr val="1F3864"/>
                          </a:solidFill>
                          <a:latin typeface="Meiryo" pitchFamily="34" charset="0"/>
                          <a:ea typeface="Meiryo" pitchFamily="34" charset="-122"/>
                          <a:cs typeface="Meiryo" pitchFamily="34" charset="-120"/>
                        </a:rPr>
                        <a:t>M3.9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13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09:42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(14:42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to </a:t>
                      </a:r>
                      <a:pPr algn="l" indent="0" marL="0">
                        <a:buNone/>
                      </a:pPr>
                      <a:r>
                        <a:rPr lang="en-US" sz="1150" dirty="0">
                          <a:solidFill>
                            <a:srgbClr val="222222"/>
                          </a:solidFill>
                          <a:latin typeface="Meiryo" pitchFamily="34" charset="0"/>
                          <a:ea typeface="Meiryo" pitchFamily="34" charset="-122"/>
                          <a:cs typeface="Meiryo" pitchFamily="34" charset="-120"/>
                        </a:rPr>
                        <a:t>14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07:00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184 </a:t>
                      </a:r>
                      <a:pPr algn="ctr" indent="0" marL="0">
                        <a:buNone/>
                      </a:pPr>
                      <a:r>
                        <a:rPr lang="en-US" sz="1150" b="1" dirty="0">
                          <a:solidFill>
                            <a:srgbClr val="1F3864"/>
                          </a:solidFill>
                          <a:latin typeface="Meiryo" pitchFamily="34" charset="0"/>
                          <a:ea typeface="Meiryo" pitchFamily="34" charset="-122"/>
                          <a:cs typeface="Meiryo" pitchFamily="34" charset="-120"/>
                        </a:rPr>
                        <a:t>located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人（UNGRD、9月7日06:30締め、投稿は07:43）。9月6日06:30締めから横ばい。推移は273→281→285→287→288→294→289→287→329→331→331→331→331→331→331。UNGRDは以前の変動について、地方から報告された数値の検証・集計整理によるもの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4,505人（UNGRD、9月7日06:30締め）。9月6日06:30締めから横ばい。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行方不明（当局への届出）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111人（UNGRD、9月7日06:30締め）。9月6日06:30締めから横ばい。推移は496→377→378→202→320→143→194→151→136→136→136→122→111→111。届出・解消・重複整理が同時に進むため、この数値は増減する。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生存救出（全国集計）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364人（UNGRD、9月7日06:30締め）。9月6日から横ばい。動物救助3,003頭・被災3,277頭（いずれも9月6日から横ばい）。これは死傷者数と併記される全国集計値。個別の救助事例は下記8月16日の項を参照。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市民プラットフォーム上の未解決報告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busca」（市民の取り組み）、Asocapitales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UNGRD（8月16日18:30）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47</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被災市町村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16県・498市町村（UNGRD、9月7日06:30締め）。9月6日06:30締めから横ばい。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296,725世帯・466,644人が被災（UNGRD、9月6日06:30締め）。9月3日06:30締めの293,743世帯・466,606人から増加。OCHAのFlash Update 011（9月2日17:00時点）も被災者数「466,600人超」として整合。OCHAの先のFlash Update 010は別途、406,000人超・193,011世帯（8月27日20:00時点、リサラルダ、バジェ・デル・カウカ、チョコ、キンディオ、カルダスに集中）としていた。両機関の集計基準が同一かは確認できていないため、いずれも日付を付して併記する。 別途、WFPの「コロンビア地震緊急事態状況報告」（9月7日付）は、その時点で「当局は被災者759,311人、死者331人、負傷4,519人、行方不明136人と報告した」としている。これはUNGRD自身の9月7日集計（296,738世帯・466,709人）を大きく上回る被災者数であり、一方でWFPが引用する死傷者数値（負傷4,519人・行方不明136人）はUNGRDの9月7日締めではなく9月1〜2日締めの数値と一致する。同報告は759,311人が何を数えた値か、どのUNGRD集計に基づくかを説明していない。ここではUNGRDの集計と統合せず、日付を付して別掲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住宅被害（合計）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238,328棟。全壊36,326棟、損壊202,002棟（UNGRD、9月7日06:30締め）。9月6日06:30締めの238,315棟（全壊36,326棟・損壊201,989棟）から、全壊は横ばい、損壊はわずかに増加。OCHAのFlash Update 011（9月2日17:00時点）も別途「住家全壊36,000棟超」とし、UNGRDの値と整合する。バジェ・デル・カウカ県山間部のコーヒー産地エル・カイロでは住宅の80％が被害を受けた（8月16日時点）。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UNGRD、9月7日06:30／OCHA Flash Update 011（9月2日17:00時点）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被害状況（3/5）</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うち重大な損壊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202,002（UNGRD、9月7日06:30締め）。9月6日06:30締めの201,989から増加。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うち全壊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36,326（UNGRD、9月7日06:30締め）。9月6日06:30締めから横ばい。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建物倒壊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743棟が倒壊、ほか6,005棟が損壊（UNGRD、9月7日06:30締め）。9月6日06:30締めから横ばい（8月16日18:30締めの倒壊197棟、同日朝66棟、8月14日121棟から積み上がった水準）。Asocapitalesは別途、県都で243棟の倒壊を数えていた（8月16日時点）。カリ市当局は倒壊107棟・構造的被害643棟と報告してい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UNGRD、9月7日06:30／Asocapitales（8月16日）／カリ市（8月16日）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か所が被害（UNGRD、9月6日06:30締め）。9月3日06:30締めから横ばい（8月31日06:30締め406か所、8月16日18:30締め304か所、同日朝240か所、8月10日18か所）。医療機関7か所が閉鎖（8月16日時点）。カリの大学病院は約30％が崩壊し、小児科・内科・新生児科の一部を含む3フロアが失われた。内務大臣は8月14日、ブエナベントゥーラの病院網が対応能力を超えてい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か所が被害（UNGRD、9月7日06:30締め）。9月6日06:30締めの4,288か所から増加。UNGRDは理由を示しておらず、訂正ではなく集計上の整理として扱う（9月3日4,292か所、9月2日4,287か所、9月1日4,290か所、8月31日4,268か所、8月16日18:30締め3,207か所、同日朝2,205か所、8月10日52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被害状況（4/5）</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コミュニティ施設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か所が被害（UNGRD、9月7日06:30締め）。9月6日06:30締めの6,035か所から減少。UNGRDは理由を示しておらず、訂正ではなく集計上の整理として扱う（9月3日5,600か所、9月1日5,698か所、8月31日5,524か所、8月16日18:30締め4,059か所、同日朝1,208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521路線が被害（UNGRD、9月7日06:30締め）。9月6日06:30締めの491路線から増加（9月3日468路線、8月31日462路線、8月16日18:30締め410路線、同日朝210路線、8月10日18路線）。道路橋102橋、歩道橋13橋も被害（道路橋は9月6日の91橋から増加。8月16日時点は道路橋48橋・歩道橋13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空港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UNGRD（8月13日）、民間航空当局</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文化財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マニサレス市長</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上水道141系統が被害（UNGRD、9月7日06:30締め）。9月6日06:30締めから横ばい（9月3日140系統、8月31日122系統、8月16日18:30締め95系統、同日朝73系統）。金融機関29拠点が業務停止（8月16日時点）。震央付近では停電と通信途絶が報告されている（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動物被害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全国で動物3,277頭が被災、3,003頭を救出（UNGRD、9月7日06:30締め）。9月6日06:30締めから横ばい。8月16日18:30締めは被災768頭・救出496頭。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被害状況（5/5）</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報道・人道機関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人道機関29以上が、被災49市町村でおよそ123,000人に支援を提供しており、Flash Update 010（8月27日）時点の25機関・72,000人・36市町村から拡大した。ドナーは4,000万米ドル超を拠出。人道対応計画のアデンダは、年末までの必要を満たすための追加資金を引き続き求めている。OCHAはまた、緊急ニーズの継続と、地震被害と武力紛争に伴うリスクの双方に直面する「二重被災」を課題として挙げ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二次災害 — バウド川の増水（チョコ県メディオ・バウド）</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メディオ・バウドの先住民（エンベラ族）コミュニティは、地震から約2日後にバウド川の急な増水に見舞われ、もともと医療アクセスに制約があり武装集団の活動もある地域で地震被害に追い打ちをかけ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国境なき医師団（MSF）、2026年9月2日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47</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USGS PAGERによる影響評価（第7版）</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7版は発災の11日後に作成され、初期の版のオレンジ警報から赤警報に引き上げられている。警報は2本立てで、表に出るのは高い方である。人的被害はオレンジ（相当の人的被害が生じる可能性が高い）、経済損失は赤で、推定損失はコロンビアのGDPの0〜6%にあたる。過去にこの水準の警報が出た地震は、国家的または国際的な対応を要している。死者数の推計は単一の値ではなく確率分布であり、100〜1,000人が33%、1,000〜10,000人が32%。UNGRDの8月27日集計329人はこの100〜1,000人の階級に入る。震度MMI VIIIの曝露人口は113万人、MMI VIIは539万人。MMI VIIIにかかる都市はペレイラ（59.1万人）、アルメニア（30.1万人）、サルサル（31.3万人）、キブド（13.1万人）など。</a:t>
            </a:r>
            <a:endParaRPr lang="en-US" sz="1200" dirty="0"/>
          </a:p>
        </p:txBody>
      </p:sp>
      <p:pic>
        <p:nvPicPr>
          <p:cNvPr id="5" name="Image 1" descr="/tmp/build_event-UwfZbQ/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一枚図（第7版）— 警報レベル・曝露人口・主要都市の曝露</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地域別の死者数</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死者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バジェ・デル・カウカ県（カリ）</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97</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リサラルダ県（ペレイラ）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大統領（8月11日）。県は約90人と報告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チョコ県（キブド）</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カルダス県（マニサレス）</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2人、4人、5人と推移</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アンティオキア県</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73歳</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揺れの階級別 曝露人口</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MMI</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階級</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曝露人口</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甚大</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VIII以上の曝露人口は推計なし</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非常に強い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1,564,000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ペレイラ59.1万人、アルメニア30.1万人、カルタゴ13.5万人を含む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8,888,000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カリ247.1万人、ブエナベントゥーラ42.4万人、パルミラ34.9万人を含む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中程度</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17,076,000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最も曝露人口が多い階級</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IV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やや弱い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6,465,000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ボゴタ、メデジンに及ぶ</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47</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は9月2日、単一被災者登録簿（RUD）に登録され、8月10日の地震により住宅が全壊または居住不能と判定された世帯を対象に、一時的な経済支援を発表した。市町村の区分に応じて月額78万7,907〜105万543コロンビアペソを3か月間支給する。UNGRDは、RUDへの登録は市町村・県当局の責任で行うものであり被災者本人が直接登録することはできず、訂正が必要な場合も管轄の地方自治体を通す必要があると注意喚起してい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47</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47</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ほか、NGOのAMDA（アジア医師連絡協議会）も8月30日に看護師を派遣し、AMDAコロンビア・サラマンドラ財団とともにカリ市・チョコ県で救援活動を支援、9月4日に緊急対応フェーズを終了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長官デビッド・サンティアゴ・タマヨ・ロルダン氏と災害対応担当副長官エルナン・ダリオ・ディアス・ディアス氏は、WFPコロンビア代表兼カントリーディレクターのニルス・グレデ氏と会談し、8月10日の地震で被災した世帯への食料支援策を協議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47</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確認中</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ShakeMap、PAGER（オレンジ）、震源過程、余震カタログ</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総合オレンジ警報。人口曝露と影響推計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国際災害チャーター 発動一覧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コペルニクスEMS ラピッドマッピング — EMSR916</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発動番号</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EMSR916 — Earthquake in 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事象発生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afternoon (UTC)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発動時刻</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17:13 (UTC) = 12:13 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事象種別</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Earthquake / Ground shaking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対象国</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要請者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EC Services | DG ECHO</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成果物</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3 AOIs · 3 products · 0 maps</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ONGOING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発動理由
</a:t>
            </a:r>
            <a:pPr algn="l" indent="0" marL="0">
              <a:buNone/>
            </a:pPr>
            <a:r>
              <a:rPr lang="en-US" sz="1050"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
</a:t>
            </a:r>
            <a:pPr algn="l" indent="0" marL="0">
              <a:buNone/>
            </a:pPr>
            <a:r>
              <a:rPr lang="en-US" sz="1050" i="1" dirty="0">
                <a:solidFill>
                  <a:srgbClr val="6A6A6A"/>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47</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相手国の防災体制</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大統領府直属の調整機関。全国的な応急対応、国家防災基金（FNGRD）、国家情報システムを運用する。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国家災害リスク管理計画。2016年大統領令第308号で採択され、2022年8月3日の第1478号で更新。仙台防災枠組に整合し、UNGRDが年次で進捗を監理する。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国の耐震設計基準（2010年施行、その後も技術付属書を更新）。現行基準以前の建物や、非エンジニアリングの組積造・土造建築が依然としてリスクの主要因である。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110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47</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過去の主な被害地震</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年</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地震</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1906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エクアドル・コロンビア地震（太平洋岸）</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観測史上最大級。太平洋岸に破壊的な津波</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1925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カリ地震（バジェ・デル・カウカ県）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コーヒー地帯の地震（深さ150km）</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1979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トゥマコ地震（ナリーニョ県）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M8.1</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プレート境界型で津波を伴う。数百人が死亡</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1983</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ポパヤン地震（カウカ県）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M5.5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パエス地震（カウカ県）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2026年と同じ県で発生したやや深発地震</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アルメニア（キンディオ）地震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M6.1-6.2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2026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チョコ地震（本地震）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47</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1130" dirty="0"/>
          </a:p>
          <a:p>
            <a:pPr algn="l" marL="342900" indent="-342900">
              <a:buSzPct val="100000"/>
              <a:buChar char="•"/>
            </a:pPr>
            <a:r>
              <a:rPr lang="en-US" sz="113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1130" dirty="0"/>
          </a:p>
          <a:p>
            <a:pPr algn="l" marL="342900" indent="-342900">
              <a:buSzPct val="100000"/>
              <a:buChar char="•"/>
            </a:pPr>
            <a:r>
              <a:rPr lang="en-US" sz="113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13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カリ市：市当局の被害報告</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カリの他の数値との関係 — 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建物倒壊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構造的被害のある建物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避難命令の出た建物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救出された人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サンティアゴ・デ・カリ市職員より受領（2026年8月12日））</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47</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事前リスク評価：サンティアゴ・デ・カリ</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想定シナリオ</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M6.5・深さ10km、ダグア・カリマ断層、市街地</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曝露人口</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約230万人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推定死者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約1,200人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約36,300人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住まいを失う人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約181,000人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倒壊建物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348,000棟のうち約1,800棟（0.5%）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残余リスク</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既往対策を織り込んで約40%と評価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市が既に優先課題としていたこと</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2026年の地震はこのシナリオではない — 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既に挙げられていた優先課題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GEM-TREQ 都市プロファイル：カリ</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wfZbQ/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GEM-TREQによるカリ市プロファイル</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47</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r>
              <a:rPr lang="en-US" sz="12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地震イベントページ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コロンビア地質調査所（SGC）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地震速報 SGC2026pqqmro（本地震）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体感震度図（ShakeMap・本地震）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国家災害リスク管理ユニット（UNGRD）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オレンジ警報</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発動一覧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 EMSR916「Earthquake in Colombia」（発動）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コロンビア国家防災計画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コロンビアの耐震規定（NSR-10）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速報：死者132人に増加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チョコ県で負傷84人・死者12人（県政府）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UNGRD紹介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コロンビアのリスクガバナンス評価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速報（死者111人）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国家非常事態宣言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アルジャジーラ 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政府第1次被害評価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国家災害宣言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SGCによる長い揺れの解説</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大統領「111人死亡・87人けが」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日本経済新聞 コロンビア西部でM7.4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時事通信 コロンビアでM7.4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セーブ・ザ・チルドレン 声明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ダイレクト・リリーフ 医療支援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アメリケアズ 対応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GLIDE番号 — EQ-2026-000146-COL（災害識別番号）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アジア防災センター（ADRC）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カリ市地震リスク評価（技術報告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47</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カリ市の住民参加型早期警戒システム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サンティアゴ・デ・カリ市 災害リスク管理</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国家災害リスク管理計画（PNGRD）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2022年大統領令第1478号（PNGRD更新）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地震カタログ閲覧（精査済みは2018年2月まで）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速報（8月11日、カリの死者85人に）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集計：死者132人・負傷570人超（都市別）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大統領の181人は地方集計より59人少ない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余震99回とその規模（SGC）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47</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SGC集計：8月11日15:00時点で余震103回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外務省（X）8月11日の投稿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支援を申し出た国の一覧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国連コロンビア 地震に関する情報と更新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地震の行方不明者検索ツール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UNGRD による14県の被害・人的被害報告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47</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県都で死者188人・負傷1,677人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捜索継続、死者少なくとも254人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死者265人・負傷3,494人・行方不明496人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被災40,753世帯 UNGRDの新集計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47</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SGC 8月10日以降の余震184回（8月14日）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CNNスペイン語 救助・復旧のライブ報道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死者294人・住宅損壊81,506棟（公式数値）</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大統領令1172号 3日間の国家服喪</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47</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死者289人・行方不明143人・被災18万5千人超</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死者を下方修正し負傷者を上方修正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010・西語版（8月27日）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009・西語版（8月24日）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状況報告#6・西語版（8月28日）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8月31日06:30締め（公式X）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47</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9月1日06:30締め（公式X）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コロンビア地震 LTCテレコム状況報告#02（8月25〜31日）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AMDA緊急救援1報 コロンビア地震（9月1日）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ICRCが地震後の武力紛争影響地域のニーズを評価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コロンビアM7.4地震とEU対応 DG ECHO日次地図（8月26日）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ペレイラ（コロンビア）仮設住居マップ、8月10日地震（8月19日時点）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マニサレス（コロンビア）被災地区マップ、8月10日地震（8月20日時点）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人道対応計画への補遺（地震、8月）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人道対応計画への補遺（地震）・西語版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人道ニーズ・対応計画（2026年2月）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子どものための人道行動 2026 -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47</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011（9月2日・英語版）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地震から3週間、緊急ニーズが継続（MSF）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四半期保護モニタリング報告（コロンビア、4-6月）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コロンビア地震状況報告第7号（スペイン語版、8月31日）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AMDA緊急救援活動報告#2（コロンビア地震、9月3日）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3iS「マニサレス市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AMDA緊急救援活動報告#3（コロンビア地震、9月7日。イスミナの病院・教会でのニーズ調査）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ABBACOL財団「心理社会的支援の更新」（カリ、9月4日時点）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NET「コロンビア食料安全保障見通し」（2026年8月〜2027年1月。地震の影響とエルニーニョの強まり）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3iS「キブドー市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47</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コロンビア地震緊急事態状況報告（9月7日）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 第4報（9月8日）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HNRP2026 5Wシステム対応報告（1〜7月）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状況・対応分析（9月4日付）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状況・対応分析（8月16日付）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 被災地区図（3iS作成、9月8日付）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フラッシュアップデート第12号（9月10日付）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コロンビア地震：緊急対応から復旧支援へ移行（仏語版、9月10日付）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コロンビア地震：緊急対応から復旧支援へ移行（西語版、9月10日付）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ブエナベントゥーラ市 被災地区図（9月11日付）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47</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有用リンク・出典（12/12）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コロンビア 水・衛生・衛生教育（WASH）分野 発災1か月時点の状況・対応・課題（9月11日付）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コロンビア 保護モニタリング（2026年1〜3月期）</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UNGRD（X）住宅一時経済支援金の支払い開始、チョコ県・カリ市（2026年9月11-12日）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UNGRD（サイト）「救出356人」発災1か月時点の対応状況（9月10日付）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UNGRD（サイト）チョコ県 住宅支援金の支払い開始（9月11日付）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UwfZbQ/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アジア防災センター（ADRC）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2026-09-14 07:47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2026-09-14T22:49:33Z</dcterms:created>
  <dcterms:modified xsi:type="dcterms:W3CDTF">2026-09-14T22:49:33Z</dcterms:modified>
</cp:coreProperties>
</file>