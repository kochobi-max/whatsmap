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3-1.png"/><Relationship Id="rId2" Type="http://schemas.openxmlformats.org/officeDocument/2006/relationships/image" Target="../media/image-13-2.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6-1.pn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7-1.png"/><Relationship Id="rId14" Type="http://schemas.openxmlformats.org/officeDocument/2006/relationships/slideLayout" Target="../slideLayouts/slideLayout1.xml"/><Relationship Id="rId1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38-1.png"/><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39-1.png"/><Relationship Id="rId13" Type="http://schemas.openxmlformats.org/officeDocument/2006/relationships/slideLayout" Target="../slideLayouts/slideLayout1.xml"/><Relationship Id="rId1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40-1.png"/><Relationship Id="rId12" Type="http://schemas.openxmlformats.org/officeDocument/2006/relationships/slideLayout" Target="../slideLayouts/slideLayout1.xml"/><Relationship Id="rId1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42-1.png"/><Relationship Id="rId13" Type="http://schemas.openxmlformats.org/officeDocument/2006/relationships/slideLayout" Target="../slideLayouts/slideLayout1.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43-1.png"/><Relationship Id="rId14" Type="http://schemas.openxmlformats.org/officeDocument/2006/relationships/slideLayout" Target="../slideLayouts/slideLayout1.xml"/><Relationship Id="rId1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9" Type="http://schemas.openxmlformats.org/officeDocument/2006/relationships/hyperlink" Target="https://reliefweb.int/report/colombia/amda-emergency-relief-3-earthquake-colombia-7-september-2026" TargetMode="External"/><Relationship Id="rId10" Type="http://schemas.openxmlformats.org/officeDocument/2006/relationships/hyperlink" Target="https://reliefweb.int/report/colombia/resumen-actualizado-de-la-intervencion-psicosocial-de-abbacol-fecha-de-resumen-y-actualizacion-04-septiembre-2026" TargetMode="External"/><Relationship Id="rId11" Type="http://schemas.openxmlformats.org/officeDocument/2006/relationships/hyperlink" Target="https://reliefweb.int/report/colombia/colombia-food-security-outlook-update-august-2026-january-2027-earthquake-impacts-reduce-food-access-affected-areas-el-nino-strengthens" TargetMode="External"/><Relationship Id="rId12" Type="http://schemas.openxmlformats.org/officeDocument/2006/relationships/hyperlink" Target="https://reliefweb.int/map/colombia/quibdo-colombia-barrios-afectados-terremoto-10-de-agosto-2026-03092026" TargetMode="External"/><Relationship Id="rId13" Type="http://schemas.openxmlformats.org/officeDocument/2006/relationships/hyperlink" Target="https://reliefweb.int/report/colombia/iom-colombia-earthquake-situation-report-8-03-september-2026" TargetMode="External"/><Relationship Id="rId1" Type="http://schemas.openxmlformats.org/officeDocument/2006/relationships/image" Target="../media/image-44-1.png"/><Relationship Id="rId14" Type="http://schemas.openxmlformats.org/officeDocument/2006/relationships/slideLayout" Target="../slideLayouts/slideLayout1.xml"/><Relationship Id="rId1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8-3-septiembre-2026" TargetMode="External"/><Relationship Id="rId3" Type="http://schemas.openxmlformats.org/officeDocument/2006/relationships/hyperlink" Target="https://reliefweb.int/report/colombia/wfp-colombia-earthquake-response-7-september-2026" TargetMode="External"/><Relationship Id="rId4" Type="http://schemas.openxmlformats.org/officeDocument/2006/relationships/hyperlink" Target="https://reliefweb.int/report/colombia/amda-emergency-relief-4-earthquake-colombia-8-september-2026" TargetMode="External"/><Relationship Id="rId5" Type="http://schemas.openxmlformats.org/officeDocument/2006/relationships/hyperlink" Target="https://reliefweb.int/report/colombia/colombia-reporte-plan-de-respuesta-necesidades-humanitarias-hnrp-2026-en-el-sistema-5w-entre-enero-y-julio-de-2026" TargetMode="External"/><Relationship Id="rId6" Type="http://schemas.openxmlformats.org/officeDocument/2006/relationships/hyperlink" Target="https://reliefweb.int/report/colombia/analisis-de-situacion-y-respuesta-al-terremoto-4-de-septiembre-2026" TargetMode="External"/><Relationship Id="rId7" Type="http://schemas.openxmlformats.org/officeDocument/2006/relationships/hyperlink" Target="https://reliefweb.int/report/colombia/analisis-de-situacion-y-respuesta-al-terremoto-16-agosto-2026" TargetMode="External"/><Relationship Id="rId8" Type="http://schemas.openxmlformats.org/officeDocument/2006/relationships/hyperlink" Target="https://reliefweb.int/map/colombia/cali-colombia-barrios-afectados-terremoto-10-de-agosto-2026-08092026" TargetMode="External"/><Relationship Id="rId9" Type="http://schemas.openxmlformats.org/officeDocument/2006/relationships/hyperlink" Target="https://reliefweb.int/report/colombia/colombia-flash-update-012-update-impact-earthquake-colombia-september-10-2026" TargetMode="External"/><Relationship Id="rId10" Type="http://schemas.openxmlformats.org/officeDocument/2006/relationships/hyperlink" Target="https://reliefweb.int/report/colombia/seisme-en-colombie-caritas-passe-de-laide-durgence-au-relevement" TargetMode="External"/><Relationship Id="rId11" Type="http://schemas.openxmlformats.org/officeDocument/2006/relationships/hyperlink" Target="https://reliefweb.int/report/colombia/terremoto-en-colombia-caritas-pasa-de-la-respuesta-de-emergencia-la-recuperacion" TargetMode="External"/><Relationship Id="rId12" Type="http://schemas.openxmlformats.org/officeDocument/2006/relationships/hyperlink" Target="https://reliefweb.int/map/colombia/buenaventura-colombia-barrios-afectados-terremoto-10-de-agosto-2026-11092026" TargetMode="External"/><Relationship Id="rId1" Type="http://schemas.openxmlformats.org/officeDocument/2006/relationships/image" Target="../media/image-45-1.png"/><Relationship Id="rId13" Type="http://schemas.openxmlformats.org/officeDocument/2006/relationships/slideLayout" Target="../slideLayouts/slideLayout1.xml"/><Relationship Id="rId1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eliefweb.int/report/colombia/colombia-situacion-agua-saneamiento-e-higiene-wash-un-mes-del-sismo-de-agosto-de-2026-respuesta-brechas-y-prioridades" TargetMode="External"/><Relationship Id="rId3" Type="http://schemas.openxmlformats.org/officeDocument/2006/relationships/hyperlink" Target="https://reliefweb.int/report/colombia/drc-colombia-monitoreo-de-proteccion-enero-marzo-2026" TargetMode="External"/><Relationship Id="rId4" Type="http://schemas.openxmlformats.org/officeDocument/2006/relationships/hyperlink" Target="https://x.com/UNGRD/status/2098758429951078754" TargetMode="External"/><Relationship Id="rId1" Type="http://schemas.openxmlformats.org/officeDocument/2006/relationships/image" Target="../media/image-46-1.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bDKa7M/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bDKa7M/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bDKa7M/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bDKa7M/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が、アベラルド・デ・ラ・エスプリエジャ大統領および住宅相とともにブガ・カリを訪問し、8月10日の地震被害を視察した。ブガでは、奇跡の主バシリカ聖堂、ITA教育機関、プエブロ・ヌエボ地区の構造被害を確認。カリではクアルト・デ・レグア地区を訪れ、被災住民と面会した。国は地元自治体と連携し、被災調査（センサス）の迅速化と経済支援の直接給付を進め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とWFPコロンビア・カントリーディレクターのニールス・グリード氏が、9月4日の会談を踏まえ、地震被災世帯への食料支援を確保する戦略的提携を正式化した。両機関はエルニーニョ現象や森林火災など今後の対応に向けた協力関係も強化す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6日06:30（コロンビア時間）締めのUNGRD集計現在（投稿は11:48）。9月3日06:30締め以来はじめての新しい集計で、9月4日・5日は集計の投稿が無かった。16県・498市町村（横ばい）で死者331人（横ばい）、負傷4,505人（4,519人から減少）、行方不明111人（122人から減少）、生存救出364人（横ばい）。被災は296,725世帯・466,644人で、293,743世帯・466,606人から増加。住家は損壊201,989棟（201,010棟から増加）・全壊36,326棟（36,336棟から減少）、ほか建物損壊6,005棟・倒壊743棟（いずれも5,889棟・709棟から増加）。負傷・行方不明・住家全壊のわずかな減少についてUNGRDは理由を説明していないが、これまでの改定と同様、死傷者に関する新しい情報や訂正報ではなく、集計継続中の届出・解消・重複整理によるものとして扱う。UNGRDは引き続き、数値は速報値であり地方団体・実施機関による集計が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7日06:30（コロンビア時間）締めのUNGRD集計現在（投稿は07:43）。死者331人（横ばい）、負傷4,505人（横ばい）、行方不明111人（横ばい）、生存救出364人（横ばい）。16県・498市町村（横ばい）。被災は296,738世帯・466,709人で、9月6日06:30締めの296,725世帯・466,644人からわずかに増加。住家は損壊202,002棟（201,989棟から増加）・全壊36,326棟（横ばい）、ほか建物損壊6,005棟・倒壊743棟（いずれも横ばい）。この集計であらためて内訳が示されたインフラ被害：保健施設400、教育施設4,313（4,288から増加）、コミュニティ施設6,033（6,035から減少）、道路521（491から増加）、空港5、上水道141（横ばい）、道路橋102（91から増加）、歩道橋13（横ばい）。UNGRDは引き続き、数値は速報値であり集計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カタール国から寄贈された14.9トンの野戦病院を受領した。ICU用ベッド6床、一般病床44床、毛布・シーツ・枕各50組、エアコン26台、ディーゼル貯蔵タンク1基を含む。地震対応や他の緊急事態に応じて必要な地域へ移設できる。在ボゴタ・カタール大使館を通じて調整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UNGRDが、地震被災世帯向けの住宅一時経済支援金の支払いを開始した。チョコ県では9月11日から（住宅が全壊または居住不能となった世帯向けに初月分としてCOP 33億2,400万超）、カリ市では9月12日から、いずれもSuperGiros窓口で原本の身分証を提示して受け取る方式で、申請受付期間は15日間。UNGRDは今後バジェ・デル・カウカ県、カルダス県、キンディオ県、リサラルダ県へも支払いを拡大するとしている。9月7日から12日にかけて、新しい死傷者・被害の集計（balance）の投稿は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bDKa7M/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bDKa7M/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bDKa7M/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人（UNGRD、9月7日06:30締め、投稿は07:43）。9月6日06:30締めから横ばい。推移は273→281→285→287→288→294→289→287→329→331→331→331→331→331→331。UNGRDは以前の変動について、地方から報告された数値の検証・集計整理によるもの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4,505人（UNGRD、9月7日06:30締め）。9月6日06:30締めから横ばい。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111人（UNGRD、9月7日06:30締め）。9月6日06:30締めから横ばい。推移は496→377→378→202→320→143→194→151→136→136→136→122→111→111。届出・解消・重複整理が同時に進むため、この数値は増減する。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364人（UNGRD、9月7日06:30締め）。9月6日から横ばい。動物救助3,003頭・被災3,277頭（いずれも9月6日から横ばい）。これは死傷者数と併記される全国集計値。個別の救助事例は下記8月16日の項を参照。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16県・498市町村（UNGRD、9月7日06:30締め）。9月6日06:30締めから横ばい。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296,725世帯・466,644人が被災（UNGRD、9月6日06:30締め）。9月3日06:30締めの293,743世帯・466,606人から増加。OCHAのFlash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 別途、WFPの「コロンビア地震緊急事態状況報告」（9月7日付）は、その時点で「当局は被災者759,311人、死者331人、負傷4,519人、行方不明136人と報告した」としている。これはUNGRD自身の9月7日集計（296,738世帯・466,709人）を大きく上回る被災者数であり、一方でWFPが引用する死傷者数値（負傷4,519人・行方不明136人）はUNGRDの9月7日締めではなく9月1〜2日締めの数値と一致する。同報告は759,311人が何を数えた値か、どのUNGRD集計に基づくかを説明していない。ここではUNGRDの集計と統合せず、日付を付して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238,328棟。全壊36,326棟、損壊202,002棟（UNGRD、9月7日06:30締め）。9月6日06:30締めの238,315棟（全壊36,326棟・損壊201,989棟）から、全壊は横ばい、損壊はわずかに増加。OCHAのFlash Update 011（9月2日17:00時点）も別途「住家全壊36,000棟超」とし、UNGRDの値と整合する。バジェ・デル・カウカ県山間部のコーヒー産地エル・カイロでは住宅の80％が被害を受けた（8月16日時点）。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202,002（UNGRD、9月7日06:30締め）。9月6日06:30締めの201,989から増加。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36,326（UNGRD、9月7日06:30締め）。9月6日06:30締めから横ばい。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743棟が倒壊、ほか6,005棟が損壊（UNGRD、9月7日06:30締め）。9月6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UNGRD、9月7日06:30／Asocapitales（8月16日）／カリ市（8月16日）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6日06:30締め）。9月3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か所が被害（UNGRD、9月7日06:30締め）。9月6日06:30締めの4,288か所から増加。UNGRDは理由を示しておらず、訂正ではなく集計上の整理として扱う（9月3日4,292か所、9月2日4,287か所、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か所が被害（UNGRD、9月7日06:30締め）。9月6日06:30締めの6,035か所から減少。UNGRDは理由を示しておらず、訂正ではなく集計上の整理として扱う（9月3日5,600か所、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521路線が被害（UNGRD、9月7日06:30締め）。9月6日06:30締めの491路線から増加（9月3日468路線、8月31日462路線、8月16日18:30締め410路線、同日朝210路線、8月10日18路線）。道路橋102橋、歩道橋13橋も被害（道路橋は9月6日の91橋から増加。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141系統が被害（UNGRD、9月7日06:30締め）。9月6日06:30締めから横ばい（9月3日140系統、8月31日122系統、8月16日18:30締め95系統、同日朝73系統）。金融機関29拠点が業務停止（8月16日時点）。震央付近では停電と通信途絶が報告されている（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全国で動物3,277頭が被災、3,003頭を救出（UNGRD、9月7日06:30締め）。9月6日06:30締めから横ばい。8月16日18:30締めは被災768頭・救出496頭。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bDKa7M/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ほか、NGOのAMDA（アジア医師連絡協議会）も8月30日に看護師を派遣し、AMDAコロンビア・サラマンドラ財団とともにカリ市・チョコ県で救援活動を支援、9月4日に緊急対応フェーズを終了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46</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46</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46</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46</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46</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46</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46</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AMDA緊急救援活動報告#3（コロンビア地震、9月7日。イスミナの病院・教会でのニーズ調査）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ABBACOL財団「心理社会的支援の更新」（カリ、9月4日時点）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NET「コロンビア食料安全保障見通し」（2026年8月〜2027年1月。地震の影響とエルニーニョの強まり）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3iS「キブドー市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46</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コロンビア地震緊急事態状況報告（9月7日）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 第4報（9月8日）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HNRP2026 5Wシステム対応報告（1〜7月）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状況・対応分析（9月4日付）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状況・対応分析（8月16日付）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 被災地区図（3iS作成、9月8日付）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フラッシュアップデート第12号（9月10日付）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コロンビア地震：緊急対応から復旧支援へ移行（仏語版、9月10日付）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コロンビア地震：緊急対応から復旧支援へ移行（西語版、9月10日付）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ブエナベントゥーラ市 被災地区図（9月11日付）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46</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コロンビア 水・衛生・衛生教育（WASH）分野 発災1か月時点の状況・対応・課題（9月11日付）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コロンビア 保護モニタリング（2026年1〜3月期）</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UNGRD（X）住宅一時経済支援金の支払い開始、チョコ県・カリ市（2026年9月11-12日）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bDKa7M/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2026-09-08 23:15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2026-09-12T23:09:40Z</dcterms:created>
  <dcterms:modified xsi:type="dcterms:W3CDTF">2026-09-12T23:09:40Z</dcterms:modified>
</cp:coreProperties>
</file>