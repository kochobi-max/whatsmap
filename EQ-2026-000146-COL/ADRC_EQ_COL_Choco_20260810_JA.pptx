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sgc.gov.co/detallesismo/SGC2026pqqmro/mmi" TargetMode="External"/><Relationship Id="rId6"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3-1.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4-1.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5-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7-1.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11-1.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12-1.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reliefweb.int/report/colombia/colombia-population-movement-imminent-dref-final-report-mdrco034" TargetMode="External"/><Relationship Id="rId4" Type="http://schemas.openxmlformats.org/officeDocument/2006/relationships/hyperlink" Target="https://www.google.com/maps/@5.69,-76.66,9z" TargetMode="External"/><Relationship Id="rId1" Type="http://schemas.openxmlformats.org/officeDocument/2006/relationships/image" Target="../media/image-13-1.png"/><Relationship Id="rId2" Type="http://schemas.openxmlformats.org/officeDocument/2006/relationships/image" Target="../media/image-13-2.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4-1.png"/><Relationship Id="rId2" Type="http://schemas.openxmlformats.org/officeDocument/2006/relationships/image" Target="../media/image-14-2.jp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bdrsnc.sgc.gov.co/paginas1/catalogo/index.php"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1"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www.fnet.bosai.go.jp/"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1" Type="http://schemas.openxmlformats.org/officeDocument/2006/relationships/image" Target="../media/image-17-1.png"/><Relationship Id="rId2" Type="http://schemas.openxmlformats.org/officeDocument/2006/relationships/image" Target="../media/image-17-2.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pager" TargetMode="External"/><Relationship Id="rId1" Type="http://schemas.openxmlformats.org/officeDocument/2006/relationships/image" Target="../media/image-29-1.png"/><Relationship Id="rId2" Type="http://schemas.openxmlformats.org/officeDocument/2006/relationships/image" Target="../media/image-29-2.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3-1.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4-1.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5-1.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1" Type="http://schemas.openxmlformats.org/officeDocument/2006/relationships/image" Target="../media/image-36-1.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mapping.emergency.copernicus.eu/activations/EMSR916/" TargetMode="Externa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jp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 Type="http://schemas.openxmlformats.org/officeDocument/2006/relationships/image" Target="../media/image-45-1.png"/><Relationship Id="rId14" Type="http://schemas.openxmlformats.org/officeDocument/2006/relationships/slideLayout" Target="../slideLayouts/slideLayout1.xml"/><Relationship Id="rId1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hyperlink" Target="https://www.cnn.com/2026/08/10/world/live-news/colombia-earthquake-san-jose-del-palmar" TargetMode="External"/><Relationship Id="rId3" Type="http://schemas.openxmlformats.org/officeDocument/2006/relationships/hyperlink" Target="https://www.elcolombiano.com/colombia/terremoto-temblor-hoy-colombia-choco-heridos-FL39761141" TargetMode="External"/><Relationship Id="rId4" Type="http://schemas.openxmlformats.org/officeDocument/2006/relationships/hyperlink" Target="https://un-spider.org/national-unit-disaster-risk-management-ungrd-colombia" TargetMode="External"/><Relationship Id="rId5" Type="http://schemas.openxmlformats.org/officeDocument/2006/relationships/hyperlink" Target="https://www.oecd.org/en/publications/risk-governance-scan-of-colombia_eeb81954-en.html" TargetMode="External"/><Relationship Id="rId6" Type="http://schemas.openxmlformats.org/officeDocument/2006/relationships/hyperlink" Target="https://www.cnn.com/2026/08/10/world/live-news/colombia-earthquake-san-jose-del-palmar" TargetMode="External"/><Relationship Id="rId7" Type="http://schemas.openxmlformats.org/officeDocument/2006/relationships/hyperlink" Target="https://www.france24.com/en/americas/20260810-powerful-quake-rocks-colombia-causing-major-damage" TargetMode="External"/><Relationship Id="rId8" Type="http://schemas.openxmlformats.org/officeDocument/2006/relationships/hyperlink" Target="https://www.aljazeera.com/news/2026/8/10/7-4-magnitude-earthquake-hits-colombia-killing-at-least-20" TargetMode="External"/><Relationship Id="rId9" Type="http://schemas.openxmlformats.org/officeDocument/2006/relationships/hyperlink" Target="https://www.cbsnews.com/news/colombia-earthquake-western-region-evacuations/" TargetMode="External"/><Relationship Id="rId10" Type="http://schemas.openxmlformats.org/officeDocument/2006/relationships/hyperlink" Target="https://www.nbcnews.com/world/latin-america/strong-earthquake-colombia-ecuador-people-evacuating-homes-buildings-rcna591709" TargetMode="External"/><Relationship Id="rId11" Type="http://schemas.openxmlformats.org/officeDocument/2006/relationships/hyperlink" Target="https://colombiaone.com/2026/08/10/earthquake-colombia-official-details/" TargetMode="External"/><Relationship Id="rId12" Type="http://schemas.openxmlformats.org/officeDocument/2006/relationships/hyperlink" Target="https://colombiaone.com/2026/08/10/colombia-national-disaster/" TargetMode="External"/><Relationship Id="rId13" Type="http://schemas.openxmlformats.org/officeDocument/2006/relationships/hyperlink" Target="https://www.infobae.com/colombia/2026/08/10/por-que-el-temblor-en-colombia-de-este-lunes-10-de-agosto-duro-una-eternidad-el-servicio-geologico-explico-que-paso/" TargetMode="External"/><Relationship Id="rId1" Type="http://schemas.openxmlformats.org/officeDocument/2006/relationships/image" Target="../media/image-46-1.png"/><Relationship Id="rId14" Type="http://schemas.openxmlformats.org/officeDocument/2006/relationships/slideLayout" Target="../slideLayouts/slideLayout1.xml"/><Relationship Id="rId1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2" Type="http://schemas.openxmlformats.org/officeDocument/2006/relationships/hyperlink" Target="https://www3.nhk.or.jp/news/" TargetMode="External"/><Relationship Id="rId3" Type="http://schemas.openxmlformats.org/officeDocument/2006/relationships/hyperlink" Target="https://www.nikkei.com/article/DGXZQOGN108V30Q6A810C2000000/" TargetMode="External"/><Relationship Id="rId4" Type="http://schemas.openxmlformats.org/officeDocument/2006/relationships/hyperlink" Target="https://www.jiji.com/jc/article?k=2026081000878&amp;g=int" TargetMode="External"/><Relationship Id="rId5" Type="http://schemas.openxmlformats.org/officeDocument/2006/relationships/hyperlink" Target="https://www.savethechildren.org/us/about-us/media-and-news/2026-press-releases/children-at-risk-after-earthquake-strikes-colombia" TargetMode="External"/><Relationship Id="rId6" Type="http://schemas.openxmlformats.org/officeDocument/2006/relationships/hyperlink" Target="https://www.directrelief.org/2026/08/colombia-earthquake-7-4-magnitude-direct-relief-response/" TargetMode="External"/><Relationship Id="rId7" Type="http://schemas.openxmlformats.org/officeDocument/2006/relationships/hyperlink" Target="https://www.americares.org/crisis-alerts/colombia-earthquake-august-2026/" TargetMode="External"/><Relationship Id="rId8" Type="http://schemas.openxmlformats.org/officeDocument/2006/relationships/hyperlink" Target="https://glidenumber.net/" TargetMode="External"/><Relationship Id="rId9" Type="http://schemas.openxmlformats.org/officeDocument/2006/relationships/hyperlink" Target="https://www.adrc.asia/" TargetMode="External"/><Relationship Id="rId10" Type="http://schemas.openxmlformats.org/officeDocument/2006/relationships/hyperlink" Target="https://www.democrata.es/en/international/von-der-leyen-expresses-the-eu-s-support-for-colombia-and-activates-copernicus-after-the-earthquake/" TargetMode="External"/><Relationship Id="rId11" Type="http://schemas.openxmlformats.org/officeDocument/2006/relationships/hyperlink" Target="https://www.globalquakemodel.org/proj/treq" TargetMode="External"/><Relationship Id="rId12" Type="http://schemas.openxmlformats.org/officeDocument/2006/relationships/hyperlink" Target="https://cloud-storage.globalquakemodel.org/public/wix-new-website/pdf-collections-wix/publications/TREQ%20deliverables/reports/TREQ_D262_Riesgo_Sismico_Cali_v1.00.pdf" TargetMode="External"/><Relationship Id="rId13" Type="http://schemas.openxmlformats.org/officeDocument/2006/relationships/hyperlink" Target="https://www.sciencedirect.com/science/article/abs/pii/S2212420925003097" TargetMode="External"/><Relationship Id="rId1" Type="http://schemas.openxmlformats.org/officeDocument/2006/relationships/image" Target="../media/image-47-1.png"/><Relationship Id="rId14" Type="http://schemas.openxmlformats.org/officeDocument/2006/relationships/slideLayout" Target="../slideLayouts/slideLayout1.xml"/><Relationship Id="rId1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2" Type="http://schemas.openxmlformats.org/officeDocument/2006/relationships/hyperlink" Target="https://satic.cali.gov.co/satic" TargetMode="External"/><Relationship Id="rId3" Type="http://schemas.openxmlformats.org/officeDocument/2006/relationships/hyperlink" Target="https://www.cali.gov.co/gestiondelriesgo/" TargetMode="External"/><Relationship Id="rId4" Type="http://schemas.openxmlformats.org/officeDocument/2006/relationships/hyperlink" Target="https://portal.gestiondelriesgo.gov.co/Paginas/Plan-Nacional-de-Gestion-del-Riesgo.aspx" TargetMode="External"/><Relationship Id="rId5" Type="http://schemas.openxmlformats.org/officeDocument/2006/relationships/hyperlink" Target="https://www.funcionpublica.gov.co/eva/gestornormativo/norma.php?i=191411" TargetMode="External"/><Relationship Id="rId6" Type="http://schemas.openxmlformats.org/officeDocument/2006/relationships/hyperlink" Target="https://www.emsc-csem.org/" TargetMode="External"/><Relationship Id="rId7" Type="http://schemas.openxmlformats.org/officeDocument/2006/relationships/hyperlink" Target="https://catalogosismico.sgc.gov.co/visor/index.html" TargetMode="External"/><Relationship Id="rId8"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9" Type="http://schemas.openxmlformats.org/officeDocument/2006/relationships/hyperlink" Target="https://www.elespectador.com/colombia/mas-regiones/temblor-en-colombia-hoy-10-de-agosto-en-vivo-epicentro-y-reporte-de-afectaciones/" TargetMode="External"/><Relationship Id="rId10" Type="http://schemas.openxmlformats.org/officeDocument/2006/relationships/hyperlink" Target="https://www.noticiascaracol.com/colombia/en-vivo-colombia-hoy-tras-terremoto-de-magnitud-7-4-continuan-las-labores-de-rescate-so35" TargetMode="External"/><Relationship Id="rId11" Type="http://schemas.openxmlformats.org/officeDocument/2006/relationships/hyperlink" Target="https://rpp.pe/mundo/colombia/abelardo-de-la-espriella-cifra-en-181-los-muertos-por-el-terremoto-59-menos-que-datos-regionales-noticia-1701022" TargetMode="External"/><Relationship Id="rId12" Type="http://schemas.openxmlformats.org/officeDocument/2006/relationships/hyperlink" Target="https://www.eltiempo.com/colombia/otras-ciudades/cuantas-replicas-se-han-registrado-tras-el-terremoto-de-7-4-en-colombia-estas-son-todas-las-magnitudes-3577711" TargetMode="External"/><Relationship Id="rId1" Type="http://schemas.openxmlformats.org/officeDocument/2006/relationships/image" Target="../media/image-48-1.png"/><Relationship Id="rId13" Type="http://schemas.openxmlformats.org/officeDocument/2006/relationships/slideLayout" Target="../slideLayouts/slideLayout1.xml"/><Relationship Id="rId1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2" Type="http://schemas.openxmlformats.org/officeDocument/2006/relationships/hyperlink" Target="https://www.semana.com/tecnologia/articulo/servicio-geologico-revela-el-numero-total-de-replicas-que-ha-habido-en-colombia-tras-fuerte-terremoto-que-estremecio-al-pais/202641/" TargetMode="External"/><Relationship Id="rId3" Type="http://schemas.openxmlformats.org/officeDocument/2006/relationships/hyperlink" Target="https://www.mofa.go.jp/mofaj/la_c/sa/co/pageit_000001_00001.html" TargetMode="External"/><Relationship Id="rId4" Type="http://schemas.openxmlformats.org/officeDocument/2006/relationships/hyperlink" Target="https://x.com/MofaJapan_jp/status/2087155064855261537" TargetMode="External"/><Relationship Id="rId5" Type="http://schemas.openxmlformats.org/officeDocument/2006/relationships/hyperlink" Target="https://www.eltiempo.com/mundo/mas-regiones/la-comunidad-internacional-se-vuelca-en-ayudas-para-colombia-lista-de-paises-que-han-ofrecido-apoyo-tras-el-terremoto-de-magnitud-7-3577512" TargetMode="External"/><Relationship Id="rId6" Type="http://schemas.openxmlformats.org/officeDocument/2006/relationships/hyperlink" Target="https://colombia.un.org/es/320793-informaci%C3%B3n-y-actualizaciones-sobre-el-terremoto-en-colombia" TargetMode="External"/><Relationship Id="rId7" Type="http://schemas.openxmlformats.org/officeDocument/2006/relationships/hyperlink" Target="https://news.un.org/es/story/2026/08/1541792" TargetMode="External"/><Relationship Id="rId8" Type="http://schemas.openxmlformats.org/officeDocument/2006/relationships/hyperlink" Target="https://www.colombiatebusca.com/" TargetMode="External"/><Relationship Id="rId9" Type="http://schemas.openxmlformats.org/officeDocument/2006/relationships/hyperlink" Target="https://www.asocapitales.co/terremoto-colombia.html" TargetMode="External"/><Relationship Id="rId10" Type="http://schemas.openxmlformats.org/officeDocument/2006/relationships/hyperlink" Target="https://www.infobae.com/colombia/2026/08/12/de-la-espriella-anuncio-alivios-y-subsidios-tras-emergencia-en-el-eje-cafetero-por-el-terremoto-detallo-plan-de-choque-para-educacion-y-vivienda/" TargetMode="External"/><Relationship Id="rId11" Type="http://schemas.openxmlformats.org/officeDocument/2006/relationships/hyperlink" Target="https://www.pulzo.com/nacion/terremoto-en-colombia-ungrd-reporta-danos-y-victimas-en-valle-del-cauca-y-risaralda-PP5272829A" TargetMode="External"/><Relationship Id="rId1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1" Type="http://schemas.openxmlformats.org/officeDocument/2006/relationships/image" Target="../media/image-49-1.png"/><Relationship Id="rId13" Type="http://schemas.openxmlformats.org/officeDocument/2006/relationships/slideLayout" Target="../slideLayouts/slideLayout1.xml"/><Relationship Id="rId1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2" Type="http://schemas.openxmlformats.org/officeDocument/2006/relationships/hyperlink" Target="https://www.asocapitales.co/actualidad/noticias/ciudades-seguras/terremoto-deja-188-fallecidos-y-1677-heridos-en-ciudades" TargetMode="External"/><Relationship Id="rId3" Type="http://schemas.openxmlformats.org/officeDocument/2006/relationships/hyperlink" Target="https://www.infolibre.es/internacional/terremoto-colombia-deja-254-muertos-continua-busqueda-escombros_1_2235003.html" TargetMode="External"/><Relationship Id="rId4" Type="http://schemas.openxmlformats.org/officeDocument/2006/relationships/hyperlink" Target="https://www.elcolombiano.com/colombia/cifra-muertos-heridos-desaparecidos-por-terremoto-colombia-MK39884181" TargetMode="External"/><Relationship Id="rId5" Type="http://schemas.openxmlformats.org/officeDocument/2006/relationships/hyperlink" Target="https://www.eltiempo.com/colombia/otras-ciudades/balance-oficial-de-la-ungrd-tras-terremoto-de-magnitud-7-4-en-colombia-273-fallecidos-3-824-heridos-y-377-desaparecidos-3578196" TargetMode="External"/><Relationship Id="rId6" Type="http://schemas.openxmlformats.org/officeDocument/2006/relationships/hyperlink" Target="https://www.eltiempo.com/vida/40-753-familias-afectadas-y-273-muertos-ungrd-entrega-nuevo-balance-del-terremoto-en-colombia-3578185" TargetMode="External"/><Relationship Id="rId7" Type="http://schemas.openxmlformats.org/officeDocument/2006/relationships/hyperlink" Target="https://www.eltiempo.com/colombia/otras-ciudades/nuevo-temblor-de-magnitud-4-2-se-registro-en-san-jose-del-palmar-choco-en-la-manana-de-este-jueves-13-de-agosto-3578131" TargetMode="External"/><Relationship Id="rId8" Type="http://schemas.openxmlformats.org/officeDocument/2006/relationships/hyperlink" Target="https://www.infobae.com/colombia/2026/08/13/colombia-recibira-equipos-de-rescate-de-ee-uu-israel-ecuador-y-el-salvador-por-terremoto/" TargetMode="External"/><Relationship Id="rId9" Type="http://schemas.openxmlformats.org/officeDocument/2006/relationships/hyperlink" Target="https://www.eltiempo.com/colombia/otras-ciudades/balance-oficial-de-la-ungrd-tras-terremoto-de-magnitud-7-4-en-colombia-287-fallecidos-3-975-heridos-y-378-desaparecidos-3578445" TargetMode="External"/><Relationship Id="rId10" Type="http://schemas.openxmlformats.org/officeDocument/2006/relationships/hyperlink" Target="https://www.infobae.com/colombia/2026/08/14/temblor-de-74-en-colombia-el-10-de-agosto-se-actualizo-el-numero-de-fallecidos-en-todo-el-pais/" TargetMode="External"/><Relationship Id="rId11" Type="http://schemas.openxmlformats.org/officeDocument/2006/relationships/hyperlink" Target="https://www.infobae.com/colombia/2026/08/14/aumenta-la-ayuda-internacional-a-colombia-tras-el-terremoto-de-74-india-envia-20-toneladas-y-noruega-suecia-y-espana-anuncian-nuevos-recursos/" TargetMode="External"/><Relationship Id="rId1" Type="http://schemas.openxmlformats.org/officeDocument/2006/relationships/image" Target="../media/image-50-1.png"/><Relationship Id="rId12" Type="http://schemas.openxmlformats.org/officeDocument/2006/relationships/slideLayout" Target="../slideLayouts/slideLayout1.xml"/><Relationship Id="rId1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2" Type="http://schemas.openxmlformats.org/officeDocument/2006/relationships/hyperlink" Target="https://www.elheraldo.co/colombia/2026/08/14/italia-india-espana-chile-y-banco-mundial-entre-los-paises-y-organismos-que-han-enviado-ayudas-a-colombia-por-el-terremoto/" TargetMode="External"/><Relationship Id="rId3" Type="http://schemas.openxmlformats.org/officeDocument/2006/relationships/hyperlink" Target="https://www.jrc.or.jp/international/news/2026/0812_054987.html" TargetMode="External"/><Relationship Id="rId4"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5"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6" Type="http://schemas.openxmlformats.org/officeDocument/2006/relationships/hyperlink" Target="https://cnnespanol.cnn.com/2026/08/12/colombia/live-news/terremoto-en-vivo-muertos-videos-rescates-orix" TargetMode="External"/><Relationship Id="rId7"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8" Type="http://schemas.openxmlformats.org/officeDocument/2006/relationships/hyperlink" Target="https://www.semana.com/nacion/articulo/ascienden-a-294-los-fallecidos-del-terremoto-del-10-de-agosto-y-van-81506-viviendas-averiadas-segun-cifras-oficiales/202627/" TargetMode="External"/><Relationship Id="rId9" Type="http://schemas.openxmlformats.org/officeDocument/2006/relationships/hyperlink" Target="https://www.elheraldo.co/colombia/2026/08/12/presidente-de-la-espriella-decreta-tres-dias-de-duelo-nacional-por-victimas-del-terremoto/" TargetMode="External"/><Relationship Id="rId10"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11" Type="http://schemas.openxmlformats.org/officeDocument/2006/relationships/hyperlink" Target="https://www.eltiempo.com/colombia/otras-ciudades/balance-oficial-de-la-ungrd-este-16-de-agosto-tras-terremoto-de-7-4-en-colombia-289-fallecidos-4-187-heridos-y-143-desaparecidos-3578742" TargetMode="External"/><Relationship Id="rId1" Type="http://schemas.openxmlformats.org/officeDocument/2006/relationships/image" Target="../media/image-51-1.png"/><Relationship Id="rId12" Type="http://schemas.openxmlformats.org/officeDocument/2006/relationships/slideLayout" Target="../slideLayouts/slideLayout1.xml"/><Relationship Id="rId1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2" Type="http://schemas.openxmlformats.org/officeDocument/2006/relationships/hyperlink" Target="https://www.rtvcnoticias.com/actualidad/terremoto-deja-289-fallecidos-143-desaparecidos-y-mas-de-185000-afectados-en-colombia" TargetMode="External"/><Relationship Id="rId3" Type="http://schemas.openxmlformats.org/officeDocument/2006/relationships/hyperlink" Target="https://www.radiosantafe.com/2026/08/16/ungrd-reduce-a-289-cifra-de-fallecidos-y-a-143-la-de-personas-desaparecidas-por-el-terremoto/" TargetMode="External"/><Relationship Id="rId4" Type="http://schemas.openxmlformats.org/officeDocument/2006/relationships/hyperlink" Target="https://www.semana.com/nacion/articulo/terremoto-en-colombia-reportan-287-muertos-y-4147-heridos-en-nuevo-balance-de-la-ungrd/202615/" TargetMode="External"/><Relationship Id="rId5" Type="http://schemas.openxmlformats.org/officeDocument/2006/relationships/hyperlink" Target="https://www.latercera.com/mundo/noticia/colombia-rebaja-a-casi-287-los-muertos-y-eleva-a-cerca-de-4150-los-heridos-por-el-terremoto/" TargetMode="External"/><Relationship Id="rId6" Type="http://schemas.openxmlformats.org/officeDocument/2006/relationships/hyperlink" Target="https://reliefweb.int/report/colombia/colombia-flash-update-010-update-impact-earthquake-colombia-august-27-2026" TargetMode="External"/><Relationship Id="rId7" Type="http://schemas.openxmlformats.org/officeDocument/2006/relationships/hyperlink" Target="https://reliefweb.int/report/colombia/colombia-flash-update-010-actualizacion-afectaciones-por-terremoto-en-colombia-27-de-agosto-de-2026" TargetMode="External"/><Relationship Id="rId8" Type="http://schemas.openxmlformats.org/officeDocument/2006/relationships/hyperlink" Target="https://reliefweb.int/report/colombia/colombia-flash-update-009-update-impact-earthquake-colombia-august-24-2026" TargetMode="External"/><Relationship Id="rId9" Type="http://schemas.openxmlformats.org/officeDocument/2006/relationships/hyperlink" Target="https://reliefweb.int/report/colombia/colombia-flash-update-009-actualizacion-afectaciones-por-terremoto-en-colombia-24-de-agosto-de-2026" TargetMode="External"/><Relationship Id="rId10" Type="http://schemas.openxmlformats.org/officeDocument/2006/relationships/hyperlink" Target="https://reliefweb.int/report/colombia/iom-colombia-earthquake-response-situation-report-6-28-august-2026" TargetMode="External"/><Relationship Id="rId11" Type="http://schemas.openxmlformats.org/officeDocument/2006/relationships/hyperlink" Target="https://reliefweb.int/report/colombia/oim-respuesta-al-terremoto-en-colombia-reporte-de-situacion-6-28-agosto-2026" TargetMode="External"/><Relationship Id="rId12" Type="http://schemas.openxmlformats.org/officeDocument/2006/relationships/hyperlink" Target="https://x.com/UNGRD/status/2094414373506736128" TargetMode="External"/><Relationship Id="rId1" Type="http://schemas.openxmlformats.org/officeDocument/2006/relationships/image" Target="../media/image-52-1.png"/><Relationship Id="rId13" Type="http://schemas.openxmlformats.org/officeDocument/2006/relationships/slideLayout" Target="../slideLayouts/slideLayout1.xml"/><Relationship Id="rId1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2" Type="http://schemas.openxmlformats.org/officeDocument/2006/relationships/hyperlink" Target="https://x.com/UNGRD/status/2094764781831872512" TargetMode="External"/><Relationship Id="rId3" Type="http://schemas.openxmlformats.org/officeDocument/2006/relationships/hyperlink" Target="https://reliefweb.int/report/colombia/colombia-earthquake-ltc-telecoms-situation-report-02-reporting-period-25-31-august-2026" TargetMode="External"/><Relationship Id="rId4" Type="http://schemas.openxmlformats.org/officeDocument/2006/relationships/hyperlink" Target="https://reliefweb.int/report/colombia/amda-emergency-relief-1-earthquake-colombia-1-september-2026" TargetMode="External"/><Relationship Id="rId5" Type="http://schemas.openxmlformats.org/officeDocument/2006/relationships/hyperlink" Target="https://reliefweb.int/report/colombia/colombia-icrc-assesses-needs-communities-affected-armed-conflict-following-earthquake" TargetMode="External"/><Relationship Id="rId6" Type="http://schemas.openxmlformats.org/officeDocument/2006/relationships/hyperlink" Target="https://reliefweb.int/map/colombia/colombia-74-m-earthquake-10-august-and-eu-response-dg-echo-daily-map-26082026" TargetMode="External"/><Relationship Id="rId7" Type="http://schemas.openxmlformats.org/officeDocument/2006/relationships/hyperlink" Target="https://reliefweb.int/map/colombia/pereira-colombia-alojamientos-temporales-terremoto-10-de-agosto-2026-19082026" TargetMode="External"/><Relationship Id="rId8" Type="http://schemas.openxmlformats.org/officeDocument/2006/relationships/hyperlink" Target="https://reliefweb.int/map/colombia/manizales-colombia-barrios-afectados-terremoto-10-de-agosto-2026-20082026" TargetMode="External"/><Relationship Id="rId9" Type="http://schemas.openxmlformats.org/officeDocument/2006/relationships/hyperlink" Target="https://reliefweb.int/report/colombia/colombia-addendum-humanitarian-response-plan-earthquake-august-2026" TargetMode="External"/><Relationship Id="rId10" Type="http://schemas.openxmlformats.org/officeDocument/2006/relationships/hyperlink" Target="https://reliefweb.int/report/colombia/colombia-adenda-al-plan-de-respuesta-humanitaria-terremoto-agosto-2026" TargetMode="External"/><Relationship Id="rId11" Type="http://schemas.openxmlformats.org/officeDocument/2006/relationships/hyperlink" Target="https://reliefweb.int/report/colombia/colombia-plan-de-respuesta-necesidades-humanitarias-febrero-2026-enes" TargetMode="External"/><Relationship Id="rId12" Type="http://schemas.openxmlformats.org/officeDocument/2006/relationships/hyperlink" Target="https://reliefweb.int/report/colombia/humanitarian-action-children-2026-colombia" TargetMode="External"/><Relationship Id="rId13" Type="http://schemas.openxmlformats.org/officeDocument/2006/relationships/hyperlink" Target="https://reliefweb.int/report/colombia/colombia-flash-update-011-actualizacion-afectaciones-por-terremoto-en-colombia-02-de-septiembre-de-2026" TargetMode="External"/><Relationship Id="rId1" Type="http://schemas.openxmlformats.org/officeDocument/2006/relationships/image" Target="../media/image-53-1.png"/><Relationship Id="rId14" Type="http://schemas.openxmlformats.org/officeDocument/2006/relationships/slideLayout" Target="../slideLayouts/slideLayout1.xml"/><Relationship Id="rId1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2" Type="http://schemas.openxmlformats.org/officeDocument/2006/relationships/hyperlink" Target="https://reliefweb.int/report/colombia/colombia-flash-update-011-update-impact-earthquake-colombia-september-2-2026" TargetMode="External"/><Relationship Id="rId3" Type="http://schemas.openxmlformats.org/officeDocument/2006/relationships/hyperlink" Target="https://reliefweb.int/report/colombia/urgent-needs-persist-three-weeks-after-earthquake-colombia" TargetMode="External"/><Relationship Id="rId4" Type="http://schemas.openxmlformats.org/officeDocument/2006/relationships/hyperlink" Target="https://reliefweb.int/report/colombia/informe-de-monitoreo-de-proteccion-trimestral-de-drc-colombia-abril-junio-2026" TargetMode="External"/><Relationship Id="rId5" Type="http://schemas.openxmlformats.org/officeDocument/2006/relationships/hyperlink" Target="https://reliefweb.int/report/colombia/colombia-earthquake-situation-report-7-31-aug-2026" TargetMode="External"/><Relationship Id="rId6" Type="http://schemas.openxmlformats.org/officeDocument/2006/relationships/hyperlink" Target="https://reliefweb.int/report/colombia/respuesta-al-terremoto-en-colombia-reporte-de-situacion-7-31-agosto-2026" TargetMode="External"/><Relationship Id="rId7" Type="http://schemas.openxmlformats.org/officeDocument/2006/relationships/hyperlink" Target="https://reliefweb.int/report/colombia/amda-emergency-relief-2-earthquake-colombia-3-september-2026" TargetMode="External"/><Relationship Id="rId8" Type="http://schemas.openxmlformats.org/officeDocument/2006/relationships/hyperlink" Target="https://reliefweb.int/map/colombia/manizales-colombia-barrios-afectados-terremoto-10-de-agosto-2026-03092026" TargetMode="External"/><Relationship Id="rId9" Type="http://schemas.openxmlformats.org/officeDocument/2006/relationships/hyperlink" Target="https://reliefweb.int/report/colombia/amda-emergency-relief-3-earthquake-colombia-7-september-2026" TargetMode="External"/><Relationship Id="rId10" Type="http://schemas.openxmlformats.org/officeDocument/2006/relationships/hyperlink" Target="https://reliefweb.int/report/colombia/resumen-actualizado-de-la-intervencion-psicosocial-de-abbacol-fecha-de-resumen-y-actualizacion-04-septiembre-2026" TargetMode="External"/><Relationship Id="rId11" Type="http://schemas.openxmlformats.org/officeDocument/2006/relationships/hyperlink" Target="https://reliefweb.int/report/colombia/colombia-food-security-outlook-update-august-2026-january-2027-earthquake-impacts-reduce-food-access-affected-areas-el-nino-strengthens" TargetMode="External"/><Relationship Id="rId12" Type="http://schemas.openxmlformats.org/officeDocument/2006/relationships/hyperlink" Target="https://reliefweb.int/map/colombia/quibdo-colombia-barrios-afectados-terremoto-10-de-agosto-2026-03092026" TargetMode="External"/><Relationship Id="rId13" Type="http://schemas.openxmlformats.org/officeDocument/2006/relationships/hyperlink" Target="https://reliefweb.int/report/colombia/iom-colombia-earthquake-situation-report-8-03-september-2026" TargetMode="External"/><Relationship Id="rId1" Type="http://schemas.openxmlformats.org/officeDocument/2006/relationships/image" Target="../media/image-54-1.png"/><Relationship Id="rId14" Type="http://schemas.openxmlformats.org/officeDocument/2006/relationships/slideLayout" Target="../slideLayouts/slideLayout1.xml"/><Relationship Id="rId1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2" Type="http://schemas.openxmlformats.org/officeDocument/2006/relationships/hyperlink" Target="https://reliefweb.int/report/colombia/oim-respuesta-al-terremoto-en-colombia-reporte-de-situacion-8-3-septiembre-2026" TargetMode="External"/><Relationship Id="rId3" Type="http://schemas.openxmlformats.org/officeDocument/2006/relationships/hyperlink" Target="https://reliefweb.int/report/colombia/wfp-colombia-earthquake-response-7-september-2026" TargetMode="External"/><Relationship Id="rId4" Type="http://schemas.openxmlformats.org/officeDocument/2006/relationships/hyperlink" Target="https://reliefweb.int/report/colombia/amda-emergency-relief-4-earthquake-colombia-8-september-2026" TargetMode="External"/><Relationship Id="rId5" Type="http://schemas.openxmlformats.org/officeDocument/2006/relationships/hyperlink" Target="https://reliefweb.int/report/colombia/colombia-reporte-plan-de-respuesta-necesidades-humanitarias-hnrp-2026-en-el-sistema-5w-entre-enero-y-julio-de-2026" TargetMode="External"/><Relationship Id="rId6" Type="http://schemas.openxmlformats.org/officeDocument/2006/relationships/hyperlink" Target="https://reliefweb.int/report/colombia/analisis-de-situacion-y-respuesta-al-terremoto-4-de-septiembre-2026" TargetMode="External"/><Relationship Id="rId7" Type="http://schemas.openxmlformats.org/officeDocument/2006/relationships/hyperlink" Target="https://reliefweb.int/report/colombia/analisis-de-situacion-y-respuesta-al-terremoto-16-agosto-2026" TargetMode="External"/><Relationship Id="rId8" Type="http://schemas.openxmlformats.org/officeDocument/2006/relationships/hyperlink" Target="https://reliefweb.int/map/colombia/cali-colombia-barrios-afectados-terremoto-10-de-agosto-2026-08092026" TargetMode="External"/><Relationship Id="rId9" Type="http://schemas.openxmlformats.org/officeDocument/2006/relationships/hyperlink" Target="https://reliefweb.int/report/colombia/colombia-flash-update-012-update-impact-earthquake-colombia-september-10-2026" TargetMode="External"/><Relationship Id="rId10" Type="http://schemas.openxmlformats.org/officeDocument/2006/relationships/hyperlink" Target="https://reliefweb.int/report/colombia/seisme-en-colombie-caritas-passe-de-laide-durgence-au-relevement" TargetMode="External"/><Relationship Id="rId11" Type="http://schemas.openxmlformats.org/officeDocument/2006/relationships/hyperlink" Target="https://reliefweb.int/report/colombia/terremoto-en-colombia-caritas-pasa-de-la-respuesta-de-emergencia-la-recuperacion" TargetMode="External"/><Relationship Id="rId12" Type="http://schemas.openxmlformats.org/officeDocument/2006/relationships/hyperlink" Target="https://reliefweb.int/map/colombia/buenaventura-colombia-barrios-afectados-terremoto-10-de-agosto-2026-11092026" TargetMode="External"/><Relationship Id="rId1" Type="http://schemas.openxmlformats.org/officeDocument/2006/relationships/image" Target="../media/image-55-1.png"/><Relationship Id="rId13" Type="http://schemas.openxmlformats.org/officeDocument/2006/relationships/slideLayout" Target="../slideLayouts/slideLayout1.xml"/><Relationship Id="rId1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2" Type="http://schemas.openxmlformats.org/officeDocument/2006/relationships/hyperlink" Target="https://reliefweb.int/report/colombia/colombia-situacion-agua-saneamiento-e-higiene-wash-un-mes-del-sismo-de-agosto-de-2026-respuesta-brechas-y-prioridades" TargetMode="External"/><Relationship Id="rId3" Type="http://schemas.openxmlformats.org/officeDocument/2006/relationships/hyperlink" Target="https://reliefweb.int/report/colombia/drc-colombia-monitoreo-de-proteccion-enero-marzo-2026" TargetMode="External"/><Relationship Id="rId4" Type="http://schemas.openxmlformats.org/officeDocument/2006/relationships/hyperlink" Target="https://x.com/UNGRD/status/2098758429951078754" TargetMode="External"/><Relationship Id="rId5" Type="http://schemas.openxmlformats.org/officeDocument/2006/relationships/hyperlink" Target="https://portal.gestiondelriesgo.gov.co/Paginas/Noticias/2026/356-personas-rescatadas-la-respuesta-de-la-UNGRD-continua-un-mes-despues-del-terremoto.aspx" TargetMode="External"/><Relationship Id="rId6" Type="http://schemas.openxmlformats.org/officeDocument/2006/relationships/hyperlink" Target="https://portal.gestiondelriesgo.gov.co/Paginas/Noticias/2026/Inicia-el-pago-de-mas-de-3324-millones-en-apoyo-economico-para-las-familias-damnificadas-por-el-terremoto-en-Choco.aspx" TargetMode="External"/><Relationship Id="rId7" Type="http://schemas.openxmlformats.org/officeDocument/2006/relationships/hyperlink" Target="https://reliefweb.int/report/colombia/colombia-ifrc-calls-sustained-support-earthquake-affected-communities-one-month" TargetMode="External"/><Relationship Id="rId8" Type="http://schemas.openxmlformats.org/officeDocument/2006/relationships/hyperlink" Target="https://reliefweb.int/report/colombia/iom-colombia-earthquake-situation-report-9-10-september-2026" TargetMode="External"/><Relationship Id="rId9" Type="http://schemas.openxmlformats.org/officeDocument/2006/relationships/hyperlink" Target="https://reliefweb.int/report/colombia/colombia-emergency-response-situation-report-2-18-august-10-september-2026" TargetMode="External"/><Relationship Id="rId10" Type="http://schemas.openxmlformats.org/officeDocument/2006/relationships/hyperlink" Target="https://reliefweb.int/report/colombia/colombia-flash-update-013-actualizacion-afectaciones-por-terremoto-en-colombia-17-de-septiembre-de-2026" TargetMode="External"/><Relationship Id="rId11" Type="http://schemas.openxmlformats.org/officeDocument/2006/relationships/hyperlink" Target="https://reliefweb.int/report/colombia/colombia-flash-update-013-update-impact-earthquake-colombia-september-18-2026" TargetMode="External"/><Relationship Id="rId1" Type="http://schemas.openxmlformats.org/officeDocument/2006/relationships/image" Target="../media/image-56-1.png"/><Relationship Id="rId12" Type="http://schemas.openxmlformats.org/officeDocument/2006/relationships/slideLayout" Target="../slideLayouts/slideLayout1.xml"/><Relationship Id="rId1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2" Type="http://schemas.openxmlformats.org/officeDocument/2006/relationships/hyperlink" Target="https://portal.gestiondelriesgo.gov.co/Paginas/Noticias/2026/UNGRD-y-Naciones-Unidas-analizan-en-Cali-los-retos-de-la-recuperacion-tras-el-terremoto.aspx" TargetMode="External"/><Relationship Id="rId3" Type="http://schemas.openxmlformats.org/officeDocument/2006/relationships/hyperlink" Target="https://reliefweb.int/report/colombia/analisis-de-situacion-y-respuesta-al-terremoto-10-de-septiembre-2026" TargetMode="External"/><Relationship Id="rId4" Type="http://schemas.openxmlformats.org/officeDocument/2006/relationships/hyperlink" Target="https://reliefweb.int/report/colombia/colombia-earthquake-response-situation-report-10-14-september-2026" TargetMode="External"/><Relationship Id="rId5" Type="http://schemas.openxmlformats.org/officeDocument/2006/relationships/hyperlink" Target="https://reliefweb.int/report/colombia/colombia-evaluacion-rapida-conjunta-de-mercados-jram-panorama-de-la-situacion-agosto-2026" TargetMode="External"/><Relationship Id="rId6" Type="http://schemas.openxmlformats.org/officeDocument/2006/relationships/hyperlink" Target="https://reliefweb.int/report/colombia/colombia-grupo-de-trabajo-de-logistica-gtl-un-mes-de-operacion-de-emergencia-10-de-septiembre-de-2026" TargetMode="External"/><Relationship Id="rId7" Type="http://schemas.openxmlformats.org/officeDocument/2006/relationships/hyperlink" Target="https://reliefweb.int/report/colombia/respuesta-al-terremoto-en-colombia-reporte-de-situacion-10-14-septiembre-2026" TargetMode="External"/><Relationship Id="rId8" Type="http://schemas.openxmlformats.org/officeDocument/2006/relationships/hyperlink" Target="https://reliefweb.int/report/colombia/terremoto-en-colombia-el-cicr-apoya-la-recuperacion-de-infraestructura-comunitaria-esencial-en-zonas-afectadas-por-los-conflictos-armados" TargetMode="External"/><Relationship Id="rId9" Type="http://schemas.openxmlformats.org/officeDocument/2006/relationships/hyperlink" Target="https://reliefweb.int/report/colombia/un-mes-despues-del-terremoto-en-colombia-avanzar-con-la-reconstruccion-en-medio-de-una-compleja-situacion-humanitaria" TargetMode="External"/><Relationship Id="rId10" Type="http://schemas.openxmlformats.org/officeDocument/2006/relationships/hyperlink" Target="https://reliefweb.int/report/colombia/unhcr-colombia-2026-funding-update-31-august-2026" TargetMode="External"/><Relationship Id="rId11" Type="http://schemas.openxmlformats.org/officeDocument/2006/relationships/hyperlink" Target="https://reliefweb.int/report/colombia/earthquake-colombia-icrc-supports-rehabilitation-essential-community-infrastructure" TargetMode="External"/><Relationship Id="rId12" Type="http://schemas.openxmlformats.org/officeDocument/2006/relationships/hyperlink" Target="https://reliefweb.int/report/colombia/oim-colombia-severidad-y-vulnerabilidad-territorial-tras-el-terremoto-27-agosto-2026" TargetMode="External"/><Relationship Id="rId1" Type="http://schemas.openxmlformats.org/officeDocument/2006/relationships/image" Target="../media/image-57-1.png"/><Relationship Id="rId13" Type="http://schemas.openxmlformats.org/officeDocument/2006/relationships/slideLayout" Target="../slideLayouts/slideLayout1.xml"/><Relationship Id="rId1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2" Type="http://schemas.openxmlformats.org/officeDocument/2006/relationships/hyperlink" Target="https://reliefweb.int/report/colombia/oim-respuesta-al-terremoto-en-colombia-reporte-de-situacion-9-10-septiembre-2026" TargetMode="External"/><Relationship Id="rId3" Type="http://schemas.openxmlformats.org/officeDocument/2006/relationships/hyperlink" Target="https://reliefweb.int/report/colombia/one-month-after-colombia-earthquake-pahowho-continues-support-response-and-stabilization" TargetMode="External"/><Relationship Id="rId4" Type="http://schemas.openxmlformats.org/officeDocument/2006/relationships/hyperlink" Target="https://reliefweb.int/report/colombia/colombia-population-movement-imminent-dref-final-report-mdrco034" TargetMode="External"/><Relationship Id="rId5" Type="http://schemas.openxmlformats.org/officeDocument/2006/relationships/hyperlink" Target="https://reliefweb.int/report/colombia/colombia-earthquake-operation-update-1-mdrco036" TargetMode="External"/><Relationship Id="rId6" Type="http://schemas.openxmlformats.org/officeDocument/2006/relationships/hyperlink" Target="https://reliefweb.int/report/colombia/colombia-flash-update-014-update-impact-earthquake-colombia-september-23-2026" TargetMode="External"/><Relationship Id="rId7" Type="http://schemas.openxmlformats.org/officeDocument/2006/relationships/hyperlink" Target="https://reliefweb.int/report/colombia/colombia-flash-update-014-actualizacion-afectaciones-por-terremoto-en-colombia-23-de-septiembre-de-2026" TargetMode="External"/><Relationship Id="rId8" Type="http://schemas.openxmlformats.org/officeDocument/2006/relationships/hyperlink" Target="https://reliefweb.int/report/colombia/colombia-earthquake-response-situation-report-11-21-september-2026" TargetMode="External"/><Relationship Id="rId9" Type="http://schemas.openxmlformats.org/officeDocument/2006/relationships/hyperlink" Target="https://reliefweb.int/report/colombia/colombia-monitoreo-de-emergencias-humanitarias-desplazamiento-masivo-y-confinamiento-enero-marzo-2026" TargetMode="External"/><Relationship Id="rId10" Type="http://schemas.openxmlformats.org/officeDocument/2006/relationships/hyperlink" Target="https://reliefweb.int/report/colombia/colombia-monitoreo-de-emergencias-humanitarias-desplazamiento-masivo-y-confinamiento-2025" TargetMode="External"/><Relationship Id="rId1" Type="http://schemas.openxmlformats.org/officeDocument/2006/relationships/image" Target="../media/image-58-1.png"/><Relationship Id="rId11" Type="http://schemas.openxmlformats.org/officeDocument/2006/relationships/slideLayout" Target="../slideLayouts/slideLayout1.xml"/><Relationship Id="rId1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2" Type="http://schemas.openxmlformats.org/officeDocument/2006/relationships/hyperlink" Target="https://reliefweb.int/report/colombia/acaps-thematic-report-colombia-earthquakes-expected-humanitarian-impacts-25-september-2026" TargetMode="External"/><Relationship Id="rId3" Type="http://schemas.openxmlformats.org/officeDocument/2006/relationships/hyperlink" Target="https://reliefweb.int/report/colombia/colombia-impactos-humanitarios-previstos-del-terremoto-acaps-reporte-tematico-25-de-septiembre-2026" TargetMode="External"/><Relationship Id="rId4" Type="http://schemas.openxmlformats.org/officeDocument/2006/relationships/hyperlink" Target="https://reliefweb.int/report/colombia/colombia-earthquake-response-situation-report-12-29-september-2026" TargetMode="External"/><Relationship Id="rId5" Type="http://schemas.openxmlformats.org/officeDocument/2006/relationships/hyperlink" Target="https://reliefweb.int/report/colombia/respuesta-al-terremoto-en-colombia-reporte-de-situacion-12-29-septiembre-2026" TargetMode="External"/><Relationship Id="rId6" Type="http://schemas.openxmlformats.org/officeDocument/2006/relationships/hyperlink" Target="https://reliefweb.int/report/colombia/colombia-flash-update-015-update-impact-earthquake-colombia-september-30-2026" TargetMode="External"/><Relationship Id="rId7" Type="http://schemas.openxmlformats.org/officeDocument/2006/relationships/hyperlink" Target="https://reliefweb.int/report/colombia/colombia-flash-update-015-actualizacion-afectaciones-por-terremoto-en-colombia-30-de-septiembre-de-2026" TargetMode="External"/><Relationship Id="rId8" Type="http://schemas.openxmlformats.org/officeDocument/2006/relationships/hyperlink" Target="https://reliefweb.int/report/colombia/rapid-protection-assessment-earthquake-response-buenaventura-valle-del-cauca-september-2026" TargetMode="External"/><Relationship Id="rId1" Type="http://schemas.openxmlformats.org/officeDocument/2006/relationships/image" Target="../media/image-59-1.png"/><Relationship Id="rId9" Type="http://schemas.openxmlformats.org/officeDocument/2006/relationships/slideLayout" Target="../slideLayouts/slideLayout1.xml"/><Relationship Id="rId10"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bT0zLO/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Meiryo" pitchFamily="34" charset="0"/>
                <a:ea typeface="Meiryo" pitchFamily="34" charset="-122"/>
                <a:cs typeface="Meiryo" pitchFamily="34" charset="-120"/>
              </a:rPr>
              <a:t>2026年 チョコ地震（コロンビア）</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EQ-2026-000146-COL)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200" dirty="0">
                <a:solidFill>
                  <a:srgbClr val="222222"/>
                </a:solidFill>
                <a:latin typeface="Meiryo" pitchFamily="34" charset="0"/>
                <a:ea typeface="Meiryo" pitchFamily="34" charset="-122"/>
                <a:cs typeface="Meiryo" pitchFamily="34" charset="-120"/>
              </a:rPr>
              <a:t>最大震度MMI VII（USGS ShakeMap）   ·   チョコ県サンホセ・デル・パルマルの南5km（USGS）</a:t>
            </a:r>
            <a:endParaRPr lang="en-US" sz="12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世界→コロンビア</a:t>
            </a:r>
            <a:endParaRPr lang="en-US" sz="1250" dirty="0"/>
          </a:p>
        </p:txBody>
      </p:sp>
      <p:sp>
        <p:nvSpPr>
          <p:cNvPr id="8" name="Shape 5"/>
          <p:cNvSpPr/>
          <p:nvPr/>
        </p:nvSpPr>
        <p:spPr>
          <a:xfrm>
            <a:off x="365760" y="1927098"/>
            <a:ext cx="3444240" cy="2583180"/>
          </a:xfrm>
          <a:prstGeom prst="rect">
            <a:avLst/>
          </a:prstGeom>
          <a:solidFill>
            <a:srgbClr val="F2F2F2"/>
          </a:solidFill>
          <a:ln w="9525">
            <a:solidFill>
              <a:srgbClr val="D9D9D9"/>
            </a:solidFill>
            <a:prstDash val="solid"/>
          </a:ln>
        </p:spPr>
      </p:sp>
      <p:pic>
        <p:nvPicPr>
          <p:cNvPr id="9" name="Image 1" descr="/tmp/build_event-bT0zLO/generator/images/EQ-2026-000146-COL/locator_world_manual.jpg">    </p:cNvPr>
          <p:cNvPicPr>
            <a:picLocks noChangeAspect="1"/>
          </p:cNvPicPr>
          <p:nvPr/>
        </p:nvPicPr>
        <p:blipFill>
          <a:blip r:embed="rId2"/>
          <a:srcRect l="0" r="0" t="0" b="0"/>
          <a:stretch/>
        </p:blipFill>
        <p:spPr>
          <a:xfrm>
            <a:off x="365760" y="1927098"/>
            <a:ext cx="3444240" cy="2583180"/>
          </a:xfrm>
          <a:prstGeom prst="rect">
            <a:avLst/>
          </a:prstGeom>
        </p:spPr>
      </p:pic>
      <p:sp>
        <p:nvSpPr>
          <p:cNvPr id="10" name="Shape 6"/>
          <p:cNvSpPr/>
          <p:nvPr/>
        </p:nvSpPr>
        <p:spPr>
          <a:xfrm>
            <a:off x="2602992" y="427253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35864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コロンビア→チョコ県</a:t>
            </a:r>
            <a:endParaRPr lang="en-US" sz="1250" dirty="0"/>
          </a:p>
        </p:txBody>
      </p:sp>
      <p:sp>
        <p:nvSpPr>
          <p:cNvPr id="13" name="Shape 9"/>
          <p:cNvSpPr/>
          <p:nvPr/>
        </p:nvSpPr>
        <p:spPr>
          <a:xfrm>
            <a:off x="4358640" y="1927098"/>
            <a:ext cx="3444240" cy="2583180"/>
          </a:xfrm>
          <a:prstGeom prst="rect">
            <a:avLst/>
          </a:prstGeom>
          <a:solidFill>
            <a:srgbClr val="F2F2F2"/>
          </a:solidFill>
          <a:ln w="9525">
            <a:solidFill>
              <a:srgbClr val="D9D9D9"/>
            </a:solidFill>
            <a:prstDash val="solid"/>
          </a:ln>
        </p:spPr>
      </p:sp>
      <p:pic>
        <p:nvPicPr>
          <p:cNvPr id="14" name="Image 2" descr="/tmp/build_event-bT0zLO/generator/images/EQ-2026-000146-COL/locator_region_manual.jpg">    </p:cNvPr>
          <p:cNvPicPr>
            <a:picLocks noChangeAspect="1"/>
          </p:cNvPicPr>
          <p:nvPr/>
        </p:nvPicPr>
        <p:blipFill>
          <a:blip r:embed="rId3"/>
          <a:srcRect l="0" r="0" t="0" b="0"/>
          <a:stretch/>
        </p:blipFill>
        <p:spPr>
          <a:xfrm>
            <a:off x="4358640" y="1927098"/>
            <a:ext cx="3444240" cy="2583180"/>
          </a:xfrm>
          <a:prstGeom prst="rect">
            <a:avLst/>
          </a:prstGeom>
        </p:spPr>
      </p:pic>
      <p:sp>
        <p:nvSpPr>
          <p:cNvPr id="15" name="Shape 10"/>
          <p:cNvSpPr/>
          <p:nvPr/>
        </p:nvSpPr>
        <p:spPr>
          <a:xfrm>
            <a:off x="6595872" y="427253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35152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SGC 体感震度図</a:t>
            </a:r>
            <a:endParaRPr lang="en-US" sz="1250" dirty="0"/>
          </a:p>
        </p:txBody>
      </p:sp>
      <p:sp>
        <p:nvSpPr>
          <p:cNvPr id="18" name="Shape 13"/>
          <p:cNvSpPr/>
          <p:nvPr/>
        </p:nvSpPr>
        <p:spPr>
          <a:xfrm>
            <a:off x="8351520" y="1927098"/>
            <a:ext cx="3444240" cy="2583180"/>
          </a:xfrm>
          <a:prstGeom prst="rect">
            <a:avLst/>
          </a:prstGeom>
          <a:solidFill>
            <a:srgbClr val="F2F2F2"/>
          </a:solidFill>
          <a:ln w="9525">
            <a:solidFill>
              <a:srgbClr val="D9D9D9"/>
            </a:solidFill>
            <a:prstDash val="solid"/>
          </a:ln>
        </p:spPr>
      </p:sp>
      <p:pic>
        <p:nvPicPr>
          <p:cNvPr id="19" name="Image 3" descr="/tmp/build_event-bT0zLO/generator/images/EQ-2026-000146-COL/sgc_shakemap_manual.jpg">    </p:cNvPr>
          <p:cNvPicPr>
            <a:picLocks noChangeAspect="1"/>
          </p:cNvPicPr>
          <p:nvPr/>
        </p:nvPicPr>
        <p:blipFill>
          <a:blip r:embed="rId4"/>
          <a:srcRect l="0" r="0" t="0" b="0"/>
          <a:stretch/>
        </p:blipFill>
        <p:spPr>
          <a:xfrm>
            <a:off x="8351520" y="1927098"/>
            <a:ext cx="3444240" cy="2583180"/>
          </a:xfrm>
          <a:prstGeom prst="rect">
            <a:avLst/>
          </a:prstGeom>
        </p:spPr>
      </p:pic>
      <p:sp>
        <p:nvSpPr>
          <p:cNvPr id="20" name="Shape 14"/>
          <p:cNvSpPr/>
          <p:nvPr/>
        </p:nvSpPr>
        <p:spPr>
          <a:xfrm>
            <a:off x="10588752" y="427253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SGC</a:t>
            </a:r>
            <a:endParaRPr lang="en-US" sz="850" dirty="0"/>
          </a:p>
        </p:txBody>
      </p:sp>
      <p:sp>
        <p:nvSpPr>
          <p:cNvPr id="22" name="Shape 16"/>
          <p:cNvSpPr/>
          <p:nvPr/>
        </p:nvSpPr>
        <p:spPr>
          <a:xfrm>
            <a:off x="1781725" y="2629437"/>
            <a:ext cx="747017" cy="1091775"/>
          </a:xfrm>
          <a:prstGeom prst="rect">
            <a:avLst/>
          </a:prstGeom>
          <a:solidFill>
            <a:srgbClr val="FFFFFF">
              <a:alpha val="0"/>
            </a:srgbClr>
          </a:solidFill>
          <a:ln w="22225">
            <a:solidFill>
              <a:srgbClr val="C00000"/>
            </a:solidFill>
            <a:prstDash val="solid"/>
          </a:ln>
        </p:spPr>
      </p:sp>
      <p:sp>
        <p:nvSpPr>
          <p:cNvPr id="23" name="Shape 17"/>
          <p:cNvSpPr/>
          <p:nvPr/>
        </p:nvSpPr>
        <p:spPr>
          <a:xfrm flipV="1">
            <a:off x="2528743" y="1927098"/>
            <a:ext cx="1829897" cy="702339"/>
          </a:xfrm>
          <a:prstGeom prst="line">
            <a:avLst/>
          </a:prstGeom>
          <a:noFill/>
          <a:ln w="19050">
            <a:solidFill>
              <a:srgbClr val="C00000"/>
            </a:solidFill>
            <a:prstDash val="solid"/>
          </a:ln>
        </p:spPr>
      </p:sp>
      <p:sp>
        <p:nvSpPr>
          <p:cNvPr id="24" name="Shape 18"/>
          <p:cNvSpPr/>
          <p:nvPr/>
        </p:nvSpPr>
        <p:spPr>
          <a:xfrm>
            <a:off x="2528743" y="3721211"/>
            <a:ext cx="1829897" cy="789067"/>
          </a:xfrm>
          <a:prstGeom prst="line">
            <a:avLst/>
          </a:prstGeom>
          <a:noFill/>
          <a:ln w="19050">
            <a:solidFill>
              <a:srgbClr val="C00000"/>
            </a:solidFill>
            <a:prstDash val="solid"/>
          </a:ln>
        </p:spPr>
      </p:sp>
      <p:sp>
        <p:nvSpPr>
          <p:cNvPr id="25" name="Shape 19"/>
          <p:cNvSpPr/>
          <p:nvPr/>
        </p:nvSpPr>
        <p:spPr>
          <a:xfrm>
            <a:off x="5443958" y="1965846"/>
            <a:ext cx="930710" cy="2137708"/>
          </a:xfrm>
          <a:prstGeom prst="rect">
            <a:avLst/>
          </a:prstGeom>
          <a:solidFill>
            <a:srgbClr val="FFFFFF">
              <a:alpha val="0"/>
            </a:srgbClr>
          </a:solidFill>
          <a:ln w="22225">
            <a:solidFill>
              <a:srgbClr val="C00000"/>
            </a:solidFill>
            <a:prstDash val="solid"/>
          </a:ln>
        </p:spPr>
      </p:sp>
      <p:sp>
        <p:nvSpPr>
          <p:cNvPr id="26" name="Shape 20"/>
          <p:cNvSpPr/>
          <p:nvPr/>
        </p:nvSpPr>
        <p:spPr>
          <a:xfrm flipV="1">
            <a:off x="6374668" y="1927098"/>
            <a:ext cx="1976852" cy="38748"/>
          </a:xfrm>
          <a:prstGeom prst="line">
            <a:avLst/>
          </a:prstGeom>
          <a:noFill/>
          <a:ln w="19050">
            <a:solidFill>
              <a:srgbClr val="C00000"/>
            </a:solidFill>
            <a:prstDash val="solid"/>
          </a:ln>
        </p:spPr>
      </p:sp>
      <p:sp>
        <p:nvSpPr>
          <p:cNvPr id="27" name="Shape 21"/>
          <p:cNvSpPr/>
          <p:nvPr/>
        </p:nvSpPr>
        <p:spPr>
          <a:xfrm>
            <a:off x="6374668" y="4103554"/>
            <a:ext cx="1976852" cy="406724"/>
          </a:xfrm>
          <a:prstGeom prst="line">
            <a:avLst/>
          </a:prstGeom>
          <a:noFill/>
          <a:ln w="19050">
            <a:solidFill>
              <a:srgbClr val="C00000"/>
            </a:solidFill>
            <a:prstDash val="solid"/>
          </a:ln>
        </p:spPr>
      </p:sp>
      <p:sp>
        <p:nvSpPr>
          <p:cNvPr id="28" name="Shape 22"/>
          <p:cNvSpPr/>
          <p:nvPr/>
        </p:nvSpPr>
        <p:spPr>
          <a:xfrm>
            <a:off x="0" y="4919472"/>
            <a:ext cx="12188952" cy="1408176"/>
          </a:xfrm>
          <a:prstGeom prst="rect">
            <a:avLst/>
          </a:prstGeom>
          <a:solidFill>
            <a:srgbClr val="262626"/>
          </a:solidFill>
          <a:ln w="12700">
            <a:solidFill>
              <a:srgbClr val="333333"/>
            </a:solidFill>
            <a:prstDash val="solid"/>
          </a:ln>
        </p:spPr>
      </p:sp>
      <p:sp>
        <p:nvSpPr>
          <p:cNvPr id="29" name="Text 23"/>
          <p:cNvSpPr/>
          <p:nvPr/>
        </p:nvSpPr>
        <p:spPr>
          <a:xfrm>
            <a:off x="457200" y="4992624"/>
            <a:ext cx="11274552" cy="126187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概要   </a:t>
            </a:r>
            <a:pPr algn="l" indent="0" marL="0">
              <a:buNone/>
            </a:pPr>
            <a:r>
              <a:rPr lang="en-US" sz="110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Google Maps © Google</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1999年アルメニア地震と復興</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5760720" cy="187452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15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2971800"/>
          <a:ext cx="5760720" cy="914400"/>
        </p:xfrm>
        <a:graphic>
          <a:graphicData uri="http://schemas.openxmlformats.org/drawingml/2006/table">
            <a:tbl>
              <a:tblPr/>
              <a:tblGrid>
                <a:gridCol w="2377440"/>
                <a:gridCol w="3383280"/>
              </a:tblGrid>
              <a:tr h="402336">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1999年の被害</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死者</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約1,185人</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負傷者</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5,000人超</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損壊・全壊建物</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約5万棟</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住まいを失った人</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20万人超</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コーヒー産業</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農園約8,000、加工施設約1,200が被害</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309360" y="1051560"/>
            <a:ext cx="5486400" cy="397764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復興とそれが変えたこと
</a:t>
            </a:r>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300" dirty="0"/>
          </a:p>
        </p:txBody>
      </p:sp>
      <p:sp>
        <p:nvSpPr>
          <p:cNvPr id="7" name="Shape 3"/>
          <p:cNvSpPr/>
          <p:nvPr/>
        </p:nvSpPr>
        <p:spPr>
          <a:xfrm>
            <a:off x="365760" y="5413248"/>
            <a:ext cx="11430000" cy="566928"/>
          </a:xfrm>
          <a:prstGeom prst="roundRect">
            <a:avLst>
              <a:gd name="adj" fmla="val 6452"/>
            </a:avLst>
          </a:prstGeom>
          <a:solidFill>
            <a:srgbClr val="FCE9DC"/>
          </a:solidFill>
          <a:ln w="9525">
            <a:solidFill>
              <a:srgbClr val="E8A317"/>
            </a:solidFill>
            <a:prstDash val="solid"/>
          </a:ln>
        </p:spPr>
      </p:sp>
      <p:sp>
        <p:nvSpPr>
          <p:cNvPr id="8" name="Text 4"/>
          <p:cNvSpPr/>
          <p:nvPr/>
        </p:nvSpPr>
        <p:spPr>
          <a:xfrm>
            <a:off x="594360" y="5440680"/>
            <a:ext cx="10972800" cy="51206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59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対応の時系列（発災以降）（1/10）</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07:34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07:40s</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12:13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Copernicus EMS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Manizales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Aerocivil／報道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59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対応の時系列（発災以降）（2/10）</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Evening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Japan（MOFA）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09:20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Presidency／local authorities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59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対応の時系列（発災以降）（3/10）</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の集計は14県・403市町村を対象に、死者239人、負傷3,755人、行方不明287人、建物倒壊140棟、被災24,324世帯（49,214人）、住宅全壊9,215棟・重大な損壊45,457棟。コロンビアはINSARAG分類のUSARチーム（イスラエル、エクアドル、エルサルバドル、米国）の受け入れを決定。エルサルバドルは救援物資100トンを送付。ペレイラでは瓦礫の下から36時間ぶりに女性が救出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県・市の発表を積み上げた死者数が254人（ペレイラ101人、カリ95人）となり、全国集計を上回る。報道は、中央政府の更新が遅いことが理由としている。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がサンカルロス宮殿でUNGRDの更新集計を発表。死者265人、負傷3,494人、行方不明496人、被災25,872世帯（53,816人）、住宅全壊11,347棟・損壊53,526棟、教育施設1,819か所・コミュニティ施設631か所が被害。あわせて経済緊急事態の宣言を発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令第1172号により、8月12日から3日間の国家服喪を宣言。国内および在外公館で半旗を掲げる。同じ夜、チョコ県知事が、キブドで最後まで捜索されていた家族4人の生存確認を受けて県の捜索救助段階の終了を表明。</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Presidency／Gobernación del Chocó</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8/13 09:42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M4.2の余震がサンホセ・デル・パルマルで発生（深さ95km、本震の震央から約20km）。ペレイラ、マニサレス、メデジン、ボゴタで有感となり、捜索救助活動が一時中断。M4.0を超える余震としては2回目。</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8/13 AM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長官が新たな集計を発表。死者273人、負傷3,824人、行方不明377人、被災40,753世帯・97,515人、住宅全壊12,584棟・損壊74,873棟、建物倒壊172棟、教育施設2,198か所、コミュニティ施設825か所、医療施設216か所、上水道71系統、金融機関29拠点、空港5か所。法医学研究所には250遺体が搬入され、227体の身元が確認。カリ、ペレイラ、キブド、マニサレス、アルメニアで赤色警報が継続。</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59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対応の時系列（発災以降）（4/10）</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8/14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SGCが、本震以降に決定した余震は184回、うちM3.0超が15回、M4.0超が2回と報告。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8/14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の09:00時点集計。死者287人、負傷3,975人、行方不明378人、救出354人。被災56,448世帯・135,179人、15県・437市町村。住宅全壊13,077棟・損壊79,108棟、建物倒壊121棟。認証を受けた国際チームとともに狭隘空間での捜索が続く。</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が人道支援物資20トンを送付。ノルウェーが1,000万クローネ、スウェーデンが500万クローナをUNHCR経由で拠出。スペイン、イタリア、チリ、メキシコ、トルコ、ブラジル、世界銀行も支援を送付または表明。内務大臣は、ブエナベントゥーラの病院網が対応能力を超えていると述べ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Cancillería／donors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更新集計。死者288人、負傷4,018人、行方不明202人、救出354人。被災45,523世帯・102,263人、15県・426市町村。住宅全壊12,828棟・損壊73,455棟、建物倒壊121棟。医療240か所、教育2,205か所、コミュニティ1,208か所。道路210路線、上水道73系統、道路橋44橋、歩道橋13橋、空港5か所。09:00時点からの減少は、被害評価の重複記録が整理された結果で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294人、負傷3,935人、行方不明320人、生存救出353人・動物188頭。被災54,008世帯・115,461人、被害報告のあった市町村448。住宅全壊14,493棟・損壊81,506棟、建物倒壊66棟。被害が最も大きいのはチョコ、リサラルダ、バジェ・デル・カウカ。</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行方不明者の捜索が続く一方、10万人を超える被災者が支援を待つ。バジェ・デル・カウカ県エル・カイロでは住宅の80％が被害を受けたと報じられる。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8/16 07:30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07:30締めのUNGRD集計。死者289人、負傷4,187人、行方不明143人、生存救出354人・動物510頭。15県・450市町村で被災120,238世帯・185,016人。住宅全壊26,945棟・損壊127,557棟、建物倒壊66棟。UNGRDは、数値の変動は地方から報告された数値の検証・統合によるものであり、一部は未検証のまま送られていたと表明。</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8/16 18:30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18:30締めのUNGRD集計。死者287人、負傷4,147人、行方不明194人、生存救出355人・動物496頭。15県・472市町村で被災120,671世帯・185,996人。住宅全壊26,392棟・損壊127,608棟、建物倒壊197棟。医療304、教育3,207、コミュニティ4,059か所。道路410路線、上水道95系統、道路橋48橋、歩道橋13橋、空港5か所。</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59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対応の時系列（発災以降）（5/10）</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12:44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12:44締めのUNGRD集計（国家危機管理室から公表）。16県・494市町村で死者329人、負傷4,592人、行方不明151人。UNGRDは、被災世帯が支援・補助金を受けられるかを決める被災者登録簿（RUD）の追跡と、緊急人道支援・仮設住居・重機の可用性の監視を進めているとしている。住家被害の数値はこの集計には示され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20:00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010。406,000人超・193,011世帯が被災し、リサラルダ、バジェ・デル・カウカ、チョコ、キンディオ、カルダスに集中。25以上の人道機関が36市町村でおよそ72,000人を支援し、ドナーは4,000万米ドル超、CERFは500万米ドルを配分。</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8/31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負傷4,505人、行方不明136人、生存救出364人。16県・497市町村で被災225,024世帯・449,442人。8月16日以来はじめて住家の数値を更新し、損壊198,720棟・全壊37,255棟、ほか建物損壊5,849棟・倒壊646棟。医療406、教育4,268、コミュニティ5,524か所。道路462路線、空港5か所、上水道122系統、道路橋91橋、歩道橋13橋が被害。動物2,874頭が被災、2,976頭を救出。UNGRDは、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横ばい）、負傷4,519人、行方不明136人（横ばい）、生存救出364人（横ばい）。16県・497市町村で被災290,252世帯・466,606人。住家は損壊200,929棟・全壊37,542棟、ほか建物損壊5,871棟・倒壊651棟。医療400、教育4,290、コミュニティ5,698か所。道路468路線、空港5か所、上水道140系統、道路橋91橋、歩道橋13橋が被害。動物3,018頭が被災、2,976頭を救出（横ばい）。UNGRDは引き続き、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負傷4,519人、行方不明136人、生存救出364人（いずれも9月1日から横ばい）。16県・497市町村（横ばい）で被災293,743世帯・466,606人（横ばい）。住家は損壊201,005棟・全壊36,336棟。全壊棟数は9月1日締めの37,542棟から減少しており、UNGRDは理由を示していない。ほか建物損壊5,889棟・倒壊709棟（5,871棟・651棟から増加）。医療400、教育4,287、コミュニティ5,600か所。道路468路線、空港5か所、上水道140系統、道路橋91橋、歩道橋13橋が被害。動物3,023頭が被災、2,976頭を救出（横ばい）。UNGRDは引き続き、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 17:00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011。被災者466,600人超（うち死者331人、負傷・行方不明者多数）、住家全壊36,000棟超。同日のUNGRD集計と整合する水準。人道機関29以上が49市町村でおよそ123,000人を支援。国際協力による拠出は4,000万米ドル超。人道対応計画への補遺は年末までの資金確保を継続して求めている。あわせて、地震被害と武力紛争に伴うリスクの双方に直面する「二重被災」が引き続き課題である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59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対応の時系列（発災以降）（6/10）</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負傷4,519人、生存救出364人（いずれも9月2日から横ばい）。行方不明は9月2日締めの136人から122人へ減少し、理由は示されていない。16県・498市町村（497から増加）で被災293,743世帯・466,606人（横ばい）。住家は損壊201,010棟（201,005棟から増加）・全壊36,336棟（横ばい）、ほか建物損壊5,889棟・倒壊709棟（いずれも横ばい）。医療400、教育4,292（4,287から増加）、コミュニティ5,600か所。道路468路線、空港5か所、上水道140系統、道路橋91橋、歩道橋13橋が被害（いずれも横ばい）。動物3,023頭が被災、2,976頭を救出（横ばい）。UNGRDは引き続き、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 19:02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UNGRDが、RUDに登録され住宅が全壊または居住不能と判定された世帯を対象に、月額78万7,907〜105万543コロンビアペソを3か月間支給する一時的な経済支援を発表した。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本更新時点で、UNGRDが公表した最新の集計は9月3日06:30締めのままである（9月4日午後時点で新しい集計の投稿は無い）。UNGRD長官はWFPコロンビアのカントリーディレクターと会談し、被災世帯への食料支援策を協議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UNGRD／WFP（official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9/5 13:21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長官デビッド・サンティアゴ・タマヨ氏が、アベラルド・デ・ラ・エスプリエジャ大統領および住宅相とともにブガ・カリを訪問し、8月10日の地震被害を視察した。ブガでは、奇跡の主バシリカ聖堂、ITA教育機関、プエブロ・ヌエボ地区の構造被害を確認。カリではクアルト・デ・レグア地区を訪れ、被災住民と面会した。国は地元自治体と連携し、被災調査（センサス）の迅速化と経済支援の直接給付を進め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9/5 17:02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長官デビッド・サンティアゴ・タマヨ氏とWFPコロンビア・カントリーディレクターのニールス・グリード氏が、9月4日の会談を踏まえ、地震被災世帯への食料支援を確保する戦略的提携を正式化した。両機関はエルニーニョ現象や森林火災など今後の対応に向けた協力関係も強化する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 11:48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数値は2026年9月6日06:30（コロンビア時間）締めのUNGRD集計現在（投稿は11:48）。9月3日06:30締め以来はじめての新しい集計で、9月4日・5日は集計の投稿が無かった。16県・498市町村（横ばい）で死者331人（横ばい）、負傷4,505人（4,519人から減少）、行方不明111人（122人から減少）、生存救出364人（横ばい）。被災は296,725世帯・466,644人で、293,743世帯・466,606人から増加。住家は損壊201,989棟（201,010棟から増加）・全壊36,326棟（36,336棟から減少）、ほか建物損壊6,005棟・倒壊743棟（いずれも5,889棟・709棟から増加）。負傷・行方不明・住家全壊のわずかな減少についてUNGRDは理由を説明していないが、これまでの改定と同様、死傷者に関する新しい情報や訂正報ではなく、集計継続中の届出・解消・重複整理によるものとして扱う。UNGRDは引き続き、数値は速報値であり地方団体・実施機関による集計が継続中としている。すべて速報値。引用の際は集計時点を併記された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59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対応の時系列（発災以降）（7/10）</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数値は2026年9月7日06:30（コロンビア時間）締めのUNGRD集計現在（投稿は07:43）。死者331人（横ばい）、負傷4,505人（横ばい）、行方不明111人（横ばい）、生存救出364人（横ばい）。16県・498市町村（横ばい）。被災は296,738世帯・466,709人で、9月6日06:30締めの296,725世帯・466,644人からわずかに増加。住家は損壊202,002棟（201,989棟から増加）・全壊36,326棟（横ばい）、ほか建物損壊6,005棟・倒壊743棟（いずれも横ばい）。この集計であらためて内訳が示されたインフラ被害：保健施設400、教育施設4,313（4,288から増加）、コミュニティ施設6,033（6,035から減少）、道路521（491から増加）、空港5、上水道141（横ばい）、道路橋102（91から増加）、歩道橋13（横ばい）。UNGRDは引き続き、数値は速報値であり集計継続中としている。すべて速報値。引用の際は集計時点を併記された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カタール国から寄贈された14.9トンの野戦病院を受領した。ICU用ベッド6床、一般病床44床、毛布・シーツ・枕各50組、エアコン26台、ディーゼル貯蔵タンク1基を含む。地震対応や他の緊急事態に応じて必要な地域へ移設できる。在ボゴタ・カタール大使館を通じて調整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Qatar／UNGRD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発災1か月を機に、UNGRDは捜索救助活動の終了を発表。288時間超、54隊・1,849人（コロンビア、アルゼンチン、チリ、メキシコ、ベネズエラ、スペイン、米国）が生存者356人を救出、遺体259体を収容した。住宅一時経済支援（3か月分のうち初月分）としてCOP 427億5,400万を投入。UNDP・国・地方団体・16分野が参加する「総合復旧のための被害評価・ニーズ分析（EDANPRI）」プロセスを開始し、復旧計画の基礎とする。人道支援物資の輸送量は累計2,071トン（国際協力477.1トン、大統領夫人経由1,500トン、ほかアトランティコ県・ボゴタ市の分を含む）。カルダス、キンディオ、チョコ、バジェ・デル・カウカの仮設避難所35か所に4,720人が残る。空軍は106時間40分の飛行支援、Starlinkアンテナ60基を展開、動物1,976頭を救出。記事は「本日9月10日時点」として、死者331人・負傷4,505人・行方不明111人、16県497市町村で被災466,345人、住宅全壊36,327棟・損壊201,939棟、建物倒壊759棟、教育施設4,316・医療施設397・コミュニティ施設6,118か所、道路521・道路橋107・歩道橋13・上水道141・空港5を挙げる。死者・負傷者・行方不明はいずれも9月6〜7日の公式集計と一致するが、被災者数（-364人）、市町村数（-1）、住家損壊（-63棟）、医療施設（-3）はいずれも上記9月7日06:30締め集計をわずかに下回っており、理由は示されていない。本レポートがこれまで同種の小幅な増減を集計整理によるものとして扱ってきたのと同様に、ここでは既存の集計値を訂正せず、別の記述値として併記す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UNGRD（portal article）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11-9/12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UNGRDが、地震被災世帯向けの住宅一時経済支援金の支払いを開始した。チョコ県では9月11日から（住宅が全壊または居住不能となった世帯向けに初月分としてCOP 33億2,400万超）、カリ市では9月12日から、いずれもSuperGiros窓口で原本の身分証を提示して受け取る方式で、申請受付期間は15日間。UNGRDは今後バジェ・デル・カウカ県、カルダス県、キンディオ県、リサラルダ県へも支払いを拡大するとしている。9月7日から12日にかけて、新しい死傷者・被害の集計（balance）の投稿はなか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59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対応の時系列（発災以降）（8/10）</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9/15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被災者統一登録（RUD）」ツールによる新しい集計を、2026年9月15日06:30（コロンビア時間）締めで発表した。被災登録は303,934世帯・486,917人で、9月7日06:30締めの296,738世帯・466,709人から増加。住家は損壊206,931棟（202,002棟から増加）・全壊36,478棟（36,326棟から増加）。UNGRDはRUDについて、市町村がSNGRD関係機関の支援を受けて被災者・被害情報を登録・アップロードするツールと説明している。死者・負傷者・行方不明・生存救出の集計は9月7日06:30締め以来更新されておらず、公表されている最新値は死者331人・負傷4,505人・行方不明111人・生存救出364人のまま。</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X、RUD）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9/17 14:00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OCHAのFlash Update 013（コロンビア時間14:00締め）は9月15日のUNGRD RUD集計を変更なしとして再掲（被災486,917人・303,934世帯、住家全壊36,478棟）し、支援提供者数13万7,000人超（Flash Update 012〈9月10日〉時点の13万5,000人から増加）と報告。UNGRDによる死者・負傷者・行方不明・生存救出の集計は9月7日06:30締め以来更新されていない。この間のUNGRD自身の広報は、UNDP・CEPALと連携した復旧特定行動計画（PAE）や分野別作業部会など復旧段階の内容が中心で、日次の死傷者速報の更新は見られ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 Flash Update 013</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CRC（赤十字国際委員会）は、コロンビア赤十字・IFRCと共同で、地震の被害を受けたチョコ県・バジェデルカウカ県の武力紛争影響地域を対象に、コミュニティインフラの復旧支援を発表（記事掲載9月21日）。6〜9か月の支援で、フェーズ1は7か所のコミュニティ施設への基礎補修資材の提供、フェーズ2は屋根・炊事場・学校食堂等の中規模改修を行う。ICRCは、これらの地域では地震前から武力紛争（避難・移動制限・不発弾等）による人道ニーズが存在しており、地震がそれを悪化させたと指摘。</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ICRC（portal article、published 9/21）</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は国連防災機関（UNDRR）特別代表カマル・キショール氏をカリに迎え、復旧の課題を協議。記事は本報の全国RUD集計とは別枠の**カリ市限定**の集計を示す：死者154人、負傷1,504人、生存救出88人、被害建物12,000棟超。技術検査1,216件、被害・ニーズ評価（EDAN）は35,280世帯を対象。この数値はカリ市に限定されたものであり、本報冒頭の全国UNGRD RUD集計には合算していない。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UNGRD（portal article）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59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対応の時系列（発災以降）（9/10）</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IFRCが「地震オペレーション・アップデート第1号」（MDRCO036）を公表した。捜索救助については終了済みとして再掲（288時間超・54隊・1,849人が生存者356人を救出、遺体259体を収容 — 上記9月10日のUNGRD数値と一致）。UNDP（2026年）の推計を引用し、本レポートで初めてとなる経済被害額（COP 42.1兆〈約132億米ドル〉、GDPの約2.3%相当）を示した（上記「経済被害（推計）」の項）。また住宅・都市・国土省の発表として、上水道・下水道・廃棄物管理サービスに支障が生じた市町村137、うち93市町村で未復旧としている（上記「ライフライン」の項）。さらに、コロンビア赤十字社のボランティア286人自身が地震の被害を受けたとしている。全国の被災者・世帯数については、同アップデートが「9月10日付UNGRD報告」として引用する数値（778,281人・364,672世帯）が、これまで公表されたどの全国集計とも一致せず、UNGRDが9月19日に発表したサンホセデルパルマル1市限定の数値（778,279人・364,670世帯）とほぼ一致することが判明した（上記「被災者」の項）。ここでは冒頭の集計に統合せず、日付付きの別掲値として示す。同アップデートはUNGRD自身の死者・負傷者・行方不明・住宅被害の集計（9月7日・15日締め）を改定するものではなく、これらは既報のまま変更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IFRC（Operation Update #1、MDRCO036）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OCHA／コロンビア人道チームがフラッシュアップデート第14号（18:30締め）を公表した。全国の概数として「16県500市町村で約487,000人が被災」とし、これは本報冒頭で示すUNGRD RUD 9月15日締め集計（486,917人・498市町村）とおおむね一致する概数であり、その改定ではない。人道対応の実績として、31団体が53優先市町村で137,000人超を支援したとし、対応計画は2026年末までに必要な6.19億米ドルに対し52%の資金不足があるとした。強いエルニーニョ現象の発生可能性が復旧ニーズをさらに圧迫するリスクとして指摘されている。UNGRD自身の死者・負傷者・行方不明・住宅被害の集計（9月7日・15日締め）は再掲されておらず、変更なし。</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OCHA／EHP Colombia（Flash Update 014、18:30 cut）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9/16 (posted 9/25)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IOM「状況報告第11号」がUNGRDの9月16日06:30 COT時点の集計を引用：死者335人、行方不明105人、救出364人、負傷4,516人、被災者486,917人（9月15日RUD締めから横ばい）、住家損壊206,931棟・全壊36,478棟（同じく横ばい）、16県500市町村（498市町村から増加）。別途、9月19日の全国統合指揮所（PMU）でUNGRDが各セクターの地域別情報を統合し、RUD登録364,670世帯・778,279人、および区分の異なる住家集計（居住可能84,855棟・居住不能104,037棟・全壊19,143棟・損壊119,752棟）を報告。このPMU統合値は上記RUD残高とまだ突き合わせられておらず、両者とも日付を付して併記し合算し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UNGRD、経由 IOM Colombia Earthquake Response Situation Report #11（9/25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59</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対応の時系列（発災以降）（10/10）</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はキンディオ県キンバヤの地震被災家族に対し、住宅一時支援の初月分（1,185百万コロンビアペソ）を支給した。RUDで確認済みの世帯を対象に、コリセオ・エル・カシケおよびコレヒオ・サンタ・テレシタ（エル・ロシオ地区）のスーペルヒロス窓口を通じて支払われた。これはチョコ県（9月11日開始）・カリ市（9月12日開始）で先行していた住宅支援の支払いが、UNGRDが予告していたとおりキンディオ県にも広がったもの。この発表に伴う新規の死傷者・被害集計の更新は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X／Twitter account、@UNGRD）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9/28 (posted 10/1)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状況報告第12号がUNGRDの9月28日集計を引用：死者335人、行方不明105人、救出364人、負傷4,516人、被災者486,917人、住家損壊206,931棟・全壊36,478棟、500市町村（いずれも横ばい）。RUD（9月26日）：364,668世帯・778,274人。世界銀行が追加2億米ドルを承認（累計4億米ドル）。カリでは約2万世帯が避難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UNGRD、経由 IOM Colombia Earthquake Response Situation Report #12</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9/30 (posted 10/1)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フラッシュアップデート015（9月30日18:00時点、週次の最終号）：政府は「復旧特別行動計画（PAE）」により復旧段階へ移行中。35以上の人道支援団体が90市町村で23万9千人を支援。被災者の把握、被害調査、サービスへのアクセスに課題が残り、農村・民族・難民・移民コミュニティで特に顕著。</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 Colombia／EHP Colombia（Flash Update 015）</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被災者統一登録（RUD）の集計を更新（データ締め10月2日）：登録世帯364,664・登録者778,285人、住家は居住可能84,857棟・居住不能104,049棟・全壊19,148棟・損壊119,748棟。登録世帯数は9月26日締め（364,668）より4世帯減、人数は11人増（778,274）で、UNGRDによる説明はない。同日UNGRDは、特別行動計画（PAE）を含む復旧の進捗を検察庁（Procuraduria）に報告した。全国集計（死者335人・行方不明105人・被災者486,917人）は再掲され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UNGRD（X、@UNGRD、10/2 15:09 COT）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59</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被災地域</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188720"/>
            <a:ext cx="5852160" cy="4389120"/>
          </a:xfrm>
          <a:prstGeom prst="rect">
            <a:avLst/>
          </a:prstGeom>
          <a:solidFill>
            <a:srgbClr val="EEEEEE"/>
          </a:solidFill>
          <a:ln w="9525">
            <a:solidFill>
              <a:srgbClr val="D9D9D9"/>
            </a:solidFill>
            <a:prstDash val="solid"/>
          </a:ln>
        </p:spPr>
      </p:sp>
      <p:pic>
        <p:nvPicPr>
          <p:cNvPr id="5" name="Image 1" descr="/tmp/build_event-bT0zLO/generator/images/EQ-2026-000146-COL/google_cities.png">    </p:cNvPr>
          <p:cNvPicPr>
            <a:picLocks noChangeAspect="1"/>
          </p:cNvPicPr>
          <p:nvPr/>
        </p:nvPicPr>
        <p:blipFill>
          <a:blip r:embed="rId2"/>
          <a:stretch>
            <a:fillRect/>
          </a:stretch>
        </p:blipFill>
        <p:spPr>
          <a:xfrm>
            <a:off x="365760" y="1188720"/>
            <a:ext cx="5852160" cy="4389120"/>
          </a:xfrm>
          <a:prstGeom prst="rect">
            <a:avLst/>
          </a:prstGeom>
        </p:spPr>
      </p:pic>
      <p:sp>
        <p:nvSpPr>
          <p:cNvPr id="6" name="Text 2"/>
          <p:cNvSpPr/>
          <p:nvPr/>
        </p:nvSpPr>
        <p:spPr>
          <a:xfrm>
            <a:off x="365760" y="5596128"/>
            <a:ext cx="5852160" cy="201168"/>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 震源</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92240" y="1234440"/>
          <a:ext cx="5303520" cy="914400"/>
        </p:xfrm>
        <a:graphic>
          <a:graphicData uri="http://schemas.openxmlformats.org/drawingml/2006/table">
            <a:tbl>
              <a:tblPr/>
              <a:tblGrid>
                <a:gridCol w="1188720"/>
                <a:gridCol w="1280160"/>
                <a:gridCol w="731520"/>
                <a:gridCol w="548640"/>
                <a:gridCol w="1554480"/>
              </a:tblGrid>
              <a:tr h="5029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県・地域</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市町村</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震央距離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震度</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チョコ県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サンホセ・デル・パルマル／キブド</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 / 105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 / VI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リサラルダ県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ペレイラ、ドスケブラダス</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61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バジェ・デル・カウカ県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カリ、カルタゴ、ブエナベントゥーラ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158 / 38 / 138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gridSpan="5">
                  <a:txBody>
                    <a:bodyPr/>
                    <a:lstStyle/>
                    <a:p>
                      <a:pPr algn="l" indent="0" marL="0">
                        <a:buNone/>
                      </a:pPr>
                      <a:r>
                        <a:rPr lang="en-US" sz="1100" i="1" dirty="0">
                          <a:solidFill>
                            <a:srgbClr val="6A6A6A"/>
                          </a:solidFill>
                          <a:latin typeface="Meiryo" pitchFamily="34" charset="0"/>
                          <a:ea typeface="Meiryo" pitchFamily="34" charset="-122"/>
                          <a:cs typeface="Meiryo" pitchFamily="34" charset="-120"/>
                        </a:rPr>
                        <a:t>他4地域（データ参照）</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hMerge="1">
                  <a:tcPr/>
                </a:tc>
                <a:tc hMerge="1">
                  <a:tcPr/>
                </a:tc>
                <a:tc hMerge="1">
                  <a:tcPr/>
                </a:tc>
                <a:tc hMerge="1">
                  <a:tcPr/>
                </a:tc>
              </a:tr>
            </a:tbl>
          </a:graphicData>
        </a:graphic>
      </p:graphicFrame>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コロンビア人口移動対応 DREF最終報告（MDRCO034）— 本地震とは無関係の移住支援プログラム</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Google Maps</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59</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震源・震度</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bT0zLO/generator/images/EQ-2026-000146-COL/sgc_shakemap_manual.jpg">    </p:cNvPr>
          <p:cNvPicPr>
            <a:picLocks noChangeAspect="1"/>
          </p:cNvPicPr>
          <p:nvPr/>
        </p:nvPicPr>
        <p:blipFill>
          <a:blip r:embed="rId2"/>
          <a:stretch>
            <a:fillRect/>
          </a:stretch>
        </p:blipFill>
        <p:spPr>
          <a:xfrm>
            <a:off x="1927217" y="1097280"/>
            <a:ext cx="3643645" cy="4425696"/>
          </a:xfrm>
          <a:prstGeom prst="rect">
            <a:avLst/>
          </a:prstGeom>
        </p:spPr>
      </p:pic>
      <p:sp>
        <p:nvSpPr>
          <p:cNvPr id="5" name="Text 1"/>
          <p:cNvSpPr/>
          <p:nvPr/>
        </p:nvSpPr>
        <p:spPr>
          <a:xfrm>
            <a:off x="365760" y="5541264"/>
            <a:ext cx="6766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SGC 体感震度図（ShakeMap）</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60920" y="1234440"/>
          <a:ext cx="4434840" cy="914400"/>
        </p:xfrm>
        <a:graphic>
          <a:graphicData uri="http://schemas.openxmlformats.org/drawingml/2006/table">
            <a:tbl>
              <a:tblPr/>
              <a:tblGrid>
                <a:gridCol w="2057400"/>
                <a:gridCol w="237744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発生時刻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10 Aug 2026, 07:34:28 COT (UTC-5)   ·   10 Aug 2026, 12:34:28 UTC   ·   10 Aug 2026, 21:34 JST</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震源地</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USGS：チョコ県サンホセ・デル・パルマルの南5km（ボゴタの西約280km）／SGC：同町から12km（北緯4.8436度・東経-76.2422度）</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規模</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 7.4（USGS）　・　7.4（SGC）</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深さ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110.3km（USGS、PAGER第5版）／103km（SGC、8月11日改訂）</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最大震度</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発震機構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有感範囲</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GLIDE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EQ-2026-000146-COL</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出典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UNGRD／SGC／USGS</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7"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1050" dirty="0"/>
          </a:p>
        </p:txBody>
      </p:sp>
      <p:sp>
        <p:nvSpPr>
          <p:cNvPr id="8"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10"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59</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地震活動 - 震央分布・余震</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bT0zLO/generator/images/EQ-2026-000146-COL/epicentre_distribution.png">    </p:cNvPr>
          <p:cNvPicPr>
            <a:picLocks noChangeAspect="1"/>
          </p:cNvPicPr>
          <p:nvPr/>
        </p:nvPicPr>
        <p:blipFill>
          <a:blip r:embed="rId2"/>
          <a:stretch>
            <a:fillRect/>
          </a:stretch>
        </p:blipFill>
        <p:spPr>
          <a:xfrm>
            <a:off x="676879" y="1097280"/>
            <a:ext cx="5229922" cy="4288536"/>
          </a:xfrm>
          <a:prstGeom prst="rect">
            <a:avLst/>
          </a:prstGeom>
        </p:spPr>
      </p:pic>
      <p:sp>
        <p:nvSpPr>
          <p:cNvPr id="5" name="Text 1"/>
          <p:cNvSpPr/>
          <p:nvPr/>
        </p:nvSpPr>
        <p:spPr>
          <a:xfrm>
            <a:off x="365760" y="5404104"/>
            <a:ext cx="58521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震央分布図：本震および余震284回（2026年8月10〜19日）。SGC地震カタログ、地形はNatural Earth</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https://bdrsnc.sgc.gov.co/paginas1/catalogo/index.php</a:t>
            </a:r>
            <a:endParaRPr lang="en-US" sz="900" dirty="0"/>
          </a:p>
        </p:txBody>
      </p:sp>
      <p:pic>
        <p:nvPicPr>
          <p:cNvPr id="6" name="Image 2" descr="/tmp/build_event-bT0zLO/generator/images/EQ-2026-000146-COL/aftershock_counts.png">    </p:cNvPr>
          <p:cNvPicPr>
            <a:picLocks noChangeAspect="1"/>
          </p:cNvPicPr>
          <p:nvPr/>
        </p:nvPicPr>
        <p:blipFill>
          <a:blip r:embed="rId4"/>
          <a:stretch>
            <a:fillRect/>
          </a:stretch>
        </p:blipFill>
        <p:spPr>
          <a:xfrm>
            <a:off x="6400800" y="2111095"/>
            <a:ext cx="5394960" cy="2260906"/>
          </a:xfrm>
          <a:prstGeom prst="rect">
            <a:avLst/>
          </a:prstGeom>
        </p:spPr>
      </p:pic>
      <p:sp>
        <p:nvSpPr>
          <p:cNvPr id="7" name="Text 2"/>
          <p:cNvSpPr/>
          <p:nvPr/>
        </p:nvSpPr>
        <p:spPr>
          <a:xfrm>
            <a:off x="6400800" y="5404104"/>
            <a:ext cx="53949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余震の時系列</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USGS 地震イベントページ — </a:t>
            </a:r>
            <a:pPr algn="l" indent="0" marL="0">
              <a:buNone/>
            </a:pPr>
            <a:r>
              <a:rPr lang="en-US" sz="10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59</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地震テクトニクス</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210312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1200" dirty="0"/>
          </a:p>
        </p:txBody>
      </p:sp>
      <p:sp>
        <p:nvSpPr>
          <p:cNvPr id="5" name="Text 2"/>
          <p:cNvSpPr/>
          <p:nvPr/>
        </p:nvSpPr>
        <p:spPr>
          <a:xfrm>
            <a:off x="365760" y="3246120"/>
            <a:ext cx="11430000" cy="278892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120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USGS 地震イベントページ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59</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発震機構・波形解析</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97280"/>
            <a:ext cx="6126480" cy="178308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規模 M7.4（USGS Mww）／M7.4（SGC）、深さ約110km（USGS）／103km（SGC）。</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沈み込むナスカプレート内部のスラブ内地震。プレート境界の巨大地震ではない。</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地表地震断層および津波は生じていない。揺れはボゴタ・キト・パナマシティまで到達。</a:t>
            </a:r>
            <a:endParaRPr lang="en-US" sz="1300" dirty="0"/>
          </a:p>
        </p:txBody>
      </p:sp>
      <p:pic>
        <p:nvPicPr>
          <p:cNvPr id="5" name="Image 1" descr="/tmp/build_event-bT0zLO/generator/images/EQ-2026-000146-COL/mechanism_manual.png">    </p:cNvPr>
          <p:cNvPicPr>
            <a:picLocks noChangeAspect="1"/>
          </p:cNvPicPr>
          <p:nvPr/>
        </p:nvPicPr>
        <p:blipFill>
          <a:blip r:embed="rId2"/>
          <a:stretch>
            <a:fillRect/>
          </a:stretch>
        </p:blipFill>
        <p:spPr>
          <a:xfrm>
            <a:off x="2473452" y="3017520"/>
            <a:ext cx="1911096" cy="1911096"/>
          </a:xfrm>
          <a:prstGeom prst="rect">
            <a:avLst/>
          </a:prstGeom>
        </p:spPr>
      </p:pic>
      <p:sp>
        <p:nvSpPr>
          <p:cNvPr id="6" name="Text 2"/>
          <p:cNvSpPr/>
          <p:nvPr/>
        </p:nvSpPr>
        <p:spPr>
          <a:xfrm>
            <a:off x="365760" y="4946904"/>
            <a:ext cx="612648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発震機構・モーメントテンソル図</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https://www.fnet.bosai.go.jp/</a:t>
            </a:r>
            <a:endParaRPr lang="en-US" sz="900" dirty="0"/>
          </a:p>
        </p:txBody>
      </p:sp>
      <p:sp>
        <p:nvSpPr>
          <p:cNvPr id="7" name="Shape 3"/>
          <p:cNvSpPr/>
          <p:nvPr/>
        </p:nvSpPr>
        <p:spPr>
          <a:xfrm>
            <a:off x="6492240" y="1143000"/>
            <a:ext cx="5303520" cy="4160520"/>
          </a:xfrm>
          <a:prstGeom prst="roundRect">
            <a:avLst>
              <a:gd name="adj" fmla="val 1319"/>
            </a:avLst>
          </a:prstGeom>
          <a:solidFill>
            <a:srgbClr val="EAF2F8"/>
          </a:solidFill>
          <a:ln w="12700">
            <a:solidFill>
              <a:srgbClr val="2E5496"/>
            </a:solidFill>
            <a:prstDash val="solid"/>
          </a:ln>
        </p:spPr>
      </p:sp>
      <p:sp>
        <p:nvSpPr>
          <p:cNvPr id="8" name="Text 4"/>
          <p:cNvSpPr/>
          <p:nvPr/>
        </p:nvSpPr>
        <p:spPr>
          <a:xfrm>
            <a:off x="6675120" y="1325880"/>
            <a:ext cx="5029200" cy="384048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波形解析の情報源
</a:t>
            </a:r>
            <a:pPr algn="l" indent="0" marL="0">
              <a:buNone/>
            </a:pPr>
            <a:r>
              <a:rPr lang="en-US" sz="1200" dirty="0">
                <a:solidFill>
                  <a:srgbClr val="222222"/>
                </a:solidFill>
                <a:latin typeface="Meiryo" pitchFamily="34" charset="0"/>
                <a:ea typeface="Meiryo" pitchFamily="34" charset="-122"/>
                <a:cs typeface="Meiryo" pitchFamily="34" charset="-120"/>
              </a:rPr>
              <a:t>• USGS — モーメントテンソル・有限断層モデル（イベントページ）
</a:t>
            </a:r>
            <a:pPr algn="l" indent="0" marL="0">
              <a:buNone/>
            </a:pPr>
            <a:r>
              <a:rPr lang="en-US" sz="1200" dirty="0">
                <a:solidFill>
                  <a:srgbClr val="222222"/>
                </a:solidFill>
                <a:latin typeface="Meiryo" pitchFamily="34" charset="0"/>
                <a:ea typeface="Meiryo" pitchFamily="34" charset="-122"/>
                <a:cs typeface="Meiryo" pitchFamily="34" charset="-120"/>
              </a:rPr>
              <a:t>• SGC — コロンビア国家地震観測網（RSNC）
</a:t>
            </a:r>
            <a:pPr algn="l" indent="0" marL="0">
              <a:buNone/>
            </a:pPr>
            <a:r>
              <a:rPr lang="en-US" sz="1200" dirty="0">
                <a:solidFill>
                  <a:srgbClr val="222222"/>
                </a:solidFill>
                <a:latin typeface="Meiryo" pitchFamily="34" charset="0"/>
                <a:ea typeface="Meiryo" pitchFamily="34" charset="-122"/>
                <a:cs typeface="Meiryo" pitchFamily="34" charset="-120"/>
              </a:rPr>
              <a:t>• GEOFON／GFZ — 広域広帯域モーメントテンソル解</a:t>
            </a:r>
            <a:endParaRPr lang="en-US" sz="1300" dirty="0"/>
          </a:p>
        </p:txBody>
      </p:sp>
      <p:sp>
        <p:nvSpPr>
          <p:cNvPr id="9"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event page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SGC（RSNC）</a:t>
            </a:r>
            <a:endParaRPr lang="en-US" sz="1050" dirty="0"/>
          </a:p>
        </p:txBody>
      </p:sp>
      <p:sp>
        <p:nvSpPr>
          <p:cNvPr id="10"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12" name="Text 8"/>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59</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主な余震</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18872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SGCは本震後34時間に147回の地震を決定した。この期間にM4.0を超えたのは本震44分後のM4.8のみで、92％はM3.0未満であった。8月13日のM4.2が2回目である。本震に匹敵する規模の余震は起きていない。147回のうち96回は深さ60km以上・震央から80km以内にあり、この部分がスラブ内の余震活動そのものである。その累積曲線はSGC公表の回数とよく一致する。残りは同じカタログに含まれる背景的な地震活動であり、生の件数が公式の余震回数を上回るのはこのためである。規模が小さく減衰の速い活動は、やや深発の地震で想定される経過である。ただし8月13日の地震は、捜索救助を止めるほどの揺れがなお続いていることを示す。　8月14日07:00までにSGCの公表値は184回に達し、うちM3.0超が15回、M4.0超が2回である。この推移はカタログ抽出および通常の減衰と整合する。</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2304288"/>
          <a:ext cx="11430000" cy="914400"/>
        </p:xfrm>
        <a:graphic>
          <a:graphicData uri="http://schemas.openxmlformats.org/drawingml/2006/table">
            <a:tbl>
              <a:tblPr/>
              <a:tblGrid>
                <a:gridCol w="2194560"/>
                <a:gridCol w="914400"/>
                <a:gridCol w="6949440"/>
                <a:gridCol w="13716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規模</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08:18 </a:t>
                      </a:r>
                      <a:pPr algn="l" indent="0" marL="0">
                        <a:buNone/>
                      </a:pPr>
                      <a:r>
                        <a:rPr lang="en-US" sz="1150" dirty="0">
                          <a:solidFill>
                            <a:srgbClr val="222222"/>
                          </a:solidFill>
                          <a:latin typeface="Meiryo" pitchFamily="34" charset="0"/>
                          <a:ea typeface="Meiryo" pitchFamily="34" charset="-122"/>
                          <a:cs typeface="Meiryo" pitchFamily="34" charset="-120"/>
                        </a:rPr>
                        <a:t>COT </a:t>
                      </a:r>
                      <a:pPr algn="l" indent="0" marL="0">
                        <a:buNone/>
                      </a:pPr>
                      <a:r>
                        <a:rPr lang="en-US" sz="1150" dirty="0">
                          <a:solidFill>
                            <a:srgbClr val="222222"/>
                          </a:solidFill>
                          <a:latin typeface="Meiryo" pitchFamily="34" charset="0"/>
                          <a:ea typeface="Meiryo" pitchFamily="34" charset="-122"/>
                          <a:cs typeface="Meiryo" pitchFamily="34" charset="-120"/>
                        </a:rPr>
                        <a:t>(13:18 </a:t>
                      </a:r>
                      <a:pPr algn="l" indent="0" marL="0">
                        <a:buNone/>
                      </a:pPr>
                      <a:r>
                        <a:rPr lang="en-US" sz="1150" dirty="0">
                          <a:solidFill>
                            <a:srgbClr val="222222"/>
                          </a:solidFill>
                          <a:latin typeface="Meiryo" pitchFamily="34" charset="0"/>
                          <a:ea typeface="Meiryo" pitchFamily="34" charset="-122"/>
                          <a:cs typeface="Meiryo" pitchFamily="34" charset="-120"/>
                        </a:rPr>
                        <a:t>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M4.8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10:01 </a:t>
                      </a:r>
                      <a:pPr algn="l" indent="0" marL="0">
                        <a:buNone/>
                      </a:pPr>
                      <a:r>
                        <a:rPr lang="en-US" sz="1150" dirty="0">
                          <a:solidFill>
                            <a:srgbClr val="222222"/>
                          </a:solidFill>
                          <a:latin typeface="Meiryo" pitchFamily="34" charset="0"/>
                          <a:ea typeface="Meiryo" pitchFamily="34" charset="-122"/>
                          <a:cs typeface="Meiryo" pitchFamily="34" charset="-120"/>
                        </a:rPr>
                        <a:t>COT </a:t>
                      </a:r>
                      <a:pPr algn="l" indent="0" marL="0">
                        <a:buNone/>
                      </a:pPr>
                      <a:r>
                        <a:rPr lang="en-US" sz="1150" dirty="0">
                          <a:solidFill>
                            <a:srgbClr val="222222"/>
                          </a:solidFill>
                          <a:latin typeface="Meiryo" pitchFamily="34" charset="0"/>
                          <a:ea typeface="Meiryo" pitchFamily="34" charset="-122"/>
                          <a:cs typeface="Meiryo" pitchFamily="34" charset="-120"/>
                        </a:rPr>
                        <a:t>(15:01 </a:t>
                      </a:r>
                      <a:pPr algn="l" indent="0" marL="0">
                        <a:buNone/>
                      </a:pPr>
                      <a:r>
                        <a:rPr lang="en-US" sz="1150" dirty="0">
                          <a:solidFill>
                            <a:srgbClr val="222222"/>
                          </a:solidFill>
                          <a:latin typeface="Meiryo" pitchFamily="34" charset="0"/>
                          <a:ea typeface="Meiryo" pitchFamily="34" charset="-122"/>
                          <a:cs typeface="Meiryo" pitchFamily="34" charset="-120"/>
                        </a:rPr>
                        <a:t>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M3.8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11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00:12 </a:t>
                      </a:r>
                      <a:pPr algn="l" indent="0" marL="0">
                        <a:buNone/>
                      </a:pPr>
                      <a:r>
                        <a:rPr lang="en-US" sz="1150" dirty="0">
                          <a:solidFill>
                            <a:srgbClr val="222222"/>
                          </a:solidFill>
                          <a:latin typeface="Meiryo" pitchFamily="34" charset="0"/>
                          <a:ea typeface="Meiryo" pitchFamily="34" charset="-122"/>
                          <a:cs typeface="Meiryo" pitchFamily="34" charset="-120"/>
                        </a:rPr>
                        <a:t>/ </a:t>
                      </a:r>
                      <a:pPr algn="l" indent="0" marL="0">
                        <a:buNone/>
                      </a:pPr>
                      <a:r>
                        <a:rPr lang="en-US" sz="1150" dirty="0">
                          <a:solidFill>
                            <a:srgbClr val="222222"/>
                          </a:solidFill>
                          <a:latin typeface="Meiryo" pitchFamily="34" charset="0"/>
                          <a:ea typeface="Meiryo" pitchFamily="34" charset="-122"/>
                          <a:cs typeface="Meiryo" pitchFamily="34" charset="-120"/>
                        </a:rPr>
                        <a:t>10:43 </a:t>
                      </a:r>
                      <a:pPr algn="l" indent="0" marL="0">
                        <a:buNone/>
                      </a:pPr>
                      <a:r>
                        <a:rPr lang="en-US" sz="1150" dirty="0">
                          <a:solidFill>
                            <a:srgbClr val="222222"/>
                          </a:solidFill>
                          <a:latin typeface="Meiryo" pitchFamily="34" charset="0"/>
                          <a:ea typeface="Meiryo" pitchFamily="34" charset="-122"/>
                          <a:cs typeface="Meiryo" pitchFamily="34" charset="-120"/>
                        </a:rPr>
                        <a:t>COT</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M3.6 </a:t>
                      </a:r>
                      <a:pPr algn="ctr" indent="0" marL="0">
                        <a:buNone/>
                      </a:pPr>
                      <a:r>
                        <a:rPr lang="en-US" sz="1150" b="1" dirty="0">
                          <a:solidFill>
                            <a:srgbClr val="1F3864"/>
                          </a:solidFill>
                          <a:latin typeface="Meiryo" pitchFamily="34" charset="0"/>
                          <a:ea typeface="Meiryo" pitchFamily="34" charset="-122"/>
                          <a:cs typeface="Meiryo" pitchFamily="34" charset="-120"/>
                        </a:rPr>
                        <a:t>/ </a:t>
                      </a:r>
                      <a:pPr algn="ctr" indent="0" marL="0">
                        <a:buNone/>
                      </a:pPr>
                      <a:r>
                        <a:rPr lang="en-US" sz="1150" b="1" dirty="0">
                          <a:solidFill>
                            <a:srgbClr val="1F3864"/>
                          </a:solidFill>
                          <a:latin typeface="Meiryo" pitchFamily="34" charset="0"/>
                          <a:ea typeface="Meiryo" pitchFamily="34" charset="-122"/>
                          <a:cs typeface="Meiryo" pitchFamily="34" charset="-120"/>
                        </a:rPr>
                        <a:t>M3.9</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13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09:42 </a:t>
                      </a:r>
                      <a:pPr algn="l" indent="0" marL="0">
                        <a:buNone/>
                      </a:pPr>
                      <a:r>
                        <a:rPr lang="en-US" sz="1150" dirty="0">
                          <a:solidFill>
                            <a:srgbClr val="222222"/>
                          </a:solidFill>
                          <a:latin typeface="Meiryo" pitchFamily="34" charset="0"/>
                          <a:ea typeface="Meiryo" pitchFamily="34" charset="-122"/>
                          <a:cs typeface="Meiryo" pitchFamily="34" charset="-120"/>
                        </a:rPr>
                        <a:t>COT </a:t>
                      </a:r>
                      <a:pPr algn="l" indent="0" marL="0">
                        <a:buNone/>
                      </a:pPr>
                      <a:r>
                        <a:rPr lang="en-US" sz="1150" dirty="0">
                          <a:solidFill>
                            <a:srgbClr val="222222"/>
                          </a:solidFill>
                          <a:latin typeface="Meiryo" pitchFamily="34" charset="0"/>
                          <a:ea typeface="Meiryo" pitchFamily="34" charset="-122"/>
                          <a:cs typeface="Meiryo" pitchFamily="34" charset="-120"/>
                        </a:rPr>
                        <a:t>(14:42 </a:t>
                      </a:r>
                      <a:pPr algn="l" indent="0" marL="0">
                        <a:buNone/>
                      </a:pPr>
                      <a:r>
                        <a:rPr lang="en-US" sz="1150" dirty="0">
                          <a:solidFill>
                            <a:srgbClr val="222222"/>
                          </a:solidFill>
                          <a:latin typeface="Meiryo" pitchFamily="34" charset="0"/>
                          <a:ea typeface="Meiryo" pitchFamily="34" charset="-122"/>
                          <a:cs typeface="Meiryo" pitchFamily="34" charset="-120"/>
                        </a:rPr>
                        <a:t>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M4.2</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サンホセ・デル・パルマル、深さ95km、震央から約20km。本震と同じ震源域。ボゴタでも有感となり、捜索救助活動が一時中断するほど強く揺れた。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to </a:t>
                      </a:r>
                      <a:pPr algn="l" indent="0" marL="0">
                        <a:buNone/>
                      </a:pPr>
                      <a:r>
                        <a:rPr lang="en-US" sz="1150" dirty="0">
                          <a:solidFill>
                            <a:srgbClr val="222222"/>
                          </a:solidFill>
                          <a:latin typeface="Meiryo" pitchFamily="34" charset="0"/>
                          <a:ea typeface="Meiryo" pitchFamily="34" charset="-122"/>
                          <a:cs typeface="Meiryo" pitchFamily="34" charset="-120"/>
                        </a:rPr>
                        <a:t>14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07:00 </a:t>
                      </a:r>
                      <a:pPr algn="l" indent="0" marL="0">
                        <a:buNone/>
                      </a:pPr>
                      <a:r>
                        <a:rPr lang="en-US" sz="1150" dirty="0">
                          <a:solidFill>
                            <a:srgbClr val="222222"/>
                          </a:solidFill>
                          <a:latin typeface="Meiryo" pitchFamily="34" charset="0"/>
                          <a:ea typeface="Meiryo" pitchFamily="34" charset="-122"/>
                          <a:cs typeface="Meiryo" pitchFamily="34" charset="-120"/>
                        </a:rPr>
                        <a:t>COT</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184 </a:t>
                      </a:r>
                      <a:pPr algn="ctr" indent="0" marL="0">
                        <a:buNone/>
                      </a:pPr>
                      <a:r>
                        <a:rPr lang="en-US" sz="1150" b="1" dirty="0">
                          <a:solidFill>
                            <a:srgbClr val="1F3864"/>
                          </a:solidFill>
                          <a:latin typeface="Meiryo" pitchFamily="34" charset="0"/>
                          <a:ea typeface="Meiryo" pitchFamily="34" charset="-122"/>
                          <a:cs typeface="Meiryo" pitchFamily="34" charset="-120"/>
                        </a:rPr>
                        <a:t>located</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本震から4日後のSGC累計。余震184回、うちM3.0超15回、M4.0超2回。8月11日15:00時点の公表値は103回。図に用いたカタログ抽出は8月11日17:24までの147回である。</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650992"/>
            <a:ext cx="11430000" cy="530352"/>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0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59</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被害状況（1/10）</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335人（UNGRD（9月16日06:30 COT締め、IOM「コロンビア地震対応状況報告第11号」経由、2026年9月25日投稿））。推移: 273→281→285→287→288→294→289→287→329→331→335。 更新（10月1日）：IOM状況報告第12号はUNGRDの9月28日集計で死者335人（横ばい）。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4,516人（UNGRD（9月16日06:30 COT締め、IOM「コロンビア地震対応状況報告第11号」経由、2026年9月25日投稿））。9月7日06:30締めの4,505人から増加。</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行方不明（当局への届出）</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105人（UNGRD（9月16日06:30 COT締め、IOM「コロンビア地震対応状況報告第11号」経由、2026年9月25日投稿））。9月7日06:30締めの111人から減少。UNGRDは変化の説明を示していないが、行方不明者数は累積値ではなく現在値であるため、身元確認・救出による減少（集計の整理）として扱う。</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生存救出（全国集計）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364人（UNGRD、9月7日06:30締め）。9月6日から横ばい。動物救助3,003頭・被災3,277頭（いずれも9月6日から横ばい）。これは死傷者数と併記される全国集計値。個別の救助事例は下記8月16日の項を参照。</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市民プラットフォーム上の未解決報告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「Colombia te busca」（市民の取り組み）、Asocapitales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59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被害状況（2/10）</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生存救出</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355人（UNGRD、8月16日18:30締め）。ほかに動物496頭を救出、768頭が被災。カリで約30時間後に救出された女性、ペレイラで36時間ぶりに救出された女性、集合住宅から救出された乳児、キブドで生存確認された家族4人を含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UNGRD（8月16日18:30）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被災市町村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16県500市町村（UNGRD（9月16日06:30 COT締め、IOM「コロンビア地震対応状況報告第11号」経由、2026年9月25日投稿））。9月7日06:30締めの498市町村から増加。</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59</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被害状況（3/10）</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UNGRDの「被災者統一登録（RUD）」集計、2026年9月15日06:30（コロンビア時間）締めで、303,934世帯・486,917人が被災登録された。9月7日06:30締めの296,738世帯・466,709人から増加。UNGRDはRUDについて、市町村がSNGRD関係機関の支援を受けて被災者・被害情報を登録・アップロードするツールと説明しており、本レポートはこれをこれまでの被災者集計の続きとして扱う。OCHAのFlash Update 011（9月2日17:00時点）も被災者数「466,600人超」として整合。OCHAの先のFlash Update 010は別途、406,000人超・193,011世帯（8月27日20:00時点、リサラルダ、バジェ・デル・カウカ、チョコ、キンディオ、カルダスに集中）としていた。両機関の集計基準が同一かは確認できていないため、いずれも日付を付して併記する。別途、WFPの「コロンビア地震緊急事態状況報告」（9月7日付）は、その時点で「当局は被災者759,311人、死者331人、負傷4,519人、行方不明136人と報告した」としている。これはUNGRD自身の集計を大きく上回る被災者数であり、一方でWFPが引用する死傷者数値（負傷4,519人・行方不明136人）はUNGRDのより早い9月1〜2日締めの数値と一致する。同報告は759,311人が何を数えた値か、どのUNGRD集計に基づくかを説明していない。ここではUNGRDの集計と統合せず、日付を付して別掲する。 別途、IFRC（9月10日、発災1か月の声明）は、9月4日時点で661,000人超が正式に被災者として登録されているとしている。これはUNGRDのRUD系列、OCHAのFlash Update系列、WFPの759,311人のいずれとも一致しない第4の、かつ大幅に大きい数値であり、いずれも登録基準が同一と確認できないため、統合せず各々の日付を付して別掲する。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UNGRD（RUD、9月15日06:30）／OCHA Flash Update 011（9月2日17:00時点）／IFRC（9月10日、発災1か月の声明）／IFRC オペレーション・アップデート第1号（MDRCO036、9月22日）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59</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被害状況（4/10）</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さらに別途、IFRCの「地震オペレーション・アップデート第1号」（MDRCO036、9月22日投稿）は、「9月10日付UNGRD報告」によるとして全国値778,281人（364,672世帯）が被災したとしている。この数値は、UNGRDが9月19日に発表した震央自治体サンホセデルパルマル1市限定のRUD数値（778,279人・364,670世帯。下記「住宅被害（合計）」の項を参照）とほぼ一致しており、同アップデートが1自治体限定の数値を全国値として扱った可能性を示唆する。ここではUNGRDの集計と統合せず、日付を付して別掲し、確認待ちとする。 別途、9月19日の全国統合指揮所（PMU）では、UNGRDが各セクターから提供された地域別情報を統合し、364,670世帯・778,279人が登録されたとしている（2026年9月19日時点）。このPMU統合値は上記RUD残高とは突き合わせが行われておらず、上記の値を置き換えるものではない。両者とも日付を付して併記する（UNGRD、PMU統合、2026年9月19日報告、IOM状況報告第11号経由）。 同じPMU統合では、区分の異なる住家集計（居住可能84,855棟・居住不能104,037棟・全壊19,143棟・損壊119,752棟、2026年9月19日時点）も示されている。これは下記「住家被害」のRUD「損壊／全壊」区分とは異なる分類であり、合算しないこと。</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59</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被害状況（5/10）</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住宅被害（合計）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243,409棟：全壊36,478棟・損壊206,931棟（UNGRD（9月16日06:30 COT締め、IOM「コロンビア地震対応状況報告第11号」経由、2026年9月25日投稿））。9月15日06:30締めから横ばい（9月7日締めは238,328棟＝全壊36,326棟・損壊202,002棟）。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UNGRD（RUD、9月15日06:30）／OCHA Flash Update 011（9月2日17:00時点）／CESVI（9月11日）；UNGRD（X/Twitter）サンホセ・デル・パルマル市別RUD、2026年9月19日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うち重大な損壊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206,931（UNGRD RUD集計、9月15日06:30締め）。9月7日06:30締めの202,002から増加。</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UNGRD（RUD、9月15日06:30）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うち全壊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36,478（UNGRD RUD集計、9月15日06:30締め）。9月7日06:30締めの36,326から増加。</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UNGRD（RUD、9月15日06:30）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建物倒壊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全国で743棟が倒壊、ほか6,005棟が損壊（UNGRD、9月7日06:30締め）。9月6日06:30締めから横ばい（8月16日18:30締めの倒壊197棟、同日朝66棟、8月14日121棟から積み上がった水準）。Asocapitalesは別途、県都で243棟の倒壊を数えていた（8月16日時点）。カリ市当局は倒壊107棟・構造的被害643棟と報告していた（8月16日時点）。</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UNGRD、9月7日06:30／Asocapitales（8月16日）／カリ市（8月16日）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59</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被害状況（6/10）</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医療施設</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400か所が被害（UNGRD、9月6日06:30締め）。9月3日06:30締めから横ばい（8月31日06:30締め406か所、8月16日18:30締め304か所、同日朝240か所、8月10日18か所）。医療機関7か所が閉鎖（8月16日時点）。カリの大学病院は約30％が崩壊し、小児科・内科・新生児科の一部を含む3フロアが失われた。内務大臣は8月14日、ブエナベントゥーラの病院網が対応能力を超えていると述べ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UNGRD（9月6日06:30）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教育施設</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4,313か所が被害（UNGRD、9月7日06:30締め）。9月6日06:30締めの4,288か所から増加。UNGRDは理由を示しておらず、訂正ではなく集計上の整理として扱う（9月3日4,292か所、9月2日4,287か所、9月1日4,290か所、8月31日4,268か所、8月16日18:30締め3,207か所、同日朝2,205か所、8月10日52か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コミュニティ施設</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6,033か所が被害（UNGRD、9月7日06:30締め）。9月6日06:30締めの6,035か所から減少。UNGRDは理由を示しておらず、訂正ではなく集計上の整理として扱う（9月3日5,600か所、9月1日5,698か所、8月31日5,524か所、8月16日18:30締め4,059か所、同日朝1,208か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道路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道路521路線が被害（UNGRD、9月7日06:30締め）。9月6日06:30締めの491路線から増加（9月3日468路線、8月31日462路線、8月16日18:30締め410路線、同日朝210路線、8月10日18路線）。道路橋102橋、歩道橋13橋も被害（道路橋は9月6日の91橋から増加。8月16日時点は道路橋48橋・歩道橋13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59</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被害状況（7/10）</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空港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UNGRDの8月13日集計では空港5か所が被害。運航停止は7空港に及んでいた。マテカーニャ国際空港（ペレイラ）は旅客ターミナルが部分崩壊。ペレイラ、マニサレス、キブド、アルメニア、カルタゴ、ブエナベントゥーラで運航停止</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UNGRD（8月13日）、民間航空当局</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文化財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マニサレス市長</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ライフライン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上水道141系統が被害（UNGRD、9月7日06:30締め）。9月6日06:30締めから横ばい（9月3日140系統、8月31日122系統、8月16日18:30締め95系統、同日朝73系統）。金融機関29拠点が業務停止（8月16日時点）。震央付近では停電と通信途絶が報告されている（8月16日時点）。別途、IFRCの「オペレーション・アップデート第1号」（MDRCO036、9月22日）は、コロンビア住宅・都市・国土省の発表として、上水道・下水道・廃棄物管理サービスに支障が生じた市町村が137、うち93市町村では同報告時点で復旧していないとしている。これはUNGRDの上水道系統数の系列とは別の「市町村数」を単位とする指標であり、上記の系列とは整合し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UNGRD、9月7日06:30／IFRC オペレーション・アップデート第1号（MDRCO036、9月22日、住宅・都市・国土省発表を引用）</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動物被害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全国で動物3,277頭が被災、3,003頭を救出（UNGRD、9月7日06:30締め）。9月6日06:30締めから横ばい。8月16日18:30締めは被災768頭・救出496頭。</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UNGRD、9月7日06:30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報道・人道機関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59</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被害状況（8/10）</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経済被害（推計）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IFRCの「オペレーション・アップデート第1号」（MDRCO036、9月22日）は、UNDP（2026年）の推計として、構造物への直接的物的被害額をCOP 42.1兆（約132億米ドル）、コロンビアのGDPの約2.3%相当とし、リサラルダ、バジェ・デル・カウカ、チョコ、カルダス、キンディオに集中しているとする。本レポートに記録される初めての経済被害推計であり、比較対象となるUNGRDや政府、OCHAによる総経済被害額の公表値はこれまで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IFRC オペレーション・アップデート第1号（MDRCO036、9月22日、UNDP〈2026年〉推計を引用）</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59</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被害状況（9/10）</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人道支援と資金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人道機関29以上が、被災49市町村でおよそ123,000人に支援を提供しており、Flash Update 010（8月27日）時点の25機関・72,000人・36市町村から拡大した。ドナーは4,000万米ドル超を拠出。人道対応計画のアデンダは、年末までの必要を満たすための追加資金を引き続き求めている。OCHAはまた、緊急ニーズの継続と、地震被害と武力紛争に伴うリスクの双方に直面する「二重被災」を課題として挙げている。 OCHAのFlash Update 012（9月10日、発災1か月時点）は、政府・SNGRD・国際パートナーが優先53市町村で135,000人超に多分野の支援を提供したと報告し、Flash Update 011時点の123,000人・49市町村から拡大した。同報告は武力紛争・森林火災・干ばつ・洪水等が同時進行する中での復旧の課題拡大を指摘し、年末までの追加的・時宜を得た資金を求めている。別途、コロンビア赤十字社／IFRCは、最初の1か月でボランティア・職員1,844人が3,600トン超の支援物資を配布、5,300件超の保健支援、15,700リットル超の給水、家族再統合支援4,400人超を実施したと報告し、IFRCはこの対応を継続するため2,500万スイスフラン（3,000万米ドル）の緊急アピールを発出した。 OCHAのFlash Update 013（9月17日14:00コロンビア時間締め）は支援提供者数13万7,000人超（Flash Update 012〈9月10日〉時点の13万5,000人から増加）と報告。被災者数・住家被害はいずれも9月15日のUNGRD RUD集計（被災486,917人・303,934世帯、住家全壊36,478棟）と同じ数値を繰り返しており、RUDのさらなる更新は示されていない。あわせて、洪水・森林火災・継続する地震活動・火山警報・武力紛争の動態など複数の脅威が最も被害の大きい地域の脆弱性を増していると指摘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 Flash Update 012（9月10日）／IFRC（9月10日、発災1か月の声明）／OCHA Flash Update 013（9月17日）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59</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被害状況（10/10）</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人道支援と資金（続き）</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 更新（10月1日）：OCHAフラッシュアップデート015（9月30日、週次の最終号）は、35以上の人道支援団体が90市町村で23万9千人を支援したと報告。IOM状況報告第12号：世界銀行が追加で2億米ドルを承認し、動員総額は4億米ドル。カリでは約2万世帯が引き続き避難。</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二次災害 — バウド川の増水（チョコ県メディオ・バウド）</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チョコ県メディオ・バウドの先住民（エンベラ族）コミュニティは、地震から約2日後にバウド川の急な増水に見舞われ、もともと医療アクセスに制約があり武装集団の活動もある地域で地震被害に追い打ちをかけ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国境なき医師団（MSF）、2026年9月2日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59</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USGS PAGERによる影響評価（第7版）</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600200"/>
          </a:xfrm>
          <a:prstGeom prst="rect">
            <a:avLst/>
          </a:prstGeom>
          <a:noFill/>
          <a:ln/>
        </p:spPr>
        <p:txBody>
          <a:bodyPr wrap="square" lIns="50800" tIns="50800" rIns="50800" bIns="50800" rtlCol="0" anchor="t">
            <a:normAutofit/>
          </a:bodyPr>
          <a:lstStyle/>
          <a:p>
            <a:pPr algn="l" indent="0" marL="0">
              <a:buNone/>
            </a:pPr>
            <a:r>
              <a:rPr lang="en-US" sz="120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7版は発災の11日後に作成され、初期の版のオレンジ警報から赤警報に引き上げられている。警報は2本立てで、表に出るのは高い方である。人的被害はオレンジ（相当の人的被害が生じる可能性が高い）、経済損失は赤で、推定損失はコロンビアのGDPの0〜6%にあたる。過去にこの水準の警報が出た地震は、国家的または国際的な対応を要している。死者数の推計は単一の値ではなく確率分布であり、100〜1,000人が33%、1,000〜10,000人が32%。UNGRDの8月27日集計329人はこの100〜1,000人の階級に入る。震度MMI VIIIの曝露人口は113万人、MMI VIIは539万人。MMI VIIIにかかる都市はペレイラ（59.1万人）、アルメニア（30.1万人）、サルサル（31.3万人）、キブド（13.1万人）など。</a:t>
            </a:r>
            <a:endParaRPr lang="en-US" sz="1200" dirty="0"/>
          </a:p>
        </p:txBody>
      </p:sp>
      <p:pic>
        <p:nvPicPr>
          <p:cNvPr id="5" name="Image 1" descr="/tmp/build_event-bT0zLO/generator/images/EQ-2026-000146-COL/usgs_pager.png">    </p:cNvPr>
          <p:cNvPicPr>
            <a:picLocks noChangeAspect="1"/>
          </p:cNvPicPr>
          <p:nvPr/>
        </p:nvPicPr>
        <p:blipFill>
          <a:blip r:embed="rId2"/>
          <a:stretch>
            <a:fillRect/>
          </a:stretch>
        </p:blipFill>
        <p:spPr>
          <a:xfrm>
            <a:off x="5042085" y="2743200"/>
            <a:ext cx="2077351" cy="2688336"/>
          </a:xfrm>
          <a:prstGeom prst="rect">
            <a:avLst/>
          </a:prstGeom>
        </p:spPr>
      </p:pic>
      <p:sp>
        <p:nvSpPr>
          <p:cNvPr id="6" name="Text 2"/>
          <p:cNvSpPr/>
          <p:nvPr/>
        </p:nvSpPr>
        <p:spPr>
          <a:xfrm>
            <a:off x="1737360" y="5449824"/>
            <a:ext cx="86868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USGS PAGER 一枚図（第7版）— 警報レベル・曝露人口・主要都市の曝露</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USGS PAGER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59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地域別の死者数</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017520"/>
                <a:gridCol w="1097280"/>
                <a:gridCol w="73152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地域</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死者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バジェ・デル・カウカ県（カリ）</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97</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リサラルダ県（ペレイラ）</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66</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大統領（8月11日）。県は約90人と報告</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チョコ県（キブド）</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9</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チョコ県は8月12日に捜索段階を終了。県の集計は死者14人・負傷138人。</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カルダス県（マニサレス）</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2人、4人、5人と推移</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アンティオキア県</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73歳</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全国の死者数は8月16日18:30締めで287人である。同日07:30締めの289人、15日の294人を経ている。推移は273人（8月13日）→281→285→287→288→294→289→287人。UNGRDはこの変動を、地方から報告された数値の検証・統合によるもので、一部は検証前に送られていたと説明している。法医学研究所には8月13日時点で250遺体が搬入され、うち227体の身元が確認されていた。公式の全国値として引用すべきは287人であり、集計時点を併記する。図は8月11日時点の大統領による内訳（181人）であり、リサラルダ（ペレイラ）とバジェ・デル・カウカ（カリ）に死者が集中するという分布の形を示すものであって、現在の集計ではない。　カリについても3通りの数値がある。大統領の内訳では97人、8月11日の市長発表は85人、市当局の被害報告では69人であり、この報告には集計時点が付されていない。</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59</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揺れの階級別 曝露人口</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914400"/>
                <a:gridCol w="1828800"/>
                <a:gridCol w="1645920"/>
                <a:gridCol w="704088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MMI</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階級</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曝露人口</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VIII+</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甚大</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VIII以上の曝露人口は推計なし</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VII</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非常に強い</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1,564,000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ペレイラ59.1万人、アルメニア30.1万人、カルタゴ13.5万人を含む</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VI</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強い</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8,888,000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カリ247.1万人、ブエナベントゥーラ42.4万人、パルミラ34.9万人を含む</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中程度</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17,076,000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最も曝露人口が多い階級</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IV</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やや弱い</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6,465,000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ボゴタ、メデジンに及ぶ</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59</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対応・支援（国内）</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8月12日付大統領令第1172号により、3日間の国家服喪を宣言。すべての公共施設および在外のコロンビア大使館・領事館で半旗を掲げる。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チョコ県は8月12日夜に捜索救助段階を終了。キブドで最後まで捜索されていた家族が生存で発見され、瓦礫の下に届出のある者はいなくなったと知事が表明した。県は被災者支援と復旧に移行。県の集計は死者14人、負傷138人、被害物件2,791件。</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8月12日夕方、大統領は経済緊急事態の宣言を発表した。対応を迅速化するための憲法上の仕組みであ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は9月2日、単一被災者登録簿（RUD）に登録され、8月10日の地震により住宅が全壊または居住不能と判定された世帯を対象に、一時的な経済支援を発表した。市町村の区分に応じて月額78万7,907〜105万543コロンビアペソを3か月間支給する。UNGRDは、RUDへの登録は市町村・県当局の責任で行うものであり被災者本人が直接登録することはできず、訂正が必要な場合も管轄の地方自治体を通す必要があると注意喚起している。</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59</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対応・支援（国際）（1/3）</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コロンビアが受け入れているのは、米国、イスラエル、エクアドル、エルサルバドルの4か国のINSARAG分類USARチームのみである。政府は、これらが国際的に認証され、国連の調整の下でINSARAGの基準に沿って活動し、完全に自己完結型であるため市町村に追加の負担を生じさせないことを理由として挙げている。役割は、すでに展開しているコロンビアのUSARチームの支援である。政府は、他国の申し出をイデオロギー的な理由で断ったとの報道を否定したが、この選定はコロンビア国内の報道で疑問視され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8月14日、支援は救助チームを送る4か国の枠を超えて広がった。インドは人道支援物資20トン（医薬品・医療機器、仮設シェルター、衛生用品）を送った。ノルウェーは1,000万ノルウェークローネ（約100万米ドル）を緊急医療、給水、疾病予防、仮設住宅に充て、スウェーデンは500万スウェーデンクローナ（約52万2,000米ドル）をUNHCR経由で拠出する。スペイン、イタリア、チリ、メキシコ、トルコ、ブラジル、世界銀行も支援を送付または表明している。コロンビア政府は、申し出の総額は約13億米ドルに達するとし、支援を表明した国として日本も挙げ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8月12日、コロンビアは国際的な捜索救助支援の受け入れを決定。対象はINSARAG分類の基準を満たすチームを持つ国で、イスラエル、エクアドル、エルサルバドル、米国。コロンビアの要請を受け、米国務省はフェアファクス郡（バージニア州）とロサンゼルス郡（カリフォルニア州）のUSARタスクフォースを派遣した。エルサルバドルは救援物資100トンを送り、メキシコからの支援便も到着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アジア防災センター（ADRC）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59</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対応・支援（国際）（2/3）</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コロンビア政府は支援を表明した国として日本を挙げているが、本レポートの集計時点で、外務省・JICAのいずれからも国際緊急援助隊の派遣、緊急援助物資の供与、緊急無償資金協力は公表されていない。日本側で確認できるのは政府以外の動きであり、日本赤十字社がコロンビア赤十字社の活動を支援しているほか、日本財団が8月12日から9月30日までのコロンビア地震緊急支援募金を開設しているほか、NGOのAMDA（アジア医師連絡協議会）も8月30日に看護師を派遣し、AMDAコロンビア・サラマンドラ財団とともにカリ市・チョコ県で救援活動を支援、9月4日に緊急対応フェーズを終了し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正式な要請はなかったが、12日に政府が国際的な捜索救助支援の受け入れを決めた。</a:t>
            </a:r>
            <a:endParaRPr lang="en-US" sz="1300" dirty="0"/>
          </a:p>
          <a:p>
            <a:pPr algn="l" marL="342900" indent="-342900">
              <a:buSzPct val="100000"/>
              <a:buChar char="•"/>
            </a:pPr>
            <a:r>
              <a:rPr lang="en-US" sz="1300" b="1" dirty="0">
                <a:solidFill>
                  <a:srgbClr val="888888"/>
                </a:solidFill>
                <a:latin typeface="Meiryo" pitchFamily="34" charset="0"/>
                <a:ea typeface="Meiryo" pitchFamily="34" charset="-122"/>
                <a:cs typeface="Meiryo" pitchFamily="34" charset="-120"/>
              </a:rPr>
              <a:t>[確認中]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長官デビッド・サンティアゴ・タマヨ・ロルダン氏と災害対応担当副長官エルナン・ダリオ・ディアス・ディアス氏は、WFPコロンビア代表兼カントリーディレクターのニルス・グレデ氏と会談し、8月10日の地震で被災した世帯への食料支援策を協議した。</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アジア防災センター（ADRC）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59</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対応・支援（国際）（3/3）</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発災1か月時点で、ICRCはコロンビア赤十字社と共同でチョコ・バジェデルカウカ両県の農村部（武力紛争の影響も受けている地域）での対応状況を報告した：安全な水の貯蔵・確保および建設資材の支援を受けた世帯2,000超、10コミュニティの教育施設補修用資材（在籍児童755人）、チョコ県の医療施設15か所への緊急対応キット配布、食料支援を受けた7,495人（1,759世帯）、衛生用品7,037点・シェルターキット1,127点の配布、現金給付は食料400人・生計再建40人・仮住まい費用168人。対応は今後6〜9か月継続する見込み。</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アジア防災センター（ADRC）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59</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Reported／number pending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888888"/>
                          </a:solidFill>
                          <a:latin typeface="Meiryo" pitchFamily="34" charset="0"/>
                          <a:ea typeface="Meiryo" pitchFamily="34" charset="-122"/>
                          <a:cs typeface="Meiryo" pitchFamily="34" charset="-120"/>
                        </a:rPr>
                        <a:t>確認中</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Copernicus EMS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Ongoing（EMSR916）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USGS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ShakeMap、PAGER（オレンジ）、震源過程、余震カタログ</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GDACS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総合オレンジ警報。人口曝露と影響推計</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SGC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n／a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国際災害チャーター 発動一覧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59</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コペルニクスEMS ラピッドマッピング — EMSR916</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5623560" cy="914400"/>
        </p:xfrm>
        <a:graphic>
          <a:graphicData uri="http://schemas.openxmlformats.org/drawingml/2006/table">
            <a:tbl>
              <a:tblPr/>
              <a:tblGrid>
                <a:gridCol w="1828800"/>
                <a:gridCol w="3794760"/>
              </a:tblGrid>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発動番号</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EMSR916 — Earthquake in Colombia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事象発生</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10/08/2026 afternoon (UTC)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発動時刻</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10/08/2026, 17:13 (UTC) = 12:13 COT</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事象種別</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Earthquake / Ground shaking</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対象国</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Colombia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要請者</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EC Services | DG ECHO</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成果物</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3 AOIs · 3 products · 0 maps</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ONGOING</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6172200" y="1051560"/>
            <a:ext cx="5623560" cy="4892040"/>
          </a:xfrm>
          <a:prstGeom prst="roundRect">
            <a:avLst>
              <a:gd name="adj" fmla="val 1121"/>
            </a:avLst>
          </a:prstGeom>
          <a:solidFill>
            <a:srgbClr val="EAF2F8"/>
          </a:solidFill>
          <a:ln w="12700">
            <a:solidFill>
              <a:srgbClr val="2E5496"/>
            </a:solidFill>
            <a:prstDash val="solid"/>
          </a:ln>
        </p:spPr>
      </p:sp>
      <p:sp>
        <p:nvSpPr>
          <p:cNvPr id="6" name="Text 2"/>
          <p:cNvSpPr/>
          <p:nvPr/>
        </p:nvSpPr>
        <p:spPr>
          <a:xfrm>
            <a:off x="6355080" y="1188720"/>
            <a:ext cx="5257800" cy="4617720"/>
          </a:xfrm>
          <a:prstGeom prst="rect">
            <a:avLst/>
          </a:prstGeom>
          <a:noFill/>
          <a:ln/>
        </p:spPr>
        <p:txBody>
          <a:bodyPr wrap="square" lIns="50800" tIns="50800" rIns="50800" bIns="50800" rtlCol="0" anchor="t">
            <a:normAutofit/>
          </a:bodyPr>
          <a:lstStyle/>
          <a:p>
            <a:pPr algn="l" indent="0" marL="0">
              <a:buNone/>
            </a:pPr>
            <a:r>
              <a:rPr lang="en-US" sz="1200" b="1" dirty="0">
                <a:solidFill>
                  <a:srgbClr val="1F3864"/>
                </a:solidFill>
                <a:latin typeface="Meiryo" pitchFamily="34" charset="0"/>
                <a:ea typeface="Meiryo" pitchFamily="34" charset="-122"/>
                <a:cs typeface="Meiryo" pitchFamily="34" charset="-120"/>
              </a:rPr>
              <a:t>発動理由
</a:t>
            </a:r>
            <a:pPr algn="l" indent="0" marL="0">
              <a:buNone/>
            </a:pPr>
            <a:r>
              <a:rPr lang="en-US" sz="1050"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
</a:t>
            </a:r>
            <a:pPr algn="l" indent="0" marL="0">
              <a:buNone/>
            </a:pPr>
            <a:r>
              <a:rPr lang="en-US" sz="1050" i="1" dirty="0">
                <a:solidFill>
                  <a:srgbClr val="6A6A6A"/>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2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Copernicus EMS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59</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相手国の防災体制</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78308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200" dirty="0"/>
          </a:p>
        </p:txBody>
      </p:sp>
      <p:sp>
        <p:nvSpPr>
          <p:cNvPr id="5" name="Text 2"/>
          <p:cNvSpPr/>
          <p:nvPr/>
        </p:nvSpPr>
        <p:spPr>
          <a:xfrm>
            <a:off x="365760" y="2926080"/>
            <a:ext cx="11430000" cy="3108960"/>
          </a:xfrm>
          <a:prstGeom prst="rect">
            <a:avLst/>
          </a:prstGeom>
          <a:noFill/>
          <a:ln/>
        </p:spPr>
        <p:txBody>
          <a:bodyPr wrap="square" lIns="50800" tIns="50800" rIns="50800" bIns="50800" rtlCol="0" anchor="t">
            <a:normAutofit/>
          </a:bodyPr>
          <a:lstStyle/>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大統領府直属の調整機関。全国的な応急対応、国家防災基金（FNGRD）、国家情報システムを運用する。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国家災害リスク管理計画。2016年大統領令第308号で採択され、2022年8月3日の第1478号で更新。仙台防災枠組に整合し、UNGRDが年次で進捗を監理する。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国の耐震設計基準（2010年施行、その後も技術付属書を更新）。現行基準以前の建物や、非エンジニアリングの組積造・土造建築が依然としてリスクの主要因である。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110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59</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過去の主な被害地震</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822960"/>
                <a:gridCol w="3291840"/>
                <a:gridCol w="822960"/>
                <a:gridCol w="649224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年</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地震</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規模</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被害</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1906</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エクアドル・コロンビア地震（太平洋岸）</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M8.8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観測史上最大級。太平洋岸に破壊的な津波</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1925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カリ地震（バジェ・デル・カウカ県）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M7.0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1938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コーヒー地帯の地震（深さ150km）</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M7.0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1979</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トゥマコ地震（ナリーニョ県）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M8.1</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プレート境界型で津波を伴う。数百人が死亡</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1983</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ポパヤン地震（カウカ県）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M5.5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1994</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パエス地震（カウカ県）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M6.8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1995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チョコ地震</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M6.6</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2026年と同じ県で発生したやや深発地震</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1999</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アルメニア（キンディオ）地震</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M6.1-6.2</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2026</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チョコ地震（本地震）</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M7.4</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59</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所見・注視点</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調査が被害に追いついた分だけ数値は膨れ上がった。56時間で死者は111人から239人、負傷者は87人から3,755人、行方不明は未集計から287人、住宅被害は1,612棟から約54,000棟、被災範囲は「20市町村超」から14県・403市町村になった。この急増を引き起こす新たな出来事があったわけではなく、調査が未到達地域に届い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である。</a:t>
            </a:r>
            <a:endParaRPr lang="en-US" sz="1130" dirty="0"/>
          </a:p>
          <a:p>
            <a:pPr algn="l" marL="342900" indent="-342900">
              <a:buSzPct val="100000"/>
              <a:buChar char="•"/>
            </a:pPr>
            <a:r>
              <a:rPr lang="en-US" sz="113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1130" dirty="0"/>
          </a:p>
          <a:p>
            <a:pPr algn="l" marL="342900" indent="-342900">
              <a:buSzPct val="100000"/>
              <a:buChar char="•"/>
            </a:pPr>
            <a:r>
              <a:rPr lang="en-US" sz="1130" b="1" dirty="0">
                <a:solidFill>
                  <a:srgbClr val="888888"/>
                </a:solidFill>
                <a:latin typeface="Meiryo" pitchFamily="34" charset="0"/>
                <a:ea typeface="Meiryo" pitchFamily="34" charset="-122"/>
                <a:cs typeface="Meiryo" pitchFamily="34" charset="-120"/>
              </a:rPr>
              <a:t>[確認中]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113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59</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カリ市：市当局の被害報告</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カリの他の数値との関係 — 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1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840480"/>
                <a:gridCol w="18288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負傷者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生き埋め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救出者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88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建物倒壊</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構造的被害のある建物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643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避難命令の出た建物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生き埋め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救出された人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88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負傷者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サンティアゴ・デ・カリ市職員より受領（2026年8月12日））</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59</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事前リスク評価：サンティアゴ・デ・カリ</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11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想定シナリオ</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M6.5・深さ10km、ダグア・カリマ断層、市街地</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曝露人口</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約230万人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推定死者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約1,200人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重傷者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約36,300人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住まいを失う人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約181,000人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倒壊建物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348,000棟のうち約1,800棟（0.5%）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残余リスク</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既往対策を織り込んで約40%と評価</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59</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市が既に優先課題としていたこと</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2026年の地震はこのシナリオではない — 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1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114300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既に挙げられていた優先課題</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59</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GEM-TREQ 都市プロファイル：カリ</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bT0zLO/generator/images/EQ-2026-000146-COL/gem_treq_cali_manual.jpg">    </p:cNvPr>
          <p:cNvPicPr>
            <a:picLocks noChangeAspect="1"/>
          </p:cNvPicPr>
          <p:nvPr/>
        </p:nvPicPr>
        <p:blipFill>
          <a:blip r:embed="rId2"/>
          <a:stretch>
            <a:fillRect/>
          </a:stretch>
        </p:blipFill>
        <p:spPr>
          <a:xfrm>
            <a:off x="7223760" y="1280168"/>
            <a:ext cx="4572000" cy="3236960"/>
          </a:xfrm>
          <a:prstGeom prst="rect">
            <a:avLst/>
          </a:prstGeom>
        </p:spPr>
      </p:pic>
      <p:sp>
        <p:nvSpPr>
          <p:cNvPr id="5" name="Text 1"/>
          <p:cNvSpPr/>
          <p:nvPr/>
        </p:nvSpPr>
        <p:spPr>
          <a:xfrm>
            <a:off x="7223760" y="4718304"/>
            <a:ext cx="45720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GEM-TREQによるカリ市プロファイル</a:t>
            </a:r>
            <a:endParaRPr lang="en-US" sz="900" dirty="0"/>
          </a:p>
        </p:txBody>
      </p:sp>
      <p:sp>
        <p:nvSpPr>
          <p:cNvPr id="6" name="Text 2"/>
          <p:cNvSpPr/>
          <p:nvPr/>
        </p:nvSpPr>
        <p:spPr>
          <a:xfrm>
            <a:off x="365760" y="1051560"/>
            <a:ext cx="658368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11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59</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有用リンク・出典（1/15）</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情報源方針: </a:t>
            </a:r>
            <a:pPr algn="l" indent="0" marL="0">
              <a:buNone/>
            </a:pPr>
            <a:r>
              <a:rPr lang="en-US" sz="12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12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地震イベントページ</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コロンビア地質調査所（SGC）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地震速報 SGC2026pqqmro（本地震）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体感震度図（ShakeMap・本地震）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国家災害リスク管理ユニット（UNGRD）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GDACS オレンジ警報</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 発動一覧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コペルニクスEMS EMSR916「Earthquake in Colombia」（発動）</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コロンビア</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PAHO/WHO コロンビア</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PreventionWeb コロンビア国家防災計画</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 コロンビアの耐震規定（NSR-10）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59</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有用リンク・出典（2/15）</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速報：死者132人に増加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チョコ県で負傷84人・死者12人（県政府）</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UN-SPIDER UNGRD紹介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OECD コロンビアのリスクガバナンス評価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速報（死者111人）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France 24 国家非常事態宣言</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アルジャジーラ 報道</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CBS ニュース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NBC ニュース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政府第1次被害評価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国家災害宣言</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SGCによる長い揺れの解説</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46 / 59</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有用リンク・出典（3/15）</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NHK 大統領「111人死亡・87人けが」</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日本経済新聞 コロンビア西部でM7.4</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時事通信 コロンビアでM7.4</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セーブ・ザ・チルドレン 声明</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ダイレクト・リリーフ 医療支援</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アメリケアズ 対応</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GLIDE番号 — EQ-2026-000146-COL（災害識別番号）</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アジア防災センター（ADRC）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https://www.adrc.asia/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GEM-TREQ カリ市地震リスク評価（技術報告 D2.6.2）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47 / 59</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有用リンク・出典（4/15）</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SATIC カリ市の住民参加型早期警戒システム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サンティアゴ・デ・カリ市 災害リスク管理</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国家災害リスク管理計画（PNGRD）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2022年大統領令第1478号（PNGRD更新）</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地震カタログ閲覧（精査済みは2018年2月まで）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速報（8月11日、カリの死者85人に）</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集計：死者132人・負傷570人超（都市別）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RPP 大統領の181人は地方集計より59人少ない</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余震99回とその規模（SGC）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48 / 59</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有用リンク・出典（5/15）</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SGC集計：8月11日15:00時点で余震103回</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外務省（X）8月11日の投稿</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支援を申し出た国の一覧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国連コロンビア 地震に関する情報と更新</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地震の行方不明者検索ツール</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Pulzo UNGRD による14県の被害・人的被害報告</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イスラエル・エクアドル・エルサルバドル・米国から救助チーム到着</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49 / 59</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有用リンク・出典（6/15）</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県都で死者188人・負傷1,677人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infolibre 捜索継続、死者少なくとも254人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死者265人・負傷3,494人・行方不明496人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8月13日のUNGRD集計 死者273人・負傷3,824人・行方不明377人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被災40,753世帯 UNGRDの新集計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8月13日 サンホセ・デル・パルマルでM4.2の余震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米国・イスラエル・エクアドル・エルサルバドルの救助チームを受け入れ</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8月14日のUNGRD集計 死者287人・負傷3,975人・行方不明378人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ライブ 死者288人・負傷4,000人超・行方不明202人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国際支援の拡大 インド・ノルウェー・スウェーデン・スペイン</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50 / 59</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有用リンク・出典（7/15）</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支援を送った国・機関（イタリア、インド、スペイン、チリ、世界銀行ほか）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日本赤十字社 コロンビア赤十字社の救援活動（M7.4地震）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なぜ海外の救助隊を必要としなかったのか 国内23チーム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SGC 8月10日以降の余震184回（8月14日）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CNNスペイン語 救助・復旧のライブ報道</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8月15日のUNGRD集計 死者294人・負傷3,935人・行方不明320人・救出353人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死者294人・住宅損壊81,506棟（公式数値）</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大統領令1172号 3日間の国家服喪</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チョコ県知事が県の捜索救助段階の終了を表明</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8月16日のUNGRD集計 死者289人・負傷4,187人・行方不明143人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51 / 59</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有用リンク・出典（8/15）</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RTVC 死者289人・行方不明143人・被災18万5千人超</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Radio Santa Fe UNGRDが死者・行方不明の数値を下方修正</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8月16日夕方のUNGRD集計 死者287人・負傷4,147人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La Tercera 死者を下方修正し負傷者を上方修正</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010（8月27日）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https://reliefweb.int/report/colombia/colombia-flash-update-010-update-impact-earthquake-colombia-august-27-2026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010・西語版（8月27日）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https://reliefweb.int/report/colombia/colombia-flash-update-010-actualizacion-afectaciones-por-terremoto-en-colombia-27-de-agosto-de-2026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009（8月24日）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https://reliefweb.int/report/colombia/colombia-flash-update-009-update-impact-earthquake-colombia-august-24-2026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009・西語版（8月24日）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https://reliefweb.int/report/colombia/colombia-flash-update-009-actualizacion-afectaciones-por-terremoto-en-colombia-24-de-agosto-de-2026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コロンビア地震対応 状況報告#6（8月28日）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https://reliefweb.int/report/colombia/iom-colombia-earthquake-response-situation-report-6-28-august-2026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コロンビア地震対応 状況報告#6・西語版（8月28日）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https://reliefweb.int/report/colombia/oim-respuesta-al-terremoto-en-colombia-reporte-de-situacion-6-28-agosto-2026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全国集計 8月31日06:30締め（公式X）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https://x.com/UNGRD/status/2094414373506736128</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52 / 59</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有用リンク・出典（9/15）</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全国集計 9月1日06:30締め（公式X）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https://x.com/UNGRD/status/2094764781831872512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コロンビア地震 LTCテレコム状況報告#02（8月25〜31日）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https://reliefweb.int/report/colombia/colombia-earthquake-ltc-telecoms-situation-report-02-reporting-period-25-31-august-2026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AMDA緊急救援1報 コロンビア地震（9月1日）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https://reliefweb.int/report/colombia/amda-emergency-relief-1-earthquake-colombia-1-september-2026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ICRCが地震後の武力紛争影響地域のニーズを評価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https://reliefweb.int/report/colombia/colombia-icrc-assesses-needs-communities-affected-armed-conflict-following-earthquake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コロンビアM7.4地震とEU対応 DG ECHO日次地図（8月26日）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https://reliefweb.int/map/colombia/colombia-74-m-earthquake-10-august-and-eu-response-dg-echo-daily-map-26082026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ペレイラ（コロンビア）仮設住居マップ、8月10日地震（8月19日時点）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https://reliefweb.int/map/colombia/pereira-colombia-alojamientos-temporales-terremoto-10-de-agosto-2026-19082026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マニサレス（コロンビア）被災地区マップ、8月10日地震（8月20日時点）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https://reliefweb.int/map/colombia/manizales-colombia-barrios-afectados-terremoto-10-de-agosto-2026-20082026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人道対応計画への補遺（地震、8月）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https://reliefweb.int/report/colombia/colombia-addendum-humanitarian-response-plan-earthquake-august-2026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人道対応計画への補遺（地震）・西語版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https://reliefweb.int/report/colombia/colombia-adenda-al-plan-de-respuesta-humanitaria-terremoto-agosto-2026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人道ニーズ・対応計画（2026年2月）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https://reliefweb.int/report/colombia/colombia-plan-de-respuesta-necesidades-humanitarias-febrero-2026-enes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子どものための人道行動 2026 - コロンビア</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https://reliefweb.int/report/colombia/humanitarian-action-children-2026-colombia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Flash Update 011（9月2日・スペイン語版）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https://reliefweb.int/report/colombia/colombia-flash-update-011-actualizacion-afectaciones-por-terremoto-en-colombia-02-de-septiembre-de-2026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53 / 59</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有用リンク・出典（10/15）</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Flash Update 011（9月2日・英語版）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https://reliefweb.int/report/colombia/colombia-flash-update-011-update-impact-earthquake-colombia-september-2-2026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地震から3週間、緊急ニーズが継続（MSF）</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https://reliefweb.int/report/colombia/urgent-needs-persist-three-weeks-after-earthquake-colombia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四半期保護モニタリング報告（コロンビア、4-6月）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https://reliefweb.int/report/colombia/informe-de-monitoreo-de-proteccion-trimestral-de-drc-colombia-abril-junio-2026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コロンビア地震状況報告第7号（8月31日）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https://reliefweb.int/report/colombia/colombia-earthquake-situation-report-7-31-aug-2026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コロンビア地震状況報告第7号（スペイン語版、8月31日）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https://reliefweb.int/report/colombia/respuesta-al-terremoto-en-colombia-reporte-de-situacion-7-31-agosto-2026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AMDA緊急救援活動報告#2（コロンビア地震、9月3日）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https://reliefweb.int/report/colombia/amda-emergency-relief-2-earthquake-colombia-3-september-2026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3iS「マニサレス市 被災地区マップ」（8月10日地震、9月3日版）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AMDA緊急救援活動報告#3（コロンビア地震、9月7日。イスミナの病院・教会でのニーズ調査）</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https://reliefweb.int/report/colombia/amda-emergency-relief-3-earthquake-colombia-7-september-2026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ABBACOL財団「心理社会的支援の更新」（カリ、9月4日時点）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https://reliefweb.int/report/colombia/resumen-actualizado-de-la-intervencion-psicosocial-de-abbacol-fecha-de-resumen-y-actualizacion-04-septiembre-2026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FEWS NET「コロンビア食料安全保障見通し」（2026年8月〜2027年1月。地震の影響とエルニーニョの強まり）</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https://reliefweb.int/report/colombia/colombia-food-security-outlook-update-august-2026-january-2027-earthquake-impacts-reduce-food-access-affected-areas-el-nino-strengthens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3iS「キブドー市 被災地区マップ」（8月10日地震、9月3日版）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https://reliefweb.int/map/colombia/quibdo-colombia-barrios-afectados-terremoto-10-de-agosto-2026-03092026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 第8号（9月3日）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https://reliefweb.int/report/colombia/iom-colombia-earthquake-situation-report-8-03-september-2026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54 / 59</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有用リンク・出典（11/15）</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 第8号（スペイン語版）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https://reliefweb.int/report/colombia/oim-respuesta-al-terremoto-en-colombia-reporte-de-situacion-8-3-septiembre-2026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コロンビア地震緊急事態状況報告（9月7日）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https://reliefweb.int/report/colombia/wfp-colombia-earthquake-response-7-september-2026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AMDA緊急救援活動報告 第4報（9月8日）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https://reliefweb.int/report/colombia/amda-emergency-relief-4-earthquake-colombia-8-september-2026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OCHA／コロンビア人道チーム HNRP2026 5Wシステム対応報告（1〜7月）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https://reliefweb.int/report/colombia/colombia-reporte-plan-de-respuesta-necesidades-humanitarias-hnrp-2026-en-el-sistema-5w-entre-enero-y-julio-de-2026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Action Against Hunger 地震 状況・対応分析（9月4日付）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https://reliefweb.int/report/colombia/analisis-de-situacion-y-respuesta-al-terremoto-4-de-septiembre-2026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Action Against Hunger 地震 状況・対応分析（8月16日付）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https://reliefweb.int/report/colombia/analisis-de-situacion-y-respuesta-al-terremoto-16-agosto-2026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カリ市 被災地区図（3iS作成、9月8日付）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https://reliefweb.int/map/colombia/cali-colombia-barrios-afectados-terremoto-10-de-agosto-2026-08092026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OCHA／コロンビア人道チーム フラッシュアップデート第12号（9月10日付）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https://reliefweb.int/report/colombia/colombia-flash-update-012-update-impact-earthquake-colombia-september-10-2026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コロンビア地震：緊急対応から復旧支援へ移行（仏語版、9月10日付）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https://reliefweb.int/report/colombia/seisme-en-colombie-caritas-passe-de-laide-durgence-au-relevement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コロンビア地震：緊急対応から復旧支援へ移行（西語版、9月10日付）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https://reliefweb.int/report/colombia/terremoto-en-colombia-caritas-pasa-de-la-respuesta-de-emergencia-la-recuperacion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 ブエナベントゥーラ市 被災地区図（9月11日付）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https://reliefweb.int/map/colombia/buenaventura-colombia-barrios-afectados-terremoto-10-de-agosto-2026-11092026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55 / 59</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有用リンク・出典（12/15）</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iMMAP／OCHA／UNICEF コロンビア 水・衛生・衛生教育（WASH）分野 発災1か月時点の状況・対応・課題（9月11日付）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https://reliefweb.int/report/colombia/colombia-situacion-agua-saneamiento-e-higiene-wash-un-mes-del-sismo-de-agosto-de-2026-respuesta-brechas-y-prioridades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コロンビア 保護モニタリング（2026年1〜3月期）</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https://reliefweb.int/report/colombia/drc-colombia-monitoreo-de-proteccion-enero-marzo-2026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UNGRD（X）住宅一時経済支援金の支払い開始、チョコ県・カリ市（2026年9月11-12日）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https://x.com/UNGRD/status/2098758429951078754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UNGRD（サイト）「救出356人」発災1か月時点の対応状況（9月10日付）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https://portal.gestiondelriesgo.gov.co/Paginas/Noticias/2026/356-personas-rescatadas-la-respuesta-de-la-UNGRD-continua-un-mes-despues-del-terremoto.aspx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UNGRD（サイト）チョコ県 住宅支援金の支払い開始（9月11日付）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https://portal.gestiondelriesgo.gov.co/Paginas/Noticias/2026/Inicia-el-pago-de-mas-de-3324-millones-en-apoyo-economico-para-las-familias-damnificadas-por-el-terremoto-en-Choco.aspx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IFRC「発災1か月、継続的な支援を呼びかけ」（2026年9月10日）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https://reliefweb.int/report/colombia/colombia-ifrc-calls-sustained-support-earthquake-affected-communities-one-month</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IOMコロンビア地震状況報告第9号（2026年9月10日）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https://reliefweb.int/report/colombia/iom-colombia-earthquake-situation-report-9-10-september-2026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CESVI「コロンビア緊急対応状況報告第2号」（2026年9月11日）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https://reliefweb.int/report/colombia/colombia-emergency-response-situation-report-2-18-august-10-september-2026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OCHA「コロンビア・フラッシュアップデート第13号」（2026年9月17日）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https://reliefweb.int/report/colombia/colombia-flash-update-013-actualizacion-afectaciones-por-terremoto-en-colombia-17-de-septiembre-de-2026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OCHA「コロンビア・フラッシュアップデート第13号」英語版（2026年9月18日掲載）</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https://reliefweb.int/report/colombia/colombia-flash-update-013-update-impact-earthquake-colombia-september-18-2026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56 / 59</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有用リンク・出典（13/15）</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https://portal.gestiondelriesgo.gov.co/Paginas/Noticias/2026/UNGRD-y-Naciones-Unidas-analizan-en-Cali-los-retos-de-la-recuperacion-tras-el-terremoto.aspx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https://reliefweb.int/report/colombia/analisis-de-situacion-y-respuesta-al-terremoto-10-de-septiembre-2026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https://reliefweb.int/report/colombia/colombia-earthquake-response-situation-report-10-14-september-2026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https://reliefweb.int/report/colombia/colombia-evaluacion-rapida-conjunta-de-mercados-jram-panorama-de-la-situacion-agosto-2026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https://reliefweb.int/report/colombia/colombia-grupo-de-trabajo-de-logistica-gtl-un-mes-de-operacion-de-emergencia-10-de-septiembre-de-2026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https://reliefweb.int/report/colombia/respuesta-al-terremoto-en-colombia-reporte-de-situacion-10-14-septiembre-2026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https://reliefweb.int/report/colombia/terremoto-en-colombia-el-cicr-apoya-la-recuperacion-de-infraestructura-comunitaria-esencial-en-zonas-afectadas-por-los-conflictos-armados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https://reliefweb.int/report/colombia/un-mes-despues-del-terremoto-en-colombia-avanzar-con-la-reconstruccion-en-medio-de-una-compleja-situacion-humanitaria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https://reliefweb.int/report/colombia/unhcr-colombia-2026-funding-update-31-august-2026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ICRC: コロンビア地震 — 地域インフラの復旧支援（2026年9月18日）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https://reliefweb.int/report/colombia/earthquake-colombia-icrc-supports-rehabilitation-essential-community-infrastructure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 地震後の地域別深刻度・脆弱性評価（2026年8月27日、スペイン語）</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https://reliefweb.int/report/colombia/oim-colombia-severidad-y-vulnerabilidad-territorial-tras-el-terremoto-27-agosto-2026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57 / 59</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有用リンク・出典（14/15）</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コロンビア地震対応 — 状況報告第9号、2026年9月10日（スペイン語版）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https://reliefweb.int/report/colombia/oim-respuesta-al-terremoto-en-colombia-reporte-de-situacion-9-10-septiembre-2026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PAHO/WHO: コロンビア地震から1か月 — 対応と安定化（2026年9月4日時点）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https://reliefweb.int/report/colombia/one-month-after-colombia-earthquake-pahowho-continues-support-response-and-stabilization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コロンビア人口移動対応 DREF最終報告（MDRCO034）— 本地震とは無関係の移住支援プログラム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https://reliefweb.int/report/colombia/colombia-population-movement-imminent-dref-final-report-mdrco034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コロンビア地震 — オペレーション・アップデート第1号（MDRCO036）、2026年9月22日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https://reliefweb.int/report/colombia/colombia-earthquake-operation-update-1-mdrco036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OCHA／コロンビア人道チーム フラッシュアップデート第14号（9月23日18:30締め）</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https://reliefweb.int/report/colombia/colombia-flash-update-014-update-impact-earthquake-colombia-september-23-2026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OCHA／コロンビア人道チーム フラッシュアップデート第14号（スペイン語版）、2026年9月23日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https://reliefweb.int/report/colombia/colombia-flash-update-014-actualizacion-afectaciones-por-terremoto-en-colombia-23-de-septiembre-de-2026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ReliefWeb「コロンビア地震対応状況報告第11号」（IOM、2026年9月21/25日）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https://reliefweb.int/report/colombia/colombia-earthquake-response-situation-report-11-21-september-2026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ReliefWeb「コロンビア 人道緊急事態モニタリング：大量避難・行動制限」（UNHCR、2026年1-3月）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https://reliefweb.int/report/colombia/colombia-monitoreo-de-emergencias-humanitarias-desplazamiento-masivo-y-confinamiento-enero-marzo-2026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ReliefWeb「コロンビア 人道緊急事態モニタリング：大量避難・行動制限」（UNHCR、2025年）</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https://reliefweb.int/report/colombia/colombia-monitoreo-de-emergencias-humanitarias-desplazamiento-masivo-y-confinamiento-2025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58 / 59</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有用リンク・出典（15/15）</a:t>
            </a:r>
            <a:endParaRPr lang="en-US" sz="2100" dirty="0"/>
          </a:p>
        </p:txBody>
      </p:sp>
      <p:pic>
        <p:nvPicPr>
          <p:cNvPr id="3" name="Image 0" descr="/tmp/build_event-bT0zLO/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ReliefWeb「ACAPS テーマ別報告：予想される人道影響」（2026年9月25日）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https://reliefweb.int/report/colombia/acaps-thematic-report-colombia-earthquakes-expected-humanitarian-impacts-25-september-2026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ReliefWeb「ACAPS テーマ別報告」スペイン語版（2026年9月25日）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https://reliefweb.int/report/colombia/colombia-impactos-humanitarios-previstos-del-terremoto-acaps-reporte-tematico-25-de-septiembre-2026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IOM コロンビア地震対応状況報告第12号（9月29日）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https://reliefweb.int/report/colombia/colombia-earthquake-response-situation-report-12-29-september-2026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IOM 状況報告第12号（スペイン語版）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https://reliefweb.int/report/colombia/respuesta-al-terremoto-en-colombia-reporte-de-situacion-12-29-septiembre-2026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OCHAフラッシュアップデート015（9月30日）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https://reliefweb.int/report/colombia/colombia-flash-update-015-update-impact-earthquake-colombia-september-30-2026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OCHAフラッシュアップデート015（スペイン語版）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https://reliefweb.int/report/colombia/colombia-flash-update-015-actualizacion-afectaciones-por-terremoto-en-colombia-30-de-septiembre-de-2026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DRC 迅速保護アセスメント（ブエナベントゥラ）</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https://reliefweb.int/report/colombia/rapid-protection-assessment-earthquake-response-buenaventura-valle-del-cauca-september-2026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04/10/2026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59 / 59</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5614416" y="1865376"/>
            <a:ext cx="969264" cy="932688"/>
          </a:xfrm>
          <a:prstGeom prst="roundRect">
            <a:avLst>
              <a:gd name="adj" fmla="val 4902"/>
            </a:avLst>
          </a:prstGeom>
          <a:solidFill>
            <a:srgbClr val="FFFFFF"/>
          </a:solidFill>
          <a:ln w="12700">
            <a:solidFill>
              <a:srgbClr val="FFFFFF"/>
            </a:solidFill>
            <a:prstDash val="solid"/>
          </a:ln>
        </p:spPr>
      </p:sp>
      <p:pic>
        <p:nvPicPr>
          <p:cNvPr id="3" name="Image 0" descr="/tmp/build_event-bT0zLO/generator/images/adrc_logo.png">    </p:cNvPr>
          <p:cNvPicPr>
            <a:picLocks noChangeAspect="1"/>
          </p:cNvPicPr>
          <p:nvPr/>
        </p:nvPicPr>
        <p:blipFill>
          <a:blip r:embed="rId1"/>
          <a:stretch>
            <a:fillRect/>
          </a:stretch>
        </p:blipFill>
        <p:spPr>
          <a:xfrm>
            <a:off x="5687568" y="1920240"/>
            <a:ext cx="822960" cy="822960"/>
          </a:xfrm>
          <a:prstGeom prst="rect">
            <a:avLst/>
          </a:prstGeom>
        </p:spPr>
      </p:pic>
      <p:sp>
        <p:nvSpPr>
          <p:cNvPr id="4" name="Text 1"/>
          <p:cNvSpPr/>
          <p:nvPr/>
        </p:nvSpPr>
        <p:spPr>
          <a:xfrm>
            <a:off x="731520" y="2971800"/>
            <a:ext cx="106984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アジア防災センター（ADRC）</a:t>
            </a:r>
            <a:endParaRPr lang="en-US" sz="2000" dirty="0"/>
          </a:p>
        </p:txBody>
      </p:sp>
      <p:sp>
        <p:nvSpPr>
          <p:cNvPr id="5" name="Text 2"/>
          <p:cNvSpPr/>
          <p:nvPr/>
        </p:nvSpPr>
        <p:spPr>
          <a:xfrm>
            <a:off x="1463040" y="3611880"/>
            <a:ext cx="9235440" cy="1463040"/>
          </a:xfrm>
          <a:prstGeom prst="rect">
            <a:avLst/>
          </a:prstGeom>
          <a:noFill/>
          <a:ln/>
        </p:spPr>
        <p:txBody>
          <a:bodyPr wrap="square" lIns="0" tIns="0" rIns="0" bIns="0" rtlCol="0" anchor="t">
            <a:normAutofit/>
          </a:bodyPr>
          <a:lstStyle/>
          <a:p>
            <a:pPr algn="ctr" indent="0" marL="0">
              <a:buNone/>
            </a:pPr>
            <a:r>
              <a:rPr lang="en-US" sz="1200" dirty="0">
                <a:solidFill>
                  <a:srgbClr val="D8E0EC"/>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200" dirty="0"/>
          </a:p>
        </p:txBody>
      </p:sp>
      <p:sp>
        <p:nvSpPr>
          <p:cNvPr id="6" name="Text 3"/>
          <p:cNvSpPr/>
          <p:nvPr/>
        </p:nvSpPr>
        <p:spPr>
          <a:xfrm>
            <a:off x="731520" y="5989320"/>
            <a:ext cx="10698480" cy="274320"/>
          </a:xfrm>
          <a:prstGeom prst="rect">
            <a:avLst/>
          </a:prstGeom>
          <a:noFill/>
          <a:ln/>
        </p:spPr>
        <p:txBody>
          <a:bodyPr wrap="square" lIns="0" tIns="0" rIns="0" bIns="0" rtlCol="0" anchor="ctr"/>
          <a:lstStyle/>
          <a:p>
            <a:pPr algn="ctr" indent="0" marL="0">
              <a:buNone/>
            </a:pPr>
            <a:r>
              <a:rPr lang="en-US" sz="1000" dirty="0">
                <a:solidFill>
                  <a:srgbClr val="9FB0C8"/>
                </a:solidFill>
                <a:latin typeface="Meiryo" pitchFamily="34" charset="0"/>
                <a:ea typeface="Meiryo" pitchFamily="34" charset="-122"/>
                <a:cs typeface="Meiryo" pitchFamily="34" charset="-120"/>
              </a:rPr>
              <a:t>2026-10-04 JST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2026-10-09T22:37:37Z</dcterms:created>
  <dcterms:modified xsi:type="dcterms:W3CDTF">2026-10-09T22:37:37Z</dcterms:modified>
</cp:coreProperties>
</file>