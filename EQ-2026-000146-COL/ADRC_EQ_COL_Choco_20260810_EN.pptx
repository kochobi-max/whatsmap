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reliefweb.int/report/colombia/colombia-population-movement-imminent-dref-final-report-mdrco034" TargetMode="External"/><Relationship Id="rId4" Type="http://schemas.openxmlformats.org/officeDocument/2006/relationships/hyperlink" Target="https://www.google.com/maps/@5.69,-76.66,9z" TargetMode="External"/><Relationship Id="rId1" Type="http://schemas.openxmlformats.org/officeDocument/2006/relationships/image" Target="../media/image-15-1.png"/><Relationship Id="rId2" Type="http://schemas.openxmlformats.org/officeDocument/2006/relationships/image" Target="../media/image-15-2.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9-1.png"/><Relationship Id="rId2" Type="http://schemas.openxmlformats.org/officeDocument/2006/relationships/image" Target="../media/image-19-2.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8-1.png"/><Relationship Id="rId14" Type="http://schemas.openxmlformats.org/officeDocument/2006/relationships/slideLayout" Target="../slideLayouts/slideLayout1.xml"/><Relationship Id="rId1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 Type="http://schemas.openxmlformats.org/officeDocument/2006/relationships/image" Target="../media/image-49-1.png"/><Relationship Id="rId13" Type="http://schemas.openxmlformats.org/officeDocument/2006/relationships/slideLayout" Target="../slideLayouts/slideLayout1.xml"/><Relationship Id="rId1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hyperlink" Target="https://www3.nhk.or.jp/news/" TargetMode="External"/><Relationship Id="rId4" Type="http://schemas.openxmlformats.org/officeDocument/2006/relationships/hyperlink" Target="https://www.nikkei.com/article/DGXZQOGN108V30Q6A810C2000000/" TargetMode="External"/><Relationship Id="rId5" Type="http://schemas.openxmlformats.org/officeDocument/2006/relationships/hyperlink" Target="https://www.jiji.com/jc/article?k=2026081000878&amp;g=int" TargetMode="External"/><Relationship Id="rId6" Type="http://schemas.openxmlformats.org/officeDocument/2006/relationships/hyperlink" Target="https://www.savethechildren.org/us/about-us/media-and-news/2026-press-releases/children-at-risk-after-earthquake-strikes-colombia" TargetMode="External"/><Relationship Id="rId7" Type="http://schemas.openxmlformats.org/officeDocument/2006/relationships/hyperlink" Target="https://www.directrelief.org/2026/08/colombia-earthquake-7-4-magnitude-direct-relief-response/" TargetMode="External"/><Relationship Id="rId8" Type="http://schemas.openxmlformats.org/officeDocument/2006/relationships/hyperlink" Target="https://www.americares.org/crisis-alerts/colombia-earthquake-august-2026/" TargetMode="External"/><Relationship Id="rId9" Type="http://schemas.openxmlformats.org/officeDocument/2006/relationships/hyperlink" Target="https://glidenumber.net/" TargetMode="External"/><Relationship Id="rId10" Type="http://schemas.openxmlformats.org/officeDocument/2006/relationships/hyperlink" Target="https://www.adrc.asia/" TargetMode="External"/><Relationship Id="rId11" Type="http://schemas.openxmlformats.org/officeDocument/2006/relationships/hyperlink" Target="https://www.democrata.es/en/international/von-der-leyen-expresses-the-eu-s-support-for-colombia-and-activates-copernicus-after-the-earthquake/" TargetMode="External"/><Relationship Id="rId12" Type="http://schemas.openxmlformats.org/officeDocument/2006/relationships/hyperlink" Target="https://www.globalquakemodel.org/proj/treq" TargetMode="External"/><Relationship Id="rId1" Type="http://schemas.openxmlformats.org/officeDocument/2006/relationships/image" Target="../media/image-50-1.png"/><Relationship Id="rId13" Type="http://schemas.openxmlformats.org/officeDocument/2006/relationships/slideLayout" Target="../slideLayouts/slideLayout1.xml"/><Relationship Id="rId1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cloud-storage.globalquakemodel.org/public/wix-new-website/pdf-collections-wix/publications/TREQ%20deliverables/reports/TREQ_D262_Riesgo_Sismico_Cali_v1.00.pdf" TargetMode="External"/><Relationship Id="rId3" Type="http://schemas.openxmlformats.org/officeDocument/2006/relationships/hyperlink" Target="https://www.sciencedirect.com/science/article/abs/pii/S2212420925003097" TargetMode="External"/><Relationship Id="rId4" Type="http://schemas.openxmlformats.org/officeDocument/2006/relationships/hyperlink" Target="https://satic.cali.gov.co/satic"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Paginas/Plan-Nacional-de-Gestion-del-Riesgo.aspx" TargetMode="External"/><Relationship Id="rId7" Type="http://schemas.openxmlformats.org/officeDocument/2006/relationships/hyperlink" Target="https://www.funcionpublica.gov.co/eva/gestornormativo/norma.php?i=191411" TargetMode="External"/><Relationship Id="rId8" Type="http://schemas.openxmlformats.org/officeDocument/2006/relationships/hyperlink" Target="https://www.emsc-csem.org/" TargetMode="External"/><Relationship Id="rId9" Type="http://schemas.openxmlformats.org/officeDocument/2006/relationships/hyperlink" Target="https://catalogosismico.sgc.gov.co/visor/index.html" TargetMode="External"/><Relationship Id="rId10"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1" Type="http://schemas.openxmlformats.org/officeDocument/2006/relationships/hyperlink" Target="https://www.elespectador.com/colombia/mas-regiones/temblor-en-colombia-hoy-10-de-agosto-en-vivo-epicentro-y-reporte-de-afectaciones/" TargetMode="External"/><Relationship Id="rId12" Type="http://schemas.openxmlformats.org/officeDocument/2006/relationships/hyperlink" Target="https://www.noticiascaracol.com/colombia/en-vivo-colombia-hoy-tras-terremoto-de-magnitud-7-4-continuan-las-labores-de-rescate-so35" TargetMode="External"/><Relationship Id="rId1" Type="http://schemas.openxmlformats.org/officeDocument/2006/relationships/image" Target="../media/image-51-1.png"/><Relationship Id="rId13" Type="http://schemas.openxmlformats.org/officeDocument/2006/relationships/slideLayout" Target="../slideLayouts/slideLayout1.xml"/><Relationship Id="rId1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rpp.pe/mundo/colombia/abelardo-de-la-espriella-cifra-en-181-los-muertos-por-el-terremoto-59-menos-que-datos-regionales-noticia-1701022" TargetMode="External"/><Relationship Id="rId3" Type="http://schemas.openxmlformats.org/officeDocument/2006/relationships/hyperlink" Target="https://www.eltiempo.com/colombia/otras-ciudades/cuantas-replicas-se-han-registrado-tras-el-terremoto-de-7-4-en-colombia-estas-son-todas-las-magnitudes-3577711"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mofa.go.jp/mofaj/la_c/sa/co/pageit_000001_00001.html" TargetMode="External"/><Relationship Id="rId6" Type="http://schemas.openxmlformats.org/officeDocument/2006/relationships/hyperlink" Target="https://x.com/MofaJapan_jp/status/2087155064855261537" TargetMode="External"/><Relationship Id="rId7" Type="http://schemas.openxmlformats.org/officeDocument/2006/relationships/hyperlink" Target="https://www.eltiempo.com/mundo/mas-regiones/la-comunidad-internacional-se-vuelca-en-ayudas-para-colombia-lista-de-paises-que-han-ofrecido-apoyo-tras-el-terremoto-de-magnitud-7-3577512" TargetMode="External"/><Relationship Id="rId8" Type="http://schemas.openxmlformats.org/officeDocument/2006/relationships/hyperlink" Target="https://colombia.un.org/es/320793-informaci%C3%B3n-y-actualizaciones-sobre-el-terremoto-en-colombia" TargetMode="External"/><Relationship Id="rId9" Type="http://schemas.openxmlformats.org/officeDocument/2006/relationships/hyperlink" Target="https://news.un.org/es/story/2026/08/1541792" TargetMode="External"/><Relationship Id="rId10" Type="http://schemas.openxmlformats.org/officeDocument/2006/relationships/hyperlink" Target="https://www.colombiatebusca.com/" TargetMode="External"/><Relationship Id="rId11" Type="http://schemas.openxmlformats.org/officeDocument/2006/relationships/hyperlink" Target="https://www.asocapitales.co/terremoto-colombia.html" TargetMode="External"/><Relationship Id="rId12"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52-1.png"/><Relationship Id="rId13" Type="http://schemas.openxmlformats.org/officeDocument/2006/relationships/slideLayout" Target="../slideLayouts/slideLayout1.xml"/><Relationship Id="rId1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 Type="http://schemas.openxmlformats.org/officeDocument/2006/relationships/image" Target="../media/image-53-1.png"/><Relationship Id="rId12" Type="http://schemas.openxmlformats.org/officeDocument/2006/relationships/slideLayout" Target="../slideLayouts/slideLayout1.xml"/><Relationship Id="rId1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www.infobae.com/colombia/2026/08/14/temblor-de-74-en-colombia-el-10-de-agosto-se-actualizo-el-numero-de-fallecidos-en-todo-el-pais/" TargetMode="External"/><Relationship Id="rId3" Type="http://schemas.openxmlformats.org/officeDocument/2006/relationships/hyperlink" Target="https://www.infobae.com/colombia/2026/08/14/aumenta-la-ayuda-internacional-a-colombia-tras-el-terremoto-de-74-india-envia-20-toneladas-y-noruega-suecia-y-espana-anuncian-nuevos-recursos/" TargetMode="External"/><Relationship Id="rId4" Type="http://schemas.openxmlformats.org/officeDocument/2006/relationships/hyperlink" Target="https://www.elheraldo.co/colombia/2026/08/14/italia-india-espana-chile-y-banco-mundial-entre-los-paises-y-organismos-que-han-enviado-ayudas-a-colombia-por-el-terremoto/" TargetMode="External"/><Relationship Id="rId5" Type="http://schemas.openxmlformats.org/officeDocument/2006/relationships/hyperlink" Target="https://www.jrc.or.jp/international/news/2026/0812_054987.html" TargetMode="External"/><Relationship Id="rId6"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7"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8" Type="http://schemas.openxmlformats.org/officeDocument/2006/relationships/hyperlink" Target="https://cnnespanol.cnn.com/2026/08/12/colombia/live-news/terremoto-en-vivo-muertos-videos-rescates-orix" TargetMode="External"/><Relationship Id="rId9"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0" Type="http://schemas.openxmlformats.org/officeDocument/2006/relationships/hyperlink" Target="https://www.semana.com/nacion/articulo/ascienden-a-294-los-fallecidos-del-terremoto-del-10-de-agosto-y-van-81506-viviendas-averiadas-segun-cifras-oficiales/202627/" TargetMode="External"/><Relationship Id="rId11" Type="http://schemas.openxmlformats.org/officeDocument/2006/relationships/hyperlink" Target="https://www.elheraldo.co/colombia/2026/08/12/presidente-de-la-espriella-decreta-tres-dias-de-duelo-nacional-por-victimas-del-terremoto/" TargetMode="External"/><Relationship Id="rId1" Type="http://schemas.openxmlformats.org/officeDocument/2006/relationships/image" Target="../media/image-54-1.png"/><Relationship Id="rId12" Type="http://schemas.openxmlformats.org/officeDocument/2006/relationships/slideLayout" Target="../slideLayouts/slideLayout1.xml"/><Relationship Id="rId1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3" Type="http://schemas.openxmlformats.org/officeDocument/2006/relationships/hyperlink" Target="https://www.eltiempo.com/colombia/otras-ciudades/balance-oficial-de-la-ungrd-este-16-de-agosto-tras-terremoto-de-7-4-en-colombia-289-fallecidos-4-187-heridos-y-143-desaparecidos-3578742" TargetMode="External"/><Relationship Id="rId4" Type="http://schemas.openxmlformats.org/officeDocument/2006/relationships/hyperlink" Target="https://www.rtvcnoticias.com/actualidad/terremoto-deja-289-fallecidos-143-desaparecidos-y-mas-de-185000-afectados-en-colombia" TargetMode="External"/><Relationship Id="rId5" Type="http://schemas.openxmlformats.org/officeDocument/2006/relationships/hyperlink" Target="https://www.radiosantafe.com/2026/08/16/ungrd-reduce-a-289-cifra-de-fallecidos-y-a-143-la-de-personas-desaparecidas-por-el-terremoto/" TargetMode="External"/><Relationship Id="rId6" Type="http://schemas.openxmlformats.org/officeDocument/2006/relationships/hyperlink" Target="https://www.semana.com/nacion/articulo/terremoto-en-colombia-reportan-287-muertos-y-4147-heridos-en-nuevo-balance-de-la-ungrd/202615/" TargetMode="External"/><Relationship Id="rId7" Type="http://schemas.openxmlformats.org/officeDocument/2006/relationships/hyperlink" Target="https://www.latercera.com/mundo/noticia/colombia-rebaja-a-casi-287-los-muertos-y-eleva-a-cerca-de-4150-los-heridos-por-el-terremoto/" TargetMode="External"/><Relationship Id="rId8" Type="http://schemas.openxmlformats.org/officeDocument/2006/relationships/hyperlink" Target="https://reliefweb.int/report/colombia/colombia-flash-update-010-update-impact-earthquake-colombia-august-27-2026" TargetMode="External"/><Relationship Id="rId9" Type="http://schemas.openxmlformats.org/officeDocument/2006/relationships/hyperlink" Target="https://reliefweb.int/report/colombia/colombia-flash-update-010-actualizacion-afectaciones-por-terremoto-en-colombia-27-de-agosto-de-2026" TargetMode="External"/><Relationship Id="rId10" Type="http://schemas.openxmlformats.org/officeDocument/2006/relationships/hyperlink" Target="https://reliefweb.int/report/colombia/colombia-flash-update-009-update-impact-earthquake-colombia-august-24-2026" TargetMode="External"/><Relationship Id="rId11" Type="http://schemas.openxmlformats.org/officeDocument/2006/relationships/hyperlink" Target="https://reliefweb.int/report/colombia/colombia-flash-update-009-actualizacion-afectaciones-por-terremoto-en-colombia-24-de-agosto-de-2026" TargetMode="External"/><Relationship Id="rId1" Type="http://schemas.openxmlformats.org/officeDocument/2006/relationships/image" Target="../media/image-55-1.png"/><Relationship Id="rId12" Type="http://schemas.openxmlformats.org/officeDocument/2006/relationships/slideLayout" Target="../slideLayouts/slideLayout1.xml"/><Relationship Id="rId1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reliefweb.int/report/colombia/iom-colombia-earthquake-response-situation-report-6-28-august-2026" TargetMode="External"/><Relationship Id="rId3" Type="http://schemas.openxmlformats.org/officeDocument/2006/relationships/hyperlink" Target="https://reliefweb.int/report/colombia/oim-respuesta-al-terremoto-en-colombia-reporte-de-situacion-6-28-agosto-2026" TargetMode="External"/><Relationship Id="rId4" Type="http://schemas.openxmlformats.org/officeDocument/2006/relationships/hyperlink" Target="https://x.com/UNGRD/status/2094414373506736128" TargetMode="External"/><Relationship Id="rId5" Type="http://schemas.openxmlformats.org/officeDocument/2006/relationships/hyperlink" Target="https://x.com/UNGRD/status/2094764781831872512" TargetMode="External"/><Relationship Id="rId6" Type="http://schemas.openxmlformats.org/officeDocument/2006/relationships/hyperlink" Target="https://reliefweb.int/report/colombia/colombia-earthquake-ltc-telecoms-situation-report-02-reporting-period-25-31-august-2026" TargetMode="External"/><Relationship Id="rId7" Type="http://schemas.openxmlformats.org/officeDocument/2006/relationships/hyperlink" Target="https://reliefweb.int/report/colombia/amda-emergency-relief-1-earthquake-colombia-1-september-2026" TargetMode="External"/><Relationship Id="rId8" Type="http://schemas.openxmlformats.org/officeDocument/2006/relationships/hyperlink" Target="https://reliefweb.int/report/colombia/colombia-icrc-assesses-needs-communities-affected-armed-conflict-following-earthquake" TargetMode="External"/><Relationship Id="rId9" Type="http://schemas.openxmlformats.org/officeDocument/2006/relationships/hyperlink" Target="https://reliefweb.int/map/colombia/colombia-74-m-earthquake-10-august-and-eu-response-dg-echo-daily-map-26082026" TargetMode="External"/><Relationship Id="rId10" Type="http://schemas.openxmlformats.org/officeDocument/2006/relationships/hyperlink" Target="https://reliefweb.int/map/colombia/pereira-colombia-alojamientos-temporales-terremoto-10-de-agosto-2026-19082026" TargetMode="External"/><Relationship Id="rId11"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56-1.png"/><Relationship Id="rId12" Type="http://schemas.openxmlformats.org/officeDocument/2006/relationships/slideLayout" Target="../slideLayouts/slideLayout1.xml"/><Relationship Id="rId1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2" Type="http://schemas.openxmlformats.org/officeDocument/2006/relationships/hyperlink" Target="https://reliefweb.int/report/colombia/amda-emergency-relief-2-earthquake-colombia-3-september-2026" TargetMode="External"/><Relationship Id="rId1" Type="http://schemas.openxmlformats.org/officeDocument/2006/relationships/image" Target="../media/image-57-1.png"/><Relationship Id="rId13" Type="http://schemas.openxmlformats.org/officeDocument/2006/relationships/slideLayout" Target="../slideLayouts/slideLayout1.xml"/><Relationship Id="rId1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reliefweb.int/map/colombia/manizales-colombia-barrios-afectados-terremoto-10-de-agosto-2026-03092026" TargetMode="External"/><Relationship Id="rId3" Type="http://schemas.openxmlformats.org/officeDocument/2006/relationships/hyperlink" Target="https://reliefweb.int/report/colombia/amda-emergency-relief-3-earthquake-colombia-7-september-2026" TargetMode="External"/><Relationship Id="rId4" Type="http://schemas.openxmlformats.org/officeDocument/2006/relationships/hyperlink" Target="https://reliefweb.int/report/colombia/resumen-actualizado-de-la-intervencion-psicosocial-de-abbacol-fecha-de-resumen-y-actualizacion-04-septiembre-2026" TargetMode="External"/><Relationship Id="rId5" Type="http://schemas.openxmlformats.org/officeDocument/2006/relationships/hyperlink" Target="https://reliefweb.int/report/colombia/colombia-food-security-outlook-update-august-2026-january-2027-earthquake-impacts-reduce-food-access-affected-areas-el-nino-strengthens" TargetMode="External"/><Relationship Id="rId6" Type="http://schemas.openxmlformats.org/officeDocument/2006/relationships/hyperlink" Target="https://reliefweb.int/map/colombia/quibdo-colombia-barrios-afectados-terremoto-10-de-agosto-2026-03092026" TargetMode="External"/><Relationship Id="rId7" Type="http://schemas.openxmlformats.org/officeDocument/2006/relationships/hyperlink" Target="https://reliefweb.int/report/colombia/iom-colombia-earthquake-situation-report-8-03-september-2026" TargetMode="External"/><Relationship Id="rId8" Type="http://schemas.openxmlformats.org/officeDocument/2006/relationships/hyperlink" Target="https://reliefweb.int/report/colombia/oim-respuesta-al-terremoto-en-colombia-reporte-de-situacion-8-3-septiembre-2026" TargetMode="External"/><Relationship Id="rId9" Type="http://schemas.openxmlformats.org/officeDocument/2006/relationships/hyperlink" Target="https://reliefweb.int/report/colombia/wfp-colombia-earthquake-response-7-september-2026" TargetMode="External"/><Relationship Id="rId10" Type="http://schemas.openxmlformats.org/officeDocument/2006/relationships/hyperlink" Target="https://reliefweb.int/report/colombia/amda-emergency-relief-4-earthquake-colombia-8-september-2026" TargetMode="External"/><Relationship Id="rId11" Type="http://schemas.openxmlformats.org/officeDocument/2006/relationships/hyperlink" Target="https://reliefweb.int/report/colombia/colombia-reporte-plan-de-respuesta-necesidades-humanitarias-hnrp-2026-en-el-sistema-5w-entre-enero-y-julio-de-2026" TargetMode="External"/><Relationship Id="rId1" Type="http://schemas.openxmlformats.org/officeDocument/2006/relationships/image" Target="../media/image-58-1.png"/><Relationship Id="rId12" Type="http://schemas.openxmlformats.org/officeDocument/2006/relationships/slideLayout" Target="../slideLayouts/slideLayout1.xml"/><Relationship Id="rId1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reliefweb.int/report/colombia/analisis-de-situacion-y-respuesta-al-terremoto-4-de-septiembre-2026" TargetMode="External"/><Relationship Id="rId3" Type="http://schemas.openxmlformats.org/officeDocument/2006/relationships/hyperlink" Target="https://reliefweb.int/report/colombia/analisis-de-situacion-y-respuesta-al-terremoto-16-agosto-2026" TargetMode="External"/><Relationship Id="rId4" Type="http://schemas.openxmlformats.org/officeDocument/2006/relationships/hyperlink" Target="https://reliefweb.int/map/colombia/cali-colombia-barrios-afectados-terremoto-10-de-agosto-2026-08092026" TargetMode="External"/><Relationship Id="rId5" Type="http://schemas.openxmlformats.org/officeDocument/2006/relationships/hyperlink" Target="https://reliefweb.int/report/colombia/colombia-flash-update-012-update-impact-earthquake-colombia-september-10-2026" TargetMode="External"/><Relationship Id="rId6" Type="http://schemas.openxmlformats.org/officeDocument/2006/relationships/hyperlink" Target="https://reliefweb.int/report/colombia/seisme-en-colombie-caritas-passe-de-laide-durgence-au-relevement" TargetMode="External"/><Relationship Id="rId7" Type="http://schemas.openxmlformats.org/officeDocument/2006/relationships/hyperlink" Target="https://reliefweb.int/report/colombia/terremoto-en-colombia-caritas-pasa-de-la-respuesta-de-emergencia-la-recuperacion" TargetMode="External"/><Relationship Id="rId8" Type="http://schemas.openxmlformats.org/officeDocument/2006/relationships/hyperlink" Target="https://reliefweb.int/map/colombia/buenaventura-colombia-barrios-afectados-terremoto-10-de-agosto-2026-11092026" TargetMode="External"/><Relationship Id="rId9" Type="http://schemas.openxmlformats.org/officeDocument/2006/relationships/hyperlink" Target="https://reliefweb.int/report/colombia/colombia-situacion-agua-saneamiento-e-higiene-wash-un-mes-del-sismo-de-agosto-de-2026-respuesta-brechas-y-prioridades" TargetMode="External"/><Relationship Id="rId10" Type="http://schemas.openxmlformats.org/officeDocument/2006/relationships/hyperlink" Target="https://reliefweb.int/report/colombia/drc-colombia-monitoreo-de-proteccion-enero-marzo-2026" TargetMode="External"/><Relationship Id="rId11" Type="http://schemas.openxmlformats.org/officeDocument/2006/relationships/hyperlink" Target="https://x.com/UNGRD/status/2098758429951078754" TargetMode="External"/><Relationship Id="rId1" Type="http://schemas.openxmlformats.org/officeDocument/2006/relationships/image" Target="../media/image-59-1.png"/><Relationship Id="rId12" Type="http://schemas.openxmlformats.org/officeDocument/2006/relationships/slideLayout" Target="../slideLayouts/slideLayout1.xml"/><Relationship Id="rId1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portal.gestiondelriesgo.gov.co/Paginas/Noticias/2026/356-personas-rescatadas-la-respuesta-de-la-UNGRD-continua-un-mes-despues-del-terremoto.aspx" TargetMode="External"/><Relationship Id="rId3" Type="http://schemas.openxmlformats.org/officeDocument/2006/relationships/hyperlink" Target="https://portal.gestiondelriesgo.gov.co/Paginas/Noticias/2026/Inicia-el-pago-de-mas-de-3324-millones-en-apoyo-economico-para-las-familias-damnificadas-por-el-terremoto-en-Choco.aspx" TargetMode="External"/><Relationship Id="rId4" Type="http://schemas.openxmlformats.org/officeDocument/2006/relationships/hyperlink" Target="https://reliefweb.int/report/colombia/colombia-ifrc-calls-sustained-support-earthquake-affected-communities-one-month" TargetMode="External"/><Relationship Id="rId5" Type="http://schemas.openxmlformats.org/officeDocument/2006/relationships/hyperlink" Target="https://reliefweb.int/report/colombia/iom-colombia-earthquake-situation-report-9-10-september-2026" TargetMode="External"/><Relationship Id="rId6" Type="http://schemas.openxmlformats.org/officeDocument/2006/relationships/hyperlink" Target="https://reliefweb.int/report/colombia/colombia-emergency-response-situation-report-2-18-august-10-september-2026" TargetMode="External"/><Relationship Id="rId7" Type="http://schemas.openxmlformats.org/officeDocument/2006/relationships/hyperlink" Target="https://reliefweb.int/report/colombia/colombia-flash-update-013-actualizacion-afectaciones-por-terremoto-en-colombia-17-de-septiembre-de-2026" TargetMode="External"/><Relationship Id="rId8" Type="http://schemas.openxmlformats.org/officeDocument/2006/relationships/hyperlink" Target="https://reliefweb.int/report/colombia/colombia-flash-update-013-update-impact-earthquake-colombia-september-18-2026" TargetMode="External"/><Relationship Id="rId9" Type="http://schemas.openxmlformats.org/officeDocument/2006/relationships/hyperlink" Target="https://portal.gestiondelriesgo.gov.co/Paginas/Noticias/2026/UNGRD-y-Naciones-Unidas-analizan-en-Cali-los-retos-de-la-recuperacion-tras-el-terremoto.aspx" TargetMode="External"/><Relationship Id="rId10" Type="http://schemas.openxmlformats.org/officeDocument/2006/relationships/hyperlink" Target="https://reliefweb.int/report/colombia/analisis-de-situacion-y-respuesta-al-terremoto-10-de-septiembre-2026" TargetMode="External"/><Relationship Id="rId11" Type="http://schemas.openxmlformats.org/officeDocument/2006/relationships/hyperlink" Target="https://reliefweb.int/report/colombia/colombia-earthquake-response-situation-report-10-14-september-2026" TargetMode="External"/><Relationship Id="rId12" Type="http://schemas.openxmlformats.org/officeDocument/2006/relationships/hyperlink" Target="https://reliefweb.int/report/colombia/colombia-evaluacion-rapida-conjunta-de-mercados-jram-panorama-de-la-situacion-agosto-2026" TargetMode="External"/><Relationship Id="rId1" Type="http://schemas.openxmlformats.org/officeDocument/2006/relationships/image" Target="../media/image-60-1.png"/><Relationship Id="rId13" Type="http://schemas.openxmlformats.org/officeDocument/2006/relationships/slideLayout" Target="../slideLayouts/slideLayout1.xml"/><Relationship Id="rId1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hyperlink" Target="https://reliefweb.int/report/colombia/colombia-grupo-de-trabajo-de-logistica-gtl-un-mes-de-operacion-de-emergencia-10-de-septiembre-de-2026" TargetMode="External"/><Relationship Id="rId3" Type="http://schemas.openxmlformats.org/officeDocument/2006/relationships/hyperlink" Target="https://reliefweb.int/report/colombia/respuesta-al-terremoto-en-colombia-reporte-de-situacion-10-14-septiembre-2026" TargetMode="External"/><Relationship Id="rId4" Type="http://schemas.openxmlformats.org/officeDocument/2006/relationships/hyperlink" Target="https://reliefweb.int/report/colombia/terremoto-en-colombia-el-cicr-apoya-la-recuperacion-de-infraestructura-comunitaria-esencial-en-zonas-afectadas-por-los-conflictos-armados" TargetMode="External"/><Relationship Id="rId5" Type="http://schemas.openxmlformats.org/officeDocument/2006/relationships/hyperlink" Target="https://reliefweb.int/report/colombia/un-mes-despues-del-terremoto-en-colombia-avanzar-con-la-reconstruccion-en-medio-de-una-compleja-situacion-humanitaria" TargetMode="External"/><Relationship Id="rId6" Type="http://schemas.openxmlformats.org/officeDocument/2006/relationships/hyperlink" Target="https://reliefweb.int/report/colombia/unhcr-colombia-2026-funding-update-31-august-2026" TargetMode="External"/><Relationship Id="rId7" Type="http://schemas.openxmlformats.org/officeDocument/2006/relationships/hyperlink" Target="https://reliefweb.int/report/colombia/earthquake-colombia-icrc-supports-rehabilitation-essential-community-infrastructure" TargetMode="External"/><Relationship Id="rId8" Type="http://schemas.openxmlformats.org/officeDocument/2006/relationships/hyperlink" Target="https://reliefweb.int/report/colombia/oim-colombia-severidad-y-vulnerabilidad-territorial-tras-el-terremoto-27-agosto-2026" TargetMode="External"/><Relationship Id="rId9" Type="http://schemas.openxmlformats.org/officeDocument/2006/relationships/hyperlink" Target="https://reliefweb.int/report/colombia/oim-respuesta-al-terremoto-en-colombia-reporte-de-situacion-9-10-septiembre-2026" TargetMode="External"/><Relationship Id="rId10" Type="http://schemas.openxmlformats.org/officeDocument/2006/relationships/hyperlink" Target="https://reliefweb.int/report/colombia/one-month-after-colombia-earthquake-pahowho-continues-support-response-and-stabilization" TargetMode="External"/><Relationship Id="rId11" Type="http://schemas.openxmlformats.org/officeDocument/2006/relationships/hyperlink" Target="https://reliefweb.int/report/colombia/colombia-population-movement-imminent-dref-final-report-mdrco034" TargetMode="External"/><Relationship Id="rId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reliefweb.int/report/colombia/colombia-earthquake-operation-update-1-mdrco036" TargetMode="External"/><Relationship Id="rId3" Type="http://schemas.openxmlformats.org/officeDocument/2006/relationships/hyperlink" Target="https://reliefweb.int/report/colombia/colombia-flash-update-014-update-impact-earthquake-colombia-september-23-2026" TargetMode="External"/><Relationship Id="rId4" Type="http://schemas.openxmlformats.org/officeDocument/2006/relationships/hyperlink" Target="https://reliefweb.int/report/colombia/colombia-flash-update-014-actualizacion-afectaciones-por-terremoto-en-colombia-23-de-septiembre-de-2026" TargetMode="External"/><Relationship Id="rId5" Type="http://schemas.openxmlformats.org/officeDocument/2006/relationships/hyperlink" Target="https://reliefweb.int/report/colombia/colombia-earthquake-response-situation-report-11-21-september-2026" TargetMode="External"/><Relationship Id="rId6" Type="http://schemas.openxmlformats.org/officeDocument/2006/relationships/hyperlink" Target="https://reliefweb.int/report/colombia/colombia-monitoreo-de-emergencias-humanitarias-desplazamiento-masivo-y-confinamiento-enero-marzo-2026" TargetMode="External"/><Relationship Id="rId7" Type="http://schemas.openxmlformats.org/officeDocument/2006/relationships/hyperlink" Target="https://reliefweb.int/report/colombia/colombia-monitoreo-de-emergencias-humanitarias-desplazamiento-masivo-y-confinamiento-2025" TargetMode="External"/><Relationship Id="rId8" Type="http://schemas.openxmlformats.org/officeDocument/2006/relationships/hyperlink" Target="https://reliefweb.int/report/colombia/acaps-thematic-report-colombia-earthquakes-expected-humanitarian-impacts-25-september-2026" TargetMode="External"/><Relationship Id="rId9" Type="http://schemas.openxmlformats.org/officeDocument/2006/relationships/hyperlink" Target="https://reliefweb.int/report/colombia/colombia-impactos-humanitarios-previstos-del-terremoto-acaps-reporte-tematico-25-de-septiembre-2026" TargetMode="External"/><Relationship Id="rId10" Type="http://schemas.openxmlformats.org/officeDocument/2006/relationships/hyperlink" Target="https://reliefweb.int/report/colombia/colombia-earthquake-response-situation-report-12-29-september-2026" TargetMode="External"/><Relationship Id="rId1" Type="http://schemas.openxmlformats.org/officeDocument/2006/relationships/image" Target="../media/image-62-1.png"/><Relationship Id="rId11" Type="http://schemas.openxmlformats.org/officeDocument/2006/relationships/slideLayout" Target="../slideLayouts/slideLayout1.xml"/><Relationship Id="rId1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hyperlink" Target="https://reliefweb.int/report/colombia/respuesta-al-terremoto-en-colombia-reporte-de-situacion-12-29-septiembre-2026" TargetMode="External"/><Relationship Id="rId3" Type="http://schemas.openxmlformats.org/officeDocument/2006/relationships/hyperlink" Target="https://reliefweb.int/report/colombia/colombia-flash-update-015-update-impact-earthquake-colombia-september-30-2026" TargetMode="External"/><Relationship Id="rId4" Type="http://schemas.openxmlformats.org/officeDocument/2006/relationships/hyperlink" Target="https://reliefweb.int/report/colombia/colombia-flash-update-015-actualizacion-afectaciones-por-terremoto-en-colombia-30-de-septiembre-de-2026" TargetMode="External"/><Relationship Id="rId5" Type="http://schemas.openxmlformats.org/officeDocument/2006/relationships/hyperlink" Target="https://reliefweb.int/report/colombia/rapid-protection-assessment-earthquake-response-buenaventura-valle-del-cauca-september-2026" TargetMode="External"/><Relationship Id="rId1" Type="http://schemas.openxmlformats.org/officeDocument/2006/relationships/image" Target="../media/image-63-1.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yNJdG6/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8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8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yNJdG6/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yNJdG6/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yNJdG6/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63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63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63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63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63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63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63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(7/12)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accompanied President Abelardo de la Espriella and the Housing Minister to Buga and Cali to assess 10 August earthquake damage. In Buga, the delegation inspected structural damage at the Basílica del Señor de los Milagros, the ITA educational institute and the Pueblo Nuevo corregimiento; in Cali, the visit covered the Cuarto de Legua neighbourhood, meeting affected residents. The national government is coordinating with local mayors' offices to speed up the census and direct delivery of financial aid.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63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(8/12)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and WFP Colombia country director Neils Greede formalised a strategic alliance to secure food assistance for families affected by the earthquake, building on their 4 Sep meeting; the two agencies also strengthened cooperation for future responses, citing El Niño and forest fires as examples.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6 Sep 2026 (posted 11:48 COT), the first new balance since the 3 Sep 06:30 cut - no balance was posted on 4 or 5 Sep. 331 deaths (unchanged), 4,505 injured (down from 4,519), 111 missing (down from 122) and 364 rescued alive (unchanged), across 498 municipalities in 16 departments (unchanged); 296,725 families (466,644 people) affected, up from 293,743 families (466,606 people). Housing: 201,989 homes damaged (up from 201,010) and 36,326 destroyed (down from 36,336), plus 6,005 buildings damaged and 743 collapsed (both up from 5,889 and 709). UNGRD gives no explanation for the small decreases in injured, missing and destroyed housing; as with earlier revisions this report treats them as reconciliation of reports filed, resolved and de-duplicated during ongoing consolidation rather than new information about casualties or a corrected report. UNGRD again describes the figures as preliminary and still being consolidated by territorial entities and operational agencies.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7 Sep 2026 (posted 07:43 COT). 331 deaths (unchanged), 4,505 injured (unchanged), 111 missing (unchanged) and 364 rescued alive (unchanged), across 498 municipalities in 16 departments (unchanged); 296,738 families (466,709 people) affected, up slightly from 296,725 families (466,644 people) at the 6 Sep 06:30 cut. Housing: 202,002 homes damaged (up from 201,989) and 36,326 destroyed (unchanged), plus 6,005 buildings damaged and 743 collapsed (both unchanged). Infrastructure newly itemised in this balance: 400 health facilities, 4,313 educational facilities (up from 4,288), 6,033 community facilities (down from 6,035), 521 roads (up from 491), 5 airports, 141 aqueducts (unchanged), 102 road bridges (up from 91) and 13 footbridges (unchanged) affected. UNGRD again describes the figures as preliminary and still being consolidated.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received a 14.9-tonne field hospital donated by the State of Qatar, including 6 ICU beds, 44 standard patient beds, 50 blankets/sheets/pillows sets, 26 air-conditioning units and a diesel storage tank. The hospital can be relocated to whichever territory needs it to support the response to the earthquake and other emergencies. Coordinated via the Embassy of Qatar in Bogotá.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63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(9/12)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One month on, UNGRD reports search-and-rescue operations concluded: over 288 hours, 54 groups and 1,849 rescuers from Colombia, Argentina, Chile, Mexico, Venezuela, Spain and the United States rescued 356 people alive and recovered 259 bodies. UNGRD has committed COP 42,754 million for the first month of housing economic support (of three planned months). The Damage Assessment and Needs Analysis for Integral Recovery process (EDANPRI) has been launched with UNDP, national/territorial entities and 16 sectors to inform recovery planning. Humanitarian aid moved to date: 2,071 tonnes (477.1 t international cooperation, 1,500 t via the First Lady, plus contributions from Atlántico and Bogotá). 4,720 people remain in 35 temporary shelters across Caldas, Quindío, Chocó and Valle del Cauca. The Air Force has flown 106h40 in support; 60 Starlink antennas are deployed; 1,976 animals have been rescued. The article restates, 'as of today 10 September': 331 deaths, 4,505 injured, 111 missing, 466,345 people affected in 497 municipalities across 16 departments, 36,327 homes destroyed and 201,939 damaged, 759 buildings collapsed, 4,316 educational, 397 health and 6,118 community facilities affected, 521 roads, 107 road bridges, 13 footbridges, 141 aqueducts and 5 airports. Deaths/injured/missing match the 6-7 Sep official balance exactly, but affected-people (-364), municipalities (-1), homes damaged (-63) and health facilities (-3) are marginally lower than the 7 Sep 06:30 balance already recorded above, with no explanation given; consistent with this report's treatment of similar small back-and-forth movements as consolidation noise rather than a correction, this narrative figure is shown here rather than used to revise the headline balance.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began disbursing temporary housing economic support payments to earthquake-affected households: in Chocó from 11 September (more than COP 3,324 million for the first month, for households whose homes were destroyed or are uninhabitable), and in Cali from 12 September, both via SuperGiros payment points against original national ID, over a 15-calendar-day claim window. UNGRD states payments will subsequently extend to Valle del Cauca, Caldas, Quindio and Risaralda. No new casualty or damage balance was posted between 7 and 12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posted a new balance via the Registro Unico de Damnificados (RUD) tool, with a 06:30 COT cut-off on 15 Sep 2026: 303,934 families (486,917 people) registered as affected, up from 296,738 families (466,709 people) at the 7 Sep 06:30 cut; 206,931 homes damaged (up from 202,002) and 36,478 destroyed (up from 36,326). UNGRD describes the RUD as the tool through which municipalities, with support from SNGRD entities, register and upload information on affected people and reported damage. No new deaths/injured/missing/rescued balance has been posted since the 7 Sep 06:30 cut; the latest published figures remain 331 deaths, 4,505 injured, 111 missing and 364 rescued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 RUD)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63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(10/12)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 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OCHA's Flash Update 013 (14:00 COT cut) restates the 15 Sep UNGRD RUD balance unchanged (486,917 people / 303,934 families affected; 36,478 homes destroyed) and reports more than 137,000 people assisted, up from 135,000 in Flash Update 012 (10 Sep). No new UNGRD deaths/injured/missing/rescued balance has been posted since the 7 Sep 06:30 cut; UNGRD's own public communications in the intervening period have focused on the recovery-phase Plan de Accion Especifico para la Recuperacion (PAE) and sector working groups with UNDP and ECLAC, rather than a further daily casualty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Flash Update 013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announced a community-infrastructure recovery response, run jointly with the Colombian Red Cross and IFRC, focused on conflict-affected rural areas of Choco and Valle del Cauca hit by the earthquake. The six-to-nine month response has two phases: Phase 1, basic repair materials for seven community spaces; Phase 2, medium-complexity rehabilitation of roofs, kitchens, school dining halls and other community and educational infrastructure. ICRC noted the earthquake compounded pre-existing humanitarian needs from armed conflict (displacement, confinement, explosive ordnance) in these areas.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 (portal article, published 21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hosted UNDRR special representative Kamal Kishore in Cali to review recovery challenges. The article states a Cali-specific balance (distinct from the national RUD balance reported elsewhere in this report): 154 deaths, 1,504 injured and 88 rescued alive in Cali, with more than 12,000 buildings affected; authorities have carried out 1,216 technical building inspections, and damage/needs assessments (EDAN) cover 35,280 families in the city. Figures are scoped to Cali only and are not additive to the national UNGRD RUD totals shown in this report's headline.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63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(11/12)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published Earthquake Operation Update #1 (MDRCO036). It restates search-and-rescue as concluded (356 people rescued alive, 259 bodies recovered, over 288 hours by 54 groups/1,849 rescuers - matching the 10 Sep UNGRD figures already recorded above) and, citing a UNDP (2026) estimate, gives the first economic-damage figure recorded in this report: COP 42.1 trillion (USD 13.2 billion) in direct physical damage, about 2.3% of GDP (see the new Economic damage entry above). It also cites the Ministry of Housing, City and Territory on water/sanitation service disruption in 137 municipalities, 93 not yet restored (see the Lifelines entry above), and states 286 Colombian Red Cross Society volunteers were themselves directly affected by the earthquake. For national people-affected and family counts, the update's cited "UNGRD report of 10 September" figures (778,281 people / 364,672 families) match UNGRD's 19 September San Jose del Palmar municipality-only figures almost exactly rather than any previously published national total (see the People affected entry above); this is shown there as an unreconciled, separately dated figure rather than merged into the headline. The update does not revise UNGRD's own headline deaths/injured/missing/housing balances, which remain as last posted (7/15 Sep cuts).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 (Operation Update #1, MDRCO036)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published Flash Update 014. It gives an approximate national toll of 487,000 people affected across 500 municipalities in 16 departments - consistent with (not a revision of) UNGRD's 15 Sep RUD balance of 486,917 people / 498 municipalities already shown in this report's headline. It records humanitarian response reach as 31 organisations having supported more than 137,000 people across 53 prioritised municipalities, and states the response plan is 52% short of the USD 619 million required through the end of 2026. It flags a potential severe El Nino event as a risk to further strain recovery needs. UNGRD's own deaths/injured/missing/housing balances are not restated and remain unchanged (7/15 Sep cuts).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OCHA/EHP Colombia (Flash Update 014, 18:30 cut)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Sep (posted 25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IOM's Situation Report #11 cites UNGRD's 16 Sep 06:30 COT balance: 335 deaths, 105 missing, 364 rescued, 4,516 injured, 486,917 people affected (unchanged from the 15 Sep RUD cut), 206,931 homes damaged and 36,478 destroyed (also unchanged), across 500 municipalities in 16 departments (up from 498). Separately, at the 19 September National Unified Command Post (PMU), UNGRD consolidated territorial information from different sectors and reported 364,670 families / 778,279 people registered via the RUD, and a differently-classified housing tally (84,855 habitable, 104,037 uninhabitable, 19,143 destroyed, 119,752 damaged). This PMU consolidation has not been reconciled with the RUD balance above; both figures are shown with their dates and not combined.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via IOM Colombia Earthquake Response Situation Report #11 (25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63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(12/12)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disbursed the first month of temporary-housing economic support to earthquake-affected families in Quimbaya, Quindio (COP 1,185 million), verified via the RUD and paid through SuperGiros points at the Coliseo El Cacique and Colegio Santa Teresita (El Rocio neighbourhood). This extends the housing-support payments already under way in Choco (from 11 Sep) and Cali (from 12 Sep) into Quindio department, as UNGRD had said would follow. No new casualty or damage balance was posted with this announcement.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X/Twitter account,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Sep (posted 1 Oct)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Situation Report #12 cites UNGRD as of 28 Sep: 335 deaths, 105 missing, 364 rescued, 4,516 injured, 486,917 affected, 206,931 homes damaged and 36,478 destroyed, 500 municipalities - unchanged. RUD (26 Sep): 364,668 families / 778,274 people. The World Bank approved a further US$200 million (total US$400 million). About 20,000 families remain displaced in Cali.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via IOM Colombia Earthquake Response Situation Report #12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Sep (posted 1 Oct)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015 (as of 30 Sep 18:00), the final weekly edition: Government is moving into the recovery phase through the Specific Action Plan for Recovery (PAE); at least 35 humanitarian organisations have assisted 239,000 people across 90 municipalities. Gaps persist in identifying affected people, damage assessment and access to services, especially for rural, ethnic, refugee and migrant communities.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Colombia / EHP Colombia (Flash Update 015)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63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yNJdG6/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Population Movement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Maps</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63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NJdG6/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63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NJdG6/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yNJdG6/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63</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63</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yNJdG6/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63</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63</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335 (UNGRD (06:30 COT cut on 16 Sep 2026, per IOM Colombia Earthquake Response Situation Report #11, posted 25 Sep 2026)), unchanged from the 15 Sep report cycle (486,917 affected total unchanged - see People affected). The series has run 273, 281, 285, 287, 288, 294, 289, 287, 329, 331, 335. Update (1 Oct): IOM Situation Report #12 gives 335 deaths as of UNGRD's 28 Sep balance - unchanged.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4,516 (UNGRD (06:30 COT cut on 16 Sep 2026, per IOM Colombia Earthquake Response Situation Report #11, posted 25 Sep 2026)), up from 4,505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 (UNGRD (06:30 COT cut on 16 Sep 2026, per IOM Colombia Earthquake Response Situation Report #11, posted 25 Sep 2026)), down from 111 at the 7 Sep 06:30 cut. UNGRD gives no explanation for the change; treated as reconciliation (identification/rescue) rather than a data error, consistent with the missing count being a non-cumulative, currently-outstanding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COT cut on 16 Sep 2026, per IOM Colombia Earthquake Response Situation Report #11, posted 25 Sep 2026)), unchanged from the 7 Sep 06:30 cut, plus 3,003 animals rescued and 3,277 affected (both unchanged from 6 Sep).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63</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500 municipalities in 16 departments (UNGRD (06:30 COT cut on 16 Sep 2026, per IOM Colombia Earthquake Response Situation Report #11, posted 25 Sep 2026)), up from 498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63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303,934 families (486,917 people) registered as affected via UNGRD's Registro Unico de Damnificados (RUD) balance, 06:30 COT cut-off on 15 Sep 2026, up from 296,738 families (466,709 people) at the 7 Sep 06:30 cut. UNGRD describes the RUD as the tool through which municipalities, with support from SNGRD entities, register and upload information on affected people and reported damage; this report treats it as continuing the same affected-population series reported in earlier balances.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 Separately, WFP's Colombia Earthquake Emergency Situation Report (7 September) states "authorities reported 759,311 people affected, 331 fatalities, 4,519 injured people and 136 missing people" as of that date - a substantially larger affected-population figure than UNGRD's own balances, while the casualty figures WFP cites (4,519 injured, 136 missing) match UNGRD's earlier 1-2 Sep cuts rather than the later cuts. The report does not explain what the 759,311 figure counts or which UNGRD cut it draws on; it is shown here with its date rather than merged with UNGRD's own count.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 OCHA Flash Update 011, 2 Sep 17:00; IFRC, 10 Sep 2026 (one-month statement); IFRC Operation Update #1 (MDRCO036), 22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63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IFRC (10 Sep, one-month statement) cites more than 661,000 people formally registered as disaster-affected as of 4 September - a third, substantially larger figure that does not match UNGRD's RUD series, OCHA's Flash Update figures, or WFP's 759,311; the four are shown separately with their own dates rather than merged, as none has been confirmed to share the same registration basis. Separately again, IFRC's Earthquake Operation Update #1 (MDRCO036, posted 22 Sep) states that, per "the UNGRD report of 10 September", 778,281 people (364,672 families) were affected nationally. These two figures are almost identical to the San Jose del Palmar municipality-only RUD figures UNGRD posted on 19 September - 778,279 people / 364,670 families for that one epicentral municipality (see the Homes damaged or destroyed entry below) - which suggests Operation Update #1 may have applied a single-municipality RUD figure to the national total rather than reporting an independent national count; it is shown here with its date rather than merged, pending clarification. A separate, larger tally was reported from the 19 September National Unified Command Post (PMU), where UNGRD consolidated territorial information from different sectors: 364,670 families and 778,279 people registered as of 19 Sep 2026. This PMU consolidation figure has not been reconciled with the RUD balance above and is not used to replace it; both are shown with their dates (UNGRD, PMU consolidation reported 19 Sep 2026, per IOM SitRep #11).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63</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same PMU consolidation also reported a differently-classified housing tally: 84,855 habitable homes, 104,037 uninhabitable homes, 19,143 destroyed and 119,752 damaged (as of 19 Sep 2026). This uses different categories from the RUD "damaged/destroyed" balance in the Homes damaged or destroyed entry below and must not be combined with 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243,409: 36,478 destroyed and 206,931 damaged (UNGRD (06:30 COT cut on 16 Sep 2026, per IOM Colombia Earthquake Response Situation Report #11, posted 25 Sep 2026)), unchanged from the 15 Sep 06:30 cut, against 238,328 (36,326 destroyed and 202,002 damaged) at the 7 Sep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 OCHA Flash Update 011, 2 Sep 17:00; CESVI, 11 Sep 2026; UNGRD (X/Twitter), San José del Palmar municipal RUD, 19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206,931 (UNGRD (06:30 COT cut on 16 Sep 2026, per IOM Colombia Earthquake Response Situation Report #11, posted 25 Sep 2026)), unchanged from the 15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36,478 (UNGRD (06:30 COT cut on 16 Sep 2026, per IOM Colombia Earthquake Response Situation Report #11, posted 25 Sep 2026)), unchanged from the 15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63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743 nationally, plus 6,005 buildings damaged (UNGRD, 06:30 cut on 7 Sep), unchanged from the 6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402 damaged (UNGRD (06:30 COT cut on 16 Sep 2026, per IOM Colombia Earthquake Response Situation Report #11, posted 25 Sep 2026)), up from 400 at the 6 Sep 06:30 cut (406 at the 31 Aug 06:30 cut, 304 at the 18:30 cut on 16 Aug, 240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6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4,431 affected (UNGRD (06:30 COT cut on 16 Sep 2026, per IOM Colombia Earthquake Response Situation Report #11, posted 25 Sep 2026)), up from 4,313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6,094 damaged (UNGRD (06:30 COT cut on 16 Sep 2026, per IOM Colombia Earthquake Response Situation Report #11, posted 25 Sep 2026)), up from 6,033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521 roads damaged (UNGRD, 06:30 cut on 7 Sep), up from 491 at the 6 Sep 06:30 cut (468 at 3 Sep, 462 at 31 Aug, 410 at the 18:30 cut on 16 Aug, 210 that morning and 18 on 10 Aug); 102 road bridges and 13 footbridges also damaged (up from 91 road bridges on 6 Sep;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63</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141 aqueducts damaged (UNGRD, 06:30 cut on 7 Sep), unchanged from the 6 Sep 06:30 cut (140 at 3 Sep, 122 at 31 Aug, 95 at the 18:30 cut on 16 Aug, 73 that morning); 29 banking offices out of service as of 16 Aug. Power outages and communications disruption reported in areas near the epicentre as of 16 Aug. Separately, IFRC's Operation Update #1 (MDRCO036, 22 Sep) cites Colombia's Ministry of Housing, City and Territory as reporting 137 municipalities with disruptions to water supply, sewerage and solid waste management services, of which 93 had not yet restored these services as of that report - a municipality-count metric distinct from UNGRD's aqueduct-count series above and not reconciled with 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IFRC Operation Update #1 (MDRCO036), 22 Sep 2026 (citing Ministry of Housing, City and Territory)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3,277 animals affected and 3,003 rescued nationally (UNGRD, 06:30 cut on 7 Sep), unchanged from the 6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63</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Economic damage (estimated)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IFRC's Operation Update #1 (MDRCO036, 22 Sep) cites a UNDP (2026) estimate that direct physical damage to structures amounts to COP 42.1 trillion (USD 13.2 billion), equivalent to approximately 2.3% of Colombia's GDP, concentrated in Risaralda, Valle del Cauca, Choco, Caldas and Quindio. This is the first economic-loss estimate recorded in this report; no earlier UNGRD, OCHA or government figure for total economic damage has been published to compare it against.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Operation Update #1 (MDRCO036), 22 Sep 2026, citing UNDP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63</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 OCHA's Flash Update 012 (10 Sep, one month after the earthquake) reports the Government, SNGRD and international partners have assisted more than 135,000 people through multi-sectoral interventions in 53 priority municipalities, up from 123,000 people / 49 municipalities in Flash Update 011. It flags growing challenges to recovery from concurrent crises (armed conflict, wildfires, drought and flooding) and calls for additional, timely funding through the end of 2026. Separately, the Colombian Red Cross/IFRC reports 1,844 volunteers and staff delivered more than 3,600 tonnes of assistance, 5,300+ health support interventions, 15,700+ litres of water and Restoring Family Links support to 4,400+ people over the first month, and IFRC has launched a CHF 25 million (US$30 million) emergency appeal to sustain this response.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012, 10 Sep; IFRC, 10 Sep (one-month statement); OCHA Flash Update 013, 17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63</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(10/10)</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OCHA's Flash Update 013 (17 Sep, 14:00 COT cut) reports more than 137,000 people assisted, up from 135,000 in Flash Update 012 (10 Sep); it restates the same affected-population and housing totals as the 15 Sep UNGRD RUD balance (486,917 people / 303,934 families affected; 36,478 homes destroyed) without indicating any further RUD update, and separately flags concurrent hazards (flooding, wildfires, ongoing seismicity, a volcanic alert and armed-conflict dynamics) as compounding vulnerability in the worst-affected territories. Update (1 Oct): OCHA Flash Update 015 (30 Sep, final weekly edition) reports at least 35 humanitarian organisations have assisted 239,000 people across 90 municipalities. IOM Situation Report #12: the World Bank approved a further US$200 million, bringing its total mobilised to US$400 million; about 20,000 families remain displaced in Cali.</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63</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yNJdG6/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63</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63</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63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63</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63</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63</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 the NGO AMDA also dispatched a nurse (30 Aug) and, with AMDA Colombia and Fundación Salamandra, supported relief in Cali and Chocó until concluding its emergency-phase response on 4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63</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One month on, the ICRC reports its response (with the Colombian Red Cross) in rural Chocó and Valle del Cauca, focused on communities also affected by armed conflict: more than 2,000 families supported for safe water storage/access and construction materials; materials to repair educational facilities in 10 communities serving 755 students; 15 health clinics in Chocó received rapid-response kits; 7,495 people (1,759 families) received food assistance; 7,037 hygiene items and 1,127 shelter kits distributed; cash assistance reached 400 people for food, 40 for livelihoods and 168 for temporary housing costs. The response is expected to continue 6-9 months.</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63</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63</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63</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63</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63</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63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63</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63</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63</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NJdG6/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63</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63</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63</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63</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63</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63</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63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63</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63</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63</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63</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#3: Earthquake in Colombia (7 Sep 2026, Istmina hospital/church needs assessment)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Fundación ABBACOL - psychosocial intervention update, Cali (04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Colombia Food Security Outlook Update (Aug 2026 - Jan 2027): earthquake impacts reduce food access as El Niño strengthens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Quibdó - Colombia: Barrios afectados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Colombia Earthquake Emergency Situation Report (7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#4: Earthquake in Colombia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HNRP 2026 5W System Response Report (Jan-Jul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63</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Colombia: Affected Neighbourhoods Map (3iS,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012, Update on the Impact of the Earthquake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(FR,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Buenaventura, Colombia: Affected Neighbourhoods Map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 Colombia WASH Situation One Month After the Earthquake: Response, Gaps and Priorities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 Colombia Protection Monitoring (January-March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(X/Twitter) - temporary housing economic support payments, Choco and Cali (11-12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63</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"356 people rescued": one month on, response continues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Chocó housing support payments begin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Colombia: IFRC calls for sustained support, one month on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https://reliefweb.int/report/colombia/colombia-ifrc-calls-sustained-support-earthquake-affected-communities-one-month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#9,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https://reliefweb.int/report/colombia/iom-colombia-earthquake-situation-report-9-10-september-2026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CESVI - Colombia Emergency Response, Situation Report #2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https://reliefweb.int/report/colombia/colombia-emergency-response-situation-report-2-18-august-10-september-2026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013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https://reliefweb.int/report/colombia/colombia-flash-update-013-actualizacion-afectaciones-por-terremoto-en-colombia-17-de-septiembre-de-2026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013, English (posted 18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https://reliefweb.int/report/colombia/colombia-flash-update-013-update-impact-earthquake-colombia-september-18-2026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https://portal.gestiondelriesgo.gov.co/Paginas/Noticias/2026/UNGRD-y-Naciones-Unidas-analizan-en-Cali-los-retos-de-la-recuperacion-tras-el-terremoto.aspx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https://reliefweb.int/report/colombia/analisis-de-situacion-y-respuesta-al-terremoto-10-de-septiembre-2026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https://reliefweb.int/report/colombia/colombia-earthquake-response-situation-report-10-14-september-2026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https://reliefweb.int/report/colombia/colombia-evaluacion-rapida-conjunta-de-mercados-jram-panorama-de-la-situacion-agosto-2026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63</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https://reliefweb.int/report/colombia/colombia-grupo-de-trabajo-de-logistica-gtl-un-mes-de-operacion-de-emergencia-10-de-septiembre-de-2026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https://reliefweb.int/report/colombia/respuesta-al-terremoto-en-colombia-reporte-de-situacion-10-14-septiembre-2026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https://reliefweb.int/report/colombia/terremoto-en-colombia-el-cicr-apoya-la-recuperacion-de-infraestructura-comunitaria-esencial-en-zonas-afectadas-por-los-conflictos-armados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https://reliefweb.int/report/colombia/un-mes-despues-del-terremoto-en-colombia-avanzar-con-la-reconstruccion-en-medio-de-una-compleja-situacion-humanitaria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https://reliefweb.int/report/colombia/unhcr-colombia-2026-funding-update-31-august-2026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Earthquake in Colombia - rehabilitation of essential community infrastructure (18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https://reliefweb.int/report/colombia/earthquake-colombia-icrc-supports-rehabilitation-essential-community-infrastructure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territorial severity and vulnerability assessment after the earthquake (27 Aug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https://reliefweb.int/report/colombia/oim-colombia-severidad-y-vulnerabilidad-territorial-tras-el-terremoto-27-agosto-2026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#9, 10 Sep 2026 (Spanish edition)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https://reliefweb.int/report/colombia/oim-respuesta-al-terremoto-en-colombia-reporte-de-situacion-9-10-septiembre-2026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One month after the Colombia earthquake - response and stabilization (as of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https://reliefweb.int/report/colombia/one-month-after-colombia-earthquake-pahowho-continues-support-response-and-stabilization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Population Movement - Imminent DREF Final Report (MDRCO034) - unrelated migration programme, not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https://reliefweb.int/report/colombia/colombia-population-movement-imminent-dref-final-report-mdrco034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63</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Colombia Earthquake - Operation Update #1 (MDRCO036), 22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https://reliefweb.int/report/colombia/colombia-earthquake-operation-update-1-mdrco036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014, Update on the Impact of the Earthquake (23 Sep 2026, 18:30 cut)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https://reliefweb.int/report/colombia/colombia-flash-update-014-update-impact-earthquake-colombia-september-23-2026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014 (Spanish edition),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https://reliefweb.int/report/colombia/colombia-flash-update-014-actualizacion-afectaciones-por-terremoto-en-colombia-23-de-septiembre-de-2026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Colombia Earthquake Response Situation Report #11 (IOM, 21/25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https://reliefweb.int/report/colombia/colombia-earthquake-response-situation-report-11-21-september-2026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Colombia displacement/confinement monitoring, Jan-Mar 2026 (UNHCR)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Colombia displacement/confinement monitoring, 2025 (UNHCR)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https://reliefweb.int/report/colombia/colombia-monitoreo-de-emergencias-humanitarias-desplazamiento-masivo-y-confinamiento-2025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ACAPS Thematic Report — expected humanitarian impacts,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https://reliefweb.int/report/colombia/acaps-thematic-report-colombia-earthquakes-expected-humanitarian-impacts-25-september-2026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ACAPS 専題報告（スペイン語版）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https://reliefweb.int/report/colombia/colombia-impactos-humanitarios-previstos-del-terremoto-acaps-reporte-tematico-25-de-septiembre-2026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IOM Colombia Earthquake Response Situation Report #12 (29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https://reliefweb.int/report/colombia/colombia-earthquake-response-situation-report-12-29-september-2026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62 / 63</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(16/16)</a:t>
            </a:r>
            <a:endParaRPr lang="en-US" sz="2100" dirty="0"/>
          </a:p>
        </p:txBody>
      </p:sp>
      <p:pic>
        <p:nvPicPr>
          <p:cNvPr id="3" name="Image 0" descr="/tmp/build_event-yNJdG6/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IOM 状況報告第12号（スペイン語版）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https://reliefweb.int/report/colombia/respuesta-al-terremoto-en-colombia-reporte-de-situacion-12-29-septiembre-2026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OCHA Flash Update 015 (30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https://reliefweb.int/report/colombia/colombia-flash-update-015-update-impact-earthquake-colombia-september-30-2026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OCHA Flash Update 015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https://reliefweb.int/report/colombia/colombia-flash-update-015-actualizacion-afectaciones-por-terremoto-en-colombia-30-de-septiembre-de-2026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DRC Rapid Protection Assessment, Buenaventura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https://reliefweb.int/report/colombia/rapid-protection-assessment-earthquake-response-buenaventura-valle-del-cauca-september-2026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63 / 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yNJdG6/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2026-10-02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2026-10-03T22:37:40Z</dcterms:created>
  <dcterms:modified xsi:type="dcterms:W3CDTF">2026-10-03T22:37:40Z</dcterms:modified>
</cp:coreProperties>
</file>