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5-1.png"/><Relationship Id="rId2" Type="http://schemas.openxmlformats.org/officeDocument/2006/relationships/image" Target="../media/image-15-2.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jp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41-1.png"/><Relationship Id="rId14" Type="http://schemas.openxmlformats.org/officeDocument/2006/relationships/slideLayout" Target="../slideLayouts/slideLayout1.xml"/><Relationship Id="rId1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 Type="http://schemas.openxmlformats.org/officeDocument/2006/relationships/image" Target="../media/image-42-1.png"/><Relationship Id="rId13" Type="http://schemas.openxmlformats.org/officeDocument/2006/relationships/slideLayout" Target="../slideLayouts/slideLayout1.xml"/><Relationship Id="rId1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hyperlink" Target="https://www3.nhk.or.jp/news/" TargetMode="External"/><Relationship Id="rId4" Type="http://schemas.openxmlformats.org/officeDocument/2006/relationships/hyperlink" Target="https://www.nikkei.com/article/DGXZQOGN108V30Q6A810C2000000/" TargetMode="External"/><Relationship Id="rId5" Type="http://schemas.openxmlformats.org/officeDocument/2006/relationships/hyperlink" Target="https://www.jiji.com/jc/article?k=2026081000878&amp;g=int" TargetMode="External"/><Relationship Id="rId6" Type="http://schemas.openxmlformats.org/officeDocument/2006/relationships/hyperlink" Target="https://www.savethechildren.org/us/about-us/media-and-news/2026-press-releases/children-at-risk-after-earthquake-strikes-colombia" TargetMode="External"/><Relationship Id="rId7" Type="http://schemas.openxmlformats.org/officeDocument/2006/relationships/hyperlink" Target="https://www.directrelief.org/2026/08/colombia-earthquake-7-4-magnitude-direct-relief-response/" TargetMode="External"/><Relationship Id="rId8" Type="http://schemas.openxmlformats.org/officeDocument/2006/relationships/hyperlink" Target="https://www.americares.org/crisis-alerts/colombia-earthquake-august-2026/" TargetMode="External"/><Relationship Id="rId9" Type="http://schemas.openxmlformats.org/officeDocument/2006/relationships/hyperlink" Target="https://glidenumber.net/" TargetMode="External"/><Relationship Id="rId10" Type="http://schemas.openxmlformats.org/officeDocument/2006/relationships/hyperlink" Target="https://www.adrc.asia/" TargetMode="External"/><Relationship Id="rId11" Type="http://schemas.openxmlformats.org/officeDocument/2006/relationships/hyperlink" Target="https://www.democrata.es/en/international/von-der-leyen-expresses-the-eu-s-support-for-colombia-and-activates-copernicus-after-the-earthquake/" TargetMode="External"/><Relationship Id="rId12" Type="http://schemas.openxmlformats.org/officeDocument/2006/relationships/hyperlink" Target="https://www.globalquakemodel.org/proj/treq" TargetMode="External"/><Relationship Id="rId1" Type="http://schemas.openxmlformats.org/officeDocument/2006/relationships/image" Target="../media/image-43-1.png"/><Relationship Id="rId13" Type="http://schemas.openxmlformats.org/officeDocument/2006/relationships/slideLayout" Target="../slideLayouts/slideLayout1.xml"/><Relationship Id="rId1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cloud-storage.globalquakemodel.org/public/wix-new-website/pdf-collections-wix/publications/TREQ%20deliverables/reports/TREQ_D262_Riesgo_Sismico_Cali_v1.00.pdf" TargetMode="External"/><Relationship Id="rId3" Type="http://schemas.openxmlformats.org/officeDocument/2006/relationships/hyperlink" Target="https://www.sciencedirect.com/science/article/abs/pii/S2212420925003097" TargetMode="External"/><Relationship Id="rId4" Type="http://schemas.openxmlformats.org/officeDocument/2006/relationships/hyperlink" Target="https://satic.cali.gov.co/satic"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Paginas/Plan-Nacional-de-Gestion-del-Riesgo.aspx" TargetMode="External"/><Relationship Id="rId7" Type="http://schemas.openxmlformats.org/officeDocument/2006/relationships/hyperlink" Target="https://www.funcionpublica.gov.co/eva/gestornormativo/norma.php?i=191411" TargetMode="External"/><Relationship Id="rId8" Type="http://schemas.openxmlformats.org/officeDocument/2006/relationships/hyperlink" Target="https://www.emsc-csem.org/" TargetMode="External"/><Relationship Id="rId9" Type="http://schemas.openxmlformats.org/officeDocument/2006/relationships/hyperlink" Target="https://catalogosismico.sgc.gov.co/visor/index.html" TargetMode="External"/><Relationship Id="rId10"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1" Type="http://schemas.openxmlformats.org/officeDocument/2006/relationships/hyperlink" Target="https://www.elespectador.com/colombia/mas-regiones/temblor-en-colombia-hoy-10-de-agosto-en-vivo-epicentro-y-reporte-de-afectaciones/" TargetMode="External"/><Relationship Id="rId12" Type="http://schemas.openxmlformats.org/officeDocument/2006/relationships/hyperlink" Target="https://www.noticiascaracol.com/colombia/en-vivo-colombia-hoy-tras-terremoto-de-magnitud-7-4-continuan-las-labores-de-rescate-so35" TargetMode="External"/><Relationship Id="rId1" Type="http://schemas.openxmlformats.org/officeDocument/2006/relationships/image" Target="../media/image-44-1.png"/><Relationship Id="rId13" Type="http://schemas.openxmlformats.org/officeDocument/2006/relationships/slideLayout" Target="../slideLayouts/slideLayout1.xml"/><Relationship Id="rId1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rpp.pe/mundo/colombia/abelardo-de-la-espriella-cifra-en-181-los-muertos-por-el-terremoto-59-menos-que-datos-regionales-noticia-1701022" TargetMode="External"/><Relationship Id="rId3" Type="http://schemas.openxmlformats.org/officeDocument/2006/relationships/hyperlink" Target="https://www.eltiempo.com/colombia/otras-ciudades/cuantas-replicas-se-han-registrado-tras-el-terremoto-de-7-4-en-colombia-estas-son-todas-las-magnitudes-3577711"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mofa.go.jp/mofaj/la_c/sa/co/pageit_000001_00001.html" TargetMode="External"/><Relationship Id="rId6" Type="http://schemas.openxmlformats.org/officeDocument/2006/relationships/hyperlink" Target="https://x.com/MofaJapan_jp/status/2087155064855261537" TargetMode="External"/><Relationship Id="rId7" Type="http://schemas.openxmlformats.org/officeDocument/2006/relationships/hyperlink" Target="https://www.eltiempo.com/mundo/mas-regiones/la-comunidad-internacional-se-vuelca-en-ayudas-para-colombia-lista-de-paises-que-han-ofrecido-apoyo-tras-el-terremoto-de-magnitud-7-3577512" TargetMode="External"/><Relationship Id="rId8" Type="http://schemas.openxmlformats.org/officeDocument/2006/relationships/hyperlink" Target="https://colombia.un.org/es/320793-informaci%C3%B3n-y-actualizaciones-sobre-el-terremoto-en-colombia" TargetMode="External"/><Relationship Id="rId9" Type="http://schemas.openxmlformats.org/officeDocument/2006/relationships/hyperlink" Target="https://news.un.org/es/story/2026/08/1541792" TargetMode="External"/><Relationship Id="rId10" Type="http://schemas.openxmlformats.org/officeDocument/2006/relationships/hyperlink" Target="https://www.colombiatebusca.com/" TargetMode="External"/><Relationship Id="rId11" Type="http://schemas.openxmlformats.org/officeDocument/2006/relationships/hyperlink" Target="https://www.asocapitales.co/terremoto-colombia.html" TargetMode="External"/><Relationship Id="rId12"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45-1.png"/><Relationship Id="rId13" Type="http://schemas.openxmlformats.org/officeDocument/2006/relationships/slideLayout" Target="../slideLayouts/slideLayout1.xml"/><Relationship Id="rId1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 Type="http://schemas.openxmlformats.org/officeDocument/2006/relationships/image" Target="../media/image-46-1.png"/><Relationship Id="rId12" Type="http://schemas.openxmlformats.org/officeDocument/2006/relationships/slideLayout" Target="../slideLayouts/slideLayout1.xml"/><Relationship Id="rId1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www.infobae.com/colombia/2026/08/14/temblor-de-74-en-colombia-el-10-de-agosto-se-actualizo-el-numero-de-fallecidos-en-todo-el-pais/" TargetMode="External"/><Relationship Id="rId3" Type="http://schemas.openxmlformats.org/officeDocument/2006/relationships/hyperlink" Target="https://www.infobae.com/colombia/2026/08/14/aumenta-la-ayuda-internacional-a-colombia-tras-el-terremoto-de-74-india-envia-20-toneladas-y-noruega-suecia-y-espana-anuncian-nuevos-recursos/" TargetMode="External"/><Relationship Id="rId4" Type="http://schemas.openxmlformats.org/officeDocument/2006/relationships/hyperlink" Target="https://www.elheraldo.co/colombia/2026/08/14/italia-india-espana-chile-y-banco-mundial-entre-los-paises-y-organismos-que-han-enviado-ayudas-a-colombia-por-el-terremoto/" TargetMode="External"/><Relationship Id="rId5" Type="http://schemas.openxmlformats.org/officeDocument/2006/relationships/hyperlink" Target="https://www.jrc.or.jp/international/news/2026/0812_054987.html" TargetMode="External"/><Relationship Id="rId6"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7"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8" Type="http://schemas.openxmlformats.org/officeDocument/2006/relationships/hyperlink" Target="https://cnnespanol.cnn.com/2026/08/12/colombia/live-news/terremoto-en-vivo-muertos-videos-rescates-orix" TargetMode="External"/><Relationship Id="rId9"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0" Type="http://schemas.openxmlformats.org/officeDocument/2006/relationships/hyperlink" Target="https://www.semana.com/nacion/articulo/ascienden-a-294-los-fallecidos-del-terremoto-del-10-de-agosto-y-van-81506-viviendas-averiadas-segun-cifras-oficiales/202627/" TargetMode="External"/><Relationship Id="rId11" Type="http://schemas.openxmlformats.org/officeDocument/2006/relationships/hyperlink" Target="https://www.elheraldo.co/colombia/2026/08/12/presidente-de-la-espriella-decreta-tres-dias-de-duelo-nacional-por-victimas-del-terremoto/" TargetMode="External"/><Relationship Id="rId1" Type="http://schemas.openxmlformats.org/officeDocument/2006/relationships/image" Target="../media/image-47-1.png"/><Relationship Id="rId12" Type="http://schemas.openxmlformats.org/officeDocument/2006/relationships/slideLayout" Target="../slideLayouts/slideLayout1.xml"/><Relationship Id="rId1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3" Type="http://schemas.openxmlformats.org/officeDocument/2006/relationships/hyperlink" Target="https://www.eltiempo.com/colombia/otras-ciudades/balance-oficial-de-la-ungrd-este-16-de-agosto-tras-terremoto-de-7-4-en-colombia-289-fallecidos-4-187-heridos-y-143-desaparecidos-3578742" TargetMode="External"/><Relationship Id="rId4" Type="http://schemas.openxmlformats.org/officeDocument/2006/relationships/hyperlink" Target="https://www.rtvcnoticias.com/actualidad/terremoto-deja-289-fallecidos-143-desaparecidos-y-mas-de-185000-afectados-en-colombia" TargetMode="External"/><Relationship Id="rId5" Type="http://schemas.openxmlformats.org/officeDocument/2006/relationships/hyperlink" Target="https://www.radiosantafe.com/2026/08/16/ungrd-reduce-a-289-cifra-de-fallecidos-y-a-143-la-de-personas-desaparecidas-por-el-terremoto/" TargetMode="External"/><Relationship Id="rId6" Type="http://schemas.openxmlformats.org/officeDocument/2006/relationships/hyperlink" Target="https://www.semana.com/nacion/articulo/terremoto-en-colombia-reportan-287-muertos-y-4147-heridos-en-nuevo-balance-de-la-ungrd/202615/" TargetMode="External"/><Relationship Id="rId7" Type="http://schemas.openxmlformats.org/officeDocument/2006/relationships/hyperlink" Target="https://www.latercera.com/mundo/noticia/colombia-rebaja-a-casi-287-los-muertos-y-eleva-a-cerca-de-4150-los-heridos-por-el-terremoto/" TargetMode="External"/><Relationship Id="rId8" Type="http://schemas.openxmlformats.org/officeDocument/2006/relationships/hyperlink" Target="https://reliefweb.int/report/colombia/colombia-flash-update-010-update-impact-earthquake-colombia-august-27-2026" TargetMode="External"/><Relationship Id="rId9" Type="http://schemas.openxmlformats.org/officeDocument/2006/relationships/hyperlink" Target="https://reliefweb.int/report/colombia/colombia-flash-update-010-actualizacion-afectaciones-por-terremoto-en-colombia-27-de-agosto-de-2026" TargetMode="External"/><Relationship Id="rId10" Type="http://schemas.openxmlformats.org/officeDocument/2006/relationships/hyperlink" Target="https://reliefweb.int/report/colombia/colombia-flash-update-009-update-impact-earthquake-colombia-august-24-2026" TargetMode="External"/><Relationship Id="rId11" Type="http://schemas.openxmlformats.org/officeDocument/2006/relationships/hyperlink" Target="https://reliefweb.int/report/colombia/colombia-flash-update-009-actualizacion-afectaciones-por-terremoto-en-colombia-24-de-agosto-de-2026" TargetMode="External"/><Relationship Id="rId1" Type="http://schemas.openxmlformats.org/officeDocument/2006/relationships/image" Target="../media/image-48-1.png"/><Relationship Id="rId12" Type="http://schemas.openxmlformats.org/officeDocument/2006/relationships/slideLayout" Target="../slideLayouts/slideLayout1.xml"/><Relationship Id="rId1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reliefweb.int/report/colombia/iom-colombia-earthquake-response-situation-report-6-28-august-2026" TargetMode="External"/><Relationship Id="rId3" Type="http://schemas.openxmlformats.org/officeDocument/2006/relationships/hyperlink" Target="https://reliefweb.int/report/colombia/oim-respuesta-al-terremoto-en-colombia-reporte-de-situacion-6-28-agosto-2026" TargetMode="External"/><Relationship Id="rId4" Type="http://schemas.openxmlformats.org/officeDocument/2006/relationships/hyperlink" Target="https://x.com/UNGRD/status/2094414373506736128" TargetMode="External"/><Relationship Id="rId5" Type="http://schemas.openxmlformats.org/officeDocument/2006/relationships/hyperlink" Target="https://x.com/UNGRD/status/2094764781831872512" TargetMode="External"/><Relationship Id="rId6" Type="http://schemas.openxmlformats.org/officeDocument/2006/relationships/hyperlink" Target="https://reliefweb.int/report/colombia/colombia-earthquake-ltc-telecoms-situation-report-02-reporting-period-25-31-august-2026" TargetMode="External"/><Relationship Id="rId7" Type="http://schemas.openxmlformats.org/officeDocument/2006/relationships/hyperlink" Target="https://reliefweb.int/report/colombia/amda-emergency-relief-1-earthquake-colombia-1-september-2026" TargetMode="External"/><Relationship Id="rId8" Type="http://schemas.openxmlformats.org/officeDocument/2006/relationships/hyperlink" Target="https://reliefweb.int/report/colombia/colombia-icrc-assesses-needs-communities-affected-armed-conflict-following-earthquake" TargetMode="External"/><Relationship Id="rId9" Type="http://schemas.openxmlformats.org/officeDocument/2006/relationships/hyperlink" Target="https://reliefweb.int/map/colombia/colombia-74-m-earthquake-10-august-and-eu-response-dg-echo-daily-map-26082026" TargetMode="External"/><Relationship Id="rId10" Type="http://schemas.openxmlformats.org/officeDocument/2006/relationships/hyperlink" Target="https://reliefweb.int/map/colombia/pereira-colombia-alojamientos-temporales-terremoto-10-de-agosto-2026-19082026" TargetMode="External"/><Relationship Id="rId11" Type="http://schemas.openxmlformats.org/officeDocument/2006/relationships/hyperlink" Target="https://reliefweb.int/map/colombia/manizales-colombia-barrios-afectados-terremoto-10-de-agosto-2026-20082026" TargetMode="External"/><Relationship Id="rId1" Type="http://schemas.openxmlformats.org/officeDocument/2006/relationships/image" Target="../media/image-49-1.png"/><Relationship Id="rId12" Type="http://schemas.openxmlformats.org/officeDocument/2006/relationships/slideLayout" Target="../slideLayouts/slideLayout1.xml"/><Relationship Id="rId1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reliefweb.int/report/colombia/colombia-addendum-humanitarian-response-plan-earthquake-august-2026" TargetMode="External"/><Relationship Id="rId3" Type="http://schemas.openxmlformats.org/officeDocument/2006/relationships/hyperlink" Target="https://reliefweb.int/report/colombia/colombia-adenda-al-plan-de-respuesta-humanitaria-terremoto-agosto-2026" TargetMode="External"/><Relationship Id="rId4" Type="http://schemas.openxmlformats.org/officeDocument/2006/relationships/hyperlink" Target="https://reliefweb.int/report/colombia/colombia-plan-de-respuesta-necesidades-humanitarias-febrero-2026-enes" TargetMode="External"/><Relationship Id="rId5" Type="http://schemas.openxmlformats.org/officeDocument/2006/relationships/hyperlink" Target="https://reliefweb.int/report/colombia/humanitarian-action-children-2026-colombia" TargetMode="External"/><Relationship Id="rId6" Type="http://schemas.openxmlformats.org/officeDocument/2006/relationships/hyperlink" Target="https://reliefweb.int/report/colombia/colombia-flash-update-011-actualizacion-afectaciones-por-terremoto-en-colombia-02-de-septiembre-de-2026" TargetMode="External"/><Relationship Id="rId7" Type="http://schemas.openxmlformats.org/officeDocument/2006/relationships/hyperlink" Target="https://reliefweb.int/report/colombia/colombia-flash-update-011-update-impact-earthquake-colombia-september-2-2026" TargetMode="External"/><Relationship Id="rId8" Type="http://schemas.openxmlformats.org/officeDocument/2006/relationships/hyperlink" Target="https://reliefweb.int/report/colombia/urgent-needs-persist-three-weeks-after-earthquake-colombia" TargetMode="External"/><Relationship Id="rId9" Type="http://schemas.openxmlformats.org/officeDocument/2006/relationships/hyperlink" Target="https://reliefweb.int/report/colombia/informe-de-monitoreo-de-proteccion-trimestral-de-drc-colombia-abril-junio-2026" TargetMode="External"/><Relationship Id="rId10" Type="http://schemas.openxmlformats.org/officeDocument/2006/relationships/hyperlink" Target="https://reliefweb.int/report/colombia/colombia-earthquake-situation-report-7-31-aug-2026" TargetMode="External"/><Relationship Id="rId11" Type="http://schemas.openxmlformats.org/officeDocument/2006/relationships/hyperlink" Target="https://reliefweb.int/report/colombia/respuesta-al-terremoto-en-colombia-reporte-de-situacion-7-31-agosto-2026" TargetMode="External"/><Relationship Id="rId12" Type="http://schemas.openxmlformats.org/officeDocument/2006/relationships/hyperlink" Target="https://reliefweb.int/report/colombia/amda-emergency-relief-2-earthquake-colombia-3-september-2026" TargetMode="External"/><Relationship Id="rId1" Type="http://schemas.openxmlformats.org/officeDocument/2006/relationships/image" Target="../media/image-50-1.png"/><Relationship Id="rId13" Type="http://schemas.openxmlformats.org/officeDocument/2006/relationships/slideLayout" Target="../slideLayouts/slideLayout1.xml"/><Relationship Id="rId1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reliefweb.int/map/colombia/manizales-colombia-barrios-afectados-terremoto-10-de-agosto-2026-03092026" TargetMode="External"/><Relationship Id="rId3" Type="http://schemas.openxmlformats.org/officeDocument/2006/relationships/hyperlink" Target="https://reliefweb.int/report/colombia/amda-emergency-relief-3-earthquake-colombia-7-september-2026" TargetMode="External"/><Relationship Id="rId4" Type="http://schemas.openxmlformats.org/officeDocument/2006/relationships/hyperlink" Target="https://reliefweb.int/report/colombia/resumen-actualizado-de-la-intervencion-psicosocial-de-abbacol-fecha-de-resumen-y-actualizacion-04-septiembre-2026" TargetMode="External"/><Relationship Id="rId5" Type="http://schemas.openxmlformats.org/officeDocument/2006/relationships/hyperlink" Target="https://reliefweb.int/report/colombia/colombia-food-security-outlook-update-august-2026-january-2027-earthquake-impacts-reduce-food-access-affected-areas-el-nino-strengthens" TargetMode="External"/><Relationship Id="rId6" Type="http://schemas.openxmlformats.org/officeDocument/2006/relationships/hyperlink" Target="https://reliefweb.int/map/colombia/quibdo-colombia-barrios-afectados-terremoto-10-de-agosto-2026-03092026" TargetMode="External"/><Relationship Id="rId7" Type="http://schemas.openxmlformats.org/officeDocument/2006/relationships/hyperlink" Target="https://reliefweb.int/report/colombia/iom-colombia-earthquake-situation-report-8-03-september-2026" TargetMode="External"/><Relationship Id="rId8" Type="http://schemas.openxmlformats.org/officeDocument/2006/relationships/hyperlink" Target="https://reliefweb.int/report/colombia/oim-respuesta-al-terremoto-en-colombia-reporte-de-situacion-8-3-septiembre-2026" TargetMode="External"/><Relationship Id="rId9" Type="http://schemas.openxmlformats.org/officeDocument/2006/relationships/hyperlink" Target="https://reliefweb.int/report/colombia/wfp-colombia-earthquake-response-7-september-2026" TargetMode="External"/><Relationship Id="rId10" Type="http://schemas.openxmlformats.org/officeDocument/2006/relationships/hyperlink" Target="https://reliefweb.int/report/colombia/amda-emergency-relief-4-earthquake-colombia-8-september-2026" TargetMode="External"/><Relationship Id="rId11" Type="http://schemas.openxmlformats.org/officeDocument/2006/relationships/hyperlink" Target="https://reliefweb.int/report/colombia/colombia-reporte-plan-de-respuesta-necesidades-humanitarias-hnrp-2026-en-el-sistema-5w-entre-enero-y-julio-de-2026" TargetMode="External"/><Relationship Id="rId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reliefweb.int/report/colombia/analisis-de-situacion-y-respuesta-al-terremoto-4-de-septiembre-2026" TargetMode="External"/><Relationship Id="rId3" Type="http://schemas.openxmlformats.org/officeDocument/2006/relationships/hyperlink" Target="https://reliefweb.int/report/colombia/analisis-de-situacion-y-respuesta-al-terremoto-16-agosto-2026" TargetMode="External"/><Relationship Id="rId4" Type="http://schemas.openxmlformats.org/officeDocument/2006/relationships/hyperlink" Target="https://reliefweb.int/map/colombia/cali-colombia-barrios-afectados-terremoto-10-de-agosto-2026-08092026" TargetMode="External"/><Relationship Id="rId5" Type="http://schemas.openxmlformats.org/officeDocument/2006/relationships/hyperlink" Target="https://reliefweb.int/report/colombia/colombia-flash-update-012-update-impact-earthquake-colombia-september-10-2026" TargetMode="External"/><Relationship Id="rId6" Type="http://schemas.openxmlformats.org/officeDocument/2006/relationships/hyperlink" Target="https://reliefweb.int/report/colombia/seisme-en-colombie-caritas-passe-de-laide-durgence-au-relevement" TargetMode="External"/><Relationship Id="rId7" Type="http://schemas.openxmlformats.org/officeDocument/2006/relationships/hyperlink" Target="https://reliefweb.int/report/colombia/terremoto-en-colombia-caritas-pasa-de-la-respuesta-de-emergencia-la-recuperacion" TargetMode="External"/><Relationship Id="rId8" Type="http://schemas.openxmlformats.org/officeDocument/2006/relationships/hyperlink" Target="https://reliefweb.int/map/colombia/buenaventura-colombia-barrios-afectados-terremoto-10-de-agosto-2026-11092026" TargetMode="External"/><Relationship Id="rId9" Type="http://schemas.openxmlformats.org/officeDocument/2006/relationships/hyperlink" Target="https://reliefweb.int/report/colombia/colombia-situacion-agua-saneamiento-e-higiene-wash-un-mes-del-sismo-de-agosto-de-2026-respuesta-brechas-y-prioridades" TargetMode="External"/><Relationship Id="rId10" Type="http://schemas.openxmlformats.org/officeDocument/2006/relationships/hyperlink" Target="https://reliefweb.int/report/colombia/drc-colombia-monitoreo-de-proteccion-enero-marzo-2026" TargetMode="External"/><Relationship Id="rId11" Type="http://schemas.openxmlformats.org/officeDocument/2006/relationships/hyperlink" Target="https://x.com/UNGRD/status/2098758429951078754" TargetMode="External"/><Relationship Id="rId1" Type="http://schemas.openxmlformats.org/officeDocument/2006/relationships/image" Target="../media/image-52-1.png"/><Relationship Id="rId12" Type="http://schemas.openxmlformats.org/officeDocument/2006/relationships/slideLayout" Target="../slideLayouts/slideLayout1.xml"/><Relationship Id="rId1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bDKa7M/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Chocó Earthquake (Colombia)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800" dirty="0">
                <a:solidFill>
                  <a:srgbClr val="222222"/>
                </a:solidFill>
                <a:latin typeface="Meiryo" pitchFamily="34" charset="0"/>
                <a:ea typeface="Meiryo" pitchFamily="34" charset="-122"/>
                <a:cs typeface="Meiryo" pitchFamily="34" charset="-120"/>
              </a:rPr>
              <a:t>Mww 7.4   ·   Max. seismic intensity MMI VII (USGS ShakeMap)   ·   USGS: 5 km S of San José del Palmar, Chocó Department (approx. 280 km W of Bogotá) — SGC: 12 km from San José del Palmar</a:t>
            </a:r>
            <a:endParaRPr lang="en-US" sz="8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Colombia</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bDKa7M/generator/images/EQ-2026-000146-COL/locator_world_manual.jp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Colombia → Chocó</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bDKa7M/generator/images/EQ-2026-000146-COL/locator_region_manual.jp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SGC macroseismic intensity</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bDKa7M/generator/images/EQ-2026-000146-COL/sgc_shakemap_manual.jp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688998" y="2302265"/>
            <a:ext cx="698098" cy="1020278"/>
          </a:xfrm>
          <a:prstGeom prst="rect">
            <a:avLst/>
          </a:prstGeom>
          <a:solidFill>
            <a:srgbClr val="FFFFFF">
              <a:alpha val="0"/>
            </a:srgbClr>
          </a:solidFill>
          <a:ln w="22225">
            <a:solidFill>
              <a:srgbClr val="C00000"/>
            </a:solidFill>
            <a:prstDash val="solid"/>
          </a:ln>
        </p:spPr>
      </p:sp>
      <p:sp>
        <p:nvSpPr>
          <p:cNvPr id="23" name="Shape 17"/>
          <p:cNvSpPr/>
          <p:nvPr/>
        </p:nvSpPr>
        <p:spPr>
          <a:xfrm flipV="1">
            <a:off x="2387096" y="1645920"/>
            <a:ext cx="2084320" cy="656345"/>
          </a:xfrm>
          <a:prstGeom prst="line">
            <a:avLst/>
          </a:prstGeom>
          <a:noFill/>
          <a:ln w="19050">
            <a:solidFill>
              <a:srgbClr val="C00000"/>
            </a:solidFill>
            <a:prstDash val="solid"/>
          </a:ln>
        </p:spPr>
      </p:sp>
      <p:sp>
        <p:nvSpPr>
          <p:cNvPr id="24" name="Shape 18"/>
          <p:cNvSpPr/>
          <p:nvPr/>
        </p:nvSpPr>
        <p:spPr>
          <a:xfrm>
            <a:off x="2387096" y="3322543"/>
            <a:ext cx="2084320" cy="737393"/>
          </a:xfrm>
          <a:prstGeom prst="line">
            <a:avLst/>
          </a:prstGeom>
          <a:noFill/>
          <a:ln w="19050">
            <a:solidFill>
              <a:srgbClr val="C00000"/>
            </a:solidFill>
            <a:prstDash val="solid"/>
          </a:ln>
        </p:spPr>
      </p:sp>
      <p:sp>
        <p:nvSpPr>
          <p:cNvPr id="25" name="Shape 19"/>
          <p:cNvSpPr/>
          <p:nvPr/>
        </p:nvSpPr>
        <p:spPr>
          <a:xfrm>
            <a:off x="5485660" y="1682130"/>
            <a:ext cx="869761" cy="1997716"/>
          </a:xfrm>
          <a:prstGeom prst="rect">
            <a:avLst/>
          </a:prstGeom>
          <a:solidFill>
            <a:srgbClr val="FFFFFF">
              <a:alpha val="0"/>
            </a:srgbClr>
          </a:solidFill>
          <a:ln w="22225">
            <a:solidFill>
              <a:srgbClr val="C00000"/>
            </a:solidFill>
            <a:prstDash val="solid"/>
          </a:ln>
        </p:spPr>
      </p:sp>
      <p:sp>
        <p:nvSpPr>
          <p:cNvPr id="26" name="Shape 20"/>
          <p:cNvSpPr/>
          <p:nvPr/>
        </p:nvSpPr>
        <p:spPr>
          <a:xfrm flipV="1">
            <a:off x="6355421" y="1645920"/>
            <a:ext cx="2221651" cy="36210"/>
          </a:xfrm>
          <a:prstGeom prst="line">
            <a:avLst/>
          </a:prstGeom>
          <a:noFill/>
          <a:ln w="19050">
            <a:solidFill>
              <a:srgbClr val="C00000"/>
            </a:solidFill>
            <a:prstDash val="solid"/>
          </a:ln>
        </p:spPr>
      </p:sp>
      <p:sp>
        <p:nvSpPr>
          <p:cNvPr id="27" name="Shape 21"/>
          <p:cNvSpPr/>
          <p:nvPr/>
        </p:nvSpPr>
        <p:spPr>
          <a:xfrm>
            <a:off x="6355421" y="3679847"/>
            <a:ext cx="2221651" cy="380089"/>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cathedral in Manizales fell onto the nave, and about 30% of Cali's University Hospital collapsed. The President declared a national disaster, set up a Unified Command Post in Chocó and deployed four USAR teams. There was no tsunami.</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Earthquake &amp; Recovery</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The 1999 Armenia (Quindío) Earthquake - the same Coffee Region  /
</a:t>
            </a:r>
            <a:pPr algn="l" indent="0" marL="0">
              <a:buNone/>
            </a:pPr>
            <a:r>
              <a:rPr lang="en-US" sz="1150" dirty="0">
                <a:solidFill>
                  <a:srgbClr val="222222"/>
                </a:solidFill>
                <a:latin typeface="Meiryo" pitchFamily="34" charset="0"/>
                <a:ea typeface="Meiryo" pitchFamily="34" charset="-122"/>
                <a:cs typeface="Meiryo"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
</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 damage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Deaths</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1,185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Injured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5,000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Structures damaged or destroyed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50,000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200,000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Coffee sector</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8,000 farms and 1,200 processing facilities damaged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Recovery and what it changed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Reconstruction was managed through a dedicated temporary body for the Coffee Region, an early example in Latin America of a purpose-built reconstruction agency.</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disaster drove enforcement of the national seismic code and the seismic microzonation studies that now cover Pereira, Manizales and Armenia.</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Recovery of the coffee economy took roughly a decade - the economic tail of the disaster far outlasted the emergency phase.</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2026 earthquake shook the same cities, but as a deep, distant source rather than a shallow local one: a different loading of the same building stock.</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The cities hit hardest in 2026 - Pereira, Manizales, Armenia - are the same cities that rebuilt after 1999. How that rebuilt stock performed under long-period, long-duration shaking from a 110 km-deep source is the key question for post-event assessment.
</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 7.4 earthquake, epicentre 5 km S of San José del Palmar (Chocó), depth approx. 110 km. Felt in Bogotá, Cali, Medellín, and in Ecuador, Panama and Venezuela.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issues a first bulletin (initially M6.6, 79 km depth), later revised to M7.4 at 96 km, located with 69 stations (event SGC2026pqqmro); damage-assessment protocols activated.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Rapid Mapping activated as EMSR916 (17:13 UTC), requested by EC Services / DG ECHO, for earthquake damage assessment mapping.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reports first damage indications in 9 municipalities of Chocó, 8 of Caldas, 2 of Valle del Cauca and 2 of Risaralda, plus localities in Quindío.</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reports collapsed structures at 12 critical points with people trapped; part of the University Hospital collapses.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reports 17 buildings collapsed and 19 partially collapsed; a tower of the neo-Gothic cathedral falls onto the nave. Residents asked to stay outdoors because of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Passenger terminal of Matecaña International Airport (Pereira) partially collapses; flights suspended at six regional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 /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National disaster declared; Unified Command Post established in Chocó; armed forces deployed.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Four USAR teams deployed from Bogotá, Envigado, Yopal and Medellín.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More than 20 aftershocks recorded; the largest widely felt aftershock is M4.8.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President travels to Pereira to lead the response on the ground.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(2/8)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Ecuador mobilises a 47-person USAR team with canine units; Mexico and other governments offer assistance, to be channelled through the Foreign Ministry and UNGRD.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 (MOFA)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revises its solution for the mainshock to M7.4 at 103 km depth, 4.99 N 76.29 W, located with 119 stations and 208 phases. Its first bulletin had given M6.6 at 79 km and its second 7.4 at 96 km with 69 stations.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 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(3/8)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city officials report 107 buildings collapsed, 643 with structural damage and 18 under evacuation order; 230 people trapped, 88 rescued, 69 dead and 1,008 injured in the 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Adding up the departmental and city announcements gives 254 deaths - Pereira 101, Cali 95 - ahead of the national consolidation, which media attribute to the central government being slower to update.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(4/8)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reports 184 aftershocks located since the mainshock, 15 of them above M3.0 and 2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 / 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for the missing while more than 100,000 people affected await assistance; in El Cairo (Valle del Cauca) 80% of the houses are reported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(5/8)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12:44 cut-off, published from the National Crisis Room: 329 dead, 4,592 injured and 151 missing across 494 municipalities in 16 departments. UNGRD reports it is tracking the Registro Unico de Damnificados (RUD), the register that determines which affected families can access support and subsidies, and is monitoring emergency humanitarian assistance, temporary shelter and the availability of heavy machinery. The balance does not restate housing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 more than 406,000 people (193,011 families) affected, concentrated in Risaralda, Valle del Cauca, Choco, Quindio and Caldas. At least 25 humanitarian organizations have assisted nearly 72,000 people in 36 municipalities; donors have mobilized more than US$40 million and CERF has allocated US$5 million.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4,505 injured, 136 missing and 364 rescued; 225,024 families (449,442 people) affected across 497 municipalities in 16 departments. Housing is restated for the first time since 16 Aug: 198,720 homes damaged and 37,255 destroyed, plus 5,849 buildings damaged and 646 collapsed. Infrastructure: 406 health, 4,268 educational and 5,524 community facilities; 462 roads, 5 airports, 122 aqueducts, 91 road bridges and 13 footbridges affected. 2,874 animals affected and 2,976 rescued. UNGRD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(unchanged), 4,519 injured, 136 missing (unchanged) and 364 rescued (unchanged); 290,252 families (466,606 people) affected across 497 municipalities in 16 departments. Housing: 200,929 homes damaged and 37,542 destroyed, plus 5,871 buildings damaged and 651 collapsed. Infrastructure: 400 health, 4,290 educational and 5,698 community facilities; 468 roads, 5 airports, 140 aqueducts, 91 road bridges and 13 footbridges affected. 3,018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(6/8)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136 missing and 364 rescued (all four unchanged from 1 Sep); 293,743 families (466,606 people, unchanged) affected across 497 municipalities in 16 departments (unchanged). Housing: 201,005 homes damaged and 36,336 destroyed - down from 37,542 destroyed at the 1 Sep cut, with no explanation given - plus 5,889 buildings damaged and 709 collapsed (up from 5,871 and 651). Infrastructure: 400 health, 4,287 educational and 5,600 community facilities; 468 roads, 5 airports, 140 aqueducts, 91 road bridges and 13 footbridges affected.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 more than 466,600 people affected, including 331 deaths, thousands injured and missing, and more than 36,000 homes destroyed - consistent with UNGRD's same-day balance. At least 29 humanitarian organisations have assisted nearly 123,000 people in 49 municipalities; international cooperation has mobilised more than USD 40 million; the Humanitarian Response Plan Addendum continues to seek funding for needs through the end of the year. The update also flags 'double affectation' - communities facing both earthquake damage and risks tied to the armed conflict - as a persistent concern.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and 364 rescued (all unchanged from 2 Sep); missing fell to 122 from 136 at the 2 Sep cut, with no explanation given; 293,743 families (466,606 people, unchanged) affected across 498 municipalities in 16 departments (up from 497). Housing: 201,010 homes damaged (up from 201,005) and 36,336 destroyed (unchanged), plus 5,889 buildings damaged and 709 collapsed (both unchanged). Infrastructure: 400 health, 4,292 educational (up from 4,287) and 5,600 community facilities; 468 roads, 5 airports, 140 aqueducts, 91 road bridges and 13 footbridges affected (all unchanged).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announced a temporary economic subsidy of COP 787,907-1,050,543 per month for three months for RUD-registered families whose homes were destroyed or declared uninhabitable.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 of this update, UNGRD's most recent published balance remained the 3 Sep 06:30 cut-off (no new balance had posted as of mid-afternoon on 4 Sep); UNGRD's director met WFP Colombia's country director to coordinate food-assistance actions for affected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WFP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(7/8)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13:21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accompanied President Abelardo de la Espriella and the Housing Minister to Buga and Cali to assess 10 August earthquake damage. In Buga, the delegation inspected structural damage at the Basílica del Señor de los Milagros, the ITA educational institute and the Pueblo Nuevo corregimiento; in Cali, the visit covered the Cuarto de Legua neighbourhood, meeting affected residents. The national government is coordinating with local mayors' offices to speed up the census and direct delivery of financial aid.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 17:02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director David Santiago Tamayo and WFP Colombia country director Neils Greede formalised a strategic alliance to secure food assistance for families affected by the earthquake, building on their 4 Sep meeting; the two agencies also strengthened cooperation for future responses, citing El Niño and forest fires as examples.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6 Sep 2026 (posted 11:48 COT), the first new balance since the 3 Sep 06:30 cut - no balance was posted on 4 or 5 Sep. 331 deaths (unchanged), 4,505 injured (down from 4,519), 111 missing (down from 122) and 364 rescued alive (unchanged), across 498 municipalities in 16 departments (unchanged); 296,725 families (466,644 people) affected, up from 293,743 families (466,606 people). Housing: 201,989 homes damaged (up from 201,010) and 36,326 destroyed (down from 36,336), plus 6,005 buildings damaged and 743 collapsed (both up from 5,889 and 709). UNGRD gives no explanation for the small decreases in injured, missing and destroyed housing; as with earlier revisions this report treats them as reconciliation of reports filed, resolved and de-duplicated during ongoing consolidation rather than new information about casualties or a corrected report. UNGRD again describes the figures as preliminary and still being consolidated by territorial entities and operational agencies.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(8/8)</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Figures as of the UNGRD balance with a 06:30 COT cut-off on 7 Sep 2026 (posted 07:43 COT). 331 deaths (unchanged), 4,505 injured (unchanged), 111 missing (unchanged) and 364 rescued alive (unchanged), across 498 municipalities in 16 departments (unchanged); 296,738 families (466,709 people) affected, up slightly from 296,725 families (466,644 people) at the 6 Sep 06:30 cut. Housing: 202,002 homes damaged (up from 201,989) and 36,326 destroyed (unchanged), plus 6,005 buildings damaged and 743 collapsed (both unchanged). Infrastructure newly itemised in this balance: 400 health facilities, 4,313 educational facilities (up from 4,288), 6,033 community facilities (down from 6,035), 521 roads (up from 491), 5 airports, 141 aqueducts (unchanged), 102 road bridges (up from 91) and 13 footbridges (unchanged) affected. UNGRD again describes the figures as preliminary and still being consolidated. All figures are preliminary; quote the cut-off with the number.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received a 14.9-tonne field hospital donated by the State of Qatar, including 6 ICU beds, 44 standard patient beds, 50 blankets/sheets/pillows sets, 26 air-conditioning units and a diesel storage tank. The hospital can be relocated to whichever territory needs it to support the response to the earthquake and other emergencies. Coordinated via the Embassy of Qatar in Bogotá.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Qatar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began disbursing temporary housing economic support payments to earthquake-affected households: in Chocó from 11 September (more than COP 3,324 million for the first month, for households whose homes were destroyed or are uninhabitable), and in Cali from 12 September, both via SuperGiros payment points against original national ID, over a 15-calendar-day claim window. UNGRD states payments will subsequently extend to Valle del Cauca, Caldas, Quindio and Risaralda. No new casualty or damage balance was posted between 7 and 12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Areas</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bDKa7M/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epicentre</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Department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City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Dist.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Note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Chocó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San José del Palmar / Quibdó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Epicentral department; 9 municipalities with reported damage; access, power and communications constrained.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Risaralda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Pereira, Dosquebradas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Highest reported death toll (at least 40; the governor cites at least 42). Airport terminal partially collapsed.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Valle del Cauca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Cali, Cartago, Buenaventura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27 deaths reported; 25-30 collapsed structures at 12 critical points in Cali; University Hospital heavily damaged.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+4 more</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Epicentre &amp; Seismic Intensity</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DKa7M/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macroseismic intensity map (ShakeMap)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Value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Origin time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Epicentre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 5 km S of San José del Palmar, Chocó Department (approx. 280 km W of Bogotá) — SGC: 12 km from San José del Palmar (4.8436N, -76.2422E)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Magnitude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 (USGS)   ·   7.4 (SGC)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Depth</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 km (USGS, PAGER v5) / 103 km (SGC, revised 11 Aug)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Max. intensity</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MMI VII (Very strong) — USGS ShakeMap; the SGC macroseismic intensity map agrees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Mechanism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Strike-slip faulting at intermediate depth, within the subducting Nazca slab (not on the shallow plate interface)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 across western and central Colombia including Bogotá, Cali and Medellín, and in Ecuador, Panama and Venezuela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Source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 / SGC / 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 Epicentre Distribution &amp; Aftershocks</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DKa7M/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Epicentre distribution: mainshock and 284 aftershocks, 10-19 Aug 2026 (SGC Catalogo de Sismicidad; base map 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bDKa7M/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Aftershock time-series</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
</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Depth about 110 km (USGS, revised): an intraslab event, not a plate-interface megathrust.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Strike-slip mechanism within the descending Nazca slab (USGS tectonic summary).</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Maximum shaking MMI VII (Very strong); about 10.5 million people exposed to MMI VI-VII.</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 (v5) Orange alert: the most likely fatality band is 1,000-10,000 and the most likely loss band USD 100-1,000 million — model estimates, not observations, and far above the figures reported so far.</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SGC assesses this as the largest-magnitude earthquake recorded in Colombia in the past decade.</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Shaking was reported as unusually long in duration in cities far from the epicentre - a characteristic of deep events recorded on soft valley sediments.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Coffee Region has a history of both deep and shallow damaging events: M7.0 at 150 km depth in 1938, M6.5 at 64 km in 1962 and M6.1 at 15 km in 1999 (SGC/GEM national hazard model).</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Source Mechanism &amp; Waveform Analysis</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Magnitude M7.4 (USGS Mww) / M7.4 (SGC); depth about 110 km (USGS) / 103 km (SGC).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Intraslab event within the subducting Nazca plate, not a plate-interface megathrust.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No surface faulting and no tsunami; shaking felt as far as Bogota, Quito and Panama City.</a:t>
            </a:r>
            <a:endParaRPr lang="en-US" sz="1300" dirty="0"/>
          </a:p>
        </p:txBody>
      </p:sp>
      <p:pic>
        <p:nvPicPr>
          <p:cNvPr id="5" name="Image 1" descr="/tmp/build_event-bDKa7M/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Focal mechanism / moment tensor (beachball)</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Waveform-based analysis resources
</a:t>
            </a:r>
            <a:pPr algn="l" indent="0" marL="0">
              <a:buNone/>
            </a:pPr>
            <a:r>
              <a:rPr lang="en-US" sz="1200" dirty="0">
                <a:solidFill>
                  <a:srgbClr val="222222"/>
                </a:solidFill>
                <a:latin typeface="Meiryo" pitchFamily="34" charset="0"/>
                <a:ea typeface="Meiryo" pitchFamily="34" charset="-122"/>
                <a:cs typeface="Meiryo" pitchFamily="34" charset="-120"/>
              </a:rPr>
              <a:t>• USGS — moment tensor &amp; finite-fault model (event page)
</a:t>
            </a:r>
            <a:pPr algn="l" indent="0" marL="0">
              <a:buNone/>
            </a:pPr>
            <a:r>
              <a:rPr lang="en-US" sz="1200" dirty="0">
                <a:solidFill>
                  <a:srgbClr val="222222"/>
                </a:solidFill>
                <a:latin typeface="Meiryo" pitchFamily="34" charset="0"/>
                <a:ea typeface="Meiryo" pitchFamily="34" charset="-122"/>
                <a:cs typeface="Meiryo" pitchFamily="34" charset="-120"/>
              </a:rPr>
              <a:t>• SGC — Colombian national seismological network (RSNC)
</a:t>
            </a:r>
            <a:pPr algn="l" indent="0" marL="0">
              <a:buNone/>
            </a:pPr>
            <a:r>
              <a:rPr lang="en-US" sz="1200" dirty="0">
                <a:solidFill>
                  <a:srgbClr val="222222"/>
                </a:solidFill>
                <a:latin typeface="Meiryo" pitchFamily="34" charset="0"/>
                <a:ea typeface="Meiryo" pitchFamily="34" charset="-122"/>
                <a:cs typeface="Meiryo" pitchFamily="34" charset="-120"/>
              </a:rPr>
              <a:t>• GEOFON / GFZ — regional broadband moment tensor</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Notable Aftershocks</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rPr>
                        <a:t>Time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Tier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08:18 </a:t>
                      </a:r>
                      <a:pPr algn="l" indent="0" marL="0">
                        <a:buNone/>
                      </a:pPr>
                      <a:r>
                        <a:rPr lang="en-US" sz="1150" dirty="0">
                          <a:solidFill>
                            <a:srgbClr val="222222"/>
                          </a:solidFill>
                        </a:rPr>
                        <a:t>COT </a:t>
                      </a:r>
                      <a:pPr algn="l" indent="0" marL="0">
                        <a:buNone/>
                      </a:pPr>
                      <a:r>
                        <a:rPr lang="en-US" sz="1150" dirty="0">
                          <a:solidFill>
                            <a:srgbClr val="222222"/>
                          </a:solidFill>
                        </a:rPr>
                        <a:t>(13:18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M4.8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aftershock, </a:t>
                      </a:r>
                      <a:pPr algn="l" indent="0" marL="0">
                        <a:buNone/>
                      </a:pPr>
                      <a:r>
                        <a:rPr lang="en-US" sz="1050" dirty="0">
                          <a:solidFill>
                            <a:srgbClr val="222222"/>
                          </a:solidFill>
                        </a:rPr>
                        <a:t>44 </a:t>
                      </a:r>
                      <a:pPr algn="l" indent="0" marL="0">
                        <a:buNone/>
                      </a:pPr>
                      <a:r>
                        <a:rPr lang="en-US" sz="1050" dirty="0">
                          <a:solidFill>
                            <a:srgbClr val="222222"/>
                          </a:solidFill>
                        </a:rPr>
                        <a:t>minutes </a:t>
                      </a:r>
                      <a:pPr algn="l" indent="0" marL="0">
                        <a:buNone/>
                      </a:pPr>
                      <a:r>
                        <a:rPr lang="en-US" sz="1050" dirty="0">
                          <a:solidFill>
                            <a:srgbClr val="222222"/>
                          </a:solidFill>
                        </a:rPr>
                        <a:t>after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94 </a:t>
                      </a:r>
                      <a:pPr algn="l" indent="0" marL="0">
                        <a:buNone/>
                      </a:pPr>
                      <a:r>
                        <a:rPr lang="en-US" sz="1050" dirty="0">
                          <a:solidFill>
                            <a:srgbClr val="222222"/>
                          </a:solidFill>
                        </a:rPr>
                        <a:t>km, </a:t>
                      </a:r>
                      <a:pPr algn="l" indent="0" marL="0">
                        <a:buNone/>
                      </a:pPr>
                      <a:r>
                        <a:rPr lang="en-US" sz="1050" dirty="0">
                          <a:solidFill>
                            <a:srgbClr val="222222"/>
                          </a:solidFill>
                        </a:rPr>
                        <a:t>19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(SGC2026pqryij). </a:t>
                      </a:r>
                      <a:pPr algn="l" indent="0" marL="0">
                        <a:buNone/>
                      </a:pPr>
                      <a:r>
                        <a:rPr lang="en-US" sz="1050" dirty="0">
                          <a:solidFill>
                            <a:srgbClr val="222222"/>
                          </a:solidFill>
                        </a:rPr>
                        <a:t>USGS </a:t>
                      </a:r>
                      <a:pPr algn="l" indent="0" marL="0">
                        <a:buNone/>
                      </a:pPr>
                      <a:r>
                        <a:rPr lang="en-US" sz="1050" dirty="0">
                          <a:solidFill>
                            <a:srgbClr val="222222"/>
                          </a:solidFill>
                        </a:rPr>
                        <a:t>catalogues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event </a:t>
                      </a:r>
                      <a:pPr algn="l" indent="0" marL="0">
                        <a:buNone/>
                      </a:pPr>
                      <a:r>
                        <a:rPr lang="en-US" sz="1050" dirty="0">
                          <a:solidFill>
                            <a:srgbClr val="222222"/>
                          </a:solidFill>
                        </a:rPr>
                        <a:t>as </a:t>
                      </a:r>
                      <a:pPr algn="l" indent="0" marL="0">
                        <a:buNone/>
                      </a:pPr>
                      <a:r>
                        <a:rPr lang="en-US" sz="1050" dirty="0">
                          <a:solidFill>
                            <a:srgbClr val="222222"/>
                          </a:solidFill>
                        </a:rPr>
                        <a:t>mb </a:t>
                      </a:r>
                      <a:pPr algn="l" indent="0" marL="0">
                        <a:buNone/>
                      </a:pPr>
                      <a:r>
                        <a:rPr lang="en-US" sz="1050" dirty="0">
                          <a:solidFill>
                            <a:srgbClr val="222222"/>
                          </a:solidFill>
                        </a:rPr>
                        <a:t>5.0 </a:t>
                      </a:r>
                      <a:pPr algn="l" indent="0" marL="0">
                        <a:buNone/>
                      </a:pPr>
                      <a:r>
                        <a:rPr lang="en-US" sz="1050" dirty="0">
                          <a:solidFill>
                            <a:srgbClr val="222222"/>
                          </a:solidFill>
                        </a:rPr>
                        <a:t>at </a:t>
                      </a:r>
                      <a:pPr algn="l" indent="0" marL="0">
                        <a:buNone/>
                      </a:pPr>
                      <a:r>
                        <a:rPr lang="en-US" sz="1050" dirty="0">
                          <a:solidFill>
                            <a:srgbClr val="222222"/>
                          </a:solidFill>
                        </a:rPr>
                        <a:t>98.5 </a:t>
                      </a:r>
                      <a:pPr algn="l" indent="0" marL="0">
                        <a:buNone/>
                      </a:pPr>
                      <a:r>
                        <a:rPr lang="en-US" sz="1050" dirty="0">
                          <a:solidFill>
                            <a:srgbClr val="222222"/>
                          </a:solidFill>
                        </a:rPr>
                        <a:t>km. </a:t>
                      </a:r>
                      <a:pPr algn="l" indent="0" marL="0">
                        <a:buNone/>
                      </a:pPr>
                      <a:r>
                        <a:rPr lang="en-US" sz="1050" dirty="0">
                          <a:solidFill>
                            <a:srgbClr val="222222"/>
                          </a:solidFill>
                        </a:rPr>
                        <a:t>Widely </a:t>
                      </a:r>
                      <a:pPr algn="l" indent="0" marL="0">
                        <a:buNone/>
                      </a:pPr>
                      <a:r>
                        <a:rPr lang="en-US" sz="1050" dirty="0">
                          <a:solidFill>
                            <a:srgbClr val="222222"/>
                          </a:solidFill>
                        </a:rPr>
                        <a:t>felt.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10:01 </a:t>
                      </a:r>
                      <a:pPr algn="l" indent="0" marL="0">
                        <a:buNone/>
                      </a:pPr>
                      <a:r>
                        <a:rPr lang="en-US" sz="1150" dirty="0">
                          <a:solidFill>
                            <a:srgbClr val="222222"/>
                          </a:solidFill>
                        </a:rPr>
                        <a:t>COT </a:t>
                      </a:r>
                      <a:pPr algn="l" indent="0" marL="0">
                        <a:buNone/>
                      </a:pPr>
                      <a:r>
                        <a:rPr lang="en-US" sz="1150" dirty="0">
                          <a:solidFill>
                            <a:srgbClr val="222222"/>
                          </a:solidFill>
                        </a:rPr>
                        <a:t>(15:01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88 </a:t>
                      </a:r>
                      <a:pPr algn="l" indent="0" marL="0">
                        <a:buNone/>
                      </a:pPr>
                      <a:r>
                        <a:rPr lang="en-US" sz="1050" dirty="0">
                          <a:solidFill>
                            <a:srgbClr val="222222"/>
                          </a:solidFill>
                        </a:rPr>
                        <a:t>km. </a:t>
                      </a:r>
                      <a:pPr algn="l" indent="0" marL="0">
                        <a:buNone/>
                      </a:pPr>
                      <a:r>
                        <a:rPr lang="en-US" sz="1050" dirty="0">
                          <a:solidFill>
                            <a:srgbClr val="222222"/>
                          </a:solidFill>
                        </a:rPr>
                        <a:t>This </a:t>
                      </a:r>
                      <a:pPr algn="l" indent="0" marL="0">
                        <a:buNone/>
                      </a:pPr>
                      <a:r>
                        <a:rPr lang="en-US" sz="1050" dirty="0">
                          <a:solidFill>
                            <a:srgbClr val="222222"/>
                          </a:solidFill>
                        </a:rPr>
                        <a:t>is </a:t>
                      </a:r>
                      <a:pPr algn="l" indent="0" marL="0">
                        <a:buNone/>
                      </a:pPr>
                      <a:r>
                        <a:rPr lang="en-US" sz="1050" dirty="0">
                          <a:solidFill>
                            <a:srgbClr val="222222"/>
                          </a:solidFill>
                        </a:rPr>
                        <a:t>the </a:t>
                      </a:r>
                      <a:pPr algn="l" indent="0" marL="0">
                        <a:buNone/>
                      </a:pPr>
                      <a:r>
                        <a:rPr lang="en-US" sz="1050" dirty="0">
                          <a:solidFill>
                            <a:srgbClr val="222222"/>
                          </a:solidFill>
                        </a:rPr>
                        <a:t>event </a:t>
                      </a:r>
                      <a:pPr algn="l" indent="0" marL="0">
                        <a:buNone/>
                      </a:pPr>
                      <a:r>
                        <a:rPr lang="en-US" sz="1050" dirty="0">
                          <a:solidFill>
                            <a:srgbClr val="222222"/>
                          </a:solidFill>
                        </a:rPr>
                        <a:t>two </a:t>
                      </a:r>
                      <a:pPr algn="l" indent="0" marL="0">
                        <a:buNone/>
                      </a:pPr>
                      <a:r>
                        <a:rPr lang="en-US" sz="1050" dirty="0">
                          <a:solidFill>
                            <a:srgbClr val="222222"/>
                          </a:solidFill>
                        </a:rPr>
                        <a:t>regional </a:t>
                      </a:r>
                      <a:pPr algn="l" indent="0" marL="0">
                        <a:buNone/>
                      </a:pPr>
                      <a:r>
                        <a:rPr lang="en-US" sz="1050" dirty="0">
                          <a:solidFill>
                            <a:srgbClr val="222222"/>
                          </a:solidFill>
                        </a:rPr>
                        <a:t>agencies </a:t>
                      </a:r>
                      <a:pPr algn="l" indent="0" marL="0">
                        <a:buNone/>
                      </a:pPr>
                      <a:r>
                        <a:rPr lang="en-US" sz="1050" dirty="0">
                          <a:solidFill>
                            <a:srgbClr val="222222"/>
                          </a:solidFill>
                        </a:rPr>
                        <a:t>published </a:t>
                      </a:r>
                      <a:pPr algn="l" indent="0" marL="0">
                        <a:buNone/>
                      </a:pPr>
                      <a:r>
                        <a:rPr lang="en-US" sz="1050" dirty="0">
                          <a:solidFill>
                            <a:srgbClr val="222222"/>
                          </a:solidFill>
                        </a:rPr>
                        <a:t>as </a:t>
                      </a:r>
                      <a:pPr algn="l" indent="0" marL="0">
                        <a:buNone/>
                      </a:pPr>
                      <a:r>
                        <a:rPr lang="en-US" sz="1050" dirty="0">
                          <a:solidFill>
                            <a:srgbClr val="222222"/>
                          </a:solidFill>
                        </a:rPr>
                        <a:t>M4.7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multi-agency </a:t>
                      </a:r>
                      <a:pPr algn="l" indent="0" marL="0">
                        <a:buNone/>
                      </a:pPr>
                      <a:r>
                        <a:rPr lang="en-US" sz="1050" dirty="0">
                          <a:solidFill>
                            <a:srgbClr val="222222"/>
                          </a:solidFill>
                        </a:rPr>
                        <a:t>bulletin; </a:t>
                      </a:r>
                      <a:pPr algn="l" indent="0" marL="0">
                        <a:buNone/>
                      </a:pPr>
                      <a:r>
                        <a:rPr lang="en-US" sz="1050" dirty="0">
                          <a:solidFill>
                            <a:srgbClr val="222222"/>
                          </a:solidFill>
                        </a:rPr>
                        <a:t>the </a:t>
                      </a:r>
                      <a:pPr algn="l" indent="0" marL="0">
                        <a:buNone/>
                      </a:pPr>
                      <a:r>
                        <a:rPr lang="en-US" sz="1050" dirty="0">
                          <a:solidFill>
                            <a:srgbClr val="222222"/>
                          </a:solidFill>
                        </a:rPr>
                        <a:t>SGC </a:t>
                      </a:r>
                      <a:pPr algn="l" indent="0" marL="0">
                        <a:buNone/>
                      </a:pPr>
                      <a:r>
                        <a:rPr lang="en-US" sz="1050" dirty="0">
                          <a:solidFill>
                            <a:srgbClr val="222222"/>
                          </a:solidFill>
                        </a:rPr>
                        <a:t>solution </a:t>
                      </a:r>
                      <a:pPr algn="l" indent="0" marL="0">
                        <a:buNone/>
                      </a:pPr>
                      <a:r>
                        <a:rPr lang="en-US" sz="1050" dirty="0">
                          <a:solidFill>
                            <a:srgbClr val="222222"/>
                          </a:solidFill>
                        </a:rPr>
                        <a:t>is </a:t>
                      </a:r>
                      <a:pPr algn="l" indent="0" marL="0">
                        <a:buNone/>
                      </a:pPr>
                      <a:r>
                        <a:rPr lang="en-US" sz="1050" dirty="0">
                          <a:solidFill>
                            <a:srgbClr val="222222"/>
                          </a:solidFill>
                        </a:rPr>
                        <a:t>0.9 </a:t>
                      </a:r>
                      <a:pPr algn="l" indent="0" marL="0">
                        <a:buNone/>
                      </a:pPr>
                      <a:r>
                        <a:rPr lang="en-US" sz="1050" dirty="0">
                          <a:solidFill>
                            <a:srgbClr val="222222"/>
                          </a:solidFill>
                        </a:rPr>
                        <a:t>units </a:t>
                      </a:r>
                      <a:pPr algn="l" indent="0" marL="0">
                        <a:buNone/>
                      </a:pPr>
                      <a:r>
                        <a:rPr lang="en-US" sz="1050" dirty="0">
                          <a:solidFill>
                            <a:srgbClr val="222222"/>
                          </a:solidFill>
                        </a:rPr>
                        <a:t>smaller.</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11 </a:t>
                      </a:r>
                      <a:pPr algn="l" indent="0" marL="0">
                        <a:buNone/>
                      </a:pPr>
                      <a:r>
                        <a:rPr lang="en-US" sz="1150" dirty="0">
                          <a:solidFill>
                            <a:srgbClr val="222222"/>
                          </a:solidFill>
                        </a:rPr>
                        <a:t>Aug </a:t>
                      </a:r>
                      <a:pPr algn="l" indent="0" marL="0">
                        <a:buNone/>
                      </a:pPr>
                      <a:r>
                        <a:rPr lang="en-US" sz="1150" dirty="0">
                          <a:solidFill>
                            <a:srgbClr val="222222"/>
                          </a:solidFill>
                        </a:rPr>
                        <a:t>00:12 </a:t>
                      </a:r>
                      <a:pPr algn="l" indent="0" marL="0">
                        <a:buNone/>
                      </a:pPr>
                      <a:r>
                        <a:rPr lang="en-US" sz="1150" dirty="0">
                          <a:solidFill>
                            <a:srgbClr val="222222"/>
                          </a:solidFill>
                        </a:rPr>
                        <a:t>/ </a:t>
                      </a:r>
                      <a:pPr algn="l" indent="0" marL="0">
                        <a:buNone/>
                      </a:pPr>
                      <a:r>
                        <a:rPr lang="en-US" sz="1150" dirty="0">
                          <a:solidFill>
                            <a:srgbClr val="222222"/>
                          </a:solidFill>
                        </a:rPr>
                        <a:t>10:43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M3.6 </a:t>
                      </a:r>
                      <a:pPr algn="ctr" indent="0" marL="0">
                        <a:buNone/>
                      </a:pPr>
                      <a:r>
                        <a:rPr lang="en-US" sz="1150" b="1" dirty="0">
                          <a:solidFill>
                            <a:srgbClr val="1F3864"/>
                          </a:solidFill>
                        </a:rPr>
                        <a:t>/ </a:t>
                      </a:r>
                      <a:pPr algn="ctr" indent="0" marL="0">
                        <a:buNone/>
                      </a:pPr>
                      <a:r>
                        <a:rPr lang="en-US" sz="1150" b="1" dirty="0">
                          <a:solidFill>
                            <a:srgbClr val="1F3864"/>
                          </a:solidFill>
                        </a:rPr>
                        <a:t>M3.9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depths </a:t>
                      </a:r>
                      <a:pPr algn="l" indent="0" marL="0">
                        <a:buNone/>
                      </a:pPr>
                      <a:r>
                        <a:rPr lang="en-US" sz="1050" dirty="0">
                          <a:solidFill>
                            <a:srgbClr val="222222"/>
                          </a:solidFill>
                        </a:rPr>
                        <a:t>96 </a:t>
                      </a:r>
                      <a:pPr algn="l" indent="0" marL="0">
                        <a:buNone/>
                      </a:pPr>
                      <a:r>
                        <a:rPr lang="en-US" sz="1050" dirty="0">
                          <a:solidFill>
                            <a:srgbClr val="222222"/>
                          </a:solidFill>
                        </a:rPr>
                        <a:t>km </a:t>
                      </a:r>
                      <a:pPr algn="l" indent="0" marL="0">
                        <a:buNone/>
                      </a:pPr>
                      <a:r>
                        <a:rPr lang="en-US" sz="1050" dirty="0">
                          <a:solidFill>
                            <a:srgbClr val="222222"/>
                          </a:solidFill>
                        </a:rPr>
                        <a:t>and </a:t>
                      </a:r>
                      <a:pPr algn="l" indent="0" marL="0">
                        <a:buNone/>
                      </a:pPr>
                      <a:r>
                        <a:rPr lang="en-US" sz="1050" dirty="0">
                          <a:solidFill>
                            <a:srgbClr val="222222"/>
                          </a:solidFill>
                        </a:rPr>
                        <a:t>92 </a:t>
                      </a:r>
                      <a:pPr algn="l" indent="0" marL="0">
                        <a:buNone/>
                      </a:pPr>
                      <a:r>
                        <a:rPr lang="en-US" sz="1050" dirty="0">
                          <a:solidFill>
                            <a:srgbClr val="222222"/>
                          </a:solidFill>
                        </a:rPr>
                        <a:t>km. </a:t>
                      </a:r>
                      <a:pPr algn="l" indent="0" marL="0">
                        <a:buNone/>
                      </a:pPr>
                      <a:r>
                        <a:rPr lang="en-US" sz="1050" dirty="0">
                          <a:solidFill>
                            <a:srgbClr val="222222"/>
                          </a:solidFill>
                        </a:rPr>
                        <a:t>The </a:t>
                      </a:r>
                      <a:pPr algn="l" indent="0" marL="0">
                        <a:buNone/>
                      </a:pPr>
                      <a:r>
                        <a:rPr lang="en-US" sz="1050" dirty="0">
                          <a:solidFill>
                            <a:srgbClr val="222222"/>
                          </a:solidFill>
                        </a:rPr>
                        <a:t>10:43 </a:t>
                      </a:r>
                      <a:pPr algn="l" indent="0" marL="0">
                        <a:buNone/>
                      </a:pPr>
                      <a:r>
                        <a:rPr lang="en-US" sz="1050" dirty="0">
                          <a:solidFill>
                            <a:srgbClr val="222222"/>
                          </a:solidFill>
                        </a:rPr>
                        <a:t>event </a:t>
                      </a:r>
                      <a:pPr algn="l" indent="0" marL="0">
                        <a:buNone/>
                      </a:pPr>
                      <a:r>
                        <a:rPr lang="en-US" sz="1050" dirty="0">
                          <a:solidFill>
                            <a:srgbClr val="222222"/>
                          </a:solidFill>
                        </a:rPr>
                        <a:t>was </a:t>
                      </a:r>
                      <a:pPr algn="l" indent="0" marL="0">
                        <a:buNone/>
                      </a:pPr>
                      <a:r>
                        <a:rPr lang="en-US" sz="1050" dirty="0">
                          <a:solidFill>
                            <a:srgbClr val="222222"/>
                          </a:solidFill>
                        </a:rPr>
                        <a:t>felt </a:t>
                      </a:r>
                      <a:pPr algn="l" indent="0" marL="0">
                        <a:buNone/>
                      </a:pPr>
                      <a:r>
                        <a:rPr lang="en-US" sz="1050" dirty="0">
                          <a:solidFill>
                            <a:srgbClr val="222222"/>
                          </a:solidFill>
                        </a:rPr>
                        <a:t>strongly </a:t>
                      </a:r>
                      <a:pPr algn="l" indent="0" marL="0">
                        <a:buNone/>
                      </a:pPr>
                      <a:r>
                        <a:rPr lang="en-US" sz="1050" dirty="0">
                          <a:solidFill>
                            <a:srgbClr val="222222"/>
                          </a:solidFill>
                        </a:rPr>
                        <a:t>enough </a:t>
                      </a:r>
                      <a:pPr algn="l" indent="0" marL="0">
                        <a:buNone/>
                      </a:pPr>
                      <a:r>
                        <a:rPr lang="en-US" sz="1050" dirty="0">
                          <a:solidFill>
                            <a:srgbClr val="222222"/>
                          </a:solidFill>
                        </a:rPr>
                        <a:t>for </a:t>
                      </a:r>
                      <a:pPr algn="l" indent="0" marL="0">
                        <a:buNone/>
                      </a:pPr>
                      <a:r>
                        <a:rPr lang="en-US" sz="1050" dirty="0">
                          <a:solidFill>
                            <a:srgbClr val="222222"/>
                          </a:solidFill>
                        </a:rPr>
                        <a:t>buildings </a:t>
                      </a:r>
                      <a:pPr algn="l" indent="0" marL="0">
                        <a:buNone/>
                      </a:pPr>
                      <a:r>
                        <a:rPr lang="en-US" sz="1050" dirty="0">
                          <a:solidFill>
                            <a:srgbClr val="222222"/>
                          </a:solidFill>
                        </a:rPr>
                        <a:t>to </a:t>
                      </a:r>
                      <a:pPr algn="l" indent="0" marL="0">
                        <a:buNone/>
                      </a:pPr>
                      <a:r>
                        <a:rPr lang="en-US" sz="1050" dirty="0">
                          <a:solidFill>
                            <a:srgbClr val="222222"/>
                          </a:solidFill>
                        </a:rPr>
                        <a:t>be </a:t>
                      </a:r>
                      <a:pPr algn="l" indent="0" marL="0">
                        <a:buNone/>
                      </a:pPr>
                      <a:r>
                        <a:rPr lang="en-US" sz="1050" dirty="0">
                          <a:solidFill>
                            <a:srgbClr val="222222"/>
                          </a:solidFill>
                        </a:rPr>
                        <a:t>evacuated </a:t>
                      </a:r>
                      <a:pPr algn="l" indent="0" marL="0">
                        <a:buNone/>
                      </a:pPr>
                      <a:r>
                        <a:rPr lang="en-US" sz="1050" dirty="0">
                          <a:solidFill>
                            <a:srgbClr val="222222"/>
                          </a:solidFill>
                        </a:rPr>
                        <a:t>in </a:t>
                      </a:r>
                      <a:pPr algn="l" indent="0" marL="0">
                        <a:buNone/>
                      </a:pPr>
                      <a:r>
                        <a:rPr lang="en-US" sz="1050" dirty="0">
                          <a:solidFill>
                            <a:srgbClr val="222222"/>
                          </a:solidFill>
                        </a:rPr>
                        <a:t>several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affected </a:t>
                      </a:r>
                      <a:pPr algn="l" indent="0" marL="0">
                        <a:buNone/>
                      </a:pPr>
                      <a:r>
                        <a:rPr lang="en-US" sz="1050" dirty="0">
                          <a:solidFill>
                            <a:srgbClr val="222222"/>
                          </a:solidFill>
                        </a:rPr>
                        <a:t>cities.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13 </a:t>
                      </a:r>
                      <a:pPr algn="l" indent="0" marL="0">
                        <a:buNone/>
                      </a:pPr>
                      <a:r>
                        <a:rPr lang="en-US" sz="1150" dirty="0">
                          <a:solidFill>
                            <a:srgbClr val="222222"/>
                          </a:solidFill>
                        </a:rPr>
                        <a:t>Aug </a:t>
                      </a:r>
                      <a:pPr algn="l" indent="0" marL="0">
                        <a:buNone/>
                      </a:pPr>
                      <a:r>
                        <a:rPr lang="en-US" sz="1150" dirty="0">
                          <a:solidFill>
                            <a:srgbClr val="222222"/>
                          </a:solidFill>
                        </a:rPr>
                        <a:t>09:42 </a:t>
                      </a:r>
                      <a:pPr algn="l" indent="0" marL="0">
                        <a:buNone/>
                      </a:pPr>
                      <a:r>
                        <a:rPr lang="en-US" sz="1150" dirty="0">
                          <a:solidFill>
                            <a:srgbClr val="222222"/>
                          </a:solidFill>
                        </a:rPr>
                        <a:t>COT </a:t>
                      </a:r>
                      <a:pPr algn="l" indent="0" marL="0">
                        <a:buNone/>
                      </a:pPr>
                      <a:r>
                        <a:rPr lang="en-US" sz="1150" dirty="0">
                          <a:solidFill>
                            <a:srgbClr val="222222"/>
                          </a:solidFill>
                        </a:rPr>
                        <a:t>(14:42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M4.2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95 </a:t>
                      </a:r>
                      <a:pPr algn="l" indent="0" marL="0">
                        <a:buNone/>
                      </a:pPr>
                      <a:r>
                        <a:rPr lang="en-US" sz="1050" dirty="0">
                          <a:solidFill>
                            <a:srgbClr val="222222"/>
                          </a:solidFill>
                        </a:rPr>
                        <a:t>km, </a:t>
                      </a:r>
                      <a:pPr algn="l" indent="0" marL="0">
                        <a:buNone/>
                      </a:pPr>
                      <a:r>
                        <a:rPr lang="en-US" sz="1050" dirty="0">
                          <a:solidFill>
                            <a:srgbClr val="222222"/>
                          </a:solidFill>
                        </a:rPr>
                        <a:t>about </a:t>
                      </a:r>
                      <a:pPr algn="l" indent="0" marL="0">
                        <a:buNone/>
                      </a:pPr>
                      <a:r>
                        <a:rPr lang="en-US" sz="1050" dirty="0">
                          <a:solidFill>
                            <a:srgbClr val="222222"/>
                          </a:solidFill>
                        </a:rPr>
                        <a:t>20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source </a:t>
                      </a:r>
                      <a:pPr algn="l" indent="0" marL="0">
                        <a:buNone/>
                      </a:pPr>
                      <a:r>
                        <a:rPr lang="en-US" sz="1050" dirty="0">
                          <a:solidFill>
                            <a:srgbClr val="222222"/>
                          </a:solidFill>
                        </a:rPr>
                        <a:t>volume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Felt </a:t>
                      </a:r>
                      <a:pPr algn="l" indent="0" marL="0">
                        <a:buNone/>
                      </a:pPr>
                      <a:r>
                        <a:rPr lang="en-US" sz="1050" dirty="0">
                          <a:solidFill>
                            <a:srgbClr val="222222"/>
                          </a:solidFill>
                        </a:rPr>
                        <a:t>as </a:t>
                      </a:r>
                      <a:pPr algn="l" indent="0" marL="0">
                        <a:buNone/>
                      </a:pPr>
                      <a:r>
                        <a:rPr lang="en-US" sz="1050" dirty="0">
                          <a:solidFill>
                            <a:srgbClr val="222222"/>
                          </a:solidFill>
                        </a:rPr>
                        <a:t>far </a:t>
                      </a:r>
                      <a:pPr algn="l" indent="0" marL="0">
                        <a:buNone/>
                      </a:pPr>
                      <a:r>
                        <a:rPr lang="en-US" sz="1050" dirty="0">
                          <a:solidFill>
                            <a:srgbClr val="222222"/>
                          </a:solidFill>
                        </a:rPr>
                        <a:t>as </a:t>
                      </a:r>
                      <a:pPr algn="l" indent="0" marL="0">
                        <a:buNone/>
                      </a:pPr>
                      <a:r>
                        <a:rPr lang="en-US" sz="1050" dirty="0">
                          <a:solidFill>
                            <a:srgbClr val="222222"/>
                          </a:solidFill>
                        </a:rPr>
                        <a:t>Bogotá </a:t>
                      </a:r>
                      <a:pPr algn="l" indent="0" marL="0">
                        <a:buNone/>
                      </a:pPr>
                      <a:r>
                        <a:rPr lang="en-US" sz="1050" dirty="0">
                          <a:solidFill>
                            <a:srgbClr val="222222"/>
                          </a:solidFill>
                        </a:rPr>
                        <a:t>and </a:t>
                      </a:r>
                      <a:pPr algn="l" indent="0" marL="0">
                        <a:buNone/>
                      </a:pPr>
                      <a:r>
                        <a:rPr lang="en-US" sz="1050" dirty="0">
                          <a:solidFill>
                            <a:srgbClr val="222222"/>
                          </a:solidFill>
                        </a:rPr>
                        <a:t>strong </a:t>
                      </a:r>
                      <a:pPr algn="l" indent="0" marL="0">
                        <a:buNone/>
                      </a:pPr>
                      <a:r>
                        <a:rPr lang="en-US" sz="1050" dirty="0">
                          <a:solidFill>
                            <a:srgbClr val="222222"/>
                          </a:solidFill>
                        </a:rPr>
                        <a:t>enough </a:t>
                      </a:r>
                      <a:pPr algn="l" indent="0" marL="0">
                        <a:buNone/>
                      </a:pPr>
                      <a:r>
                        <a:rPr lang="en-US" sz="1050" dirty="0">
                          <a:solidFill>
                            <a:srgbClr val="222222"/>
                          </a:solidFill>
                        </a:rPr>
                        <a:t>to </a:t>
                      </a:r>
                      <a:pPr algn="l" indent="0" marL="0">
                        <a:buNone/>
                      </a:pPr>
                      <a:r>
                        <a:rPr lang="en-US" sz="1050" dirty="0">
                          <a:solidFill>
                            <a:srgbClr val="222222"/>
                          </a:solidFill>
                        </a:rPr>
                        <a:t>halt </a:t>
                      </a:r>
                      <a:pPr algn="l" indent="0" marL="0">
                        <a:buNone/>
                      </a:pPr>
                      <a:r>
                        <a:rPr lang="en-US" sz="1050" dirty="0">
                          <a:solidFill>
                            <a:srgbClr val="222222"/>
                          </a:solidFill>
                        </a:rPr>
                        <a:t>search-and-rescue </a:t>
                      </a:r>
                      <a:pPr algn="l" indent="0" marL="0">
                        <a:buNone/>
                      </a:pPr>
                      <a:r>
                        <a:rPr lang="en-US" sz="1050" dirty="0">
                          <a:solidFill>
                            <a:srgbClr val="222222"/>
                          </a:solidFill>
                        </a:rPr>
                        <a:t>work </a:t>
                      </a:r>
                      <a:pPr algn="l" indent="0" marL="0">
                        <a:buNone/>
                      </a:pPr>
                      <a:r>
                        <a:rPr lang="en-US" sz="1050" dirty="0">
                          <a:solidFill>
                            <a:srgbClr val="222222"/>
                          </a:solidFill>
                        </a:rPr>
                        <a:t>temporarily.</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to </a:t>
                      </a:r>
                      <a:pPr algn="l" indent="0" marL="0">
                        <a:buNone/>
                      </a:pPr>
                      <a:r>
                        <a:rPr lang="en-US" sz="1150" dirty="0">
                          <a:solidFill>
                            <a:srgbClr val="222222"/>
                          </a:solidFill>
                        </a:rPr>
                        <a:t>14 </a:t>
                      </a:r>
                      <a:pPr algn="l" indent="0" marL="0">
                        <a:buNone/>
                      </a:pPr>
                      <a:r>
                        <a:rPr lang="en-US" sz="1150" dirty="0">
                          <a:solidFill>
                            <a:srgbClr val="222222"/>
                          </a:solidFill>
                        </a:rPr>
                        <a:t>Aug </a:t>
                      </a:r>
                      <a:pPr algn="l" indent="0" marL="0">
                        <a:buNone/>
                      </a:pPr>
                      <a:r>
                        <a:rPr lang="en-US" sz="1150" dirty="0">
                          <a:solidFill>
                            <a:srgbClr val="222222"/>
                          </a:solidFill>
                        </a:rPr>
                        <a:t>07:00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184 </a:t>
                      </a:r>
                      <a:pPr algn="ctr" indent="0" marL="0">
                        <a:buNone/>
                      </a:pPr>
                      <a:r>
                        <a:rPr lang="en-US" sz="1150" b="1" dirty="0">
                          <a:solidFill>
                            <a:srgbClr val="1F3864"/>
                          </a:solidFill>
                        </a:rPr>
                        <a:t>located</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SGC </a:t>
                      </a:r>
                      <a:pPr algn="l" indent="0" marL="0">
                        <a:buNone/>
                      </a:pPr>
                      <a:r>
                        <a:rPr lang="en-US" sz="1050" dirty="0">
                          <a:solidFill>
                            <a:srgbClr val="222222"/>
                          </a:solidFill>
                        </a:rPr>
                        <a:t>running </a:t>
                      </a:r>
                      <a:pPr algn="l" indent="0" marL="0">
                        <a:buNone/>
                      </a:pPr>
                      <a:r>
                        <a:rPr lang="en-US" sz="1050" dirty="0">
                          <a:solidFill>
                            <a:srgbClr val="222222"/>
                          </a:solidFill>
                        </a:rPr>
                        <a:t>total </a:t>
                      </a:r>
                      <a:pPr algn="l" indent="0" marL="0">
                        <a:buNone/>
                      </a:pPr>
                      <a:r>
                        <a:rPr lang="en-US" sz="1050" dirty="0">
                          <a:solidFill>
                            <a:srgbClr val="222222"/>
                          </a:solidFill>
                        </a:rPr>
                        <a:t>four </a:t>
                      </a:r>
                      <a:pPr algn="l" indent="0" marL="0">
                        <a:buNone/>
                      </a:pPr>
                      <a:r>
                        <a:rPr lang="en-US" sz="1050" dirty="0">
                          <a:solidFill>
                            <a:srgbClr val="222222"/>
                          </a:solidFill>
                        </a:rPr>
                        <a:t>days </a:t>
                      </a:r>
                      <a:pPr algn="l" indent="0" marL="0">
                        <a:buNone/>
                      </a:pPr>
                      <a:r>
                        <a:rPr lang="en-US" sz="1050" dirty="0">
                          <a:solidFill>
                            <a:srgbClr val="222222"/>
                          </a:solidFill>
                        </a:rPr>
                        <a:t>on: </a:t>
                      </a:r>
                      <a:pPr algn="l" indent="0" marL="0">
                        <a:buNone/>
                      </a:pPr>
                      <a:r>
                        <a:rPr lang="en-US" sz="1050" dirty="0">
                          <a:solidFill>
                            <a:srgbClr val="222222"/>
                          </a:solidFill>
                        </a:rPr>
                        <a:t>184 </a:t>
                      </a:r>
                      <a:pPr algn="l" indent="0" marL="0">
                        <a:buNone/>
                      </a:pPr>
                      <a:r>
                        <a:rPr lang="en-US" sz="1050" dirty="0">
                          <a:solidFill>
                            <a:srgbClr val="222222"/>
                          </a:solidFill>
                        </a:rPr>
                        <a:t>aftershocks, </a:t>
                      </a:r>
                      <a:pPr algn="l" indent="0" marL="0">
                        <a:buNone/>
                      </a:pPr>
                      <a:r>
                        <a:rPr lang="en-US" sz="1050" dirty="0">
                          <a:solidFill>
                            <a:srgbClr val="222222"/>
                          </a:solidFill>
                        </a:rPr>
                        <a:t>15 </a:t>
                      </a:r>
                      <a:pPr algn="l" indent="0" marL="0">
                        <a:buNone/>
                      </a:pPr>
                      <a:r>
                        <a:rPr lang="en-US" sz="1050" dirty="0">
                          <a:solidFill>
                            <a:srgbClr val="222222"/>
                          </a:solidFill>
                        </a:rPr>
                        <a:t>above </a:t>
                      </a:r>
                      <a:pPr algn="l" indent="0" marL="0">
                        <a:buNone/>
                      </a:pPr>
                      <a:r>
                        <a:rPr lang="en-US" sz="1050" dirty="0">
                          <a:solidFill>
                            <a:srgbClr val="222222"/>
                          </a:solidFill>
                        </a:rPr>
                        <a:t>M3.0 </a:t>
                      </a:r>
                      <a:pPr algn="l" indent="0" marL="0">
                        <a:buNone/>
                      </a:pPr>
                      <a:r>
                        <a:rPr lang="en-US" sz="1050" dirty="0">
                          <a:solidFill>
                            <a:srgbClr val="222222"/>
                          </a:solidFill>
                        </a:rPr>
                        <a:t>and </a:t>
                      </a:r>
                      <a:pPr algn="l" indent="0" marL="0">
                        <a:buNone/>
                      </a:pPr>
                      <a:r>
                        <a:rPr lang="en-US" sz="1050" dirty="0">
                          <a:solidFill>
                            <a:srgbClr val="222222"/>
                          </a:solidFill>
                        </a:rPr>
                        <a:t>2 </a:t>
                      </a:r>
                      <a:pPr algn="l" indent="0" marL="0">
                        <a:buNone/>
                      </a:pPr>
                      <a:r>
                        <a:rPr lang="en-US" sz="1050" dirty="0">
                          <a:solidFill>
                            <a:srgbClr val="222222"/>
                          </a:solidFill>
                        </a:rPr>
                        <a:t>above </a:t>
                      </a:r>
                      <a:pPr algn="l" indent="0" marL="0">
                        <a:buNone/>
                      </a:pPr>
                      <a:r>
                        <a:rPr lang="en-US" sz="1050" dirty="0">
                          <a:solidFill>
                            <a:srgbClr val="222222"/>
                          </a:solidFill>
                        </a:rPr>
                        <a:t>M4.0. </a:t>
                      </a:r>
                      <a:pPr algn="l" indent="0" marL="0">
                        <a:buNone/>
                      </a:pPr>
                      <a:r>
                        <a:rPr lang="en-US" sz="1050" dirty="0">
                          <a:solidFill>
                            <a:srgbClr val="222222"/>
                          </a:solidFill>
                        </a:rPr>
                        <a:t>The </a:t>
                      </a:r>
                      <a:pPr algn="l" indent="0" marL="0">
                        <a:buNone/>
                      </a:pPr>
                      <a:r>
                        <a:rPr lang="en-US" sz="1050" dirty="0">
                          <a:solidFill>
                            <a:srgbClr val="222222"/>
                          </a:solidFill>
                        </a:rPr>
                        <a:t>published </a:t>
                      </a:r>
                      <a:pPr algn="l" indent="0" marL="0">
                        <a:buNone/>
                      </a:pPr>
                      <a:r>
                        <a:rPr lang="en-US" sz="1050" dirty="0">
                          <a:solidFill>
                            <a:srgbClr val="222222"/>
                          </a:solidFill>
                        </a:rPr>
                        <a:t>total </a:t>
                      </a:r>
                      <a:pPr algn="l" indent="0" marL="0">
                        <a:buNone/>
                      </a:pPr>
                      <a:r>
                        <a:rPr lang="en-US" sz="1050" dirty="0">
                          <a:solidFill>
                            <a:srgbClr val="222222"/>
                          </a:solidFill>
                        </a:rPr>
                        <a:t>was </a:t>
                      </a:r>
                      <a:pPr algn="l" indent="0" marL="0">
                        <a:buNone/>
                      </a:pPr>
                      <a:r>
                        <a:rPr lang="en-US" sz="1050" dirty="0">
                          <a:solidFill>
                            <a:srgbClr val="222222"/>
                          </a:solidFill>
                        </a:rPr>
                        <a:t>103 </a:t>
                      </a:r>
                      <a:pPr algn="l" indent="0" marL="0">
                        <a:buNone/>
                      </a:pPr>
                      <a:r>
                        <a:rPr lang="en-US" sz="1050" dirty="0">
                          <a:solidFill>
                            <a:srgbClr val="222222"/>
                          </a:solidFill>
                        </a:rPr>
                        <a:t>at </a:t>
                      </a:r>
                      <a:pPr algn="l" indent="0" marL="0">
                        <a:buNone/>
                      </a:pPr>
                      <a:r>
                        <a:rPr lang="en-US" sz="1050" dirty="0">
                          <a:solidFill>
                            <a:srgbClr val="222222"/>
                          </a:solidFill>
                        </a:rPr>
                        <a:t>15:00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 </a:t>
                      </a:r>
                      <a:pPr algn="l" indent="0" marL="0">
                        <a:buNone/>
                      </a:pPr>
                      <a:r>
                        <a:rPr lang="en-US" sz="1050" dirty="0">
                          <a:solidFill>
                            <a:srgbClr val="222222"/>
                          </a:solidFill>
                        </a:rPr>
                        <a:t>the </a:t>
                      </a:r>
                      <a:pPr algn="l" indent="0" marL="0">
                        <a:buNone/>
                      </a:pPr>
                      <a:r>
                        <a:rPr lang="en-US" sz="1050" dirty="0">
                          <a:solidFill>
                            <a:srgbClr val="222222"/>
                          </a:solidFill>
                        </a:rPr>
                        <a:t>catalogue </a:t>
                      </a:r>
                      <a:pPr algn="l" indent="0" marL="0">
                        <a:buNone/>
                      </a:pPr>
                      <a:r>
                        <a:rPr lang="en-US" sz="1050" dirty="0">
                          <a:solidFill>
                            <a:srgbClr val="222222"/>
                          </a:solidFill>
                        </a:rPr>
                        <a:t>extract </a:t>
                      </a:r>
                      <a:pPr algn="l" indent="0" marL="0">
                        <a:buNone/>
                      </a:pPr>
                      <a:r>
                        <a:rPr lang="en-US" sz="1050" dirty="0">
                          <a:solidFill>
                            <a:srgbClr val="222222"/>
                          </a:solidFill>
                        </a:rPr>
                        <a:t>used </a:t>
                      </a:r>
                      <a:pPr algn="l" indent="0" marL="0">
                        <a:buNone/>
                      </a:pPr>
                      <a:r>
                        <a:rPr lang="en-US" sz="1050" dirty="0">
                          <a:solidFill>
                            <a:srgbClr val="222222"/>
                          </a:solidFill>
                        </a:rPr>
                        <a:t>for </a:t>
                      </a:r>
                      <a:pPr algn="l" indent="0" marL="0">
                        <a:buNone/>
                      </a:pPr>
                      <a:r>
                        <a:rPr lang="en-US" sz="1050" dirty="0">
                          <a:solidFill>
                            <a:srgbClr val="222222"/>
                          </a:solidFill>
                        </a:rPr>
                        <a:t>the </a:t>
                      </a:r>
                      <a:pPr algn="l" indent="0" marL="0">
                        <a:buNone/>
                      </a:pPr>
                      <a:r>
                        <a:rPr lang="en-US" sz="1050" dirty="0">
                          <a:solidFill>
                            <a:srgbClr val="222222"/>
                          </a:solidFill>
                        </a:rPr>
                        <a:t>figure </a:t>
                      </a:r>
                      <a:pPr algn="l" indent="0" marL="0">
                        <a:buNone/>
                      </a:pPr>
                      <a:r>
                        <a:rPr lang="en-US" sz="1050" dirty="0">
                          <a:solidFill>
                            <a:srgbClr val="222222"/>
                          </a:solidFill>
                        </a:rPr>
                        <a:t>holds </a:t>
                      </a:r>
                      <a:pPr algn="l" indent="0" marL="0">
                        <a:buNone/>
                      </a:pPr>
                      <a:r>
                        <a:rPr lang="en-US" sz="1050" dirty="0">
                          <a:solidFill>
                            <a:srgbClr val="222222"/>
                          </a:solidFill>
                        </a:rPr>
                        <a:t>147 </a:t>
                      </a:r>
                      <a:pPr algn="l" indent="0" marL="0">
                        <a:buNone/>
                      </a:pPr>
                      <a:r>
                        <a:rPr lang="en-US" sz="1050" dirty="0">
                          <a:solidFill>
                            <a:srgbClr val="222222"/>
                          </a:solidFill>
                        </a:rPr>
                        <a:t>events </a:t>
                      </a:r>
                      <a:pPr algn="l" indent="0" marL="0">
                        <a:buNone/>
                      </a:pPr>
                      <a:r>
                        <a:rPr lang="en-US" sz="1050" dirty="0">
                          <a:solidFill>
                            <a:srgbClr val="222222"/>
                          </a:solidFill>
                        </a:rPr>
                        <a:t>to </a:t>
                      </a:r>
                      <a:pPr algn="l" indent="0" marL="0">
                        <a:buNone/>
                      </a:pPr>
                      <a:r>
                        <a:rPr lang="en-US" sz="1050" dirty="0">
                          <a:solidFill>
                            <a:srgbClr val="222222"/>
                          </a:solidFill>
                        </a:rPr>
                        <a:t>17:24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 (UNGRD, 06:30 cut on 7 Sep, posted 07:43), unchanged from the 6 Sep 06:30 cut. The series has run 273, 281, 285, 287, 288, 294, 289, 287, 329, 331, 331, 331, 331, 331 and now 331 again; UNGRD attributes earlier movement to verification and consolidation of figures reported from the territories.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4,505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(reported to the authorities)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111 (UNGRD, 06:30 cut on 7 Sep), unchanged from the 6 Sep 06:30 cut. The series has run 496, 377, 378, 202, 320, 143, 194, 151, 136, 136, 136, 122, 111 and now 111 again: reports are filed, resolved and de-duplicated at the same time, so this count moves in both directions.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 (national balance)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 (UNGRD, 06:30 cut on 7 Sep), unchanged from 6 Sep, plus 3,003 animals rescued and 3,277 affected (both unchanged from 6 Sep). This is the national balance figure carried alongside the casualty count; see the separate 16 Aug entry below for named rescue cases.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Unresolved reports on citizen platforms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4,084 people registered on “Colombia te busca”, of whom 3,653 are still to be located and 429 have been found - concentrated in Valle del Cauca, Risaralda, Caldas and Chocó. Asocapitales has launched a second platform.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 (citizen initiative); 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16 Aug 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Municipalities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498 municipalities in 16 departments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07:43</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52</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296,738 families (466,709 people) affected (UNGRD, 06:30 cut on 7 Sep), up from 296,725 families (466,644 people) at the 6 Sep 06:30 cut. OCHA's Flash Update 011 corroborates the people-affected figure as of 2 Sep 17:00 ("more than 466,600"). OCHA's earlier Flash Update 010 separately reported more than 406,000 people (193,011 families) as of 27 Aug 20:00, concentrated in Risaralda, Valle del Cauca, Choco, Quindio and Caldas; the two organisations' bases are not confirmed to be identical, so both are shown with their dates. Separately, WFP's Colombia Earthquake Emergency Situation Report (7 September) states "authorities reported 759,311 people affected, 331 fatalities, 4,519 injured people and 136 missing people" as of that date - a substantially larger affected-population figure than UNGRD's own 7 Sep balance (296,738 families/466,709 people), while the casualty figures WFP cites (4,519 injured, 136 missing) match UNGRD's earlier 1-2 Sep cuts rather than the 7 Sep cut (4,505 injured, 111 missing). The report does not explain what the 759,311 figure counts or which UNGRD cut it draws on; it is shown here with its date rather than merged with UNGRD's own count.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52</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Homes damaged or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238,328: 36,326 destroyed and 202,002 damaged (UNGRD, 06:30 cut on 7 Sep), against 238,315 (36,326 destroyed and 201,989 damaged) at the 6 Sep 06:30 cut. The destroyed count is unchanged and the damaged count rose slightly. OCHA's Flash Update 011 (2 Sep 17:00) separately cites more than 36,000 homes destroyed, consistent with the UNGRD figure. In El Cairo, a coffee town in the mountains of Valle del Cauca, 80% of the houses were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seriously damaged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202,002 (UNGRD, 06:30 cut on 7 Sep), up from 201,989 at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36,326 (UNGRD, 06:30 cut on 7 Sep), unchanged from the 6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Buildings collapsed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743 nationally, plus 6,005 buildings damaged (UNGRD, 06:30 cut on 7 Sep), unchanged from the 6 Sep 06:30 cut (against 197 collapsed at the 18:30 cut on 16 Aug, 66 that morning and 121 on 14 Aug). Asocapitales separately counted 243 collapsed structures in the capital cities as of 16 Aug; Cali city officials reported 107 collapsed and 643 structurally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 Asocapitales (16 Aug); Alcaldía de Cali (16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 damaged (UNGRD, 06:30 cut on 6 Sep), unchanged from the 3 Sep 06:30 cut (406 at the 31 Aug 06:30 cut, 304 at the 18:30 cut on 16 Aug, 240 that morning and 18 on 10 Aug); 7 health institutions closed as of 16 Aug. About 30% of the University Hospital in Cali collapsed, including three floors (paediatrics, internal medicine, part of the neonatal unit). The Interior Minister said on 14 Aug that the hospital network in Buenaventura is overwhelmed.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6 Sep 06:30; Ministry of the Interior (14 Aug); Valle del Cauca government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Educational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4,313 affected (UNGRD, 06:30 cut on 7 Sep), up from 4,288 at the 6 Sep 06:30 cut; UNGRD gives no explanation, treated as reconciliation rather than a correction (4,292 at 3 Sep, 4,287 at 2 Sep, 4,290 at 1 Sep, 4,268 at 31 Aug, 3,207 at the 18:30 cut on 16 Aug, 2,205 that morning and 52 on 10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Community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6,033 damaged (UNGRD, 06:30 cut on 7 Sep), down from 6,035 at the 6 Sep 06:30 cut; UNGRD gives no explanation, treated as reconciliation rather than a correction (5,600 at 3 Sep, 5,698 at 1 Sep, 5,524 at 31 Aug, 4,059 at the 18:30 cut on 16 Aug, 1,208 that morning).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521 roads damaged (UNGRD, 06:30 cut on 7 Sep), up from 491 at the 6 Sep 06:30 cut (468 at 3 Sep, 462 at 31 Aug, 410 at the 18:30 cut on 16 Aug, 210 that morning and 18 on 10 Aug); 102 road bridges and 13 footbridges also damaged (up from 91 road bridges on 6 Sep; against 48 road bridges and 13 footbridges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Airports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13 Aug; civil aviation authority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Cultural heritage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tower of the neo-Gothic Cathedral of Manizales collapsed onto the nave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Mayor of Manizales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141 aqueducts damaged (UNGRD, 06:30 cut on 7 Sep), unchanged from the 6 Sep 06:30 cut (140 at 3 Sep, 122 at 31 Aug, 95 at the 18:30 cut on 16 Aug, 73 that morning); 29 banking offices out of service as of 16 Aug. Power outages and communications disruption reported in areas near the epicentre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Animals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3,277 animals affected and 3,003 rescued nationally (UNGRD, 06:30 cut on 7 Sep), unchanged from the 6 Sep 06:30 cut, against 768 affected and 496 rescued at the 16 Aug 18:30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7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Thousands reported to have left their homes; shelter figures not yet published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Media / humanitarian agencies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29 humanitarian organizations have assisted nearly 123,000 people across 49 affected municipalities, up from 25 organizations / 72,000 people / 36 municipalities in Flash Update 010 (27 Aug). Donors have mobilized more than US$40 million. The Humanitarian Response Plan Addendum continues to seek additional funding to cover needs through the end of the year. OCHA also flags persistent urgent needs and 'double affectation' - communities facing both earthquake damage and risks tied to the armed conflict.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 2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Secondary hazard - Baudó River flooding (Medio Baudó, Chocó)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Indigenous (Emberá) communities in Medio Baudó faced sudden flooding from the Baudó River about two days after the earthquake, compounding earthquake damage in an area with pre-existing barriers to healthcare and a presence of armed groups.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MSF,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 (version 7)</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 is the USGS rapid impact estimate, issued within minutes and revised as the event is refined. Version 7 was created eleven days after the earthquake and carries a RED alert, raised from the orange alert of the early versions. The alert has two components and the headline level is the higher of them: the fatality alert is orange (significant casualties likely), while the economic alert is red — estimated losses of 0-6% of Colombia's GDP, a level that past events have required a national or international response to meet. The fatality estimate is a probability distribution, not a single number: 33% for 100-1,000 deaths and 32% for 1,000-10,000. The reported toll of 329 (UNGRD, 27 Aug) sits in the 100-1,000 band. Estimated population exposed to MMI VIII is 1.13 million and to MMI VII 5.39 million; the cities carrying MMI VIII exposure include Pereira (591k), Armenia (301k), Zarzal (313k) and Quibdo (131k).
</a:t>
            </a:r>
            <a:endParaRPr lang="en-US" sz="1200" dirty="0"/>
          </a:p>
        </p:txBody>
      </p:sp>
      <p:pic>
        <p:nvPicPr>
          <p:cNvPr id="5" name="Image 1" descr="/tmp/build_event-bDKa7M/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one-pager (version 7) — alert levels, population exposure and selected city exposure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Deaths by Area</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rPr>
                        <a:t>Area</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Deaths</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rPr>
                        <a:t>Valle </a:t>
                      </a:r>
                      <a:pPr algn="l" indent="0" marL="0">
                        <a:buNone/>
                      </a:pPr>
                      <a:r>
                        <a:rPr lang="en-US" sz="1200" dirty="0">
                          <a:solidFill>
                            <a:srgbClr val="222222"/>
                          </a:solidFill>
                        </a:rPr>
                        <a:t>del </a:t>
                      </a:r>
                      <a:pPr algn="l" indent="0" marL="0">
                        <a:buNone/>
                      </a:pPr>
                      <a:r>
                        <a:rPr lang="en-US" sz="1200" dirty="0">
                          <a:solidFill>
                            <a:srgbClr val="222222"/>
                          </a:solidFill>
                        </a:rPr>
                        <a:t>Cauca </a:t>
                      </a:r>
                      <a:pPr algn="l" indent="0" marL="0">
                        <a:buNone/>
                      </a:pPr>
                      <a:r>
                        <a:rPr lang="en-US" sz="1200" dirty="0">
                          <a:solidFill>
                            <a:srgbClr val="222222"/>
                          </a:solidFill>
                        </a:rPr>
                        <a:t>(Cali)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97</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government's </a:t>
                      </a:r>
                      <a:pPr algn="l" indent="0" marL="0">
                        <a:buNone/>
                      </a:pPr>
                      <a:r>
                        <a:rPr lang="en-US" sz="1050" dirty="0">
                          <a:solidFill>
                            <a:srgbClr val="6A6A6A"/>
                          </a:solidFill>
                        </a:rPr>
                        <a:t>count </a:t>
                      </a:r>
                      <a:pPr algn="l" indent="0" marL="0">
                        <a:buNone/>
                      </a:pPr>
                      <a:r>
                        <a:rPr lang="en-US" sz="1050" dirty="0">
                          <a:solidFill>
                            <a:srgbClr val="6A6A6A"/>
                          </a:solidFill>
                        </a:rPr>
                        <a:t>is </a:t>
                      </a:r>
                      <a:pPr algn="l" indent="0" marL="0">
                        <a:buNone/>
                      </a:pPr>
                      <a:r>
                        <a:rPr lang="en-US" sz="1050" dirty="0">
                          <a:solidFill>
                            <a:srgbClr val="6A6A6A"/>
                          </a:solidFill>
                        </a:rPr>
                        <a:t>higher: </a:t>
                      </a:r>
                      <a:pPr algn="l" indent="0" marL="0">
                        <a:buNone/>
                      </a:pPr>
                      <a:r>
                        <a:rPr lang="en-US" sz="1050" dirty="0">
                          <a:solidFill>
                            <a:srgbClr val="6A6A6A"/>
                          </a:solidFill>
                        </a:rPr>
                        <a:t>95 </a:t>
                      </a:r>
                      <a:pPr algn="l" indent="0" marL="0">
                        <a:buNone/>
                      </a:pPr>
                      <a:r>
                        <a:rPr lang="en-US" sz="1050" dirty="0">
                          <a:solidFill>
                            <a:srgbClr val="6A6A6A"/>
                          </a:solidFill>
                        </a:rPr>
                        <a:t>in </a:t>
                      </a:r>
                      <a:pPr algn="l" indent="0" marL="0">
                        <a:buNone/>
                      </a:pPr>
                      <a:r>
                        <a:rPr lang="en-US" sz="1050" dirty="0">
                          <a:solidFill>
                            <a:srgbClr val="6A6A6A"/>
                          </a:solidFill>
                        </a:rPr>
                        <a:t>Cali </a:t>
                      </a:r>
                      <a:pPr algn="l" indent="0" marL="0">
                        <a:buNone/>
                      </a:pPr>
                      <a:r>
                        <a:rPr lang="en-US" sz="1050" dirty="0">
                          <a:solidFill>
                            <a:srgbClr val="6A6A6A"/>
                          </a:solidFill>
                        </a:rPr>
                        <a:t>plus </a:t>
                      </a:r>
                      <a:pPr algn="l" indent="0" marL="0">
                        <a:buNone/>
                      </a:pPr>
                      <a:r>
                        <a:rPr lang="en-US" sz="1050" dirty="0">
                          <a:solidFill>
                            <a:srgbClr val="6A6A6A"/>
                          </a:solidFill>
                        </a:rPr>
                        <a:t>35 </a:t>
                      </a:r>
                      <a:pPr algn="l" indent="0" marL="0">
                        <a:buNone/>
                      </a:pPr>
                      <a:r>
                        <a:rPr lang="en-US" sz="1050" dirty="0">
                          <a:solidFill>
                            <a:srgbClr val="6A6A6A"/>
                          </a:solidFill>
                        </a:rPr>
                        <a:t>in </a:t>
                      </a:r>
                      <a:pPr algn="l" indent="0" marL="0">
                        <a:buNone/>
                      </a:pPr>
                      <a:r>
                        <a:rPr lang="en-US" sz="1050" dirty="0">
                          <a:solidFill>
                            <a:srgbClr val="6A6A6A"/>
                          </a:solidFill>
                        </a:rPr>
                        <a:t>other </a:t>
                      </a:r>
                      <a:pPr algn="l" indent="0" marL="0">
                        <a:buNone/>
                      </a:pPr>
                      <a:r>
                        <a:rPr lang="en-US" sz="1050" dirty="0">
                          <a:solidFill>
                            <a:srgbClr val="6A6A6A"/>
                          </a:solidFill>
                        </a:rPr>
                        <a:t>municipalities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Risaralda </a:t>
                      </a:r>
                      <a:pPr algn="l" indent="0" marL="0">
                        <a:buNone/>
                      </a:pPr>
                      <a:r>
                        <a:rPr lang="en-US" sz="1200" dirty="0">
                          <a:solidFill>
                            <a:srgbClr val="222222"/>
                          </a:solidFill>
                        </a:rPr>
                        <a:t>(Pereira)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66</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around </a:t>
                      </a:r>
                      <a:pPr algn="l" indent="0" marL="0">
                        <a:buNone/>
                      </a:pPr>
                      <a:r>
                        <a:rPr lang="en-US" sz="1050" dirty="0">
                          <a:solidFill>
                            <a:srgbClr val="6A6A6A"/>
                          </a:solidFill>
                        </a:rPr>
                        <a:t>90</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Chocó </a:t>
                      </a:r>
                      <a:pPr algn="l" indent="0" marL="0">
                        <a:buNone/>
                      </a:pPr>
                      <a:r>
                        <a:rPr lang="en-US" sz="1200" dirty="0">
                          <a:solidFill>
                            <a:srgbClr val="222222"/>
                          </a:solidFill>
                        </a:rPr>
                        <a:t>(Quibdó)</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Chocó </a:t>
                      </a:r>
                      <a:pPr algn="l" indent="0" marL="0">
                        <a:buNone/>
                      </a:pPr>
                      <a:r>
                        <a:rPr lang="en-US" sz="1050" dirty="0">
                          <a:solidFill>
                            <a:srgbClr val="6A6A6A"/>
                          </a:solidFill>
                        </a:rPr>
                        <a:t>closed </a:t>
                      </a:r>
                      <a:pPr algn="l" indent="0" marL="0">
                        <a:buNone/>
                      </a:pPr>
                      <a:r>
                        <a:rPr lang="en-US" sz="1050" dirty="0">
                          <a:solidFill>
                            <a:srgbClr val="6A6A6A"/>
                          </a:solidFill>
                        </a:rPr>
                        <a:t>its </a:t>
                      </a:r>
                      <a:pPr algn="l" indent="0" marL="0">
                        <a:buNone/>
                      </a:pPr>
                      <a:r>
                        <a:rPr lang="en-US" sz="1050" dirty="0">
                          <a:solidFill>
                            <a:srgbClr val="6A6A6A"/>
                          </a:solidFill>
                        </a:rPr>
                        <a:t>search </a:t>
                      </a:r>
                      <a:pPr algn="l" indent="0" marL="0">
                        <a:buNone/>
                      </a:pPr>
                      <a:r>
                        <a:rPr lang="en-US" sz="1050" dirty="0">
                          <a:solidFill>
                            <a:srgbClr val="6A6A6A"/>
                          </a:solidFill>
                        </a:rPr>
                        <a:t>phase </a:t>
                      </a:r>
                      <a:pPr algn="l" indent="0" marL="0">
                        <a:buNone/>
                      </a:pPr>
                      <a:r>
                        <a:rPr lang="en-US" sz="1050" dirty="0">
                          <a:solidFill>
                            <a:srgbClr val="6A6A6A"/>
                          </a:solidFill>
                        </a:rPr>
                        <a:t>on </a:t>
                      </a:r>
                      <a:pPr algn="l" indent="0" marL="0">
                        <a:buNone/>
                      </a:pPr>
                      <a:r>
                        <a:rPr lang="en-US" sz="1050" dirty="0">
                          <a:solidFill>
                            <a:srgbClr val="6A6A6A"/>
                          </a:solidFill>
                        </a:rPr>
                        <a:t>12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14 </a:t>
                      </a:r>
                      <a:pPr algn="l" indent="0" marL="0">
                        <a:buNone/>
                      </a:pPr>
                      <a:r>
                        <a:rPr lang="en-US" sz="1050" dirty="0">
                          <a:solidFill>
                            <a:srgbClr val="6A6A6A"/>
                          </a:solidFill>
                        </a:rPr>
                        <a:t>dead </a:t>
                      </a:r>
                      <a:pPr algn="l" indent="0" marL="0">
                        <a:buNone/>
                      </a:pPr>
                      <a:r>
                        <a:rPr lang="en-US" sz="1050" dirty="0">
                          <a:solidFill>
                            <a:srgbClr val="6A6A6A"/>
                          </a:solidFill>
                        </a:rPr>
                        <a:t>and </a:t>
                      </a:r>
                      <a:pPr algn="l" indent="0" marL="0">
                        <a:buNone/>
                      </a:pPr>
                      <a:r>
                        <a:rPr lang="en-US" sz="1050" dirty="0">
                          <a:solidFill>
                            <a:srgbClr val="6A6A6A"/>
                          </a:solidFill>
                        </a:rPr>
                        <a:t>138 </a:t>
                      </a:r>
                      <a:pPr algn="l" indent="0" marL="0">
                        <a:buNone/>
                      </a:pPr>
                      <a:r>
                        <a:rPr lang="en-US" sz="1050" dirty="0">
                          <a:solidFill>
                            <a:srgbClr val="6A6A6A"/>
                          </a:solidFill>
                        </a:rPr>
                        <a:t>injured.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Caldas </a:t>
                      </a:r>
                      <a:pPr algn="l" indent="0" marL="0">
                        <a:buNone/>
                      </a:pPr>
                      <a:r>
                        <a:rPr lang="en-US" sz="1200" dirty="0">
                          <a:solidFill>
                            <a:srgbClr val="222222"/>
                          </a:solidFill>
                        </a:rPr>
                        <a:t>(Manizales)</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5</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Reported </a:t>
                      </a:r>
                      <a:pPr algn="l" indent="0" marL="0">
                        <a:buNone/>
                      </a:pPr>
                      <a:r>
                        <a:rPr lang="en-US" sz="1050" dirty="0">
                          <a:solidFill>
                            <a:srgbClr val="6A6A6A"/>
                          </a:solidFill>
                        </a:rPr>
                        <a:t>as </a:t>
                      </a:r>
                      <a:pPr algn="l" indent="0" marL="0">
                        <a:buNone/>
                      </a:pPr>
                      <a:r>
                        <a:rPr lang="en-US" sz="1050" dirty="0">
                          <a:solidFill>
                            <a:srgbClr val="6A6A6A"/>
                          </a:solidFill>
                        </a:rPr>
                        <a:t>2, </a:t>
                      </a:r>
                      <a:pPr algn="l" indent="0" marL="0">
                        <a:buNone/>
                      </a:pPr>
                      <a:r>
                        <a:rPr lang="en-US" sz="1050" dirty="0">
                          <a:solidFill>
                            <a:srgbClr val="6A6A6A"/>
                          </a:solidFill>
                        </a:rPr>
                        <a:t>then </a:t>
                      </a:r>
                      <a:pPr algn="l" indent="0" marL="0">
                        <a:buNone/>
                      </a:pPr>
                      <a:r>
                        <a:rPr lang="en-US" sz="1050" dirty="0">
                          <a:solidFill>
                            <a:srgbClr val="6A6A6A"/>
                          </a:solidFill>
                        </a:rPr>
                        <a:t>4, </a:t>
                      </a:r>
                      <a:pPr algn="l" indent="0" marL="0">
                        <a:buNone/>
                      </a:pPr>
                      <a:r>
                        <a:rPr lang="en-US" sz="1050" dirty="0">
                          <a:solidFill>
                            <a:srgbClr val="6A6A6A"/>
                          </a:solidFill>
                        </a:rPr>
                        <a:t>then </a:t>
                      </a:r>
                      <a:pPr algn="l" indent="0" marL="0">
                        <a:buNone/>
                      </a:pPr>
                      <a:r>
                        <a:rPr lang="en-US" sz="1050" dirty="0">
                          <a:solidFill>
                            <a:srgbClr val="6A6A6A"/>
                          </a:solidFill>
                        </a:rPr>
                        <a:t>5</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Antioquia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1</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73-year-old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Population Exposure by Shaking Intensity</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rPr>
                        <a:t>MMI</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Level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Exposed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rPr>
                        <a:t>VIII+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Severe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No </a:t>
                      </a:r>
                      <a:pPr algn="l" indent="0" marL="0">
                        <a:buNone/>
                      </a:pPr>
                      <a:r>
                        <a:rPr lang="en-US" sz="1050" dirty="0">
                          <a:solidFill>
                            <a:srgbClr val="6A6A6A"/>
                          </a:solidFill>
                        </a:rPr>
                        <a:t>population </a:t>
                      </a:r>
                      <a:pPr algn="l" indent="0" marL="0">
                        <a:buNone/>
                      </a:pPr>
                      <a:r>
                        <a:rPr lang="en-US" sz="1050" dirty="0">
                          <a:solidFill>
                            <a:srgbClr val="6A6A6A"/>
                          </a:solidFill>
                        </a:rPr>
                        <a:t>estimated </a:t>
                      </a:r>
                      <a:pPr algn="l" indent="0" marL="0">
                        <a:buNone/>
                      </a:pPr>
                      <a:r>
                        <a:rPr lang="en-US" sz="1050" dirty="0">
                          <a:solidFill>
                            <a:srgbClr val="6A6A6A"/>
                          </a:solidFill>
                        </a:rPr>
                        <a:t>at </a:t>
                      </a:r>
                      <a:pPr algn="l" indent="0" marL="0">
                        <a:buNone/>
                      </a:pPr>
                      <a:r>
                        <a:rPr lang="en-US" sz="1050" dirty="0">
                          <a:solidFill>
                            <a:srgbClr val="6A6A6A"/>
                          </a:solidFill>
                        </a:rPr>
                        <a:t>MMI </a:t>
                      </a:r>
                      <a:pPr algn="l" indent="0" marL="0">
                        <a:buNone/>
                      </a:pPr>
                      <a:r>
                        <a:rPr lang="en-US" sz="1050" dirty="0">
                          <a:solidFill>
                            <a:srgbClr val="6A6A6A"/>
                          </a:solidFill>
                        </a:rPr>
                        <a:t>VIII </a:t>
                      </a:r>
                      <a:pPr algn="l" indent="0" marL="0">
                        <a:buNone/>
                      </a:pPr>
                      <a:r>
                        <a:rPr lang="en-US" sz="1050" dirty="0">
                          <a:solidFill>
                            <a:srgbClr val="6A6A6A"/>
                          </a:solidFill>
                        </a:rPr>
                        <a:t>or </a:t>
                      </a:r>
                      <a:pPr algn="l" indent="0" marL="0">
                        <a:buNone/>
                      </a:pPr>
                      <a:r>
                        <a:rPr lang="en-US" sz="1050" dirty="0">
                          <a:solidFill>
                            <a:srgbClr val="6A6A6A"/>
                          </a:solidFill>
                        </a:rPr>
                        <a:t>above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Very </a:t>
                      </a:r>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1,564,000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Pereira </a:t>
                      </a:r>
                      <a:pPr algn="l" indent="0" marL="0">
                        <a:buNone/>
                      </a:pPr>
                      <a:r>
                        <a:rPr lang="en-US" sz="1050" dirty="0">
                          <a:solidFill>
                            <a:srgbClr val="6A6A6A"/>
                          </a:solidFill>
                        </a:rPr>
                        <a:t>(591k), </a:t>
                      </a:r>
                      <a:pPr algn="l" indent="0" marL="0">
                        <a:buNone/>
                      </a:pPr>
                      <a:r>
                        <a:rPr lang="en-US" sz="1050" dirty="0">
                          <a:solidFill>
                            <a:srgbClr val="6A6A6A"/>
                          </a:solidFill>
                        </a:rPr>
                        <a:t>Armenia </a:t>
                      </a:r>
                      <a:pPr algn="l" indent="0" marL="0">
                        <a:buNone/>
                      </a:pPr>
                      <a:r>
                        <a:rPr lang="en-US" sz="1050" dirty="0">
                          <a:solidFill>
                            <a:srgbClr val="6A6A6A"/>
                          </a:solidFill>
                        </a:rPr>
                        <a:t>(301k) </a:t>
                      </a:r>
                      <a:pPr algn="l" indent="0" marL="0">
                        <a:buNone/>
                      </a:pPr>
                      <a:r>
                        <a:rPr lang="en-US" sz="1050" dirty="0">
                          <a:solidFill>
                            <a:srgbClr val="6A6A6A"/>
                          </a:solidFill>
                        </a:rPr>
                        <a:t>and </a:t>
                      </a:r>
                      <a:pPr algn="l" indent="0" marL="0">
                        <a:buNone/>
                      </a:pPr>
                      <a:r>
                        <a:rPr lang="en-US" sz="1050" dirty="0">
                          <a:solidFill>
                            <a:srgbClr val="6A6A6A"/>
                          </a:solidFill>
                        </a:rPr>
                        <a:t>Cartago </a:t>
                      </a:r>
                      <a:pPr algn="l" indent="0" marL="0">
                        <a:buNone/>
                      </a:pPr>
                      <a:r>
                        <a:rPr lang="en-US" sz="1050" dirty="0">
                          <a:solidFill>
                            <a:srgbClr val="6A6A6A"/>
                          </a:solidFill>
                        </a:rPr>
                        <a:t>(135k)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VI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8,888,000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Cali </a:t>
                      </a:r>
                      <a:pPr algn="l" indent="0" marL="0">
                        <a:buNone/>
                      </a:pPr>
                      <a:r>
                        <a:rPr lang="en-US" sz="1050" dirty="0">
                          <a:solidFill>
                            <a:srgbClr val="6A6A6A"/>
                          </a:solidFill>
                        </a:rPr>
                        <a:t>(2,471k), </a:t>
                      </a:r>
                      <a:pPr algn="l" indent="0" marL="0">
                        <a:buNone/>
                      </a:pPr>
                      <a:r>
                        <a:rPr lang="en-US" sz="1050" dirty="0">
                          <a:solidFill>
                            <a:srgbClr val="6A6A6A"/>
                          </a:solidFill>
                        </a:rPr>
                        <a:t>Buenaventura </a:t>
                      </a:r>
                      <a:pPr algn="l" indent="0" marL="0">
                        <a:buNone/>
                      </a:pPr>
                      <a:r>
                        <a:rPr lang="en-US" sz="1050" dirty="0">
                          <a:solidFill>
                            <a:srgbClr val="6A6A6A"/>
                          </a:solidFill>
                        </a:rPr>
                        <a:t>(424k) </a:t>
                      </a:r>
                      <a:pPr algn="l" indent="0" marL="0">
                        <a:buNone/>
                      </a:pPr>
                      <a:r>
                        <a:rPr lang="en-US" sz="1050" dirty="0">
                          <a:solidFill>
                            <a:srgbClr val="6A6A6A"/>
                          </a:solidFill>
                        </a:rPr>
                        <a:t>and </a:t>
                      </a:r>
                      <a:pPr algn="l" indent="0" marL="0">
                        <a:buNone/>
                      </a:pPr>
                      <a:r>
                        <a:rPr lang="en-US" sz="1050" dirty="0">
                          <a:solidFill>
                            <a:srgbClr val="6A6A6A"/>
                          </a:solidFill>
                        </a:rPr>
                        <a:t>Palmira </a:t>
                      </a:r>
                      <a:pPr algn="l" indent="0" marL="0">
                        <a:buNone/>
                      </a:pPr>
                      <a:r>
                        <a:rPr lang="en-US" sz="1050" dirty="0">
                          <a:solidFill>
                            <a:srgbClr val="6A6A6A"/>
                          </a:solidFill>
                        </a:rPr>
                        <a:t>(349k)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Moderate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17,076,000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The </a:t>
                      </a:r>
                      <a:pPr algn="l" indent="0" marL="0">
                        <a:buNone/>
                      </a:pPr>
                      <a:r>
                        <a:rPr lang="en-US" sz="1050" dirty="0">
                          <a:solidFill>
                            <a:srgbClr val="6A6A6A"/>
                          </a:solidFill>
                        </a:rPr>
                        <a:t>largest </a:t>
                      </a:r>
                      <a:pPr algn="l" indent="0" marL="0">
                        <a:buNone/>
                      </a:pPr>
                      <a:r>
                        <a:rPr lang="en-US" sz="1050" dirty="0">
                          <a:solidFill>
                            <a:srgbClr val="6A6A6A"/>
                          </a:solidFill>
                        </a:rPr>
                        <a:t>exposed </a:t>
                      </a:r>
                      <a:pPr algn="l" indent="0" marL="0">
                        <a:buNone/>
                      </a:pPr>
                      <a:r>
                        <a:rPr lang="en-US" sz="1050" dirty="0">
                          <a:solidFill>
                            <a:srgbClr val="6A6A6A"/>
                          </a:solidFill>
                        </a:rPr>
                        <a:t>group</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IV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Light</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6,465,000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Reaches </a:t>
                      </a:r>
                      <a:pPr algn="l" indent="0" marL="0">
                        <a:buNone/>
                      </a:pPr>
                      <a:r>
                        <a:rPr lang="en-US" sz="1050" dirty="0">
                          <a:solidFill>
                            <a:srgbClr val="6A6A6A"/>
                          </a:solidFill>
                        </a:rPr>
                        <a:t>Bogotá </a:t>
                      </a:r>
                      <a:pPr algn="l" indent="0" marL="0">
                        <a:buNone/>
                      </a:pPr>
                      <a:r>
                        <a:rPr lang="en-US" sz="1050" dirty="0">
                          <a:solidFill>
                            <a:srgbClr val="6A6A6A"/>
                          </a:solidFill>
                        </a:rPr>
                        <a:t>and </a:t>
                      </a:r>
                      <a:pPr algn="l" indent="0" marL="0">
                        <a:buNone/>
                      </a:pPr>
                      <a:r>
                        <a:rPr lang="en-US" sz="1050" dirty="0">
                          <a:solidFill>
                            <a:srgbClr val="6A6A6A"/>
                          </a:solidFill>
                        </a:rPr>
                        <a:t>Medellín</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 (version 5) exposure estimates. About 10.5 million people were exposed to Strong or Very Strong shaking (MMI VI-VII) and about 34 million to MMI IV or above across four countries. These are model estimates.</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52</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Three days of national mourning declared by Decree 1172 from 12 August, with the flag at half-mast on all public buildings and at Colombian embassies and consulates abroad.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Patients transferred from the damaged University Hospital in Cali to other facilities; the city reported casualties concentrated at 12 critical collapse sites.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President toured the affected regions on 11-12 August - Quibdó, then Cali, then Pereira, Dosquebradas, Manizales and Armenia - and said he would direct the response from the field rather than Bogotá.</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52</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(2/2)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activated a temporary economic subsidy, announced 2 September, for families registered in the Single Registry of Victims (RUD) whose homes were destroyed or declared uninhabitable by the 10 August earthquake: a monthly payment of between COP 787,907 and COP 1,050,543 (depending on the municipality's category) for three months. UNGRD stresses that only municipal and departmental authorities may register households in the RUD; affected people cannot register directly, and any correction must go through the relevant territorial entity.</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52</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(1/3)</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States: USD 15.5 million in emergency assistance announced on 10 August, for emergency shelter, food, protection and damage assessment.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52</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(2/3)</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 the NGO AMDA also dispatched a nurse (30 Aug) and, with AMDA Colombia and Fundación Salamandra, supported relief in Cali and Chocó until concluding its emergency-phase response on 4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Ecuador mobilised a specialised USAR team of 47 personnel with canine units and self-sufficient equipment.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52</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(3/3)</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International Charter 'Space and Major Disasters' is also reported to have been activated for this earthquake; the activation number had not been confirmed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director David Santiago Tamayo Roldan and deputy director for disaster management Hernan Dario Diaz Diaz met with Nils Grede, WFP Colombia's representative and country director, to coordinate food-assistance actions for families affected by the 10 August earthquake.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52</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for the Colombia earthquake reported; wide-area optical/SAR imagery for damage assessment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 / 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TBC</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 'Earthquake in Colombia' — Rapid Mapping for damage assessment; requested by EC Services / DG ECHO; 3 AOIs, 3 products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 (EMSR916)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 PAGER (Orange), finite-fault and aftershock catalogue</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Overall Orange alert; population exposure and impact estimates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National seismic network: hypocentre, magnitude revision, aftershock bulletins, accelerographic records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Not applicable - the mechanism covers the Asia-Pacific region; Colombia is served by the International Charter and Copernicus EMS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International Charter 'Space and Major Disasters'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 EMSR916</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rPr>
                        <a:t>Activation</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EMSR916 — Earthquake in 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10/08/2026 afternoon (UTC)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Activation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10/08/2026, 17:13 (UTC) = 12:13 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type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Earthquake / Ground shaking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Affected country</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Authorised user</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EC Services | DG ECHO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Service output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3 AOIs · 3 products · 0 maps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Status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ONGOING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Activation reason
</a:t>
            </a:r>
            <a:pPr algn="l" indent="0" marL="0">
              <a:buNone/>
            </a:pPr>
            <a:r>
              <a:rPr lang="en-US" sz="1050" dirty="0">
                <a:solidFill>
                  <a:srgbClr val="222222"/>
                </a:solidFill>
                <a:latin typeface="Meiryo" pitchFamily="34" charset="0"/>
                <a:ea typeface="Meiryo" pitchFamily="34" charset="-122"/>
                <a:cs typeface="Meiryo"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
</a:t>
            </a:r>
            <a:pPr algn="l" indent="0" marL="0">
              <a:buNone/>
            </a:pPr>
            <a:r>
              <a:rPr lang="en-US" sz="1050" i="1" dirty="0">
                <a:solidFill>
                  <a:srgbClr val="6A6A6A"/>
                </a:solidFill>
                <a:latin typeface="Meiryo" pitchFamily="34" charset="0"/>
                <a:ea typeface="Meiryo" pitchFamily="34" charset="-122"/>
                <a:cs typeface="Meiryo" pitchFamily="34" charset="-120"/>
              </a:rPr>
              <a:t>Rapid Mapping delivers reference and grading products over selected areas of interest, not nationwide coverage. Products are published on the activation page as they are produced and are free to use.
</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52</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Disaster Risk Management System</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
</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UNGRD - national coordinating agency under the Presidency; runs the national response, the disaster fund (FNGRD) and the national information system.</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Departmental and municipal risk management councils (CDGRD / CMGRD) carry out first response; UNGRD reinforces when local capacity is exceeded.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PNGRD 2015-2030 — the national disaster risk management plan, adopted by Decree 308 of 2016 and updated by Decree 1478 of 3 August 2022; aligned with the Sendai Framework and monitored annually by UNGRD.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The SGC operates the National Seismological Network and the national accelerograph network, and issues public bulletins within minutes.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1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52</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Damaging Earthquakes</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rPr>
                        <a:t>Year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Event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Impact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rPr>
                        <a:t>1906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Ecuador-Colombia </a:t>
                      </a:r>
                      <a:pPr algn="l" indent="0" marL="0">
                        <a:buNone/>
                      </a:pPr>
                      <a:r>
                        <a:rPr lang="en-US" sz="1150" dirty="0">
                          <a:solidFill>
                            <a:srgbClr val="222222"/>
                          </a:solidFill>
                        </a:rPr>
                        <a:t>earthquake </a:t>
                      </a:r>
                      <a:pPr algn="l" indent="0" marL="0">
                        <a:buNone/>
                      </a:pPr>
                      <a:r>
                        <a:rPr lang="en-US" sz="1150" dirty="0">
                          <a:solidFill>
                            <a:srgbClr val="222222"/>
                          </a:solidFill>
                        </a:rPr>
                        <a:t>(Pacific </a:t>
                      </a:r>
                      <a:pPr algn="l" indent="0" marL="0">
                        <a:buNone/>
                      </a:pPr>
                      <a:r>
                        <a:rPr lang="en-US" sz="1150" dirty="0">
                          <a:solidFill>
                            <a:srgbClr val="222222"/>
                          </a:solidFill>
                        </a:rPr>
                        <a:t>coast)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M8.8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One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earthquakes </a:t>
                      </a:r>
                      <a:pPr algn="l" indent="0" marL="0">
                        <a:buNone/>
                      </a:pPr>
                      <a:r>
                        <a:rPr lang="en-US" sz="1050" dirty="0">
                          <a:solidFill>
                            <a:srgbClr val="222222"/>
                          </a:solidFill>
                        </a:rPr>
                        <a:t>ever </a:t>
                      </a:r>
                      <a:pPr algn="l" indent="0" marL="0">
                        <a:buNone/>
                      </a:pPr>
                      <a:r>
                        <a:rPr lang="en-US" sz="1050" dirty="0">
                          <a:solidFill>
                            <a:srgbClr val="222222"/>
                          </a:solidFill>
                        </a:rPr>
                        <a:t>recorded; </a:t>
                      </a:r>
                      <a:pPr algn="l" indent="0" marL="0">
                        <a:buNone/>
                      </a:pPr>
                      <a:r>
                        <a:rPr lang="en-US" sz="1050" dirty="0">
                          <a:solidFill>
                            <a:srgbClr val="222222"/>
                          </a:solidFill>
                        </a:rPr>
                        <a:t>destructive </a:t>
                      </a:r>
                      <a:pPr algn="l" indent="0" marL="0">
                        <a:buNone/>
                      </a:pPr>
                      <a:r>
                        <a:rPr lang="en-US" sz="1050" dirty="0">
                          <a:solidFill>
                            <a:srgbClr val="222222"/>
                          </a:solidFill>
                        </a:rPr>
                        <a:t>tsunami </a:t>
                      </a:r>
                      <a:pPr algn="l" indent="0" marL="0">
                        <a:buNone/>
                      </a:pPr>
                      <a:r>
                        <a:rPr lang="en-US" sz="1050" dirty="0">
                          <a:solidFill>
                            <a:srgbClr val="222222"/>
                          </a:solidFill>
                        </a:rPr>
                        <a:t>on </a:t>
                      </a:r>
                      <a:pPr algn="l" indent="0" marL="0">
                        <a:buNone/>
                      </a:pPr>
                      <a:r>
                        <a:rPr lang="en-US" sz="1050" dirty="0">
                          <a:solidFill>
                            <a:srgbClr val="222222"/>
                          </a:solidFill>
                        </a:rPr>
                        <a:t>the </a:t>
                      </a:r>
                      <a:pPr algn="l" indent="0" marL="0">
                        <a:buNone/>
                      </a:pPr>
                      <a:r>
                        <a:rPr lang="en-US" sz="1050" dirty="0">
                          <a:solidFill>
                            <a:srgbClr val="222222"/>
                          </a:solidFill>
                        </a:rPr>
                        <a:t>Pacific </a:t>
                      </a:r>
                      <a:pPr algn="l" indent="0" marL="0">
                        <a:buNone/>
                      </a:pPr>
                      <a:r>
                        <a:rPr lang="en-US" sz="1050" dirty="0">
                          <a:solidFill>
                            <a:srgbClr val="222222"/>
                          </a:solidFill>
                        </a:rPr>
                        <a:t>coast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1925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Cali </a:t>
                      </a:r>
                      <a:pPr algn="l" indent="0" marL="0">
                        <a:buNone/>
                      </a:pPr>
                      <a:r>
                        <a:rPr lang="en-US" sz="1150" dirty="0">
                          <a:solidFill>
                            <a:srgbClr val="222222"/>
                          </a:solidFill>
                        </a:rPr>
                        <a:t>earthquake </a:t>
                      </a:r>
                      <a:pPr algn="l" indent="0" marL="0">
                        <a:buNone/>
                      </a:pPr>
                      <a:r>
                        <a:rPr lang="en-US" sz="1150" dirty="0">
                          <a:solidFill>
                            <a:srgbClr val="222222"/>
                          </a:solidFill>
                        </a:rPr>
                        <a:t>(Valle </a:t>
                      </a:r>
                      <a:pPr algn="l" indent="0" marL="0">
                        <a:buNone/>
                      </a:pPr>
                      <a:r>
                        <a:rPr lang="en-US" sz="1150" dirty="0">
                          <a:solidFill>
                            <a:srgbClr val="222222"/>
                          </a:solidFill>
                        </a:rPr>
                        <a:t>del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reference </a:t>
                      </a:r>
                      <a:pPr algn="l" indent="0" marL="0">
                        <a:buNone/>
                      </a:pPr>
                      <a:r>
                        <a:rPr lang="en-US" sz="1050" dirty="0">
                          <a:solidFill>
                            <a:srgbClr val="222222"/>
                          </a:solidFill>
                        </a:rPr>
                        <a:t>historical </a:t>
                      </a:r>
                      <a:pPr algn="l" indent="0" marL="0">
                        <a:buNone/>
                      </a:pPr>
                      <a:r>
                        <a:rPr lang="en-US" sz="1050" dirty="0">
                          <a:solidFill>
                            <a:srgbClr val="222222"/>
                          </a:solidFill>
                        </a:rPr>
                        <a:t>event </a:t>
                      </a:r>
                      <a:pPr algn="l" indent="0" marL="0">
                        <a:buNone/>
                      </a:pPr>
                      <a:r>
                        <a:rPr lang="en-US" sz="1050" dirty="0">
                          <a:solidFill>
                            <a:srgbClr val="222222"/>
                          </a:solidFill>
                        </a:rPr>
                        <a:t>for </a:t>
                      </a:r>
                      <a:pPr algn="l" indent="0" marL="0">
                        <a:buNone/>
                      </a:pPr>
                      <a:r>
                        <a:rPr lang="en-US" sz="1050" dirty="0">
                          <a:solidFill>
                            <a:srgbClr val="222222"/>
                          </a:solidFill>
                        </a:rPr>
                        <a:t>Cali; </a:t>
                      </a:r>
                      <a:pPr algn="l" indent="0" marL="0">
                        <a:buNone/>
                      </a:pPr>
                      <a:r>
                        <a:rPr lang="en-US" sz="1050" dirty="0">
                          <a:solidFill>
                            <a:srgbClr val="222222"/>
                          </a:solidFill>
                        </a:rPr>
                        <a:t>the </a:t>
                      </a:r>
                      <a:pPr algn="l" indent="0" marL="0">
                        <a:buNone/>
                      </a:pPr>
                      <a:r>
                        <a:rPr lang="en-US" sz="1050" dirty="0">
                          <a:solidFill>
                            <a:srgbClr val="222222"/>
                          </a:solidFill>
                        </a:rPr>
                        <a:t>city </a:t>
                      </a:r>
                      <a:pPr algn="l" indent="0" marL="0">
                        <a:buNone/>
                      </a:pPr>
                      <a:r>
                        <a:rPr lang="en-US" sz="1050" dirty="0">
                          <a:solidFill>
                            <a:srgbClr val="222222"/>
                          </a:solidFill>
                        </a:rPr>
                        <a:t>was </a:t>
                      </a:r>
                      <a:pPr algn="l" indent="0" marL="0">
                        <a:buNone/>
                      </a:pPr>
                      <a:r>
                        <a:rPr lang="en-US" sz="1050" dirty="0">
                          <a:solidFill>
                            <a:srgbClr val="222222"/>
                          </a:solidFill>
                        </a:rPr>
                        <a:t>also </a:t>
                      </a:r>
                      <a:pPr algn="l" indent="0" marL="0">
                        <a:buNone/>
                      </a:pPr>
                      <a:r>
                        <a:rPr lang="en-US" sz="1050" dirty="0">
                          <a:solidFill>
                            <a:srgbClr val="222222"/>
                          </a:solidFill>
                        </a:rPr>
                        <a:t>shaken </a:t>
                      </a:r>
                      <a:pPr algn="l" indent="0" marL="0">
                        <a:buNone/>
                      </a:pPr>
                      <a:r>
                        <a:rPr lang="en-US" sz="1050" dirty="0">
                          <a:solidFill>
                            <a:srgbClr val="222222"/>
                          </a:solidFill>
                        </a:rPr>
                        <a:t>in </a:t>
                      </a:r>
                      <a:pPr algn="l" indent="0" marL="0">
                        <a:buNone/>
                      </a:pPr>
                      <a:r>
                        <a:rPr lang="en-US" sz="1050" dirty="0">
                          <a:solidFill>
                            <a:srgbClr val="222222"/>
                          </a:solidFill>
                        </a:rPr>
                        <a:t>1995 </a:t>
                      </a:r>
                      <a:pPr algn="l" indent="0" marL="0">
                        <a:buNone/>
                      </a:pPr>
                      <a:r>
                        <a:rPr lang="en-US" sz="1050" dirty="0">
                          <a:solidFill>
                            <a:srgbClr val="222222"/>
                          </a:solidFill>
                        </a:rPr>
                        <a:t>and </a:t>
                      </a:r>
                      <a:pPr algn="l" indent="0" marL="0">
                        <a:buNone/>
                      </a:pPr>
                      <a:r>
                        <a:rPr lang="en-US" sz="1050" dirty="0">
                          <a:solidFill>
                            <a:srgbClr val="222222"/>
                          </a:solidFill>
                        </a:rPr>
                        <a:t>2004, </a:t>
                      </a:r>
                      <a:pPr algn="l" indent="0" marL="0">
                        <a:buNone/>
                      </a:pPr>
                      <a:r>
                        <a:rPr lang="en-US" sz="1050" dirty="0">
                          <a:solidFill>
                            <a:srgbClr val="222222"/>
                          </a:solidFill>
                        </a:rPr>
                        <a:t>the </a:t>
                      </a:r>
                      <a:pPr algn="l" indent="0" marL="0">
                        <a:buNone/>
                      </a:pPr>
                      <a:r>
                        <a:rPr lang="en-US" sz="1050" dirty="0">
                          <a:solidFill>
                            <a:srgbClr val="222222"/>
                          </a:solidFill>
                        </a:rPr>
                        <a:t>latter </a:t>
                      </a:r>
                      <a:pPr algn="l" indent="0" marL="0">
                        <a:buNone/>
                      </a:pPr>
                      <a:r>
                        <a:rPr lang="en-US" sz="1050" dirty="0">
                          <a:solidFill>
                            <a:srgbClr val="222222"/>
                          </a:solidFill>
                        </a:rPr>
                        <a:t>damaging </a:t>
                      </a:r>
                      <a:pPr algn="l" indent="0" marL="0">
                        <a:buNone/>
                      </a:pPr>
                      <a:r>
                        <a:rPr lang="en-US" sz="1050" dirty="0">
                          <a:solidFill>
                            <a:srgbClr val="222222"/>
                          </a:solidFill>
                        </a:rPr>
                        <a:t>clinics </a:t>
                      </a:r>
                      <a:pPr algn="l" indent="0" marL="0">
                        <a:buNone/>
                      </a:pPr>
                      <a:r>
                        <a:rPr lang="en-US" sz="1050" dirty="0">
                          <a:solidFill>
                            <a:srgbClr val="222222"/>
                          </a:solidFill>
                        </a:rPr>
                        <a:t>and </a:t>
                      </a:r>
                      <a:pPr algn="l" indent="0" marL="0">
                        <a:buNone/>
                      </a:pPr>
                      <a:r>
                        <a:rPr lang="en-US" sz="1050" dirty="0">
                          <a:solidFill>
                            <a:srgbClr val="222222"/>
                          </a:solidFill>
                        </a:rPr>
                        <a:t>residential </a:t>
                      </a:r>
                      <a:pPr algn="l" indent="0" marL="0">
                        <a:buNone/>
                      </a:pPr>
                      <a:r>
                        <a:rPr lang="en-US" sz="1050" dirty="0">
                          <a:solidFill>
                            <a:srgbClr val="222222"/>
                          </a:solidFill>
                        </a:rPr>
                        <a:t>buildings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Coffee </a:t>
                      </a:r>
                      <a:pPr algn="l" indent="0" marL="0">
                        <a:buNone/>
                      </a:pPr>
                      <a:r>
                        <a:rPr lang="en-US" sz="1150" dirty="0">
                          <a:solidFill>
                            <a:srgbClr val="222222"/>
                          </a:solidFill>
                        </a:rPr>
                        <a:t>Region </a:t>
                      </a:r>
                      <a:pPr algn="l" indent="0" marL="0">
                        <a:buNone/>
                      </a:pPr>
                      <a:r>
                        <a:rPr lang="en-US" sz="1150" dirty="0">
                          <a:solidFill>
                            <a:srgbClr val="222222"/>
                          </a:solidFill>
                        </a:rPr>
                        <a:t>earthquake </a:t>
                      </a:r>
                      <a:pPr algn="l" indent="0" marL="0">
                        <a:buNone/>
                      </a:pPr>
                      <a:r>
                        <a:rPr lang="en-US" sz="1150" dirty="0">
                          <a:solidFill>
                            <a:srgbClr val="222222"/>
                          </a:solidFill>
                        </a:rPr>
                        <a:t>(deep, </a:t>
                      </a:r>
                      <a:pPr algn="l" indent="0" marL="0">
                        <a:buNone/>
                      </a:pPr>
                      <a:r>
                        <a:rPr lang="en-US" sz="1150" dirty="0">
                          <a:solidFill>
                            <a:srgbClr val="222222"/>
                          </a:solidFill>
                        </a:rPr>
                        <a:t>150 </a:t>
                      </a:r>
                      <a:pPr algn="l" indent="0" marL="0">
                        <a:buNone/>
                      </a:pPr>
                      <a:r>
                        <a:rPr lang="en-US" sz="1150" dirty="0">
                          <a:solidFill>
                            <a:srgbClr val="222222"/>
                          </a:solidFill>
                        </a:rPr>
                        <a:t>km)</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An </a:t>
                      </a:r>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beneath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coffee-growing </a:t>
                      </a:r>
                      <a:pPr algn="l" indent="0" marL="0">
                        <a:buNone/>
                      </a:pPr>
                      <a:r>
                        <a:rPr lang="en-US" sz="1050" dirty="0">
                          <a:solidFill>
                            <a:srgbClr val="222222"/>
                          </a:solidFill>
                        </a:rPr>
                        <a:t>departments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closest </a:t>
                      </a:r>
                      <a:pPr algn="l" indent="0" marL="0">
                        <a:buNone/>
                      </a:pPr>
                      <a:r>
                        <a:rPr lang="en-US" sz="1050" dirty="0">
                          <a:solidFill>
                            <a:srgbClr val="222222"/>
                          </a:solidFill>
                        </a:rPr>
                        <a:t>historical </a:t>
                      </a:r>
                      <a:pPr algn="l" indent="0" marL="0">
                        <a:buNone/>
                      </a:pPr>
                      <a:r>
                        <a:rPr lang="en-US" sz="1050" dirty="0">
                          <a:solidFill>
                            <a:srgbClr val="222222"/>
                          </a:solidFill>
                        </a:rPr>
                        <a:t>analogue </a:t>
                      </a:r>
                      <a:pPr algn="l" indent="0" marL="0">
                        <a:buNone/>
                      </a:pPr>
                      <a:r>
                        <a:rPr lang="en-US" sz="1050" dirty="0">
                          <a:solidFill>
                            <a:srgbClr val="222222"/>
                          </a:solidFill>
                        </a:rPr>
                        <a:t>to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1979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Tumaco </a:t>
                      </a:r>
                      <a:pPr algn="l" indent="0" marL="0">
                        <a:buNone/>
                      </a:pPr>
                      <a:r>
                        <a:rPr lang="en-US" sz="1150" dirty="0">
                          <a:solidFill>
                            <a:srgbClr val="222222"/>
                          </a:solidFill>
                        </a:rPr>
                        <a:t>earthquake </a:t>
                      </a:r>
                      <a:pPr algn="l" indent="0" marL="0">
                        <a:buNone/>
                      </a:pPr>
                      <a:r>
                        <a:rPr lang="en-US" sz="1150" dirty="0">
                          <a:solidFill>
                            <a:srgbClr val="222222"/>
                          </a:solidFill>
                        </a:rPr>
                        <a:t>(Nariño)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M8.1</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Subduction-interface </a:t>
                      </a:r>
                      <a:pPr algn="l" indent="0" marL="0">
                        <a:buNone/>
                      </a:pPr>
                      <a:r>
                        <a:rPr lang="en-US" sz="1050" dirty="0">
                          <a:solidFill>
                            <a:srgbClr val="222222"/>
                          </a:solidFill>
                        </a:rPr>
                        <a:t>event </a:t>
                      </a:r>
                      <a:pPr algn="l" indent="0" marL="0">
                        <a:buNone/>
                      </a:pPr>
                      <a:r>
                        <a:rPr lang="en-US" sz="1050" dirty="0">
                          <a:solidFill>
                            <a:srgbClr val="222222"/>
                          </a:solidFill>
                        </a:rPr>
                        <a:t>with </a:t>
                      </a:r>
                      <a:pPr algn="l" indent="0" marL="0">
                        <a:buNone/>
                      </a:pPr>
                      <a:r>
                        <a:rPr lang="en-US" sz="1050" dirty="0">
                          <a:solidFill>
                            <a:srgbClr val="222222"/>
                          </a:solidFill>
                        </a:rPr>
                        <a:t>tsunami; </a:t>
                      </a:r>
                      <a:pPr algn="l" indent="0" marL="0">
                        <a:buNone/>
                      </a:pPr>
                      <a:r>
                        <a:rPr lang="en-US" sz="1050" dirty="0">
                          <a:solidFill>
                            <a:srgbClr val="222222"/>
                          </a:solidFill>
                        </a:rPr>
                        <a:t>several </a:t>
                      </a:r>
                      <a:pPr algn="l" indent="0" marL="0">
                        <a:buNone/>
                      </a:pPr>
                      <a:r>
                        <a:rPr lang="en-US" sz="1050" dirty="0">
                          <a:solidFill>
                            <a:srgbClr val="222222"/>
                          </a:solidFill>
                        </a:rPr>
                        <a:t>hundred </a:t>
                      </a:r>
                      <a:pPr algn="l" indent="0" marL="0">
                        <a:buNone/>
                      </a:pPr>
                      <a:r>
                        <a:rPr lang="en-US" sz="1050" dirty="0">
                          <a:solidFill>
                            <a:srgbClr val="222222"/>
                          </a:solidFill>
                        </a:rPr>
                        <a:t>deaths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1983</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Popayán </a:t>
                      </a:r>
                      <a:pPr algn="l" indent="0" marL="0">
                        <a:buNone/>
                      </a:pPr>
                      <a:r>
                        <a:rPr lang="en-US" sz="1150" dirty="0">
                          <a:solidFill>
                            <a:srgbClr val="222222"/>
                          </a:solidFill>
                        </a:rPr>
                        <a:t>earthquake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M5.5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250-300 </a:t>
                      </a:r>
                      <a:pPr algn="l" indent="0" marL="0">
                        <a:buNone/>
                      </a:pPr>
                      <a:r>
                        <a:rPr lang="en-US" sz="1050" dirty="0">
                          <a:solidFill>
                            <a:srgbClr val="222222"/>
                          </a:solidFill>
                        </a:rPr>
                        <a:t>deaths; </a:t>
                      </a:r>
                      <a:pPr algn="l" indent="0" marL="0">
                        <a:buNone/>
                      </a:pPr>
                      <a:r>
                        <a:rPr lang="en-US" sz="1050" dirty="0">
                          <a:solidFill>
                            <a:srgbClr val="222222"/>
                          </a:solidFill>
                        </a:rPr>
                        <a:t>historic </a:t>
                      </a:r>
                      <a:pPr algn="l" indent="0" marL="0">
                        <a:buNone/>
                      </a:pPr>
                      <a:r>
                        <a:rPr lang="en-US" sz="1050" dirty="0">
                          <a:solidFill>
                            <a:srgbClr val="222222"/>
                          </a:solidFill>
                        </a:rPr>
                        <a:t>city </a:t>
                      </a:r>
                      <a:pPr algn="l" indent="0" marL="0">
                        <a:buNone/>
                      </a:pPr>
                      <a:r>
                        <a:rPr lang="en-US" sz="1050" dirty="0">
                          <a:solidFill>
                            <a:srgbClr val="222222"/>
                          </a:solidFill>
                        </a:rPr>
                        <a:t>centre </a:t>
                      </a:r>
                      <a:pPr algn="l" indent="0" marL="0">
                        <a:buNone/>
                      </a:pPr>
                      <a:r>
                        <a:rPr lang="en-US" sz="1050" dirty="0">
                          <a:solidFill>
                            <a:srgbClr val="222222"/>
                          </a:solidFill>
                        </a:rPr>
                        <a:t>heavily </a:t>
                      </a:r>
                      <a:pPr algn="l" indent="0" marL="0">
                        <a:buNone/>
                      </a:pPr>
                      <a:r>
                        <a:rPr lang="en-US" sz="1050" dirty="0">
                          <a:solidFill>
                            <a:srgbClr val="222222"/>
                          </a:solidFill>
                        </a:rPr>
                        <a:t>damaged </a:t>
                      </a:r>
                      <a:pPr algn="l" indent="0" marL="0">
                        <a:buNone/>
                      </a:pPr>
                      <a:r>
                        <a:rPr lang="en-US" sz="1050" dirty="0">
                          <a:solidFill>
                            <a:srgbClr val="222222"/>
                          </a:solidFill>
                        </a:rPr>
                        <a:t>- </a:t>
                      </a:r>
                      <a:pPr algn="l" indent="0" marL="0">
                        <a:buNone/>
                      </a:pPr>
                      <a:r>
                        <a:rPr lang="en-US" sz="1050" dirty="0">
                          <a:solidFill>
                            <a:srgbClr val="222222"/>
                          </a:solidFill>
                        </a:rPr>
                        <a:t>a </a:t>
                      </a:r>
                      <a:pPr algn="l" indent="0" marL="0">
                        <a:buNone/>
                      </a:pPr>
                      <a:r>
                        <a:rPr lang="en-US" sz="1050" dirty="0">
                          <a:solidFill>
                            <a:srgbClr val="222222"/>
                          </a:solidFill>
                        </a:rPr>
                        <a:t>small </a:t>
                      </a:r>
                      <a:pPr algn="l" indent="0" marL="0">
                        <a:buNone/>
                      </a:pPr>
                      <a:r>
                        <a:rPr lang="en-US" sz="1050" dirty="0">
                          <a:solidFill>
                            <a:srgbClr val="222222"/>
                          </a:solidFill>
                        </a:rPr>
                        <a:t>but </a:t>
                      </a:r>
                      <a:pPr algn="l" indent="0" marL="0">
                        <a:buNone/>
                      </a:pPr>
                      <a:r>
                        <a:rPr lang="en-US" sz="1050" dirty="0">
                          <a:solidFill>
                            <a:srgbClr val="222222"/>
                          </a:solidFill>
                        </a:rPr>
                        <a:t>shallow, </a:t>
                      </a:r>
                      <a:pPr algn="l" indent="0" marL="0">
                        <a:buNone/>
                      </a:pPr>
                      <a:r>
                        <a:rPr lang="en-US" sz="1050" dirty="0">
                          <a:solidFill>
                            <a:srgbClr val="222222"/>
                          </a:solidFill>
                        </a:rPr>
                        <a:t>urban </a:t>
                      </a:r>
                      <a:pPr algn="l" indent="0" marL="0">
                        <a:buNone/>
                      </a:pPr>
                      <a:r>
                        <a:rPr lang="en-US" sz="1050" dirty="0">
                          <a:solidFill>
                            <a:srgbClr val="222222"/>
                          </a:solidFill>
                        </a:rPr>
                        <a:t>event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Páez </a:t>
                      </a:r>
                      <a:pPr algn="l" indent="0" marL="0">
                        <a:buNone/>
                      </a:pPr>
                      <a:r>
                        <a:rPr lang="en-US" sz="1150" dirty="0">
                          <a:solidFill>
                            <a:srgbClr val="222222"/>
                          </a:solidFill>
                        </a:rPr>
                        <a:t>(Cauca)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1,100 </a:t>
                      </a:r>
                      <a:pPr algn="l" indent="0" marL="0">
                        <a:buNone/>
                      </a:pPr>
                      <a:r>
                        <a:rPr lang="en-US" sz="1050" dirty="0">
                          <a:solidFill>
                            <a:srgbClr val="222222"/>
                          </a:solidFill>
                        </a:rPr>
                        <a:t>deaths, </a:t>
                      </a:r>
                      <a:pPr algn="l" indent="0" marL="0">
                        <a:buNone/>
                      </a:pPr>
                      <a:r>
                        <a:rPr lang="en-US" sz="1050" dirty="0">
                          <a:solidFill>
                            <a:srgbClr val="222222"/>
                          </a:solidFill>
                        </a:rPr>
                        <a:t>most </a:t>
                      </a:r>
                      <a:pPr algn="l" indent="0" marL="0">
                        <a:buNone/>
                      </a:pPr>
                      <a:r>
                        <a:rPr lang="en-US" sz="1050" dirty="0">
                          <a:solidFill>
                            <a:srgbClr val="222222"/>
                          </a:solidFill>
                        </a:rPr>
                        <a:t>caused </a:t>
                      </a:r>
                      <a:pPr algn="l" indent="0" marL="0">
                        <a:buNone/>
                      </a:pPr>
                      <a:r>
                        <a:rPr lang="en-US" sz="1050" dirty="0">
                          <a:solidFill>
                            <a:srgbClr val="222222"/>
                          </a:solidFill>
                        </a:rPr>
                        <a:t>by </a:t>
                      </a:r>
                      <a:pPr algn="l" indent="0" marL="0">
                        <a:buNone/>
                      </a:pPr>
                      <a:r>
                        <a:rPr lang="en-US" sz="1050" dirty="0">
                          <a:solidFill>
                            <a:srgbClr val="222222"/>
                          </a:solidFill>
                        </a:rPr>
                        <a:t>earthquake-triggered </a:t>
                      </a:r>
                      <a:pPr algn="l" indent="0" marL="0">
                        <a:buNone/>
                      </a:pPr>
                      <a:r>
                        <a:rPr lang="en-US" sz="1050" dirty="0">
                          <a:solidFill>
                            <a:srgbClr val="222222"/>
                          </a:solidFill>
                        </a:rPr>
                        <a:t>landslides </a:t>
                      </a:r>
                      <a:pPr algn="l" indent="0" marL="0">
                        <a:buNone/>
                      </a:pPr>
                      <a:r>
                        <a:rPr lang="en-US" sz="1050" dirty="0">
                          <a:solidFill>
                            <a:srgbClr val="222222"/>
                          </a:solidFill>
                        </a:rPr>
                        <a:t>and </a:t>
                      </a:r>
                      <a:pPr algn="l" indent="0" marL="0">
                        <a:buNone/>
                      </a:pPr>
                      <a:r>
                        <a:rPr lang="en-US" sz="1050" dirty="0">
                          <a:solidFill>
                            <a:srgbClr val="222222"/>
                          </a:solidFill>
                        </a:rPr>
                        <a:t>debris </a:t>
                      </a:r>
                      <a:pPr algn="l" indent="0" marL="0">
                        <a:buNone/>
                      </a:pPr>
                      <a:r>
                        <a:rPr lang="en-US" sz="1050" dirty="0">
                          <a:solidFill>
                            <a:srgbClr val="222222"/>
                          </a:solidFill>
                        </a:rPr>
                        <a:t>flows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1995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M6.6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department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Armenia </a:t>
                      </a:r>
                      <a:pPr algn="l" indent="0" marL="0">
                        <a:buNone/>
                      </a:pPr>
                      <a:r>
                        <a:rPr lang="en-US" sz="1150" dirty="0">
                          <a:solidFill>
                            <a:srgbClr val="222222"/>
                          </a:solidFill>
                        </a:rPr>
                        <a:t>(Quindío)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M6.1-6.2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1,185 </a:t>
                      </a:r>
                      <a:pPr algn="l" indent="0" marL="0">
                        <a:buNone/>
                      </a:pPr>
                      <a:r>
                        <a:rPr lang="en-US" sz="1050" dirty="0">
                          <a:solidFill>
                            <a:srgbClr val="222222"/>
                          </a:solidFill>
                        </a:rPr>
                        <a:t>deaths; </a:t>
                      </a:r>
                      <a:pPr algn="l" indent="0" marL="0">
                        <a:buNone/>
                      </a:pPr>
                      <a:r>
                        <a:rPr lang="en-US" sz="1050" dirty="0">
                          <a:solidFill>
                            <a:srgbClr val="222222"/>
                          </a:solidFill>
                        </a:rPr>
                        <a:t>Colombia's </a:t>
                      </a:r>
                      <a:pPr algn="l" indent="0" marL="0">
                        <a:buNone/>
                      </a:pPr>
                      <a:r>
                        <a:rPr lang="en-US" sz="1050" dirty="0">
                          <a:solidFill>
                            <a:srgbClr val="222222"/>
                          </a:solidFill>
                        </a:rPr>
                        <a:t>costliest </a:t>
                      </a:r>
                      <a:pPr algn="l" indent="0" marL="0">
                        <a:buNone/>
                      </a:pPr>
                      <a:r>
                        <a:rPr lang="en-US" sz="1050" dirty="0">
                          <a:solidFill>
                            <a:srgbClr val="222222"/>
                          </a:solidFill>
                        </a:rPr>
                        <a:t>earthquake </a:t>
                      </a:r>
                      <a:pPr algn="l" indent="0" marL="0">
                        <a:buNone/>
                      </a:pPr>
                      <a:r>
                        <a:rPr lang="en-US" sz="1050" dirty="0">
                          <a:solidFill>
                            <a:srgbClr val="222222"/>
                          </a:solidFill>
                        </a:rPr>
                        <a:t>disaster; </a:t>
                      </a:r>
                      <a:pPr algn="l" indent="0" marL="0">
                        <a:buNone/>
                      </a:pPr>
                      <a:r>
                        <a:rPr lang="en-US" sz="1050" dirty="0">
                          <a:solidFill>
                            <a:srgbClr val="222222"/>
                          </a:solidFill>
                        </a:rPr>
                        <a:t>drove </a:t>
                      </a:r>
                      <a:pPr algn="l" indent="0" marL="0">
                        <a:buNone/>
                      </a:pPr>
                      <a:r>
                        <a:rPr lang="en-US" sz="1050" dirty="0">
                          <a:solidFill>
                            <a:srgbClr val="222222"/>
                          </a:solidFill>
                        </a:rPr>
                        <a:t>the </a:t>
                      </a:r>
                      <a:pPr algn="l" indent="0" marL="0">
                        <a:buNone/>
                      </a:pPr>
                      <a:r>
                        <a:rPr lang="en-US" sz="1050" dirty="0">
                          <a:solidFill>
                            <a:srgbClr val="222222"/>
                          </a:solidFill>
                        </a:rPr>
                        <a:t>modern </a:t>
                      </a:r>
                      <a:pPr algn="l" indent="0" marL="0">
                        <a:buNone/>
                      </a:pPr>
                      <a:r>
                        <a:rPr lang="en-US" sz="1050" dirty="0">
                          <a:solidFill>
                            <a:srgbClr val="222222"/>
                          </a:solidFill>
                        </a:rPr>
                        <a:t>DRM </a:t>
                      </a:r>
                      <a:pPr algn="l" indent="0" marL="0">
                        <a:buNone/>
                      </a:pPr>
                      <a:r>
                        <a:rPr lang="en-US" sz="1050" dirty="0">
                          <a:solidFill>
                            <a:srgbClr val="222222"/>
                          </a:solidFill>
                        </a:rPr>
                        <a:t>reforms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2026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 </a:t>
                      </a:r>
                      <a:pPr algn="l" indent="0" marL="0">
                        <a:buNone/>
                      </a:pPr>
                      <a:r>
                        <a:rPr lang="en-US" sz="1150" dirty="0">
                          <a:solidFill>
                            <a:srgbClr val="222222"/>
                          </a:solidFill>
                        </a:rPr>
                        <a:t>(this </a:t>
                      </a:r>
                      <a:pPr algn="l" indent="0" marL="0">
                        <a:buNone/>
                      </a:pPr>
                      <a:r>
                        <a:rPr lang="en-US" sz="1150" dirty="0">
                          <a:solidFill>
                            <a:srgbClr val="222222"/>
                          </a:solidFill>
                        </a:rPr>
                        <a:t>event)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Largest </a:t>
                      </a:r>
                      <a:pPr algn="l" indent="0" marL="0">
                        <a:buNone/>
                      </a:pPr>
                      <a:r>
                        <a:rPr lang="en-US" sz="1050" dirty="0">
                          <a:solidFill>
                            <a:srgbClr val="222222"/>
                          </a:solidFill>
                        </a:rPr>
                        <a:t>magnitude </a:t>
                      </a:r>
                      <a:pPr algn="l" indent="0" marL="0">
                        <a:buNone/>
                      </a:pPr>
                      <a:r>
                        <a:rPr lang="en-US" sz="1050" dirty="0">
                          <a:solidFill>
                            <a:srgbClr val="222222"/>
                          </a:solidFill>
                        </a:rPr>
                        <a:t>recorded </a:t>
                      </a:r>
                      <a:pPr algn="l" indent="0" marL="0">
                        <a:buNone/>
                      </a:pPr>
                      <a:r>
                        <a:rPr lang="en-US" sz="1050" dirty="0">
                          <a:solidFill>
                            <a:srgbClr val="222222"/>
                          </a:solidFill>
                        </a:rPr>
                        <a:t>in </a:t>
                      </a:r>
                      <a:pPr algn="l" indent="0" marL="0">
                        <a:buNone/>
                      </a:pPr>
                      <a:r>
                        <a:rPr lang="en-US" sz="1050" dirty="0">
                          <a:solidFill>
                            <a:srgbClr val="222222"/>
                          </a:solidFill>
                        </a:rPr>
                        <a:t>Colombia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past </a:t>
                      </a:r>
                      <a:pPr algn="l" indent="0" marL="0">
                        <a:buNone/>
                      </a:pPr>
                      <a:r>
                        <a:rPr lang="en-US" sz="1050" dirty="0">
                          <a:solidFill>
                            <a:srgbClr val="222222"/>
                          </a:solidFill>
                        </a:rPr>
                        <a:t>decade </a:t>
                      </a:r>
                      <a:pPr algn="l" indent="0" marL="0">
                        <a:buNone/>
                      </a:pPr>
                      <a:r>
                        <a:rPr lang="en-US" sz="1050" dirty="0">
                          <a:solidFill>
                            <a:srgbClr val="222222"/>
                          </a:solidFill>
                        </a:rPr>
                        <a:t>(SGC); </a:t>
                      </a:r>
                      <a:pPr algn="l" indent="0" marL="0">
                        <a:buNone/>
                      </a:pPr>
                      <a:r>
                        <a:rPr lang="en-US" sz="1050" dirty="0">
                          <a:solidFill>
                            <a:srgbClr val="222222"/>
                          </a:solidFill>
                        </a:rPr>
                        <a:t>intermediate </a:t>
                      </a:r>
                      <a:pPr algn="l" indent="0" marL="0">
                        <a:buNone/>
                      </a:pPr>
                      <a:r>
                        <a:rPr lang="en-US" sz="1050" dirty="0">
                          <a:solidFill>
                            <a:srgbClr val="222222"/>
                          </a:solidFill>
                        </a:rPr>
                        <a:t>depth, </a:t>
                      </a:r>
                      <a:pPr algn="l" indent="0" marL="0">
                        <a:buNone/>
                      </a:pPr>
                      <a:r>
                        <a:rPr lang="en-US" sz="1050" dirty="0">
                          <a:solidFill>
                            <a:srgbClr val="222222"/>
                          </a:solidFill>
                        </a:rPr>
                        <a:t>wide-area </a:t>
                      </a:r>
                      <a:pPr algn="l" indent="0" marL="0">
                        <a:buNone/>
                      </a:pPr>
                      <a:r>
                        <a:rPr lang="en-US" sz="1050" dirty="0">
                          <a:solidFill>
                            <a:srgbClr val="222222"/>
                          </a:solidFill>
                        </a:rPr>
                        <a:t>damage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52</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50" dirty="0"/>
          </a:p>
          <a:p>
            <a:pPr algn="l" marL="342900" indent="-342900">
              <a:buSzPct val="100000"/>
              <a:buChar char="•"/>
            </a:pPr>
            <a:r>
              <a:rPr lang="en-US" sz="95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50" dirty="0"/>
          </a:p>
          <a:p>
            <a:pPr algn="l" marL="342900" indent="-342900">
              <a:buSzPct val="100000"/>
              <a:buChar char="•"/>
            </a:pPr>
            <a:r>
              <a:rPr lang="en-US" sz="95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5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52</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Reading these against the other Cali figures — 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Figure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with </a:t>
                      </a:r>
                      <a:pPr algn="l" indent="0" marL="0">
                        <a:buNone/>
                      </a:pPr>
                      <a:r>
                        <a:rPr lang="en-US" sz="1100" dirty="0">
                          <a:solidFill>
                            <a:srgbClr val="222222"/>
                          </a:solidFill>
                        </a:rPr>
                        <a:t>structural </a:t>
                      </a:r>
                      <a:pPr algn="l" indent="0" marL="0">
                        <a:buNone/>
                      </a:pPr>
                      <a:r>
                        <a:rPr lang="en-US" sz="1100" dirty="0">
                          <a:solidFill>
                            <a:srgbClr val="222222"/>
                          </a:solidFill>
                        </a:rPr>
                        <a:t>damage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643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under </a:t>
                      </a:r>
                      <a:pPr algn="l" indent="0" marL="0">
                        <a:buNone/>
                      </a:pPr>
                      <a:r>
                        <a:rPr lang="en-US" sz="1100" dirty="0">
                          <a:solidFill>
                            <a:srgbClr val="222222"/>
                          </a:solidFill>
                        </a:rPr>
                        <a:t>evacuation </a:t>
                      </a:r>
                      <a:pPr algn="l" indent="0" marL="0">
                        <a:buNone/>
                      </a:pPr>
                      <a:r>
                        <a:rPr lang="en-US" sz="1100" dirty="0">
                          <a:solidFill>
                            <a:srgbClr val="222222"/>
                          </a:solidFill>
                        </a:rPr>
                        <a:t>order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230 people trapped against 88 rescued is the number that drives the next 48 hours in Cali: it is the search-and-rescue caseload, and it is larger than the city's death toll.  (Officials of the Alcaldía de Santiago de Cali, received 12 August 2026)</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52</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1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Value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Modelled </a:t>
                      </a:r>
                      <a:pPr algn="l" indent="0" marL="0">
                        <a:buNone/>
                      </a:pPr>
                      <a:r>
                        <a:rPr lang="en-US" sz="1100" dirty="0">
                          <a:solidFill>
                            <a:srgbClr val="222222"/>
                          </a:solidFill>
                        </a:rPr>
                        <a:t>scenario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M6.5, </a:t>
                      </a:r>
                      <a:pPr algn="l" indent="0" marL="0">
                        <a:buNone/>
                      </a:pPr>
                      <a:r>
                        <a:rPr lang="en-US" sz="1100" dirty="0">
                          <a:solidFill>
                            <a:srgbClr val="222222"/>
                          </a:solidFill>
                        </a:rPr>
                        <a:t>10 </a:t>
                      </a:r>
                      <a:pPr algn="l" indent="0" marL="0">
                        <a:buNone/>
                      </a:pPr>
                      <a:r>
                        <a:rPr lang="en-US" sz="1100" dirty="0">
                          <a:solidFill>
                            <a:srgbClr val="222222"/>
                          </a:solidFill>
                        </a:rPr>
                        <a:t>km </a:t>
                      </a:r>
                      <a:pPr algn="l" indent="0" marL="0">
                        <a:buNone/>
                      </a:pPr>
                      <a:r>
                        <a:rPr lang="en-US" sz="1100" dirty="0">
                          <a:solidFill>
                            <a:srgbClr val="222222"/>
                          </a:solidFill>
                        </a:rPr>
                        <a:t>depth, </a:t>
                      </a:r>
                      <a:pPr algn="l" indent="0" marL="0">
                        <a:buNone/>
                      </a:pPr>
                      <a:r>
                        <a:rPr lang="en-US" sz="1100" dirty="0">
                          <a:solidFill>
                            <a:srgbClr val="222222"/>
                          </a:solidFill>
                        </a:rPr>
                        <a:t>Dagua-Calima </a:t>
                      </a:r>
                      <a:pPr algn="l" indent="0" marL="0">
                        <a:buNone/>
                      </a:pPr>
                      <a:r>
                        <a:rPr lang="en-US" sz="1100" dirty="0">
                          <a:solidFill>
                            <a:srgbClr val="222222"/>
                          </a:solidFill>
                        </a:rPr>
                        <a:t>fault, </a:t>
                      </a:r>
                      <a:pPr algn="l" indent="0" marL="0">
                        <a:buNone/>
                      </a:pPr>
                      <a:r>
                        <a:rPr lang="en-US" sz="1100" dirty="0">
                          <a:solidFill>
                            <a:srgbClr val="222222"/>
                          </a:solidFill>
                        </a:rPr>
                        <a:t>urban </a:t>
                      </a:r>
                      <a:pPr algn="l" indent="0" marL="0">
                        <a:buNone/>
                      </a:pPr>
                      <a:r>
                        <a:rPr lang="en-US" sz="1100" dirty="0">
                          <a:solidFill>
                            <a:srgbClr val="222222"/>
                          </a:solidFill>
                        </a:rPr>
                        <a:t>area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Population </a:t>
                      </a:r>
                      <a:pPr algn="l" indent="0" marL="0">
                        <a:buNone/>
                      </a:pPr>
                      <a:r>
                        <a:rPr lang="en-US" sz="1100" dirty="0">
                          <a:solidFill>
                            <a:srgbClr val="222222"/>
                          </a:solidFill>
                        </a:rPr>
                        <a:t>exposed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2,300,000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Estimated </a:t>
                      </a:r>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1,200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Seriously </a:t>
                      </a:r>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36,300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181,000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1,800 </a:t>
                      </a:r>
                      <a:pPr algn="l" indent="0" marL="0">
                        <a:buNone/>
                      </a:pPr>
                      <a:r>
                        <a:rPr lang="en-US" sz="1100" dirty="0">
                          <a:solidFill>
                            <a:srgbClr val="222222"/>
                          </a:solidFill>
                        </a:rPr>
                        <a:t>of </a:t>
                      </a:r>
                      <a:pPr algn="l" indent="0" marL="0">
                        <a:buNone/>
                      </a:pPr>
                      <a:r>
                        <a:rPr lang="en-US" sz="1100" dirty="0">
                          <a:solidFill>
                            <a:srgbClr val="222222"/>
                          </a:solidFill>
                        </a:rPr>
                        <a:t>348,000 </a:t>
                      </a:r>
                      <a:pPr algn="l" indent="0" marL="0">
                        <a:buNone/>
                      </a:pPr>
                      <a:r>
                        <a:rPr lang="en-US" sz="1100" dirty="0">
                          <a:solidFill>
                            <a:srgbClr val="222222"/>
                          </a:solidFill>
                        </a:rPr>
                        <a:t>(0.5%)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Residual </a:t>
                      </a:r>
                      <a:pPr algn="l" indent="0" marL="0">
                        <a:buNone/>
                      </a:pPr>
                      <a:r>
                        <a:rPr lang="en-US" sz="1100" dirty="0">
                          <a:solidFill>
                            <a:srgbClr val="222222"/>
                          </a:solidFill>
                        </a:rPr>
                        <a:t>risk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assessed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40% </a:t>
                      </a:r>
                      <a:pPr algn="l" indent="0" marL="0">
                        <a:buNone/>
                      </a:pPr>
                      <a:r>
                        <a:rPr lang="en-US" sz="1100" dirty="0">
                          <a:solidFill>
                            <a:srgbClr val="222222"/>
                          </a:solidFill>
                        </a:rPr>
                        <a:t>after </a:t>
                      </a:r>
                      <a:pPr algn="l" indent="0" marL="0">
                        <a:buNone/>
                      </a:pPr>
                      <a:r>
                        <a:rPr lang="en-US" sz="1100" dirty="0">
                          <a:solidFill>
                            <a:srgbClr val="222222"/>
                          </a:solidFill>
                        </a:rPr>
                        <a:t>existing </a:t>
                      </a:r>
                      <a:pPr algn="l" indent="0" marL="0">
                        <a:buNone/>
                      </a:pPr>
                      <a:r>
                        <a:rPr lang="en-US" sz="1100" dirty="0">
                          <a:solidFill>
                            <a:srgbClr val="222222"/>
                          </a:solidFill>
                        </a:rPr>
                        <a:t>measures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52</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What the city had already prioritised</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2026 earthquake was not this scenario — 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1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rPr>
                        <a:t>Priority </a:t>
                      </a:r>
                      <a:pPr algn="l" indent="0" marL="0">
                        <a:buNone/>
                      </a:pPr>
                      <a:r>
                        <a:rPr lang="en-US" sz="1300" b="1" dirty="0">
                          <a:solidFill>
                            <a:srgbClr val="FFFFFF"/>
                          </a:solidFill>
                        </a:rPr>
                        <a:t>already </a:t>
                      </a:r>
                      <a:pPr algn="l" indent="0" marL="0">
                        <a:buNone/>
                      </a:pPr>
                      <a:r>
                        <a:rPr lang="en-US" sz="1300" b="1" dirty="0">
                          <a:solidFill>
                            <a:srgbClr val="FFFFFF"/>
                          </a:solidFill>
                        </a:rPr>
                        <a:t>identified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studies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 </a:t>
                      </a:r>
                      <a:pPr algn="l" indent="0" marL="0">
                        <a:buNone/>
                      </a:pPr>
                      <a:r>
                        <a:rPr lang="en-US" sz="1100" dirty="0">
                          <a:solidFill>
                            <a:srgbClr val="222222"/>
                          </a:solidFill>
                        </a:rPr>
                        <a:t>hospitals, </a:t>
                      </a:r>
                      <a:pPr algn="l" indent="0" marL="0">
                        <a:buNone/>
                      </a:pPr>
                      <a:r>
                        <a:rPr lang="en-US" sz="1100" dirty="0">
                          <a:solidFill>
                            <a:srgbClr val="222222"/>
                          </a:solidFill>
                        </a:rPr>
                        <a:t>schools, </a:t>
                      </a:r>
                      <a:pPr algn="l" indent="0" marL="0">
                        <a:buNone/>
                      </a:pPr>
                      <a:r>
                        <a:rPr lang="en-US" sz="1100" dirty="0">
                          <a:solidFill>
                            <a:srgbClr val="222222"/>
                          </a:solidFill>
                        </a:rPr>
                        <a:t>fire </a:t>
                      </a:r>
                      <a:pPr algn="l" indent="0" marL="0">
                        <a:buNone/>
                      </a:pPr>
                      <a:r>
                        <a:rPr lang="en-US" sz="1100" dirty="0">
                          <a:solidFill>
                            <a:srgbClr val="222222"/>
                          </a:solidFill>
                        </a:rPr>
                        <a:t>stations </a:t>
                      </a:r>
                      <a:pPr algn="l" indent="0" marL="0">
                        <a:buNone/>
                      </a:pPr>
                      <a:r>
                        <a:rPr lang="en-US" sz="1100" dirty="0">
                          <a:solidFill>
                            <a:srgbClr val="222222"/>
                          </a:solidFill>
                        </a:rPr>
                        <a:t>—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NSR-10 </a:t>
                      </a:r>
                      <a:pPr algn="l" indent="0" marL="0">
                        <a:buNone/>
                      </a:pPr>
                      <a:r>
                        <a:rPr lang="en-US" sz="1100" dirty="0">
                          <a:solidFill>
                            <a:srgbClr val="222222"/>
                          </a:solidFill>
                        </a:rPr>
                        <a:t>code </a:t>
                      </a:r>
                      <a:pPr algn="l" indent="0" marL="0">
                        <a:buNone/>
                      </a:pPr>
                      <a:r>
                        <a:rPr lang="en-US" sz="1100" dirty="0">
                          <a:solidFill>
                            <a:srgbClr val="222222"/>
                          </a:solidFill>
                        </a:rPr>
                        <a:t>(budgeted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USD </a:t>
                      </a:r>
                      <a:pPr algn="l" indent="0" marL="0">
                        <a:buNone/>
                      </a:pPr>
                      <a:r>
                        <a:rPr lang="en-US" sz="1100" dirty="0">
                          <a:solidFill>
                            <a:srgbClr val="222222"/>
                          </a:solidFill>
                        </a:rPr>
                        <a:t>1.7 </a:t>
                      </a:r>
                      <a:pPr algn="l" indent="0" marL="0">
                        <a:buNone/>
                      </a:pPr>
                      <a:r>
                        <a:rPr lang="en-US" sz="1100" dirty="0">
                          <a:solidFill>
                            <a:srgbClr val="222222"/>
                          </a:solidFill>
                        </a:rPr>
                        <a:t>million, </a:t>
                      </a:r>
                      <a:pPr algn="l" indent="0" marL="0">
                        <a:buNone/>
                      </a:pPr>
                      <a:r>
                        <a:rPr lang="en-US" sz="1100" dirty="0">
                          <a:solidFill>
                            <a:srgbClr val="222222"/>
                          </a:solidFill>
                        </a:rPr>
                        <a:t>short </a:t>
                      </a:r>
                      <a:pPr algn="l" indent="0" marL="0">
                        <a:buNone/>
                      </a:pPr>
                      <a:r>
                        <a:rPr lang="en-US" sz="1100" dirty="0">
                          <a:solidFill>
                            <a:srgbClr val="222222"/>
                          </a:solidFill>
                        </a:rPr>
                        <a:t>term).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Structural </a:t>
                      </a:r>
                      <a:pPr algn="l" indent="0" marL="0">
                        <a:buNone/>
                      </a:pPr>
                      <a:r>
                        <a:rPr lang="en-US" sz="1100" dirty="0">
                          <a:solidFill>
                            <a:srgbClr val="222222"/>
                          </a:solidFill>
                        </a:rPr>
                        <a:t>retrofitting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basic-service </a:t>
                      </a:r>
                      <a:pPr algn="l" indent="0" marL="0">
                        <a:buNone/>
                      </a:pPr>
                      <a:r>
                        <a:rPr lang="en-US" sz="1100" dirty="0">
                          <a:solidFill>
                            <a:srgbClr val="222222"/>
                          </a:solidFill>
                        </a:rPr>
                        <a:t>infrastructure, </a:t>
                      </a:r>
                      <a:pPr algn="l" indent="0" marL="0">
                        <a:buNone/>
                      </a:pPr>
                      <a:r>
                        <a:rPr lang="en-US" sz="1100" dirty="0">
                          <a:solidFill>
                            <a:srgbClr val="222222"/>
                          </a:solidFill>
                        </a:rPr>
                        <a:t>to </a:t>
                      </a:r>
                      <a:pPr algn="l" indent="0" marL="0">
                        <a:buNone/>
                      </a:pPr>
                      <a:r>
                        <a:rPr lang="en-US" sz="1100" dirty="0">
                          <a:solidFill>
                            <a:srgbClr val="222222"/>
                          </a:solidFill>
                        </a:rPr>
                        <a:t>keep </a:t>
                      </a:r>
                      <a:pPr algn="l" indent="0" marL="0">
                        <a:buNone/>
                      </a:pPr>
                      <a:r>
                        <a:rPr lang="en-US" sz="1100" dirty="0">
                          <a:solidFill>
                            <a:srgbClr val="222222"/>
                          </a:solidFill>
                        </a:rPr>
                        <a:t>essential </a:t>
                      </a:r>
                      <a:pPr algn="l" indent="0" marL="0">
                        <a:buNone/>
                      </a:pPr>
                      <a:r>
                        <a:rPr lang="en-US" sz="1100" dirty="0">
                          <a:solidFill>
                            <a:srgbClr val="222222"/>
                          </a:solidFill>
                        </a:rPr>
                        <a:t>services </a:t>
                      </a:r>
                      <a:pPr algn="l" indent="0" marL="0">
                        <a:buNone/>
                      </a:pPr>
                      <a:r>
                        <a:rPr lang="en-US" sz="1100" dirty="0">
                          <a:solidFill>
                            <a:srgbClr val="222222"/>
                          </a:solidFill>
                        </a:rPr>
                        <a:t>running </a:t>
                      </a:r>
                      <a:pPr algn="l" indent="0" marL="0">
                        <a:buNone/>
                      </a:pPr>
                      <a:r>
                        <a:rPr lang="en-US" sz="1100" dirty="0">
                          <a:solidFill>
                            <a:srgbClr val="222222"/>
                          </a:solidFill>
                        </a:rPr>
                        <a:t>after </a:t>
                      </a:r>
                      <a:pPr algn="l" indent="0" marL="0">
                        <a:buNone/>
                      </a:pPr>
                      <a:r>
                        <a:rPr lang="en-US" sz="1100" dirty="0">
                          <a:solidFill>
                            <a:srgbClr val="222222"/>
                          </a:solidFill>
                        </a:rPr>
                        <a:t>an </a:t>
                      </a:r>
                      <a:pPr algn="l" indent="0" marL="0">
                        <a:buNone/>
                      </a:pPr>
                      <a:r>
                        <a:rPr lang="en-US" sz="1100" dirty="0">
                          <a:solidFill>
                            <a:srgbClr val="222222"/>
                          </a:solidFill>
                        </a:rPr>
                        <a:t>earthquake.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assessment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EMCALI </a:t>
                      </a:r>
                      <a:pPr algn="l" indent="0" marL="0">
                        <a:buNone/>
                      </a:pPr>
                      <a:r>
                        <a:rPr lang="en-US" sz="1100" dirty="0">
                          <a:solidFill>
                            <a:srgbClr val="222222"/>
                          </a:solidFill>
                        </a:rPr>
                        <a:t>water, </a:t>
                      </a:r>
                      <a:pPr algn="l" indent="0" marL="0">
                        <a:buNone/>
                      </a:pPr>
                      <a:r>
                        <a:rPr lang="en-US" sz="1100" dirty="0">
                          <a:solidFill>
                            <a:srgbClr val="222222"/>
                          </a:solidFill>
                        </a:rPr>
                        <a:t>sewerage </a:t>
                      </a:r>
                      <a:pPr algn="l" indent="0" marL="0">
                        <a:buNone/>
                      </a:pPr>
                      <a:r>
                        <a:rPr lang="en-US" sz="1100" dirty="0">
                          <a:solidFill>
                            <a:srgbClr val="222222"/>
                          </a:solidFill>
                        </a:rPr>
                        <a:t>and </a:t>
                      </a:r>
                      <a:pPr algn="l" indent="0" marL="0">
                        <a:buNone/>
                      </a:pPr>
                      <a:r>
                        <a:rPr lang="en-US" sz="1100" dirty="0">
                          <a:solidFill>
                            <a:srgbClr val="222222"/>
                          </a:solidFill>
                        </a:rPr>
                        <a:t>power </a:t>
                      </a:r>
                      <a:pPr algn="l" indent="0" marL="0">
                        <a:buNone/>
                      </a:pPr>
                      <a:r>
                        <a:rPr lang="en-US" sz="1100" dirty="0">
                          <a:solidFill>
                            <a:srgbClr val="222222"/>
                          </a:solidFill>
                        </a:rPr>
                        <a:t>networks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city </a:t>
                      </a:r>
                      <a:pPr algn="l" indent="0" marL="0">
                        <a:buNone/>
                      </a:pPr>
                      <a:r>
                        <a:rPr lang="en-US" sz="1100" dirty="0">
                          <a:solidFill>
                            <a:srgbClr val="222222"/>
                          </a:solidFill>
                        </a:rPr>
                        <a:t>gas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Updating </a:t>
                      </a:r>
                      <a:pPr algn="l" indent="0" marL="0">
                        <a:buNone/>
                      </a:pPr>
                      <a:r>
                        <a:rPr lang="en-US" sz="1100" dirty="0">
                          <a:solidFill>
                            <a:srgbClr val="222222"/>
                          </a:solidFill>
                        </a:rPr>
                        <a:t>the </a:t>
                      </a:r>
                      <a:pPr algn="l" indent="0" marL="0">
                        <a:buNone/>
                      </a:pPr>
                      <a:r>
                        <a:rPr lang="en-US" sz="1100" dirty="0">
                          <a:solidFill>
                            <a:srgbClr val="222222"/>
                          </a:solidFill>
                        </a:rPr>
                        <a:t>local </a:t>
                      </a:r>
                      <a:pPr algn="l" indent="0" marL="0">
                        <a:buNone/>
                      </a:pPr>
                      <a:r>
                        <a:rPr lang="en-US" sz="1100" dirty="0">
                          <a:solidFill>
                            <a:srgbClr val="222222"/>
                          </a:solidFill>
                        </a:rPr>
                        <a:t>soil-response </a:t>
                      </a:r>
                      <a:pPr algn="l" indent="0" marL="0">
                        <a:buNone/>
                      </a:pPr>
                      <a:r>
                        <a:rPr lang="en-US" sz="1100" dirty="0">
                          <a:solidFill>
                            <a:srgbClr val="222222"/>
                          </a:solidFill>
                        </a:rPr>
                        <a:t>model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seismic </a:t>
                      </a:r>
                      <a:pPr algn="l" indent="0" marL="0">
                        <a:buNone/>
                      </a:pPr>
                      <a:r>
                        <a:rPr lang="en-US" sz="1100" dirty="0">
                          <a:solidFill>
                            <a:srgbClr val="222222"/>
                          </a:solidFill>
                        </a:rPr>
                        <a:t>microzonation, </a:t>
                      </a:r>
                      <a:pPr algn="l" indent="0" marL="0">
                        <a:buNone/>
                      </a:pPr>
                      <a:r>
                        <a:rPr lang="en-US" sz="1100" dirty="0">
                          <a:solidFill>
                            <a:srgbClr val="222222"/>
                          </a:solidFill>
                        </a:rPr>
                        <a:t>in </a:t>
                      </a:r>
                      <a:pPr algn="l" indent="0" marL="0">
                        <a:buNone/>
                      </a:pPr>
                      <a:r>
                        <a:rPr lang="en-US" sz="1100" dirty="0">
                          <a:solidFill>
                            <a:srgbClr val="222222"/>
                          </a:solidFill>
                        </a:rPr>
                        <a:t>force </a:t>
                      </a:r>
                      <a:pPr algn="l" indent="0" marL="0">
                        <a:buNone/>
                      </a:pPr>
                      <a:r>
                        <a:rPr lang="en-US" sz="1100" dirty="0">
                          <a:solidFill>
                            <a:srgbClr val="222222"/>
                          </a:solidFill>
                        </a:rPr>
                        <a:t>since </a:t>
                      </a:r>
                      <a:pPr algn="l" indent="0" marL="0">
                        <a:buNone/>
                      </a:pPr>
                      <a:r>
                        <a:rPr lang="en-US" sz="1100" dirty="0">
                          <a:solidFill>
                            <a:srgbClr val="222222"/>
                          </a:solidFill>
                        </a:rPr>
                        <a:t>INGEOMINAS/DAGMA </a:t>
                      </a:r>
                      <a:pPr algn="l" indent="0" marL="0">
                        <a:buNone/>
                      </a:pPr>
                      <a:r>
                        <a:rPr lang="en-US" sz="1100" dirty="0">
                          <a:solidFill>
                            <a:srgbClr val="222222"/>
                          </a:solidFill>
                        </a:rPr>
                        <a:t>(2005) </a:t>
                      </a:r>
                      <a:pPr algn="l" indent="0" marL="0">
                        <a:buNone/>
                      </a:pPr>
                      <a:r>
                        <a:rPr lang="en-US" sz="1100" dirty="0">
                          <a:solidFill>
                            <a:srgbClr val="222222"/>
                          </a:solidFill>
                        </a:rPr>
                        <a:t>and </a:t>
                      </a:r>
                      <a:pPr algn="l" indent="0" marL="0">
                        <a:buNone/>
                      </a:pPr>
                      <a:r>
                        <a:rPr lang="en-US" sz="1100" dirty="0">
                          <a:solidFill>
                            <a:srgbClr val="222222"/>
                          </a:solidFill>
                        </a:rPr>
                        <a:t>adopted </a:t>
                      </a:r>
                      <a:pPr algn="l" indent="0" marL="0">
                        <a:buNone/>
                      </a:pPr>
                      <a:r>
                        <a:rPr lang="en-US" sz="1100" dirty="0">
                          <a:solidFill>
                            <a:srgbClr val="222222"/>
                          </a:solidFill>
                        </a:rPr>
                        <a:t>by </a:t>
                      </a:r>
                      <a:pPr algn="l" indent="0" marL="0">
                        <a:buNone/>
                      </a:pPr>
                      <a:r>
                        <a:rPr lang="en-US" sz="1100" dirty="0">
                          <a:solidFill>
                            <a:srgbClr val="222222"/>
                          </a:solidFill>
                        </a:rPr>
                        <a:t>Decree </a:t>
                      </a:r>
                      <a:pPr algn="l" indent="0" marL="0">
                        <a:buNone/>
                      </a:pPr>
                      <a:r>
                        <a:rPr lang="en-US" sz="1100" dirty="0">
                          <a:solidFill>
                            <a:srgbClr val="222222"/>
                          </a:solidFill>
                        </a:rPr>
                        <a:t>411.0.20.0158 </a:t>
                      </a:r>
                      <a:pPr algn="l" indent="0" marL="0">
                        <a:buNone/>
                      </a:pPr>
                      <a:r>
                        <a:rPr lang="en-US" sz="1100" dirty="0">
                          <a:solidFill>
                            <a:srgbClr val="222222"/>
                          </a:solidFill>
                        </a:rPr>
                        <a:t>of </a:t>
                      </a:r>
                      <a:pPr algn="l" indent="0" marL="0">
                        <a:buNone/>
                      </a:pPr>
                      <a:r>
                        <a:rPr lang="en-US" sz="1100" dirty="0">
                          <a:solidFill>
                            <a:srgbClr val="222222"/>
                          </a:solidFill>
                        </a:rPr>
                        <a:t>2014 </a:t>
                      </a:r>
                      <a:pPr algn="l" indent="0" marL="0">
                        <a:buNone/>
                      </a:pPr>
                      <a:r>
                        <a:rPr lang="en-US" sz="1100" dirty="0">
                          <a:solidFill>
                            <a:srgbClr val="222222"/>
                          </a:solidFill>
                        </a:rPr>
                        <a:t>for </a:t>
                      </a:r>
                      <a:pPr algn="l" indent="0" marL="0">
                        <a:buNone/>
                      </a:pPr>
                      <a:r>
                        <a:rPr lang="en-US" sz="1100" dirty="0">
                          <a:solidFill>
                            <a:srgbClr val="222222"/>
                          </a:solidFill>
                        </a:rPr>
                        <a:t>structural </a:t>
                      </a:r>
                      <a:pPr algn="l" indent="0" marL="0">
                        <a:buNone/>
                      </a:pPr>
                      <a:r>
                        <a:rPr lang="en-US" sz="1100" dirty="0">
                          <a:solidFill>
                            <a:srgbClr val="222222"/>
                          </a:solidFill>
                        </a:rPr>
                        <a:t>design.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Maintaining </a:t>
                      </a:r>
                      <a:pPr algn="l" indent="0" marL="0">
                        <a:buNone/>
                      </a:pPr>
                      <a:r>
                        <a:rPr lang="en-US" sz="1100" dirty="0">
                          <a:solidFill>
                            <a:srgbClr val="222222"/>
                          </a:solidFill>
                        </a:rPr>
                        <a:t>and </a:t>
                      </a:r>
                      <a:pPr algn="l" indent="0" marL="0">
                        <a:buNone/>
                      </a:pPr>
                      <a:r>
                        <a:rPr lang="en-US" sz="1100" dirty="0">
                          <a:solidFill>
                            <a:srgbClr val="222222"/>
                          </a:solidFill>
                        </a:rPr>
                        <a:t>extending </a:t>
                      </a:r>
                      <a:pPr algn="l" indent="0" marL="0">
                        <a:buNone/>
                      </a:pPr>
                      <a:r>
                        <a:rPr lang="en-US" sz="1100" dirty="0">
                          <a:solidFill>
                            <a:srgbClr val="222222"/>
                          </a:solidFill>
                        </a:rPr>
                        <a:t>the </a:t>
                      </a:r>
                      <a:pPr algn="l" indent="0" marL="0">
                        <a:buNone/>
                      </a:pPr>
                      <a:r>
                        <a:rPr lang="en-US" sz="1100" dirty="0">
                          <a:solidFill>
                            <a:srgbClr val="222222"/>
                          </a:solidFill>
                        </a:rPr>
                        <a:t>Cali </a:t>
                      </a:r>
                      <a:pPr algn="l" indent="0" marL="0">
                        <a:buNone/>
                      </a:pPr>
                      <a:r>
                        <a:rPr lang="en-US" sz="1100" dirty="0">
                          <a:solidFill>
                            <a:srgbClr val="222222"/>
                          </a:solidFill>
                        </a:rPr>
                        <a:t>accelerograph </a:t>
                      </a:r>
                      <a:pPr algn="l" indent="0" marL="0">
                        <a:buNone/>
                      </a:pPr>
                      <a:r>
                        <a:rPr lang="en-US" sz="1100" dirty="0">
                          <a:solidFill>
                            <a:srgbClr val="222222"/>
                          </a:solidFill>
                        </a:rPr>
                        <a:t>network </a:t>
                      </a:r>
                      <a:pPr algn="l" indent="0" marL="0">
                        <a:buNone/>
                      </a:pPr>
                      <a:r>
                        <a:rPr lang="en-US" sz="1100" dirty="0">
                          <a:solidFill>
                            <a:srgbClr val="222222"/>
                          </a:solidFill>
                        </a:rPr>
                        <a:t>(RAC) </a:t>
                      </a:r>
                      <a:pPr algn="l" indent="0" marL="0">
                        <a:buNone/>
                      </a:pPr>
                      <a:r>
                        <a:rPr lang="en-US" sz="1100" dirty="0">
                          <a:solidFill>
                            <a:srgbClr val="222222"/>
                          </a:solidFill>
                        </a:rPr>
                        <a:t>and </a:t>
                      </a:r>
                      <a:pPr algn="l" indent="0" marL="0">
                        <a:buNone/>
                      </a:pPr>
                      <a:r>
                        <a:rPr lang="en-US" sz="1100" dirty="0">
                          <a:solidFill>
                            <a:srgbClr val="222222"/>
                          </a:solidFill>
                        </a:rPr>
                        <a:t>its </a:t>
                      </a:r>
                      <a:pPr algn="l" indent="0" marL="0">
                        <a:buNone/>
                      </a:pPr>
                      <a:r>
                        <a:rPr lang="en-US" sz="1100" dirty="0">
                          <a:solidFill>
                            <a:srgbClr val="222222"/>
                          </a:solidFill>
                        </a:rPr>
                        <a:t>interoperability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SGC </a:t>
                      </a:r>
                      <a:pPr algn="l" indent="0" marL="0">
                        <a:buNone/>
                      </a:pPr>
                      <a:r>
                        <a:rPr lang="en-US" sz="1100" dirty="0">
                          <a:solidFill>
                            <a:srgbClr val="222222"/>
                          </a:solidFill>
                        </a:rPr>
                        <a:t>national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Insuring </a:t>
                      </a:r>
                      <a:pPr algn="l" indent="0" marL="0">
                        <a:buNone/>
                      </a:pPr>
                      <a:r>
                        <a:rPr lang="en-US" sz="1100" dirty="0">
                          <a:solidFill>
                            <a:srgbClr val="222222"/>
                          </a:solidFill>
                        </a:rPr>
                        <a:t>public </a:t>
                      </a:r>
                      <a:pPr algn="l" indent="0" marL="0">
                        <a:buNone/>
                      </a:pPr>
                      <a:r>
                        <a:rPr lang="en-US" sz="1100" dirty="0">
                          <a:solidFill>
                            <a:srgbClr val="222222"/>
                          </a:solidFill>
                        </a:rPr>
                        <a:t>infrastructure </a:t>
                      </a:r>
                      <a:pPr algn="l" indent="0" marL="0">
                        <a:buNone/>
                      </a:pPr>
                      <a:r>
                        <a:rPr lang="en-US" sz="1100" dirty="0">
                          <a:solidFill>
                            <a:srgbClr val="222222"/>
                          </a:solidFill>
                        </a:rPr>
                        <a:t>against </a:t>
                      </a:r>
                      <a:pPr algn="l" indent="0" marL="0">
                        <a:buNone/>
                      </a:pPr>
                      <a:r>
                        <a:rPr lang="en-US" sz="1100" dirty="0">
                          <a:solidFill>
                            <a:srgbClr val="222222"/>
                          </a:solidFill>
                        </a:rPr>
                        <a:t>seismic </a:t>
                      </a:r>
                      <a:pPr algn="l" indent="0" marL="0">
                        <a:buNone/>
                      </a:pPr>
                      <a:r>
                        <a:rPr lang="en-US" sz="1100" dirty="0">
                          <a:solidFill>
                            <a:srgbClr val="222222"/>
                          </a:solidFill>
                        </a:rPr>
                        <a:t>risk, </a:t>
                      </a:r>
                      <a:pPr algn="l" indent="0" marL="0">
                        <a:buNone/>
                      </a:pPr>
                      <a:r>
                        <a:rPr lang="en-US" sz="1100" dirty="0">
                          <a:solidFill>
                            <a:srgbClr val="222222"/>
                          </a:solidFill>
                        </a:rPr>
                        <a:t>and </a:t>
                      </a:r>
                      <a:pPr algn="l" indent="0" marL="0">
                        <a:buNone/>
                      </a:pPr>
                      <a:r>
                        <a:rPr lang="en-US" sz="1100" dirty="0">
                          <a:solidFill>
                            <a:srgbClr val="222222"/>
                          </a:solidFill>
                        </a:rPr>
                        <a:t>retrofitting </a:t>
                      </a:r>
                      <a:pPr algn="l" indent="0" marL="0">
                        <a:buNone/>
                      </a:pPr>
                      <a:r>
                        <a:rPr lang="en-US" sz="1100" dirty="0">
                          <a:solidFill>
                            <a:srgbClr val="222222"/>
                          </a:solidFill>
                        </a:rPr>
                        <a:t>low-income </a:t>
                      </a:r>
                      <a:pPr algn="l" indent="0" marL="0">
                        <a:buNone/>
                      </a:pPr>
                      <a:r>
                        <a:rPr lang="en-US" sz="1100" dirty="0">
                          <a:solidFill>
                            <a:srgbClr val="222222"/>
                          </a:solidFill>
                        </a:rPr>
                        <a:t>housing </a:t>
                      </a:r>
                      <a:pPr algn="l" indent="0" marL="0">
                        <a:buNone/>
                      </a:pPr>
                      <a:r>
                        <a:rPr lang="en-US" sz="1100" dirty="0">
                          <a:solidFill>
                            <a:srgbClr val="222222"/>
                          </a:solidFill>
                        </a:rPr>
                        <a:t>through </a:t>
                      </a:r>
                      <a:pPr algn="l" indent="0" marL="0">
                        <a:buNone/>
                      </a:pPr>
                      <a:r>
                        <a:rPr lang="en-US" sz="1100" dirty="0">
                          <a:solidFill>
                            <a:srgbClr val="222222"/>
                          </a:solidFill>
                        </a:rPr>
                        <a:t>subsidies </a:t>
                      </a:r>
                      <a:pPr algn="l" indent="0" marL="0">
                        <a:buNone/>
                      </a:pPr>
                      <a:r>
                        <a:rPr lang="en-US" sz="1100" dirty="0">
                          <a:solidFill>
                            <a:srgbClr val="222222"/>
                          </a:solidFill>
                        </a:rPr>
                        <a:t>and </a:t>
                      </a:r>
                      <a:pPr algn="l" indent="0" marL="0">
                        <a:buNone/>
                      </a:pPr>
                      <a:r>
                        <a:rPr lang="en-US" sz="1100" dirty="0">
                          <a:solidFill>
                            <a:srgbClr val="222222"/>
                          </a:solidFill>
                        </a:rPr>
                        <a:t>safe </a:t>
                      </a:r>
                      <a:pPr algn="l" indent="0" marL="0">
                        <a:buNone/>
                      </a:pPr>
                      <a:r>
                        <a:rPr lang="en-US" sz="1100" dirty="0">
                          <a:solidFill>
                            <a:srgbClr val="222222"/>
                          </a:solidFill>
                        </a:rPr>
                        <a:t>self-build </a:t>
                      </a:r>
                      <a:pPr algn="l" indent="0" marL="0">
                        <a:buNone/>
                      </a:pPr>
                      <a:r>
                        <a:rPr lang="en-US" sz="1100" dirty="0">
                          <a:solidFill>
                            <a:srgbClr val="222222"/>
                          </a:solidFill>
                        </a:rPr>
                        <a:t>programmes.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Financing </a:t>
                      </a:r>
                      <a:pPr algn="l" indent="0" marL="0">
                        <a:buNone/>
                      </a:pPr>
                      <a:r>
                        <a:rPr lang="en-US" sz="1100" dirty="0">
                          <a:solidFill>
                            <a:srgbClr val="222222"/>
                          </a:solidFill>
                        </a:rPr>
                        <a:t>model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priority </a:t>
                      </a:r>
                      <a:pPr algn="l" indent="0" marL="0">
                        <a:buNone/>
                      </a:pPr>
                      <a:r>
                        <a:rPr lang="en-US" sz="1100" dirty="0">
                          <a:solidFill>
                            <a:srgbClr val="222222"/>
                          </a:solidFill>
                        </a:rPr>
                        <a:t>measures: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30-50%, </a:t>
                      </a:r>
                      <a:pPr algn="l" indent="0" marL="0">
                        <a:buNone/>
                      </a:pPr>
                      <a:r>
                        <a:rPr lang="en-US" sz="1100" dirty="0">
                          <a:solidFill>
                            <a:srgbClr val="222222"/>
                          </a:solidFill>
                        </a:rPr>
                        <a:t>national </a:t>
                      </a:r>
                      <a:pPr algn="l" indent="0" marL="0">
                        <a:buNone/>
                      </a:pPr>
                      <a:r>
                        <a:rPr lang="en-US" sz="1100" dirty="0">
                          <a:solidFill>
                            <a:srgbClr val="222222"/>
                          </a:solidFill>
                        </a:rPr>
                        <a:t>disaster </a:t>
                      </a:r>
                      <a:pPr algn="l" indent="0" marL="0">
                        <a:buNone/>
                      </a:pPr>
                      <a:r>
                        <a:rPr lang="en-US" sz="1100" dirty="0">
                          <a:solidFill>
                            <a:srgbClr val="222222"/>
                          </a:solidFill>
                        </a:rPr>
                        <a:t>fund </a:t>
                      </a:r>
                      <a:pPr algn="l" indent="0" marL="0">
                        <a:buNone/>
                      </a:pPr>
                      <a:r>
                        <a:rPr lang="en-US" sz="1100" dirty="0">
                          <a:solidFill>
                            <a:srgbClr val="222222"/>
                          </a:solidFill>
                        </a:rPr>
                        <a:t>(FNGRD/UNGRD) </a:t>
                      </a:r>
                      <a:pPr algn="l" indent="0" marL="0">
                        <a:buNone/>
                      </a:pPr>
                      <a:r>
                        <a:rPr lang="en-US" sz="1100" dirty="0">
                          <a:solidFill>
                            <a:srgbClr val="222222"/>
                          </a:solidFill>
                        </a:rPr>
                        <a:t>30-50%, </a:t>
                      </a:r>
                      <a:pPr algn="l" indent="0" marL="0">
                        <a:buNone/>
                      </a:pPr>
                      <a:r>
                        <a:rPr lang="en-US" sz="1100" dirty="0">
                          <a:solidFill>
                            <a:srgbClr val="222222"/>
                          </a:solidFill>
                        </a:rPr>
                        <a:t>international </a:t>
                      </a:r>
                      <a:pPr algn="l" indent="0" marL="0">
                        <a:buNone/>
                      </a:pPr>
                      <a:r>
                        <a:rPr lang="en-US" sz="1100" dirty="0">
                          <a:solidFill>
                            <a:srgbClr val="222222"/>
                          </a:solidFill>
                        </a:rPr>
                        <a:t>partners </a:t>
                      </a:r>
                      <a:pPr algn="l" indent="0" marL="0">
                        <a:buNone/>
                      </a:pPr>
                      <a:r>
                        <a:rPr lang="en-US" sz="1100" dirty="0">
                          <a:solidFill>
                            <a:srgbClr val="222222"/>
                          </a:solidFill>
                        </a:rPr>
                        <a:t>including </a:t>
                      </a:r>
                      <a:pPr algn="l" indent="0" marL="0">
                        <a:buNone/>
                      </a:pPr>
                      <a:r>
                        <a:rPr lang="en-US" sz="1100" dirty="0">
                          <a:solidFill>
                            <a:srgbClr val="222222"/>
                          </a:solidFill>
                        </a:rPr>
                        <a:t>JICA, </a:t>
                      </a:r>
                      <a:pPr algn="l" indent="0" marL="0">
                        <a:buNone/>
                      </a:pPr>
                      <a:r>
                        <a:rPr lang="en-US" sz="1100" dirty="0">
                          <a:solidFill>
                            <a:srgbClr val="222222"/>
                          </a:solidFill>
                        </a:rPr>
                        <a:t>the </a:t>
                      </a:r>
                      <a:pPr algn="l" indent="0" marL="0">
                        <a:buNone/>
                      </a:pPr>
                      <a:r>
                        <a:rPr lang="en-US" sz="1100" dirty="0">
                          <a:solidFill>
                            <a:srgbClr val="222222"/>
                          </a:solidFill>
                        </a:rPr>
                        <a:t>GEM </a:t>
                      </a:r>
                      <a:pPr algn="l" indent="0" marL="0">
                        <a:buNone/>
                      </a:pPr>
                      <a:r>
                        <a:rPr lang="en-US" sz="1100" dirty="0">
                          <a:solidFill>
                            <a:srgbClr val="222222"/>
                          </a:solidFill>
                        </a:rPr>
                        <a:t>Foundation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IDB </a:t>
                      </a:r>
                      <a:pPr algn="l" indent="0" marL="0">
                        <a:buNone/>
                      </a:pPr>
                      <a:r>
                        <a:rPr lang="en-US" sz="1100" dirty="0">
                          <a:solidFill>
                            <a:srgbClr val="222222"/>
                          </a:solidFill>
                        </a:rPr>
                        <a:t>about </a:t>
                      </a:r>
                      <a:pPr algn="l" indent="0" marL="0">
                        <a:buNone/>
                      </a:pPr>
                      <a:r>
                        <a:rPr lang="en-US" sz="1100" dirty="0">
                          <a:solidFill>
                            <a:srgbClr val="222222"/>
                          </a:solidFill>
                        </a:rPr>
                        <a:t>20%.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52</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DKa7M/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 city profile for Cali</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52</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r>
              <a:rPr lang="en-US" sz="1200" dirty="0">
                <a:solidFill>
                  <a:srgbClr val="444444"/>
                </a:solidFill>
                <a:latin typeface="Meiryo" pitchFamily="34" charset="0"/>
                <a:ea typeface="Meiryo" pitchFamily="34" charset="-122"/>
                <a:cs typeface="Meiryo"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12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7.4 San José del Palmar, Colombia (event page)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Servicio Geológico Colombiano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event bulletin SGC2026pqqmro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macroseismic intensity map (ShakeMap) for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National Unit for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 Orange earthquake alert, Colombia, 10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'Space and Major Disasters' - activations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 EMSR916 'Earthquake in Colombia' (activation)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 Colombia PNGRD 2015-2030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 Seismic regulations for Colombia (NSR-10)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52</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death toll rises to 132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84 injured and 12 dead in Chocó (department government)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 UNGRD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 Risk governance scan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at least 111 dead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 Colombia declares national emergency as quake toll hits 111</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 Jazeera - M7.4 earthquake hits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News - Strong earthquake strikes western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News - Deaths, injuries and collapsed buildings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First official assessment: widespread structural damage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Government declares national disaster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SGC explains why the shaking lasted so long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 President reports 111 dead, 87 injured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Nikkei - M7.4 earthquake in western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Jiji Press - M7.4 earthquake in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Save the Children - Children at risk after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Mobilising medical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Americares - Colombia earthquake,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GLIDEnumber — EQ-2026-000146-COL (event identifier)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ADRC - Asian Disaster Reduction Center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European Commission — EU support for Colombia, Copernicus activated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Foundation — TREQ project (urban earthquake risk, Quito / Cali / Santiago de los Caballeros)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52</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 Evaluación de riesgo sísmico para Santiago de Cali (technical report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Understanding seismic risk in Santiago de Cali for its application in risk management (peer-reviewed, 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 Cali's intelligent and community early warning system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Alcaldía de Santiago de Cali —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Plan Nacional de Gestión del Riesgo de Desastres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Decreto 1478 de 2022 — update of the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 bulletin and FDSN event service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seismic catalogue viewer (reviewed catalogue ends Feb 2018)</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live updates, 11 August (Cali toll rises to 85)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balance — 132 deaths, 570+ injured, by city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 UNGRD balance: 182 deaths, 2,542 injured, 189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52</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 the President's 181 is 59 fewer than the regional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99 aftershocks and their magnitudes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SGC total: 103 aftershocks to 15:00 on 11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 Foreign Minister Motegi's message on the earthquake in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on X — post of 11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list of countries that have offered assistance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in Colombia — earthquake information and updates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News — the UN offers support to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 — citizen missing-persons platform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earthquake missing-persons tool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relief and subsidies announced on the Coffee Region tour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52</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 UNGRD damage and casualty report across 14 departments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SAR teams arriving from Israel, Ecuador, El Salvador and the US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188 deaths and 1,677 injured in capital cities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 at least 254 dead as the search continues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265 dead, 3,494 injured, 496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13 August: 273 dead, 3,824 injured, 377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40,753 families affected: UNGRD's new balance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M4.2 aftershock at San José del Palmar, 13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Colombia to receive rescue teams from the US, Israel, Ecuador and El Salvador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14 August: 287 dead, 3,975 injured, 378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52</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live: the toll rises to 288, more than 4,000 injured and 202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international assistance grows: India, Norway, Sweden and Spain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Italy, India, Spain, Chile and the World Bank among those sending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Japanese Red Cross Society — Colombian Red Cross response to the M7.4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why Colombia did not need foreign rescuers: 23 national USAR teams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SGC: 184 aftershocks since 10 August (14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en Español — live coverage of rescue and recovery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15 August: 294 dead, 3,935 injured, 320 missing, 353 rescued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294 dead and 81,506 homes damaged, official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Decree 1172: three days of national mourning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52</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the governor of Chocó ends the department's search-and-rescue phase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16 August: 289 dead, 4,187 injured, 143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Noticias — 289 dead, 143 missing and more than 185,000 affected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 UNGRD reduces the death and missing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UNGRD balance of 16 August evening: 287 dead, 4,147 injured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 Colombia lowers the death toll and raises the injured count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ES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ES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52</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ES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31 Aug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1 Sep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 Earthquake: LTC Telecoms Situation Report #02 (25-31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1 - Earthquake Colombia (1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ICRC assesses needs of communities affected by armed conflict following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7.4M Earthquake and EU response - DG ECHO Daily Map (26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Pereira, Colombia: temporary shelters, earthquake of 10 Aug 2026 (19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Colombia: affected neighbourhoods, earthquake of 10 Aug 2026 (20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52</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Humanitarian Needs and Response Plan, Feb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Humanitarian Action for Children 2026 -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English)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urgent needs persist three weeks after the earthquake (MSF)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quarterly protection monitoring, Colombia (Apr-Jun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(Spanish,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#2: Earthquake in Colombia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52</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Manizales, Colombia: Barrios afectados (affected neighbourhoods)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#3: Earthquake in Colombia (7 Sep 2026, Istmina hospital/church needs assessment)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https://reliefweb.int/report/colombia/amda-emergency-relief-3-earthquake-colombia-7-september-2026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Fundación ABBACOL - psychosocial intervention update, Cali (04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https://reliefweb.int/report/colombia/resumen-actualizado-de-la-intervencion-psicosocial-de-abbacol-fecha-de-resumen-y-actualizacion-04-septiembre-2026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Colombia Food Security Outlook Update (Aug 2026 - Jan 2027): earthquake impacts reduce food access as El Niño strengthens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https://reliefweb.int/report/colombia/colombia-food-security-outlook-update-august-2026-january-2027-earthquake-impacts-reduce-food-access-affected-areas-el-nino-strengthens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Quibdó - Colombia: Barrios afectados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https://reliefweb.int/map/colombia/quibdo-colombia-barrios-afectados-terremoto-10-de-agosto-2026-03092026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https://reliefweb.int/report/colombia/iom-colombia-earthquake-situation-report-8-03-september-2026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#8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https://reliefweb.int/report/colombia/oim-respuesta-al-terremoto-en-colombia-reporte-de-situacion-8-3-septiembre-2026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Colombia Earthquake Emergency Situation Report (7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https://reliefweb.int/report/colombia/wfp-colombia-earthquake-response-7-september-2026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#4: Earthquake in Colombia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https://reliefweb.int/report/colombia/amda-emergency-relief-4-earthquake-colombia-8-september-2026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HNRP 2026 5W System Response Report (Jan-Jul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https://reliefweb.int/report/colombia/colombia-reporte-plan-de-respuesta-necesidades-humanitarias-hnrp-2026-en-el-sistema-5w-entre-enero-y-julio-de-2026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52</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(12/12)</a:t>
            </a:r>
            <a:endParaRPr lang="en-US" sz="2100" dirty="0"/>
          </a:p>
        </p:txBody>
      </p:sp>
      <p:pic>
        <p:nvPicPr>
          <p:cNvPr id="3" name="Image 0" descr="/tmp/build_event-bDKa7M/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https://reliefweb.int/report/colombia/analisis-de-situacion-y-respuesta-al-terremoto-4-de-septiembre-2026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Action Against Hunger - Situation and Response Analysis, Earthquake (16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https://reliefweb.int/report/colombia/analisis-de-situacion-y-respuesta-al-terremoto-16-agosto-2026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Colombia: Affected Neighbourhoods Map (3iS,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https://reliefweb.int/map/colombia/cali-colombia-barrios-afectados-terremoto-10-de-agosto-2026-08092026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OCHA/EHP Colombia - Flash Update 012, Update on the Impact of the Earthquake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https://reliefweb.int/report/colombia/colombia-flash-update-012-update-impact-earthquake-colombia-september-10-2026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(FR,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https://reliefweb.int/report/colombia/seisme-en-colombie-caritas-passe-de-laide-durgence-au-relevement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 Earthquake in Colombia: Caritas moves from emergency response to recovery (ES,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https://reliefweb.int/report/colombia/terremoto-en-colombia-caritas-pasa-de-la-respuesta-de-emergencia-la-recuperacion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Buenaventura, Colombia: Affected Neighbourhoods Map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https://reliefweb.int/map/colombia/buenaventura-colombia-barrios-afectados-terremoto-10-de-agosto-2026-11092026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iMMAP/OCHA/UNICEF - Colombia WASH Situation One Month After the Earthquake: Response, Gaps and Priorities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https://reliefweb.int/report/colombia/colombia-situacion-agua-saneamiento-e-higiene-wash-un-mes-del-sismo-de-agosto-de-2026-respuesta-brechas-y-prioridades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 Colombia Protection Monitoring (January-March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https://reliefweb.int/report/colombia/drc-colombia-monitoreo-de-proteccion-enero-marzo-2026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(X/Twitter) - temporary housing economic support payments, Choco and Cali (11-12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https://x.com/UNGRD/status/2098758429951078754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bDKa7M/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Asian Disaster Reduction Center (ADRC)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Bilingual (EN/JA) report for domestic and international dissemination. Public-agency sources take priority; gaps are filled with clearly-labelled media reports.</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2026-09-08 23:15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2026-09-12T23:09:41Z</dcterms:created>
  <dcterms:modified xsi:type="dcterms:W3CDTF">2026-09-12T23:09:41Z</dcterms:modified>
</cp:coreProperties>
</file>