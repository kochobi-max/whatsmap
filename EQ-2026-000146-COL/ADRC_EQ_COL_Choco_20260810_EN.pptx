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Lst>
  <p:notesMasterIdLst>
    <p:notesMasterId r:id="rId6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notesMaster" Target="notesMasters/notes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hyperlink" Target="https://www.sgc.gov.co/detallesismo/SGC2026pqqmro/mmi" TargetMode="External"/><Relationship Id="rId6" Type="http://schemas.openxmlformats.org/officeDocument/2006/relationships/hyperlink" Target="https://www.google.com/maps/" TargetMode="External"/><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image" Target="../media/image-1-4.jp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hyperlink" Target="https://www.kantei.go.jp/jp/105/actions/202607/28hijoukaigi.html" TargetMode="External"/><Relationship Id="rId3" Type="http://schemas.openxmlformats.org/officeDocument/2006/relationships/hyperlink" Target="https://www.mod.go.jp/j/press/kisha/2026/0728c_r.html" TargetMode="External"/><Relationship Id="rId1" Type="http://schemas.openxmlformats.org/officeDocument/2006/relationships/image" Target="../media/image-3-1.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hyperlink" Target="https://www.kantei.go.jp/jp/105/actions/202607/28hijoukaigi.html" TargetMode="External"/><Relationship Id="rId3" Type="http://schemas.openxmlformats.org/officeDocument/2006/relationships/hyperlink" Target="https://www.mod.go.jp/j/press/kisha/2026/0728c_r.html" TargetMode="External"/><Relationship Id="rId1" Type="http://schemas.openxmlformats.org/officeDocument/2006/relationships/image" Target="../media/image-4-1.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hyperlink" Target="https://www.kantei.go.jp/jp/105/actions/202607/28hijoukaigi.html" TargetMode="External"/><Relationship Id="rId3" Type="http://schemas.openxmlformats.org/officeDocument/2006/relationships/hyperlink" Target="https://www.mod.go.jp/j/press/kisha/2026/0728c_r.html" TargetMode="External"/><Relationship Id="rId1" Type="http://schemas.openxmlformats.org/officeDocument/2006/relationships/image" Target="../media/image-5-1.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www.kantei.go.jp/jp/105/actions/202607/28hijoukaigi.html" TargetMode="External"/><Relationship Id="rId3" Type="http://schemas.openxmlformats.org/officeDocument/2006/relationships/hyperlink" Target="https://www.mod.go.jp/j/press/kisha/2026/0728c_r.html" TargetMode="External"/><Relationship Id="rId1" Type="http://schemas.openxmlformats.org/officeDocument/2006/relationships/image" Target="../media/image-6-1.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hyperlink" Target="https://www.kantei.go.jp/jp/105/actions/202607/28hijoukaigi.html" TargetMode="External"/><Relationship Id="rId3" Type="http://schemas.openxmlformats.org/officeDocument/2006/relationships/hyperlink" Target="https://www.mod.go.jp/j/press/kisha/2026/0728c_r.html" TargetMode="External"/><Relationship Id="rId1" Type="http://schemas.openxmlformats.org/officeDocument/2006/relationships/image" Target="../media/image-7-1.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hyperlink" Target="https://www.kantei.go.jp/jp/105/actions/202607/28hijoukaigi.html" TargetMode="External"/><Relationship Id="rId3" Type="http://schemas.openxmlformats.org/officeDocument/2006/relationships/hyperlink" Target="https://www.mod.go.jp/j/press/kisha/2026/0728c_r.html" TargetMode="External"/><Relationship Id="rId1" Type="http://schemas.openxmlformats.org/officeDocument/2006/relationships/image" Target="../media/image-8-1.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www.kantei.go.jp/jp/105/actions/202607/28hijoukaigi.html" TargetMode="External"/><Relationship Id="rId3" Type="http://schemas.openxmlformats.org/officeDocument/2006/relationships/hyperlink" Target="https://www.mod.go.jp/j/press/kisha/2026/0728c_r.html" TargetMode="External"/><Relationship Id="rId1" Type="http://schemas.openxmlformats.org/officeDocument/2006/relationships/image" Target="../media/image-9-1.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www.kantei.go.jp/jp/105/actions/202607/28hijoukaigi.html" TargetMode="External"/><Relationship Id="rId3" Type="http://schemas.openxmlformats.org/officeDocument/2006/relationships/hyperlink" Target="https://www.mod.go.jp/j/press/kisha/2026/0728c_r.html" TargetMode="External"/><Relationship Id="rId1" Type="http://schemas.openxmlformats.org/officeDocument/2006/relationships/image" Target="../media/image-10-1.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hyperlink" Target="https://www.kantei.go.jp/jp/105/actions/202607/28hijoukaigi.html" TargetMode="External"/><Relationship Id="rId3" Type="http://schemas.openxmlformats.org/officeDocument/2006/relationships/hyperlink" Target="https://www.mod.go.jp/j/press/kisha/2026/0728c_r.html" TargetMode="External"/><Relationship Id="rId1" Type="http://schemas.openxmlformats.org/officeDocument/2006/relationships/image" Target="../media/image-11-1.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www.kantei.go.jp/jp/105/actions/202607/28hijoukaigi.html" TargetMode="External"/><Relationship Id="rId3" Type="http://schemas.openxmlformats.org/officeDocument/2006/relationships/hyperlink" Target="https://www.mod.go.jp/j/press/kisha/2026/0728c_r.html" TargetMode="External"/><Relationship Id="rId1" Type="http://schemas.openxmlformats.org/officeDocument/2006/relationships/image" Target="../media/image-12-1.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www.kantei.go.jp/jp/105/actions/202607/28hijoukaigi.html" TargetMode="External"/><Relationship Id="rId3" Type="http://schemas.openxmlformats.org/officeDocument/2006/relationships/hyperlink" Target="https://www.mod.go.jp/j/press/kisha/2026/0728c_r.html" TargetMode="External"/><Relationship Id="rId1" Type="http://schemas.openxmlformats.org/officeDocument/2006/relationships/image" Target="../media/image-13-1.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www.kantei.go.jp/jp/105/actions/202607/28hijoukaigi.html" TargetMode="External"/><Relationship Id="rId3" Type="http://schemas.openxmlformats.org/officeDocument/2006/relationships/hyperlink" Target="https://www.mod.go.jp/j/press/kisha/2026/0728c_r.html" TargetMode="External"/><Relationship Id="rId1" Type="http://schemas.openxmlformats.org/officeDocument/2006/relationships/image" Target="../media/image-14-1.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hyperlink" Target="https://reliefweb.int/report/colombia/colombia-population-movement-imminent-dref-final-report-mdrco034" TargetMode="External"/><Relationship Id="rId4" Type="http://schemas.openxmlformats.org/officeDocument/2006/relationships/hyperlink" Target="https://www.google.com/maps/@5.69,-76.66,9z" TargetMode="External"/><Relationship Id="rId1" Type="http://schemas.openxmlformats.org/officeDocument/2006/relationships/image" Target="../media/image-15-1.png"/><Relationship Id="rId2" Type="http://schemas.openxmlformats.org/officeDocument/2006/relationships/image" Target="../media/image-15-2.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hyperlink" Target="https://www.sgc.gov.co/detallesismo/SGC2026pqqmro/mmi" TargetMode="External"/><Relationship Id="rId4" Type="http://schemas.openxmlformats.org/officeDocument/2006/relationships/hyperlink" Target="https://www.sgc.gov.co/detallesismo/SGC2026pqqmro/mmi" TargetMode="External"/><Relationship Id="rId5" Type="http://schemas.openxmlformats.org/officeDocument/2006/relationships/hyperlink" Target="https://earthquake.usgs.gov/earthquakes/eventpage/us6000tjl2/executive" TargetMode="External"/><Relationship Id="rId1" Type="http://schemas.openxmlformats.org/officeDocument/2006/relationships/image" Target="../media/image-16-1.png"/><Relationship Id="rId2" Type="http://schemas.openxmlformats.org/officeDocument/2006/relationships/image" Target="../media/image-16-2.jp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hyperlink" Target="https://bdrsnc.sgc.gov.co/paginas1/catalogo/index.php" TargetMode="External"/><Relationship Id="rId5" Type="http://schemas.openxmlformats.org/officeDocument/2006/relationships/hyperlink" Target="https://earthquake.usgs.gov/earthquakes/eventpage/us6000tjl2/executive" TargetMode="External"/><Relationship Id="rId1" Type="http://schemas.openxmlformats.org/officeDocument/2006/relationships/image" Target="../media/image-17-1.png"/><Relationship Id="rId2" Type="http://schemas.openxmlformats.org/officeDocument/2006/relationships/image" Target="../media/image-17-2.png"/><Relationship Id="rId4" Type="http://schemas.openxmlformats.org/officeDocument/2006/relationships/image" Target="../media/image-17-3.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hyperlink" Target="https://earthquake.usgs.gov/earthquakes/eventpage/us6000tjl2/executive" TargetMode="External"/><Relationship Id="rId1" Type="http://schemas.openxmlformats.org/officeDocument/2006/relationships/image" Target="../media/image-18-1.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hyperlink" Target="https://www.fnet.bosai.go.jp/" TargetMode="External"/><Relationship Id="rId4" Type="http://schemas.openxmlformats.org/officeDocument/2006/relationships/hyperlink" Target="https://earthquake.usgs.gov/earthquakes/eventpage/us6000tjl2/executive" TargetMode="External"/><Relationship Id="rId5" Type="http://schemas.openxmlformats.org/officeDocument/2006/relationships/hyperlink" Target="https://www.sgc.gov.co/" TargetMode="External"/><Relationship Id="rId1" Type="http://schemas.openxmlformats.org/officeDocument/2006/relationships/image" Target="../media/image-19-1.png"/><Relationship Id="rId2" Type="http://schemas.openxmlformats.org/officeDocument/2006/relationships/image" Target="../media/image-19-2.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hyperlink" Target="https://earthquake.usgs.gov/earthquakes/eventpage/us6000tjl2/pager" TargetMode="External"/><Relationship Id="rId4" Type="http://schemas.openxmlformats.org/officeDocument/2006/relationships/hyperlink" Target="https://earthquake.usgs.gov/earthquakes/eventpage/us6000tjl2/pager" TargetMode="External"/><Relationship Id="rId1" Type="http://schemas.openxmlformats.org/officeDocument/2006/relationships/image" Target="../media/image-31-1.png"/><Relationship Id="rId2" Type="http://schemas.openxmlformats.org/officeDocument/2006/relationships/image" Target="../media/image-31-2.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2" Type="http://schemas.openxmlformats.org/officeDocument/2006/relationships/hyperlink" Target="https://www.adrc.asia/" TargetMode="External"/><Relationship Id="rId1" Type="http://schemas.openxmlformats.org/officeDocument/2006/relationships/image" Target="../media/image-36-1.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2" Type="http://schemas.openxmlformats.org/officeDocument/2006/relationships/hyperlink" Target="https://www.adrc.asia/" TargetMode="External"/><Relationship Id="rId1" Type="http://schemas.openxmlformats.org/officeDocument/2006/relationships/image" Target="../media/image-37-1.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2" Type="http://schemas.openxmlformats.org/officeDocument/2006/relationships/hyperlink" Target="https://www.adrc.asia/" TargetMode="External"/><Relationship Id="rId1" Type="http://schemas.openxmlformats.org/officeDocument/2006/relationships/image" Target="../media/image-38-1.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2" Type="http://schemas.openxmlformats.org/officeDocument/2006/relationships/hyperlink" Target="https://disasterscharter.org/activations" TargetMode="External"/><Relationship Id="rId1" Type="http://schemas.openxmlformats.org/officeDocument/2006/relationships/image" Target="../media/image-39-1.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2" Type="http://schemas.openxmlformats.org/officeDocument/2006/relationships/hyperlink" Target="https://mapping.emergency.copernicus.eu/activations/EMSR916/" TargetMode="External"/><Relationship Id="rId1" Type="http://schemas.openxmlformats.org/officeDocument/2006/relationships/image" Target="../media/image-40-1.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jp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2" Type="http://schemas.openxmlformats.org/officeDocument/2006/relationships/hyperlink" Target="https://earthquake.usgs.gov/earthquakes/eventpage/us6000tjl2/executive" TargetMode="External"/><Relationship Id="rId3" Type="http://schemas.openxmlformats.org/officeDocument/2006/relationships/hyperlink" Target="https://www.sgc.gov.co/" TargetMode="External"/><Relationship Id="rId4" Type="http://schemas.openxmlformats.org/officeDocument/2006/relationships/hyperlink" Target="https://www.sgc.gov.co/detallesismo/SGC2026pqqmro/" TargetMode="External"/><Relationship Id="rId5" Type="http://schemas.openxmlformats.org/officeDocument/2006/relationships/hyperlink" Target="https://www.sgc.gov.co/detallesismo/SGC2026pqqmro/mmi" TargetMode="External"/><Relationship Id="rId6" Type="http://schemas.openxmlformats.org/officeDocument/2006/relationships/hyperlink" Target="https://portal.gestiondelriesgo.gov.co/" TargetMode="External"/><Relationship Id="rId7" Type="http://schemas.openxmlformats.org/officeDocument/2006/relationships/hyperlink" Target="https://gdacs.org/report.aspx?eventid=1557236&amp;eventtype=EQ" TargetMode="External"/><Relationship Id="rId8" Type="http://schemas.openxmlformats.org/officeDocument/2006/relationships/hyperlink" Target="https://disasterscharter.org/activations" TargetMode="External"/><Relationship Id="rId9" Type="http://schemas.openxmlformats.org/officeDocument/2006/relationships/hyperlink" Target="https://mapping.emergency.copernicus.eu/activations/EMSR916/" TargetMode="External"/><Relationship Id="rId10" Type="http://schemas.openxmlformats.org/officeDocument/2006/relationships/hyperlink" Target="https://reliefweb.int/country/col" TargetMode="External"/><Relationship Id="rId11" Type="http://schemas.openxmlformats.org/officeDocument/2006/relationships/hyperlink" Target="https://www.paho.org/en/colombia" TargetMode="External"/><Relationship Id="rId12" Type="http://schemas.openxmlformats.org/officeDocument/2006/relationships/hyperlink" Target="https://www.preventionweb.net/publication/colombia-plan-nacional-de-gestion-del-riesgo-de-desastres-pngrd-2015-2030" TargetMode="External"/><Relationship Id="rId13" Type="http://schemas.openxmlformats.org/officeDocument/2006/relationships/hyperlink" Target="https://www.globalquakemodel.org/seismic-regulations/colombia" TargetMode="External"/><Relationship Id="rId1" Type="http://schemas.openxmlformats.org/officeDocument/2006/relationships/image" Target="../media/image-48-1.png"/><Relationship Id="rId14" Type="http://schemas.openxmlformats.org/officeDocument/2006/relationships/slideLayout" Target="../slideLayouts/slideLayout1.xml"/><Relationship Id="rId1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2" Type="http://schemas.openxmlformats.org/officeDocument/2006/relationships/hyperlink" Target="https://www.cnn.com/2026/08/10/world/live-news/colombia-earthquake-san-jose-del-palmar" TargetMode="External"/><Relationship Id="rId3" Type="http://schemas.openxmlformats.org/officeDocument/2006/relationships/hyperlink" Target="https://www.elcolombiano.com/colombia/terremoto-temblor-hoy-colombia-choco-heridos-FL39761141" TargetMode="External"/><Relationship Id="rId4" Type="http://schemas.openxmlformats.org/officeDocument/2006/relationships/hyperlink" Target="https://un-spider.org/national-unit-disaster-risk-management-ungrd-colombia" TargetMode="External"/><Relationship Id="rId5" Type="http://schemas.openxmlformats.org/officeDocument/2006/relationships/hyperlink" Target="https://www.oecd.org/en/publications/risk-governance-scan-of-colombia_eeb81954-en.html" TargetMode="External"/><Relationship Id="rId6" Type="http://schemas.openxmlformats.org/officeDocument/2006/relationships/hyperlink" Target="https://www.cnn.com/2026/08/10/world/live-news/colombia-earthquake-san-jose-del-palmar" TargetMode="External"/><Relationship Id="rId7" Type="http://schemas.openxmlformats.org/officeDocument/2006/relationships/hyperlink" Target="https://www.france24.com/en/americas/20260810-powerful-quake-rocks-colombia-causing-major-damage" TargetMode="External"/><Relationship Id="rId8" Type="http://schemas.openxmlformats.org/officeDocument/2006/relationships/hyperlink" Target="https://www.aljazeera.com/news/2026/8/10/7-4-magnitude-earthquake-hits-colombia-killing-at-least-20" TargetMode="External"/><Relationship Id="rId9" Type="http://schemas.openxmlformats.org/officeDocument/2006/relationships/hyperlink" Target="https://www.cbsnews.com/news/colombia-earthquake-western-region-evacuations/" TargetMode="External"/><Relationship Id="rId10" Type="http://schemas.openxmlformats.org/officeDocument/2006/relationships/hyperlink" Target="https://www.nbcnews.com/world/latin-america/strong-earthquake-colombia-ecuador-people-evacuating-homes-buildings-rcna591709" TargetMode="External"/><Relationship Id="rId11" Type="http://schemas.openxmlformats.org/officeDocument/2006/relationships/hyperlink" Target="https://colombiaone.com/2026/08/10/earthquake-colombia-official-details/" TargetMode="External"/><Relationship Id="rId12" Type="http://schemas.openxmlformats.org/officeDocument/2006/relationships/hyperlink" Target="https://colombiaone.com/2026/08/10/colombia-national-disaster/" TargetMode="External"/><Relationship Id="rId1" Type="http://schemas.openxmlformats.org/officeDocument/2006/relationships/image" Target="../media/image-49-1.png"/><Relationship Id="rId13" Type="http://schemas.openxmlformats.org/officeDocument/2006/relationships/slideLayout" Target="../slideLayouts/slideLayout1.xml"/><Relationship Id="rId1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2" Type="http://schemas.openxmlformats.org/officeDocument/2006/relationships/hyperlink" Target="https://www.infobae.com/colombia/2026/08/10/por-que-el-temblor-en-colombia-de-este-lunes-10-de-agosto-duro-una-eternidad-el-servicio-geologico-explico-que-paso/" TargetMode="External"/><Relationship Id="rId3" Type="http://schemas.openxmlformats.org/officeDocument/2006/relationships/hyperlink" Target="https://www3.nhk.or.jp/news/" TargetMode="External"/><Relationship Id="rId4" Type="http://schemas.openxmlformats.org/officeDocument/2006/relationships/hyperlink" Target="https://www.nikkei.com/article/DGXZQOGN108V30Q6A810C2000000/" TargetMode="External"/><Relationship Id="rId5" Type="http://schemas.openxmlformats.org/officeDocument/2006/relationships/hyperlink" Target="https://www.jiji.com/jc/article?k=2026081000878&amp;g=int" TargetMode="External"/><Relationship Id="rId6" Type="http://schemas.openxmlformats.org/officeDocument/2006/relationships/hyperlink" Target="https://www.savethechildren.org/us/about-us/media-and-news/2026-press-releases/children-at-risk-after-earthquake-strikes-colombia" TargetMode="External"/><Relationship Id="rId7" Type="http://schemas.openxmlformats.org/officeDocument/2006/relationships/hyperlink" Target="https://www.directrelief.org/2026/08/colombia-earthquake-7-4-magnitude-direct-relief-response/" TargetMode="External"/><Relationship Id="rId8" Type="http://schemas.openxmlformats.org/officeDocument/2006/relationships/hyperlink" Target="https://www.americares.org/crisis-alerts/colombia-earthquake-august-2026/" TargetMode="External"/><Relationship Id="rId9" Type="http://schemas.openxmlformats.org/officeDocument/2006/relationships/hyperlink" Target="https://glidenumber.net/" TargetMode="External"/><Relationship Id="rId10" Type="http://schemas.openxmlformats.org/officeDocument/2006/relationships/hyperlink" Target="https://www.adrc.asia/" TargetMode="External"/><Relationship Id="rId11" Type="http://schemas.openxmlformats.org/officeDocument/2006/relationships/hyperlink" Target="https://www.democrata.es/en/international/von-der-leyen-expresses-the-eu-s-support-for-colombia-and-activates-copernicus-after-the-earthquake/" TargetMode="External"/><Relationship Id="rId12" Type="http://schemas.openxmlformats.org/officeDocument/2006/relationships/hyperlink" Target="https://www.globalquakemodel.org/proj/treq" TargetMode="External"/><Relationship Id="rId1" Type="http://schemas.openxmlformats.org/officeDocument/2006/relationships/image" Target="../media/image-50-1.png"/><Relationship Id="rId13" Type="http://schemas.openxmlformats.org/officeDocument/2006/relationships/slideLayout" Target="../slideLayouts/slideLayout1.xml"/><Relationship Id="rId1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2" Type="http://schemas.openxmlformats.org/officeDocument/2006/relationships/hyperlink" Target="https://cloud-storage.globalquakemodel.org/public/wix-new-website/pdf-collections-wix/publications/TREQ%20deliverables/reports/TREQ_D262_Riesgo_Sismico_Cali_v1.00.pdf" TargetMode="External"/><Relationship Id="rId3" Type="http://schemas.openxmlformats.org/officeDocument/2006/relationships/hyperlink" Target="https://www.sciencedirect.com/science/article/abs/pii/S2212420925003097" TargetMode="External"/><Relationship Id="rId4" Type="http://schemas.openxmlformats.org/officeDocument/2006/relationships/hyperlink" Target="https://satic.cali.gov.co/satic" TargetMode="External"/><Relationship Id="rId5" Type="http://schemas.openxmlformats.org/officeDocument/2006/relationships/hyperlink" Target="https://www.cali.gov.co/gestiondelriesgo/" TargetMode="External"/><Relationship Id="rId6" Type="http://schemas.openxmlformats.org/officeDocument/2006/relationships/hyperlink" Target="https://portal.gestiondelriesgo.gov.co/Paginas/Plan-Nacional-de-Gestion-del-Riesgo.aspx" TargetMode="External"/><Relationship Id="rId7" Type="http://schemas.openxmlformats.org/officeDocument/2006/relationships/hyperlink" Target="https://www.funcionpublica.gov.co/eva/gestornormativo/norma.php?i=191411" TargetMode="External"/><Relationship Id="rId8" Type="http://schemas.openxmlformats.org/officeDocument/2006/relationships/hyperlink" Target="https://www.emsc-csem.org/" TargetMode="External"/><Relationship Id="rId9" Type="http://schemas.openxmlformats.org/officeDocument/2006/relationships/hyperlink" Target="https://catalogosismico.sgc.gov.co/visor/index.html" TargetMode="External"/><Relationship Id="rId10" Type="http://schemas.openxmlformats.org/officeDocument/2006/relationships/hyperlink" Target="https://www.eltiempo.com/colombia/otras-ciudades/terremoto-en-colombia-de-7-4-en-vivo-el-comandante-del-ejercito-nacional-se-encuentra-en-choco-coordinando-las-labores-de-atencion-de-la-emergencia-3577491" TargetMode="External"/><Relationship Id="rId11" Type="http://schemas.openxmlformats.org/officeDocument/2006/relationships/hyperlink" Target="https://www.elespectador.com/colombia/mas-regiones/temblor-en-colombia-hoy-10-de-agosto-en-vivo-epicentro-y-reporte-de-afectaciones/" TargetMode="External"/><Relationship Id="rId12" Type="http://schemas.openxmlformats.org/officeDocument/2006/relationships/hyperlink" Target="https://www.noticiascaracol.com/colombia/en-vivo-colombia-hoy-tras-terremoto-de-magnitud-7-4-continuan-las-labores-de-rescate-so35" TargetMode="External"/><Relationship Id="rId1" Type="http://schemas.openxmlformats.org/officeDocument/2006/relationships/image" Target="../media/image-51-1.png"/><Relationship Id="rId13" Type="http://schemas.openxmlformats.org/officeDocument/2006/relationships/slideLayout" Target="../slideLayouts/slideLayout1.xml"/><Relationship Id="rId1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2" Type="http://schemas.openxmlformats.org/officeDocument/2006/relationships/hyperlink" Target="https://rpp.pe/mundo/colombia/abelardo-de-la-espriella-cifra-en-181-los-muertos-por-el-terremoto-59-menos-que-datos-regionales-noticia-1701022" TargetMode="External"/><Relationship Id="rId3" Type="http://schemas.openxmlformats.org/officeDocument/2006/relationships/hyperlink" Target="https://www.eltiempo.com/colombia/otras-ciudades/cuantas-replicas-se-han-registrado-tras-el-terremoto-de-7-4-en-colombia-estas-son-todas-las-magnitudes-3577711" TargetMode="External"/><Relationship Id="rId4" Type="http://schemas.openxmlformats.org/officeDocument/2006/relationships/hyperlink" Target="https://www.semana.com/tecnologia/articulo/servicio-geologico-revela-el-numero-total-de-replicas-que-ha-habido-en-colombia-tras-fuerte-terremoto-que-estremecio-al-pais/202641/" TargetMode="External"/><Relationship Id="rId5" Type="http://schemas.openxmlformats.org/officeDocument/2006/relationships/hyperlink" Target="https://www.mofa.go.jp/mofaj/la_c/sa/co/pageit_000001_00001.html" TargetMode="External"/><Relationship Id="rId6" Type="http://schemas.openxmlformats.org/officeDocument/2006/relationships/hyperlink" Target="https://x.com/MofaJapan_jp/status/2087155064855261537" TargetMode="External"/><Relationship Id="rId7" Type="http://schemas.openxmlformats.org/officeDocument/2006/relationships/hyperlink" Target="https://www.eltiempo.com/mundo/mas-regiones/la-comunidad-internacional-se-vuelca-en-ayudas-para-colombia-lista-de-paises-que-han-ofrecido-apoyo-tras-el-terremoto-de-magnitud-7-3577512" TargetMode="External"/><Relationship Id="rId8" Type="http://schemas.openxmlformats.org/officeDocument/2006/relationships/hyperlink" Target="https://colombia.un.org/es/320793-informaci%C3%B3n-y-actualizaciones-sobre-el-terremoto-en-colombia" TargetMode="External"/><Relationship Id="rId9" Type="http://schemas.openxmlformats.org/officeDocument/2006/relationships/hyperlink" Target="https://news.un.org/es/story/2026/08/1541792" TargetMode="External"/><Relationship Id="rId10" Type="http://schemas.openxmlformats.org/officeDocument/2006/relationships/hyperlink" Target="https://www.colombiatebusca.com/" TargetMode="External"/><Relationship Id="rId11" Type="http://schemas.openxmlformats.org/officeDocument/2006/relationships/hyperlink" Target="https://www.asocapitales.co/terremoto-colombia.html" TargetMode="External"/><Relationship Id="rId12" Type="http://schemas.openxmlformats.org/officeDocument/2006/relationships/hyperlink" Target="https://www.infobae.com/colombia/2026/08/12/de-la-espriella-anuncio-alivios-y-subsidios-tras-emergencia-en-el-eje-cafetero-por-el-terremoto-detallo-plan-de-choque-para-educacion-y-vivienda/" TargetMode="External"/><Relationship Id="rId1" Type="http://schemas.openxmlformats.org/officeDocument/2006/relationships/image" Target="../media/image-52-1.png"/><Relationship Id="rId13" Type="http://schemas.openxmlformats.org/officeDocument/2006/relationships/slideLayout" Target="../slideLayouts/slideLayout1.xml"/><Relationship Id="rId1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2" Type="http://schemas.openxmlformats.org/officeDocument/2006/relationships/hyperlink" Target="https://www.pulzo.com/nacion/terremoto-en-colombia-ungrd-reporta-danos-y-victimas-en-valle-del-cauca-y-risaralda-PP5272829A" TargetMode="External"/><Relationship Id="rId3" Type="http://schemas.openxmlformats.org/officeDocument/2006/relationships/hyperlink" Target="https://www.eltiempo.com/colombia/otras-ciudades/terremoto-en-colombia-hoy-12-de-agosto-ultimas-noticias-presidente-de-la-espriella-celebro-rescate-de-daniela-largo-tras-36-horas-bajo-los-escombros-3577781" TargetMode="External"/><Relationship Id="rId4" Type="http://schemas.openxmlformats.org/officeDocument/2006/relationships/hyperlink" Target="https://www.asocapitales.co/actualidad/noticias/ciudades-seguras/terremoto-deja-188-fallecidos-y-1677-heridos-en-ciudades" TargetMode="External"/><Relationship Id="rId5" Type="http://schemas.openxmlformats.org/officeDocument/2006/relationships/hyperlink" Target="https://www.infolibre.es/internacional/terremoto-colombia-deja-254-muertos-continua-busqueda-escombros_1_2235003.html" TargetMode="External"/><Relationship Id="rId6" Type="http://schemas.openxmlformats.org/officeDocument/2006/relationships/hyperlink" Target="https://www.elcolombiano.com/colombia/cifra-muertos-heridos-desaparecidos-por-terremoto-colombia-MK39884181" TargetMode="External"/><Relationship Id="rId7" Type="http://schemas.openxmlformats.org/officeDocument/2006/relationships/hyperlink" Target="https://www.eltiempo.com/colombia/otras-ciudades/balance-oficial-de-la-ungrd-tras-terremoto-de-magnitud-7-4-en-colombia-273-fallecidos-3-824-heridos-y-377-desaparecidos-3578196" TargetMode="External"/><Relationship Id="rId8" Type="http://schemas.openxmlformats.org/officeDocument/2006/relationships/hyperlink" Target="https://www.eltiempo.com/vida/40-753-familias-afectadas-y-273-muertos-ungrd-entrega-nuevo-balance-del-terremoto-en-colombia-3578185" TargetMode="External"/><Relationship Id="rId9" Type="http://schemas.openxmlformats.org/officeDocument/2006/relationships/hyperlink" Target="https://www.eltiempo.com/colombia/otras-ciudades/nuevo-temblor-de-magnitud-4-2-se-registro-en-san-jose-del-palmar-choco-en-la-manana-de-este-jueves-13-de-agosto-3578131" TargetMode="External"/><Relationship Id="rId10" Type="http://schemas.openxmlformats.org/officeDocument/2006/relationships/hyperlink" Target="https://www.infobae.com/colombia/2026/08/13/colombia-recibira-equipos-de-rescate-de-ee-uu-israel-ecuador-y-el-salvador-por-terremoto/" TargetMode="External"/><Relationship Id="rId11" Type="http://schemas.openxmlformats.org/officeDocument/2006/relationships/hyperlink" Target="https://www.eltiempo.com/colombia/otras-ciudades/balance-oficial-de-la-ungrd-tras-terremoto-de-magnitud-7-4-en-colombia-287-fallecidos-3-975-heridos-y-378-desaparecidos-3578445" TargetMode="External"/><Relationship Id="rId1" Type="http://schemas.openxmlformats.org/officeDocument/2006/relationships/image" Target="../media/image-53-1.png"/><Relationship Id="rId12" Type="http://schemas.openxmlformats.org/officeDocument/2006/relationships/slideLayout" Target="../slideLayouts/slideLayout1.xml"/><Relationship Id="rId1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2" Type="http://schemas.openxmlformats.org/officeDocument/2006/relationships/hyperlink" Target="https://www.infobae.com/colombia/2026/08/14/temblor-de-74-en-colombia-el-10-de-agosto-se-actualizo-el-numero-de-fallecidos-en-todo-el-pais/" TargetMode="External"/><Relationship Id="rId3" Type="http://schemas.openxmlformats.org/officeDocument/2006/relationships/hyperlink" Target="https://www.infobae.com/colombia/2026/08/14/aumenta-la-ayuda-internacional-a-colombia-tras-el-terremoto-de-74-india-envia-20-toneladas-y-noruega-suecia-y-espana-anuncian-nuevos-recursos/" TargetMode="External"/><Relationship Id="rId4" Type="http://schemas.openxmlformats.org/officeDocument/2006/relationships/hyperlink" Target="https://www.elheraldo.co/colombia/2026/08/14/italia-india-espana-chile-y-banco-mundial-entre-los-paises-y-organismos-que-han-enviado-ayudas-a-colombia-por-el-terremoto/" TargetMode="External"/><Relationship Id="rId5" Type="http://schemas.openxmlformats.org/officeDocument/2006/relationships/hyperlink" Target="https://www.jrc.or.jp/international/news/2026/0812_054987.html" TargetMode="External"/><Relationship Id="rId6" Type="http://schemas.openxmlformats.org/officeDocument/2006/relationships/hyperlink" Target="https://www.eltiempo.com/vida/medio-ambiente/por-que-colombia-no-necesito-rescatistas-extranjeros-tras-el-terremoto-el-pais-cuenta-con-23-equipos-con-personal-que-hace-parte-de-la-elite-global-3577677" TargetMode="External"/><Relationship Id="rId7" Type="http://schemas.openxmlformats.org/officeDocument/2006/relationships/hyperlink" Target="https://www.eltiempo.com/amp/vida/medio-ambiente/terremoto-en-colombia-desde-el-sismo-del-10-de-agosto-se-han-registrado-184-replicas-reporta-este-viernes-14-el-servicio-geologico-colombiano-3578360" TargetMode="External"/><Relationship Id="rId8" Type="http://schemas.openxmlformats.org/officeDocument/2006/relationships/hyperlink" Target="https://cnnespanol.cnn.com/2026/08/12/colombia/live-news/terremoto-en-vivo-muertos-videos-rescates-orix" TargetMode="External"/><Relationship Id="rId9" Type="http://schemas.openxmlformats.org/officeDocument/2006/relationships/hyperlink" Target="https://www.eltiempo.com/colombia/otras-ciudades/balance-oficial-de-la-ungrd-este-15-de-agosto-tras-terremoto-de-7-4-en-colombia-294-fallecidos-3-935-heridos-320-desaparecidos-y-353-rescatados-3578602" TargetMode="External"/><Relationship Id="rId10" Type="http://schemas.openxmlformats.org/officeDocument/2006/relationships/hyperlink" Target="https://www.semana.com/nacion/articulo/ascienden-a-294-los-fallecidos-del-terremoto-del-10-de-agosto-y-van-81506-viviendas-averiadas-segun-cifras-oficiales/202627/" TargetMode="External"/><Relationship Id="rId11" Type="http://schemas.openxmlformats.org/officeDocument/2006/relationships/hyperlink" Target="https://www.elheraldo.co/colombia/2026/08/12/presidente-de-la-espriella-decreta-tres-dias-de-duelo-nacional-por-victimas-del-terremoto/" TargetMode="External"/><Relationship Id="rId1" Type="http://schemas.openxmlformats.org/officeDocument/2006/relationships/image" Target="../media/image-54-1.png"/><Relationship Id="rId12" Type="http://schemas.openxmlformats.org/officeDocument/2006/relationships/slideLayout" Target="../slideLayouts/slideLayout1.xml"/><Relationship Id="rId1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2" Type="http://schemas.openxmlformats.org/officeDocument/2006/relationships/hyperlink" Target="https://www.eltiempo.com/colombia/otras-ciudades/gobernadora-del-choco-dio-por-finalizada-la-fase-de-busqueda-y-rescate-en-el-departamento-tras-terremoto-de-7-4-en-colombia-ya-no-buscamos-a-nadie-3578022" TargetMode="External"/><Relationship Id="rId3" Type="http://schemas.openxmlformats.org/officeDocument/2006/relationships/hyperlink" Target="https://www.eltiempo.com/colombia/otras-ciudades/balance-oficial-de-la-ungrd-este-16-de-agosto-tras-terremoto-de-7-4-en-colombia-289-fallecidos-4-187-heridos-y-143-desaparecidos-3578742" TargetMode="External"/><Relationship Id="rId4" Type="http://schemas.openxmlformats.org/officeDocument/2006/relationships/hyperlink" Target="https://www.rtvcnoticias.com/actualidad/terremoto-deja-289-fallecidos-143-desaparecidos-y-mas-de-185000-afectados-en-colombia" TargetMode="External"/><Relationship Id="rId5" Type="http://schemas.openxmlformats.org/officeDocument/2006/relationships/hyperlink" Target="https://www.radiosantafe.com/2026/08/16/ungrd-reduce-a-289-cifra-de-fallecidos-y-a-143-la-de-personas-desaparecidas-por-el-terremoto/" TargetMode="External"/><Relationship Id="rId6" Type="http://schemas.openxmlformats.org/officeDocument/2006/relationships/hyperlink" Target="https://www.semana.com/nacion/articulo/terremoto-en-colombia-reportan-287-muertos-y-4147-heridos-en-nuevo-balance-de-la-ungrd/202615/" TargetMode="External"/><Relationship Id="rId7" Type="http://schemas.openxmlformats.org/officeDocument/2006/relationships/hyperlink" Target="https://www.latercera.com/mundo/noticia/colombia-rebaja-a-casi-287-los-muertos-y-eleva-a-cerca-de-4150-los-heridos-por-el-terremoto/" TargetMode="External"/><Relationship Id="rId8" Type="http://schemas.openxmlformats.org/officeDocument/2006/relationships/hyperlink" Target="https://reliefweb.int/report/colombia/colombia-flash-update-010-update-impact-earthquake-colombia-august-27-2026" TargetMode="External"/><Relationship Id="rId9" Type="http://schemas.openxmlformats.org/officeDocument/2006/relationships/hyperlink" Target="https://reliefweb.int/report/colombia/colombia-flash-update-010-actualizacion-afectaciones-por-terremoto-en-colombia-27-de-agosto-de-2026" TargetMode="External"/><Relationship Id="rId10" Type="http://schemas.openxmlformats.org/officeDocument/2006/relationships/hyperlink" Target="https://reliefweb.int/report/colombia/colombia-flash-update-009-update-impact-earthquake-colombia-august-24-2026" TargetMode="External"/><Relationship Id="rId11" Type="http://schemas.openxmlformats.org/officeDocument/2006/relationships/hyperlink" Target="https://reliefweb.int/report/colombia/colombia-flash-update-009-actualizacion-afectaciones-por-terremoto-en-colombia-24-de-agosto-de-2026" TargetMode="External"/><Relationship Id="rId1" Type="http://schemas.openxmlformats.org/officeDocument/2006/relationships/image" Target="../media/image-55-1.png"/><Relationship Id="rId12" Type="http://schemas.openxmlformats.org/officeDocument/2006/relationships/slideLayout" Target="../slideLayouts/slideLayout1.xml"/><Relationship Id="rId1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2" Type="http://schemas.openxmlformats.org/officeDocument/2006/relationships/hyperlink" Target="https://reliefweb.int/report/colombia/iom-colombia-earthquake-response-situation-report-6-28-august-2026" TargetMode="External"/><Relationship Id="rId3" Type="http://schemas.openxmlformats.org/officeDocument/2006/relationships/hyperlink" Target="https://reliefweb.int/report/colombia/oim-respuesta-al-terremoto-en-colombia-reporte-de-situacion-6-28-agosto-2026" TargetMode="External"/><Relationship Id="rId4" Type="http://schemas.openxmlformats.org/officeDocument/2006/relationships/hyperlink" Target="https://x.com/UNGRD/status/2094414373506736128" TargetMode="External"/><Relationship Id="rId5" Type="http://schemas.openxmlformats.org/officeDocument/2006/relationships/hyperlink" Target="https://x.com/UNGRD/status/2094764781831872512" TargetMode="External"/><Relationship Id="rId6" Type="http://schemas.openxmlformats.org/officeDocument/2006/relationships/hyperlink" Target="https://reliefweb.int/report/colombia/colombia-earthquake-ltc-telecoms-situation-report-02-reporting-period-25-31-august-2026" TargetMode="External"/><Relationship Id="rId7" Type="http://schemas.openxmlformats.org/officeDocument/2006/relationships/hyperlink" Target="https://reliefweb.int/report/colombia/amda-emergency-relief-1-earthquake-colombia-1-september-2026" TargetMode="External"/><Relationship Id="rId8" Type="http://schemas.openxmlformats.org/officeDocument/2006/relationships/hyperlink" Target="https://reliefweb.int/report/colombia/colombia-icrc-assesses-needs-communities-affected-armed-conflict-following-earthquake" TargetMode="External"/><Relationship Id="rId9" Type="http://schemas.openxmlformats.org/officeDocument/2006/relationships/hyperlink" Target="https://reliefweb.int/map/colombia/colombia-74-m-earthquake-10-august-and-eu-response-dg-echo-daily-map-26082026" TargetMode="External"/><Relationship Id="rId10" Type="http://schemas.openxmlformats.org/officeDocument/2006/relationships/hyperlink" Target="https://reliefweb.int/map/colombia/pereira-colombia-alojamientos-temporales-terremoto-10-de-agosto-2026-19082026" TargetMode="External"/><Relationship Id="rId11" Type="http://schemas.openxmlformats.org/officeDocument/2006/relationships/hyperlink" Target="https://reliefweb.int/map/colombia/manizales-colombia-barrios-afectados-terremoto-10-de-agosto-2026-20082026" TargetMode="External"/><Relationship Id="rId1" Type="http://schemas.openxmlformats.org/officeDocument/2006/relationships/image" Target="../media/image-56-1.png"/><Relationship Id="rId12" Type="http://schemas.openxmlformats.org/officeDocument/2006/relationships/slideLayout" Target="../slideLayouts/slideLayout1.xml"/><Relationship Id="rId1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2" Type="http://schemas.openxmlformats.org/officeDocument/2006/relationships/hyperlink" Target="https://reliefweb.int/report/colombia/colombia-addendum-humanitarian-response-plan-earthquake-august-2026" TargetMode="External"/><Relationship Id="rId3" Type="http://schemas.openxmlformats.org/officeDocument/2006/relationships/hyperlink" Target="https://reliefweb.int/report/colombia/colombia-adenda-al-plan-de-respuesta-humanitaria-terremoto-agosto-2026" TargetMode="External"/><Relationship Id="rId4" Type="http://schemas.openxmlformats.org/officeDocument/2006/relationships/hyperlink" Target="https://reliefweb.int/report/colombia/colombia-plan-de-respuesta-necesidades-humanitarias-febrero-2026-enes" TargetMode="External"/><Relationship Id="rId5" Type="http://schemas.openxmlformats.org/officeDocument/2006/relationships/hyperlink" Target="https://reliefweb.int/report/colombia/humanitarian-action-children-2026-colombia" TargetMode="External"/><Relationship Id="rId6" Type="http://schemas.openxmlformats.org/officeDocument/2006/relationships/hyperlink" Target="https://reliefweb.int/report/colombia/colombia-flash-update-011-actualizacion-afectaciones-por-terremoto-en-colombia-02-de-septiembre-de-2026" TargetMode="External"/><Relationship Id="rId7" Type="http://schemas.openxmlformats.org/officeDocument/2006/relationships/hyperlink" Target="https://reliefweb.int/report/colombia/colombia-flash-update-011-update-impact-earthquake-colombia-september-2-2026" TargetMode="External"/><Relationship Id="rId8" Type="http://schemas.openxmlformats.org/officeDocument/2006/relationships/hyperlink" Target="https://reliefweb.int/report/colombia/urgent-needs-persist-three-weeks-after-earthquake-colombia" TargetMode="External"/><Relationship Id="rId9" Type="http://schemas.openxmlformats.org/officeDocument/2006/relationships/hyperlink" Target="https://reliefweb.int/report/colombia/informe-de-monitoreo-de-proteccion-trimestral-de-drc-colombia-abril-junio-2026" TargetMode="External"/><Relationship Id="rId10" Type="http://schemas.openxmlformats.org/officeDocument/2006/relationships/hyperlink" Target="https://reliefweb.int/report/colombia/colombia-earthquake-situation-report-7-31-aug-2026" TargetMode="External"/><Relationship Id="rId11" Type="http://schemas.openxmlformats.org/officeDocument/2006/relationships/hyperlink" Target="https://reliefweb.int/report/colombia/respuesta-al-terremoto-en-colombia-reporte-de-situacion-7-31-agosto-2026" TargetMode="External"/><Relationship Id="rId12" Type="http://schemas.openxmlformats.org/officeDocument/2006/relationships/hyperlink" Target="https://reliefweb.int/report/colombia/amda-emergency-relief-2-earthquake-colombia-3-september-2026" TargetMode="External"/><Relationship Id="rId1" Type="http://schemas.openxmlformats.org/officeDocument/2006/relationships/image" Target="../media/image-57-1.png"/><Relationship Id="rId13" Type="http://schemas.openxmlformats.org/officeDocument/2006/relationships/slideLayout" Target="../slideLayouts/slideLayout1.xml"/><Relationship Id="rId1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2" Type="http://schemas.openxmlformats.org/officeDocument/2006/relationships/hyperlink" Target="https://reliefweb.int/map/colombia/manizales-colombia-barrios-afectados-terremoto-10-de-agosto-2026-03092026" TargetMode="External"/><Relationship Id="rId3" Type="http://schemas.openxmlformats.org/officeDocument/2006/relationships/hyperlink" Target="https://reliefweb.int/report/colombia/amda-emergency-relief-3-earthquake-colombia-7-september-2026" TargetMode="External"/><Relationship Id="rId4" Type="http://schemas.openxmlformats.org/officeDocument/2006/relationships/hyperlink" Target="https://reliefweb.int/report/colombia/resumen-actualizado-de-la-intervencion-psicosocial-de-abbacol-fecha-de-resumen-y-actualizacion-04-septiembre-2026" TargetMode="External"/><Relationship Id="rId5" Type="http://schemas.openxmlformats.org/officeDocument/2006/relationships/hyperlink" Target="https://reliefweb.int/report/colombia/colombia-food-security-outlook-update-august-2026-january-2027-earthquake-impacts-reduce-food-access-affected-areas-el-nino-strengthens" TargetMode="External"/><Relationship Id="rId6" Type="http://schemas.openxmlformats.org/officeDocument/2006/relationships/hyperlink" Target="https://reliefweb.int/map/colombia/quibdo-colombia-barrios-afectados-terremoto-10-de-agosto-2026-03092026" TargetMode="External"/><Relationship Id="rId7" Type="http://schemas.openxmlformats.org/officeDocument/2006/relationships/hyperlink" Target="https://reliefweb.int/report/colombia/iom-colombia-earthquake-situation-report-8-03-september-2026" TargetMode="External"/><Relationship Id="rId8" Type="http://schemas.openxmlformats.org/officeDocument/2006/relationships/hyperlink" Target="https://reliefweb.int/report/colombia/oim-respuesta-al-terremoto-en-colombia-reporte-de-situacion-8-3-septiembre-2026" TargetMode="External"/><Relationship Id="rId9" Type="http://schemas.openxmlformats.org/officeDocument/2006/relationships/hyperlink" Target="https://reliefweb.int/report/colombia/wfp-colombia-earthquake-response-7-september-2026" TargetMode="External"/><Relationship Id="rId10" Type="http://schemas.openxmlformats.org/officeDocument/2006/relationships/hyperlink" Target="https://reliefweb.int/report/colombia/amda-emergency-relief-4-earthquake-colombia-8-september-2026" TargetMode="External"/><Relationship Id="rId11" Type="http://schemas.openxmlformats.org/officeDocument/2006/relationships/hyperlink" Target="https://reliefweb.int/report/colombia/colombia-reporte-plan-de-respuesta-necesidades-humanitarias-hnrp-2026-en-el-sistema-5w-entre-enero-y-julio-de-2026" TargetMode="External"/><Relationship Id="rId1" Type="http://schemas.openxmlformats.org/officeDocument/2006/relationships/image" Target="../media/image-58-1.png"/><Relationship Id="rId12" Type="http://schemas.openxmlformats.org/officeDocument/2006/relationships/slideLayout" Target="../slideLayouts/slideLayout1.xml"/><Relationship Id="rId1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2" Type="http://schemas.openxmlformats.org/officeDocument/2006/relationships/hyperlink" Target="https://reliefweb.int/report/colombia/analisis-de-situacion-y-respuesta-al-terremoto-4-de-septiembre-2026" TargetMode="External"/><Relationship Id="rId3" Type="http://schemas.openxmlformats.org/officeDocument/2006/relationships/hyperlink" Target="https://reliefweb.int/report/colombia/analisis-de-situacion-y-respuesta-al-terremoto-16-agosto-2026" TargetMode="External"/><Relationship Id="rId4" Type="http://schemas.openxmlformats.org/officeDocument/2006/relationships/hyperlink" Target="https://reliefweb.int/map/colombia/cali-colombia-barrios-afectados-terremoto-10-de-agosto-2026-08092026" TargetMode="External"/><Relationship Id="rId5" Type="http://schemas.openxmlformats.org/officeDocument/2006/relationships/hyperlink" Target="https://reliefweb.int/report/colombia/colombia-flash-update-012-update-impact-earthquake-colombia-september-10-2026" TargetMode="External"/><Relationship Id="rId6" Type="http://schemas.openxmlformats.org/officeDocument/2006/relationships/hyperlink" Target="https://reliefweb.int/report/colombia/seisme-en-colombie-caritas-passe-de-laide-durgence-au-relevement" TargetMode="External"/><Relationship Id="rId7" Type="http://schemas.openxmlformats.org/officeDocument/2006/relationships/hyperlink" Target="https://reliefweb.int/report/colombia/terremoto-en-colombia-caritas-pasa-de-la-respuesta-de-emergencia-la-recuperacion" TargetMode="External"/><Relationship Id="rId8" Type="http://schemas.openxmlformats.org/officeDocument/2006/relationships/hyperlink" Target="https://reliefweb.int/map/colombia/buenaventura-colombia-barrios-afectados-terremoto-10-de-agosto-2026-11092026" TargetMode="External"/><Relationship Id="rId9" Type="http://schemas.openxmlformats.org/officeDocument/2006/relationships/hyperlink" Target="https://reliefweb.int/report/colombia/colombia-situacion-agua-saneamiento-e-higiene-wash-un-mes-del-sismo-de-agosto-de-2026-respuesta-brechas-y-prioridades" TargetMode="External"/><Relationship Id="rId10" Type="http://schemas.openxmlformats.org/officeDocument/2006/relationships/hyperlink" Target="https://reliefweb.int/report/colombia/drc-colombia-monitoreo-de-proteccion-enero-marzo-2026" TargetMode="External"/><Relationship Id="rId11" Type="http://schemas.openxmlformats.org/officeDocument/2006/relationships/hyperlink" Target="https://x.com/UNGRD/status/2098758429951078754" TargetMode="External"/><Relationship Id="rId1" Type="http://schemas.openxmlformats.org/officeDocument/2006/relationships/image" Target="../media/image-59-1.png"/><Relationship Id="rId12" Type="http://schemas.openxmlformats.org/officeDocument/2006/relationships/slideLayout" Target="../slideLayouts/slideLayout1.xml"/><Relationship Id="rId1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2" Type="http://schemas.openxmlformats.org/officeDocument/2006/relationships/hyperlink" Target="https://portal.gestiondelriesgo.gov.co/Paginas/Noticias/2026/356-personas-rescatadas-la-respuesta-de-la-UNGRD-continua-un-mes-despues-del-terremoto.aspx" TargetMode="External"/><Relationship Id="rId3" Type="http://schemas.openxmlformats.org/officeDocument/2006/relationships/hyperlink" Target="https://portal.gestiondelriesgo.gov.co/Paginas/Noticias/2026/Inicia-el-pago-de-mas-de-3324-millones-en-apoyo-economico-para-las-familias-damnificadas-por-el-terremoto-en-Choco.aspx" TargetMode="External"/><Relationship Id="rId4" Type="http://schemas.openxmlformats.org/officeDocument/2006/relationships/hyperlink" Target="https://reliefweb.int/report/colombia/colombia-ifrc-calls-sustained-support-earthquake-affected-communities-one-month" TargetMode="External"/><Relationship Id="rId5" Type="http://schemas.openxmlformats.org/officeDocument/2006/relationships/hyperlink" Target="https://reliefweb.int/report/colombia/iom-colombia-earthquake-situation-report-9-10-september-2026" TargetMode="External"/><Relationship Id="rId6" Type="http://schemas.openxmlformats.org/officeDocument/2006/relationships/hyperlink" Target="https://reliefweb.int/report/colombia/colombia-emergency-response-situation-report-2-18-august-10-september-2026" TargetMode="External"/><Relationship Id="rId7" Type="http://schemas.openxmlformats.org/officeDocument/2006/relationships/hyperlink" Target="https://reliefweb.int/report/colombia/colombia-flash-update-013-actualizacion-afectaciones-por-terremoto-en-colombia-17-de-septiembre-de-2026" TargetMode="External"/><Relationship Id="rId8" Type="http://schemas.openxmlformats.org/officeDocument/2006/relationships/hyperlink" Target="https://reliefweb.int/report/colombia/colombia-flash-update-013-update-impact-earthquake-colombia-september-18-2026" TargetMode="External"/><Relationship Id="rId9" Type="http://schemas.openxmlformats.org/officeDocument/2006/relationships/hyperlink" Target="https://portal.gestiondelriesgo.gov.co/Paginas/Noticias/2026/UNGRD-y-Naciones-Unidas-analizan-en-Cali-los-retos-de-la-recuperacion-tras-el-terremoto.aspx" TargetMode="External"/><Relationship Id="rId10" Type="http://schemas.openxmlformats.org/officeDocument/2006/relationships/hyperlink" Target="https://reliefweb.int/report/colombia/analisis-de-situacion-y-respuesta-al-terremoto-10-de-septiembre-2026" TargetMode="External"/><Relationship Id="rId11" Type="http://schemas.openxmlformats.org/officeDocument/2006/relationships/hyperlink" Target="https://reliefweb.int/report/colombia/colombia-earthquake-response-situation-report-10-14-september-2026" TargetMode="External"/><Relationship Id="rId12" Type="http://schemas.openxmlformats.org/officeDocument/2006/relationships/hyperlink" Target="https://reliefweb.int/report/colombia/colombia-evaluacion-rapida-conjunta-de-mercados-jram-panorama-de-la-situacion-agosto-2026" TargetMode="External"/><Relationship Id="rId1" Type="http://schemas.openxmlformats.org/officeDocument/2006/relationships/image" Target="../media/image-60-1.png"/><Relationship Id="rId13" Type="http://schemas.openxmlformats.org/officeDocument/2006/relationships/slideLayout" Target="../slideLayouts/slideLayout1.xml"/><Relationship Id="rId1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2" Type="http://schemas.openxmlformats.org/officeDocument/2006/relationships/hyperlink" Target="https://reliefweb.int/report/colombia/colombia-grupo-de-trabajo-de-logistica-gtl-un-mes-de-operacion-de-emergencia-10-de-septiembre-de-2026" TargetMode="External"/><Relationship Id="rId3" Type="http://schemas.openxmlformats.org/officeDocument/2006/relationships/hyperlink" Target="https://reliefweb.int/report/colombia/respuesta-al-terremoto-en-colombia-reporte-de-situacion-10-14-septiembre-2026" TargetMode="External"/><Relationship Id="rId4" Type="http://schemas.openxmlformats.org/officeDocument/2006/relationships/hyperlink" Target="https://reliefweb.int/report/colombia/terremoto-en-colombia-el-cicr-apoya-la-recuperacion-de-infraestructura-comunitaria-esencial-en-zonas-afectadas-por-los-conflictos-armados" TargetMode="External"/><Relationship Id="rId5" Type="http://schemas.openxmlformats.org/officeDocument/2006/relationships/hyperlink" Target="https://reliefweb.int/report/colombia/un-mes-despues-del-terremoto-en-colombia-avanzar-con-la-reconstruccion-en-medio-de-una-compleja-situacion-humanitaria" TargetMode="External"/><Relationship Id="rId6" Type="http://schemas.openxmlformats.org/officeDocument/2006/relationships/hyperlink" Target="https://reliefweb.int/report/colombia/unhcr-colombia-2026-funding-update-31-august-2026" TargetMode="External"/><Relationship Id="rId7" Type="http://schemas.openxmlformats.org/officeDocument/2006/relationships/hyperlink" Target="https://reliefweb.int/report/colombia/earthquake-colombia-icrc-supports-rehabilitation-essential-community-infrastructure" TargetMode="External"/><Relationship Id="rId8" Type="http://schemas.openxmlformats.org/officeDocument/2006/relationships/hyperlink" Target="https://reliefweb.int/report/colombia/oim-colombia-severidad-y-vulnerabilidad-territorial-tras-el-terremoto-27-agosto-2026" TargetMode="External"/><Relationship Id="rId9" Type="http://schemas.openxmlformats.org/officeDocument/2006/relationships/hyperlink" Target="https://reliefweb.int/report/colombia/oim-respuesta-al-terremoto-en-colombia-reporte-de-situacion-9-10-septiembre-2026" TargetMode="External"/><Relationship Id="rId10" Type="http://schemas.openxmlformats.org/officeDocument/2006/relationships/hyperlink" Target="https://reliefweb.int/report/colombia/one-month-after-colombia-earthquake-pahowho-continues-support-response-and-stabilization" TargetMode="External"/><Relationship Id="rId11" Type="http://schemas.openxmlformats.org/officeDocument/2006/relationships/hyperlink" Target="https://reliefweb.int/report/colombia/colombia-population-movement-imminent-dref-final-report-mdrco034" TargetMode="External"/><Relationship Id="rId1" Type="http://schemas.openxmlformats.org/officeDocument/2006/relationships/image" Target="../media/image-61-1.png"/><Relationship Id="rId12" Type="http://schemas.openxmlformats.org/officeDocument/2006/relationships/slideLayout" Target="../slideLayouts/slideLayout1.xml"/><Relationship Id="rId1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2" Type="http://schemas.openxmlformats.org/officeDocument/2006/relationships/hyperlink" Target="https://reliefweb.int/report/colombia/colombia-earthquake-operation-update-1-mdrco036" TargetMode="External"/><Relationship Id="rId3" Type="http://schemas.openxmlformats.org/officeDocument/2006/relationships/hyperlink" Target="https://reliefweb.int/report/colombia/colombia-flash-update-014-update-impact-earthquake-colombia-september-23-2026" TargetMode="External"/><Relationship Id="rId4" Type="http://schemas.openxmlformats.org/officeDocument/2006/relationships/hyperlink" Target="https://reliefweb.int/report/colombia/colombia-flash-update-014-actualizacion-afectaciones-por-terremoto-en-colombia-23-de-septiembre-de-2026" TargetMode="External"/><Relationship Id="rId5" Type="http://schemas.openxmlformats.org/officeDocument/2006/relationships/hyperlink" Target="https://reliefweb.int/report/colombia/colombia-earthquake-response-situation-report-11-21-september-2026" TargetMode="External"/><Relationship Id="rId6" Type="http://schemas.openxmlformats.org/officeDocument/2006/relationships/hyperlink" Target="https://reliefweb.int/report/colombia/colombia-monitoreo-de-emergencias-humanitarias-desplazamiento-masivo-y-confinamiento-enero-marzo-2026" TargetMode="External"/><Relationship Id="rId7" Type="http://schemas.openxmlformats.org/officeDocument/2006/relationships/hyperlink" Target="https://reliefweb.int/report/colombia/colombia-monitoreo-de-emergencias-humanitarias-desplazamiento-masivo-y-confinamiento-2025" TargetMode="External"/><Relationship Id="rId8" Type="http://schemas.openxmlformats.org/officeDocument/2006/relationships/hyperlink" Target="https://reliefweb.int/report/colombia/acaps-thematic-report-colombia-earthquakes-expected-humanitarian-impacts-25-september-2026" TargetMode="External"/><Relationship Id="rId9" Type="http://schemas.openxmlformats.org/officeDocument/2006/relationships/hyperlink" Target="https://reliefweb.int/report/colombia/colombia-impactos-humanitarios-previstos-del-terremoto-acaps-reporte-tematico-25-de-septiembre-2026" TargetMode="External"/><Relationship Id="rId10" Type="http://schemas.openxmlformats.org/officeDocument/2006/relationships/hyperlink" Target="https://reliefweb.int/report/colombia/colombia-earthquake-response-situation-report-12-29-september-2026" TargetMode="External"/><Relationship Id="rId1" Type="http://schemas.openxmlformats.org/officeDocument/2006/relationships/image" Target="../media/image-62-1.png"/><Relationship Id="rId11" Type="http://schemas.openxmlformats.org/officeDocument/2006/relationships/slideLayout" Target="../slideLayouts/slideLayout1.xml"/><Relationship Id="rId1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2" Type="http://schemas.openxmlformats.org/officeDocument/2006/relationships/hyperlink" Target="https://reliefweb.int/report/colombia/respuesta-al-terremoto-en-colombia-reporte-de-situacion-12-29-septiembre-2026" TargetMode="External"/><Relationship Id="rId3" Type="http://schemas.openxmlformats.org/officeDocument/2006/relationships/hyperlink" Target="https://reliefweb.int/report/colombia/colombia-flash-update-015-update-impact-earthquake-colombia-september-30-2026" TargetMode="External"/><Relationship Id="rId4" Type="http://schemas.openxmlformats.org/officeDocument/2006/relationships/hyperlink" Target="https://reliefweb.int/report/colombia/colombia-flash-update-015-actualizacion-afectaciones-por-terremoto-en-colombia-30-de-septiembre-de-2026" TargetMode="External"/><Relationship Id="rId5" Type="http://schemas.openxmlformats.org/officeDocument/2006/relationships/hyperlink" Target="https://reliefweb.int/report/colombia/rapid-protection-assessment-earthquake-response-buenaventura-valle-del-cauca-september-2026" TargetMode="External"/><Relationship Id="rId1" Type="http://schemas.openxmlformats.org/officeDocument/2006/relationships/image" Target="../media/image-63-1.png"/><Relationship Id="rId6" Type="http://schemas.openxmlformats.org/officeDocument/2006/relationships/slideLayout" Target="../slideLayouts/slideLayout1.xml"/><Relationship Id="rId7"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tmp/build_event-bT0zLO/generator/images/adrc_logo.png">    </p:cNvPr>
          <p:cNvPicPr>
            <a:picLocks noChangeAspect="1"/>
          </p:cNvPicPr>
          <p:nvPr/>
        </p:nvPicPr>
        <p:blipFill>
          <a:blip r:embed="rId1"/>
          <a:stretch>
            <a:fillRect/>
          </a:stretch>
        </p:blipFill>
        <p:spPr>
          <a:xfrm>
            <a:off x="10954512" y="182880"/>
            <a:ext cx="896112" cy="896112"/>
          </a:xfrm>
          <a:prstGeom prst="rect">
            <a:avLst/>
          </a:prstGeom>
        </p:spPr>
      </p:pic>
      <p:sp>
        <p:nvSpPr>
          <p:cNvPr id="3" name="Text 0"/>
          <p:cNvSpPr/>
          <p:nvPr/>
        </p:nvSpPr>
        <p:spPr>
          <a:xfrm>
            <a:off x="457200" y="104242"/>
            <a:ext cx="11274552" cy="603504"/>
          </a:xfrm>
          <a:prstGeom prst="rect">
            <a:avLst/>
          </a:prstGeom>
          <a:noFill/>
          <a:ln/>
        </p:spPr>
        <p:txBody>
          <a:bodyPr wrap="square" rtlCol="0" anchor="ctr"/>
          <a:lstStyle/>
          <a:p>
            <a:pPr algn="ctr" indent="0" marL="0">
              <a:buNone/>
            </a:pPr>
            <a:r>
              <a:rPr lang="en-US" sz="2200" b="1" dirty="0">
                <a:solidFill>
                  <a:srgbClr val="111111"/>
                </a:solidFill>
                <a:latin typeface="Cambria" pitchFamily="34" charset="0"/>
                <a:ea typeface="Cambria" pitchFamily="34" charset="-122"/>
                <a:cs typeface="Cambria" pitchFamily="34" charset="-120"/>
              </a:rPr>
              <a:t>2026 Chocó Earthquake (Colombia)</a:t>
            </a:r>
            <a:endParaRPr lang="en-US" sz="2200" dirty="0"/>
          </a:p>
        </p:txBody>
      </p:sp>
      <p:sp>
        <p:nvSpPr>
          <p:cNvPr id="4" name="Text 1"/>
          <p:cNvSpPr/>
          <p:nvPr/>
        </p:nvSpPr>
        <p:spPr>
          <a:xfrm>
            <a:off x="457200" y="562356"/>
            <a:ext cx="11274552" cy="274320"/>
          </a:xfrm>
          <a:prstGeom prst="rect">
            <a:avLst/>
          </a:prstGeom>
          <a:noFill/>
          <a:ln/>
        </p:spPr>
        <p:txBody>
          <a:bodyPr wrap="square" rtlCol="0" anchor="ctr"/>
          <a:lstStyle/>
          <a:p>
            <a:pPr algn="ctr" indent="0" marL="0">
              <a:buNone/>
            </a:pPr>
            <a:r>
              <a:rPr lang="en-US" sz="1400" b="1" dirty="0">
                <a:solidFill>
                  <a:srgbClr val="6A6A6A"/>
                </a:solidFill>
                <a:latin typeface="Meiryo" pitchFamily="34" charset="0"/>
                <a:ea typeface="Meiryo" pitchFamily="34" charset="-122"/>
                <a:cs typeface="Meiryo" pitchFamily="34" charset="-120"/>
              </a:rPr>
              <a:t>(GLIDE No. EQ-2026-000146-COL)</a:t>
            </a:r>
            <a:endParaRPr lang="en-US" sz="1400" dirty="0"/>
          </a:p>
        </p:txBody>
      </p:sp>
      <p:sp>
        <p:nvSpPr>
          <p:cNvPr id="5" name="Text 2"/>
          <p:cNvSpPr/>
          <p:nvPr/>
        </p:nvSpPr>
        <p:spPr>
          <a:xfrm>
            <a:off x="457200" y="801014"/>
            <a:ext cx="11274552" cy="274320"/>
          </a:xfrm>
          <a:prstGeom prst="rect">
            <a:avLst/>
          </a:prstGeom>
          <a:noFill/>
          <a:ln/>
        </p:spPr>
        <p:txBody>
          <a:bodyPr wrap="square" rtlCol="0" anchor="ctr"/>
          <a:lstStyle/>
          <a:p>
            <a:pPr algn="ctr" indent="0" marL="0">
              <a:buNone/>
            </a:pPr>
            <a:r>
              <a:rPr lang="en-US" sz="800" dirty="0">
                <a:solidFill>
                  <a:srgbClr val="222222"/>
                </a:solidFill>
                <a:latin typeface="Meiryo" pitchFamily="34" charset="0"/>
                <a:ea typeface="Meiryo" pitchFamily="34" charset="-122"/>
                <a:cs typeface="Meiryo" pitchFamily="34" charset="-120"/>
              </a:rPr>
              <a:t>Mww 7.4   ·   Max. seismic intensity MMI VII (USGS ShakeMap)   ·   USGS: 5 km S of San José del Palmar, Chocó Department (approx. 280 km W of Bogotá) — SGC: 12 km from San José del Palmar</a:t>
            </a:r>
            <a:endParaRPr lang="en-US" sz="800" dirty="0"/>
          </a:p>
        </p:txBody>
      </p:sp>
      <p:sp>
        <p:nvSpPr>
          <p:cNvPr id="6" name="Shape 3"/>
          <p:cNvSpPr/>
          <p:nvPr/>
        </p:nvSpPr>
        <p:spPr>
          <a:xfrm>
            <a:off x="365760" y="1147572"/>
            <a:ext cx="11457432" cy="0"/>
          </a:xfrm>
          <a:prstGeom prst="line">
            <a:avLst/>
          </a:prstGeom>
          <a:noFill/>
          <a:ln w="12700">
            <a:solidFill>
              <a:srgbClr val="D9D9D9"/>
            </a:solidFill>
            <a:prstDash val="solid"/>
          </a:ln>
        </p:spPr>
      </p:sp>
      <p:sp>
        <p:nvSpPr>
          <p:cNvPr id="7" name="Text 4"/>
          <p:cNvSpPr/>
          <p:nvPr/>
        </p:nvSpPr>
        <p:spPr>
          <a:xfrm>
            <a:off x="365760" y="1371600"/>
            <a:ext cx="4590288" cy="256032"/>
          </a:xfrm>
          <a:prstGeom prst="rect">
            <a:avLst/>
          </a:prstGeom>
          <a:noFill/>
          <a:ln/>
        </p:spPr>
        <p:txBody>
          <a:bodyPr wrap="none" lIns="0" tIns="0" rIns="0" bIns="0" rtlCol="0" anchor="ctr"/>
          <a:lstStyle/>
          <a:p>
            <a:pPr algn="l" indent="0" marL="0">
              <a:buNone/>
            </a:pPr>
            <a:r>
              <a:rPr lang="en-US" sz="1250" b="1" dirty="0">
                <a:solidFill>
                  <a:srgbClr val="1F3864"/>
                </a:solidFill>
                <a:latin typeface="Meiryo" pitchFamily="34" charset="0"/>
                <a:ea typeface="Meiryo" pitchFamily="34" charset="-122"/>
                <a:cs typeface="Meiryo" pitchFamily="34" charset="-120"/>
              </a:rPr>
              <a:t>① World → Colombia</a:t>
            </a:r>
            <a:endParaRPr lang="en-US" sz="1250" dirty="0"/>
          </a:p>
        </p:txBody>
      </p:sp>
      <p:sp>
        <p:nvSpPr>
          <p:cNvPr id="8" name="Shape 5"/>
          <p:cNvSpPr/>
          <p:nvPr/>
        </p:nvSpPr>
        <p:spPr>
          <a:xfrm>
            <a:off x="365760" y="1645920"/>
            <a:ext cx="3218688" cy="2414016"/>
          </a:xfrm>
          <a:prstGeom prst="rect">
            <a:avLst/>
          </a:prstGeom>
          <a:solidFill>
            <a:srgbClr val="F2F2F2"/>
          </a:solidFill>
          <a:ln w="9525">
            <a:solidFill>
              <a:srgbClr val="D9D9D9"/>
            </a:solidFill>
            <a:prstDash val="solid"/>
          </a:ln>
        </p:spPr>
      </p:sp>
      <p:pic>
        <p:nvPicPr>
          <p:cNvPr id="9" name="Image 1" descr="/tmp/build_event-bT0zLO/generator/images/EQ-2026-000146-COL/locator_world_manual.jpg">    </p:cNvPr>
          <p:cNvPicPr>
            <a:picLocks noChangeAspect="1"/>
          </p:cNvPicPr>
          <p:nvPr/>
        </p:nvPicPr>
        <p:blipFill>
          <a:blip r:embed="rId2"/>
          <a:srcRect l="0" r="0" t="0" b="0"/>
          <a:stretch/>
        </p:blipFill>
        <p:spPr>
          <a:xfrm>
            <a:off x="365760" y="1645920"/>
            <a:ext cx="3218688" cy="2414016"/>
          </a:xfrm>
          <a:prstGeom prst="rect">
            <a:avLst/>
          </a:prstGeom>
        </p:spPr>
      </p:pic>
      <p:sp>
        <p:nvSpPr>
          <p:cNvPr id="10" name="Shape 6"/>
          <p:cNvSpPr/>
          <p:nvPr/>
        </p:nvSpPr>
        <p:spPr>
          <a:xfrm>
            <a:off x="2377440" y="3822192"/>
            <a:ext cx="1207008" cy="237744"/>
          </a:xfrm>
          <a:prstGeom prst="rect">
            <a:avLst/>
          </a:prstGeom>
          <a:solidFill>
            <a:srgbClr val="000000">
              <a:alpha val="65000"/>
            </a:srgbClr>
          </a:solidFill>
          <a:ln w="12700">
            <a:solidFill>
              <a:srgbClr val="333333"/>
            </a:solidFill>
            <a:prstDash val="solid"/>
          </a:ln>
        </p:spPr>
      </p:sp>
      <p:sp>
        <p:nvSpPr>
          <p:cNvPr id="11" name="Text 7"/>
          <p:cNvSpPr/>
          <p:nvPr/>
        </p:nvSpPr>
        <p:spPr>
          <a:xfrm>
            <a:off x="2377440" y="3822192"/>
            <a:ext cx="1170432" cy="237744"/>
          </a:xfrm>
          <a:prstGeom prst="rect">
            <a:avLst/>
          </a:prstGeom>
          <a:noFill/>
          <a:ln/>
        </p:spPr>
        <p:txBody>
          <a:bodyPr wrap="square" lIns="25400" tIns="25400" rIns="25400" bIns="25400" rtlCol="0" anchor="ctr"/>
          <a:lstStyle/>
          <a:p>
            <a:pPr algn="r" indent="0" marL="0">
              <a:buNone/>
            </a:pPr>
            <a:r>
              <a:rPr lang="en-US" sz="850" dirty="0">
                <a:solidFill>
                  <a:srgbClr val="FFFFFF"/>
                </a:solidFill>
                <a:latin typeface="Meiryo" pitchFamily="34" charset="0"/>
                <a:ea typeface="Meiryo" pitchFamily="34" charset="-122"/>
                <a:cs typeface="Meiryo" pitchFamily="34" charset="-120"/>
              </a:rPr>
              <a:t>© Google</a:t>
            </a:r>
            <a:endParaRPr lang="en-US" sz="850" dirty="0"/>
          </a:p>
        </p:txBody>
      </p:sp>
      <p:sp>
        <p:nvSpPr>
          <p:cNvPr id="12" name="Text 8"/>
          <p:cNvSpPr/>
          <p:nvPr/>
        </p:nvSpPr>
        <p:spPr>
          <a:xfrm>
            <a:off x="4471416" y="1371600"/>
            <a:ext cx="4590288" cy="256032"/>
          </a:xfrm>
          <a:prstGeom prst="rect">
            <a:avLst/>
          </a:prstGeom>
          <a:noFill/>
          <a:ln/>
        </p:spPr>
        <p:txBody>
          <a:bodyPr wrap="none" lIns="0" tIns="0" rIns="0" bIns="0" rtlCol="0" anchor="ctr"/>
          <a:lstStyle/>
          <a:p>
            <a:pPr algn="l" indent="0" marL="0">
              <a:buNone/>
            </a:pPr>
            <a:r>
              <a:rPr lang="en-US" sz="1250" b="1" dirty="0">
                <a:solidFill>
                  <a:srgbClr val="1F3864"/>
                </a:solidFill>
                <a:latin typeface="Meiryo" pitchFamily="34" charset="0"/>
                <a:ea typeface="Meiryo" pitchFamily="34" charset="-122"/>
                <a:cs typeface="Meiryo" pitchFamily="34" charset="-120"/>
              </a:rPr>
              <a:t>② Colombia → Chocó</a:t>
            </a:r>
            <a:endParaRPr lang="en-US" sz="1250" dirty="0"/>
          </a:p>
        </p:txBody>
      </p:sp>
      <p:sp>
        <p:nvSpPr>
          <p:cNvPr id="13" name="Shape 9"/>
          <p:cNvSpPr/>
          <p:nvPr/>
        </p:nvSpPr>
        <p:spPr>
          <a:xfrm>
            <a:off x="4471416" y="1645920"/>
            <a:ext cx="3218688" cy="2414016"/>
          </a:xfrm>
          <a:prstGeom prst="rect">
            <a:avLst/>
          </a:prstGeom>
          <a:solidFill>
            <a:srgbClr val="F2F2F2"/>
          </a:solidFill>
          <a:ln w="9525">
            <a:solidFill>
              <a:srgbClr val="D9D9D9"/>
            </a:solidFill>
            <a:prstDash val="solid"/>
          </a:ln>
        </p:spPr>
      </p:sp>
      <p:pic>
        <p:nvPicPr>
          <p:cNvPr id="14" name="Image 2" descr="/tmp/build_event-bT0zLO/generator/images/EQ-2026-000146-COL/locator_region_manual.jpg">    </p:cNvPr>
          <p:cNvPicPr>
            <a:picLocks noChangeAspect="1"/>
          </p:cNvPicPr>
          <p:nvPr/>
        </p:nvPicPr>
        <p:blipFill>
          <a:blip r:embed="rId3"/>
          <a:srcRect l="0" r="0" t="0" b="0"/>
          <a:stretch/>
        </p:blipFill>
        <p:spPr>
          <a:xfrm>
            <a:off x="4471416" y="1645920"/>
            <a:ext cx="3218688" cy="2414016"/>
          </a:xfrm>
          <a:prstGeom prst="rect">
            <a:avLst/>
          </a:prstGeom>
        </p:spPr>
      </p:pic>
      <p:sp>
        <p:nvSpPr>
          <p:cNvPr id="15" name="Shape 10"/>
          <p:cNvSpPr/>
          <p:nvPr/>
        </p:nvSpPr>
        <p:spPr>
          <a:xfrm>
            <a:off x="6483096" y="3822192"/>
            <a:ext cx="1207008" cy="237744"/>
          </a:xfrm>
          <a:prstGeom prst="rect">
            <a:avLst/>
          </a:prstGeom>
          <a:solidFill>
            <a:srgbClr val="000000">
              <a:alpha val="65000"/>
            </a:srgbClr>
          </a:solidFill>
          <a:ln w="12700">
            <a:solidFill>
              <a:srgbClr val="333333"/>
            </a:solidFill>
            <a:prstDash val="solid"/>
          </a:ln>
        </p:spPr>
      </p:sp>
      <p:sp>
        <p:nvSpPr>
          <p:cNvPr id="16" name="Text 11"/>
          <p:cNvSpPr/>
          <p:nvPr/>
        </p:nvSpPr>
        <p:spPr>
          <a:xfrm>
            <a:off x="6483096" y="3822192"/>
            <a:ext cx="1170432" cy="237744"/>
          </a:xfrm>
          <a:prstGeom prst="rect">
            <a:avLst/>
          </a:prstGeom>
          <a:noFill/>
          <a:ln/>
        </p:spPr>
        <p:txBody>
          <a:bodyPr wrap="square" lIns="25400" tIns="25400" rIns="25400" bIns="25400" rtlCol="0" anchor="ctr"/>
          <a:lstStyle/>
          <a:p>
            <a:pPr algn="r" indent="0" marL="0">
              <a:buNone/>
            </a:pPr>
            <a:r>
              <a:rPr lang="en-US" sz="850" dirty="0">
                <a:solidFill>
                  <a:srgbClr val="FFFFFF"/>
                </a:solidFill>
                <a:latin typeface="Meiryo" pitchFamily="34" charset="0"/>
                <a:ea typeface="Meiryo" pitchFamily="34" charset="-122"/>
                <a:cs typeface="Meiryo" pitchFamily="34" charset="-120"/>
              </a:rPr>
              <a:t>© Google</a:t>
            </a:r>
            <a:endParaRPr lang="en-US" sz="850" dirty="0"/>
          </a:p>
        </p:txBody>
      </p:sp>
      <p:sp>
        <p:nvSpPr>
          <p:cNvPr id="17" name="Text 12"/>
          <p:cNvSpPr/>
          <p:nvPr/>
        </p:nvSpPr>
        <p:spPr>
          <a:xfrm>
            <a:off x="8577072" y="1371600"/>
            <a:ext cx="4590288" cy="256032"/>
          </a:xfrm>
          <a:prstGeom prst="rect">
            <a:avLst/>
          </a:prstGeom>
          <a:noFill/>
          <a:ln/>
        </p:spPr>
        <p:txBody>
          <a:bodyPr wrap="none" lIns="0" tIns="0" rIns="0" bIns="0" rtlCol="0" anchor="ctr"/>
          <a:lstStyle/>
          <a:p>
            <a:pPr algn="l" indent="0" marL="0">
              <a:buNone/>
            </a:pPr>
            <a:r>
              <a:rPr lang="en-US" sz="1250" b="1" dirty="0">
                <a:solidFill>
                  <a:srgbClr val="1F3864"/>
                </a:solidFill>
                <a:latin typeface="Meiryo" pitchFamily="34" charset="0"/>
                <a:ea typeface="Meiryo" pitchFamily="34" charset="-122"/>
                <a:cs typeface="Meiryo" pitchFamily="34" charset="-120"/>
              </a:rPr>
              <a:t>③ SGC macroseismic intensity</a:t>
            </a:r>
            <a:endParaRPr lang="en-US" sz="1250" dirty="0"/>
          </a:p>
        </p:txBody>
      </p:sp>
      <p:sp>
        <p:nvSpPr>
          <p:cNvPr id="18" name="Shape 13"/>
          <p:cNvSpPr/>
          <p:nvPr/>
        </p:nvSpPr>
        <p:spPr>
          <a:xfrm>
            <a:off x="8577072" y="1645920"/>
            <a:ext cx="3218688" cy="2414016"/>
          </a:xfrm>
          <a:prstGeom prst="rect">
            <a:avLst/>
          </a:prstGeom>
          <a:solidFill>
            <a:srgbClr val="F2F2F2"/>
          </a:solidFill>
          <a:ln w="9525">
            <a:solidFill>
              <a:srgbClr val="D9D9D9"/>
            </a:solidFill>
            <a:prstDash val="solid"/>
          </a:ln>
        </p:spPr>
      </p:sp>
      <p:pic>
        <p:nvPicPr>
          <p:cNvPr id="19" name="Image 3" descr="/tmp/build_event-bT0zLO/generator/images/EQ-2026-000146-COL/sgc_shakemap_manual.jpg">    </p:cNvPr>
          <p:cNvPicPr>
            <a:picLocks noChangeAspect="1"/>
          </p:cNvPicPr>
          <p:nvPr/>
        </p:nvPicPr>
        <p:blipFill>
          <a:blip r:embed="rId4"/>
          <a:srcRect l="0" r="0" t="0" b="0"/>
          <a:stretch/>
        </p:blipFill>
        <p:spPr>
          <a:xfrm>
            <a:off x="8577072" y="1645920"/>
            <a:ext cx="3218688" cy="2414016"/>
          </a:xfrm>
          <a:prstGeom prst="rect">
            <a:avLst/>
          </a:prstGeom>
        </p:spPr>
      </p:pic>
      <p:sp>
        <p:nvSpPr>
          <p:cNvPr id="20" name="Shape 14"/>
          <p:cNvSpPr/>
          <p:nvPr/>
        </p:nvSpPr>
        <p:spPr>
          <a:xfrm>
            <a:off x="10588752" y="3822192"/>
            <a:ext cx="1207008" cy="237744"/>
          </a:xfrm>
          <a:prstGeom prst="rect">
            <a:avLst/>
          </a:prstGeom>
          <a:solidFill>
            <a:srgbClr val="000000">
              <a:alpha val="65000"/>
            </a:srgbClr>
          </a:solidFill>
          <a:ln w="12700">
            <a:solidFill>
              <a:srgbClr val="333333"/>
            </a:solidFill>
            <a:prstDash val="solid"/>
          </a:ln>
        </p:spPr>
      </p:sp>
      <p:sp>
        <p:nvSpPr>
          <p:cNvPr id="21" name="Text 15"/>
          <p:cNvSpPr/>
          <p:nvPr/>
        </p:nvSpPr>
        <p:spPr>
          <a:xfrm>
            <a:off x="10588752" y="3822192"/>
            <a:ext cx="1170432" cy="237744"/>
          </a:xfrm>
          <a:prstGeom prst="rect">
            <a:avLst/>
          </a:prstGeom>
          <a:noFill/>
          <a:ln/>
        </p:spPr>
        <p:txBody>
          <a:bodyPr wrap="square" lIns="25400" tIns="25400" rIns="25400" bIns="25400" rtlCol="0" anchor="ctr"/>
          <a:lstStyle/>
          <a:p>
            <a:pPr algn="r" indent="0" marL="0">
              <a:buNone/>
            </a:pPr>
            <a:r>
              <a:rPr lang="en-US" sz="850" dirty="0">
                <a:solidFill>
                  <a:srgbClr val="FFFFFF"/>
                </a:solidFill>
                <a:latin typeface="Meiryo" pitchFamily="34" charset="0"/>
                <a:ea typeface="Meiryo" pitchFamily="34" charset="-122"/>
                <a:cs typeface="Meiryo" pitchFamily="34" charset="-120"/>
              </a:rPr>
              <a:t>© SGC</a:t>
            </a:r>
            <a:endParaRPr lang="en-US" sz="850" dirty="0"/>
          </a:p>
        </p:txBody>
      </p:sp>
      <p:sp>
        <p:nvSpPr>
          <p:cNvPr id="22" name="Shape 16"/>
          <p:cNvSpPr/>
          <p:nvPr/>
        </p:nvSpPr>
        <p:spPr>
          <a:xfrm>
            <a:off x="1688998" y="2302265"/>
            <a:ext cx="698098" cy="1020278"/>
          </a:xfrm>
          <a:prstGeom prst="rect">
            <a:avLst/>
          </a:prstGeom>
          <a:solidFill>
            <a:srgbClr val="FFFFFF">
              <a:alpha val="0"/>
            </a:srgbClr>
          </a:solidFill>
          <a:ln w="22225">
            <a:solidFill>
              <a:srgbClr val="C00000"/>
            </a:solidFill>
            <a:prstDash val="solid"/>
          </a:ln>
        </p:spPr>
      </p:sp>
      <p:sp>
        <p:nvSpPr>
          <p:cNvPr id="23" name="Shape 17"/>
          <p:cNvSpPr/>
          <p:nvPr/>
        </p:nvSpPr>
        <p:spPr>
          <a:xfrm flipV="1">
            <a:off x="2387096" y="1645920"/>
            <a:ext cx="2084320" cy="656345"/>
          </a:xfrm>
          <a:prstGeom prst="line">
            <a:avLst/>
          </a:prstGeom>
          <a:noFill/>
          <a:ln w="19050">
            <a:solidFill>
              <a:srgbClr val="C00000"/>
            </a:solidFill>
            <a:prstDash val="solid"/>
          </a:ln>
        </p:spPr>
      </p:sp>
      <p:sp>
        <p:nvSpPr>
          <p:cNvPr id="24" name="Shape 18"/>
          <p:cNvSpPr/>
          <p:nvPr/>
        </p:nvSpPr>
        <p:spPr>
          <a:xfrm>
            <a:off x="2387096" y="3322543"/>
            <a:ext cx="2084320" cy="737393"/>
          </a:xfrm>
          <a:prstGeom prst="line">
            <a:avLst/>
          </a:prstGeom>
          <a:noFill/>
          <a:ln w="19050">
            <a:solidFill>
              <a:srgbClr val="C00000"/>
            </a:solidFill>
            <a:prstDash val="solid"/>
          </a:ln>
        </p:spPr>
      </p:sp>
      <p:sp>
        <p:nvSpPr>
          <p:cNvPr id="25" name="Shape 19"/>
          <p:cNvSpPr/>
          <p:nvPr/>
        </p:nvSpPr>
        <p:spPr>
          <a:xfrm>
            <a:off x="5485660" y="1682130"/>
            <a:ext cx="869761" cy="1997716"/>
          </a:xfrm>
          <a:prstGeom prst="rect">
            <a:avLst/>
          </a:prstGeom>
          <a:solidFill>
            <a:srgbClr val="FFFFFF">
              <a:alpha val="0"/>
            </a:srgbClr>
          </a:solidFill>
          <a:ln w="22225">
            <a:solidFill>
              <a:srgbClr val="C00000"/>
            </a:solidFill>
            <a:prstDash val="solid"/>
          </a:ln>
        </p:spPr>
      </p:sp>
      <p:sp>
        <p:nvSpPr>
          <p:cNvPr id="26" name="Shape 20"/>
          <p:cNvSpPr/>
          <p:nvPr/>
        </p:nvSpPr>
        <p:spPr>
          <a:xfrm flipV="1">
            <a:off x="6355421" y="1645920"/>
            <a:ext cx="2221651" cy="36210"/>
          </a:xfrm>
          <a:prstGeom prst="line">
            <a:avLst/>
          </a:prstGeom>
          <a:noFill/>
          <a:ln w="19050">
            <a:solidFill>
              <a:srgbClr val="C00000"/>
            </a:solidFill>
            <a:prstDash val="solid"/>
          </a:ln>
        </p:spPr>
      </p:sp>
      <p:sp>
        <p:nvSpPr>
          <p:cNvPr id="27" name="Shape 21"/>
          <p:cNvSpPr/>
          <p:nvPr/>
        </p:nvSpPr>
        <p:spPr>
          <a:xfrm>
            <a:off x="6355421" y="3679847"/>
            <a:ext cx="2221651" cy="380089"/>
          </a:xfrm>
          <a:prstGeom prst="line">
            <a:avLst/>
          </a:prstGeom>
          <a:noFill/>
          <a:ln w="19050">
            <a:solidFill>
              <a:srgbClr val="C00000"/>
            </a:solidFill>
            <a:prstDash val="solid"/>
          </a:ln>
        </p:spPr>
      </p:sp>
      <p:sp>
        <p:nvSpPr>
          <p:cNvPr id="28" name="Shape 22"/>
          <p:cNvSpPr/>
          <p:nvPr/>
        </p:nvSpPr>
        <p:spPr>
          <a:xfrm>
            <a:off x="0" y="4187952"/>
            <a:ext cx="12188952" cy="2139696"/>
          </a:xfrm>
          <a:prstGeom prst="rect">
            <a:avLst/>
          </a:prstGeom>
          <a:solidFill>
            <a:srgbClr val="262626"/>
          </a:solidFill>
          <a:ln w="12700">
            <a:solidFill>
              <a:srgbClr val="333333"/>
            </a:solidFill>
            <a:prstDash val="solid"/>
          </a:ln>
        </p:spPr>
      </p:sp>
      <p:sp>
        <p:nvSpPr>
          <p:cNvPr id="29" name="Text 23"/>
          <p:cNvSpPr/>
          <p:nvPr/>
        </p:nvSpPr>
        <p:spPr>
          <a:xfrm>
            <a:off x="457200" y="4261104"/>
            <a:ext cx="11274552" cy="1993392"/>
          </a:xfrm>
          <a:prstGeom prst="rect">
            <a:avLst/>
          </a:prstGeom>
          <a:noFill/>
          <a:ln/>
        </p:spPr>
        <p:txBody>
          <a:bodyPr wrap="square" lIns="38100" tIns="38100" rIns="38100" bIns="38100" rtlCol="0" anchor="t"/>
          <a:lstStyle/>
          <a:p>
            <a:pPr algn="l" indent="0" marL="0">
              <a:buNone/>
            </a:pPr>
            <a:r>
              <a:rPr lang="en-US" sz="1250" b="1" dirty="0">
                <a:solidFill>
                  <a:srgbClr val="FFC000"/>
                </a:solidFill>
                <a:latin typeface="Meiryo" pitchFamily="34" charset="0"/>
                <a:ea typeface="Meiryo" pitchFamily="34" charset="-122"/>
                <a:cs typeface="Meiryo" pitchFamily="34" charset="-120"/>
              </a:rPr>
              <a:t>Overview   </a:t>
            </a:r>
            <a:pPr algn="l" indent="0" marL="0">
              <a:buNone/>
            </a:pPr>
            <a:r>
              <a:rPr lang="en-US" sz="1100" dirty="0">
                <a:solidFill>
                  <a:srgbClr val="FFFFFF"/>
                </a:solidFill>
                <a:latin typeface="Meiryo" pitchFamily="34" charset="0"/>
                <a:ea typeface="Meiryo" pitchFamily="34" charset="-122"/>
                <a:cs typeface="Meiryo" pitchFamily="34" charset="-120"/>
              </a:rPr>
              <a:t>At 07:34 local time (12:34 UTC) on 10 August 2026, an Mww 7.4 earthquake struck western Colombia with its epicentre 5 km east of San José del Palmar in Chocó Department, at a depth of about 110 km (USGS). The event was an intermediate-depth, strike-slip rupture inside the subducting Nazca slab; because of its depth, strong shaking (MMI VI-VII) was spread over a wide area of the Andean Coffee Region rather than concentrated near the epicentre, and about 10.5 million people were exposed to it. The SGC describes it as the largest-magnitude earthquake recorded in Colombia in the past decade. The toll rose steeply through the first two days: 111 deaths in the Government's 13:00 COT balance on 10 August, 132 by that evening, and 182 deaths with 2,542 injured and 189 missing in UNGRD's situation report on 11 August, against 240 deaths when the departmental and city announcements are added up — more than 1,600 buildings damaged (1,575 homes damaged, 37 destroyed, 61 buildings collapsed), together with damage to 18 health facilities, 52 educational facilities, 18 major roads and six regional airports. The passenger terminal of Matecaña International Airport in Pereira partially collapsed, a tower of the cathedral in Manizales fell onto the nave, and about 30% of Cali's University Hospital collapsed. The President declared a national disaster, set up a Unified Command Post in Chocó and deployed four USAR teams. There was no tsunami.</a:t>
            </a:r>
            <a:endParaRPr lang="en-US" sz="1250" dirty="0"/>
          </a:p>
        </p:txBody>
      </p:sp>
      <p:sp>
        <p:nvSpPr>
          <p:cNvPr id="30" name="Text 24"/>
          <p:cNvSpPr/>
          <p:nvPr/>
        </p:nvSpPr>
        <p:spPr>
          <a:xfrm>
            <a:off x="365760" y="6455664"/>
            <a:ext cx="969264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SGC</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Google Maps © Google</a:t>
            </a:r>
            <a:endParaRPr lang="en-US" sz="1050" dirty="0"/>
          </a:p>
        </p:txBody>
      </p:sp>
      <p:sp>
        <p:nvSpPr>
          <p:cNvPr id="31" name="Shape 25"/>
          <p:cNvSpPr/>
          <p:nvPr/>
        </p:nvSpPr>
        <p:spPr>
          <a:xfrm>
            <a:off x="10268712" y="6510528"/>
            <a:ext cx="1554480" cy="274320"/>
          </a:xfrm>
          <a:prstGeom prst="rect">
            <a:avLst/>
          </a:prstGeom>
          <a:solidFill>
            <a:srgbClr val="E8A317"/>
          </a:solidFill>
          <a:ln w="12700">
            <a:solidFill>
              <a:srgbClr val="E8A317"/>
            </a:solidFill>
            <a:prstDash val="solid"/>
          </a:ln>
        </p:spPr>
      </p:sp>
      <p:sp>
        <p:nvSpPr>
          <p:cNvPr id="32" name="Text 26"/>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The 1999 Armenia Earthquake &amp; Recovery</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51560"/>
            <a:ext cx="5760720" cy="1874520"/>
          </a:xfrm>
          <a:prstGeom prst="rect">
            <a:avLst/>
          </a:prstGeom>
          <a:noFill/>
          <a:ln/>
        </p:spPr>
        <p:txBody>
          <a:bodyPr wrap="square" lIns="50800" tIns="50800" rIns="50800" bIns="50800" rtlCol="0" anchor="t"/>
          <a:lstStyle/>
          <a:p>
            <a:pPr algn="l" indent="0" marL="0">
              <a:buNone/>
            </a:pPr>
            <a:r>
              <a:rPr lang="en-US" sz="1300" b="1" dirty="0">
                <a:solidFill>
                  <a:srgbClr val="1F3864"/>
                </a:solidFill>
                <a:latin typeface="Meiryo" pitchFamily="34" charset="0"/>
                <a:ea typeface="Meiryo" pitchFamily="34" charset="-122"/>
                <a:cs typeface="Meiryo" pitchFamily="34" charset="-120"/>
              </a:rPr>
              <a:t>The 1999 Armenia (Quindío) Earthquake - the same Coffee Region  /
</a:t>
            </a:r>
            <a:pPr algn="l" indent="0" marL="0">
              <a:buNone/>
            </a:pPr>
            <a:r>
              <a:rPr lang="en-US" sz="1150" dirty="0">
                <a:solidFill>
                  <a:srgbClr val="222222"/>
                </a:solidFill>
                <a:latin typeface="Meiryo" pitchFamily="34" charset="0"/>
                <a:ea typeface="Meiryo" pitchFamily="34" charset="-122"/>
                <a:cs typeface="Meiryo" pitchFamily="34" charset="-120"/>
              </a:rPr>
              <a:t>On 25 January 1999 an M6.1-6.2 earthquake at about 30 km depth struck the Quindío coffee-growing region. It killed about 1,185 people, injured over 5,000 and damaged or destroyed some 50,000 structures; roughly 60% of the buildings in the city of Armenia collapsed or were severely damaged, and more than 200,000 people were displaced. Although far smaller in magnitude than the 2026 event, it was much shallower and much closer to the cities, which is why its local destructiveness was far greater.
</a:t>
            </a:r>
            <a:endParaRPr lang="en-US" sz="1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365760" y="2971800"/>
          <a:ext cx="5760720" cy="914400"/>
        </p:xfrm>
        <a:graphic>
          <a:graphicData uri="http://schemas.openxmlformats.org/drawingml/2006/table">
            <a:tbl>
              <a:tblPr/>
              <a:tblGrid>
                <a:gridCol w="2377440"/>
                <a:gridCol w="3383280"/>
              </a:tblGrid>
              <a:tr h="402336">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1999 damage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402336">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Deaths</a:t>
                      </a:r>
                      <a:endParaRPr lang="en-US" sz="12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approx. 1,185</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02336">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Injured</a:t>
                      </a:r>
                      <a:endParaRPr lang="en-US" sz="12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over 5,000</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Structures damaged or destroyed</a:t>
                      </a:r>
                      <a:endParaRPr lang="en-US" sz="12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approx. 50,000</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02336">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Displaced</a:t>
                      </a:r>
                      <a:endParaRPr lang="en-US" sz="12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over 200,000</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Coffee sector</a:t>
                      </a:r>
                      <a:endParaRPr lang="en-US" sz="12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approx. 8,000 farms and 1,200 processing facilities damaged</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6309360" y="1051560"/>
            <a:ext cx="5486400" cy="3977640"/>
          </a:xfrm>
          <a:prstGeom prst="rect">
            <a:avLst/>
          </a:prstGeom>
          <a:noFill/>
          <a:ln/>
        </p:spPr>
        <p:txBody>
          <a:bodyPr wrap="square" lIns="50800" tIns="50800" rIns="50800" bIns="50800" rtlCol="0" anchor="t"/>
          <a:lstStyle/>
          <a:p>
            <a:pPr algn="l" indent="0" marL="0">
              <a:buNone/>
            </a:pPr>
            <a:r>
              <a:rPr lang="en-US" sz="1300" b="1" dirty="0">
                <a:solidFill>
                  <a:srgbClr val="1F3864"/>
                </a:solidFill>
                <a:latin typeface="Meiryo" pitchFamily="34" charset="0"/>
                <a:ea typeface="Meiryo" pitchFamily="34" charset="-122"/>
                <a:cs typeface="Meiryo" pitchFamily="34" charset="-120"/>
              </a:rPr>
              <a:t>Recovery and what it changed
</a:t>
            </a:r>
            <a:pPr algn="l" marL="342900" indent="-342900">
              <a:spcAft>
                <a:spcPts val="400"/>
              </a:spcAft>
              <a:buSzPct val="100000"/>
              <a:buChar char="•"/>
            </a:pPr>
            <a:r>
              <a:rPr lang="en-US" sz="1250" dirty="0">
                <a:solidFill>
                  <a:srgbClr val="222222"/>
                </a:solidFill>
                <a:latin typeface="Meiryo" pitchFamily="34" charset="0"/>
                <a:ea typeface="Meiryo" pitchFamily="34" charset="-122"/>
                <a:cs typeface="Meiryo" pitchFamily="34" charset="-120"/>
              </a:rPr>
              <a:t>Reconstruction was managed through a dedicated temporary body for the Coffee Region, an early example in Latin America of a purpose-built reconstruction agency.</a:t>
            </a:r>
            <a:endParaRPr lang="en-US" sz="1300" dirty="0"/>
          </a:p>
          <a:p>
            <a:pPr algn="l" marL="342900" indent="-342900">
              <a:spcAft>
                <a:spcPts val="400"/>
              </a:spcAft>
              <a:buSzPct val="100000"/>
              <a:buChar char="•"/>
            </a:pPr>
            <a:r>
              <a:rPr lang="en-US" sz="1250" dirty="0">
                <a:solidFill>
                  <a:srgbClr val="222222"/>
                </a:solidFill>
                <a:latin typeface="Meiryo" pitchFamily="34" charset="0"/>
                <a:ea typeface="Meiryo" pitchFamily="34" charset="-122"/>
                <a:cs typeface="Meiryo" pitchFamily="34" charset="-120"/>
              </a:rPr>
              <a:t>The disaster drove enforcement of the national seismic code and the seismic microzonation studies that now cover Pereira, Manizales and Armenia.</a:t>
            </a:r>
            <a:endParaRPr lang="en-US" sz="1300" dirty="0"/>
          </a:p>
          <a:p>
            <a:pPr algn="l" marL="342900" indent="-342900">
              <a:spcAft>
                <a:spcPts val="400"/>
              </a:spcAft>
              <a:buSzPct val="100000"/>
              <a:buChar char="•"/>
            </a:pPr>
            <a:r>
              <a:rPr lang="en-US" sz="1250" dirty="0">
                <a:solidFill>
                  <a:srgbClr val="222222"/>
                </a:solidFill>
                <a:latin typeface="Meiryo" pitchFamily="34" charset="0"/>
                <a:ea typeface="Meiryo" pitchFamily="34" charset="-122"/>
                <a:cs typeface="Meiryo" pitchFamily="34" charset="-120"/>
              </a:rPr>
              <a:t>Recovery of the coffee economy took roughly a decade - the economic tail of the disaster far outlasted the emergency phase.</a:t>
            </a:r>
            <a:endParaRPr lang="en-US" sz="1300" dirty="0"/>
          </a:p>
          <a:p>
            <a:pPr algn="l" marL="342900" indent="-342900">
              <a:spcAft>
                <a:spcPts val="400"/>
              </a:spcAft>
              <a:buSzPct val="100000"/>
              <a:buChar char="•"/>
            </a:pPr>
            <a:r>
              <a:rPr lang="en-US" sz="1250" dirty="0">
                <a:solidFill>
                  <a:srgbClr val="222222"/>
                </a:solidFill>
                <a:latin typeface="Meiryo" pitchFamily="34" charset="0"/>
                <a:ea typeface="Meiryo" pitchFamily="34" charset="-122"/>
                <a:cs typeface="Meiryo" pitchFamily="34" charset="-120"/>
              </a:rPr>
              <a:t>The 2026 earthquake shook the same cities, but as a deep, distant source rather than a shallow local one: a different loading of the same building stock.</a:t>
            </a:r>
            <a:endParaRPr lang="en-US" sz="1300" dirty="0"/>
          </a:p>
        </p:txBody>
      </p:sp>
      <p:sp>
        <p:nvSpPr>
          <p:cNvPr id="7" name="Shape 3"/>
          <p:cNvSpPr/>
          <p:nvPr/>
        </p:nvSpPr>
        <p:spPr>
          <a:xfrm>
            <a:off x="365760" y="5413248"/>
            <a:ext cx="11430000" cy="566928"/>
          </a:xfrm>
          <a:prstGeom prst="roundRect">
            <a:avLst>
              <a:gd name="adj" fmla="val 6452"/>
            </a:avLst>
          </a:prstGeom>
          <a:solidFill>
            <a:srgbClr val="FCE9DC"/>
          </a:solidFill>
          <a:ln w="9525">
            <a:solidFill>
              <a:srgbClr val="E8A317"/>
            </a:solidFill>
            <a:prstDash val="solid"/>
          </a:ln>
        </p:spPr>
      </p:sp>
      <p:sp>
        <p:nvSpPr>
          <p:cNvPr id="8" name="Text 4"/>
          <p:cNvSpPr/>
          <p:nvPr/>
        </p:nvSpPr>
        <p:spPr>
          <a:xfrm>
            <a:off x="594360" y="5440680"/>
            <a:ext cx="10972800" cy="512064"/>
          </a:xfrm>
          <a:prstGeom prst="rect">
            <a:avLst/>
          </a:prstGeom>
          <a:noFill/>
          <a:ln/>
        </p:spPr>
        <p:txBody>
          <a:bodyPr wrap="square" lIns="25400" tIns="25400" rIns="25400" bIns="25400" rtlCol="0" anchor="ctr"/>
          <a:lstStyle/>
          <a:p>
            <a:pPr algn="l" indent="0" marL="0">
              <a:buNone/>
            </a:pPr>
            <a:r>
              <a:rPr lang="en-US" sz="1050" b="1" dirty="0">
                <a:solidFill>
                  <a:srgbClr val="9A3B12"/>
                </a:solidFill>
                <a:latin typeface="Meiryo" pitchFamily="34" charset="0"/>
                <a:ea typeface="Meiryo" pitchFamily="34" charset="-122"/>
                <a:cs typeface="Meiryo" pitchFamily="34" charset="-120"/>
              </a:rPr>
              <a:t>The cities hit hardest in 2026 - Pereira, Manizales, Armenia - are the same cities that rebuilt after 1999. How that rebuilt stock performed under long-period, long-duration shaking from a 110 km-deep source is the key question for post-event assessment.
</a:t>
            </a:r>
            <a:endParaRPr lang="en-US" sz="1050" dirty="0"/>
          </a:p>
        </p:txBody>
      </p:sp>
      <p:sp>
        <p:nvSpPr>
          <p:cNvPr id="9" name="Shape 5"/>
          <p:cNvSpPr/>
          <p:nvPr/>
        </p:nvSpPr>
        <p:spPr>
          <a:xfrm>
            <a:off x="10268712" y="6510528"/>
            <a:ext cx="1554480" cy="274320"/>
          </a:xfrm>
          <a:prstGeom prst="rect">
            <a:avLst/>
          </a:prstGeom>
          <a:solidFill>
            <a:srgbClr val="E8A317"/>
          </a:solidFill>
          <a:ln w="12700">
            <a:solidFill>
              <a:srgbClr val="E8A317"/>
            </a:solidFill>
            <a:prstDash val="solid"/>
          </a:ln>
        </p:spPr>
      </p:sp>
      <p:sp>
        <p:nvSpPr>
          <p:cNvPr id="10" name="Text 6"/>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11" name="Text 7"/>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 / 63</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Chronology of Response (from onset) (1/12)</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Government / agency actions from onset — all official sources. Times are local (COT, UTC-5); entries whose exact time is not published are placed at the end of that day</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Time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Action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07:34</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Mww 7.4 earthquake, epicentre 5 km S of San José del Palmar (Chocó), depth approx. 110 km. Felt in Bogotá, Cali, Medellín, and in Ecuador, Panama and Venezuela.</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USGS / SGC</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07:40s</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The SGC issues a first bulletin (initially M6.6, 79 km depth), later revised to M7.4 at 96 km, located with 69 stations (event SGC2026pqqmro); damage-assessment protocols activated.</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SGC</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12:13</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Copernicus EMS Rapid Mapping activated as EMSR916 (17:13 UTC), requested by EC Services / DG ECHO, for earthquake damage assessment mapping.</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Copernicus EMS</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Morning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 reports first damage indications in 9 municipalities of Chocó, 8 of Caldas, 2 of Valle del Cauca and 2 of Risaralda, plus localities in Quindío.</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Morning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Cali reports collapsed structures at 12 critical points with people trapped; part of the University Hospital collapses.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B8860B"/>
                          </a:solidFill>
                          <a:latin typeface="Meiryo" pitchFamily="34" charset="0"/>
                          <a:ea typeface="Meiryo" pitchFamily="34" charset="-122"/>
                          <a:cs typeface="Meiryo" pitchFamily="34" charset="-120"/>
                        </a:rPr>
                        <a:t>Mayor of Cali</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Morning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Manizales reports 17 buildings collapsed and 19 partially collapsed; a tower of the neo-Gothic cathedral falls onto the nave. Residents asked to stay outdoors because of aftershocks.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B8860B"/>
                          </a:solidFill>
                          <a:latin typeface="Meiryo" pitchFamily="34" charset="0"/>
                          <a:ea typeface="Meiryo" pitchFamily="34" charset="-122"/>
                          <a:cs typeface="Meiryo" pitchFamily="34" charset="-120"/>
                        </a:rPr>
                        <a:t>Mayor of Manizales</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Morning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Passenger terminal of Matecaña International Airport (Pereira) partially collapses; flights suspended at six regional airports.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B8860B"/>
                          </a:solidFill>
                          <a:latin typeface="Meiryo" pitchFamily="34" charset="0"/>
                          <a:ea typeface="Meiryo" pitchFamily="34" charset="-122"/>
                          <a:cs typeface="Meiryo" pitchFamily="34" charset="-120"/>
                        </a:rPr>
                        <a:t>Aerocivil / media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Daytime</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National disaster declared; Unified Command Post established in Chocó; armed forces deployed.</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Government</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Daytime</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Four USAR teams deployed from Bogotá, Envigado, Yopal and Medellín.</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Daytime</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More than 20 aftershocks recorded; the largest widely felt aftershock is M4.8.</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SGC</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Daytime</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President travels to Pereira to lead the response on the ground.</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Presidency</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Kantei (PM Office)</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MOD</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 / 63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Chronology of Response (from onset) (2/12)</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Government / agency actions from onset — all official sources. Times are local (COT, UTC-5); entries whose exact time is not published are placed at the end of that day</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Time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Action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Afternoon</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First national damage report: 111 deaths, 87 injured; 1,575 homes damaged, 37 destroyed, 61 buildings collapsed; 18 health facilities, 52 educational facilities, 17 community facilities, 18 major roads and 6 regional airports damaged.</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Presidency / UNGRD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Afternoon</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Ecuador mobilises a 47-person USAR team with canine units; Mexico and other governments offer assistance, to be channelled through the Foreign Ministry and UNGRD.</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B8860B"/>
                          </a:solidFill>
                          <a:latin typeface="Meiryo" pitchFamily="34" charset="0"/>
                          <a:ea typeface="Meiryo" pitchFamily="34" charset="-122"/>
                          <a:cs typeface="Meiryo" pitchFamily="34" charset="-120"/>
                        </a:rPr>
                        <a:t>International media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Evening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The reported national death toll rises to 132. Four people have been rescued alive from the rubble; more than 20 municipalities are reported affected, and power and telecommunications faults continue in Chocó.</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B8860B"/>
                          </a:solidFill>
                          <a:latin typeface="Meiryo" pitchFamily="34" charset="0"/>
                          <a:ea typeface="Meiryo" pitchFamily="34" charset="-122"/>
                          <a:cs typeface="Meiryo" pitchFamily="34" charset="-120"/>
                        </a:rPr>
                        <a:t>International media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11 Aug 07:31</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Japan's Prime Minister posts condolences (21:31 JST) and Foreign Minister Motegi issues a message offering condolences and stating that the Government of Japan also stands ready to provide the necessary assistance and that Japan stands in strong solidarity with the people of Colombia.</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Japan (MOFA)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11 Aug 09:20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The SGC revises its solution for the mainshock to M7.4 at 103 km depth, 4.99 N 76.29 W, located with 119 stations and 208 phases. Its first bulletin had given M6.6 at 79 km and its second 7.4 at 96 km with 69 stations. (14:20 UTC)</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SGC</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11 Aug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Search continues overnight. The President reports 700 injured nationally and about 5,000 homes damaged or destroyed, declares the missing the State's priority, and orders troops to Cali to maintain order. The mayor of Cali reports 85 deaths, 885 injured and 188 missing; Pereira's fire service reports 66 deaths; about 100 people are missing in Manizales. Five capital cities - Cali, Pereira, Quibdó, Manizales and Armenia - remain on red alert.</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Presidency / local authorities</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11 Aug PM</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UNGRD's situation report gives 182 deaths, 2,542 injured and 189 missing, with 13,067 homes damaged and 2,501 destroyed, 93 health facilities, 884 educational institutions, 427 community facilities and 77 roads affected. The President puts the toll at 181, of which 97.6% in capital cities. Ecuador, El Salvador and Russia are thanked for assistance.</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 / Presidency</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Kantei (PM Office)</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MOD</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 / 63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Chronology of Response (from onset) (3/12)</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Government / agency actions from onset — all official sources. Times are local (COT, UTC-5); entries whose exact time is not published are placed at the end of that day</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Time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Action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11 Aug PM</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The SGC's published aftershock total reaches 103 at 15:00 COT - 97 at M3.0 or below, 5 between M3.0 and M4.0, one above M4.0 - and an M3.9 during the day prompts building evacuations in several affected cities. Its catalogue for the same period holds 147 located events, the wider figure including background seismicity.</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SGC</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11 Aug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 states the humanitarian system is ready to support Colombia and names drinking water, hygiene and household items, health, food and shelter as the priority needs; no formal request for assistance has been received from the Colombian authorities.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 / OCHA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12 Aug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Cali city officials report 107 buildings collapsed, 643 with structural damage and 18 under evacuation order; 230 people trapped, 88 rescued, 69 dead and 1,008 injured in the city.</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Mayor of Cali</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12 Aug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The provisional national balance passes 224 deaths and more than 2,500 injured, with 279 taken to hospital and 243 people rescued alive; 195 are reported missing to the authorities. The citizen platform “Colombia te busca” holds 4,084 registrations, 3,653 of them still unresolved. Search continues in Pereira with about 300 rescuers, and much of Chocó remains reachable only by boat or aircraft.</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Government</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12 Aug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The President tours Pereira, Dosquebradas, Manizales and Armenia after Quibdó and Cali, announcing three months of relief on utility bills for affected households, rent subsidies for those who lost their homes and a shock plan for education and housing; an economic emergency decree is being prepared.</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Presidency</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12 Aug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UNGRD's consolidated report covers 14 departments and 403 municipalities: 239 deaths, 3,755 injured, 287 missing, 140 buildings collapsed, 24,324 families (49,214 people) affected, 9,215 homes destroyed and 45,457 seriously damaged. Colombia accepts INSARAG-classified USAR teams from Israel, Ecuador, El Salvador and the United States; El Salvador sends 100 tonnes of relief supplies. A woman is rescued in Pereira after 36 hours under the rubble.</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12 Aug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Adding up the departmental and city announcements gives 254 deaths - Pereira 101, Cali 95 - ahead of the national consolidation, which media attribute to the central government being slower to update.</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B8860B"/>
                          </a:solidFill>
                          <a:latin typeface="Meiryo" pitchFamily="34" charset="0"/>
                          <a:ea typeface="Meiryo" pitchFamily="34" charset="-122"/>
                          <a:cs typeface="Meiryo" pitchFamily="34" charset="-120"/>
                        </a:rPr>
                        <a:t>International media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Kantei (PM Office)</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MOD</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 / 63</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Chronology of Response (from onset) (4/12)</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Government / agency actions from onset — all official sources. Times are local (COT, UTC-5); entries whose exact time is not published are placed at the end of that day</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Time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Action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12 Aug PM</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From the Palacio de San Carlos the President announces UNGRD's updated balance: 265 deaths, 3,494 injured, 496 missing, 25,872 families (53,816 people) affected, 11,347 homes destroyed and 53,526 damaged, 1,819 educational centres and 631 community facilities affected. He also announces the declaration of an economic emergency.</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Presidency</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12 Aug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Decree 1172 declares three days of national mourning from 12 August, flags at half-mast at home and in Colombian missions abroad. The same night the governor of Chocó ends the department's search-and-rescue phase after the last family sought in Quibdó, four people, is found alive.</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Presidency / Gobernación del Chocó</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13 Aug 09:42</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An M4.2 aftershock strikes San José del Palmar at 95 km depth, about 20 km from the mainshock epicentre. Felt in Pereira, Manizales, Medellín and Bogotá; search-and-rescue work is halted temporarily. It is the second aftershock above M4.0.</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SGC</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13 Aug AM</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UNGRD's director gives a new balance: 273 dead, 3,824 injured, 377 missing, 40,753 families (97,515 people) affected, 12,584 homes destroyed and 74,873 damaged, 172 buildings collapsed, 2,198 educational and 825 community facilities, 216 health facilities, 71 aqueducts, 29 banking offices and five airports. Medicina Legal has received 250 bodies, 227 recognised. Red alert continues in Cali, Pereira, Quibdó, Manizales and Armenia.</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14 Aug 07:00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SGC reports 184 aftershocks located since the mainshock, 15 of them above M3.0 and 2 above M4.0.</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SGC</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14 Aug 09:00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UNGRD's 09:00 cut: 287 dead, 3,975 injured, 378 missing, 354 rescued alive; 56,448 families (135,179 people) affected in 15 departments and 437 municipalities; 13,077 homes destroyed and 79,108 damaged; 121 buildings collapsed. Confined-space search continues with the certified international teams.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14 Aug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India sends 20 tonnes of humanitarian supplies; Norway allocates NOK 10 million and Sweden SEK 5 million through UNHCR; Spain, Italy, Chile, Mexico, Turkey, Brazil and the World Bank also send or announce support. The Interior Minister says the hospital network in Buenaventura is overwhelmed.</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Cancillería / donors</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Kantei (PM Office)</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MOD</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6 / 63</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Chronology of Response (from onset) (5/12)</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Government / agency actions from onset — all official sources. Times are local (COT, UTC-5); entries whose exact time is not published are placed at the end of that day</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Time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Action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14-15 Aug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Running balance: 288 dead, 4,018 injured, 202 missing, 354 rescued alive; 45,523 families (102,263 people) affected in 15 departments and 426 municipalities; 12,828 homes destroyed and 73,455 damaged; 121 buildings collapsed; 240 health, 2,205 educational and 1,208 community facilities; 210 roads, 73 aqueducts, 44 road bridges, 13 footbridges and five airports. The falls against the 09:00 cut are duplicate assessment records being consolidated.</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15 Aug 06:30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 balance with a 06:30 cut-off: 294 dead, 3,935 injured, 320 missing, 353 people and 188 animals rescued alive; 54,008 families (115,461 people) affected; 448 municipalities reporting damage; 14,493 homes destroyed and 81,506 damaged; 66 buildings collapsed. Chocó, Risaralda and Valle del Cauca are the worst affected.</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15 Aug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Search continues for the missing while more than 100,000 people affected await assistance; in El Cairo (Valle del Cauca) 80% of the houses are reported damaged.</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B8860B"/>
                          </a:solidFill>
                          <a:latin typeface="Meiryo" pitchFamily="34" charset="0"/>
                          <a:ea typeface="Meiryo" pitchFamily="34" charset="-122"/>
                          <a:cs typeface="Meiryo" pitchFamily="34" charset="-120"/>
                        </a:rPr>
                        <a:t>International media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16 Aug 07:30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 balance with a 07:30 cut-off: 289 dead, 4,187 injured, 143 missing, 354 people and 510 animals rescued alive; 120,238 families (185,016 people) affected across 450 municipalities in 15 departments; 26,945 homes destroyed and 127,557 damaged; 66 buildings collapsed. UNGRD states that the variations come from verifying and consolidating figures reported by the territories, some of which had been sent unverified.</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16 Aug 18:30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 balance with an 18:30 cut-off: 287 dead, 4,147 injured, 194 missing, 355 people and 496 animals rescued alive; 120,671 families (185,996 people) affected across 472 municipalities in 15 departments; 26,392 homes destroyed and 127,608 damaged; 197 buildings collapsed; 304 health, 3,207 educational and 4,059 community facilities; 410 roads, 95 aqueducts, 48 road bridges, 13 footbridges and five airports.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27 Aug 12:44</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 balance with a 12:44 cut-off, published from the National Crisis Room: 329 dead, 4,592 injured and 151 missing across 494 municipalities in 16 departments. UNGRD reports it is tracking the Registro Unico de Damnificados (RUD), the register that determines which affected families can access support and subsidies, and is monitoring emergency humanitarian assistance, temporary shelter and the availability of heavy machinery. The balance does not restate housing damage.</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Kantei (PM Office)</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MOD</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7 / 63</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Chronology of Response (from onset) (6/12)</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Government / agency actions from onset — all official sources. Times are local (COT, UTC-5); entries whose exact time is not published are placed at the end of that day</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Time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Action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27 Aug 20:00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 Flash Update 010: more than 406,000 people (193,011 families) affected, concentrated in Risaralda, Valle del Cauca, Choco, Quindio and Caldas. At least 25 humanitarian organizations have assisted nearly 72,000 people in 36 municipalities; donors have mobilized more than US$40 million and CERF has allocated US$5 million.</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OCHA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31 Aug 06:30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 balance with a 06:30 cut-off: 331 dead, 4,505 injured, 136 missing and 364 rescued; 225,024 families (449,442 people) affected across 497 municipalities in 16 departments. Housing is restated for the first time since 16 Aug: 198,720 homes damaged and 37,255 destroyed, plus 5,849 buildings damaged and 646 collapsed. Infrastructure: 406 health, 4,268 educational and 5,524 community facilities; 462 roads, 5 airports, 122 aqueducts, 91 road bridges and 13 footbridges affected. 2,874 animals affected and 2,976 rescued. UNGRD describes the figures as preliminary and still being consolidated by territorial entities and operational agencies.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 Sep 06:30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 balance with a 06:30 cut-off: 331 dead (unchanged), 4,519 injured, 136 missing (unchanged) and 364 rescued (unchanged); 290,252 families (466,606 people) affected across 497 municipalities in 16 departments. Housing: 200,929 homes damaged and 37,542 destroyed, plus 5,871 buildings damaged and 651 collapsed. Infrastructure: 400 health, 4,290 educational and 5,698 community facilities; 468 roads, 5 airports, 140 aqueducts, 91 road bridges and 13 footbridges affected. 3,018 animals affected and 2,976 rescued (unchanged). UNGRD again describes the figures as preliminary and still being consolidated by territorial entities and operational agencies.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 Sep 06:30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 balance with a 06:30 cut-off: 331 dead, 4,519 injured, 136 missing and 364 rescued (all four unchanged from 1 Sep); 293,743 families (466,606 people, unchanged) affected across 497 municipalities in 16 departments (unchanged). Housing: 201,005 homes damaged and 36,336 destroyed - down from 37,542 destroyed at the 1 Sep cut, with no explanation given - plus 5,889 buildings damaged and 709 collapsed (up from 5,871 and 651). Infrastructure: 400 health, 4,287 educational and 5,600 community facilities; 468 roads, 5 airports, 140 aqueducts, 91 road bridges and 13 footbridges affected. 3,023 animals affected and 2,976 rescued (unchanged). UNGRD again describes the figures as preliminary and still being consolidated by territorial entities and operational agencies.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Kantei (PM Office)</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MOD</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8 / 63</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Chronology of Response (from onset) (7/12)</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Government / agency actions from onset — all official sources. Times are local (COT, UTC-5); entries whose exact time is not published are placed at the end of that day</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Time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Action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 Sep 17:00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 Flash Update 011: more than 466,600 people affected, including 331 deaths, thousands injured and missing, and more than 36,000 homes destroyed - consistent with UNGRD's same-day balance. At least 29 humanitarian organisations have assisted nearly 123,000 people in 49 municipalities; international cooperation has mobilised more than USD 40 million; the Humanitarian Response Plan Addendum continues to seek funding for needs through the end of the year. The update also flags 'double affectation' - communities facing both earthquake damage and risks tied to the armed conflict - as a persistent concern.</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OCHA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3 Sep 06:30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 balance with a 06:30 cut-off: 331 dead, 4,519 injured and 364 rescued (all unchanged from 2 Sep); missing fell to 122 from 136 at the 2 Sep cut, with no explanation given; 293,743 families (466,606 people, unchanged) affected across 498 municipalities in 16 departments (up from 497). Housing: 201,010 homes damaged (up from 201,005) and 36,336 destroyed (unchanged), plus 5,889 buildings damaged and 709 collapsed (both unchanged). Infrastructure: 400 health, 4,292 educational (up from 4,287) and 5,600 community facilities; 468 roads, 5 airports, 140 aqueducts, 91 road bridges and 13 footbridges affected (all unchanged). 3,023 animals affected and 2,976 rescued (unchanged). UNGRD again describes the figures as preliminary and still being consolidated by territorial entities and operational agencies.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 Sep 19:02</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 announced a temporary economic subsidy of COP 787,907-1,050,543 per month for three months for RUD-registered families whose homes were destroyed or declared uninhabitable.</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 (official X)</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4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As of this update, UNGRD's most recent published balance remained the 3 Sep 06:30 cut-off (no new balance had posted as of mid-afternoon on 4 Sep); UNGRD's director met WFP Colombia's country director to coordinate food-assistance actions for affected families.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 / WFP (official X)</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5 Sep 13:21</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 director David Santiago Tamayo accompanied President Abelardo de la Espriella and the Housing Minister to Buga and Cali to assess 10 August earthquake damage. In Buga, the delegation inspected structural damage at the Basílica del Señor de los Milagros, the ITA educational institute and the Pueblo Nuevo corregimiento; in Cali, the visit covered the Cuarto de Legua neighbourhood, meeting affected residents. The national government is coordinating with local mayors' offices to speed up the census and direct delivery of financial aid.</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 (official X)</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Kantei (PM Office)</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MOD</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9 / 63</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Chronology of Response (from onset) (8/12)</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Government / agency actions from onset — all official sources. Times are local (COT, UTC-5); entries whose exact time is not published are placed at the end of that day</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Time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Action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5 Sep 17:02</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 director David Santiago Tamayo and WFP Colombia country director Neils Greede formalised a strategic alliance to secure food assistance for families affected by the earthquake, building on their 4 Sep meeting; the two agencies also strengthened cooperation for future responses, citing El Niño and forest fires as examples.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 (official X)</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6 Sep 11:48</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Figures as of the UNGRD balance with a 06:30 COT cut-off on 6 Sep 2026 (posted 11:48 COT), the first new balance since the 3 Sep 06:30 cut - no balance was posted on 4 or 5 Sep. 331 deaths (unchanged), 4,505 injured (down from 4,519), 111 missing (down from 122) and 364 rescued alive (unchanged), across 498 municipalities in 16 departments (unchanged); 296,725 families (466,644 people) affected, up from 293,743 families (466,606 people). Housing: 201,989 homes damaged (up from 201,010) and 36,326 destroyed (down from 36,336), plus 6,005 buildings damaged and 743 collapsed (both up from 5,889 and 709). UNGRD gives no explanation for the small decreases in injured, missing and destroyed housing; as with earlier revisions this report treats them as reconciliation of reports filed, resolved and de-duplicated during ongoing consolidation rather than new information about casualties or a corrected report. UNGRD again describes the figures as preliminary and still being consolidated by territorial entities and operational agencies. All figures are preliminary; quote the cut-off with the number.</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7 Sep 06:30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Figures as of the UNGRD balance with a 06:30 COT cut-off on 7 Sep 2026 (posted 07:43 COT). 331 deaths (unchanged), 4,505 injured (unchanged), 111 missing (unchanged) and 364 rescued alive (unchanged), across 498 municipalities in 16 departments (unchanged); 296,738 families (466,709 people) affected, up slightly from 296,725 families (466,644 people) at the 6 Sep 06:30 cut. Housing: 202,002 homes damaged (up from 201,989) and 36,326 destroyed (unchanged), plus 6,005 buildings damaged and 743 collapsed (both unchanged). Infrastructure newly itemised in this balance: 400 health facilities, 4,313 educational facilities (up from 4,288), 6,033 community facilities (down from 6,035), 521 roads (up from 491), 5 airports, 141 aqueducts (unchanged), 102 road bridges (up from 91) and 13 footbridges (unchanged) affected. UNGRD again describes the figures as preliminary and still being consolidated. All figures are preliminary; quote the cut-off with the number.</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7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 received a 14.9-tonne field hospital donated by the State of Qatar, including 6 ICU beds, 44 standard patient beds, 50 blankets/sheets/pillows sets, 26 air-conditioning units and a diesel storage tank. The hospital can be relocated to whichever territory needs it to support the response to the earthquake and other emergencies. Coordinated via the Embassy of Qatar in Bogotá.</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Government of Qatar / UNGRD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Kantei (PM Office)</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MOD</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10 / 63</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Chronology of Response (from onset) (9/12)</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Government / agency actions from onset — all official sources. Times are local (COT, UTC-5); entries whose exact time is not published are placed at the end of that day</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Time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Action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10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One month on, UNGRD reports search-and-rescue operations concluded: over 288 hours, 54 groups and 1,849 rescuers from Colombia, Argentina, Chile, Mexico, Venezuela, Spain and the United States rescued 356 people alive and recovered 259 bodies. UNGRD has committed COP 42,754 million for the first month of housing economic support (of three planned months). The Damage Assessment and Needs Analysis for Integral Recovery process (EDANPRI) has been launched with UNDP, national/territorial entities and 16 sectors to inform recovery planning. Humanitarian aid moved to date: 2,071 tonnes (477.1 t international cooperation, 1,500 t via the First Lady, plus contributions from Atlántico and Bogotá). 4,720 people remain in 35 temporary shelters across Caldas, Quindío, Chocó and Valle del Cauca. The Air Force has flown 106h40 in support; 60 Starlink antennas are deployed; 1,976 animals have been rescued. The article restates, 'as of today 10 September': 331 deaths, 4,505 injured, 111 missing, 466,345 people affected in 497 municipalities across 16 departments, 36,327 homes destroyed and 201,939 damaged, 759 buildings collapsed, 4,316 educational, 397 health and 6,118 community facilities affected, 521 roads, 107 road bridges, 13 footbridges, 141 aqueducts and 5 airports. Deaths/injured/missing match the 6-7 Sep official balance exactly, but affected-people (-364), municipalities (-1), homes damaged (-63) and health facilities (-3) are marginally lower than the 7 Sep 06:30 balance already recorded above, with no explanation given; consistent with this report's treatment of similar small back-and-forth movements as consolidation noise rather than a correction, this narrative figure is shown here rather than used to revise the headline balance.</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 (portal article)</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11-12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 began disbursing temporary housing economic support payments to earthquake-affected households: in Chocó from 11 September (more than COP 3,324 million for the first month, for households whose homes were destroyed or are uninhabitable), and in Cali from 12 September, both via SuperGiros payment points against original national ID, over a 15-calendar-day claim window. UNGRD states payments will subsequently extend to Valle del Cauca, Caldas, Quindio and Risaralda. No new casualty or damage balance was posted between 7 and 12 September.</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 (official X)</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15 Sep 06:30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 posted a new balance via the Registro Unico de Damnificados (RUD) tool, with a 06:30 COT cut-off on 15 Sep 2026: 303,934 families (486,917 people) registered as affected, up from 296,738 families (466,709 people) at the 7 Sep 06:30 cut; 206,931 homes damaged (up from 202,002) and 36,478 destroyed (up from 36,326). UNGRD describes the RUD as the tool through which municipalities, with support from SNGRD entities, register and upload information on affected people and reported damage. No new deaths/injured/missing/rescued balance has been posted since the 7 Sep 06:30 cut; the latest published figures remain 331 deaths, 4,505 injured, 111 missing and 364 rescued alive.</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 (official X, RUD)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Kantei (PM Office)</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MOD</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11 / 63</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Chronology of Response (from onset) (10/12)</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Government / agency actions from onset — all official sources. Times are local (COT, UTC-5); entries whose exact time is not published are placed at the end of that day</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Time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Action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17 Sep 14:00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OCHA's Flash Update 013 (14:00 COT cut) restates the 15 Sep UNGRD RUD balance unchanged (486,917 people / 303,934 families affected; 36,478 homes destroyed) and reports more than 137,000 people assisted, up from 135,000 in Flash Update 012 (10 Sep). No new UNGRD deaths/injured/missing/rescued balance has been posted since the 7 Sep 06:30 cut; UNGRD's own public communications in the intervening period have focused on the recovery-phase Plan de Accion Especifico para la Recuperacion (PAE) and sector working groups with UNDP and ECLAC, rather than a further daily casualty bulletin.</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OCHA Flash Update 013</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18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ICRC announced a community-infrastructure recovery response, run jointly with the Colombian Red Cross and IFRC, focused on conflict-affected rural areas of Choco and Valle del Cauca hit by the earthquake. The six-to-nine month response has two phases: Phase 1, basic repair materials for seven community spaces; Phase 2, medium-complexity rehabilitation of roofs, kitchens, school dining halls and other community and educational infrastructure. ICRC noted the earthquake compounded pre-existing humanitarian needs from armed conflict (displacement, confinement, explosive ordnance) in these areas.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ICRC (portal article, published 21 Sep)</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19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 hosted UNDRR special representative Kamal Kishore in Cali to review recovery challenges. The article states a Cali-specific balance (distinct from the national RUD balance reported elsewhere in this report): 154 deaths, 1,504 injured and 88 rescued alive in Cali, with more than 12,000 buildings affected; authorities have carried out 1,216 technical building inspections, and damage/needs assessments (EDAN) cover 35,280 families in the city. Figures are scoped to Cali only and are not additive to the national UNGRD RUD totals shown in this report's headline.</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 (portal article)</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Kantei (PM Office)</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MOD</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12 / 63</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Chronology of Response (from onset) (11/12)</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Government / agency actions from onset — all official sources. Times are local (COT, UTC-5); entries whose exact time is not published are placed at the end of that day</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Time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Action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22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IFRC published Earthquake Operation Update #1 (MDRCO036). It restates search-and-rescue as concluded (356 people rescued alive, 259 bodies recovered, over 288 hours by 54 groups/1,849 rescuers - matching the 10 Sep UNGRD figures already recorded above) and, citing a UNDP (2026) estimate, gives the first economic-damage figure recorded in this report: COP 42.1 trillion (USD 13.2 billion) in direct physical damage, about 2.3% of GDP (see the new Economic damage entry above). It also cites the Ministry of Housing, City and Territory on water/sanitation service disruption in 137 municipalities, 93 not yet restored (see the Lifelines entry above), and states 286 Colombian Red Cross Society volunteers were themselves directly affected by the earthquake. For national people-affected and family counts, the update's cited "UNGRD report of 10 September" figures (778,281 people / 364,672 families) match UNGRD's 19 September San Jose del Palmar municipality-only figures almost exactly rather than any previously published national total (see the People affected entry above); this is shown there as an unreconciled, separately dated figure rather than merged into the headline. The update does not revise UNGRD's own headline deaths/injured/missing/housing balances, which remain as last posted (7/15 Sep cuts).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IFRC (Operation Update #1, MDRCO036)</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23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OCHA/EHP Colombia published Flash Update 014. It gives an approximate national toll of 487,000 people affected across 500 municipalities in 16 departments - consistent with (not a revision of) UNGRD's 15 Sep RUD balance of 486,917 people / 498 municipalities already shown in this report's headline. It records humanitarian response reach as 31 organisations having supported more than 137,000 people across 53 prioritised municipalities, and states the response plan is 52% short of the USD 619 million required through the end of 2026. It flags a potential severe El Nino event as a risk to further strain recovery needs. UNGRD's own deaths/injured/missing/housing balances are not restated and remain unchanged (7/15 Sep cuts).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OCHA/EHP Colombia (Flash Update 014, 18:30 cut)</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16 Sep (posted 25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IOM's Situation Report #11 cites UNGRD's 16 Sep 06:30 COT balance: 335 deaths, 105 missing, 364 rescued, 4,516 injured, 486,917 people affected (unchanged from the 15 Sep RUD cut), 206,931 homes damaged and 36,478 destroyed (also unchanged), across 500 municipalities in 16 departments (up from 498). Separately, at the 19 September National Unified Command Post (PMU), UNGRD consolidated territorial information from different sectors and reported 364,670 families / 778,279 people registered via the RUD, and a differently-classified housing tally (84,855 habitable, 104,037 uninhabitable, 19,143 destroyed, 119,752 damaged). This PMU consolidation has not been reconciled with the RUD balance above; both figures are shown with their dates and not combined.</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 via IOM Colombia Earthquake Response Situation Report #11 (25 Sep 2026)</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Kantei (PM Office)</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MOD</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13 / 63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Chronology of Response (from onset) (12/12)</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Government / agency actions from onset — all official sources. Times are local (COT, UTC-5); entries whose exact time is not published are placed at the end of that day</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Time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Action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25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 disbursed the first month of temporary-housing economic support to earthquake-affected families in Quimbaya, Quindio (COP 1,185 million), verified via the RUD and paid through SuperGiros points at the Coliseo El Cacique and Colegio Santa Teresita (El Rocio neighbourhood). This extends the housing-support payments already under way in Choco (from 11 Sep) and Cali (from 12 Sep) into Quindio department, as UNGRD had said would follow. No new casualty or damage balance was posted with this announcement.</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 (official X/Twitter account, @UNGRD)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28 Sep (posted 1 Oct)</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IOM Situation Report #12 cites UNGRD as of 28 Sep: 335 deaths, 105 missing, 364 rescued, 4,516 injured, 486,917 affected, 206,931 homes damaged and 36,478 destroyed, 500 municipalities - unchanged. RUD (26 Sep): 364,668 families / 778,274 people. The World Bank approved a further US$200 million (total US$400 million). About 20,000 families remain displaced in Cali.</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 via IOM Colombia Earthquake Response Situation Report #12</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30 Sep (posted 1 Oct)</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 Flash Update 015 (as of 30 Sep 18:00), the final weekly edition: Government is moving into the recovery phase through the Specific Action Plan for Recovery (PAE); at least 35 humanitarian organisations have assisted 239,000 people across 90 municipalities. Gaps persist in identifying affected people, damage assessment and access to services, especially for rural, ethnic, refugee and migrant communities.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OCHA Colombia / EHP Colombia (Flash Update 015)</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 Oct</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 publishes an update of the Registro Unico de Damnificados (RUD) balance, data cut 2 Oct 2026: 364,664 families and 778,285 people registered; housing 84,857 habitable, 104,049 uninhabitable, 19,148 destroyed and 119,748 damaged. Families registered are 4 fewer than the 26 Sep cut (364,668), people 11 more (778,274); UNGRD gives no explanation. The same day UNGRD presented recovery progress, including the Plan de Accion Especifico (PAE), to the Procuraduria General de la Nacion. The national balance (335 deaths, 105 missing, 486,917 affected) is not restated.</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 (X, @UNGRD, 2 Oct 15:09 COT)</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Kantei (PM Office)</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MOD</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14 / 63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Affected Departments &amp; Areas</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Shape 1"/>
          <p:cNvSpPr/>
          <p:nvPr/>
        </p:nvSpPr>
        <p:spPr>
          <a:xfrm>
            <a:off x="365760" y="1188720"/>
            <a:ext cx="5852160" cy="4389120"/>
          </a:xfrm>
          <a:prstGeom prst="rect">
            <a:avLst/>
          </a:prstGeom>
          <a:solidFill>
            <a:srgbClr val="EEEEEE"/>
          </a:solidFill>
          <a:ln w="9525">
            <a:solidFill>
              <a:srgbClr val="D9D9D9"/>
            </a:solidFill>
            <a:prstDash val="solid"/>
          </a:ln>
        </p:spPr>
      </p:sp>
      <p:pic>
        <p:nvPicPr>
          <p:cNvPr id="5" name="Image 1" descr="/tmp/build_event-bT0zLO/generator/images/EQ-2026-000146-COL/google_cities.png">    </p:cNvPr>
          <p:cNvPicPr>
            <a:picLocks noChangeAspect="1"/>
          </p:cNvPicPr>
          <p:nvPr/>
        </p:nvPicPr>
        <p:blipFill>
          <a:blip r:embed="rId2"/>
          <a:stretch>
            <a:fillRect/>
          </a:stretch>
        </p:blipFill>
        <p:spPr>
          <a:xfrm>
            <a:off x="365760" y="1188720"/>
            <a:ext cx="5852160" cy="4389120"/>
          </a:xfrm>
          <a:prstGeom prst="rect">
            <a:avLst/>
          </a:prstGeom>
        </p:spPr>
      </p:pic>
      <p:sp>
        <p:nvSpPr>
          <p:cNvPr id="6" name="Text 2"/>
          <p:cNvSpPr/>
          <p:nvPr/>
        </p:nvSpPr>
        <p:spPr>
          <a:xfrm>
            <a:off x="365760" y="5596128"/>
            <a:ext cx="5852160" cy="201168"/>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 epicentre</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92240" y="1234440"/>
          <a:ext cx="5303520" cy="914400"/>
        </p:xfrm>
        <a:graphic>
          <a:graphicData uri="http://schemas.openxmlformats.org/drawingml/2006/table">
            <a:tbl>
              <a:tblPr/>
              <a:tblGrid>
                <a:gridCol w="1188720"/>
                <a:gridCol w="1280160"/>
                <a:gridCol w="731520"/>
                <a:gridCol w="548640"/>
                <a:gridCol w="1554480"/>
              </a:tblGrid>
              <a:tr h="5029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Department</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City</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Dist.</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Int.</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Note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50292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Chocó</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San José del Palmar / Quibdó</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6 / 105 km</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VII / VI</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Epicentral department; 9 municipalities with reported damage; access, power and communications constrained.</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0292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Risaralda</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Pereira, Dosquebradas</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61 km</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VII</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Highest reported death toll (at least 40; the governor cites at least 42). Airport terminal partially collapsed.</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0292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Valle del Cauca</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Cali, Cartago, Buenaventura</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158 / 38 / 138 km</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VI-VII</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27 deaths reported; 25-30 collapsed structures at 12 critical points in Cali; University Hospital heavily damaged.</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02920">
                <a:tc gridSpan="5">
                  <a:txBody>
                    <a:bodyPr/>
                    <a:lstStyle/>
                    <a:p>
                      <a:pPr algn="l" indent="0" marL="0">
                        <a:buNone/>
                      </a:pPr>
                      <a:r>
                        <a:rPr lang="en-US" sz="1100" i="1" dirty="0">
                          <a:solidFill>
                            <a:srgbClr val="6A6A6A"/>
                          </a:solidFill>
                          <a:latin typeface="Meiryo" pitchFamily="34" charset="0"/>
                          <a:ea typeface="Meiryo" pitchFamily="34" charset="-122"/>
                          <a:cs typeface="Meiryo" pitchFamily="34" charset="-120"/>
                        </a:rPr>
                        <a:t>+4 more</a:t>
                      </a:r>
                      <a:endParaRPr lang="en-US" sz="11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hMerge="1">
                  <a:tcPr/>
                </a:tc>
                <a:tc hMerge="1">
                  <a:tcPr/>
                </a:tc>
                <a:tc hMerge="1">
                  <a:tcPr/>
                </a:tc>
                <a:tc hMerge="1">
                  <a:tcPr/>
                </a:tc>
              </a:tr>
            </a:tbl>
          </a:graphicData>
        </a:graphic>
      </p:graphicFrame>
      <p:sp>
        <p:nvSpPr>
          <p:cNvPr id="8" name="Text 3"/>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Colombia Population Movement</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Google Maps</a:t>
            </a:r>
            <a:endParaRPr lang="en-US" sz="1050" dirty="0"/>
          </a:p>
        </p:txBody>
      </p:sp>
      <p:sp>
        <p:nvSpPr>
          <p:cNvPr id="9" name="Shape 4"/>
          <p:cNvSpPr/>
          <p:nvPr/>
        </p:nvSpPr>
        <p:spPr>
          <a:xfrm>
            <a:off x="10268712" y="6510528"/>
            <a:ext cx="1554480" cy="274320"/>
          </a:xfrm>
          <a:prstGeom prst="rect">
            <a:avLst/>
          </a:prstGeom>
          <a:solidFill>
            <a:srgbClr val="E8A317"/>
          </a:solidFill>
          <a:ln w="12700">
            <a:solidFill>
              <a:srgbClr val="E8A317"/>
            </a:solidFill>
            <a:prstDash val="solid"/>
          </a:ln>
        </p:spPr>
      </p:sp>
      <p:sp>
        <p:nvSpPr>
          <p:cNvPr id="10" name="Text 5"/>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11" name="Text 6"/>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15 / 63</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Epicentre &amp; Seismic Intensity</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pic>
        <p:nvPicPr>
          <p:cNvPr id="4" name="Image 1" descr="/tmp/build_event-bT0zLO/generator/images/EQ-2026-000146-COL/sgc_shakemap_manual.jpg">    </p:cNvPr>
          <p:cNvPicPr>
            <a:picLocks noChangeAspect="1"/>
          </p:cNvPicPr>
          <p:nvPr/>
        </p:nvPicPr>
        <p:blipFill>
          <a:blip r:embed="rId2"/>
          <a:stretch>
            <a:fillRect/>
          </a:stretch>
        </p:blipFill>
        <p:spPr>
          <a:xfrm>
            <a:off x="1927217" y="1097280"/>
            <a:ext cx="3643645" cy="4425696"/>
          </a:xfrm>
          <a:prstGeom prst="rect">
            <a:avLst/>
          </a:prstGeom>
        </p:spPr>
      </p:pic>
      <p:sp>
        <p:nvSpPr>
          <p:cNvPr id="5" name="Text 1"/>
          <p:cNvSpPr/>
          <p:nvPr/>
        </p:nvSpPr>
        <p:spPr>
          <a:xfrm>
            <a:off x="365760" y="5541264"/>
            <a:ext cx="6766560" cy="585216"/>
          </a:xfrm>
          <a:prstGeom prst="rect">
            <a:avLst/>
          </a:prstGeom>
          <a:noFill/>
          <a:ln/>
        </p:spPr>
        <p:txBody>
          <a:bodyPr wrap="square" lIns="0" tIns="0" rIns="0" bIns="0" rtlCol="0" anchor="t">
            <a:normAutofit/>
          </a:bodyPr>
          <a:lstStyle/>
          <a:p>
            <a:pPr algn="ctr" indent="0" marL="0">
              <a:buNone/>
            </a:pPr>
            <a:r>
              <a:rPr lang="en-US" sz="900" dirty="0">
                <a:solidFill>
                  <a:srgbClr val="6A6A6A"/>
                </a:solidFill>
                <a:latin typeface="Meiryo" pitchFamily="34" charset="0"/>
                <a:ea typeface="Meiryo" pitchFamily="34" charset="-122"/>
                <a:cs typeface="Meiryo" pitchFamily="34" charset="-120"/>
              </a:rPr>
              <a:t>SGC macroseismic intensity map (ShakeMap)</a:t>
            </a:r>
            <a:endParaRPr lang="en-US" sz="900" dirty="0"/>
          </a:p>
          <a:p>
            <a:pPr algn="ctr" indent="0" marL="0">
              <a:buNone/>
            </a:pPr>
            <a:r>
              <a:rPr lang="en-US" sz="7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https://www.sgc.gov.co/detallesismo/SGC2026pqqmro/mmi</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360920" y="1234440"/>
          <a:ext cx="4434840" cy="914400"/>
        </p:xfrm>
        <a:graphic>
          <a:graphicData uri="http://schemas.openxmlformats.org/drawingml/2006/table">
            <a:tbl>
              <a:tblPr/>
              <a:tblGrid>
                <a:gridCol w="2057400"/>
                <a:gridCol w="237744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Value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Origin time</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10 Aug 2026, 07:34:28 COT (UTC-5)   ·   10 Aug 2026, 12:34:28 UTC   ·   10 Aug 2026, 21:34 JST</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Epicentre</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USGS: 5 km S of San José del Palmar, Chocó Department (approx. 280 km W of Bogotá) — SGC: 12 km from San José del Palmar (4.8436N, -76.2422E)</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Magnitude</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Mww 7.4 (USGS)   ·   7.4 (SGC)</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Depth</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110.3 km (USGS, PAGER v5) / 103 km (SGC, revised 11 Aug)</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Max. intensity</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MMI VII (Very strong) — USGS ShakeMap; the SGC macroseismic intensity map agrees</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Mechanism</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Strike-slip faulting at intermediate depth, within the subducting Nazca slab (not on the shallow plate interface)</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Felt</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Felt across western and central Colombia including Bogotá, Cali and Medellín, and in Ecuador, Panama and Venezuela</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GLIDE</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EQ-2026-000146-COL</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Source</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UNGRD / SGC / USGS</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7"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SGC</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USGS</a:t>
            </a:r>
            <a:endParaRPr lang="en-US" sz="1050" dirty="0"/>
          </a:p>
        </p:txBody>
      </p:sp>
      <p:sp>
        <p:nvSpPr>
          <p:cNvPr id="8"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9"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10"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16 / 63</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Seismicity - Epicentre Distribution &amp; Aftershocks</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pic>
        <p:nvPicPr>
          <p:cNvPr id="4" name="Image 1" descr="/tmp/build_event-bT0zLO/generator/images/EQ-2026-000146-COL/epicentre_distribution.png">    </p:cNvPr>
          <p:cNvPicPr>
            <a:picLocks noChangeAspect="1"/>
          </p:cNvPicPr>
          <p:nvPr/>
        </p:nvPicPr>
        <p:blipFill>
          <a:blip r:embed="rId2"/>
          <a:stretch>
            <a:fillRect/>
          </a:stretch>
        </p:blipFill>
        <p:spPr>
          <a:xfrm>
            <a:off x="676879" y="1097280"/>
            <a:ext cx="5229922" cy="4288536"/>
          </a:xfrm>
          <a:prstGeom prst="rect">
            <a:avLst/>
          </a:prstGeom>
        </p:spPr>
      </p:pic>
      <p:sp>
        <p:nvSpPr>
          <p:cNvPr id="5" name="Text 1"/>
          <p:cNvSpPr/>
          <p:nvPr/>
        </p:nvSpPr>
        <p:spPr>
          <a:xfrm>
            <a:off x="365760" y="5404104"/>
            <a:ext cx="5852160" cy="585216"/>
          </a:xfrm>
          <a:prstGeom prst="rect">
            <a:avLst/>
          </a:prstGeom>
          <a:noFill/>
          <a:ln/>
        </p:spPr>
        <p:txBody>
          <a:bodyPr wrap="square" lIns="0" tIns="0" rIns="0" bIns="0" rtlCol="0" anchor="t">
            <a:normAutofit/>
          </a:bodyPr>
          <a:lstStyle/>
          <a:p>
            <a:pPr algn="ctr" indent="0" marL="0">
              <a:buNone/>
            </a:pPr>
            <a:r>
              <a:rPr lang="en-US" sz="900" dirty="0">
                <a:solidFill>
                  <a:srgbClr val="6A6A6A"/>
                </a:solidFill>
                <a:latin typeface="Meiryo" pitchFamily="34" charset="0"/>
                <a:ea typeface="Meiryo" pitchFamily="34" charset="-122"/>
                <a:cs typeface="Meiryo" pitchFamily="34" charset="-120"/>
              </a:rPr>
              <a:t>Epicentre distribution: mainshock and 284 aftershocks, 10-19 Aug 2026 (SGC Catalogo de Sismicidad; base map Natural Earth)</a:t>
            </a:r>
            <a:endParaRPr lang="en-US" sz="900" dirty="0"/>
          </a:p>
          <a:p>
            <a:pPr algn="ctr" indent="0" marL="0">
              <a:buNone/>
            </a:pPr>
            <a:r>
              <a:rPr lang="en-US" sz="7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https://bdrsnc.sgc.gov.co/paginas1/catalogo/index.php</a:t>
            </a:r>
            <a:endParaRPr lang="en-US" sz="900" dirty="0"/>
          </a:p>
        </p:txBody>
      </p:sp>
      <p:pic>
        <p:nvPicPr>
          <p:cNvPr id="6" name="Image 2" descr="/tmp/build_event-bT0zLO/generator/images/EQ-2026-000146-COL/aftershock_counts.png">    </p:cNvPr>
          <p:cNvPicPr>
            <a:picLocks noChangeAspect="1"/>
          </p:cNvPicPr>
          <p:nvPr/>
        </p:nvPicPr>
        <p:blipFill>
          <a:blip r:embed="rId4"/>
          <a:stretch>
            <a:fillRect/>
          </a:stretch>
        </p:blipFill>
        <p:spPr>
          <a:xfrm>
            <a:off x="6400800" y="2111095"/>
            <a:ext cx="5394960" cy="2260906"/>
          </a:xfrm>
          <a:prstGeom prst="rect">
            <a:avLst/>
          </a:prstGeom>
        </p:spPr>
      </p:pic>
      <p:sp>
        <p:nvSpPr>
          <p:cNvPr id="7" name="Text 2"/>
          <p:cNvSpPr/>
          <p:nvPr/>
        </p:nvSpPr>
        <p:spPr>
          <a:xfrm>
            <a:off x="6400800" y="5404104"/>
            <a:ext cx="5394960" cy="585216"/>
          </a:xfrm>
          <a:prstGeom prst="rect">
            <a:avLst/>
          </a:prstGeom>
          <a:noFill/>
          <a:ln/>
        </p:spPr>
        <p:txBody>
          <a:bodyPr wrap="square" lIns="0" tIns="0" rIns="0" bIns="0" rtlCol="0" anchor="t">
            <a:normAutofit/>
          </a:bodyPr>
          <a:lstStyle/>
          <a:p>
            <a:pPr algn="ctr" indent="0" marL="0">
              <a:buNone/>
            </a:pPr>
            <a:r>
              <a:rPr lang="en-US" sz="900" dirty="0">
                <a:solidFill>
                  <a:srgbClr val="6A6A6A"/>
                </a:solidFill>
                <a:latin typeface="Meiryo" pitchFamily="34" charset="0"/>
                <a:ea typeface="Meiryo" pitchFamily="34" charset="-122"/>
                <a:cs typeface="Meiryo" pitchFamily="34" charset="-120"/>
              </a:rPr>
              <a:t>Aftershock time-series</a:t>
            </a:r>
            <a:endParaRPr lang="en-US" sz="900" dirty="0"/>
          </a:p>
        </p:txBody>
      </p:sp>
      <p:sp>
        <p:nvSpPr>
          <p:cNvPr id="8" name="Text 3"/>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dirty="0">
                <a:solidFill>
                  <a:srgbClr val="6A6A6A"/>
                </a:solidFill>
                <a:latin typeface="Meiryo" pitchFamily="34" charset="0"/>
                <a:ea typeface="Meiryo" pitchFamily="34" charset="-122"/>
                <a:cs typeface="Meiryo" pitchFamily="34" charset="-120"/>
              </a:rPr>
              <a:t>USGS — </a:t>
            </a:r>
            <a:pPr algn="l" indent="0" marL="0">
              <a:buNone/>
            </a:pPr>
            <a:r>
              <a:rPr lang="en-US" sz="100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https://earthquake.usgs.gov/earthquakes/eventpage/us6000tjl2/executive</a:t>
            </a:r>
            <a:endParaRPr lang="en-US" sz="1050" dirty="0"/>
          </a:p>
        </p:txBody>
      </p:sp>
      <p:sp>
        <p:nvSpPr>
          <p:cNvPr id="9" name="Shape 4"/>
          <p:cNvSpPr/>
          <p:nvPr/>
        </p:nvSpPr>
        <p:spPr>
          <a:xfrm>
            <a:off x="10268712" y="6510528"/>
            <a:ext cx="1554480" cy="274320"/>
          </a:xfrm>
          <a:prstGeom prst="rect">
            <a:avLst/>
          </a:prstGeom>
          <a:solidFill>
            <a:srgbClr val="E8A317"/>
          </a:solidFill>
          <a:ln w="12700">
            <a:solidFill>
              <a:srgbClr val="E8A317"/>
            </a:solidFill>
            <a:prstDash val="solid"/>
          </a:ln>
        </p:spPr>
      </p:sp>
      <p:sp>
        <p:nvSpPr>
          <p:cNvPr id="10" name="Text 5"/>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11" name="Text 6"/>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17 / 63</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Seismotectonic Setting</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11430000" cy="2103120"/>
          </a:xfrm>
          <a:prstGeom prst="rect">
            <a:avLst/>
          </a:prstGeom>
          <a:noFill/>
          <a:ln/>
        </p:spPr>
        <p:txBody>
          <a:bodyPr wrap="square" lIns="50800" tIns="50800" rIns="50800" bIns="50800" rtlCol="0" anchor="t"/>
          <a:lstStyle/>
          <a:p>
            <a:pPr algn="l" indent="0" marL="0">
              <a:buNone/>
            </a:pPr>
            <a:r>
              <a:rPr lang="en-US" sz="1200" dirty="0">
                <a:solidFill>
                  <a:srgbClr val="222222"/>
                </a:solidFill>
                <a:latin typeface="Meiryo" pitchFamily="34" charset="0"/>
                <a:ea typeface="Meiryo" pitchFamily="34" charset="-122"/>
                <a:cs typeface="Meiryo" pitchFamily="34" charset="-120"/>
              </a:rPr>
              <a:t>Colombia lies at the junction of the Nazca, Caribbean and South America plates. Off the Pacific coast the Nazca plate subducts eastward beneath South America at roughly 50-60 mm/yr, and the descending slab reaches intermediate depths (70-300 km) beneath the Western and Central Cordilleras. This event ruptured inside that slab at about 110 km depth, which is why the shaking was felt over hundreds of kilometres - as far as Bogotá, Quito and Panamá City - while surface faulting and tsunami generation were absent. Intermediate-depth events radiate high-frequency energy efficiently and attenuate slowly, so damage tends to be distributed across many cities rather than concentrated in a narrow epicentral zone.
</a:t>
            </a:r>
            <a:endParaRPr lang="en-US" sz="1200" dirty="0"/>
          </a:p>
        </p:txBody>
      </p:sp>
      <p:sp>
        <p:nvSpPr>
          <p:cNvPr id="5" name="Text 2"/>
          <p:cNvSpPr/>
          <p:nvPr/>
        </p:nvSpPr>
        <p:spPr>
          <a:xfrm>
            <a:off x="365760" y="3246120"/>
            <a:ext cx="11430000" cy="2788920"/>
          </a:xfrm>
          <a:prstGeom prst="rect">
            <a:avLst/>
          </a:prstGeom>
          <a:noFill/>
          <a:ln/>
        </p:spPr>
        <p:txBody>
          <a:bodyPr wrap="square" lIns="50800" tIns="50800" rIns="50800" bIns="50800" rtlCol="0" anchor="t"/>
          <a:lstStyle/>
          <a:p>
            <a:pPr algn="l" marL="342900" indent="-342900">
              <a:buSzPct val="100000"/>
              <a:buChar char="•"/>
            </a:pPr>
            <a:r>
              <a:rPr lang="en-US" sz="12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300" dirty="0">
                <a:solidFill>
                  <a:srgbClr val="222222"/>
                </a:solidFill>
                <a:latin typeface="Meiryo" pitchFamily="34" charset="0"/>
                <a:ea typeface="Meiryo" pitchFamily="34" charset="-122"/>
                <a:cs typeface="Meiryo" pitchFamily="34" charset="-120"/>
              </a:rPr>
              <a:t>Depth about 110 km (USGS, revised): an intraslab event, not a plate-interface megathrust.</a:t>
            </a:r>
            <a:endParaRPr lang="en-US" sz="1200" dirty="0"/>
          </a:p>
          <a:p>
            <a:pPr algn="l" marL="342900" indent="-342900">
              <a:buSzPct val="100000"/>
              <a:buChar char="•"/>
            </a:pPr>
            <a:r>
              <a:rPr lang="en-US" sz="12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300" dirty="0">
                <a:solidFill>
                  <a:srgbClr val="222222"/>
                </a:solidFill>
                <a:latin typeface="Meiryo" pitchFamily="34" charset="0"/>
                <a:ea typeface="Meiryo" pitchFamily="34" charset="-122"/>
                <a:cs typeface="Meiryo" pitchFamily="34" charset="-120"/>
              </a:rPr>
              <a:t>Strike-slip mechanism within the descending Nazca slab (USGS tectonic summary).</a:t>
            </a:r>
            <a:endParaRPr lang="en-US" sz="1200" dirty="0"/>
          </a:p>
          <a:p>
            <a:pPr algn="l" marL="342900" indent="-342900">
              <a:buSzPct val="100000"/>
              <a:buChar char="•"/>
            </a:pPr>
            <a:r>
              <a:rPr lang="en-US" sz="12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300" dirty="0">
                <a:solidFill>
                  <a:srgbClr val="222222"/>
                </a:solidFill>
                <a:latin typeface="Meiryo" pitchFamily="34" charset="0"/>
                <a:ea typeface="Meiryo" pitchFamily="34" charset="-122"/>
                <a:cs typeface="Meiryo" pitchFamily="34" charset="-120"/>
              </a:rPr>
              <a:t>Maximum shaking MMI VII (Very strong); about 10.5 million people exposed to MMI VI-VII.</a:t>
            </a:r>
            <a:endParaRPr lang="en-US" sz="1200" dirty="0"/>
          </a:p>
          <a:p>
            <a:pPr algn="l" marL="342900" indent="-342900">
              <a:buSzPct val="100000"/>
              <a:buChar char="•"/>
            </a:pPr>
            <a:r>
              <a:rPr lang="en-US" sz="12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300" dirty="0">
                <a:solidFill>
                  <a:srgbClr val="222222"/>
                </a:solidFill>
                <a:latin typeface="Meiryo" pitchFamily="34" charset="0"/>
                <a:ea typeface="Meiryo" pitchFamily="34" charset="-122"/>
                <a:cs typeface="Meiryo" pitchFamily="34" charset="-120"/>
              </a:rPr>
              <a:t>USGS PAGER (v5) Orange alert: the most likely fatality band is 1,000-10,000 and the most likely loss band USD 100-1,000 million — model estimates, not observations, and far above the figures reported so far.</a:t>
            </a:r>
            <a:endParaRPr lang="en-US" sz="1200" dirty="0"/>
          </a:p>
          <a:p>
            <a:pPr algn="l" marL="342900" indent="-342900">
              <a:buSzPct val="100000"/>
              <a:buChar char="•"/>
            </a:pPr>
            <a:r>
              <a:rPr lang="en-US" sz="12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300" dirty="0">
                <a:solidFill>
                  <a:srgbClr val="222222"/>
                </a:solidFill>
                <a:latin typeface="Meiryo" pitchFamily="34" charset="0"/>
                <a:ea typeface="Meiryo" pitchFamily="34" charset="-122"/>
                <a:cs typeface="Meiryo" pitchFamily="34" charset="-120"/>
              </a:rPr>
              <a:t>The SGC assesses this as the largest-magnitude earthquake recorded in Colombia in the past decade.</a:t>
            </a:r>
            <a:endParaRPr lang="en-US" sz="1200" dirty="0"/>
          </a:p>
          <a:p>
            <a:pPr algn="l" marL="342900" indent="-342900">
              <a:buSzPct val="100000"/>
              <a:buChar char="•"/>
            </a:pPr>
            <a:r>
              <a:rPr lang="en-US" sz="1200" b="1" dirty="0">
                <a:solidFill>
                  <a:srgbClr val="B8860B"/>
                </a:solidFill>
                <a:latin typeface="Meiryo" pitchFamily="34" charset="0"/>
                <a:ea typeface="Meiryo" pitchFamily="34" charset="-122"/>
                <a:cs typeface="Meiryo" pitchFamily="34" charset="-120"/>
              </a:rPr>
              <a:t>[Media] </a:t>
            </a:r>
            <a:pPr algn="l" indent="0" marL="0">
              <a:spcAft>
                <a:spcPts val="200"/>
              </a:spcAft>
              <a:buNone/>
            </a:pPr>
            <a:r>
              <a:rPr lang="en-US" sz="1300" dirty="0">
                <a:solidFill>
                  <a:srgbClr val="222222"/>
                </a:solidFill>
                <a:latin typeface="Meiryo" pitchFamily="34" charset="0"/>
                <a:ea typeface="Meiryo" pitchFamily="34" charset="-122"/>
                <a:cs typeface="Meiryo" pitchFamily="34" charset="-120"/>
              </a:rPr>
              <a:t>Shaking was reported as unusually long in duration in cities far from the epicentre - a characteristic of deep events recorded on soft valley sediments.</a:t>
            </a:r>
            <a:endParaRPr lang="en-US" sz="1200" dirty="0"/>
          </a:p>
          <a:p>
            <a:pPr algn="l" marL="342900" indent="-342900">
              <a:buSzPct val="100000"/>
              <a:buChar char="•"/>
            </a:pPr>
            <a:r>
              <a:rPr lang="en-US" sz="12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300" dirty="0">
                <a:solidFill>
                  <a:srgbClr val="222222"/>
                </a:solidFill>
                <a:latin typeface="Meiryo" pitchFamily="34" charset="0"/>
                <a:ea typeface="Meiryo" pitchFamily="34" charset="-122"/>
                <a:cs typeface="Meiryo" pitchFamily="34" charset="-120"/>
              </a:rPr>
              <a:t>The Coffee Region has a history of both deep and shallow damaging events: M7.0 at 150 km depth in 1938, M6.5 at 64 km in 1962 and M6.1 at 15 km in 1999 (SGC/GEM national hazard model).</a:t>
            </a:r>
            <a:endParaRPr lang="en-US" sz="1200" dirty="0"/>
          </a:p>
        </p:txBody>
      </p:sp>
      <p:sp>
        <p:nvSpPr>
          <p:cNvPr id="6" name="Text 3"/>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dirty="0">
                <a:solidFill>
                  <a:srgbClr val="6A6A6A"/>
                </a:solidFill>
                <a:latin typeface="Meiryo" pitchFamily="34" charset="0"/>
                <a:ea typeface="Meiryo" pitchFamily="34" charset="-122"/>
                <a:cs typeface="Meiryo" pitchFamily="34" charset="-120"/>
              </a:rPr>
              <a:t>USGS — </a:t>
            </a:r>
            <a:pPr algn="l" indent="0" marL="0">
              <a:buNone/>
            </a:pPr>
            <a:r>
              <a:rPr lang="en-US" sz="100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https://earthquake.usgs.gov/earthquakes/eventpage/us6000tjl2/executive</a:t>
            </a:r>
            <a:endParaRPr lang="en-US" sz="1050" dirty="0"/>
          </a:p>
        </p:txBody>
      </p:sp>
      <p:sp>
        <p:nvSpPr>
          <p:cNvPr id="7" name="Shape 4"/>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5"/>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9" name="Text 6"/>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18 / 63</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Source Mechanism &amp; Waveform Analysis</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97280"/>
            <a:ext cx="6126480" cy="1783080"/>
          </a:xfrm>
          <a:prstGeom prst="rect">
            <a:avLst/>
          </a:prstGeom>
          <a:noFill/>
          <a:ln/>
        </p:spPr>
        <p:txBody>
          <a:bodyPr wrap="square" lIns="50800" tIns="50800" rIns="50800" bIns="50800" rtlCol="0" anchor="t"/>
          <a:lstStyle/>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Magnitude M7.4 (USGS Mww) / M7.4 (SGC); depth about 110 km (USGS) / 103 km (SGC).</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Intraslab event within the subducting Nazca plate, not a plate-interface megathrust.</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No surface faulting and no tsunami; shaking felt as far as Bogota, Quito and Panama City.</a:t>
            </a:r>
            <a:endParaRPr lang="en-US" sz="1300" dirty="0"/>
          </a:p>
        </p:txBody>
      </p:sp>
      <p:pic>
        <p:nvPicPr>
          <p:cNvPr id="5" name="Image 1" descr="/tmp/build_event-bT0zLO/generator/images/EQ-2026-000146-COL/mechanism_manual.png">    </p:cNvPr>
          <p:cNvPicPr>
            <a:picLocks noChangeAspect="1"/>
          </p:cNvPicPr>
          <p:nvPr/>
        </p:nvPicPr>
        <p:blipFill>
          <a:blip r:embed="rId2"/>
          <a:stretch>
            <a:fillRect/>
          </a:stretch>
        </p:blipFill>
        <p:spPr>
          <a:xfrm>
            <a:off x="2473452" y="3017520"/>
            <a:ext cx="1911096" cy="1911096"/>
          </a:xfrm>
          <a:prstGeom prst="rect">
            <a:avLst/>
          </a:prstGeom>
        </p:spPr>
      </p:pic>
      <p:sp>
        <p:nvSpPr>
          <p:cNvPr id="6" name="Text 2"/>
          <p:cNvSpPr/>
          <p:nvPr/>
        </p:nvSpPr>
        <p:spPr>
          <a:xfrm>
            <a:off x="365760" y="4946904"/>
            <a:ext cx="6126480" cy="585216"/>
          </a:xfrm>
          <a:prstGeom prst="rect">
            <a:avLst/>
          </a:prstGeom>
          <a:noFill/>
          <a:ln/>
        </p:spPr>
        <p:txBody>
          <a:bodyPr wrap="square" lIns="0" tIns="0" rIns="0" bIns="0" rtlCol="0" anchor="t">
            <a:normAutofit/>
          </a:bodyPr>
          <a:lstStyle/>
          <a:p>
            <a:pPr algn="ctr" indent="0" marL="0">
              <a:buNone/>
            </a:pPr>
            <a:r>
              <a:rPr lang="en-US" sz="900" dirty="0">
                <a:solidFill>
                  <a:srgbClr val="6A6A6A"/>
                </a:solidFill>
                <a:latin typeface="Meiryo" pitchFamily="34" charset="0"/>
                <a:ea typeface="Meiryo" pitchFamily="34" charset="-122"/>
                <a:cs typeface="Meiryo" pitchFamily="34" charset="-120"/>
              </a:rPr>
              <a:t>Focal mechanism / moment tensor (beachball)</a:t>
            </a:r>
            <a:endParaRPr lang="en-US" sz="900" dirty="0"/>
          </a:p>
          <a:p>
            <a:pPr algn="ctr" indent="0" marL="0">
              <a:buNone/>
            </a:pPr>
            <a:r>
              <a:rPr lang="en-US" sz="7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https://www.fnet.bosai.go.jp/</a:t>
            </a:r>
            <a:endParaRPr lang="en-US" sz="900" dirty="0"/>
          </a:p>
        </p:txBody>
      </p:sp>
      <p:sp>
        <p:nvSpPr>
          <p:cNvPr id="7" name="Shape 3"/>
          <p:cNvSpPr/>
          <p:nvPr/>
        </p:nvSpPr>
        <p:spPr>
          <a:xfrm>
            <a:off x="6492240" y="1143000"/>
            <a:ext cx="5303520" cy="4160520"/>
          </a:xfrm>
          <a:prstGeom prst="roundRect">
            <a:avLst>
              <a:gd name="adj" fmla="val 1319"/>
            </a:avLst>
          </a:prstGeom>
          <a:solidFill>
            <a:srgbClr val="EAF2F8"/>
          </a:solidFill>
          <a:ln w="12700">
            <a:solidFill>
              <a:srgbClr val="2E5496"/>
            </a:solidFill>
            <a:prstDash val="solid"/>
          </a:ln>
        </p:spPr>
      </p:sp>
      <p:sp>
        <p:nvSpPr>
          <p:cNvPr id="8" name="Text 4"/>
          <p:cNvSpPr/>
          <p:nvPr/>
        </p:nvSpPr>
        <p:spPr>
          <a:xfrm>
            <a:off x="6675120" y="1325880"/>
            <a:ext cx="5029200" cy="3840480"/>
          </a:xfrm>
          <a:prstGeom prst="rect">
            <a:avLst/>
          </a:prstGeom>
          <a:noFill/>
          <a:ln/>
        </p:spPr>
        <p:txBody>
          <a:bodyPr wrap="square" lIns="50800" tIns="50800" rIns="50800" bIns="50800" rtlCol="0" anchor="t"/>
          <a:lstStyle/>
          <a:p>
            <a:pPr algn="l" indent="0" marL="0">
              <a:buNone/>
            </a:pPr>
            <a:r>
              <a:rPr lang="en-US" sz="1300" b="1" dirty="0">
                <a:solidFill>
                  <a:srgbClr val="1F3864"/>
                </a:solidFill>
                <a:latin typeface="Meiryo" pitchFamily="34" charset="0"/>
                <a:ea typeface="Meiryo" pitchFamily="34" charset="-122"/>
                <a:cs typeface="Meiryo" pitchFamily="34" charset="-120"/>
              </a:rPr>
              <a:t>Waveform-based analysis resources
</a:t>
            </a:r>
            <a:pPr algn="l" indent="0" marL="0">
              <a:buNone/>
            </a:pPr>
            <a:r>
              <a:rPr lang="en-US" sz="1200" dirty="0">
                <a:solidFill>
                  <a:srgbClr val="222222"/>
                </a:solidFill>
                <a:latin typeface="Meiryo" pitchFamily="34" charset="0"/>
                <a:ea typeface="Meiryo" pitchFamily="34" charset="-122"/>
                <a:cs typeface="Meiryo" pitchFamily="34" charset="-120"/>
              </a:rPr>
              <a:t>• USGS — moment tensor &amp; finite-fault model (event page)
</a:t>
            </a:r>
            <a:pPr algn="l" indent="0" marL="0">
              <a:buNone/>
            </a:pPr>
            <a:r>
              <a:rPr lang="en-US" sz="1200" dirty="0">
                <a:solidFill>
                  <a:srgbClr val="222222"/>
                </a:solidFill>
                <a:latin typeface="Meiryo" pitchFamily="34" charset="0"/>
                <a:ea typeface="Meiryo" pitchFamily="34" charset="-122"/>
                <a:cs typeface="Meiryo" pitchFamily="34" charset="-120"/>
              </a:rPr>
              <a:t>• SGC — Colombian national seismological network (RSNC)
</a:t>
            </a:r>
            <a:pPr algn="l" indent="0" marL="0">
              <a:buNone/>
            </a:pPr>
            <a:r>
              <a:rPr lang="en-US" sz="1200" dirty="0">
                <a:solidFill>
                  <a:srgbClr val="222222"/>
                </a:solidFill>
                <a:latin typeface="Meiryo" pitchFamily="34" charset="0"/>
                <a:ea typeface="Meiryo" pitchFamily="34" charset="-122"/>
                <a:cs typeface="Meiryo" pitchFamily="34" charset="-120"/>
              </a:rPr>
              <a:t>• GEOFON / GFZ — regional broadband moment tensor</a:t>
            </a:r>
            <a:endParaRPr lang="en-US" sz="1300" dirty="0"/>
          </a:p>
        </p:txBody>
      </p:sp>
      <p:sp>
        <p:nvSpPr>
          <p:cNvPr id="9" name="Text 5"/>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USGS event page</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SGC (RSNC)</a:t>
            </a:r>
            <a:endParaRPr lang="en-US" sz="1050" dirty="0"/>
          </a:p>
        </p:txBody>
      </p:sp>
      <p:sp>
        <p:nvSpPr>
          <p:cNvPr id="10" name="Shape 6"/>
          <p:cNvSpPr/>
          <p:nvPr/>
        </p:nvSpPr>
        <p:spPr>
          <a:xfrm>
            <a:off x="10268712" y="6510528"/>
            <a:ext cx="1554480" cy="274320"/>
          </a:xfrm>
          <a:prstGeom prst="rect">
            <a:avLst/>
          </a:prstGeom>
          <a:solidFill>
            <a:srgbClr val="E8A317"/>
          </a:solidFill>
          <a:ln w="12700">
            <a:solidFill>
              <a:srgbClr val="E8A317"/>
            </a:solidFill>
            <a:prstDash val="solid"/>
          </a:ln>
        </p:spPr>
      </p:sp>
      <p:sp>
        <p:nvSpPr>
          <p:cNvPr id="11" name="Text 7"/>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12" name="Text 8"/>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19 / 63</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Notable Aftershocks</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11430000" cy="1188720"/>
          </a:xfrm>
          <a:prstGeom prst="rect">
            <a:avLst/>
          </a:prstGeom>
          <a:noFill/>
          <a:ln/>
        </p:spPr>
        <p:txBody>
          <a:bodyPr wrap="square" lIns="50800" tIns="50800" rIns="50800" bIns="50800" rtlCol="0" anchor="t">
            <a:normAutofit/>
          </a:bodyPr>
          <a:lstStyle/>
          <a:p>
            <a:pPr algn="l" indent="0" marL="0">
              <a:buNone/>
            </a:pPr>
            <a:r>
              <a:rPr lang="en-US" sz="1150" dirty="0">
                <a:solidFill>
                  <a:srgbClr val="222222"/>
                </a:solidFill>
                <a:latin typeface="Meiryo" pitchFamily="34" charset="0"/>
                <a:ea typeface="Meiryo" pitchFamily="34" charset="-122"/>
                <a:cs typeface="Meiryo" pitchFamily="34" charset="-120"/>
              </a:rPr>
              <a:t>The SGC located 147 events in the 34 hours after the mainshock. Within that window only one exceeded M4.0 - the M4.8 that followed 44 minutes later - and 92% were below M3.0; the M4.2 of 13 August is the second. No aftershock has come close to the mainshock in size. Ninety-six of the 147 lie at 60 km depth or more within 80 km of the epicentre: that subset is the intraslab sequence itself, and its cumulative curve tracks the SGC's published totals. The remainder is background seismicity the same catalogue records, which is why a raw count runs ahead of the official figure. A modest, quickly-decaying sequence is what an intermediate-depth rupture is expected to produce - but the 13 August event shows that shaking able to stop rescue work continues. By 07:00 on 14 August the SGC's published total had reached 184, of which 15 above M3.0 and 2 above M4.0 - a rate consistent with the catalogue extract and with normal decay.</a:t>
            </a:r>
            <a:endParaRPr lang="en-US" sz="11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365760" y="2304288"/>
          <a:ext cx="11430000" cy="914400"/>
        </p:xfrm>
        <a:graphic>
          <a:graphicData uri="http://schemas.openxmlformats.org/drawingml/2006/table">
            <a:tbl>
              <a:tblPr/>
              <a:tblGrid>
                <a:gridCol w="2194560"/>
                <a:gridCol w="914400"/>
                <a:gridCol w="6949440"/>
                <a:gridCol w="1371600"/>
              </a:tblGrid>
              <a:tr h="0">
                <a:tc>
                  <a:txBody>
                    <a:bodyPr/>
                    <a:lstStyle/>
                    <a:p>
                      <a:pPr algn="l" indent="0" marL="0">
                        <a:buNone/>
                      </a:pPr>
                      <a:r>
                        <a:rPr lang="en-US" sz="1300" b="1" dirty="0">
                          <a:solidFill>
                            <a:srgbClr val="FFFFFF"/>
                          </a:solidFill>
                        </a:rPr>
                        <a:t>Time</a:t>
                      </a:r>
                      <a:endParaRPr lang="en-US" sz="1300" dirty="0"/>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Mag.</a:t>
                      </a:r>
                      <a:endParaRPr lang="en-US" sz="1300" dirty="0"/>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Note</a:t>
                      </a:r>
                      <a:endParaRPr lang="en-US" sz="1300" dirty="0"/>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Tier</a:t>
                      </a:r>
                      <a:endParaRPr lang="en-US" sz="1300" dirty="0"/>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0">
                <a:tc>
                  <a:txBody>
                    <a:bodyPr/>
                    <a:lstStyle/>
                    <a:p>
                      <a:pPr algn="l" indent="0" marL="0">
                        <a:buNone/>
                      </a:pPr>
                      <a:r>
                        <a:rPr lang="en-US" sz="1150" dirty="0">
                          <a:solidFill>
                            <a:srgbClr val="222222"/>
                          </a:solidFill>
                        </a:rPr>
                        <a:t>10 </a:t>
                      </a:r>
                      <a:pPr algn="l" indent="0" marL="0">
                        <a:buNone/>
                      </a:pPr>
                      <a:r>
                        <a:rPr lang="en-US" sz="1150" dirty="0">
                          <a:solidFill>
                            <a:srgbClr val="222222"/>
                          </a:solidFill>
                        </a:rPr>
                        <a:t>Aug </a:t>
                      </a:r>
                      <a:pPr algn="l" indent="0" marL="0">
                        <a:buNone/>
                      </a:pPr>
                      <a:r>
                        <a:rPr lang="en-US" sz="1150" dirty="0">
                          <a:solidFill>
                            <a:srgbClr val="222222"/>
                          </a:solidFill>
                        </a:rPr>
                        <a:t>08:18 </a:t>
                      </a:r>
                      <a:pPr algn="l" indent="0" marL="0">
                        <a:buNone/>
                      </a:pPr>
                      <a:r>
                        <a:rPr lang="en-US" sz="1150" dirty="0">
                          <a:solidFill>
                            <a:srgbClr val="222222"/>
                          </a:solidFill>
                        </a:rPr>
                        <a:t>COT </a:t>
                      </a:r>
                      <a:pPr algn="l" indent="0" marL="0">
                        <a:buNone/>
                      </a:pPr>
                      <a:r>
                        <a:rPr lang="en-US" sz="1150" dirty="0">
                          <a:solidFill>
                            <a:srgbClr val="222222"/>
                          </a:solidFill>
                        </a:rPr>
                        <a:t>(13:18 </a:t>
                      </a:r>
                      <a:pPr algn="l" indent="0" marL="0">
                        <a:buNone/>
                      </a:pPr>
                      <a:r>
                        <a:rPr lang="en-US" sz="1150" dirty="0">
                          <a:solidFill>
                            <a:srgbClr val="222222"/>
                          </a:solidFill>
                        </a:rPr>
                        <a:t>UTC)</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F3864"/>
                          </a:solidFill>
                        </a:rPr>
                        <a:t>M4.8</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rPr>
                        <a:t>The </a:t>
                      </a:r>
                      <a:pPr algn="l" indent="0" marL="0">
                        <a:buNone/>
                      </a:pPr>
                      <a:r>
                        <a:rPr lang="en-US" sz="1050" dirty="0">
                          <a:solidFill>
                            <a:srgbClr val="222222"/>
                          </a:solidFill>
                        </a:rPr>
                        <a:t>largest </a:t>
                      </a:r>
                      <a:pPr algn="l" indent="0" marL="0">
                        <a:buNone/>
                      </a:pPr>
                      <a:r>
                        <a:rPr lang="en-US" sz="1050" dirty="0">
                          <a:solidFill>
                            <a:srgbClr val="222222"/>
                          </a:solidFill>
                        </a:rPr>
                        <a:t>aftershock, </a:t>
                      </a:r>
                      <a:pPr algn="l" indent="0" marL="0">
                        <a:buNone/>
                      </a:pPr>
                      <a:r>
                        <a:rPr lang="en-US" sz="1050" dirty="0">
                          <a:solidFill>
                            <a:srgbClr val="222222"/>
                          </a:solidFill>
                        </a:rPr>
                        <a:t>44 </a:t>
                      </a:r>
                      <a:pPr algn="l" indent="0" marL="0">
                        <a:buNone/>
                      </a:pPr>
                      <a:r>
                        <a:rPr lang="en-US" sz="1050" dirty="0">
                          <a:solidFill>
                            <a:srgbClr val="222222"/>
                          </a:solidFill>
                        </a:rPr>
                        <a:t>minutes </a:t>
                      </a:r>
                      <a:pPr algn="l" indent="0" marL="0">
                        <a:buNone/>
                      </a:pPr>
                      <a:r>
                        <a:rPr lang="en-US" sz="1050" dirty="0">
                          <a:solidFill>
                            <a:srgbClr val="222222"/>
                          </a:solidFill>
                        </a:rPr>
                        <a:t>after </a:t>
                      </a:r>
                      <a:pPr algn="l" indent="0" marL="0">
                        <a:buNone/>
                      </a:pPr>
                      <a:r>
                        <a:rPr lang="en-US" sz="1050" dirty="0">
                          <a:solidFill>
                            <a:srgbClr val="222222"/>
                          </a:solidFill>
                        </a:rPr>
                        <a:t>the </a:t>
                      </a:r>
                      <a:pPr algn="l" indent="0" marL="0">
                        <a:buNone/>
                      </a:pPr>
                      <a:r>
                        <a:rPr lang="en-US" sz="1050" dirty="0">
                          <a:solidFill>
                            <a:srgbClr val="222222"/>
                          </a:solidFill>
                        </a:rPr>
                        <a:t>mainshock: </a:t>
                      </a:r>
                      <a:pPr algn="l" indent="0" marL="0">
                        <a:buNone/>
                      </a:pPr>
                      <a:r>
                        <a:rPr lang="en-US" sz="1050" dirty="0">
                          <a:solidFill>
                            <a:srgbClr val="222222"/>
                          </a:solidFill>
                        </a:rPr>
                        <a:t>San </a:t>
                      </a:r>
                      <a:pPr algn="l" indent="0" marL="0">
                        <a:buNone/>
                      </a:pPr>
                      <a:r>
                        <a:rPr lang="en-US" sz="1050" dirty="0">
                          <a:solidFill>
                            <a:srgbClr val="222222"/>
                          </a:solidFill>
                        </a:rPr>
                        <a:t>José </a:t>
                      </a:r>
                      <a:pPr algn="l" indent="0" marL="0">
                        <a:buNone/>
                      </a:pPr>
                      <a:r>
                        <a:rPr lang="en-US" sz="1050" dirty="0">
                          <a:solidFill>
                            <a:srgbClr val="222222"/>
                          </a:solidFill>
                        </a:rPr>
                        <a:t>del </a:t>
                      </a:r>
                      <a:pPr algn="l" indent="0" marL="0">
                        <a:buNone/>
                      </a:pPr>
                      <a:r>
                        <a:rPr lang="en-US" sz="1050" dirty="0">
                          <a:solidFill>
                            <a:srgbClr val="222222"/>
                          </a:solidFill>
                        </a:rPr>
                        <a:t>Palmar, </a:t>
                      </a:r>
                      <a:pPr algn="l" indent="0" marL="0">
                        <a:buNone/>
                      </a:pPr>
                      <a:r>
                        <a:rPr lang="en-US" sz="1050" dirty="0">
                          <a:solidFill>
                            <a:srgbClr val="222222"/>
                          </a:solidFill>
                        </a:rPr>
                        <a:t>depth </a:t>
                      </a:r>
                      <a:pPr algn="l" indent="0" marL="0">
                        <a:buNone/>
                      </a:pPr>
                      <a:r>
                        <a:rPr lang="en-US" sz="1050" dirty="0">
                          <a:solidFill>
                            <a:srgbClr val="222222"/>
                          </a:solidFill>
                        </a:rPr>
                        <a:t>94 </a:t>
                      </a:r>
                      <a:pPr algn="l" indent="0" marL="0">
                        <a:buNone/>
                      </a:pPr>
                      <a:r>
                        <a:rPr lang="en-US" sz="1050" dirty="0">
                          <a:solidFill>
                            <a:srgbClr val="222222"/>
                          </a:solidFill>
                        </a:rPr>
                        <a:t>km, </a:t>
                      </a:r>
                      <a:pPr algn="l" indent="0" marL="0">
                        <a:buNone/>
                      </a:pPr>
                      <a:r>
                        <a:rPr lang="en-US" sz="1050" dirty="0">
                          <a:solidFill>
                            <a:srgbClr val="222222"/>
                          </a:solidFill>
                        </a:rPr>
                        <a:t>19 </a:t>
                      </a:r>
                      <a:pPr algn="l" indent="0" marL="0">
                        <a:buNone/>
                      </a:pPr>
                      <a:r>
                        <a:rPr lang="en-US" sz="1050" dirty="0">
                          <a:solidFill>
                            <a:srgbClr val="222222"/>
                          </a:solidFill>
                        </a:rPr>
                        <a:t>km </a:t>
                      </a:r>
                      <a:pPr algn="l" indent="0" marL="0">
                        <a:buNone/>
                      </a:pPr>
                      <a:r>
                        <a:rPr lang="en-US" sz="1050" dirty="0">
                          <a:solidFill>
                            <a:srgbClr val="222222"/>
                          </a:solidFill>
                        </a:rPr>
                        <a:t>from </a:t>
                      </a:r>
                      <a:pPr algn="l" indent="0" marL="0">
                        <a:buNone/>
                      </a:pPr>
                      <a:r>
                        <a:rPr lang="en-US" sz="1050" dirty="0">
                          <a:solidFill>
                            <a:srgbClr val="222222"/>
                          </a:solidFill>
                        </a:rPr>
                        <a:t>the </a:t>
                      </a:r>
                      <a:pPr algn="l" indent="0" marL="0">
                        <a:buNone/>
                      </a:pPr>
                      <a:r>
                        <a:rPr lang="en-US" sz="1050" dirty="0">
                          <a:solidFill>
                            <a:srgbClr val="222222"/>
                          </a:solidFill>
                        </a:rPr>
                        <a:t>epicentre </a:t>
                      </a:r>
                      <a:pPr algn="l" indent="0" marL="0">
                        <a:buNone/>
                      </a:pPr>
                      <a:r>
                        <a:rPr lang="en-US" sz="1050" dirty="0">
                          <a:solidFill>
                            <a:srgbClr val="222222"/>
                          </a:solidFill>
                        </a:rPr>
                        <a:t>(SGC2026pqryij). </a:t>
                      </a:r>
                      <a:pPr algn="l" indent="0" marL="0">
                        <a:buNone/>
                      </a:pPr>
                      <a:r>
                        <a:rPr lang="en-US" sz="1050" dirty="0">
                          <a:solidFill>
                            <a:srgbClr val="222222"/>
                          </a:solidFill>
                        </a:rPr>
                        <a:t>USGS </a:t>
                      </a:r>
                      <a:pPr algn="l" indent="0" marL="0">
                        <a:buNone/>
                      </a:pPr>
                      <a:r>
                        <a:rPr lang="en-US" sz="1050" dirty="0">
                          <a:solidFill>
                            <a:srgbClr val="222222"/>
                          </a:solidFill>
                        </a:rPr>
                        <a:t>catalogues </a:t>
                      </a:r>
                      <a:pPr algn="l" indent="0" marL="0">
                        <a:buNone/>
                      </a:pPr>
                      <a:r>
                        <a:rPr lang="en-US" sz="1050" dirty="0">
                          <a:solidFill>
                            <a:srgbClr val="222222"/>
                          </a:solidFill>
                        </a:rPr>
                        <a:t>the </a:t>
                      </a:r>
                      <a:pPr algn="l" indent="0" marL="0">
                        <a:buNone/>
                      </a:pPr>
                      <a:r>
                        <a:rPr lang="en-US" sz="1050" dirty="0">
                          <a:solidFill>
                            <a:srgbClr val="222222"/>
                          </a:solidFill>
                        </a:rPr>
                        <a:t>same </a:t>
                      </a:r>
                      <a:pPr algn="l" indent="0" marL="0">
                        <a:buNone/>
                      </a:pPr>
                      <a:r>
                        <a:rPr lang="en-US" sz="1050" dirty="0">
                          <a:solidFill>
                            <a:srgbClr val="222222"/>
                          </a:solidFill>
                        </a:rPr>
                        <a:t>event </a:t>
                      </a:r>
                      <a:pPr algn="l" indent="0" marL="0">
                        <a:buNone/>
                      </a:pPr>
                      <a:r>
                        <a:rPr lang="en-US" sz="1050" dirty="0">
                          <a:solidFill>
                            <a:srgbClr val="222222"/>
                          </a:solidFill>
                        </a:rPr>
                        <a:t>as </a:t>
                      </a:r>
                      <a:pPr algn="l" indent="0" marL="0">
                        <a:buNone/>
                      </a:pPr>
                      <a:r>
                        <a:rPr lang="en-US" sz="1050" dirty="0">
                          <a:solidFill>
                            <a:srgbClr val="222222"/>
                          </a:solidFill>
                        </a:rPr>
                        <a:t>mb </a:t>
                      </a:r>
                      <a:pPr algn="l" indent="0" marL="0">
                        <a:buNone/>
                      </a:pPr>
                      <a:r>
                        <a:rPr lang="en-US" sz="1050" dirty="0">
                          <a:solidFill>
                            <a:srgbClr val="222222"/>
                          </a:solidFill>
                        </a:rPr>
                        <a:t>5.0 </a:t>
                      </a:r>
                      <a:pPr algn="l" indent="0" marL="0">
                        <a:buNone/>
                      </a:pPr>
                      <a:r>
                        <a:rPr lang="en-US" sz="1050" dirty="0">
                          <a:solidFill>
                            <a:srgbClr val="222222"/>
                          </a:solidFill>
                        </a:rPr>
                        <a:t>at </a:t>
                      </a:r>
                      <a:pPr algn="l" indent="0" marL="0">
                        <a:buNone/>
                      </a:pPr>
                      <a:r>
                        <a:rPr lang="en-US" sz="1050" dirty="0">
                          <a:solidFill>
                            <a:srgbClr val="222222"/>
                          </a:solidFill>
                        </a:rPr>
                        <a:t>98.5 </a:t>
                      </a:r>
                      <a:pPr algn="l" indent="0" marL="0">
                        <a:buNone/>
                      </a:pPr>
                      <a:r>
                        <a:rPr lang="en-US" sz="1050" dirty="0">
                          <a:solidFill>
                            <a:srgbClr val="222222"/>
                          </a:solidFill>
                        </a:rPr>
                        <a:t>km. </a:t>
                      </a:r>
                      <a:pPr algn="l" indent="0" marL="0">
                        <a:buNone/>
                      </a:pPr>
                      <a:r>
                        <a:rPr lang="en-US" sz="1050" dirty="0">
                          <a:solidFill>
                            <a:srgbClr val="222222"/>
                          </a:solidFill>
                        </a:rPr>
                        <a:t>Widely </a:t>
                      </a:r>
                      <a:pPr algn="l" indent="0" marL="0">
                        <a:buNone/>
                      </a:pPr>
                      <a:r>
                        <a:rPr lang="en-US" sz="1050" dirty="0">
                          <a:solidFill>
                            <a:srgbClr val="222222"/>
                          </a:solidFill>
                        </a:rPr>
                        <a:t>felt.</a:t>
                      </a:r>
                      <a:endParaRPr lang="en-US" sz="10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000" dirty="0">
                          <a:solidFill>
                            <a:srgbClr val="6A6A6A"/>
                          </a:solidFill>
                        </a:rPr>
                        <a:t>Official</a:t>
                      </a:r>
                      <a:endParaRPr lang="en-US" sz="10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50" dirty="0">
                          <a:solidFill>
                            <a:srgbClr val="222222"/>
                          </a:solidFill>
                        </a:rPr>
                        <a:t>10 </a:t>
                      </a:r>
                      <a:pPr algn="l" indent="0" marL="0">
                        <a:buNone/>
                      </a:pPr>
                      <a:r>
                        <a:rPr lang="en-US" sz="1150" dirty="0">
                          <a:solidFill>
                            <a:srgbClr val="222222"/>
                          </a:solidFill>
                        </a:rPr>
                        <a:t>Aug </a:t>
                      </a:r>
                      <a:pPr algn="l" indent="0" marL="0">
                        <a:buNone/>
                      </a:pPr>
                      <a:r>
                        <a:rPr lang="en-US" sz="1150" dirty="0">
                          <a:solidFill>
                            <a:srgbClr val="222222"/>
                          </a:solidFill>
                        </a:rPr>
                        <a:t>10:01 </a:t>
                      </a:r>
                      <a:pPr algn="l" indent="0" marL="0">
                        <a:buNone/>
                      </a:pPr>
                      <a:r>
                        <a:rPr lang="en-US" sz="1150" dirty="0">
                          <a:solidFill>
                            <a:srgbClr val="222222"/>
                          </a:solidFill>
                        </a:rPr>
                        <a:t>COT </a:t>
                      </a:r>
                      <a:pPr algn="l" indent="0" marL="0">
                        <a:buNone/>
                      </a:pPr>
                      <a:r>
                        <a:rPr lang="en-US" sz="1150" dirty="0">
                          <a:solidFill>
                            <a:srgbClr val="222222"/>
                          </a:solidFill>
                        </a:rPr>
                        <a:t>(15:01 </a:t>
                      </a:r>
                      <a:pPr algn="l" indent="0" marL="0">
                        <a:buNone/>
                      </a:pPr>
                      <a:r>
                        <a:rPr lang="en-US" sz="1150" dirty="0">
                          <a:solidFill>
                            <a:srgbClr val="222222"/>
                          </a:solidFill>
                        </a:rPr>
                        <a:t>UTC)</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F3864"/>
                          </a:solidFill>
                        </a:rPr>
                        <a:t>M3.8</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rPr>
                        <a:t>San </a:t>
                      </a:r>
                      <a:pPr algn="l" indent="0" marL="0">
                        <a:buNone/>
                      </a:pPr>
                      <a:r>
                        <a:rPr lang="en-US" sz="1050" dirty="0">
                          <a:solidFill>
                            <a:srgbClr val="222222"/>
                          </a:solidFill>
                        </a:rPr>
                        <a:t>José </a:t>
                      </a:r>
                      <a:pPr algn="l" indent="0" marL="0">
                        <a:buNone/>
                      </a:pPr>
                      <a:r>
                        <a:rPr lang="en-US" sz="1050" dirty="0">
                          <a:solidFill>
                            <a:srgbClr val="222222"/>
                          </a:solidFill>
                        </a:rPr>
                        <a:t>del </a:t>
                      </a:r>
                      <a:pPr algn="l" indent="0" marL="0">
                        <a:buNone/>
                      </a:pPr>
                      <a:r>
                        <a:rPr lang="en-US" sz="1050" dirty="0">
                          <a:solidFill>
                            <a:srgbClr val="222222"/>
                          </a:solidFill>
                        </a:rPr>
                        <a:t>Palmar, </a:t>
                      </a:r>
                      <a:pPr algn="l" indent="0" marL="0">
                        <a:buNone/>
                      </a:pPr>
                      <a:r>
                        <a:rPr lang="en-US" sz="1050" dirty="0">
                          <a:solidFill>
                            <a:srgbClr val="222222"/>
                          </a:solidFill>
                        </a:rPr>
                        <a:t>depth </a:t>
                      </a:r>
                      <a:pPr algn="l" indent="0" marL="0">
                        <a:buNone/>
                      </a:pPr>
                      <a:r>
                        <a:rPr lang="en-US" sz="1050" dirty="0">
                          <a:solidFill>
                            <a:srgbClr val="222222"/>
                          </a:solidFill>
                        </a:rPr>
                        <a:t>88 </a:t>
                      </a:r>
                      <a:pPr algn="l" indent="0" marL="0">
                        <a:buNone/>
                      </a:pPr>
                      <a:r>
                        <a:rPr lang="en-US" sz="1050" dirty="0">
                          <a:solidFill>
                            <a:srgbClr val="222222"/>
                          </a:solidFill>
                        </a:rPr>
                        <a:t>km. </a:t>
                      </a:r>
                      <a:pPr algn="l" indent="0" marL="0">
                        <a:buNone/>
                      </a:pPr>
                      <a:r>
                        <a:rPr lang="en-US" sz="1050" dirty="0">
                          <a:solidFill>
                            <a:srgbClr val="222222"/>
                          </a:solidFill>
                        </a:rPr>
                        <a:t>This </a:t>
                      </a:r>
                      <a:pPr algn="l" indent="0" marL="0">
                        <a:buNone/>
                      </a:pPr>
                      <a:r>
                        <a:rPr lang="en-US" sz="1050" dirty="0">
                          <a:solidFill>
                            <a:srgbClr val="222222"/>
                          </a:solidFill>
                        </a:rPr>
                        <a:t>is </a:t>
                      </a:r>
                      <a:pPr algn="l" indent="0" marL="0">
                        <a:buNone/>
                      </a:pPr>
                      <a:r>
                        <a:rPr lang="en-US" sz="1050" dirty="0">
                          <a:solidFill>
                            <a:srgbClr val="222222"/>
                          </a:solidFill>
                        </a:rPr>
                        <a:t>the </a:t>
                      </a:r>
                      <a:pPr algn="l" indent="0" marL="0">
                        <a:buNone/>
                      </a:pPr>
                      <a:r>
                        <a:rPr lang="en-US" sz="1050" dirty="0">
                          <a:solidFill>
                            <a:srgbClr val="222222"/>
                          </a:solidFill>
                        </a:rPr>
                        <a:t>event </a:t>
                      </a:r>
                      <a:pPr algn="l" indent="0" marL="0">
                        <a:buNone/>
                      </a:pPr>
                      <a:r>
                        <a:rPr lang="en-US" sz="1050" dirty="0">
                          <a:solidFill>
                            <a:srgbClr val="222222"/>
                          </a:solidFill>
                        </a:rPr>
                        <a:t>two </a:t>
                      </a:r>
                      <a:pPr algn="l" indent="0" marL="0">
                        <a:buNone/>
                      </a:pPr>
                      <a:r>
                        <a:rPr lang="en-US" sz="1050" dirty="0">
                          <a:solidFill>
                            <a:srgbClr val="222222"/>
                          </a:solidFill>
                        </a:rPr>
                        <a:t>regional </a:t>
                      </a:r>
                      <a:pPr algn="l" indent="0" marL="0">
                        <a:buNone/>
                      </a:pPr>
                      <a:r>
                        <a:rPr lang="en-US" sz="1050" dirty="0">
                          <a:solidFill>
                            <a:srgbClr val="222222"/>
                          </a:solidFill>
                        </a:rPr>
                        <a:t>agencies </a:t>
                      </a:r>
                      <a:pPr algn="l" indent="0" marL="0">
                        <a:buNone/>
                      </a:pPr>
                      <a:r>
                        <a:rPr lang="en-US" sz="1050" dirty="0">
                          <a:solidFill>
                            <a:srgbClr val="222222"/>
                          </a:solidFill>
                        </a:rPr>
                        <a:t>published </a:t>
                      </a:r>
                      <a:pPr algn="l" indent="0" marL="0">
                        <a:buNone/>
                      </a:pPr>
                      <a:r>
                        <a:rPr lang="en-US" sz="1050" dirty="0">
                          <a:solidFill>
                            <a:srgbClr val="222222"/>
                          </a:solidFill>
                        </a:rPr>
                        <a:t>as </a:t>
                      </a:r>
                      <a:pPr algn="l" indent="0" marL="0">
                        <a:buNone/>
                      </a:pPr>
                      <a:r>
                        <a:rPr lang="en-US" sz="1050" dirty="0">
                          <a:solidFill>
                            <a:srgbClr val="222222"/>
                          </a:solidFill>
                        </a:rPr>
                        <a:t>M4.7 </a:t>
                      </a:r>
                      <a:pPr algn="l" indent="0" marL="0">
                        <a:buNone/>
                      </a:pPr>
                      <a:r>
                        <a:rPr lang="en-US" sz="1050" dirty="0">
                          <a:solidFill>
                            <a:srgbClr val="222222"/>
                          </a:solidFill>
                        </a:rPr>
                        <a:t>in </a:t>
                      </a:r>
                      <a:pPr algn="l" indent="0" marL="0">
                        <a:buNone/>
                      </a:pPr>
                      <a:r>
                        <a:rPr lang="en-US" sz="1050" dirty="0">
                          <a:solidFill>
                            <a:srgbClr val="222222"/>
                          </a:solidFill>
                        </a:rPr>
                        <a:t>the </a:t>
                      </a:r>
                      <a:pPr algn="l" indent="0" marL="0">
                        <a:buNone/>
                      </a:pPr>
                      <a:r>
                        <a:rPr lang="en-US" sz="1050" dirty="0">
                          <a:solidFill>
                            <a:srgbClr val="222222"/>
                          </a:solidFill>
                        </a:rPr>
                        <a:t>multi-agency </a:t>
                      </a:r>
                      <a:pPr algn="l" indent="0" marL="0">
                        <a:buNone/>
                      </a:pPr>
                      <a:r>
                        <a:rPr lang="en-US" sz="1050" dirty="0">
                          <a:solidFill>
                            <a:srgbClr val="222222"/>
                          </a:solidFill>
                        </a:rPr>
                        <a:t>bulletin; </a:t>
                      </a:r>
                      <a:pPr algn="l" indent="0" marL="0">
                        <a:buNone/>
                      </a:pPr>
                      <a:r>
                        <a:rPr lang="en-US" sz="1050" dirty="0">
                          <a:solidFill>
                            <a:srgbClr val="222222"/>
                          </a:solidFill>
                        </a:rPr>
                        <a:t>the </a:t>
                      </a:r>
                      <a:pPr algn="l" indent="0" marL="0">
                        <a:buNone/>
                      </a:pPr>
                      <a:r>
                        <a:rPr lang="en-US" sz="1050" dirty="0">
                          <a:solidFill>
                            <a:srgbClr val="222222"/>
                          </a:solidFill>
                        </a:rPr>
                        <a:t>SGC </a:t>
                      </a:r>
                      <a:pPr algn="l" indent="0" marL="0">
                        <a:buNone/>
                      </a:pPr>
                      <a:r>
                        <a:rPr lang="en-US" sz="1050" dirty="0">
                          <a:solidFill>
                            <a:srgbClr val="222222"/>
                          </a:solidFill>
                        </a:rPr>
                        <a:t>solution </a:t>
                      </a:r>
                      <a:pPr algn="l" indent="0" marL="0">
                        <a:buNone/>
                      </a:pPr>
                      <a:r>
                        <a:rPr lang="en-US" sz="1050" dirty="0">
                          <a:solidFill>
                            <a:srgbClr val="222222"/>
                          </a:solidFill>
                        </a:rPr>
                        <a:t>is </a:t>
                      </a:r>
                      <a:pPr algn="l" indent="0" marL="0">
                        <a:buNone/>
                      </a:pPr>
                      <a:r>
                        <a:rPr lang="en-US" sz="1050" dirty="0">
                          <a:solidFill>
                            <a:srgbClr val="222222"/>
                          </a:solidFill>
                        </a:rPr>
                        <a:t>0.9 </a:t>
                      </a:r>
                      <a:pPr algn="l" indent="0" marL="0">
                        <a:buNone/>
                      </a:pPr>
                      <a:r>
                        <a:rPr lang="en-US" sz="1050" dirty="0">
                          <a:solidFill>
                            <a:srgbClr val="222222"/>
                          </a:solidFill>
                        </a:rPr>
                        <a:t>units </a:t>
                      </a:r>
                      <a:pPr algn="l" indent="0" marL="0">
                        <a:buNone/>
                      </a:pPr>
                      <a:r>
                        <a:rPr lang="en-US" sz="1050" dirty="0">
                          <a:solidFill>
                            <a:srgbClr val="222222"/>
                          </a:solidFill>
                        </a:rPr>
                        <a:t>smaller.</a:t>
                      </a:r>
                      <a:endParaRPr lang="en-US" sz="10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A6A6A"/>
                          </a:solidFill>
                        </a:rPr>
                        <a:t>Official</a:t>
                      </a:r>
                      <a:endParaRPr lang="en-US" sz="10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50" dirty="0">
                          <a:solidFill>
                            <a:srgbClr val="222222"/>
                          </a:solidFill>
                        </a:rPr>
                        <a:t>11 </a:t>
                      </a:r>
                      <a:pPr algn="l" indent="0" marL="0">
                        <a:buNone/>
                      </a:pPr>
                      <a:r>
                        <a:rPr lang="en-US" sz="1150" dirty="0">
                          <a:solidFill>
                            <a:srgbClr val="222222"/>
                          </a:solidFill>
                        </a:rPr>
                        <a:t>Aug </a:t>
                      </a:r>
                      <a:pPr algn="l" indent="0" marL="0">
                        <a:buNone/>
                      </a:pPr>
                      <a:r>
                        <a:rPr lang="en-US" sz="1150" dirty="0">
                          <a:solidFill>
                            <a:srgbClr val="222222"/>
                          </a:solidFill>
                        </a:rPr>
                        <a:t>00:12 </a:t>
                      </a:r>
                      <a:pPr algn="l" indent="0" marL="0">
                        <a:buNone/>
                      </a:pPr>
                      <a:r>
                        <a:rPr lang="en-US" sz="1150" dirty="0">
                          <a:solidFill>
                            <a:srgbClr val="222222"/>
                          </a:solidFill>
                        </a:rPr>
                        <a:t>/ </a:t>
                      </a:r>
                      <a:pPr algn="l" indent="0" marL="0">
                        <a:buNone/>
                      </a:pPr>
                      <a:r>
                        <a:rPr lang="en-US" sz="1150" dirty="0">
                          <a:solidFill>
                            <a:srgbClr val="222222"/>
                          </a:solidFill>
                        </a:rPr>
                        <a:t>10:43 </a:t>
                      </a:r>
                      <a:pPr algn="l" indent="0" marL="0">
                        <a:buNone/>
                      </a:pPr>
                      <a:r>
                        <a:rPr lang="en-US" sz="1150" dirty="0">
                          <a:solidFill>
                            <a:srgbClr val="222222"/>
                          </a:solidFill>
                        </a:rPr>
                        <a:t>COT</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F3864"/>
                          </a:solidFill>
                        </a:rPr>
                        <a:t>M3.6 </a:t>
                      </a:r>
                      <a:pPr algn="ctr" indent="0" marL="0">
                        <a:buNone/>
                      </a:pPr>
                      <a:r>
                        <a:rPr lang="en-US" sz="1150" b="1" dirty="0">
                          <a:solidFill>
                            <a:srgbClr val="1F3864"/>
                          </a:solidFill>
                        </a:rPr>
                        <a:t>/ </a:t>
                      </a:r>
                      <a:pPr algn="ctr" indent="0" marL="0">
                        <a:buNone/>
                      </a:pPr>
                      <a:r>
                        <a:rPr lang="en-US" sz="1150" b="1" dirty="0">
                          <a:solidFill>
                            <a:srgbClr val="1F3864"/>
                          </a:solidFill>
                        </a:rPr>
                        <a:t>M3.9</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rPr>
                        <a:t>San </a:t>
                      </a:r>
                      <a:pPr algn="l" indent="0" marL="0">
                        <a:buNone/>
                      </a:pPr>
                      <a:r>
                        <a:rPr lang="en-US" sz="1050" dirty="0">
                          <a:solidFill>
                            <a:srgbClr val="222222"/>
                          </a:solidFill>
                        </a:rPr>
                        <a:t>José </a:t>
                      </a:r>
                      <a:pPr algn="l" indent="0" marL="0">
                        <a:buNone/>
                      </a:pPr>
                      <a:r>
                        <a:rPr lang="en-US" sz="1050" dirty="0">
                          <a:solidFill>
                            <a:srgbClr val="222222"/>
                          </a:solidFill>
                        </a:rPr>
                        <a:t>del </a:t>
                      </a:r>
                      <a:pPr algn="l" indent="0" marL="0">
                        <a:buNone/>
                      </a:pPr>
                      <a:r>
                        <a:rPr lang="en-US" sz="1050" dirty="0">
                          <a:solidFill>
                            <a:srgbClr val="222222"/>
                          </a:solidFill>
                        </a:rPr>
                        <a:t>Palmar, </a:t>
                      </a:r>
                      <a:pPr algn="l" indent="0" marL="0">
                        <a:buNone/>
                      </a:pPr>
                      <a:r>
                        <a:rPr lang="en-US" sz="1050" dirty="0">
                          <a:solidFill>
                            <a:srgbClr val="222222"/>
                          </a:solidFill>
                        </a:rPr>
                        <a:t>depths </a:t>
                      </a:r>
                      <a:pPr algn="l" indent="0" marL="0">
                        <a:buNone/>
                      </a:pPr>
                      <a:r>
                        <a:rPr lang="en-US" sz="1050" dirty="0">
                          <a:solidFill>
                            <a:srgbClr val="222222"/>
                          </a:solidFill>
                        </a:rPr>
                        <a:t>96 </a:t>
                      </a:r>
                      <a:pPr algn="l" indent="0" marL="0">
                        <a:buNone/>
                      </a:pPr>
                      <a:r>
                        <a:rPr lang="en-US" sz="1050" dirty="0">
                          <a:solidFill>
                            <a:srgbClr val="222222"/>
                          </a:solidFill>
                        </a:rPr>
                        <a:t>km </a:t>
                      </a:r>
                      <a:pPr algn="l" indent="0" marL="0">
                        <a:buNone/>
                      </a:pPr>
                      <a:r>
                        <a:rPr lang="en-US" sz="1050" dirty="0">
                          <a:solidFill>
                            <a:srgbClr val="222222"/>
                          </a:solidFill>
                        </a:rPr>
                        <a:t>and </a:t>
                      </a:r>
                      <a:pPr algn="l" indent="0" marL="0">
                        <a:buNone/>
                      </a:pPr>
                      <a:r>
                        <a:rPr lang="en-US" sz="1050" dirty="0">
                          <a:solidFill>
                            <a:srgbClr val="222222"/>
                          </a:solidFill>
                        </a:rPr>
                        <a:t>92 </a:t>
                      </a:r>
                      <a:pPr algn="l" indent="0" marL="0">
                        <a:buNone/>
                      </a:pPr>
                      <a:r>
                        <a:rPr lang="en-US" sz="1050" dirty="0">
                          <a:solidFill>
                            <a:srgbClr val="222222"/>
                          </a:solidFill>
                        </a:rPr>
                        <a:t>km. </a:t>
                      </a:r>
                      <a:pPr algn="l" indent="0" marL="0">
                        <a:buNone/>
                      </a:pPr>
                      <a:r>
                        <a:rPr lang="en-US" sz="1050" dirty="0">
                          <a:solidFill>
                            <a:srgbClr val="222222"/>
                          </a:solidFill>
                        </a:rPr>
                        <a:t>The </a:t>
                      </a:r>
                      <a:pPr algn="l" indent="0" marL="0">
                        <a:buNone/>
                      </a:pPr>
                      <a:r>
                        <a:rPr lang="en-US" sz="1050" dirty="0">
                          <a:solidFill>
                            <a:srgbClr val="222222"/>
                          </a:solidFill>
                        </a:rPr>
                        <a:t>10:43 </a:t>
                      </a:r>
                      <a:pPr algn="l" indent="0" marL="0">
                        <a:buNone/>
                      </a:pPr>
                      <a:r>
                        <a:rPr lang="en-US" sz="1050" dirty="0">
                          <a:solidFill>
                            <a:srgbClr val="222222"/>
                          </a:solidFill>
                        </a:rPr>
                        <a:t>event </a:t>
                      </a:r>
                      <a:pPr algn="l" indent="0" marL="0">
                        <a:buNone/>
                      </a:pPr>
                      <a:r>
                        <a:rPr lang="en-US" sz="1050" dirty="0">
                          <a:solidFill>
                            <a:srgbClr val="222222"/>
                          </a:solidFill>
                        </a:rPr>
                        <a:t>was </a:t>
                      </a:r>
                      <a:pPr algn="l" indent="0" marL="0">
                        <a:buNone/>
                      </a:pPr>
                      <a:r>
                        <a:rPr lang="en-US" sz="1050" dirty="0">
                          <a:solidFill>
                            <a:srgbClr val="222222"/>
                          </a:solidFill>
                        </a:rPr>
                        <a:t>felt </a:t>
                      </a:r>
                      <a:pPr algn="l" indent="0" marL="0">
                        <a:buNone/>
                      </a:pPr>
                      <a:r>
                        <a:rPr lang="en-US" sz="1050" dirty="0">
                          <a:solidFill>
                            <a:srgbClr val="222222"/>
                          </a:solidFill>
                        </a:rPr>
                        <a:t>strongly </a:t>
                      </a:r>
                      <a:pPr algn="l" indent="0" marL="0">
                        <a:buNone/>
                      </a:pPr>
                      <a:r>
                        <a:rPr lang="en-US" sz="1050" dirty="0">
                          <a:solidFill>
                            <a:srgbClr val="222222"/>
                          </a:solidFill>
                        </a:rPr>
                        <a:t>enough </a:t>
                      </a:r>
                      <a:pPr algn="l" indent="0" marL="0">
                        <a:buNone/>
                      </a:pPr>
                      <a:r>
                        <a:rPr lang="en-US" sz="1050" dirty="0">
                          <a:solidFill>
                            <a:srgbClr val="222222"/>
                          </a:solidFill>
                        </a:rPr>
                        <a:t>for </a:t>
                      </a:r>
                      <a:pPr algn="l" indent="0" marL="0">
                        <a:buNone/>
                      </a:pPr>
                      <a:r>
                        <a:rPr lang="en-US" sz="1050" dirty="0">
                          <a:solidFill>
                            <a:srgbClr val="222222"/>
                          </a:solidFill>
                        </a:rPr>
                        <a:t>buildings </a:t>
                      </a:r>
                      <a:pPr algn="l" indent="0" marL="0">
                        <a:buNone/>
                      </a:pPr>
                      <a:r>
                        <a:rPr lang="en-US" sz="1050" dirty="0">
                          <a:solidFill>
                            <a:srgbClr val="222222"/>
                          </a:solidFill>
                        </a:rPr>
                        <a:t>to </a:t>
                      </a:r>
                      <a:pPr algn="l" indent="0" marL="0">
                        <a:buNone/>
                      </a:pPr>
                      <a:r>
                        <a:rPr lang="en-US" sz="1050" dirty="0">
                          <a:solidFill>
                            <a:srgbClr val="222222"/>
                          </a:solidFill>
                        </a:rPr>
                        <a:t>be </a:t>
                      </a:r>
                      <a:pPr algn="l" indent="0" marL="0">
                        <a:buNone/>
                      </a:pPr>
                      <a:r>
                        <a:rPr lang="en-US" sz="1050" dirty="0">
                          <a:solidFill>
                            <a:srgbClr val="222222"/>
                          </a:solidFill>
                        </a:rPr>
                        <a:t>evacuated </a:t>
                      </a:r>
                      <a:pPr algn="l" indent="0" marL="0">
                        <a:buNone/>
                      </a:pPr>
                      <a:r>
                        <a:rPr lang="en-US" sz="1050" dirty="0">
                          <a:solidFill>
                            <a:srgbClr val="222222"/>
                          </a:solidFill>
                        </a:rPr>
                        <a:t>in </a:t>
                      </a:r>
                      <a:pPr algn="l" indent="0" marL="0">
                        <a:buNone/>
                      </a:pPr>
                      <a:r>
                        <a:rPr lang="en-US" sz="1050" dirty="0">
                          <a:solidFill>
                            <a:srgbClr val="222222"/>
                          </a:solidFill>
                        </a:rPr>
                        <a:t>several </a:t>
                      </a:r>
                      <a:pPr algn="l" indent="0" marL="0">
                        <a:buNone/>
                      </a:pPr>
                      <a:r>
                        <a:rPr lang="en-US" sz="1050" dirty="0">
                          <a:solidFill>
                            <a:srgbClr val="222222"/>
                          </a:solidFill>
                        </a:rPr>
                        <a:t>of </a:t>
                      </a:r>
                      <a:pPr algn="l" indent="0" marL="0">
                        <a:buNone/>
                      </a:pPr>
                      <a:r>
                        <a:rPr lang="en-US" sz="1050" dirty="0">
                          <a:solidFill>
                            <a:srgbClr val="222222"/>
                          </a:solidFill>
                        </a:rPr>
                        <a:t>the </a:t>
                      </a:r>
                      <a:pPr algn="l" indent="0" marL="0">
                        <a:buNone/>
                      </a:pPr>
                      <a:r>
                        <a:rPr lang="en-US" sz="1050" dirty="0">
                          <a:solidFill>
                            <a:srgbClr val="222222"/>
                          </a:solidFill>
                        </a:rPr>
                        <a:t>affected </a:t>
                      </a:r>
                      <a:pPr algn="l" indent="0" marL="0">
                        <a:buNone/>
                      </a:pPr>
                      <a:r>
                        <a:rPr lang="en-US" sz="1050" dirty="0">
                          <a:solidFill>
                            <a:srgbClr val="222222"/>
                          </a:solidFill>
                        </a:rPr>
                        <a:t>cities.</a:t>
                      </a:r>
                      <a:endParaRPr lang="en-US" sz="10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000" dirty="0">
                          <a:solidFill>
                            <a:srgbClr val="6A6A6A"/>
                          </a:solidFill>
                        </a:rPr>
                        <a:t>Official</a:t>
                      </a:r>
                      <a:endParaRPr lang="en-US" sz="10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50" dirty="0">
                          <a:solidFill>
                            <a:srgbClr val="222222"/>
                          </a:solidFill>
                        </a:rPr>
                        <a:t>13 </a:t>
                      </a:r>
                      <a:pPr algn="l" indent="0" marL="0">
                        <a:buNone/>
                      </a:pPr>
                      <a:r>
                        <a:rPr lang="en-US" sz="1150" dirty="0">
                          <a:solidFill>
                            <a:srgbClr val="222222"/>
                          </a:solidFill>
                        </a:rPr>
                        <a:t>Aug </a:t>
                      </a:r>
                      <a:pPr algn="l" indent="0" marL="0">
                        <a:buNone/>
                      </a:pPr>
                      <a:r>
                        <a:rPr lang="en-US" sz="1150" dirty="0">
                          <a:solidFill>
                            <a:srgbClr val="222222"/>
                          </a:solidFill>
                        </a:rPr>
                        <a:t>09:42 </a:t>
                      </a:r>
                      <a:pPr algn="l" indent="0" marL="0">
                        <a:buNone/>
                      </a:pPr>
                      <a:r>
                        <a:rPr lang="en-US" sz="1150" dirty="0">
                          <a:solidFill>
                            <a:srgbClr val="222222"/>
                          </a:solidFill>
                        </a:rPr>
                        <a:t>COT </a:t>
                      </a:r>
                      <a:pPr algn="l" indent="0" marL="0">
                        <a:buNone/>
                      </a:pPr>
                      <a:r>
                        <a:rPr lang="en-US" sz="1150" dirty="0">
                          <a:solidFill>
                            <a:srgbClr val="222222"/>
                          </a:solidFill>
                        </a:rPr>
                        <a:t>(14:42 </a:t>
                      </a:r>
                      <a:pPr algn="l" indent="0" marL="0">
                        <a:buNone/>
                      </a:pPr>
                      <a:r>
                        <a:rPr lang="en-US" sz="1150" dirty="0">
                          <a:solidFill>
                            <a:srgbClr val="222222"/>
                          </a:solidFill>
                        </a:rPr>
                        <a:t>UTC)</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F3864"/>
                          </a:solidFill>
                        </a:rPr>
                        <a:t>M4.2</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rPr>
                        <a:t>San </a:t>
                      </a:r>
                      <a:pPr algn="l" indent="0" marL="0">
                        <a:buNone/>
                      </a:pPr>
                      <a:r>
                        <a:rPr lang="en-US" sz="1050" dirty="0">
                          <a:solidFill>
                            <a:srgbClr val="222222"/>
                          </a:solidFill>
                        </a:rPr>
                        <a:t>José </a:t>
                      </a:r>
                      <a:pPr algn="l" indent="0" marL="0">
                        <a:buNone/>
                      </a:pPr>
                      <a:r>
                        <a:rPr lang="en-US" sz="1050" dirty="0">
                          <a:solidFill>
                            <a:srgbClr val="222222"/>
                          </a:solidFill>
                        </a:rPr>
                        <a:t>del </a:t>
                      </a:r>
                      <a:pPr algn="l" indent="0" marL="0">
                        <a:buNone/>
                      </a:pPr>
                      <a:r>
                        <a:rPr lang="en-US" sz="1050" dirty="0">
                          <a:solidFill>
                            <a:srgbClr val="222222"/>
                          </a:solidFill>
                        </a:rPr>
                        <a:t>Palmar, </a:t>
                      </a:r>
                      <a:pPr algn="l" indent="0" marL="0">
                        <a:buNone/>
                      </a:pPr>
                      <a:r>
                        <a:rPr lang="en-US" sz="1050" dirty="0">
                          <a:solidFill>
                            <a:srgbClr val="222222"/>
                          </a:solidFill>
                        </a:rPr>
                        <a:t>depth </a:t>
                      </a:r>
                      <a:pPr algn="l" indent="0" marL="0">
                        <a:buNone/>
                      </a:pPr>
                      <a:r>
                        <a:rPr lang="en-US" sz="1050" dirty="0">
                          <a:solidFill>
                            <a:srgbClr val="222222"/>
                          </a:solidFill>
                        </a:rPr>
                        <a:t>95 </a:t>
                      </a:r>
                      <a:pPr algn="l" indent="0" marL="0">
                        <a:buNone/>
                      </a:pPr>
                      <a:r>
                        <a:rPr lang="en-US" sz="1050" dirty="0">
                          <a:solidFill>
                            <a:srgbClr val="222222"/>
                          </a:solidFill>
                        </a:rPr>
                        <a:t>km, </a:t>
                      </a:r>
                      <a:pPr algn="l" indent="0" marL="0">
                        <a:buNone/>
                      </a:pPr>
                      <a:r>
                        <a:rPr lang="en-US" sz="1050" dirty="0">
                          <a:solidFill>
                            <a:srgbClr val="222222"/>
                          </a:solidFill>
                        </a:rPr>
                        <a:t>about </a:t>
                      </a:r>
                      <a:pPr algn="l" indent="0" marL="0">
                        <a:buNone/>
                      </a:pPr>
                      <a:r>
                        <a:rPr lang="en-US" sz="1050" dirty="0">
                          <a:solidFill>
                            <a:srgbClr val="222222"/>
                          </a:solidFill>
                        </a:rPr>
                        <a:t>20 </a:t>
                      </a:r>
                      <a:pPr algn="l" indent="0" marL="0">
                        <a:buNone/>
                      </a:pPr>
                      <a:r>
                        <a:rPr lang="en-US" sz="1050" dirty="0">
                          <a:solidFill>
                            <a:srgbClr val="222222"/>
                          </a:solidFill>
                        </a:rPr>
                        <a:t>km </a:t>
                      </a:r>
                      <a:pPr algn="l" indent="0" marL="0">
                        <a:buNone/>
                      </a:pPr>
                      <a:r>
                        <a:rPr lang="en-US" sz="1050" dirty="0">
                          <a:solidFill>
                            <a:srgbClr val="222222"/>
                          </a:solidFill>
                        </a:rPr>
                        <a:t>from </a:t>
                      </a:r>
                      <a:pPr algn="l" indent="0" marL="0">
                        <a:buNone/>
                      </a:pPr>
                      <a:r>
                        <a:rPr lang="en-US" sz="1050" dirty="0">
                          <a:solidFill>
                            <a:srgbClr val="222222"/>
                          </a:solidFill>
                        </a:rPr>
                        <a:t>the </a:t>
                      </a:r>
                      <a:pPr algn="l" indent="0" marL="0">
                        <a:buNone/>
                      </a:pPr>
                      <a:r>
                        <a:rPr lang="en-US" sz="1050" dirty="0">
                          <a:solidFill>
                            <a:srgbClr val="222222"/>
                          </a:solidFill>
                        </a:rPr>
                        <a:t>epicentre </a:t>
                      </a:r>
                      <a:pPr algn="l" indent="0" marL="0">
                        <a:buNone/>
                      </a:pPr>
                      <a:r>
                        <a:rPr lang="en-US" sz="1050" dirty="0">
                          <a:solidFill>
                            <a:srgbClr val="222222"/>
                          </a:solidFill>
                        </a:rPr>
                        <a:t>- </a:t>
                      </a:r>
                      <a:pPr algn="l" indent="0" marL="0">
                        <a:buNone/>
                      </a:pPr>
                      <a:r>
                        <a:rPr lang="en-US" sz="1050" dirty="0">
                          <a:solidFill>
                            <a:srgbClr val="222222"/>
                          </a:solidFill>
                        </a:rPr>
                        <a:t>the </a:t>
                      </a:r>
                      <a:pPr algn="l" indent="0" marL="0">
                        <a:buNone/>
                      </a:pPr>
                      <a:r>
                        <a:rPr lang="en-US" sz="1050" dirty="0">
                          <a:solidFill>
                            <a:srgbClr val="222222"/>
                          </a:solidFill>
                        </a:rPr>
                        <a:t>same </a:t>
                      </a:r>
                      <a:pPr algn="l" indent="0" marL="0">
                        <a:buNone/>
                      </a:pPr>
                      <a:r>
                        <a:rPr lang="en-US" sz="1050" dirty="0">
                          <a:solidFill>
                            <a:srgbClr val="222222"/>
                          </a:solidFill>
                        </a:rPr>
                        <a:t>source </a:t>
                      </a:r>
                      <a:pPr algn="l" indent="0" marL="0">
                        <a:buNone/>
                      </a:pPr>
                      <a:r>
                        <a:rPr lang="en-US" sz="1050" dirty="0">
                          <a:solidFill>
                            <a:srgbClr val="222222"/>
                          </a:solidFill>
                        </a:rPr>
                        <a:t>volume </a:t>
                      </a:r>
                      <a:pPr algn="l" indent="0" marL="0">
                        <a:buNone/>
                      </a:pPr>
                      <a:r>
                        <a:rPr lang="en-US" sz="1050" dirty="0">
                          <a:solidFill>
                            <a:srgbClr val="222222"/>
                          </a:solidFill>
                        </a:rPr>
                        <a:t>as </a:t>
                      </a:r>
                      <a:pPr algn="l" indent="0" marL="0">
                        <a:buNone/>
                      </a:pPr>
                      <a:r>
                        <a:rPr lang="en-US" sz="1050" dirty="0">
                          <a:solidFill>
                            <a:srgbClr val="222222"/>
                          </a:solidFill>
                        </a:rPr>
                        <a:t>the </a:t>
                      </a:r>
                      <a:pPr algn="l" indent="0" marL="0">
                        <a:buNone/>
                      </a:pPr>
                      <a:r>
                        <a:rPr lang="en-US" sz="1050" dirty="0">
                          <a:solidFill>
                            <a:srgbClr val="222222"/>
                          </a:solidFill>
                        </a:rPr>
                        <a:t>mainshock. </a:t>
                      </a:r>
                      <a:pPr algn="l" indent="0" marL="0">
                        <a:buNone/>
                      </a:pPr>
                      <a:r>
                        <a:rPr lang="en-US" sz="1050" dirty="0">
                          <a:solidFill>
                            <a:srgbClr val="222222"/>
                          </a:solidFill>
                        </a:rPr>
                        <a:t>Felt </a:t>
                      </a:r>
                      <a:pPr algn="l" indent="0" marL="0">
                        <a:buNone/>
                      </a:pPr>
                      <a:r>
                        <a:rPr lang="en-US" sz="1050" dirty="0">
                          <a:solidFill>
                            <a:srgbClr val="222222"/>
                          </a:solidFill>
                        </a:rPr>
                        <a:t>as </a:t>
                      </a:r>
                      <a:pPr algn="l" indent="0" marL="0">
                        <a:buNone/>
                      </a:pPr>
                      <a:r>
                        <a:rPr lang="en-US" sz="1050" dirty="0">
                          <a:solidFill>
                            <a:srgbClr val="222222"/>
                          </a:solidFill>
                        </a:rPr>
                        <a:t>far </a:t>
                      </a:r>
                      <a:pPr algn="l" indent="0" marL="0">
                        <a:buNone/>
                      </a:pPr>
                      <a:r>
                        <a:rPr lang="en-US" sz="1050" dirty="0">
                          <a:solidFill>
                            <a:srgbClr val="222222"/>
                          </a:solidFill>
                        </a:rPr>
                        <a:t>as </a:t>
                      </a:r>
                      <a:pPr algn="l" indent="0" marL="0">
                        <a:buNone/>
                      </a:pPr>
                      <a:r>
                        <a:rPr lang="en-US" sz="1050" dirty="0">
                          <a:solidFill>
                            <a:srgbClr val="222222"/>
                          </a:solidFill>
                        </a:rPr>
                        <a:t>Bogotá </a:t>
                      </a:r>
                      <a:pPr algn="l" indent="0" marL="0">
                        <a:buNone/>
                      </a:pPr>
                      <a:r>
                        <a:rPr lang="en-US" sz="1050" dirty="0">
                          <a:solidFill>
                            <a:srgbClr val="222222"/>
                          </a:solidFill>
                        </a:rPr>
                        <a:t>and </a:t>
                      </a:r>
                      <a:pPr algn="l" indent="0" marL="0">
                        <a:buNone/>
                      </a:pPr>
                      <a:r>
                        <a:rPr lang="en-US" sz="1050" dirty="0">
                          <a:solidFill>
                            <a:srgbClr val="222222"/>
                          </a:solidFill>
                        </a:rPr>
                        <a:t>strong </a:t>
                      </a:r>
                      <a:pPr algn="l" indent="0" marL="0">
                        <a:buNone/>
                      </a:pPr>
                      <a:r>
                        <a:rPr lang="en-US" sz="1050" dirty="0">
                          <a:solidFill>
                            <a:srgbClr val="222222"/>
                          </a:solidFill>
                        </a:rPr>
                        <a:t>enough </a:t>
                      </a:r>
                      <a:pPr algn="l" indent="0" marL="0">
                        <a:buNone/>
                      </a:pPr>
                      <a:r>
                        <a:rPr lang="en-US" sz="1050" dirty="0">
                          <a:solidFill>
                            <a:srgbClr val="222222"/>
                          </a:solidFill>
                        </a:rPr>
                        <a:t>to </a:t>
                      </a:r>
                      <a:pPr algn="l" indent="0" marL="0">
                        <a:buNone/>
                      </a:pPr>
                      <a:r>
                        <a:rPr lang="en-US" sz="1050" dirty="0">
                          <a:solidFill>
                            <a:srgbClr val="222222"/>
                          </a:solidFill>
                        </a:rPr>
                        <a:t>halt </a:t>
                      </a:r>
                      <a:pPr algn="l" indent="0" marL="0">
                        <a:buNone/>
                      </a:pPr>
                      <a:r>
                        <a:rPr lang="en-US" sz="1050" dirty="0">
                          <a:solidFill>
                            <a:srgbClr val="222222"/>
                          </a:solidFill>
                        </a:rPr>
                        <a:t>search-and-rescue </a:t>
                      </a:r>
                      <a:pPr algn="l" indent="0" marL="0">
                        <a:buNone/>
                      </a:pPr>
                      <a:r>
                        <a:rPr lang="en-US" sz="1050" dirty="0">
                          <a:solidFill>
                            <a:srgbClr val="222222"/>
                          </a:solidFill>
                        </a:rPr>
                        <a:t>work </a:t>
                      </a:r>
                      <a:pPr algn="l" indent="0" marL="0">
                        <a:buNone/>
                      </a:pPr>
                      <a:r>
                        <a:rPr lang="en-US" sz="1050" dirty="0">
                          <a:solidFill>
                            <a:srgbClr val="222222"/>
                          </a:solidFill>
                        </a:rPr>
                        <a:t>temporarily.</a:t>
                      </a:r>
                      <a:endParaRPr lang="en-US" sz="10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A6A6A"/>
                          </a:solidFill>
                        </a:rPr>
                        <a:t>Official</a:t>
                      </a:r>
                      <a:endParaRPr lang="en-US" sz="10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50" dirty="0">
                          <a:solidFill>
                            <a:srgbClr val="222222"/>
                          </a:solidFill>
                        </a:rPr>
                        <a:t>to </a:t>
                      </a:r>
                      <a:pPr algn="l" indent="0" marL="0">
                        <a:buNone/>
                      </a:pPr>
                      <a:r>
                        <a:rPr lang="en-US" sz="1150" dirty="0">
                          <a:solidFill>
                            <a:srgbClr val="222222"/>
                          </a:solidFill>
                        </a:rPr>
                        <a:t>14 </a:t>
                      </a:r>
                      <a:pPr algn="l" indent="0" marL="0">
                        <a:buNone/>
                      </a:pPr>
                      <a:r>
                        <a:rPr lang="en-US" sz="1150" dirty="0">
                          <a:solidFill>
                            <a:srgbClr val="222222"/>
                          </a:solidFill>
                        </a:rPr>
                        <a:t>Aug </a:t>
                      </a:r>
                      <a:pPr algn="l" indent="0" marL="0">
                        <a:buNone/>
                      </a:pPr>
                      <a:r>
                        <a:rPr lang="en-US" sz="1150" dirty="0">
                          <a:solidFill>
                            <a:srgbClr val="222222"/>
                          </a:solidFill>
                        </a:rPr>
                        <a:t>07:00 </a:t>
                      </a:r>
                      <a:pPr algn="l" indent="0" marL="0">
                        <a:buNone/>
                      </a:pPr>
                      <a:r>
                        <a:rPr lang="en-US" sz="1150" dirty="0">
                          <a:solidFill>
                            <a:srgbClr val="222222"/>
                          </a:solidFill>
                        </a:rPr>
                        <a:t>COT</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F3864"/>
                          </a:solidFill>
                        </a:rPr>
                        <a:t>184 </a:t>
                      </a:r>
                      <a:pPr algn="ctr" indent="0" marL="0">
                        <a:buNone/>
                      </a:pPr>
                      <a:r>
                        <a:rPr lang="en-US" sz="1150" b="1" dirty="0">
                          <a:solidFill>
                            <a:srgbClr val="1F3864"/>
                          </a:solidFill>
                        </a:rPr>
                        <a:t>located</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rPr>
                        <a:t>SGC </a:t>
                      </a:r>
                      <a:pPr algn="l" indent="0" marL="0">
                        <a:buNone/>
                      </a:pPr>
                      <a:r>
                        <a:rPr lang="en-US" sz="1050" dirty="0">
                          <a:solidFill>
                            <a:srgbClr val="222222"/>
                          </a:solidFill>
                        </a:rPr>
                        <a:t>running </a:t>
                      </a:r>
                      <a:pPr algn="l" indent="0" marL="0">
                        <a:buNone/>
                      </a:pPr>
                      <a:r>
                        <a:rPr lang="en-US" sz="1050" dirty="0">
                          <a:solidFill>
                            <a:srgbClr val="222222"/>
                          </a:solidFill>
                        </a:rPr>
                        <a:t>total </a:t>
                      </a:r>
                      <a:pPr algn="l" indent="0" marL="0">
                        <a:buNone/>
                      </a:pPr>
                      <a:r>
                        <a:rPr lang="en-US" sz="1050" dirty="0">
                          <a:solidFill>
                            <a:srgbClr val="222222"/>
                          </a:solidFill>
                        </a:rPr>
                        <a:t>four </a:t>
                      </a:r>
                      <a:pPr algn="l" indent="0" marL="0">
                        <a:buNone/>
                      </a:pPr>
                      <a:r>
                        <a:rPr lang="en-US" sz="1050" dirty="0">
                          <a:solidFill>
                            <a:srgbClr val="222222"/>
                          </a:solidFill>
                        </a:rPr>
                        <a:t>days </a:t>
                      </a:r>
                      <a:pPr algn="l" indent="0" marL="0">
                        <a:buNone/>
                      </a:pPr>
                      <a:r>
                        <a:rPr lang="en-US" sz="1050" dirty="0">
                          <a:solidFill>
                            <a:srgbClr val="222222"/>
                          </a:solidFill>
                        </a:rPr>
                        <a:t>on: </a:t>
                      </a:r>
                      <a:pPr algn="l" indent="0" marL="0">
                        <a:buNone/>
                      </a:pPr>
                      <a:r>
                        <a:rPr lang="en-US" sz="1050" dirty="0">
                          <a:solidFill>
                            <a:srgbClr val="222222"/>
                          </a:solidFill>
                        </a:rPr>
                        <a:t>184 </a:t>
                      </a:r>
                      <a:pPr algn="l" indent="0" marL="0">
                        <a:buNone/>
                      </a:pPr>
                      <a:r>
                        <a:rPr lang="en-US" sz="1050" dirty="0">
                          <a:solidFill>
                            <a:srgbClr val="222222"/>
                          </a:solidFill>
                        </a:rPr>
                        <a:t>aftershocks, </a:t>
                      </a:r>
                      <a:pPr algn="l" indent="0" marL="0">
                        <a:buNone/>
                      </a:pPr>
                      <a:r>
                        <a:rPr lang="en-US" sz="1050" dirty="0">
                          <a:solidFill>
                            <a:srgbClr val="222222"/>
                          </a:solidFill>
                        </a:rPr>
                        <a:t>15 </a:t>
                      </a:r>
                      <a:pPr algn="l" indent="0" marL="0">
                        <a:buNone/>
                      </a:pPr>
                      <a:r>
                        <a:rPr lang="en-US" sz="1050" dirty="0">
                          <a:solidFill>
                            <a:srgbClr val="222222"/>
                          </a:solidFill>
                        </a:rPr>
                        <a:t>above </a:t>
                      </a:r>
                      <a:pPr algn="l" indent="0" marL="0">
                        <a:buNone/>
                      </a:pPr>
                      <a:r>
                        <a:rPr lang="en-US" sz="1050" dirty="0">
                          <a:solidFill>
                            <a:srgbClr val="222222"/>
                          </a:solidFill>
                        </a:rPr>
                        <a:t>M3.0 </a:t>
                      </a:r>
                      <a:pPr algn="l" indent="0" marL="0">
                        <a:buNone/>
                      </a:pPr>
                      <a:r>
                        <a:rPr lang="en-US" sz="1050" dirty="0">
                          <a:solidFill>
                            <a:srgbClr val="222222"/>
                          </a:solidFill>
                        </a:rPr>
                        <a:t>and </a:t>
                      </a:r>
                      <a:pPr algn="l" indent="0" marL="0">
                        <a:buNone/>
                      </a:pPr>
                      <a:r>
                        <a:rPr lang="en-US" sz="1050" dirty="0">
                          <a:solidFill>
                            <a:srgbClr val="222222"/>
                          </a:solidFill>
                        </a:rPr>
                        <a:t>2 </a:t>
                      </a:r>
                      <a:pPr algn="l" indent="0" marL="0">
                        <a:buNone/>
                      </a:pPr>
                      <a:r>
                        <a:rPr lang="en-US" sz="1050" dirty="0">
                          <a:solidFill>
                            <a:srgbClr val="222222"/>
                          </a:solidFill>
                        </a:rPr>
                        <a:t>above </a:t>
                      </a:r>
                      <a:pPr algn="l" indent="0" marL="0">
                        <a:buNone/>
                      </a:pPr>
                      <a:r>
                        <a:rPr lang="en-US" sz="1050" dirty="0">
                          <a:solidFill>
                            <a:srgbClr val="222222"/>
                          </a:solidFill>
                        </a:rPr>
                        <a:t>M4.0. </a:t>
                      </a:r>
                      <a:pPr algn="l" indent="0" marL="0">
                        <a:buNone/>
                      </a:pPr>
                      <a:r>
                        <a:rPr lang="en-US" sz="1050" dirty="0">
                          <a:solidFill>
                            <a:srgbClr val="222222"/>
                          </a:solidFill>
                        </a:rPr>
                        <a:t>The </a:t>
                      </a:r>
                      <a:pPr algn="l" indent="0" marL="0">
                        <a:buNone/>
                      </a:pPr>
                      <a:r>
                        <a:rPr lang="en-US" sz="1050" dirty="0">
                          <a:solidFill>
                            <a:srgbClr val="222222"/>
                          </a:solidFill>
                        </a:rPr>
                        <a:t>published </a:t>
                      </a:r>
                      <a:pPr algn="l" indent="0" marL="0">
                        <a:buNone/>
                      </a:pPr>
                      <a:r>
                        <a:rPr lang="en-US" sz="1050" dirty="0">
                          <a:solidFill>
                            <a:srgbClr val="222222"/>
                          </a:solidFill>
                        </a:rPr>
                        <a:t>total </a:t>
                      </a:r>
                      <a:pPr algn="l" indent="0" marL="0">
                        <a:buNone/>
                      </a:pPr>
                      <a:r>
                        <a:rPr lang="en-US" sz="1050" dirty="0">
                          <a:solidFill>
                            <a:srgbClr val="222222"/>
                          </a:solidFill>
                        </a:rPr>
                        <a:t>was </a:t>
                      </a:r>
                      <a:pPr algn="l" indent="0" marL="0">
                        <a:buNone/>
                      </a:pPr>
                      <a:r>
                        <a:rPr lang="en-US" sz="1050" dirty="0">
                          <a:solidFill>
                            <a:srgbClr val="222222"/>
                          </a:solidFill>
                        </a:rPr>
                        <a:t>103 </a:t>
                      </a:r>
                      <a:pPr algn="l" indent="0" marL="0">
                        <a:buNone/>
                      </a:pPr>
                      <a:r>
                        <a:rPr lang="en-US" sz="1050" dirty="0">
                          <a:solidFill>
                            <a:srgbClr val="222222"/>
                          </a:solidFill>
                        </a:rPr>
                        <a:t>at </a:t>
                      </a:r>
                      <a:pPr algn="l" indent="0" marL="0">
                        <a:buNone/>
                      </a:pPr>
                      <a:r>
                        <a:rPr lang="en-US" sz="1050" dirty="0">
                          <a:solidFill>
                            <a:srgbClr val="222222"/>
                          </a:solidFill>
                        </a:rPr>
                        <a:t>15:00 </a:t>
                      </a:r>
                      <a:pPr algn="l" indent="0" marL="0">
                        <a:buNone/>
                      </a:pPr>
                      <a:r>
                        <a:rPr lang="en-US" sz="1050" dirty="0">
                          <a:solidFill>
                            <a:srgbClr val="222222"/>
                          </a:solidFill>
                        </a:rPr>
                        <a:t>on </a:t>
                      </a:r>
                      <a:pPr algn="l" indent="0" marL="0">
                        <a:buNone/>
                      </a:pPr>
                      <a:r>
                        <a:rPr lang="en-US" sz="1050" dirty="0">
                          <a:solidFill>
                            <a:srgbClr val="222222"/>
                          </a:solidFill>
                        </a:rPr>
                        <a:t>11 </a:t>
                      </a:r>
                      <a:pPr algn="l" indent="0" marL="0">
                        <a:buNone/>
                      </a:pPr>
                      <a:r>
                        <a:rPr lang="en-US" sz="1050" dirty="0">
                          <a:solidFill>
                            <a:srgbClr val="222222"/>
                          </a:solidFill>
                        </a:rPr>
                        <a:t>August; </a:t>
                      </a:r>
                      <a:pPr algn="l" indent="0" marL="0">
                        <a:buNone/>
                      </a:pPr>
                      <a:r>
                        <a:rPr lang="en-US" sz="1050" dirty="0">
                          <a:solidFill>
                            <a:srgbClr val="222222"/>
                          </a:solidFill>
                        </a:rPr>
                        <a:t>the </a:t>
                      </a:r>
                      <a:pPr algn="l" indent="0" marL="0">
                        <a:buNone/>
                      </a:pPr>
                      <a:r>
                        <a:rPr lang="en-US" sz="1050" dirty="0">
                          <a:solidFill>
                            <a:srgbClr val="222222"/>
                          </a:solidFill>
                        </a:rPr>
                        <a:t>catalogue </a:t>
                      </a:r>
                      <a:pPr algn="l" indent="0" marL="0">
                        <a:buNone/>
                      </a:pPr>
                      <a:r>
                        <a:rPr lang="en-US" sz="1050" dirty="0">
                          <a:solidFill>
                            <a:srgbClr val="222222"/>
                          </a:solidFill>
                        </a:rPr>
                        <a:t>extract </a:t>
                      </a:r>
                      <a:pPr algn="l" indent="0" marL="0">
                        <a:buNone/>
                      </a:pPr>
                      <a:r>
                        <a:rPr lang="en-US" sz="1050" dirty="0">
                          <a:solidFill>
                            <a:srgbClr val="222222"/>
                          </a:solidFill>
                        </a:rPr>
                        <a:t>used </a:t>
                      </a:r>
                      <a:pPr algn="l" indent="0" marL="0">
                        <a:buNone/>
                      </a:pPr>
                      <a:r>
                        <a:rPr lang="en-US" sz="1050" dirty="0">
                          <a:solidFill>
                            <a:srgbClr val="222222"/>
                          </a:solidFill>
                        </a:rPr>
                        <a:t>for </a:t>
                      </a:r>
                      <a:pPr algn="l" indent="0" marL="0">
                        <a:buNone/>
                      </a:pPr>
                      <a:r>
                        <a:rPr lang="en-US" sz="1050" dirty="0">
                          <a:solidFill>
                            <a:srgbClr val="222222"/>
                          </a:solidFill>
                        </a:rPr>
                        <a:t>the </a:t>
                      </a:r>
                      <a:pPr algn="l" indent="0" marL="0">
                        <a:buNone/>
                      </a:pPr>
                      <a:r>
                        <a:rPr lang="en-US" sz="1050" dirty="0">
                          <a:solidFill>
                            <a:srgbClr val="222222"/>
                          </a:solidFill>
                        </a:rPr>
                        <a:t>figure </a:t>
                      </a:r>
                      <a:pPr algn="l" indent="0" marL="0">
                        <a:buNone/>
                      </a:pPr>
                      <a:r>
                        <a:rPr lang="en-US" sz="1050" dirty="0">
                          <a:solidFill>
                            <a:srgbClr val="222222"/>
                          </a:solidFill>
                        </a:rPr>
                        <a:t>holds </a:t>
                      </a:r>
                      <a:pPr algn="l" indent="0" marL="0">
                        <a:buNone/>
                      </a:pPr>
                      <a:r>
                        <a:rPr lang="en-US" sz="1050" dirty="0">
                          <a:solidFill>
                            <a:srgbClr val="222222"/>
                          </a:solidFill>
                        </a:rPr>
                        <a:t>147 </a:t>
                      </a:r>
                      <a:pPr algn="l" indent="0" marL="0">
                        <a:buNone/>
                      </a:pPr>
                      <a:r>
                        <a:rPr lang="en-US" sz="1050" dirty="0">
                          <a:solidFill>
                            <a:srgbClr val="222222"/>
                          </a:solidFill>
                        </a:rPr>
                        <a:t>events </a:t>
                      </a:r>
                      <a:pPr algn="l" indent="0" marL="0">
                        <a:buNone/>
                      </a:pPr>
                      <a:r>
                        <a:rPr lang="en-US" sz="1050" dirty="0">
                          <a:solidFill>
                            <a:srgbClr val="222222"/>
                          </a:solidFill>
                        </a:rPr>
                        <a:t>to </a:t>
                      </a:r>
                      <a:pPr algn="l" indent="0" marL="0">
                        <a:buNone/>
                      </a:pPr>
                      <a:r>
                        <a:rPr lang="en-US" sz="1050" dirty="0">
                          <a:solidFill>
                            <a:srgbClr val="222222"/>
                          </a:solidFill>
                        </a:rPr>
                        <a:t>17:24 </a:t>
                      </a:r>
                      <a:pPr algn="l" indent="0" marL="0">
                        <a:buNone/>
                      </a:pPr>
                      <a:r>
                        <a:rPr lang="en-US" sz="1050" dirty="0">
                          <a:solidFill>
                            <a:srgbClr val="222222"/>
                          </a:solidFill>
                        </a:rPr>
                        <a:t>on </a:t>
                      </a:r>
                      <a:pPr algn="l" indent="0" marL="0">
                        <a:buNone/>
                      </a:pPr>
                      <a:r>
                        <a:rPr lang="en-US" sz="1050" dirty="0">
                          <a:solidFill>
                            <a:srgbClr val="222222"/>
                          </a:solidFill>
                        </a:rPr>
                        <a:t>11 </a:t>
                      </a:r>
                      <a:pPr algn="l" indent="0" marL="0">
                        <a:buNone/>
                      </a:pPr>
                      <a:r>
                        <a:rPr lang="en-US" sz="1050" dirty="0">
                          <a:solidFill>
                            <a:srgbClr val="222222"/>
                          </a:solidFill>
                        </a:rPr>
                        <a:t>August.</a:t>
                      </a:r>
                      <a:endParaRPr lang="en-US" sz="10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000" dirty="0">
                          <a:solidFill>
                            <a:srgbClr val="6A6A6A"/>
                          </a:solidFill>
                        </a:rPr>
                        <a:t>Official</a:t>
                      </a:r>
                      <a:endParaRPr lang="en-US" sz="10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5650992"/>
            <a:ext cx="11430000" cy="530352"/>
          </a:xfrm>
          <a:prstGeom prst="rect">
            <a:avLst/>
          </a:prstGeom>
          <a:noFill/>
          <a:ln/>
        </p:spPr>
        <p:txBody>
          <a:bodyPr wrap="square" lIns="38100" tIns="38100" rIns="38100" bIns="38100" rtlCol="0" anchor="t">
            <a:normAutofit/>
          </a:bodyPr>
          <a:lstStyle/>
          <a:p>
            <a:pPr algn="l" indent="0" marL="0">
              <a:buNone/>
            </a:pPr>
            <a:r>
              <a:rPr lang="en-US" sz="1000" dirty="0">
                <a:solidFill>
                  <a:srgbClr val="6A6A6A"/>
                </a:solidFill>
                <a:latin typeface="Meiryo" pitchFamily="34" charset="0"/>
                <a:ea typeface="Meiryo" pitchFamily="34" charset="-122"/>
                <a:cs typeface="Meiryo" pitchFamily="34" charset="-120"/>
              </a:rPr>
              <a:t>More than 30 agencies published a solution for the mainshock within minutes. Their magnitudes span Mw 7.0-7.7 and their depths 74-121 km; several automatic solutions defaulted to 10 km before revision. This report uses the USGS/NEIC solution (Mw 7.4, 110 km), which matches PAGER v5, and shows the SGC solution beside it. The spread is normal for a deep event recorded at teleseismic distances, and it is the reason early media figures for depth and magnitude disagreed.</a:t>
            </a:r>
            <a:endParaRPr lang="en-US" sz="100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20 / 63</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(1/10)</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UNGRD; source tier shown per row.</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Deaths</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335 (UNGRD (06:30 COT cut on 16 Sep 2026, per IOM Colombia Earthquake Response Situation Report #11, posted 25 Sep 2026)), unchanged from the 15 Sep report cycle (486,917 affected total unchanged - see People affected). The series has run 273, 281, 285, 287, 288, 294, 289, 287, 329, 331, 335. Update (1 Oct): IOM Situation Report #12 gives 335 deaths as of UNGRD's 28 Sep balance - unchanged.</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UNGRD, 7 Sep 07:43</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Injured</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4,516 (UNGRD (06:30 COT cut on 16 Sep 2026, per IOM Colombia Earthquake Response Situation Report #11, posted 25 Sep 2026)), up from 4,505 at the 7 Sep 06:30 cut.</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UNGRD, 7 Sep 07:43</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Missing (reported to the authorities)</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105 (UNGRD (06:30 COT cut on 16 Sep 2026, per IOM Colombia Earthquake Response Situation Report #11, posted 25 Sep 2026)), down from 111 at the 7 Sep 06:30 cut. UNGRD gives no explanation for the change; treated as reconciliation (identification/rescue) rather than a data error, consistent with the missing count being a non-cumulative, currently-outstanding figure.</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UNGRD, 7 Sep 07:43</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Rescued alive (national balance)</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364 (UNGRD (06:30 COT cut on 16 Sep 2026, per IOM Colombia Earthquake Response Situation Report #11, posted 25 Sep 2026)), unchanged from the 7 Sep 06:30 cut, plus 3,003 animals rescued and 3,277 affected (both unchanged from 6 Sep). This is the national balance figure carried alongside the casualty count; see the separate 16 Aug entry below for named rescue cases.</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UNGRD, 7 Sep 07:43</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21 / 63</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(2/10)</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UNGRD; source tier shown per row.</a:t>
            </a:r>
            <a:endParaRPr lang="en-US" sz="1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Unresolved reports on citizen platforms</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4,084 people registered on “Colombia te busca”, of whom 3,653 are still to be located and 429 have been found - concentrated in Valle del Cauca, Risaralda, Caldas and Chocó. Asocapitales has launched a second platform.</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“Colombia te busca” (citizen initiative); Asocapitales</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B8860B"/>
                          </a:solidFill>
                          <a:latin typeface="Meiryo" pitchFamily="34" charset="0"/>
                          <a:ea typeface="Meiryo" pitchFamily="34" charset="-122"/>
                          <a:cs typeface="Meiryo" pitchFamily="34" charset="-120"/>
                        </a:rPr>
                        <a:t>Media</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Rescued alive</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355 (UNGRD, 18:30 cut on 16 Aug), plus 496 animals rescued and 768 affected. They include a woman recovered in Cali almost 30 hours after the earthquake, a woman freed in Pereira after 36 hours, a baby pulled from an apartment block and the family of four found alive in Quibdó.</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UNGRD, 16 Aug 18:30</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Municipalities affected</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500 municipalities in 16 departments (UNGRD (06:30 COT cut on 16 Sep 2026, per IOM Colombia Earthquake Response Situation Report #11, posted 25 Sep 2026)), up from 498 at the 7 Sep 06:30 cut.</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UNGRD, 7 Sep 07:43</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22 / 63</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(3/10)</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UNGRD; source tier shown per row.</a:t>
            </a:r>
            <a:endParaRPr lang="en-US" sz="1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People affected</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303,934 families (486,917 people) registered as affected via UNGRD's Registro Unico de Damnificados (RUD) balance, 06:30 COT cut-off on 15 Sep 2026, up from 296,738 families (466,709 people) at the 7 Sep 06:30 cut. UNGRD describes the RUD as the tool through which municipalities, with support from SNGRD entities, register and upload information on affected people and reported damage; this report treats it as continuing the same affected-population series reported in earlier balances. OCHA's Flash Update 011 corroborates the people-affected figure as of 2 Sep 17:00 ("more than 466,600"). OCHA's earlier Flash Update 010 separately reported more than 406,000 people (193,011 families) as of 27 Aug 20:00, concentrated in Risaralda, Valle del Cauca, Choco, Quindio and Caldas; the two organisations' bases are not confirmed to be identical, so both are shown with their dates. Separately, WFP's Colombia Earthquake Emergency Situation Report (7 September) states "authorities reported 759,311 people affected, 331 fatalities, 4,519 injured people and 136 missing people" as of that date - a substantially larger affected-population figure than UNGRD's own balances, while the casualty figures WFP cites (4,519 injured, 136 missing) match UNGRD's earlier 1-2 Sep cuts rather than the later cuts. The report does not explain what the 759,311 figure counts or which UNGRD cut it draws on; it is shown here with its date rather than merged with UNGRD's own count. </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UNGRD (RUD), 15 Sep 06:30; OCHA Flash Update 011, 2 Sep 17:00; IFRC, 10 Sep 2026 (one-month statement); IFRC Operation Update #1 (MDRCO036), 22 Sep 2026</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23 / 63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(4/10)</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UNGRD; source tier shown per row.</a:t>
            </a:r>
            <a:endParaRPr lang="en-US" sz="1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People affected (cont.)</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Separately, IFRC (10 Sep, one-month statement) cites more than 661,000 people formally registered as disaster-affected as of 4 September - a third, substantially larger figure that does not match UNGRD's RUD series, OCHA's Flash Update figures, or WFP's 759,311; the four are shown separately with their own dates rather than merged, as none has been confirmed to share the same registration basis. Separately again, IFRC's Earthquake Operation Update #1 (MDRCO036, posted 22 Sep) states that, per "the UNGRD report of 10 September", 778,281 people (364,672 families) were affected nationally. These two figures are almost identical to the San Jose del Palmar municipality-only RUD figures UNGRD posted on 19 September - 778,279 people / 364,670 families for that one epicentral municipality (see the Homes damaged or destroyed entry below) - which suggests Operation Update #1 may have applied a single-municipality RUD figure to the national total rather than reporting an independent national count; it is shown here with its date rather than merged, pending clarification. A separate, larger tally was reported from the 19 September National Unified Command Post (PMU), where UNGRD consolidated territorial information from different sectors: 364,670 families and 778,279 people registered as of 19 Sep 2026. This PMU consolidation figure has not been reconciled with the RUD balance above and is not used to replace it; both are shown with their dates (UNGRD, PMU consolidation reported 19 Sep 2026, per IOM SitRep #11). </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24 / 63</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(5/10)</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UNGRD; source tier shown per row.</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People affected (cont.)</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The same PMU consolidation also reported a differently-classified housing tally: 84,855 habitable homes, 104,037 uninhabitable homes, 19,143 destroyed and 119,752 damaged (as of 19 Sep 2026). This uses different categories from the RUD "damaged/destroyed" balance in the Homes damaged or destroyed entry below and must not be combined with it.</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Homes damaged or destroyed</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243,409: 36,478 destroyed and 206,931 damaged (UNGRD (06:30 COT cut on 16 Sep 2026, per IOM Colombia Earthquake Response Situation Report #11, posted 25 Sep 2026)), unchanged from the 15 Sep 06:30 cut, against 238,328 (36,326 destroyed and 202,002 damaged) at the 7 Sep cut.</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UNGRD (RUD), 15 Sep 06:30; OCHA Flash Update 011, 2 Sep 17:00; CESVI, 11 Sep 2026; UNGRD (X/Twitter), San José del Palmar municipal RUD, 19 Sep 2026</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of which seriously damaged</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206,931 (UNGRD (06:30 COT cut on 16 Sep 2026, per IOM Colombia Earthquake Response Situation Report #11, posted 25 Sep 2026)), unchanged from the 15 Sep 06:30 cut.</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UNGRD (RUD), 15 Sep 06:30</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of which destroyed</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36,478 (UNGRD (06:30 COT cut on 16 Sep 2026, per IOM Colombia Earthquake Response Situation Report #11, posted 25 Sep 2026)), unchanged from the 15 Sep 06:30 cut.</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UNGRD (RUD), 15 Sep 06:30</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25 / 63</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(6/10)</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UNGRD; source tier shown per row.</a:t>
            </a:r>
            <a:endParaRPr lang="en-US" sz="1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Buildings collapsed</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743 nationally, plus 6,005 buildings damaged (UNGRD, 06:30 cut on 7 Sep), unchanged from the 6 Sep 06:30 cut (against 197 collapsed at the 18:30 cut on 16 Aug, 66 that morning and 121 on 14 Aug). Asocapitales separately counted 243 collapsed structures in the capital cities as of 16 Aug; Cali city officials reported 107 collapsed and 643 structurally damaged as of 16 Aug.</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UNGRD, 7 Sep 06:30; Asocapitales (16 Aug); Alcaldía de Cali (16 Aug)</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Health facilities</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402 damaged (UNGRD (06:30 COT cut on 16 Sep 2026, per IOM Colombia Earthquake Response Situation Report #11, posted 25 Sep 2026)), up from 400 at the 6 Sep 06:30 cut (406 at the 31 Aug 06:30 cut, 304 at the 18:30 cut on 16 Aug, 240 that morning).</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UNGRD, 6 Sep 06:30; Ministry of the Interior (14 Aug); Valle del Cauca government</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Educational facilities</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4,431 affected (UNGRD (06:30 COT cut on 16 Sep 2026, per IOM Colombia Earthquake Response Situation Report #11, posted 25 Sep 2026)), up from 4,313 at the 7 Sep 06:30 cut.</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UNGRD, 7 Sep 06:30</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Community facilities</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6,094 damaged (UNGRD (06:30 COT cut on 16 Sep 2026, per IOM Colombia Earthquake Response Situation Report #11, posted 25 Sep 2026)), up from 6,033 at the 7 Sep 06:30 cut.</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UNGRD, 7 Sep 06:30</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Roads</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521 roads damaged (UNGRD, 06:30 cut on 7 Sep), up from 491 at the 6 Sep 06:30 cut (468 at 3 Sep, 462 at 31 Aug, 410 at the 18:30 cut on 16 Aug, 210 that morning and 18 on 10 Aug); 102 road bridges and 13 footbridges also damaged (up from 91 road bridges on 6 Sep; against 48 road bridges and 13 footbridges on 16 Aug).</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UNGRD, 7 Sep 06:30</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26 / 63</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(7/10)</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UNGRD; source tier shown per row.</a:t>
            </a:r>
            <a:endParaRPr lang="en-US" sz="1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Airports</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5 airports with damage in the UNGRD balance of 13 Aug; operations had been suspended at seven. Matecaña International (Pereira) passenger terminal partially collapsed; flights suspended at Pereira, Manizales, Quibdó, Armenia, Cartago and Buenaventura</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UNGRD, 13 Aug; civil aviation authority</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Cultural heritage</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A tower of the neo-Gothic Cathedral of Manizales collapsed onto the nave</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Mayor of Manizales</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B8860B"/>
                          </a:solidFill>
                          <a:latin typeface="Meiryo" pitchFamily="34" charset="0"/>
                          <a:ea typeface="Meiryo" pitchFamily="34" charset="-122"/>
                          <a:cs typeface="Meiryo" pitchFamily="34" charset="-120"/>
                        </a:rPr>
                        <a:t>Media</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Lifelines</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141 aqueducts damaged (UNGRD, 06:30 cut on 7 Sep), unchanged from the 6 Sep 06:30 cut (140 at 3 Sep, 122 at 31 Aug, 95 at the 18:30 cut on 16 Aug, 73 that morning); 29 banking offices out of service as of 16 Aug. Power outages and communications disruption reported in areas near the epicentre as of 16 Aug. Separately, IFRC's Operation Update #1 (MDRCO036, 22 Sep) cites Colombia's Ministry of Housing, City and Territory as reporting 137 municipalities with disruptions to water supply, sewerage and solid waste management services, of which 93 had not yet restored these services as of that report - a municipality-count metric distinct from UNGRD's aqueduct-count series above and not reconciled with it.</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UNGRD, 7 Sep 06:30; IFRC Operation Update #1 (MDRCO036), 22 Sep 2026 (citing Ministry of Housing, City and Territory)</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Animals affected</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3,277 animals affected and 3,003 rescued nationally (UNGRD, 06:30 cut on 7 Sep), unchanged from the 6 Sep 06:30 cut, against 768 affected and 496 rescued at the 16 Aug 18:30 cut.</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UNGRD, 7 Sep 06:30</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27 / 63</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(8/10)</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UNGRD; source tier shown per row.</a:t>
            </a:r>
            <a:endParaRPr lang="en-US" sz="1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Displacement</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Thousands reported to have left their homes; shelter figures not yet published</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Media / humanitarian agencies</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B8860B"/>
                          </a:solidFill>
                          <a:latin typeface="Meiryo" pitchFamily="34" charset="0"/>
                          <a:ea typeface="Meiryo" pitchFamily="34" charset="-122"/>
                          <a:cs typeface="Meiryo" pitchFamily="34" charset="-120"/>
                        </a:rPr>
                        <a:t>Media</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Economic damage (estimated)</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IFRC's Operation Update #1 (MDRCO036, 22 Sep) cites a UNDP (2026) estimate that direct physical damage to structures amounts to COP 42.1 trillion (USD 13.2 billion), equivalent to approximately 2.3% of Colombia's GDP, concentrated in Risaralda, Valle del Cauca, Choco, Caldas and Quindio. This is the first economic-loss estimate recorded in this report; no earlier UNGRD, OCHA or government figure for total economic damage has been published to compare it against.</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IFRC Operation Update #1 (MDRCO036), 22 Sep 2026, citing UNDP (2026)</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28 / 63</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(9/10)</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UNGRD; source tier shown per row.</a:t>
            </a:r>
            <a:endParaRPr lang="en-US" sz="12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Humanitarian response and funding</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At least 29 humanitarian organizations have assisted nearly 123,000 people across 49 affected municipalities, up from 25 organizations / 72,000 people / 36 municipalities in Flash Update 010 (27 Aug). Donors have mobilized more than US$40 million. The Humanitarian Response Plan Addendum continues to seek additional funding to cover needs through the end of the year. OCHA also flags persistent urgent needs and 'double affectation' - communities facing both earthquake damage and risks tied to the armed conflict. OCHA's Flash Update 012 (10 Sep, one month after the earthquake) reports the Government, SNGRD and international partners have assisted more than 135,000 people through multi-sectoral interventions in 53 priority municipalities, up from 123,000 people / 49 municipalities in Flash Update 011. It flags growing challenges to recovery from concurrent crises (armed conflict, wildfires, drought and flooding) and calls for additional, timely funding through the end of 2026. Separately, the Colombian Red Cross/IFRC reports 1,844 volunteers and staff delivered more than 3,600 tonnes of assistance, 5,300+ health support interventions, 15,700+ litres of water and Restoring Family Links support to 4,400+ people over the first month, and IFRC has launched a CHF 25 million (US$30 million) emergency appeal to sustain this response. </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OCHA Flash Update 012, 10 Sep; IFRC, 10 Sep (one-month statement); OCHA Flash Update 013, 17 Sep 2026</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29 / 63</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(10/10)</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UNGRD; source tier shown per row.</a:t>
            </a:r>
            <a:endParaRPr lang="en-US" sz="12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Humanitarian response and funding (cont.)</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OCHA's Flash Update 013 (17 Sep, 14:00 COT cut) reports more than 137,000 people assisted, up from 135,000 in Flash Update 012 (10 Sep); it restates the same affected-population and housing totals as the 15 Sep UNGRD RUD balance (486,917 people / 303,934 families affected; 36,478 homes destroyed) without indicating any further RUD update, and separately flags concurrent hazards (flooding, wildfires, ongoing seismicity, a volcanic alert and armed-conflict dynamics) as compounding vulnerability in the worst-affected territories. Update (1 Oct): OCHA Flash Update 015 (30 Sep, final weekly edition) reports at least 35 humanitarian organisations have assisted 239,000 people across 90 municipalities. IOM Situation Report #12: the World Bank approved a further US$200 million, bringing its total mobilised to US$400 million; about 20,000 families remain displaced in Cali.</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Secondary hazard - Baudó River flooding (Medio Baudó, Chocó)</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Indigenous (Emberá) communities in Medio Baudó faced sudden flooding from the Baudó River about two days after the earthquake, compounding earthquake damage in an area with pre-existing barriers to healthcare and a presence of armed groups.</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MSF, 2 Sep 2026</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B8860B"/>
                          </a:solidFill>
                          <a:latin typeface="Meiryo" pitchFamily="34" charset="0"/>
                          <a:ea typeface="Meiryo" pitchFamily="34" charset="-122"/>
                          <a:cs typeface="Meiryo" pitchFamily="34" charset="-120"/>
                        </a:rPr>
                        <a:t>Media</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30 / 63</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USGS PAGER assessment (version 7)</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51560"/>
            <a:ext cx="11430000" cy="1600200"/>
          </a:xfrm>
          <a:prstGeom prst="rect">
            <a:avLst/>
          </a:prstGeom>
          <a:noFill/>
          <a:ln/>
        </p:spPr>
        <p:txBody>
          <a:bodyPr wrap="square" lIns="50800" tIns="50800" rIns="50800" bIns="50800" rtlCol="0" anchor="t">
            <a:normAutofit/>
          </a:bodyPr>
          <a:lstStyle/>
          <a:p>
            <a:pPr algn="l" indent="0" marL="0">
              <a:buNone/>
            </a:pPr>
            <a:r>
              <a:rPr lang="en-US" sz="1200" dirty="0">
                <a:solidFill>
                  <a:srgbClr val="222222"/>
                </a:solidFill>
                <a:latin typeface="Meiryo" pitchFamily="34" charset="0"/>
                <a:ea typeface="Meiryo" pitchFamily="34" charset="-122"/>
                <a:cs typeface="Meiryo" pitchFamily="34" charset="-120"/>
              </a:rPr>
              <a:t>PAGER is the USGS rapid impact estimate, issued within minutes and revised as the event is refined. Version 7 was created eleven days after the earthquake and carries a RED alert, raised from the orange alert of the early versions. The alert has two components and the headline level is the higher of them: the fatality alert is orange (significant casualties likely), while the economic alert is red — estimated losses of 0-6% of Colombia's GDP, a level that past events have required a national or international response to meet. The fatality estimate is a probability distribution, not a single number: 33% for 100-1,000 deaths and 32% for 1,000-10,000. The reported toll of 329 (UNGRD, 27 Aug) sits in the 100-1,000 band. Estimated population exposed to MMI VIII is 1.13 million and to MMI VII 5.39 million; the cities carrying MMI VIII exposure include Pereira (591k), Armenia (301k), Zarzal (313k) and Quibdo (131k).
</a:t>
            </a:r>
            <a:endParaRPr lang="en-US" sz="1200" dirty="0"/>
          </a:p>
        </p:txBody>
      </p:sp>
      <p:pic>
        <p:nvPicPr>
          <p:cNvPr id="5" name="Image 1" descr="/tmp/build_event-bT0zLO/generator/images/EQ-2026-000146-COL/usgs_pager.png">    </p:cNvPr>
          <p:cNvPicPr>
            <a:picLocks noChangeAspect="1"/>
          </p:cNvPicPr>
          <p:nvPr/>
        </p:nvPicPr>
        <p:blipFill>
          <a:blip r:embed="rId2"/>
          <a:stretch>
            <a:fillRect/>
          </a:stretch>
        </p:blipFill>
        <p:spPr>
          <a:xfrm>
            <a:off x="5042085" y="2743200"/>
            <a:ext cx="2077351" cy="2688336"/>
          </a:xfrm>
          <a:prstGeom prst="rect">
            <a:avLst/>
          </a:prstGeom>
        </p:spPr>
      </p:pic>
      <p:sp>
        <p:nvSpPr>
          <p:cNvPr id="6" name="Text 2"/>
          <p:cNvSpPr/>
          <p:nvPr/>
        </p:nvSpPr>
        <p:spPr>
          <a:xfrm>
            <a:off x="1737360" y="5449824"/>
            <a:ext cx="8686800" cy="585216"/>
          </a:xfrm>
          <a:prstGeom prst="rect">
            <a:avLst/>
          </a:prstGeom>
          <a:noFill/>
          <a:ln/>
        </p:spPr>
        <p:txBody>
          <a:bodyPr wrap="square" lIns="0" tIns="0" rIns="0" bIns="0" rtlCol="0" anchor="t">
            <a:normAutofit/>
          </a:bodyPr>
          <a:lstStyle/>
          <a:p>
            <a:pPr algn="ctr" indent="0" marL="0">
              <a:buNone/>
            </a:pPr>
            <a:r>
              <a:rPr lang="en-US" sz="900" dirty="0">
                <a:solidFill>
                  <a:srgbClr val="6A6A6A"/>
                </a:solidFill>
                <a:latin typeface="Meiryo" pitchFamily="34" charset="0"/>
                <a:ea typeface="Meiryo" pitchFamily="34" charset="-122"/>
                <a:cs typeface="Meiryo" pitchFamily="34" charset="-120"/>
              </a:rPr>
              <a:t>USGS PAGER one-pager (version 7) — alert levels, population exposure and selected city exposure</a:t>
            </a:r>
            <a:endParaRPr lang="en-US" sz="900" dirty="0"/>
          </a:p>
          <a:p>
            <a:pPr algn="ctr" indent="0" marL="0">
              <a:buNone/>
            </a:pPr>
            <a:r>
              <a:rPr lang="en-US" sz="7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https://earthquake.usgs.gov/earthquakes/eventpage/us6000tjl2/pager</a:t>
            </a:r>
            <a:endParaRPr lang="en-US" sz="900" dirty="0"/>
          </a:p>
        </p:txBody>
      </p:sp>
      <p:sp>
        <p:nvSpPr>
          <p:cNvPr id="7" name="Text 3"/>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dirty="0">
                <a:solidFill>
                  <a:srgbClr val="6A6A6A"/>
                </a:solidFill>
                <a:latin typeface="Meiryo" pitchFamily="34" charset="0"/>
                <a:ea typeface="Meiryo" pitchFamily="34" charset="-122"/>
                <a:cs typeface="Meiryo" pitchFamily="34" charset="-120"/>
              </a:rPr>
              <a:t>USGS PAGER — </a:t>
            </a:r>
            <a:pPr algn="l" indent="0" marL="0">
              <a:buNone/>
            </a:pPr>
            <a:r>
              <a:rPr lang="en-US" sz="100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https://earthquake.usgs.gov/earthquakes/eventpage/us6000tjl2/pager</a:t>
            </a:r>
            <a:endParaRPr lang="en-US" sz="1050" dirty="0"/>
          </a:p>
        </p:txBody>
      </p:sp>
      <p:sp>
        <p:nvSpPr>
          <p:cNvPr id="8" name="Shape 4"/>
          <p:cNvSpPr/>
          <p:nvPr/>
        </p:nvSpPr>
        <p:spPr>
          <a:xfrm>
            <a:off x="10268712" y="6510528"/>
            <a:ext cx="1554480" cy="274320"/>
          </a:xfrm>
          <a:prstGeom prst="rect">
            <a:avLst/>
          </a:prstGeom>
          <a:solidFill>
            <a:srgbClr val="E8A317"/>
          </a:solidFill>
          <a:ln w="12700">
            <a:solidFill>
              <a:srgbClr val="E8A317"/>
            </a:solidFill>
            <a:prstDash val="solid"/>
          </a:ln>
        </p:spPr>
      </p:sp>
      <p:sp>
        <p:nvSpPr>
          <p:cNvPr id="9" name="Text 5"/>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10" name="Text 6"/>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31 / 63</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Deaths by Area</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365760" y="1051560"/>
          <a:ext cx="11430000" cy="914400"/>
        </p:xfrm>
        <a:graphic>
          <a:graphicData uri="http://schemas.openxmlformats.org/drawingml/2006/table">
            <a:tbl>
              <a:tblPr/>
              <a:tblGrid>
                <a:gridCol w="3017520"/>
                <a:gridCol w="1097280"/>
                <a:gridCol w="7315200"/>
              </a:tblGrid>
              <a:tr h="0">
                <a:tc>
                  <a:txBody>
                    <a:bodyPr/>
                    <a:lstStyle/>
                    <a:p>
                      <a:pPr algn="l" indent="0" marL="0">
                        <a:buNone/>
                      </a:pPr>
                      <a:r>
                        <a:rPr lang="en-US" sz="1300" b="1" dirty="0">
                          <a:solidFill>
                            <a:srgbClr val="FFFFFF"/>
                          </a:solidFill>
                        </a:rPr>
                        <a:t>Area</a:t>
                      </a:r>
                      <a:endParaRPr lang="en-US" sz="1300" dirty="0"/>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Deaths</a:t>
                      </a:r>
                      <a:endParaRPr lang="en-US" sz="1300" dirty="0"/>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Note</a:t>
                      </a:r>
                      <a:endParaRPr lang="en-US" sz="1300" dirty="0"/>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0">
                <a:tc>
                  <a:txBody>
                    <a:bodyPr/>
                    <a:lstStyle/>
                    <a:p>
                      <a:pPr algn="l" indent="0" marL="0">
                        <a:buNone/>
                      </a:pPr>
                      <a:r>
                        <a:rPr lang="en-US" sz="1200" dirty="0">
                          <a:solidFill>
                            <a:srgbClr val="222222"/>
                          </a:solidFill>
                        </a:rPr>
                        <a:t>Valle </a:t>
                      </a:r>
                      <a:pPr algn="l" indent="0" marL="0">
                        <a:buNone/>
                      </a:pPr>
                      <a:r>
                        <a:rPr lang="en-US" sz="1200" dirty="0">
                          <a:solidFill>
                            <a:srgbClr val="222222"/>
                          </a:solidFill>
                        </a:rPr>
                        <a:t>del </a:t>
                      </a:r>
                      <a:pPr algn="l" indent="0" marL="0">
                        <a:buNone/>
                      </a:pPr>
                      <a:r>
                        <a:rPr lang="en-US" sz="1200" dirty="0">
                          <a:solidFill>
                            <a:srgbClr val="222222"/>
                          </a:solidFill>
                        </a:rPr>
                        <a:t>Cauca </a:t>
                      </a:r>
                      <a:pPr algn="l" indent="0" marL="0">
                        <a:buNone/>
                      </a:pPr>
                      <a:r>
                        <a:rPr lang="en-US" sz="1200" dirty="0">
                          <a:solidFill>
                            <a:srgbClr val="222222"/>
                          </a:solidFill>
                        </a:rPr>
                        <a:t>(Cali)</a:t>
                      </a:r>
                      <a:endParaRPr lang="en-US" sz="12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200" b="1" dirty="0">
                          <a:solidFill>
                            <a:srgbClr val="C00000"/>
                          </a:solidFill>
                        </a:rPr>
                        <a:t>97</a:t>
                      </a:r>
                      <a:endParaRPr lang="en-US" sz="12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6A6A6A"/>
                          </a:solidFill>
                        </a:rPr>
                        <a:t>President, </a:t>
                      </a:r>
                      <a:pPr algn="l" indent="0" marL="0">
                        <a:buNone/>
                      </a:pPr>
                      <a:r>
                        <a:rPr lang="en-US" sz="1050" dirty="0">
                          <a:solidFill>
                            <a:srgbClr val="6A6A6A"/>
                          </a:solidFill>
                        </a:rPr>
                        <a:t>11 </a:t>
                      </a:r>
                      <a:pPr algn="l" indent="0" marL="0">
                        <a:buNone/>
                      </a:pPr>
                      <a:r>
                        <a:rPr lang="en-US" sz="1050" dirty="0">
                          <a:solidFill>
                            <a:srgbClr val="6A6A6A"/>
                          </a:solidFill>
                        </a:rPr>
                        <a:t>Aug. </a:t>
                      </a:r>
                      <a:pPr algn="l" indent="0" marL="0">
                        <a:buNone/>
                      </a:pPr>
                      <a:r>
                        <a:rPr lang="en-US" sz="1050" dirty="0">
                          <a:solidFill>
                            <a:srgbClr val="6A6A6A"/>
                          </a:solidFill>
                        </a:rPr>
                        <a:t>The </a:t>
                      </a:r>
                      <a:pPr algn="l" indent="0" marL="0">
                        <a:buNone/>
                      </a:pPr>
                      <a:r>
                        <a:rPr lang="en-US" sz="1050" dirty="0">
                          <a:solidFill>
                            <a:srgbClr val="6A6A6A"/>
                          </a:solidFill>
                        </a:rPr>
                        <a:t>department </a:t>
                      </a:r>
                      <a:pPr algn="l" indent="0" marL="0">
                        <a:buNone/>
                      </a:pPr>
                      <a:r>
                        <a:rPr lang="en-US" sz="1050" dirty="0">
                          <a:solidFill>
                            <a:srgbClr val="6A6A6A"/>
                          </a:solidFill>
                        </a:rPr>
                        <a:t>government's </a:t>
                      </a:r>
                      <a:pPr algn="l" indent="0" marL="0">
                        <a:buNone/>
                      </a:pPr>
                      <a:r>
                        <a:rPr lang="en-US" sz="1050" dirty="0">
                          <a:solidFill>
                            <a:srgbClr val="6A6A6A"/>
                          </a:solidFill>
                        </a:rPr>
                        <a:t>count </a:t>
                      </a:r>
                      <a:pPr algn="l" indent="0" marL="0">
                        <a:buNone/>
                      </a:pPr>
                      <a:r>
                        <a:rPr lang="en-US" sz="1050" dirty="0">
                          <a:solidFill>
                            <a:srgbClr val="6A6A6A"/>
                          </a:solidFill>
                        </a:rPr>
                        <a:t>is </a:t>
                      </a:r>
                      <a:pPr algn="l" indent="0" marL="0">
                        <a:buNone/>
                      </a:pPr>
                      <a:r>
                        <a:rPr lang="en-US" sz="1050" dirty="0">
                          <a:solidFill>
                            <a:srgbClr val="6A6A6A"/>
                          </a:solidFill>
                        </a:rPr>
                        <a:t>higher: </a:t>
                      </a:r>
                      <a:pPr algn="l" indent="0" marL="0">
                        <a:buNone/>
                      </a:pPr>
                      <a:r>
                        <a:rPr lang="en-US" sz="1050" dirty="0">
                          <a:solidFill>
                            <a:srgbClr val="6A6A6A"/>
                          </a:solidFill>
                        </a:rPr>
                        <a:t>95 </a:t>
                      </a:r>
                      <a:pPr algn="l" indent="0" marL="0">
                        <a:buNone/>
                      </a:pPr>
                      <a:r>
                        <a:rPr lang="en-US" sz="1050" dirty="0">
                          <a:solidFill>
                            <a:srgbClr val="6A6A6A"/>
                          </a:solidFill>
                        </a:rPr>
                        <a:t>in </a:t>
                      </a:r>
                      <a:pPr algn="l" indent="0" marL="0">
                        <a:buNone/>
                      </a:pPr>
                      <a:r>
                        <a:rPr lang="en-US" sz="1050" dirty="0">
                          <a:solidFill>
                            <a:srgbClr val="6A6A6A"/>
                          </a:solidFill>
                        </a:rPr>
                        <a:t>Cali </a:t>
                      </a:r>
                      <a:pPr algn="l" indent="0" marL="0">
                        <a:buNone/>
                      </a:pPr>
                      <a:r>
                        <a:rPr lang="en-US" sz="1050" dirty="0">
                          <a:solidFill>
                            <a:srgbClr val="6A6A6A"/>
                          </a:solidFill>
                        </a:rPr>
                        <a:t>plus </a:t>
                      </a:r>
                      <a:pPr algn="l" indent="0" marL="0">
                        <a:buNone/>
                      </a:pPr>
                      <a:r>
                        <a:rPr lang="en-US" sz="1050" dirty="0">
                          <a:solidFill>
                            <a:srgbClr val="6A6A6A"/>
                          </a:solidFill>
                        </a:rPr>
                        <a:t>35 </a:t>
                      </a:r>
                      <a:pPr algn="l" indent="0" marL="0">
                        <a:buNone/>
                      </a:pPr>
                      <a:r>
                        <a:rPr lang="en-US" sz="1050" dirty="0">
                          <a:solidFill>
                            <a:srgbClr val="6A6A6A"/>
                          </a:solidFill>
                        </a:rPr>
                        <a:t>in </a:t>
                      </a:r>
                      <a:pPr algn="l" indent="0" marL="0">
                        <a:buNone/>
                      </a:pPr>
                      <a:r>
                        <a:rPr lang="en-US" sz="1050" dirty="0">
                          <a:solidFill>
                            <a:srgbClr val="6A6A6A"/>
                          </a:solidFill>
                        </a:rPr>
                        <a:t>other </a:t>
                      </a:r>
                      <a:pPr algn="l" indent="0" marL="0">
                        <a:buNone/>
                      </a:pPr>
                      <a:r>
                        <a:rPr lang="en-US" sz="1050" dirty="0">
                          <a:solidFill>
                            <a:srgbClr val="6A6A6A"/>
                          </a:solidFill>
                        </a:rPr>
                        <a:t>municipalities</a:t>
                      </a:r>
                      <a:endParaRPr lang="en-US" sz="10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200" dirty="0">
                          <a:solidFill>
                            <a:srgbClr val="222222"/>
                          </a:solidFill>
                        </a:rPr>
                        <a:t>Risaralda </a:t>
                      </a:r>
                      <a:pPr algn="l" indent="0" marL="0">
                        <a:buNone/>
                      </a:pPr>
                      <a:r>
                        <a:rPr lang="en-US" sz="1200" dirty="0">
                          <a:solidFill>
                            <a:srgbClr val="222222"/>
                          </a:solidFill>
                        </a:rPr>
                        <a:t>(Pereira)</a:t>
                      </a:r>
                      <a:endParaRPr lang="en-US" sz="12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C00000"/>
                          </a:solidFill>
                        </a:rPr>
                        <a:t>66</a:t>
                      </a:r>
                      <a:endParaRPr lang="en-US" sz="12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6A6A6A"/>
                          </a:solidFill>
                        </a:rPr>
                        <a:t>President, </a:t>
                      </a:r>
                      <a:pPr algn="l" indent="0" marL="0">
                        <a:buNone/>
                      </a:pPr>
                      <a:r>
                        <a:rPr lang="en-US" sz="1050" dirty="0">
                          <a:solidFill>
                            <a:srgbClr val="6A6A6A"/>
                          </a:solidFill>
                        </a:rPr>
                        <a:t>11 </a:t>
                      </a:r>
                      <a:pPr algn="l" indent="0" marL="0">
                        <a:buNone/>
                      </a:pPr>
                      <a:r>
                        <a:rPr lang="en-US" sz="1050" dirty="0">
                          <a:solidFill>
                            <a:srgbClr val="6A6A6A"/>
                          </a:solidFill>
                        </a:rPr>
                        <a:t>Aug. </a:t>
                      </a:r>
                      <a:pPr algn="l" indent="0" marL="0">
                        <a:buNone/>
                      </a:pPr>
                      <a:r>
                        <a:rPr lang="en-US" sz="1050" dirty="0">
                          <a:solidFill>
                            <a:srgbClr val="6A6A6A"/>
                          </a:solidFill>
                        </a:rPr>
                        <a:t>The </a:t>
                      </a:r>
                      <a:pPr algn="l" indent="0" marL="0">
                        <a:buNone/>
                      </a:pPr>
                      <a:r>
                        <a:rPr lang="en-US" sz="1050" dirty="0">
                          <a:solidFill>
                            <a:srgbClr val="6A6A6A"/>
                          </a:solidFill>
                        </a:rPr>
                        <a:t>department </a:t>
                      </a:r>
                      <a:pPr algn="l" indent="0" marL="0">
                        <a:buNone/>
                      </a:pPr>
                      <a:r>
                        <a:rPr lang="en-US" sz="1050" dirty="0">
                          <a:solidFill>
                            <a:srgbClr val="6A6A6A"/>
                          </a:solidFill>
                        </a:rPr>
                        <a:t>reports </a:t>
                      </a:r>
                      <a:pPr algn="l" indent="0" marL="0">
                        <a:buNone/>
                      </a:pPr>
                      <a:r>
                        <a:rPr lang="en-US" sz="1050" dirty="0">
                          <a:solidFill>
                            <a:srgbClr val="6A6A6A"/>
                          </a:solidFill>
                        </a:rPr>
                        <a:t>around </a:t>
                      </a:r>
                      <a:pPr algn="l" indent="0" marL="0">
                        <a:buNone/>
                      </a:pPr>
                      <a:r>
                        <a:rPr lang="en-US" sz="1050" dirty="0">
                          <a:solidFill>
                            <a:srgbClr val="6A6A6A"/>
                          </a:solidFill>
                        </a:rPr>
                        <a:t>90</a:t>
                      </a:r>
                      <a:endParaRPr lang="en-US" sz="10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222222"/>
                          </a:solidFill>
                        </a:rPr>
                        <a:t>Chocó </a:t>
                      </a:r>
                      <a:pPr algn="l" indent="0" marL="0">
                        <a:buNone/>
                      </a:pPr>
                      <a:r>
                        <a:rPr lang="en-US" sz="1200" dirty="0">
                          <a:solidFill>
                            <a:srgbClr val="222222"/>
                          </a:solidFill>
                        </a:rPr>
                        <a:t>(Quibdó)</a:t>
                      </a:r>
                      <a:endParaRPr lang="en-US" sz="12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200" b="1" dirty="0">
                          <a:solidFill>
                            <a:srgbClr val="C00000"/>
                          </a:solidFill>
                        </a:rPr>
                        <a:t>9</a:t>
                      </a:r>
                      <a:endParaRPr lang="en-US" sz="12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6A6A6A"/>
                          </a:solidFill>
                        </a:rPr>
                        <a:t>Chocó </a:t>
                      </a:r>
                      <a:pPr algn="l" indent="0" marL="0">
                        <a:buNone/>
                      </a:pPr>
                      <a:r>
                        <a:rPr lang="en-US" sz="1050" dirty="0">
                          <a:solidFill>
                            <a:srgbClr val="6A6A6A"/>
                          </a:solidFill>
                        </a:rPr>
                        <a:t>closed </a:t>
                      </a:r>
                      <a:pPr algn="l" indent="0" marL="0">
                        <a:buNone/>
                      </a:pPr>
                      <a:r>
                        <a:rPr lang="en-US" sz="1050" dirty="0">
                          <a:solidFill>
                            <a:srgbClr val="6A6A6A"/>
                          </a:solidFill>
                        </a:rPr>
                        <a:t>its </a:t>
                      </a:r>
                      <a:pPr algn="l" indent="0" marL="0">
                        <a:buNone/>
                      </a:pPr>
                      <a:r>
                        <a:rPr lang="en-US" sz="1050" dirty="0">
                          <a:solidFill>
                            <a:srgbClr val="6A6A6A"/>
                          </a:solidFill>
                        </a:rPr>
                        <a:t>search </a:t>
                      </a:r>
                      <a:pPr algn="l" indent="0" marL="0">
                        <a:buNone/>
                      </a:pPr>
                      <a:r>
                        <a:rPr lang="en-US" sz="1050" dirty="0">
                          <a:solidFill>
                            <a:srgbClr val="6A6A6A"/>
                          </a:solidFill>
                        </a:rPr>
                        <a:t>phase </a:t>
                      </a:r>
                      <a:pPr algn="l" indent="0" marL="0">
                        <a:buNone/>
                      </a:pPr>
                      <a:r>
                        <a:rPr lang="en-US" sz="1050" dirty="0">
                          <a:solidFill>
                            <a:srgbClr val="6A6A6A"/>
                          </a:solidFill>
                        </a:rPr>
                        <a:t>on </a:t>
                      </a:r>
                      <a:pPr algn="l" indent="0" marL="0">
                        <a:buNone/>
                      </a:pPr>
                      <a:r>
                        <a:rPr lang="en-US" sz="1050" dirty="0">
                          <a:solidFill>
                            <a:srgbClr val="6A6A6A"/>
                          </a:solidFill>
                        </a:rPr>
                        <a:t>12 </a:t>
                      </a:r>
                      <a:pPr algn="l" indent="0" marL="0">
                        <a:buNone/>
                      </a:pPr>
                      <a:r>
                        <a:rPr lang="en-US" sz="1050" dirty="0">
                          <a:solidFill>
                            <a:srgbClr val="6A6A6A"/>
                          </a:solidFill>
                        </a:rPr>
                        <a:t>Aug; </a:t>
                      </a:r>
                      <a:pPr algn="l" indent="0" marL="0">
                        <a:buNone/>
                      </a:pPr>
                      <a:r>
                        <a:rPr lang="en-US" sz="1050" dirty="0">
                          <a:solidFill>
                            <a:srgbClr val="6A6A6A"/>
                          </a:solidFill>
                        </a:rPr>
                        <a:t>the </a:t>
                      </a:r>
                      <a:pPr algn="l" indent="0" marL="0">
                        <a:buNone/>
                      </a:pPr>
                      <a:r>
                        <a:rPr lang="en-US" sz="1050" dirty="0">
                          <a:solidFill>
                            <a:srgbClr val="6A6A6A"/>
                          </a:solidFill>
                        </a:rPr>
                        <a:t>department </a:t>
                      </a:r>
                      <a:pPr algn="l" indent="0" marL="0">
                        <a:buNone/>
                      </a:pPr>
                      <a:r>
                        <a:rPr lang="en-US" sz="1050" dirty="0">
                          <a:solidFill>
                            <a:srgbClr val="6A6A6A"/>
                          </a:solidFill>
                        </a:rPr>
                        <a:t>reports </a:t>
                      </a:r>
                      <a:pPr algn="l" indent="0" marL="0">
                        <a:buNone/>
                      </a:pPr>
                      <a:r>
                        <a:rPr lang="en-US" sz="1050" dirty="0">
                          <a:solidFill>
                            <a:srgbClr val="6A6A6A"/>
                          </a:solidFill>
                        </a:rPr>
                        <a:t>14 </a:t>
                      </a:r>
                      <a:pPr algn="l" indent="0" marL="0">
                        <a:buNone/>
                      </a:pPr>
                      <a:r>
                        <a:rPr lang="en-US" sz="1050" dirty="0">
                          <a:solidFill>
                            <a:srgbClr val="6A6A6A"/>
                          </a:solidFill>
                        </a:rPr>
                        <a:t>dead </a:t>
                      </a:r>
                      <a:pPr algn="l" indent="0" marL="0">
                        <a:buNone/>
                      </a:pPr>
                      <a:r>
                        <a:rPr lang="en-US" sz="1050" dirty="0">
                          <a:solidFill>
                            <a:srgbClr val="6A6A6A"/>
                          </a:solidFill>
                        </a:rPr>
                        <a:t>and </a:t>
                      </a:r>
                      <a:pPr algn="l" indent="0" marL="0">
                        <a:buNone/>
                      </a:pPr>
                      <a:r>
                        <a:rPr lang="en-US" sz="1050" dirty="0">
                          <a:solidFill>
                            <a:srgbClr val="6A6A6A"/>
                          </a:solidFill>
                        </a:rPr>
                        <a:t>138 </a:t>
                      </a:r>
                      <a:pPr algn="l" indent="0" marL="0">
                        <a:buNone/>
                      </a:pPr>
                      <a:r>
                        <a:rPr lang="en-US" sz="1050" dirty="0">
                          <a:solidFill>
                            <a:srgbClr val="6A6A6A"/>
                          </a:solidFill>
                        </a:rPr>
                        <a:t>injured.</a:t>
                      </a:r>
                      <a:endParaRPr lang="en-US" sz="10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200" dirty="0">
                          <a:solidFill>
                            <a:srgbClr val="222222"/>
                          </a:solidFill>
                        </a:rPr>
                        <a:t>Caldas </a:t>
                      </a:r>
                      <a:pPr algn="l" indent="0" marL="0">
                        <a:buNone/>
                      </a:pPr>
                      <a:r>
                        <a:rPr lang="en-US" sz="1200" dirty="0">
                          <a:solidFill>
                            <a:srgbClr val="222222"/>
                          </a:solidFill>
                        </a:rPr>
                        <a:t>(Manizales)</a:t>
                      </a:r>
                      <a:endParaRPr lang="en-US" sz="12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C00000"/>
                          </a:solidFill>
                        </a:rPr>
                        <a:t>5</a:t>
                      </a:r>
                      <a:endParaRPr lang="en-US" sz="12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6A6A6A"/>
                          </a:solidFill>
                        </a:rPr>
                        <a:t>Reported </a:t>
                      </a:r>
                      <a:pPr algn="l" indent="0" marL="0">
                        <a:buNone/>
                      </a:pPr>
                      <a:r>
                        <a:rPr lang="en-US" sz="1050" dirty="0">
                          <a:solidFill>
                            <a:srgbClr val="6A6A6A"/>
                          </a:solidFill>
                        </a:rPr>
                        <a:t>as </a:t>
                      </a:r>
                      <a:pPr algn="l" indent="0" marL="0">
                        <a:buNone/>
                      </a:pPr>
                      <a:r>
                        <a:rPr lang="en-US" sz="1050" dirty="0">
                          <a:solidFill>
                            <a:srgbClr val="6A6A6A"/>
                          </a:solidFill>
                        </a:rPr>
                        <a:t>2, </a:t>
                      </a:r>
                      <a:pPr algn="l" indent="0" marL="0">
                        <a:buNone/>
                      </a:pPr>
                      <a:r>
                        <a:rPr lang="en-US" sz="1050" dirty="0">
                          <a:solidFill>
                            <a:srgbClr val="6A6A6A"/>
                          </a:solidFill>
                        </a:rPr>
                        <a:t>then </a:t>
                      </a:r>
                      <a:pPr algn="l" indent="0" marL="0">
                        <a:buNone/>
                      </a:pPr>
                      <a:r>
                        <a:rPr lang="en-US" sz="1050" dirty="0">
                          <a:solidFill>
                            <a:srgbClr val="6A6A6A"/>
                          </a:solidFill>
                        </a:rPr>
                        <a:t>4, </a:t>
                      </a:r>
                      <a:pPr algn="l" indent="0" marL="0">
                        <a:buNone/>
                      </a:pPr>
                      <a:r>
                        <a:rPr lang="en-US" sz="1050" dirty="0">
                          <a:solidFill>
                            <a:srgbClr val="6A6A6A"/>
                          </a:solidFill>
                        </a:rPr>
                        <a:t>then </a:t>
                      </a:r>
                      <a:pPr algn="l" indent="0" marL="0">
                        <a:buNone/>
                      </a:pPr>
                      <a:r>
                        <a:rPr lang="en-US" sz="1050" dirty="0">
                          <a:solidFill>
                            <a:srgbClr val="6A6A6A"/>
                          </a:solidFill>
                        </a:rPr>
                        <a:t>5</a:t>
                      </a:r>
                      <a:endParaRPr lang="en-US" sz="10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222222"/>
                          </a:solidFill>
                        </a:rPr>
                        <a:t>Antioquia</a:t>
                      </a:r>
                      <a:endParaRPr lang="en-US" sz="12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200" b="1" dirty="0">
                          <a:solidFill>
                            <a:srgbClr val="C00000"/>
                          </a:solidFill>
                        </a:rPr>
                        <a:t>1</a:t>
                      </a:r>
                      <a:endParaRPr lang="en-US" sz="12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6A6A6A"/>
                          </a:solidFill>
                        </a:rPr>
                        <a:t>73-year-old</a:t>
                      </a:r>
                      <a:endParaRPr lang="en-US" sz="10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Text 1"/>
          <p:cNvSpPr/>
          <p:nvPr/>
        </p:nvSpPr>
        <p:spPr>
          <a:xfrm>
            <a:off x="365760" y="5669280"/>
            <a:ext cx="11430000" cy="502920"/>
          </a:xfrm>
          <a:prstGeom prst="rect">
            <a:avLst/>
          </a:prstGeom>
          <a:noFill/>
          <a:ln/>
        </p:spPr>
        <p:txBody>
          <a:bodyPr wrap="square" lIns="38100" tIns="38100" rIns="38100" bIns="38100" rtlCol="0" anchor="t">
            <a:normAutofit/>
          </a:bodyPr>
          <a:lstStyle/>
          <a:p>
            <a:pPr algn="l" indent="0" marL="0">
              <a:buNone/>
            </a:pPr>
            <a:r>
              <a:rPr lang="en-US" sz="1000" dirty="0">
                <a:solidFill>
                  <a:srgbClr val="6A6A6A"/>
                </a:solidFill>
                <a:latin typeface="Meiryo" pitchFamily="34" charset="0"/>
                <a:ea typeface="Meiryo" pitchFamily="34" charset="-122"/>
                <a:cs typeface="Meiryo" pitchFamily="34" charset="-120"/>
              </a:rPr>
              <a:t>The national figure is 287 at the 18:30 cut on 16 August, after 289 at the 07:30 cut the same morning and 294 on 15 August. The series ran 273 (13 Aug), 281, 285, 287, 288, 294, 289 and now 287. UNGRD attributes the movement to verification and consolidation of figures reported from the territories, some sent before being checked. Medicina Legal had received 250 bodies with 227 recognised at the 13 August reading. Cite 287 with its cut-off as the official national figure. The chart is the President's 11 August breakdown (181) and shows the shape of the distribution - deaths concentrated in Risaralda (Pereira) and Valle del Cauca (Cali) - not a current tally. Cali is reported three ways as well: 97 in the President's breakdown, 85 by the mayor on 11 August and 69 in the city's own municipal report, which carries no cut-off time.</a:t>
            </a:r>
            <a:endParaRPr lang="en-US" sz="1000" dirty="0"/>
          </a:p>
        </p:txBody>
      </p:sp>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32 / 63</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Population Exposure by Shaking Intensity</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365760" y="1051560"/>
          <a:ext cx="11430000" cy="914400"/>
        </p:xfrm>
        <a:graphic>
          <a:graphicData uri="http://schemas.openxmlformats.org/drawingml/2006/table">
            <a:tbl>
              <a:tblPr/>
              <a:tblGrid>
                <a:gridCol w="914400"/>
                <a:gridCol w="1828800"/>
                <a:gridCol w="1645920"/>
                <a:gridCol w="7040880"/>
              </a:tblGrid>
              <a:tr h="0">
                <a:tc>
                  <a:txBody>
                    <a:bodyPr/>
                    <a:lstStyle/>
                    <a:p>
                      <a:pPr algn="l" indent="0" marL="0">
                        <a:buNone/>
                      </a:pPr>
                      <a:r>
                        <a:rPr lang="en-US" sz="1300" b="1" dirty="0">
                          <a:solidFill>
                            <a:srgbClr val="FFFFFF"/>
                          </a:solidFill>
                        </a:rPr>
                        <a:t>MMI</a:t>
                      </a:r>
                      <a:endParaRPr lang="en-US" sz="1300" dirty="0"/>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Level</a:t>
                      </a:r>
                      <a:endParaRPr lang="en-US" sz="1300" dirty="0"/>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Exposed</a:t>
                      </a:r>
                      <a:endParaRPr lang="en-US" sz="1300" dirty="0"/>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Note</a:t>
                      </a:r>
                      <a:endParaRPr lang="en-US" sz="1300" dirty="0"/>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0">
                <a:tc>
                  <a:txBody>
                    <a:bodyPr/>
                    <a:lstStyle/>
                    <a:p>
                      <a:pPr algn="ctr" indent="0" marL="0">
                        <a:buNone/>
                      </a:pPr>
                      <a:r>
                        <a:rPr lang="en-US" sz="1200" b="1" dirty="0">
                          <a:solidFill>
                            <a:srgbClr val="1F3864"/>
                          </a:solidFill>
                        </a:rPr>
                        <a:t>VIII+</a:t>
                      </a:r>
                      <a:endParaRPr lang="en-US" sz="12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rPr>
                        <a:t>Severe</a:t>
                      </a:r>
                      <a:endParaRPr lang="en-US" sz="12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200" dirty="0">
                          <a:solidFill>
                            <a:srgbClr val="222222"/>
                          </a:solidFill>
                        </a:rPr>
                        <a:t>0</a:t>
                      </a:r>
                      <a:endParaRPr lang="en-US" sz="12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6A6A6A"/>
                          </a:solidFill>
                        </a:rPr>
                        <a:t>No </a:t>
                      </a:r>
                      <a:pPr algn="l" indent="0" marL="0">
                        <a:buNone/>
                      </a:pPr>
                      <a:r>
                        <a:rPr lang="en-US" sz="1050" dirty="0">
                          <a:solidFill>
                            <a:srgbClr val="6A6A6A"/>
                          </a:solidFill>
                        </a:rPr>
                        <a:t>population </a:t>
                      </a:r>
                      <a:pPr algn="l" indent="0" marL="0">
                        <a:buNone/>
                      </a:pPr>
                      <a:r>
                        <a:rPr lang="en-US" sz="1050" dirty="0">
                          <a:solidFill>
                            <a:srgbClr val="6A6A6A"/>
                          </a:solidFill>
                        </a:rPr>
                        <a:t>estimated </a:t>
                      </a:r>
                      <a:pPr algn="l" indent="0" marL="0">
                        <a:buNone/>
                      </a:pPr>
                      <a:r>
                        <a:rPr lang="en-US" sz="1050" dirty="0">
                          <a:solidFill>
                            <a:srgbClr val="6A6A6A"/>
                          </a:solidFill>
                        </a:rPr>
                        <a:t>at </a:t>
                      </a:r>
                      <a:pPr algn="l" indent="0" marL="0">
                        <a:buNone/>
                      </a:pPr>
                      <a:r>
                        <a:rPr lang="en-US" sz="1050" dirty="0">
                          <a:solidFill>
                            <a:srgbClr val="6A6A6A"/>
                          </a:solidFill>
                        </a:rPr>
                        <a:t>MMI </a:t>
                      </a:r>
                      <a:pPr algn="l" indent="0" marL="0">
                        <a:buNone/>
                      </a:pPr>
                      <a:r>
                        <a:rPr lang="en-US" sz="1050" dirty="0">
                          <a:solidFill>
                            <a:srgbClr val="6A6A6A"/>
                          </a:solidFill>
                        </a:rPr>
                        <a:t>VIII </a:t>
                      </a:r>
                      <a:pPr algn="l" indent="0" marL="0">
                        <a:buNone/>
                      </a:pPr>
                      <a:r>
                        <a:rPr lang="en-US" sz="1050" dirty="0">
                          <a:solidFill>
                            <a:srgbClr val="6A6A6A"/>
                          </a:solidFill>
                        </a:rPr>
                        <a:t>or </a:t>
                      </a:r>
                      <a:pPr algn="l" indent="0" marL="0">
                        <a:buNone/>
                      </a:pPr>
                      <a:r>
                        <a:rPr lang="en-US" sz="1050" dirty="0">
                          <a:solidFill>
                            <a:srgbClr val="6A6A6A"/>
                          </a:solidFill>
                        </a:rPr>
                        <a:t>above</a:t>
                      </a:r>
                      <a:endParaRPr lang="en-US" sz="10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ctr" indent="0" marL="0">
                        <a:buNone/>
                      </a:pPr>
                      <a:r>
                        <a:rPr lang="en-US" sz="1200" b="1" dirty="0">
                          <a:solidFill>
                            <a:srgbClr val="1F3864"/>
                          </a:solidFill>
                        </a:rPr>
                        <a:t>VII</a:t>
                      </a:r>
                      <a:endParaRPr lang="en-US" sz="12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rPr>
                        <a:t>Very </a:t>
                      </a:r>
                      <a:pPr algn="l" indent="0" marL="0">
                        <a:buNone/>
                      </a:pPr>
                      <a:r>
                        <a:rPr lang="en-US" sz="1200" dirty="0">
                          <a:solidFill>
                            <a:srgbClr val="222222"/>
                          </a:solidFill>
                        </a:rPr>
                        <a:t>strong</a:t>
                      </a:r>
                      <a:endParaRPr lang="en-US" sz="12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rPr>
                        <a:t>1,564,000</a:t>
                      </a:r>
                      <a:endParaRPr lang="en-US" sz="12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6A6A6A"/>
                          </a:solidFill>
                        </a:rPr>
                        <a:t>Includes </a:t>
                      </a:r>
                      <a:pPr algn="l" indent="0" marL="0">
                        <a:buNone/>
                      </a:pPr>
                      <a:r>
                        <a:rPr lang="en-US" sz="1050" dirty="0">
                          <a:solidFill>
                            <a:srgbClr val="6A6A6A"/>
                          </a:solidFill>
                        </a:rPr>
                        <a:t>Pereira </a:t>
                      </a:r>
                      <a:pPr algn="l" indent="0" marL="0">
                        <a:buNone/>
                      </a:pPr>
                      <a:r>
                        <a:rPr lang="en-US" sz="1050" dirty="0">
                          <a:solidFill>
                            <a:srgbClr val="6A6A6A"/>
                          </a:solidFill>
                        </a:rPr>
                        <a:t>(591k), </a:t>
                      </a:r>
                      <a:pPr algn="l" indent="0" marL="0">
                        <a:buNone/>
                      </a:pPr>
                      <a:r>
                        <a:rPr lang="en-US" sz="1050" dirty="0">
                          <a:solidFill>
                            <a:srgbClr val="6A6A6A"/>
                          </a:solidFill>
                        </a:rPr>
                        <a:t>Armenia </a:t>
                      </a:r>
                      <a:pPr algn="l" indent="0" marL="0">
                        <a:buNone/>
                      </a:pPr>
                      <a:r>
                        <a:rPr lang="en-US" sz="1050" dirty="0">
                          <a:solidFill>
                            <a:srgbClr val="6A6A6A"/>
                          </a:solidFill>
                        </a:rPr>
                        <a:t>(301k) </a:t>
                      </a:r>
                      <a:pPr algn="l" indent="0" marL="0">
                        <a:buNone/>
                      </a:pPr>
                      <a:r>
                        <a:rPr lang="en-US" sz="1050" dirty="0">
                          <a:solidFill>
                            <a:srgbClr val="6A6A6A"/>
                          </a:solidFill>
                        </a:rPr>
                        <a:t>and </a:t>
                      </a:r>
                      <a:pPr algn="l" indent="0" marL="0">
                        <a:buNone/>
                      </a:pPr>
                      <a:r>
                        <a:rPr lang="en-US" sz="1050" dirty="0">
                          <a:solidFill>
                            <a:srgbClr val="6A6A6A"/>
                          </a:solidFill>
                        </a:rPr>
                        <a:t>Cartago </a:t>
                      </a:r>
                      <a:pPr algn="l" indent="0" marL="0">
                        <a:buNone/>
                      </a:pPr>
                      <a:r>
                        <a:rPr lang="en-US" sz="1050" dirty="0">
                          <a:solidFill>
                            <a:srgbClr val="6A6A6A"/>
                          </a:solidFill>
                        </a:rPr>
                        <a:t>(135k)</a:t>
                      </a:r>
                      <a:endParaRPr lang="en-US" sz="10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ctr" indent="0" marL="0">
                        <a:buNone/>
                      </a:pPr>
                      <a:r>
                        <a:rPr lang="en-US" sz="1200" b="1" dirty="0">
                          <a:solidFill>
                            <a:srgbClr val="1F3864"/>
                          </a:solidFill>
                        </a:rPr>
                        <a:t>VI</a:t>
                      </a:r>
                      <a:endParaRPr lang="en-US" sz="12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rPr>
                        <a:t>Strong</a:t>
                      </a:r>
                      <a:endParaRPr lang="en-US" sz="12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200" dirty="0">
                          <a:solidFill>
                            <a:srgbClr val="222222"/>
                          </a:solidFill>
                        </a:rPr>
                        <a:t>8,888,000</a:t>
                      </a:r>
                      <a:endParaRPr lang="en-US" sz="12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6A6A6A"/>
                          </a:solidFill>
                        </a:rPr>
                        <a:t>Includes </a:t>
                      </a:r>
                      <a:pPr algn="l" indent="0" marL="0">
                        <a:buNone/>
                      </a:pPr>
                      <a:r>
                        <a:rPr lang="en-US" sz="1050" dirty="0">
                          <a:solidFill>
                            <a:srgbClr val="6A6A6A"/>
                          </a:solidFill>
                        </a:rPr>
                        <a:t>Cali </a:t>
                      </a:r>
                      <a:pPr algn="l" indent="0" marL="0">
                        <a:buNone/>
                      </a:pPr>
                      <a:r>
                        <a:rPr lang="en-US" sz="1050" dirty="0">
                          <a:solidFill>
                            <a:srgbClr val="6A6A6A"/>
                          </a:solidFill>
                        </a:rPr>
                        <a:t>(2,471k), </a:t>
                      </a:r>
                      <a:pPr algn="l" indent="0" marL="0">
                        <a:buNone/>
                      </a:pPr>
                      <a:r>
                        <a:rPr lang="en-US" sz="1050" dirty="0">
                          <a:solidFill>
                            <a:srgbClr val="6A6A6A"/>
                          </a:solidFill>
                        </a:rPr>
                        <a:t>Buenaventura </a:t>
                      </a:r>
                      <a:pPr algn="l" indent="0" marL="0">
                        <a:buNone/>
                      </a:pPr>
                      <a:r>
                        <a:rPr lang="en-US" sz="1050" dirty="0">
                          <a:solidFill>
                            <a:srgbClr val="6A6A6A"/>
                          </a:solidFill>
                        </a:rPr>
                        <a:t>(424k) </a:t>
                      </a:r>
                      <a:pPr algn="l" indent="0" marL="0">
                        <a:buNone/>
                      </a:pPr>
                      <a:r>
                        <a:rPr lang="en-US" sz="1050" dirty="0">
                          <a:solidFill>
                            <a:srgbClr val="6A6A6A"/>
                          </a:solidFill>
                        </a:rPr>
                        <a:t>and </a:t>
                      </a:r>
                      <a:pPr algn="l" indent="0" marL="0">
                        <a:buNone/>
                      </a:pPr>
                      <a:r>
                        <a:rPr lang="en-US" sz="1050" dirty="0">
                          <a:solidFill>
                            <a:srgbClr val="6A6A6A"/>
                          </a:solidFill>
                        </a:rPr>
                        <a:t>Palmira </a:t>
                      </a:r>
                      <a:pPr algn="l" indent="0" marL="0">
                        <a:buNone/>
                      </a:pPr>
                      <a:r>
                        <a:rPr lang="en-US" sz="1050" dirty="0">
                          <a:solidFill>
                            <a:srgbClr val="6A6A6A"/>
                          </a:solidFill>
                        </a:rPr>
                        <a:t>(349k)</a:t>
                      </a:r>
                      <a:endParaRPr lang="en-US" sz="10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ctr" indent="0" marL="0">
                        <a:buNone/>
                      </a:pPr>
                      <a:r>
                        <a:rPr lang="en-US" sz="1200" b="1" dirty="0">
                          <a:solidFill>
                            <a:srgbClr val="1F3864"/>
                          </a:solidFill>
                        </a:rPr>
                        <a:t>V</a:t>
                      </a:r>
                      <a:endParaRPr lang="en-US" sz="12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rPr>
                        <a:t>Moderate</a:t>
                      </a:r>
                      <a:endParaRPr lang="en-US" sz="12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rPr>
                        <a:t>17,076,000</a:t>
                      </a:r>
                      <a:endParaRPr lang="en-US" sz="12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6A6A6A"/>
                          </a:solidFill>
                        </a:rPr>
                        <a:t>The </a:t>
                      </a:r>
                      <a:pPr algn="l" indent="0" marL="0">
                        <a:buNone/>
                      </a:pPr>
                      <a:r>
                        <a:rPr lang="en-US" sz="1050" dirty="0">
                          <a:solidFill>
                            <a:srgbClr val="6A6A6A"/>
                          </a:solidFill>
                        </a:rPr>
                        <a:t>largest </a:t>
                      </a:r>
                      <a:pPr algn="l" indent="0" marL="0">
                        <a:buNone/>
                      </a:pPr>
                      <a:r>
                        <a:rPr lang="en-US" sz="1050" dirty="0">
                          <a:solidFill>
                            <a:srgbClr val="6A6A6A"/>
                          </a:solidFill>
                        </a:rPr>
                        <a:t>exposed </a:t>
                      </a:r>
                      <a:pPr algn="l" indent="0" marL="0">
                        <a:buNone/>
                      </a:pPr>
                      <a:r>
                        <a:rPr lang="en-US" sz="1050" dirty="0">
                          <a:solidFill>
                            <a:srgbClr val="6A6A6A"/>
                          </a:solidFill>
                        </a:rPr>
                        <a:t>group</a:t>
                      </a:r>
                      <a:endParaRPr lang="en-US" sz="10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ctr" indent="0" marL="0">
                        <a:buNone/>
                      </a:pPr>
                      <a:r>
                        <a:rPr lang="en-US" sz="1200" b="1" dirty="0">
                          <a:solidFill>
                            <a:srgbClr val="1F3864"/>
                          </a:solidFill>
                        </a:rPr>
                        <a:t>IV</a:t>
                      </a:r>
                      <a:endParaRPr lang="en-US" sz="12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rPr>
                        <a:t>Light</a:t>
                      </a:r>
                      <a:endParaRPr lang="en-US" sz="12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200" dirty="0">
                          <a:solidFill>
                            <a:srgbClr val="222222"/>
                          </a:solidFill>
                        </a:rPr>
                        <a:t>6,465,000</a:t>
                      </a:r>
                      <a:endParaRPr lang="en-US" sz="12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6A6A6A"/>
                          </a:solidFill>
                        </a:rPr>
                        <a:t>Reaches </a:t>
                      </a:r>
                      <a:pPr algn="l" indent="0" marL="0">
                        <a:buNone/>
                      </a:pPr>
                      <a:r>
                        <a:rPr lang="en-US" sz="1050" dirty="0">
                          <a:solidFill>
                            <a:srgbClr val="6A6A6A"/>
                          </a:solidFill>
                        </a:rPr>
                        <a:t>Bogotá </a:t>
                      </a:r>
                      <a:pPr algn="l" indent="0" marL="0">
                        <a:buNone/>
                      </a:pPr>
                      <a:r>
                        <a:rPr lang="en-US" sz="1050" dirty="0">
                          <a:solidFill>
                            <a:srgbClr val="6A6A6A"/>
                          </a:solidFill>
                        </a:rPr>
                        <a:t>and </a:t>
                      </a:r>
                      <a:pPr algn="l" indent="0" marL="0">
                        <a:buNone/>
                      </a:pPr>
                      <a:r>
                        <a:rPr lang="en-US" sz="1050" dirty="0">
                          <a:solidFill>
                            <a:srgbClr val="6A6A6A"/>
                          </a:solidFill>
                        </a:rPr>
                        <a:t>Medellín</a:t>
                      </a:r>
                      <a:endParaRPr lang="en-US" sz="10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Text 1"/>
          <p:cNvSpPr/>
          <p:nvPr/>
        </p:nvSpPr>
        <p:spPr>
          <a:xfrm>
            <a:off x="365760" y="5669280"/>
            <a:ext cx="11430000" cy="502920"/>
          </a:xfrm>
          <a:prstGeom prst="rect">
            <a:avLst/>
          </a:prstGeom>
          <a:noFill/>
          <a:ln/>
        </p:spPr>
        <p:txBody>
          <a:bodyPr wrap="square" lIns="38100" tIns="38100" rIns="38100" bIns="38100" rtlCol="0" anchor="t">
            <a:normAutofit/>
          </a:bodyPr>
          <a:lstStyle/>
          <a:p>
            <a:pPr algn="l" indent="0" marL="0">
              <a:buNone/>
            </a:pPr>
            <a:r>
              <a:rPr lang="en-US" sz="1000" dirty="0">
                <a:solidFill>
                  <a:srgbClr val="6A6A6A"/>
                </a:solidFill>
                <a:latin typeface="Meiryo" pitchFamily="34" charset="0"/>
                <a:ea typeface="Meiryo" pitchFamily="34" charset="-122"/>
                <a:cs typeface="Meiryo" pitchFamily="34" charset="-120"/>
              </a:rPr>
              <a:t>USGS PAGER (version 5) exposure estimates. About 10.5 million people were exposed to Strong or Very Strong shaking (MMI VI-VII) and about 34 million to MMI IV or above across four countries. These are model estimates.</a:t>
            </a:r>
            <a:endParaRPr lang="en-US" sz="1000" dirty="0"/>
          </a:p>
        </p:txBody>
      </p:sp>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33 / 63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Response &amp; Support - Domestic (1/2)</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11430000" cy="5175504"/>
          </a:xfrm>
          <a:prstGeom prst="rect">
            <a:avLst/>
          </a:prstGeom>
          <a:noFill/>
          <a:ln/>
        </p:spPr>
        <p:txBody>
          <a:bodyPr wrap="square" lIns="50800" tIns="50800" rIns="50800" bIns="50800" rtlCol="0" anchor="t"/>
          <a:lstStyle/>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National disaster declaration activating the National Disaster Risk Management System (SNGRD) under Law 1523 of 2012.</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Three days of national mourning declared by Decree 1172 from 12 August, with the flag at half-mast on all public buildings and at Colombian embassies and consulates abroad.</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Unified Command Post (PMU) established in Chocó; UNGRD coordinating with departmental and municipal risk-management councils.</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Four USAR teams (Bogotá, Envigado, Yopal, Medellín) deployed for search and rescue in collapsed structures.</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Chocó ended its search-and-rescue phase on the night of 12 August, the governor stating that nobody remained reported under the rubble after the last family sought in Quibdó was found alive; the department moved to care for the affected and recovery. It reports 14 dead, 138 injured and 2,791 damaged properties.</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Armed forces deployed for search, rescue, route clearance and security in the affected departments.</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Rapid structural inspection of hospitals, schools and airports; seven health institutions closed and six airports suspended pending assessment.</a:t>
            </a:r>
            <a:endParaRPr lang="en-US" sz="1300" dirty="0"/>
          </a:p>
          <a:p>
            <a:pPr algn="l" marL="342900" indent="-342900">
              <a:buSzPct val="100000"/>
              <a:buChar char="•"/>
            </a:pPr>
            <a:r>
              <a:rPr lang="en-US" sz="1300" b="1" dirty="0">
                <a:solidFill>
                  <a:srgbClr val="B8860B"/>
                </a:solidFill>
                <a:latin typeface="Meiryo" pitchFamily="34" charset="0"/>
                <a:ea typeface="Meiryo" pitchFamily="34" charset="-122"/>
                <a:cs typeface="Meiryo" pitchFamily="34" charset="-120"/>
              </a:rPr>
              <a:t>[Media]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Patients transferred from the damaged University Hospital in Cali to other facilities; the city reported casualties concentrated at 12 critical collapse sites.</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The President toured the affected regions on 11-12 August - Quibdó, then Cali, then Pereira, Dosquebradas, Manizales and Armenia - and said he would direct the response from the field rather than Bogotá.</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Relief measures announced during the tour: three months of relief on public-utility bills for households registered as affected, a rent subsidy for those who lost their homes, a census and characterisation of damaged housing ahead of repairs, and a shock plan for education and housing. On the evening of 12 August the President announced the declaration of an economic emergency, a constitutional mechanism intended to speed up the response.</a:t>
            </a:r>
            <a:endParaRPr lang="en-US" sz="1300" dirty="0"/>
          </a:p>
        </p:txBody>
      </p:sp>
      <p:sp>
        <p:nvSpPr>
          <p:cNvPr id="5"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7"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34 / 63</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Response &amp; Support - Domestic (2/2)</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11430000" cy="5175504"/>
          </a:xfrm>
          <a:prstGeom prst="rect">
            <a:avLst/>
          </a:prstGeom>
          <a:noFill/>
          <a:ln/>
        </p:spPr>
        <p:txBody>
          <a:bodyPr wrap="square" lIns="50800" tIns="50800" rIns="50800" bIns="50800" rtlCol="0" anchor="t"/>
          <a:lstStyle/>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UNGRD activated a temporary economic subsidy, announced 2 September, for families registered in the Single Registry of Victims (RUD) whose homes were destroyed or declared uninhabitable by the 10 August earthquake: a monthly payment of between COP 787,907 and COP 1,050,543 (depending on the municipality's category) for three months. UNGRD stresses that only municipal and departmental authorities may register households in the RUD; affected people cannot register directly, and any correction must go through the relevant territorial entity.</a:t>
            </a:r>
            <a:endParaRPr lang="en-US" sz="1300" dirty="0"/>
          </a:p>
        </p:txBody>
      </p:sp>
      <p:sp>
        <p:nvSpPr>
          <p:cNvPr id="5"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7"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35 / 63</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Response &amp; Support - International (1/3)</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11430000" cy="5175504"/>
          </a:xfrm>
          <a:prstGeom prst="rect">
            <a:avLst/>
          </a:prstGeom>
          <a:noFill/>
          <a:ln/>
        </p:spPr>
        <p:txBody>
          <a:bodyPr wrap="square" lIns="50800" tIns="50800" rIns="50800" bIns="50800" rtlCol="0" anchor="t"/>
          <a:lstStyle/>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Colombia is taking INSARAG-classified USAR teams from four countries only - the United States, Israel, Ecuador and El Salvador - on the stated grounds that they are internationally certified, work to INSARAG standards under UN coordination, and are fully self-sufficient, so they place no additional burden on municipal administrations. Their role is to support the Colombian USAR teams already deployed. The Government denied reports that other offers were declined for ideological reasons; the selection has nonetheless been questioned in the Colombian press.</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Assistance broadened on 14 August beyond the four countries sending rescuers. India dispatched 20 tonnes of humanitarian supplies (medicines and medical equipment, temporary shelter and hygiene items). Norway allocated NOK 10 million (about USD 1 million) for emergency health care, water supply, disease prevention and temporary housing, and Sweden SEK 5 million (about USD 522,000) channelled through UNHCR. Spain, Italy, Chile, Mexico, Turkey, Brazil and the World Bank have also sent or announced support; the Colombian government says it has received offers worth about USD 1.3 billion in total, and lists Japan among the countries that have announced assistance.</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On 12 August Colombia accepted international search-and-rescue assistance, from countries whose teams meet the INSARAG classification: Israel, Ecuador, El Salvador and the United States. At Colombia's request the US State Department mobilised the Fairfax County (Virginia) and Los Angeles County (California) USAR task forces. El Salvador sent 100 tonnes of relief supplies and a Mexican aid flight has arrived.</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United States: USD 15.5 million in emergency assistance announced on 10 August, for emergency shelter, food, protection and damage assessment.</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European Union: the EU Civil Protection Mechanism was activated and an initial EUR 100,000 in humanitarian funding released, channelled through the German Red Cross, whose teams were already in the country. Copernicus was placed at the disposal of the Colombian authorities and the EU consular crisis mechanism was activated for EU citizens in the affected area. The Commission President and the High Representative stated the EU is ready to provide more if needed.</a:t>
            </a:r>
            <a:endParaRPr lang="en-US" sz="1300" dirty="0"/>
          </a:p>
        </p:txBody>
      </p:sp>
      <p:sp>
        <p:nvSpPr>
          <p:cNvPr id="5"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dirty="0">
                <a:solidFill>
                  <a:srgbClr val="6A6A6A"/>
                </a:solidFill>
                <a:latin typeface="Meiryo" pitchFamily="34" charset="0"/>
                <a:ea typeface="Meiryo" pitchFamily="34" charset="-122"/>
                <a:cs typeface="Meiryo" pitchFamily="34" charset="-120"/>
              </a:rPr>
              <a:t>ADRC — </a:t>
            </a:r>
            <a:pPr algn="l" indent="0" marL="0">
              <a:buNone/>
            </a:pPr>
            <a:r>
              <a:rPr lang="en-US" sz="100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https://www.adrc.asia/</a:t>
            </a:r>
            <a:endParaRPr lang="en-US" sz="1050" dirty="0"/>
          </a:p>
        </p:txBody>
      </p:sp>
      <p:sp>
        <p:nvSpPr>
          <p:cNvPr id="6"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8"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36 / 63</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Response &amp; Support - International (2/3)</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11430000" cy="5175504"/>
          </a:xfrm>
          <a:prstGeom prst="rect">
            <a:avLst/>
          </a:prstGeom>
          <a:noFill/>
          <a:ln/>
        </p:spPr>
        <p:txBody>
          <a:bodyPr wrap="square" lIns="50800" tIns="50800" rIns="50800" bIns="50800" rtlCol="0" anchor="t"/>
          <a:lstStyle/>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Japan: on 11 August at 21:31 JST (07:31 COT) the Prime Minister, Takaichi Sanae, posted condolences - “Japan stands with Colombia in this difficult time”. Foreign Minister Motegi issued a message: “In the wake of the earthquake that struck the Republic of Colombia on August 10, I express my deepest condolences to those who lost their lives and extend my heartfelt sympathies to all those affected. The Government of Japan also stands ready to provide the necessary assistance. Japan stands in strong solidarity with the people of Colombia.” No dispatch of the Japan Disaster Relief team and no emergency grant aid had been announced at the time of writing.</a:t>
            </a:r>
            <a:endParaRPr lang="en-US" sz="1300" dirty="0"/>
          </a:p>
          <a:p>
            <a:pPr algn="l" marL="342900" indent="-342900">
              <a:buSzPct val="100000"/>
              <a:buChar char="•"/>
            </a:pPr>
            <a:r>
              <a:rPr lang="en-US" sz="1300" b="1" dirty="0">
                <a:solidFill>
                  <a:srgbClr val="B8860B"/>
                </a:solidFill>
                <a:latin typeface="Meiryo" pitchFamily="34" charset="0"/>
                <a:ea typeface="Meiryo" pitchFamily="34" charset="-122"/>
                <a:cs typeface="Meiryo" pitchFamily="34" charset="-120"/>
              </a:rPr>
              <a:t>[Media]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Japan: the Colombian government lists Japan among the countries that have announced assistance, but as of this cut-off neither MOFA nor JICA has published a Japan Disaster Relief dispatch, an emergency relief goods provision or emergency grant aid. On the Japanese side what is confirmed is non-governmental: the Japanese Red Cross Society is supporting the Colombian Red Cross response, and the Nippon Foundation opened a Colombia earthquake appeal running from 12 August to 30 September; the NGO AMDA also dispatched a nurse (30 Aug) and, with AMDA Colombia and Fundación Salamandra, supported relief in Cali and Chocó until concluding its emergency-phase response on 4 September.</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Ecuador mobilised a specialised USAR team of 47 personnel with canine units and self-sufficient equipment.</a:t>
            </a:r>
            <a:endParaRPr lang="en-US" sz="1300" dirty="0"/>
          </a:p>
          <a:p>
            <a:pPr algn="l" marL="342900" indent="-342900">
              <a:buSzPct val="100000"/>
              <a:buChar char="•"/>
            </a:pPr>
            <a:r>
              <a:rPr lang="en-US" sz="1300" b="1" dirty="0">
                <a:solidFill>
                  <a:srgbClr val="B8860B"/>
                </a:solidFill>
                <a:latin typeface="Meiryo" pitchFamily="34" charset="0"/>
                <a:ea typeface="Meiryo" pitchFamily="34" charset="-122"/>
                <a:cs typeface="Meiryo" pitchFamily="34" charset="-120"/>
              </a:rPr>
              <a:t>[Media]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Offers of assistance were also reported from Chile, Peru, Panama, Argentina, Brazil, Venezuela, Bolivia, Guatemala, Cuba, El Salvador, Spain, Italy, France, Germany, Switzerland, Israel and Ukraine - USAR teams, medical and paramedic personnel, relief items and satellite observation. The CAF development bank announced a USD 500,000 donation.</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Copernicus EMS Rapid Mapping activated as EMSR916 'Earthquake in Colombia' at 17:13 UTC on 10 August (12:13 COT), requested by EC Services / DG ECHO, to provide earthquake damage assessment emergency mapping. Status ongoing, with 3 areas of interest and 3 products at the time of writing. The activation reason names Quibdó, Pereira, Manizales and Cali as cities with significant damage and collapsed buildings.</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United Nations: OCHA stated the humanitarian system is ready to support Colombia, and its preliminary needs analysis names drinking water, hygiene kits and household items, health care, food assistance and shelter. As of 11 August no formal request had been made; on 12 August the Government accepted international search-and-rescue assistance.</a:t>
            </a:r>
            <a:endParaRPr lang="en-US" sz="1300" dirty="0"/>
          </a:p>
        </p:txBody>
      </p:sp>
      <p:sp>
        <p:nvSpPr>
          <p:cNvPr id="5"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dirty="0">
                <a:solidFill>
                  <a:srgbClr val="6A6A6A"/>
                </a:solidFill>
                <a:latin typeface="Meiryo" pitchFamily="34" charset="0"/>
                <a:ea typeface="Meiryo" pitchFamily="34" charset="-122"/>
                <a:cs typeface="Meiryo" pitchFamily="34" charset="-120"/>
              </a:rPr>
              <a:t>ADRC — </a:t>
            </a:r>
            <a:pPr algn="l" indent="0" marL="0">
              <a:buNone/>
            </a:pPr>
            <a:r>
              <a:rPr lang="en-US" sz="100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https://www.adrc.asia/</a:t>
            </a:r>
            <a:endParaRPr lang="en-US" sz="1050" dirty="0"/>
          </a:p>
        </p:txBody>
      </p:sp>
      <p:sp>
        <p:nvSpPr>
          <p:cNvPr id="6"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8"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37 / 63</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Response &amp; Support - International (3/3)</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11430000" cy="5175504"/>
          </a:xfrm>
          <a:prstGeom prst="rect">
            <a:avLst/>
          </a:prstGeom>
          <a:noFill/>
          <a:ln/>
        </p:spPr>
        <p:txBody>
          <a:bodyPr wrap="square" lIns="50800" tIns="50800" rIns="50800" bIns="50800" rtlCol="0" anchor="t"/>
          <a:lstStyle/>
          <a:p>
            <a:pPr algn="l" marL="342900" indent="-342900">
              <a:buSzPct val="100000"/>
              <a:buChar char="•"/>
            </a:pPr>
            <a:r>
              <a:rPr lang="en-US" sz="1300" b="1" dirty="0">
                <a:solidFill>
                  <a:srgbClr val="888888"/>
                </a:solidFill>
                <a:latin typeface="Meiryo" pitchFamily="34" charset="0"/>
                <a:ea typeface="Meiryo" pitchFamily="34" charset="-122"/>
                <a:cs typeface="Meiryo" pitchFamily="34" charset="-120"/>
              </a:rPr>
              <a:t>[TBC]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The International Charter 'Space and Major Disasters' is also reported to have been activated for this earthquake; the activation number had not been confirmed at the time of writing.</a:t>
            </a:r>
            <a:endParaRPr lang="en-US" sz="1300" dirty="0"/>
          </a:p>
          <a:p>
            <a:pPr algn="l" marL="342900" indent="-342900">
              <a:buSzPct val="100000"/>
              <a:buChar char="•"/>
            </a:pPr>
            <a:r>
              <a:rPr lang="en-US" sz="1300" b="1" dirty="0">
                <a:solidFill>
                  <a:srgbClr val="B8860B"/>
                </a:solidFill>
                <a:latin typeface="Meiryo" pitchFamily="34" charset="0"/>
                <a:ea typeface="Meiryo" pitchFamily="34" charset="-122"/>
                <a:cs typeface="Meiryo" pitchFamily="34" charset="-120"/>
              </a:rPr>
              <a:t>[Media]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International NGOs mobilising: Direct Relief and Americares (medical supplies), Save the Children (child protection and education), International Rescue Committee (assessment near the epicentre in Chocó), Convoy of Hope (relief goods).</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UNGRD director David Santiago Tamayo Roldan and deputy director for disaster management Hernan Dario Diaz Diaz met with Nils Grede, WFP Colombia's representative and country director, to coordinate food-assistance actions for families affected by the 10 August earthquake.</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One month on, the ICRC reports its response (with the Colombian Red Cross) in rural Chocó and Valle del Cauca, focused on communities also affected by armed conflict: more than 2,000 families supported for safe water storage/access and construction materials; materials to repair educational facilities in 10 communities serving 755 students; 15 health clinics in Chocó received rapid-response kits; 7,495 people (1,759 families) received food assistance; 7,037 hygiene items and 1,127 shelter kits distributed; cash assistance reached 400 people for food, 40 for livelihoods and 168 for temporary housing costs. The response is expected to continue 6-9 months.</a:t>
            </a:r>
            <a:endParaRPr lang="en-US" sz="1300" dirty="0"/>
          </a:p>
        </p:txBody>
      </p:sp>
      <p:sp>
        <p:nvSpPr>
          <p:cNvPr id="5"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dirty="0">
                <a:solidFill>
                  <a:srgbClr val="6A6A6A"/>
                </a:solidFill>
                <a:latin typeface="Meiryo" pitchFamily="34" charset="0"/>
                <a:ea typeface="Meiryo" pitchFamily="34" charset="-122"/>
                <a:cs typeface="Meiryo" pitchFamily="34" charset="-120"/>
              </a:rPr>
              <a:t>ADRC — </a:t>
            </a:r>
            <a:pPr algn="l" indent="0" marL="0">
              <a:buNone/>
            </a:pPr>
            <a:r>
              <a:rPr lang="en-US" sz="100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https://www.adrc.asia/</a:t>
            </a:r>
            <a:endParaRPr lang="en-US" sz="1050" dirty="0"/>
          </a:p>
        </p:txBody>
      </p:sp>
      <p:sp>
        <p:nvSpPr>
          <p:cNvPr id="6"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8"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38 / 63</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Observation Bodies &amp; Products</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All bodies contributing observations or value-added products; source tier shown per row</a:t>
            </a:r>
            <a:endParaRPr lang="en-US" sz="12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03120"/>
                <a:gridCol w="6583680"/>
                <a:gridCol w="1463040"/>
                <a:gridCol w="1280160"/>
              </a:tblGrid>
              <a:tr h="36576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Body</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Contribution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Status</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International Charter</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Activation for the Colombia earthquake reported; wide-area optical/SAR imagery for damage assessment</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Reported / number pending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050" b="1" dirty="0">
                          <a:solidFill>
                            <a:srgbClr val="888888"/>
                          </a:solidFill>
                          <a:latin typeface="Meiryo" pitchFamily="34" charset="0"/>
                          <a:ea typeface="Meiryo" pitchFamily="34" charset="-122"/>
                          <a:cs typeface="Meiryo" pitchFamily="34" charset="-120"/>
                        </a:rPr>
                        <a:t>TBC</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Copernicus EMS</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EMSR916 'Earthquake in Colombia' — Rapid Mapping for damage assessment; requested by EC Services / DG ECHO; 3 AOIs, 3 products</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Ongoing (EMSR916)</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7A34"/>
                          </a:solidFill>
                          <a:latin typeface="Meiryo" pitchFamily="34" charset="0"/>
                          <a:ea typeface="Meiryo" pitchFamily="34" charset="-122"/>
                          <a:cs typeface="Meiryo" pitchFamily="34" charset="-120"/>
                        </a:rPr>
                        <a:t>Official</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USGS</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ShakeMap, PAGER (Orange), finite-fault and aftershock catalogue</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Published</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050" b="1" dirty="0">
                          <a:solidFill>
                            <a:srgbClr val="1E7A34"/>
                          </a:solidFill>
                          <a:latin typeface="Meiryo" pitchFamily="34" charset="0"/>
                          <a:ea typeface="Meiryo" pitchFamily="34" charset="-122"/>
                          <a:cs typeface="Meiryo" pitchFamily="34" charset="-120"/>
                        </a:rPr>
                        <a:t>Official</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GDACS</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Overall Orange alert; population exposure and impact estimates</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Published</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7A34"/>
                          </a:solidFill>
                          <a:latin typeface="Meiryo" pitchFamily="34" charset="0"/>
                          <a:ea typeface="Meiryo" pitchFamily="34" charset="-122"/>
                          <a:cs typeface="Meiryo" pitchFamily="34" charset="-120"/>
                        </a:rPr>
                        <a:t>Official</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SGC</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National seismic network: hypocentre, magnitude revision, aftershock bulletins, accelerographic records</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Published</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050" b="1" dirty="0">
                          <a:solidFill>
                            <a:srgbClr val="1E7A34"/>
                          </a:solidFill>
                          <a:latin typeface="Meiryo" pitchFamily="34" charset="0"/>
                          <a:ea typeface="Meiryo" pitchFamily="34" charset="-122"/>
                          <a:cs typeface="Meiryo" pitchFamily="34" charset="-120"/>
                        </a:rPr>
                        <a:t>Official</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Sentinel Asia</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Not applicable - the mechanism covers the Asia-Pacific region; Colombia is served by the International Charter and Copernicus EMS</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n/a</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7A34"/>
                          </a:solidFill>
                          <a:latin typeface="Meiryo" pitchFamily="34" charset="0"/>
                          <a:ea typeface="Meiryo" pitchFamily="34" charset="-122"/>
                          <a:cs typeface="Meiryo" pitchFamily="34" charset="-120"/>
                        </a:rPr>
                        <a:t>Official</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dirty="0">
                <a:solidFill>
                  <a:srgbClr val="6A6A6A"/>
                </a:solidFill>
                <a:latin typeface="Meiryo" pitchFamily="34" charset="0"/>
                <a:ea typeface="Meiryo" pitchFamily="34" charset="-122"/>
                <a:cs typeface="Meiryo" pitchFamily="34" charset="-120"/>
              </a:rPr>
              <a:t>International Charter 'Space and Major Disasters' — </a:t>
            </a:r>
            <a:pPr algn="l" indent="0" marL="0">
              <a:buNone/>
            </a:pPr>
            <a:r>
              <a:rPr lang="en-US" sz="100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https://disasterscharter.org/activations</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39 / 63</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Copernicus EMS Rapid Mapping — EMSR916</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365760" y="1051560"/>
          <a:ext cx="5623560" cy="914400"/>
        </p:xfrm>
        <a:graphic>
          <a:graphicData uri="http://schemas.openxmlformats.org/drawingml/2006/table">
            <a:tbl>
              <a:tblPr/>
              <a:tblGrid>
                <a:gridCol w="1828800"/>
                <a:gridCol w="3794760"/>
              </a:tblGrid>
              <a:tr h="0">
                <a:tc>
                  <a:txBody>
                    <a:bodyPr/>
                    <a:lstStyle/>
                    <a:p>
                      <a:pPr algn="l" indent="0" marL="0">
                        <a:buNone/>
                      </a:pPr>
                      <a:r>
                        <a:rPr lang="en-US" sz="1150" b="1" dirty="0">
                          <a:solidFill>
                            <a:srgbClr val="222222"/>
                          </a:solidFill>
                        </a:rPr>
                        <a:t>Activation</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rPr>
                        <a:t>EMSR916 — Earthquake in Colombia</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50" b="1" dirty="0">
                          <a:solidFill>
                            <a:srgbClr val="222222"/>
                          </a:solidFill>
                        </a:rPr>
                        <a:t>Event time</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rPr>
                        <a:t>10/08/2026 afternoon (UTC)</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222222"/>
                          </a:solidFill>
                        </a:rPr>
                        <a:t>Activation time</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rPr>
                        <a:t>10/08/2026, 17:13 (UTC) = 12:13 COT</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50" b="1" dirty="0">
                          <a:solidFill>
                            <a:srgbClr val="222222"/>
                          </a:solidFill>
                        </a:rPr>
                        <a:t>Event type</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rPr>
                        <a:t>Earthquake / Ground shaking</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222222"/>
                          </a:solidFill>
                        </a:rPr>
                        <a:t>Affected country</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rPr>
                        <a:t>Colombia</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50" b="1" dirty="0">
                          <a:solidFill>
                            <a:srgbClr val="222222"/>
                          </a:solidFill>
                        </a:rPr>
                        <a:t>Authorised user</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rPr>
                        <a:t>EC Services | DG ECHO</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222222"/>
                          </a:solidFill>
                        </a:rPr>
                        <a:t>Service output</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rPr>
                        <a:t>3 AOIs · 3 products · 0 maps</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50" b="1" dirty="0">
                          <a:solidFill>
                            <a:srgbClr val="222222"/>
                          </a:solidFill>
                        </a:rPr>
                        <a:t>Status</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rPr>
                        <a:t>ONGOING</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6172200" y="1051560"/>
            <a:ext cx="5623560" cy="4892040"/>
          </a:xfrm>
          <a:prstGeom prst="roundRect">
            <a:avLst>
              <a:gd name="adj" fmla="val 1121"/>
            </a:avLst>
          </a:prstGeom>
          <a:solidFill>
            <a:srgbClr val="EAF2F8"/>
          </a:solidFill>
          <a:ln w="12700">
            <a:solidFill>
              <a:srgbClr val="2E5496"/>
            </a:solidFill>
            <a:prstDash val="solid"/>
          </a:ln>
        </p:spPr>
      </p:sp>
      <p:sp>
        <p:nvSpPr>
          <p:cNvPr id="6" name="Text 2"/>
          <p:cNvSpPr/>
          <p:nvPr/>
        </p:nvSpPr>
        <p:spPr>
          <a:xfrm>
            <a:off x="6355080" y="1188720"/>
            <a:ext cx="5257800" cy="4617720"/>
          </a:xfrm>
          <a:prstGeom prst="rect">
            <a:avLst/>
          </a:prstGeom>
          <a:noFill/>
          <a:ln/>
        </p:spPr>
        <p:txBody>
          <a:bodyPr wrap="square" lIns="50800" tIns="50800" rIns="50800" bIns="50800" rtlCol="0" anchor="t">
            <a:normAutofit/>
          </a:bodyPr>
          <a:lstStyle/>
          <a:p>
            <a:pPr algn="l" indent="0" marL="0">
              <a:buNone/>
            </a:pPr>
            <a:r>
              <a:rPr lang="en-US" sz="1200" b="1" dirty="0">
                <a:solidFill>
                  <a:srgbClr val="1F3864"/>
                </a:solidFill>
                <a:latin typeface="Meiryo" pitchFamily="34" charset="0"/>
                <a:ea typeface="Meiryo" pitchFamily="34" charset="-122"/>
                <a:cs typeface="Meiryo" pitchFamily="34" charset="-120"/>
              </a:rPr>
              <a:t>Activation reason
</a:t>
            </a:r>
            <a:pPr algn="l" indent="0" marL="0">
              <a:buNone/>
            </a:pPr>
            <a:r>
              <a:rPr lang="en-US" sz="1050" dirty="0">
                <a:solidFill>
                  <a:srgbClr val="222222"/>
                </a:solidFill>
                <a:latin typeface="Meiryo" pitchFamily="34" charset="0"/>
                <a:ea typeface="Meiryo" pitchFamily="34" charset="-122"/>
                <a:cs typeface="Meiryo" pitchFamily="34" charset="-120"/>
              </a:rPr>
              <a:t>“On the 10 August 2026 at 12:30 UTC, a major earthquake with a magnitude of 7.4 is reported to have affected western and central Colombia, with the epicentre near San José del Palmar. The event has caused significant damage in several cities, including Quibdó, Pereira, Manizales and Cali, with collapsed buildings reported. Copernicus EMS Rapid Mapping is requested to provide earthquake damage assessment emergency mapping.”
</a:t>
            </a:r>
            <a:pPr algn="l" indent="0" marL="0">
              <a:buNone/>
            </a:pPr>
            <a:r>
              <a:rPr lang="en-US" sz="1050" i="1" dirty="0">
                <a:solidFill>
                  <a:srgbClr val="6A6A6A"/>
                </a:solidFill>
                <a:latin typeface="Meiryo" pitchFamily="34" charset="0"/>
                <a:ea typeface="Meiryo" pitchFamily="34" charset="-122"/>
                <a:cs typeface="Meiryo" pitchFamily="34" charset="-120"/>
              </a:rPr>
              <a:t>Rapid Mapping delivers reference and grading products over selected areas of interest, not nationwide coverage. Products are published on the activation page as they are produced and are free to use.
</a:t>
            </a:r>
            <a:endParaRPr lang="en-US" sz="1200" dirty="0"/>
          </a:p>
        </p:txBody>
      </p:sp>
      <p:sp>
        <p:nvSpPr>
          <p:cNvPr id="7" name="Text 3"/>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dirty="0">
                <a:solidFill>
                  <a:srgbClr val="6A6A6A"/>
                </a:solidFill>
                <a:latin typeface="Meiryo" pitchFamily="34" charset="0"/>
                <a:ea typeface="Meiryo" pitchFamily="34" charset="-122"/>
                <a:cs typeface="Meiryo" pitchFamily="34" charset="-120"/>
              </a:rPr>
              <a:t>Copernicus EMS — </a:t>
            </a:r>
            <a:pPr algn="l" indent="0" marL="0">
              <a:buNone/>
            </a:pPr>
            <a:r>
              <a:rPr lang="en-US" sz="100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https://mapping.emergency.copernicus.eu/activations/EMSR916/</a:t>
            </a:r>
            <a:endParaRPr lang="en-US" sz="1050" dirty="0"/>
          </a:p>
        </p:txBody>
      </p:sp>
      <p:sp>
        <p:nvSpPr>
          <p:cNvPr id="8" name="Shape 4"/>
          <p:cNvSpPr/>
          <p:nvPr/>
        </p:nvSpPr>
        <p:spPr>
          <a:xfrm>
            <a:off x="10268712" y="6510528"/>
            <a:ext cx="1554480" cy="274320"/>
          </a:xfrm>
          <a:prstGeom prst="rect">
            <a:avLst/>
          </a:prstGeom>
          <a:solidFill>
            <a:srgbClr val="E8A317"/>
          </a:solidFill>
          <a:ln w="12700">
            <a:solidFill>
              <a:srgbClr val="E8A317"/>
            </a:solidFill>
            <a:prstDash val="solid"/>
          </a:ln>
        </p:spPr>
      </p:sp>
      <p:sp>
        <p:nvSpPr>
          <p:cNvPr id="9" name="Text 5"/>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10" name="Text 6"/>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40 / 63</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National Disaster Risk Management System</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11430000" cy="1783080"/>
          </a:xfrm>
          <a:prstGeom prst="rect">
            <a:avLst/>
          </a:prstGeom>
          <a:noFill/>
          <a:ln/>
        </p:spPr>
        <p:txBody>
          <a:bodyPr wrap="square" lIns="50800" tIns="50800" rIns="50800" bIns="50800" rtlCol="0" anchor="t"/>
          <a:lstStyle/>
          <a:p>
            <a:pPr algn="l" indent="0" marL="0">
              <a:buNone/>
            </a:pPr>
            <a:r>
              <a:rPr lang="en-US" sz="1200" dirty="0">
                <a:solidFill>
                  <a:srgbClr val="222222"/>
                </a:solidFill>
                <a:latin typeface="Meiryo" pitchFamily="34" charset="0"/>
                <a:ea typeface="Meiryo" pitchFamily="34" charset="-122"/>
                <a:cs typeface="Meiryo" pitchFamily="34" charset="-120"/>
              </a:rPr>
              <a:t>Colombia rebuilt its disaster risk management framework after the 1985 Armero volcanic disaster and again after the 1999 Armenia earthquake. Law 1523 of 2012 created the National Disaster Risk Management System (SNGRD), led by the National Unit for Disaster Risk Management (UNGRD), which reports to the Presidency.
</a:t>
            </a:r>
            <a:endParaRPr lang="en-US" sz="1200" dirty="0"/>
          </a:p>
        </p:txBody>
      </p:sp>
      <p:sp>
        <p:nvSpPr>
          <p:cNvPr id="5" name="Text 2"/>
          <p:cNvSpPr/>
          <p:nvPr/>
        </p:nvSpPr>
        <p:spPr>
          <a:xfrm>
            <a:off x="365760" y="2926080"/>
            <a:ext cx="11430000" cy="3108960"/>
          </a:xfrm>
          <a:prstGeom prst="rect">
            <a:avLst/>
          </a:prstGeom>
          <a:noFill/>
          <a:ln/>
        </p:spPr>
        <p:txBody>
          <a:bodyPr wrap="square" lIns="50800" tIns="50800" rIns="50800" bIns="50800" rtlCol="0" anchor="t">
            <a:normAutofit/>
          </a:bodyPr>
          <a:lstStyle/>
          <a:p>
            <a:pPr algn="l" marL="342900" indent="-342900">
              <a:spcAft>
                <a:spcPts val="200"/>
              </a:spcAft>
              <a:buSzPct val="100000"/>
              <a:buChar char="•"/>
            </a:pPr>
            <a:r>
              <a:rPr lang="en-US" sz="1150" dirty="0">
                <a:solidFill>
                  <a:srgbClr val="222222"/>
                </a:solidFill>
                <a:latin typeface="Meiryo" pitchFamily="34" charset="0"/>
                <a:ea typeface="Meiryo" pitchFamily="34" charset="-122"/>
                <a:cs typeface="Meiryo" pitchFamily="34" charset="-120"/>
              </a:rPr>
              <a:t>Law 1523 of 2012 - national policy on disaster risk management; defines the SNGRD and makes risk management a mandatory duty of every public authority and, in part, of private actors.</a:t>
            </a:r>
            <a:endParaRPr lang="en-US" sz="1150" dirty="0"/>
          </a:p>
          <a:p>
            <a:pPr algn="l" marL="342900" indent="-342900">
              <a:spcAft>
                <a:spcPts val="200"/>
              </a:spcAft>
              <a:buSzPct val="100000"/>
              <a:buChar char="•"/>
            </a:pPr>
            <a:r>
              <a:rPr lang="en-US" sz="1150" dirty="0">
                <a:solidFill>
                  <a:srgbClr val="222222"/>
                </a:solidFill>
                <a:latin typeface="Meiryo" pitchFamily="34" charset="0"/>
                <a:ea typeface="Meiryo" pitchFamily="34" charset="-122"/>
                <a:cs typeface="Meiryo" pitchFamily="34" charset="-120"/>
              </a:rPr>
              <a:t>UNGRD - national coordinating agency under the Presidency; runs the national response, the disaster fund (FNGRD) and the national information system.</a:t>
            </a:r>
            <a:endParaRPr lang="en-US" sz="1150" dirty="0"/>
          </a:p>
          <a:p>
            <a:pPr algn="l" marL="342900" indent="-342900">
              <a:spcAft>
                <a:spcPts val="200"/>
              </a:spcAft>
              <a:buSzPct val="100000"/>
              <a:buChar char="•"/>
            </a:pPr>
            <a:r>
              <a:rPr lang="en-US" sz="1150" dirty="0">
                <a:solidFill>
                  <a:srgbClr val="222222"/>
                </a:solidFill>
                <a:latin typeface="Meiryo" pitchFamily="34" charset="0"/>
                <a:ea typeface="Meiryo" pitchFamily="34" charset="-122"/>
                <a:cs typeface="Meiryo" pitchFamily="34" charset="-120"/>
              </a:rPr>
              <a:t>Departmental and municipal risk management councils (CDGRD / CMGRD) carry out first response; UNGRD reinforces when local capacity is exceeded.</a:t>
            </a:r>
            <a:endParaRPr lang="en-US" sz="1150" dirty="0"/>
          </a:p>
          <a:p>
            <a:pPr algn="l" marL="342900" indent="-342900">
              <a:spcAft>
                <a:spcPts val="200"/>
              </a:spcAft>
              <a:buSzPct val="100000"/>
              <a:buChar char="•"/>
            </a:pPr>
            <a:r>
              <a:rPr lang="en-US" sz="1150" dirty="0">
                <a:solidFill>
                  <a:srgbClr val="222222"/>
                </a:solidFill>
                <a:latin typeface="Meiryo" pitchFamily="34" charset="0"/>
                <a:ea typeface="Meiryo" pitchFamily="34" charset="-122"/>
                <a:cs typeface="Meiryo" pitchFamily="34" charset="-120"/>
              </a:rPr>
              <a:t>PNGRD 2015-2030 — the national disaster risk management plan, adopted by Decree 308 of 2016 and updated by Decree 1478 of 3 August 2022; aligned with the Sendai Framework and monitored annually by UNGRD.</a:t>
            </a:r>
            <a:endParaRPr lang="en-US" sz="1150" dirty="0"/>
          </a:p>
          <a:p>
            <a:pPr algn="l" marL="342900" indent="-342900">
              <a:spcAft>
                <a:spcPts val="200"/>
              </a:spcAft>
              <a:buSzPct val="100000"/>
              <a:buChar char="•"/>
            </a:pPr>
            <a:r>
              <a:rPr lang="en-US" sz="1150" dirty="0">
                <a:solidFill>
                  <a:srgbClr val="222222"/>
                </a:solidFill>
                <a:latin typeface="Meiryo" pitchFamily="34" charset="0"/>
                <a:ea typeface="Meiryo" pitchFamily="34" charset="-122"/>
                <a:cs typeface="Meiryo" pitchFamily="34" charset="-120"/>
              </a:rPr>
              <a:t>NSR-10 - the national seismic building code (in force since 2010, technical annexes updated since). Buildings predating modern code enforcement, and non-engineered masonry and earthen construction, remain the dominant source of risk.</a:t>
            </a:r>
            <a:endParaRPr lang="en-US" sz="1150" dirty="0"/>
          </a:p>
          <a:p>
            <a:pPr algn="l" marL="342900" indent="-342900">
              <a:spcAft>
                <a:spcPts val="200"/>
              </a:spcAft>
              <a:buSzPct val="100000"/>
              <a:buChar char="•"/>
            </a:pPr>
            <a:r>
              <a:rPr lang="en-US" sz="1150" dirty="0">
                <a:solidFill>
                  <a:srgbClr val="222222"/>
                </a:solidFill>
                <a:latin typeface="Meiryo" pitchFamily="34" charset="0"/>
                <a:ea typeface="Meiryo" pitchFamily="34" charset="-122"/>
                <a:cs typeface="Meiryo" pitchFamily="34" charset="-120"/>
              </a:rPr>
              <a:t>Seismic microzonation studies exist for major cities including Bogotá, Medellín, Cali, Pereira, Manizales and Armenia — a direct legacy of the 1999 earthquake. In Cali the microzonation is binding on structural design through Decree 411.0.20.0158 of 2014.</a:t>
            </a:r>
            <a:endParaRPr lang="en-US" sz="1150" dirty="0"/>
          </a:p>
          <a:p>
            <a:pPr algn="l" marL="342900" indent="-342900">
              <a:spcAft>
                <a:spcPts val="200"/>
              </a:spcAft>
              <a:buSzPct val="100000"/>
              <a:buChar char="•"/>
            </a:pPr>
            <a:r>
              <a:rPr lang="en-US" sz="1150" dirty="0">
                <a:solidFill>
                  <a:srgbClr val="222222"/>
                </a:solidFill>
                <a:latin typeface="Meiryo" pitchFamily="34" charset="0"/>
                <a:ea typeface="Meiryo" pitchFamily="34" charset="-122"/>
                <a:cs typeface="Meiryo" pitchFamily="34" charset="-120"/>
              </a:rPr>
              <a:t>The SGC operates the National Seismological Network and the national accelerograph network, and issues public bulletins within minutes.</a:t>
            </a:r>
            <a:endParaRPr lang="en-US" sz="1150" dirty="0"/>
          </a:p>
          <a:p>
            <a:pPr algn="l" marL="342900" indent="-342900">
              <a:spcAft>
                <a:spcPts val="200"/>
              </a:spcAft>
              <a:buSzPct val="100000"/>
              <a:buChar char="•"/>
            </a:pPr>
            <a:r>
              <a:rPr lang="en-US" sz="1150" dirty="0">
                <a:solidFill>
                  <a:srgbClr val="222222"/>
                </a:solidFill>
                <a:latin typeface="Meiryo" pitchFamily="34" charset="0"/>
                <a:ea typeface="Meiryo" pitchFamily="34" charset="-122"/>
                <a:cs typeface="Meiryo" pitchFamily="34" charset="-120"/>
              </a:rPr>
              <a:t>Cities run their own instruments alongside the national system: Cali's SATIC community-and-sensor early warning system (from 2018, formalised by Municipal Decree 0858 of 2022), Medellín's DAGRD and its municipal plan, and municipal risk-management funds created under Law 1523.</a:t>
            </a:r>
            <a:endParaRPr lang="en-US" sz="1150" dirty="0"/>
          </a:p>
        </p:txBody>
      </p:sp>
      <p:sp>
        <p:nvSpPr>
          <p:cNvPr id="6"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8"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41 / 63</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Historical Damaging Earthquakes</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365760" y="1051560"/>
          <a:ext cx="11430000" cy="914400"/>
        </p:xfrm>
        <a:graphic>
          <a:graphicData uri="http://schemas.openxmlformats.org/drawingml/2006/table">
            <a:tbl>
              <a:tblPr/>
              <a:tblGrid>
                <a:gridCol w="822960"/>
                <a:gridCol w="3291840"/>
                <a:gridCol w="822960"/>
                <a:gridCol w="6492240"/>
              </a:tblGrid>
              <a:tr h="0">
                <a:tc>
                  <a:txBody>
                    <a:bodyPr/>
                    <a:lstStyle/>
                    <a:p>
                      <a:pPr algn="l" indent="0" marL="0">
                        <a:buNone/>
                      </a:pPr>
                      <a:r>
                        <a:rPr lang="en-US" sz="1300" b="1" dirty="0">
                          <a:solidFill>
                            <a:srgbClr val="FFFFFF"/>
                          </a:solidFill>
                        </a:rPr>
                        <a:t>Year</a:t>
                      </a:r>
                      <a:endParaRPr lang="en-US" sz="1300" dirty="0"/>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Event</a:t>
                      </a:r>
                      <a:endParaRPr lang="en-US" sz="1300" dirty="0"/>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Mag.</a:t>
                      </a:r>
                      <a:endParaRPr lang="en-US" sz="1300" dirty="0"/>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Impact</a:t>
                      </a:r>
                      <a:endParaRPr lang="en-US" sz="1300" dirty="0"/>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0">
                <a:tc>
                  <a:txBody>
                    <a:bodyPr/>
                    <a:lstStyle/>
                    <a:p>
                      <a:pPr algn="ctr" indent="0" marL="0">
                        <a:buNone/>
                      </a:pPr>
                      <a:r>
                        <a:rPr lang="en-US" sz="1150" b="1" dirty="0">
                          <a:solidFill>
                            <a:srgbClr val="1F3864"/>
                          </a:solidFill>
                        </a:rPr>
                        <a:t>1906</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rPr>
                        <a:t>Ecuador-Colombia </a:t>
                      </a:r>
                      <a:pPr algn="l" indent="0" marL="0">
                        <a:buNone/>
                      </a:pPr>
                      <a:r>
                        <a:rPr lang="en-US" sz="1150" dirty="0">
                          <a:solidFill>
                            <a:srgbClr val="222222"/>
                          </a:solidFill>
                        </a:rPr>
                        <a:t>earthquake </a:t>
                      </a:r>
                      <a:pPr algn="l" indent="0" marL="0">
                        <a:buNone/>
                      </a:pPr>
                      <a:r>
                        <a:rPr lang="en-US" sz="1150" dirty="0">
                          <a:solidFill>
                            <a:srgbClr val="222222"/>
                          </a:solidFill>
                        </a:rPr>
                        <a:t>(Pacific </a:t>
                      </a:r>
                      <a:pPr algn="l" indent="0" marL="0">
                        <a:buNone/>
                      </a:pPr>
                      <a:r>
                        <a:rPr lang="en-US" sz="1150" dirty="0">
                          <a:solidFill>
                            <a:srgbClr val="222222"/>
                          </a:solidFill>
                        </a:rPr>
                        <a:t>coast)</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dirty="0">
                          <a:solidFill>
                            <a:srgbClr val="222222"/>
                          </a:solidFill>
                        </a:rPr>
                        <a:t>M8.8</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rPr>
                        <a:t>One </a:t>
                      </a:r>
                      <a:pPr algn="l" indent="0" marL="0">
                        <a:buNone/>
                      </a:pPr>
                      <a:r>
                        <a:rPr lang="en-US" sz="1050" dirty="0">
                          <a:solidFill>
                            <a:srgbClr val="222222"/>
                          </a:solidFill>
                        </a:rPr>
                        <a:t>of </a:t>
                      </a:r>
                      <a:pPr algn="l" indent="0" marL="0">
                        <a:buNone/>
                      </a:pPr>
                      <a:r>
                        <a:rPr lang="en-US" sz="1050" dirty="0">
                          <a:solidFill>
                            <a:srgbClr val="222222"/>
                          </a:solidFill>
                        </a:rPr>
                        <a:t>the </a:t>
                      </a:r>
                      <a:pPr algn="l" indent="0" marL="0">
                        <a:buNone/>
                      </a:pPr>
                      <a:r>
                        <a:rPr lang="en-US" sz="1050" dirty="0">
                          <a:solidFill>
                            <a:srgbClr val="222222"/>
                          </a:solidFill>
                        </a:rPr>
                        <a:t>largest </a:t>
                      </a:r>
                      <a:pPr algn="l" indent="0" marL="0">
                        <a:buNone/>
                      </a:pPr>
                      <a:r>
                        <a:rPr lang="en-US" sz="1050" dirty="0">
                          <a:solidFill>
                            <a:srgbClr val="222222"/>
                          </a:solidFill>
                        </a:rPr>
                        <a:t>earthquakes </a:t>
                      </a:r>
                      <a:pPr algn="l" indent="0" marL="0">
                        <a:buNone/>
                      </a:pPr>
                      <a:r>
                        <a:rPr lang="en-US" sz="1050" dirty="0">
                          <a:solidFill>
                            <a:srgbClr val="222222"/>
                          </a:solidFill>
                        </a:rPr>
                        <a:t>ever </a:t>
                      </a:r>
                      <a:pPr algn="l" indent="0" marL="0">
                        <a:buNone/>
                      </a:pPr>
                      <a:r>
                        <a:rPr lang="en-US" sz="1050" dirty="0">
                          <a:solidFill>
                            <a:srgbClr val="222222"/>
                          </a:solidFill>
                        </a:rPr>
                        <a:t>recorded; </a:t>
                      </a:r>
                      <a:pPr algn="l" indent="0" marL="0">
                        <a:buNone/>
                      </a:pPr>
                      <a:r>
                        <a:rPr lang="en-US" sz="1050" dirty="0">
                          <a:solidFill>
                            <a:srgbClr val="222222"/>
                          </a:solidFill>
                        </a:rPr>
                        <a:t>destructive </a:t>
                      </a:r>
                      <a:pPr algn="l" indent="0" marL="0">
                        <a:buNone/>
                      </a:pPr>
                      <a:r>
                        <a:rPr lang="en-US" sz="1050" dirty="0">
                          <a:solidFill>
                            <a:srgbClr val="222222"/>
                          </a:solidFill>
                        </a:rPr>
                        <a:t>tsunami </a:t>
                      </a:r>
                      <a:pPr algn="l" indent="0" marL="0">
                        <a:buNone/>
                      </a:pPr>
                      <a:r>
                        <a:rPr lang="en-US" sz="1050" dirty="0">
                          <a:solidFill>
                            <a:srgbClr val="222222"/>
                          </a:solidFill>
                        </a:rPr>
                        <a:t>on </a:t>
                      </a:r>
                      <a:pPr algn="l" indent="0" marL="0">
                        <a:buNone/>
                      </a:pPr>
                      <a:r>
                        <a:rPr lang="en-US" sz="1050" dirty="0">
                          <a:solidFill>
                            <a:srgbClr val="222222"/>
                          </a:solidFill>
                        </a:rPr>
                        <a:t>the </a:t>
                      </a:r>
                      <a:pPr algn="l" indent="0" marL="0">
                        <a:buNone/>
                      </a:pPr>
                      <a:r>
                        <a:rPr lang="en-US" sz="1050" dirty="0">
                          <a:solidFill>
                            <a:srgbClr val="222222"/>
                          </a:solidFill>
                        </a:rPr>
                        <a:t>Pacific </a:t>
                      </a:r>
                      <a:pPr algn="l" indent="0" marL="0">
                        <a:buNone/>
                      </a:pPr>
                      <a:r>
                        <a:rPr lang="en-US" sz="1050" dirty="0">
                          <a:solidFill>
                            <a:srgbClr val="222222"/>
                          </a:solidFill>
                        </a:rPr>
                        <a:t>coast</a:t>
                      </a:r>
                      <a:endParaRPr lang="en-US" sz="10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ctr" indent="0" marL="0">
                        <a:buNone/>
                      </a:pPr>
                      <a:r>
                        <a:rPr lang="en-US" sz="1150" b="1" dirty="0">
                          <a:solidFill>
                            <a:srgbClr val="1F3864"/>
                          </a:solidFill>
                        </a:rPr>
                        <a:t>1925</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rPr>
                        <a:t>Cali </a:t>
                      </a:r>
                      <a:pPr algn="l" indent="0" marL="0">
                        <a:buNone/>
                      </a:pPr>
                      <a:r>
                        <a:rPr lang="en-US" sz="1150" dirty="0">
                          <a:solidFill>
                            <a:srgbClr val="222222"/>
                          </a:solidFill>
                        </a:rPr>
                        <a:t>earthquake </a:t>
                      </a:r>
                      <a:pPr algn="l" indent="0" marL="0">
                        <a:buNone/>
                      </a:pPr>
                      <a:r>
                        <a:rPr lang="en-US" sz="1150" dirty="0">
                          <a:solidFill>
                            <a:srgbClr val="222222"/>
                          </a:solidFill>
                        </a:rPr>
                        <a:t>(Valle </a:t>
                      </a:r>
                      <a:pPr algn="l" indent="0" marL="0">
                        <a:buNone/>
                      </a:pPr>
                      <a:r>
                        <a:rPr lang="en-US" sz="1150" dirty="0">
                          <a:solidFill>
                            <a:srgbClr val="222222"/>
                          </a:solidFill>
                        </a:rPr>
                        <a:t>del </a:t>
                      </a:r>
                      <a:pPr algn="l" indent="0" marL="0">
                        <a:buNone/>
                      </a:pPr>
                      <a:r>
                        <a:rPr lang="en-US" sz="1150" dirty="0">
                          <a:solidFill>
                            <a:srgbClr val="222222"/>
                          </a:solidFill>
                        </a:rPr>
                        <a:t>Cauca)</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22222"/>
                          </a:solidFill>
                        </a:rPr>
                        <a:t>M7.0</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rPr>
                        <a:t>The </a:t>
                      </a:r>
                      <a:pPr algn="l" indent="0" marL="0">
                        <a:buNone/>
                      </a:pPr>
                      <a:r>
                        <a:rPr lang="en-US" sz="1050" dirty="0">
                          <a:solidFill>
                            <a:srgbClr val="222222"/>
                          </a:solidFill>
                        </a:rPr>
                        <a:t>reference </a:t>
                      </a:r>
                      <a:pPr algn="l" indent="0" marL="0">
                        <a:buNone/>
                      </a:pPr>
                      <a:r>
                        <a:rPr lang="en-US" sz="1050" dirty="0">
                          <a:solidFill>
                            <a:srgbClr val="222222"/>
                          </a:solidFill>
                        </a:rPr>
                        <a:t>historical </a:t>
                      </a:r>
                      <a:pPr algn="l" indent="0" marL="0">
                        <a:buNone/>
                      </a:pPr>
                      <a:r>
                        <a:rPr lang="en-US" sz="1050" dirty="0">
                          <a:solidFill>
                            <a:srgbClr val="222222"/>
                          </a:solidFill>
                        </a:rPr>
                        <a:t>event </a:t>
                      </a:r>
                      <a:pPr algn="l" indent="0" marL="0">
                        <a:buNone/>
                      </a:pPr>
                      <a:r>
                        <a:rPr lang="en-US" sz="1050" dirty="0">
                          <a:solidFill>
                            <a:srgbClr val="222222"/>
                          </a:solidFill>
                        </a:rPr>
                        <a:t>for </a:t>
                      </a:r>
                      <a:pPr algn="l" indent="0" marL="0">
                        <a:buNone/>
                      </a:pPr>
                      <a:r>
                        <a:rPr lang="en-US" sz="1050" dirty="0">
                          <a:solidFill>
                            <a:srgbClr val="222222"/>
                          </a:solidFill>
                        </a:rPr>
                        <a:t>Cali; </a:t>
                      </a:r>
                      <a:pPr algn="l" indent="0" marL="0">
                        <a:buNone/>
                      </a:pPr>
                      <a:r>
                        <a:rPr lang="en-US" sz="1050" dirty="0">
                          <a:solidFill>
                            <a:srgbClr val="222222"/>
                          </a:solidFill>
                        </a:rPr>
                        <a:t>the </a:t>
                      </a:r>
                      <a:pPr algn="l" indent="0" marL="0">
                        <a:buNone/>
                      </a:pPr>
                      <a:r>
                        <a:rPr lang="en-US" sz="1050" dirty="0">
                          <a:solidFill>
                            <a:srgbClr val="222222"/>
                          </a:solidFill>
                        </a:rPr>
                        <a:t>city </a:t>
                      </a:r>
                      <a:pPr algn="l" indent="0" marL="0">
                        <a:buNone/>
                      </a:pPr>
                      <a:r>
                        <a:rPr lang="en-US" sz="1050" dirty="0">
                          <a:solidFill>
                            <a:srgbClr val="222222"/>
                          </a:solidFill>
                        </a:rPr>
                        <a:t>was </a:t>
                      </a:r>
                      <a:pPr algn="l" indent="0" marL="0">
                        <a:buNone/>
                      </a:pPr>
                      <a:r>
                        <a:rPr lang="en-US" sz="1050" dirty="0">
                          <a:solidFill>
                            <a:srgbClr val="222222"/>
                          </a:solidFill>
                        </a:rPr>
                        <a:t>also </a:t>
                      </a:r>
                      <a:pPr algn="l" indent="0" marL="0">
                        <a:buNone/>
                      </a:pPr>
                      <a:r>
                        <a:rPr lang="en-US" sz="1050" dirty="0">
                          <a:solidFill>
                            <a:srgbClr val="222222"/>
                          </a:solidFill>
                        </a:rPr>
                        <a:t>shaken </a:t>
                      </a:r>
                      <a:pPr algn="l" indent="0" marL="0">
                        <a:buNone/>
                      </a:pPr>
                      <a:r>
                        <a:rPr lang="en-US" sz="1050" dirty="0">
                          <a:solidFill>
                            <a:srgbClr val="222222"/>
                          </a:solidFill>
                        </a:rPr>
                        <a:t>in </a:t>
                      </a:r>
                      <a:pPr algn="l" indent="0" marL="0">
                        <a:buNone/>
                      </a:pPr>
                      <a:r>
                        <a:rPr lang="en-US" sz="1050" dirty="0">
                          <a:solidFill>
                            <a:srgbClr val="222222"/>
                          </a:solidFill>
                        </a:rPr>
                        <a:t>1995 </a:t>
                      </a:r>
                      <a:pPr algn="l" indent="0" marL="0">
                        <a:buNone/>
                      </a:pPr>
                      <a:r>
                        <a:rPr lang="en-US" sz="1050" dirty="0">
                          <a:solidFill>
                            <a:srgbClr val="222222"/>
                          </a:solidFill>
                        </a:rPr>
                        <a:t>and </a:t>
                      </a:r>
                      <a:pPr algn="l" indent="0" marL="0">
                        <a:buNone/>
                      </a:pPr>
                      <a:r>
                        <a:rPr lang="en-US" sz="1050" dirty="0">
                          <a:solidFill>
                            <a:srgbClr val="222222"/>
                          </a:solidFill>
                        </a:rPr>
                        <a:t>2004, </a:t>
                      </a:r>
                      <a:pPr algn="l" indent="0" marL="0">
                        <a:buNone/>
                      </a:pPr>
                      <a:r>
                        <a:rPr lang="en-US" sz="1050" dirty="0">
                          <a:solidFill>
                            <a:srgbClr val="222222"/>
                          </a:solidFill>
                        </a:rPr>
                        <a:t>the </a:t>
                      </a:r>
                      <a:pPr algn="l" indent="0" marL="0">
                        <a:buNone/>
                      </a:pPr>
                      <a:r>
                        <a:rPr lang="en-US" sz="1050" dirty="0">
                          <a:solidFill>
                            <a:srgbClr val="222222"/>
                          </a:solidFill>
                        </a:rPr>
                        <a:t>latter </a:t>
                      </a:r>
                      <a:pPr algn="l" indent="0" marL="0">
                        <a:buNone/>
                      </a:pPr>
                      <a:r>
                        <a:rPr lang="en-US" sz="1050" dirty="0">
                          <a:solidFill>
                            <a:srgbClr val="222222"/>
                          </a:solidFill>
                        </a:rPr>
                        <a:t>damaging </a:t>
                      </a:r>
                      <a:pPr algn="l" indent="0" marL="0">
                        <a:buNone/>
                      </a:pPr>
                      <a:r>
                        <a:rPr lang="en-US" sz="1050" dirty="0">
                          <a:solidFill>
                            <a:srgbClr val="222222"/>
                          </a:solidFill>
                        </a:rPr>
                        <a:t>clinics </a:t>
                      </a:r>
                      <a:pPr algn="l" indent="0" marL="0">
                        <a:buNone/>
                      </a:pPr>
                      <a:r>
                        <a:rPr lang="en-US" sz="1050" dirty="0">
                          <a:solidFill>
                            <a:srgbClr val="222222"/>
                          </a:solidFill>
                        </a:rPr>
                        <a:t>and </a:t>
                      </a:r>
                      <a:pPr algn="l" indent="0" marL="0">
                        <a:buNone/>
                      </a:pPr>
                      <a:r>
                        <a:rPr lang="en-US" sz="1050" dirty="0">
                          <a:solidFill>
                            <a:srgbClr val="222222"/>
                          </a:solidFill>
                        </a:rPr>
                        <a:t>residential </a:t>
                      </a:r>
                      <a:pPr algn="l" indent="0" marL="0">
                        <a:buNone/>
                      </a:pPr>
                      <a:r>
                        <a:rPr lang="en-US" sz="1050" dirty="0">
                          <a:solidFill>
                            <a:srgbClr val="222222"/>
                          </a:solidFill>
                        </a:rPr>
                        <a:t>buildings</a:t>
                      </a:r>
                      <a:endParaRPr lang="en-US" sz="10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ctr" indent="0" marL="0">
                        <a:buNone/>
                      </a:pPr>
                      <a:r>
                        <a:rPr lang="en-US" sz="1150" b="1" dirty="0">
                          <a:solidFill>
                            <a:srgbClr val="1F3864"/>
                          </a:solidFill>
                        </a:rPr>
                        <a:t>1938</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rPr>
                        <a:t>Coffee </a:t>
                      </a:r>
                      <a:pPr algn="l" indent="0" marL="0">
                        <a:buNone/>
                      </a:pPr>
                      <a:r>
                        <a:rPr lang="en-US" sz="1150" dirty="0">
                          <a:solidFill>
                            <a:srgbClr val="222222"/>
                          </a:solidFill>
                        </a:rPr>
                        <a:t>Region </a:t>
                      </a:r>
                      <a:pPr algn="l" indent="0" marL="0">
                        <a:buNone/>
                      </a:pPr>
                      <a:r>
                        <a:rPr lang="en-US" sz="1150" dirty="0">
                          <a:solidFill>
                            <a:srgbClr val="222222"/>
                          </a:solidFill>
                        </a:rPr>
                        <a:t>earthquake </a:t>
                      </a:r>
                      <a:pPr algn="l" indent="0" marL="0">
                        <a:buNone/>
                      </a:pPr>
                      <a:r>
                        <a:rPr lang="en-US" sz="1150" dirty="0">
                          <a:solidFill>
                            <a:srgbClr val="222222"/>
                          </a:solidFill>
                        </a:rPr>
                        <a:t>(deep, </a:t>
                      </a:r>
                      <a:pPr algn="l" indent="0" marL="0">
                        <a:buNone/>
                      </a:pPr>
                      <a:r>
                        <a:rPr lang="en-US" sz="1150" dirty="0">
                          <a:solidFill>
                            <a:srgbClr val="222222"/>
                          </a:solidFill>
                        </a:rPr>
                        <a:t>150 </a:t>
                      </a:r>
                      <a:pPr algn="l" indent="0" marL="0">
                        <a:buNone/>
                      </a:pPr>
                      <a:r>
                        <a:rPr lang="en-US" sz="1150" dirty="0">
                          <a:solidFill>
                            <a:srgbClr val="222222"/>
                          </a:solidFill>
                        </a:rPr>
                        <a:t>km)</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dirty="0">
                          <a:solidFill>
                            <a:srgbClr val="222222"/>
                          </a:solidFill>
                        </a:rPr>
                        <a:t>M7.0</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rPr>
                        <a:t>An </a:t>
                      </a:r>
                      <a:pPr algn="l" indent="0" marL="0">
                        <a:buNone/>
                      </a:pPr>
                      <a:r>
                        <a:rPr lang="en-US" sz="1050" dirty="0">
                          <a:solidFill>
                            <a:srgbClr val="222222"/>
                          </a:solidFill>
                        </a:rPr>
                        <a:t>intermediate-depth </a:t>
                      </a:r>
                      <a:pPr algn="l" indent="0" marL="0">
                        <a:buNone/>
                      </a:pPr>
                      <a:r>
                        <a:rPr lang="en-US" sz="1050" dirty="0">
                          <a:solidFill>
                            <a:srgbClr val="222222"/>
                          </a:solidFill>
                        </a:rPr>
                        <a:t>event </a:t>
                      </a:r>
                      <a:pPr algn="l" indent="0" marL="0">
                        <a:buNone/>
                      </a:pPr>
                      <a:r>
                        <a:rPr lang="en-US" sz="1050" dirty="0">
                          <a:solidFill>
                            <a:srgbClr val="222222"/>
                          </a:solidFill>
                        </a:rPr>
                        <a:t>beneath </a:t>
                      </a:r>
                      <a:pPr algn="l" indent="0" marL="0">
                        <a:buNone/>
                      </a:pPr>
                      <a:r>
                        <a:rPr lang="en-US" sz="1050" dirty="0">
                          <a:solidFill>
                            <a:srgbClr val="222222"/>
                          </a:solidFill>
                        </a:rPr>
                        <a:t>the </a:t>
                      </a:r>
                      <a:pPr algn="l" indent="0" marL="0">
                        <a:buNone/>
                      </a:pPr>
                      <a:r>
                        <a:rPr lang="en-US" sz="1050" dirty="0">
                          <a:solidFill>
                            <a:srgbClr val="222222"/>
                          </a:solidFill>
                        </a:rPr>
                        <a:t>same </a:t>
                      </a:r>
                      <a:pPr algn="l" indent="0" marL="0">
                        <a:buNone/>
                      </a:pPr>
                      <a:r>
                        <a:rPr lang="en-US" sz="1050" dirty="0">
                          <a:solidFill>
                            <a:srgbClr val="222222"/>
                          </a:solidFill>
                        </a:rPr>
                        <a:t>coffee-growing </a:t>
                      </a:r>
                      <a:pPr algn="l" indent="0" marL="0">
                        <a:buNone/>
                      </a:pPr>
                      <a:r>
                        <a:rPr lang="en-US" sz="1050" dirty="0">
                          <a:solidFill>
                            <a:srgbClr val="222222"/>
                          </a:solidFill>
                        </a:rPr>
                        <a:t>departments </a:t>
                      </a:r>
                      <a:pPr algn="l" indent="0" marL="0">
                        <a:buNone/>
                      </a:pPr>
                      <a:r>
                        <a:rPr lang="en-US" sz="1050" dirty="0">
                          <a:solidFill>
                            <a:srgbClr val="222222"/>
                          </a:solidFill>
                        </a:rPr>
                        <a:t>— </a:t>
                      </a:r>
                      <a:pPr algn="l" indent="0" marL="0">
                        <a:buNone/>
                      </a:pPr>
                      <a:r>
                        <a:rPr lang="en-US" sz="1050" dirty="0">
                          <a:solidFill>
                            <a:srgbClr val="222222"/>
                          </a:solidFill>
                        </a:rPr>
                        <a:t>the </a:t>
                      </a:r>
                      <a:pPr algn="l" indent="0" marL="0">
                        <a:buNone/>
                      </a:pPr>
                      <a:r>
                        <a:rPr lang="en-US" sz="1050" dirty="0">
                          <a:solidFill>
                            <a:srgbClr val="222222"/>
                          </a:solidFill>
                        </a:rPr>
                        <a:t>closest </a:t>
                      </a:r>
                      <a:pPr algn="l" indent="0" marL="0">
                        <a:buNone/>
                      </a:pPr>
                      <a:r>
                        <a:rPr lang="en-US" sz="1050" dirty="0">
                          <a:solidFill>
                            <a:srgbClr val="222222"/>
                          </a:solidFill>
                        </a:rPr>
                        <a:t>historical </a:t>
                      </a:r>
                      <a:pPr algn="l" indent="0" marL="0">
                        <a:buNone/>
                      </a:pPr>
                      <a:r>
                        <a:rPr lang="en-US" sz="1050" dirty="0">
                          <a:solidFill>
                            <a:srgbClr val="222222"/>
                          </a:solidFill>
                        </a:rPr>
                        <a:t>analogue </a:t>
                      </a:r>
                      <a:pPr algn="l" indent="0" marL="0">
                        <a:buNone/>
                      </a:pPr>
                      <a:r>
                        <a:rPr lang="en-US" sz="1050" dirty="0">
                          <a:solidFill>
                            <a:srgbClr val="222222"/>
                          </a:solidFill>
                        </a:rPr>
                        <a:t>to </a:t>
                      </a:r>
                      <a:pPr algn="l" indent="0" marL="0">
                        <a:buNone/>
                      </a:pPr>
                      <a:r>
                        <a:rPr lang="en-US" sz="1050" dirty="0">
                          <a:solidFill>
                            <a:srgbClr val="222222"/>
                          </a:solidFill>
                        </a:rPr>
                        <a:t>the </a:t>
                      </a:r>
                      <a:pPr algn="l" indent="0" marL="0">
                        <a:buNone/>
                      </a:pPr>
                      <a:r>
                        <a:rPr lang="en-US" sz="1050" dirty="0">
                          <a:solidFill>
                            <a:srgbClr val="222222"/>
                          </a:solidFill>
                        </a:rPr>
                        <a:t>2026 </a:t>
                      </a:r>
                      <a:pPr algn="l" indent="0" marL="0">
                        <a:buNone/>
                      </a:pPr>
                      <a:r>
                        <a:rPr lang="en-US" sz="1050" dirty="0">
                          <a:solidFill>
                            <a:srgbClr val="222222"/>
                          </a:solidFill>
                        </a:rPr>
                        <a:t>earthquake</a:t>
                      </a:r>
                      <a:endParaRPr lang="en-US" sz="10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ctr" indent="0" marL="0">
                        <a:buNone/>
                      </a:pPr>
                      <a:r>
                        <a:rPr lang="en-US" sz="1150" b="1" dirty="0">
                          <a:solidFill>
                            <a:srgbClr val="1F3864"/>
                          </a:solidFill>
                        </a:rPr>
                        <a:t>1979</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rPr>
                        <a:t>Tumaco </a:t>
                      </a:r>
                      <a:pPr algn="l" indent="0" marL="0">
                        <a:buNone/>
                      </a:pPr>
                      <a:r>
                        <a:rPr lang="en-US" sz="1150" dirty="0">
                          <a:solidFill>
                            <a:srgbClr val="222222"/>
                          </a:solidFill>
                        </a:rPr>
                        <a:t>earthquake </a:t>
                      </a:r>
                      <a:pPr algn="l" indent="0" marL="0">
                        <a:buNone/>
                      </a:pPr>
                      <a:r>
                        <a:rPr lang="en-US" sz="1150" dirty="0">
                          <a:solidFill>
                            <a:srgbClr val="222222"/>
                          </a:solidFill>
                        </a:rPr>
                        <a:t>(Nariño)</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22222"/>
                          </a:solidFill>
                        </a:rPr>
                        <a:t>M8.1</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rPr>
                        <a:t>Subduction-interface </a:t>
                      </a:r>
                      <a:pPr algn="l" indent="0" marL="0">
                        <a:buNone/>
                      </a:pPr>
                      <a:r>
                        <a:rPr lang="en-US" sz="1050" dirty="0">
                          <a:solidFill>
                            <a:srgbClr val="222222"/>
                          </a:solidFill>
                        </a:rPr>
                        <a:t>event </a:t>
                      </a:r>
                      <a:pPr algn="l" indent="0" marL="0">
                        <a:buNone/>
                      </a:pPr>
                      <a:r>
                        <a:rPr lang="en-US" sz="1050" dirty="0">
                          <a:solidFill>
                            <a:srgbClr val="222222"/>
                          </a:solidFill>
                        </a:rPr>
                        <a:t>with </a:t>
                      </a:r>
                      <a:pPr algn="l" indent="0" marL="0">
                        <a:buNone/>
                      </a:pPr>
                      <a:r>
                        <a:rPr lang="en-US" sz="1050" dirty="0">
                          <a:solidFill>
                            <a:srgbClr val="222222"/>
                          </a:solidFill>
                        </a:rPr>
                        <a:t>tsunami; </a:t>
                      </a:r>
                      <a:pPr algn="l" indent="0" marL="0">
                        <a:buNone/>
                      </a:pPr>
                      <a:r>
                        <a:rPr lang="en-US" sz="1050" dirty="0">
                          <a:solidFill>
                            <a:srgbClr val="222222"/>
                          </a:solidFill>
                        </a:rPr>
                        <a:t>several </a:t>
                      </a:r>
                      <a:pPr algn="l" indent="0" marL="0">
                        <a:buNone/>
                      </a:pPr>
                      <a:r>
                        <a:rPr lang="en-US" sz="1050" dirty="0">
                          <a:solidFill>
                            <a:srgbClr val="222222"/>
                          </a:solidFill>
                        </a:rPr>
                        <a:t>hundred </a:t>
                      </a:r>
                      <a:pPr algn="l" indent="0" marL="0">
                        <a:buNone/>
                      </a:pPr>
                      <a:r>
                        <a:rPr lang="en-US" sz="1050" dirty="0">
                          <a:solidFill>
                            <a:srgbClr val="222222"/>
                          </a:solidFill>
                        </a:rPr>
                        <a:t>deaths</a:t>
                      </a:r>
                      <a:endParaRPr lang="en-US" sz="10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ctr" indent="0" marL="0">
                        <a:buNone/>
                      </a:pPr>
                      <a:r>
                        <a:rPr lang="en-US" sz="1150" b="1" dirty="0">
                          <a:solidFill>
                            <a:srgbClr val="1F3864"/>
                          </a:solidFill>
                        </a:rPr>
                        <a:t>1983</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rPr>
                        <a:t>Popayán </a:t>
                      </a:r>
                      <a:pPr algn="l" indent="0" marL="0">
                        <a:buNone/>
                      </a:pPr>
                      <a:r>
                        <a:rPr lang="en-US" sz="1150" dirty="0">
                          <a:solidFill>
                            <a:srgbClr val="222222"/>
                          </a:solidFill>
                        </a:rPr>
                        <a:t>earthquake </a:t>
                      </a:r>
                      <a:pPr algn="l" indent="0" marL="0">
                        <a:buNone/>
                      </a:pPr>
                      <a:r>
                        <a:rPr lang="en-US" sz="1150" dirty="0">
                          <a:solidFill>
                            <a:srgbClr val="222222"/>
                          </a:solidFill>
                        </a:rPr>
                        <a:t>(Cauca)</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dirty="0">
                          <a:solidFill>
                            <a:srgbClr val="222222"/>
                          </a:solidFill>
                        </a:rPr>
                        <a:t>M5.5</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rPr>
                        <a:t>About </a:t>
                      </a:r>
                      <a:pPr algn="l" indent="0" marL="0">
                        <a:buNone/>
                      </a:pPr>
                      <a:r>
                        <a:rPr lang="en-US" sz="1050" dirty="0">
                          <a:solidFill>
                            <a:srgbClr val="222222"/>
                          </a:solidFill>
                        </a:rPr>
                        <a:t>250-300 </a:t>
                      </a:r>
                      <a:pPr algn="l" indent="0" marL="0">
                        <a:buNone/>
                      </a:pPr>
                      <a:r>
                        <a:rPr lang="en-US" sz="1050" dirty="0">
                          <a:solidFill>
                            <a:srgbClr val="222222"/>
                          </a:solidFill>
                        </a:rPr>
                        <a:t>deaths; </a:t>
                      </a:r>
                      <a:pPr algn="l" indent="0" marL="0">
                        <a:buNone/>
                      </a:pPr>
                      <a:r>
                        <a:rPr lang="en-US" sz="1050" dirty="0">
                          <a:solidFill>
                            <a:srgbClr val="222222"/>
                          </a:solidFill>
                        </a:rPr>
                        <a:t>historic </a:t>
                      </a:r>
                      <a:pPr algn="l" indent="0" marL="0">
                        <a:buNone/>
                      </a:pPr>
                      <a:r>
                        <a:rPr lang="en-US" sz="1050" dirty="0">
                          <a:solidFill>
                            <a:srgbClr val="222222"/>
                          </a:solidFill>
                        </a:rPr>
                        <a:t>city </a:t>
                      </a:r>
                      <a:pPr algn="l" indent="0" marL="0">
                        <a:buNone/>
                      </a:pPr>
                      <a:r>
                        <a:rPr lang="en-US" sz="1050" dirty="0">
                          <a:solidFill>
                            <a:srgbClr val="222222"/>
                          </a:solidFill>
                        </a:rPr>
                        <a:t>centre </a:t>
                      </a:r>
                      <a:pPr algn="l" indent="0" marL="0">
                        <a:buNone/>
                      </a:pPr>
                      <a:r>
                        <a:rPr lang="en-US" sz="1050" dirty="0">
                          <a:solidFill>
                            <a:srgbClr val="222222"/>
                          </a:solidFill>
                        </a:rPr>
                        <a:t>heavily </a:t>
                      </a:r>
                      <a:pPr algn="l" indent="0" marL="0">
                        <a:buNone/>
                      </a:pPr>
                      <a:r>
                        <a:rPr lang="en-US" sz="1050" dirty="0">
                          <a:solidFill>
                            <a:srgbClr val="222222"/>
                          </a:solidFill>
                        </a:rPr>
                        <a:t>damaged </a:t>
                      </a:r>
                      <a:pPr algn="l" indent="0" marL="0">
                        <a:buNone/>
                      </a:pPr>
                      <a:r>
                        <a:rPr lang="en-US" sz="1050" dirty="0">
                          <a:solidFill>
                            <a:srgbClr val="222222"/>
                          </a:solidFill>
                        </a:rPr>
                        <a:t>- </a:t>
                      </a:r>
                      <a:pPr algn="l" indent="0" marL="0">
                        <a:buNone/>
                      </a:pPr>
                      <a:r>
                        <a:rPr lang="en-US" sz="1050" dirty="0">
                          <a:solidFill>
                            <a:srgbClr val="222222"/>
                          </a:solidFill>
                        </a:rPr>
                        <a:t>a </a:t>
                      </a:r>
                      <a:pPr algn="l" indent="0" marL="0">
                        <a:buNone/>
                      </a:pPr>
                      <a:r>
                        <a:rPr lang="en-US" sz="1050" dirty="0">
                          <a:solidFill>
                            <a:srgbClr val="222222"/>
                          </a:solidFill>
                        </a:rPr>
                        <a:t>small </a:t>
                      </a:r>
                      <a:pPr algn="l" indent="0" marL="0">
                        <a:buNone/>
                      </a:pPr>
                      <a:r>
                        <a:rPr lang="en-US" sz="1050" dirty="0">
                          <a:solidFill>
                            <a:srgbClr val="222222"/>
                          </a:solidFill>
                        </a:rPr>
                        <a:t>but </a:t>
                      </a:r>
                      <a:pPr algn="l" indent="0" marL="0">
                        <a:buNone/>
                      </a:pPr>
                      <a:r>
                        <a:rPr lang="en-US" sz="1050" dirty="0">
                          <a:solidFill>
                            <a:srgbClr val="222222"/>
                          </a:solidFill>
                        </a:rPr>
                        <a:t>shallow, </a:t>
                      </a:r>
                      <a:pPr algn="l" indent="0" marL="0">
                        <a:buNone/>
                      </a:pPr>
                      <a:r>
                        <a:rPr lang="en-US" sz="1050" dirty="0">
                          <a:solidFill>
                            <a:srgbClr val="222222"/>
                          </a:solidFill>
                        </a:rPr>
                        <a:t>urban </a:t>
                      </a:r>
                      <a:pPr algn="l" indent="0" marL="0">
                        <a:buNone/>
                      </a:pPr>
                      <a:r>
                        <a:rPr lang="en-US" sz="1050" dirty="0">
                          <a:solidFill>
                            <a:srgbClr val="222222"/>
                          </a:solidFill>
                        </a:rPr>
                        <a:t>event</a:t>
                      </a:r>
                      <a:endParaRPr lang="en-US" sz="10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ctr" indent="0" marL="0">
                        <a:buNone/>
                      </a:pPr>
                      <a:r>
                        <a:rPr lang="en-US" sz="1150" b="1" dirty="0">
                          <a:solidFill>
                            <a:srgbClr val="1F3864"/>
                          </a:solidFill>
                        </a:rPr>
                        <a:t>1994</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rPr>
                        <a:t>Páez </a:t>
                      </a:r>
                      <a:pPr algn="l" indent="0" marL="0">
                        <a:buNone/>
                      </a:pPr>
                      <a:r>
                        <a:rPr lang="en-US" sz="1150" dirty="0">
                          <a:solidFill>
                            <a:srgbClr val="222222"/>
                          </a:solidFill>
                        </a:rPr>
                        <a:t>(Cauca) </a:t>
                      </a:r>
                      <a:pPr algn="l" indent="0" marL="0">
                        <a:buNone/>
                      </a:pPr>
                      <a:r>
                        <a:rPr lang="en-US" sz="1150" dirty="0">
                          <a:solidFill>
                            <a:srgbClr val="222222"/>
                          </a:solidFill>
                        </a:rPr>
                        <a:t>earthquake</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22222"/>
                          </a:solidFill>
                        </a:rPr>
                        <a:t>M6.8</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rPr>
                        <a:t>About </a:t>
                      </a:r>
                      <a:pPr algn="l" indent="0" marL="0">
                        <a:buNone/>
                      </a:pPr>
                      <a:r>
                        <a:rPr lang="en-US" sz="1050" dirty="0">
                          <a:solidFill>
                            <a:srgbClr val="222222"/>
                          </a:solidFill>
                        </a:rPr>
                        <a:t>1,100 </a:t>
                      </a:r>
                      <a:pPr algn="l" indent="0" marL="0">
                        <a:buNone/>
                      </a:pPr>
                      <a:r>
                        <a:rPr lang="en-US" sz="1050" dirty="0">
                          <a:solidFill>
                            <a:srgbClr val="222222"/>
                          </a:solidFill>
                        </a:rPr>
                        <a:t>deaths, </a:t>
                      </a:r>
                      <a:pPr algn="l" indent="0" marL="0">
                        <a:buNone/>
                      </a:pPr>
                      <a:r>
                        <a:rPr lang="en-US" sz="1050" dirty="0">
                          <a:solidFill>
                            <a:srgbClr val="222222"/>
                          </a:solidFill>
                        </a:rPr>
                        <a:t>most </a:t>
                      </a:r>
                      <a:pPr algn="l" indent="0" marL="0">
                        <a:buNone/>
                      </a:pPr>
                      <a:r>
                        <a:rPr lang="en-US" sz="1050" dirty="0">
                          <a:solidFill>
                            <a:srgbClr val="222222"/>
                          </a:solidFill>
                        </a:rPr>
                        <a:t>caused </a:t>
                      </a:r>
                      <a:pPr algn="l" indent="0" marL="0">
                        <a:buNone/>
                      </a:pPr>
                      <a:r>
                        <a:rPr lang="en-US" sz="1050" dirty="0">
                          <a:solidFill>
                            <a:srgbClr val="222222"/>
                          </a:solidFill>
                        </a:rPr>
                        <a:t>by </a:t>
                      </a:r>
                      <a:pPr algn="l" indent="0" marL="0">
                        <a:buNone/>
                      </a:pPr>
                      <a:r>
                        <a:rPr lang="en-US" sz="1050" dirty="0">
                          <a:solidFill>
                            <a:srgbClr val="222222"/>
                          </a:solidFill>
                        </a:rPr>
                        <a:t>earthquake-triggered </a:t>
                      </a:r>
                      <a:pPr algn="l" indent="0" marL="0">
                        <a:buNone/>
                      </a:pPr>
                      <a:r>
                        <a:rPr lang="en-US" sz="1050" dirty="0">
                          <a:solidFill>
                            <a:srgbClr val="222222"/>
                          </a:solidFill>
                        </a:rPr>
                        <a:t>landslides </a:t>
                      </a:r>
                      <a:pPr algn="l" indent="0" marL="0">
                        <a:buNone/>
                      </a:pPr>
                      <a:r>
                        <a:rPr lang="en-US" sz="1050" dirty="0">
                          <a:solidFill>
                            <a:srgbClr val="222222"/>
                          </a:solidFill>
                        </a:rPr>
                        <a:t>and </a:t>
                      </a:r>
                      <a:pPr algn="l" indent="0" marL="0">
                        <a:buNone/>
                      </a:pPr>
                      <a:r>
                        <a:rPr lang="en-US" sz="1050" dirty="0">
                          <a:solidFill>
                            <a:srgbClr val="222222"/>
                          </a:solidFill>
                        </a:rPr>
                        <a:t>debris </a:t>
                      </a:r>
                      <a:pPr algn="l" indent="0" marL="0">
                        <a:buNone/>
                      </a:pPr>
                      <a:r>
                        <a:rPr lang="en-US" sz="1050" dirty="0">
                          <a:solidFill>
                            <a:srgbClr val="222222"/>
                          </a:solidFill>
                        </a:rPr>
                        <a:t>flows</a:t>
                      </a:r>
                      <a:endParaRPr lang="en-US" sz="10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ctr" indent="0" marL="0">
                        <a:buNone/>
                      </a:pPr>
                      <a:r>
                        <a:rPr lang="en-US" sz="1150" b="1" dirty="0">
                          <a:solidFill>
                            <a:srgbClr val="1F3864"/>
                          </a:solidFill>
                        </a:rPr>
                        <a:t>1995</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rPr>
                        <a:t>Chocó </a:t>
                      </a:r>
                      <a:pPr algn="l" indent="0" marL="0">
                        <a:buNone/>
                      </a:pPr>
                      <a:r>
                        <a:rPr lang="en-US" sz="1150" dirty="0">
                          <a:solidFill>
                            <a:srgbClr val="222222"/>
                          </a:solidFill>
                        </a:rPr>
                        <a:t>earthquake</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dirty="0">
                          <a:solidFill>
                            <a:srgbClr val="222222"/>
                          </a:solidFill>
                        </a:rPr>
                        <a:t>M6.6</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rPr>
                        <a:t>Intermediate-depth </a:t>
                      </a:r>
                      <a:pPr algn="l" indent="0" marL="0">
                        <a:buNone/>
                      </a:pPr>
                      <a:r>
                        <a:rPr lang="en-US" sz="1050" dirty="0">
                          <a:solidFill>
                            <a:srgbClr val="222222"/>
                          </a:solidFill>
                        </a:rPr>
                        <a:t>event </a:t>
                      </a:r>
                      <a:pPr algn="l" indent="0" marL="0">
                        <a:buNone/>
                      </a:pPr>
                      <a:r>
                        <a:rPr lang="en-US" sz="1050" dirty="0">
                          <a:solidFill>
                            <a:srgbClr val="222222"/>
                          </a:solidFill>
                        </a:rPr>
                        <a:t>in </a:t>
                      </a:r>
                      <a:pPr algn="l" indent="0" marL="0">
                        <a:buNone/>
                      </a:pPr>
                      <a:r>
                        <a:rPr lang="en-US" sz="1050" dirty="0">
                          <a:solidFill>
                            <a:srgbClr val="222222"/>
                          </a:solidFill>
                        </a:rPr>
                        <a:t>the </a:t>
                      </a:r>
                      <a:pPr algn="l" indent="0" marL="0">
                        <a:buNone/>
                      </a:pPr>
                      <a:r>
                        <a:rPr lang="en-US" sz="1050" dirty="0">
                          <a:solidFill>
                            <a:srgbClr val="222222"/>
                          </a:solidFill>
                        </a:rPr>
                        <a:t>same </a:t>
                      </a:r>
                      <a:pPr algn="l" indent="0" marL="0">
                        <a:buNone/>
                      </a:pPr>
                      <a:r>
                        <a:rPr lang="en-US" sz="1050" dirty="0">
                          <a:solidFill>
                            <a:srgbClr val="222222"/>
                          </a:solidFill>
                        </a:rPr>
                        <a:t>department </a:t>
                      </a:r>
                      <a:pPr algn="l" indent="0" marL="0">
                        <a:buNone/>
                      </a:pPr>
                      <a:r>
                        <a:rPr lang="en-US" sz="1050" dirty="0">
                          <a:solidFill>
                            <a:srgbClr val="222222"/>
                          </a:solidFill>
                        </a:rPr>
                        <a:t>as </a:t>
                      </a:r>
                      <a:pPr algn="l" indent="0" marL="0">
                        <a:buNone/>
                      </a:pPr>
                      <a:r>
                        <a:rPr lang="en-US" sz="1050" dirty="0">
                          <a:solidFill>
                            <a:srgbClr val="222222"/>
                          </a:solidFill>
                        </a:rPr>
                        <a:t>the </a:t>
                      </a:r>
                      <a:pPr algn="l" indent="0" marL="0">
                        <a:buNone/>
                      </a:pPr>
                      <a:r>
                        <a:rPr lang="en-US" sz="1050" dirty="0">
                          <a:solidFill>
                            <a:srgbClr val="222222"/>
                          </a:solidFill>
                        </a:rPr>
                        <a:t>2026 </a:t>
                      </a:r>
                      <a:pPr algn="l" indent="0" marL="0">
                        <a:buNone/>
                      </a:pPr>
                      <a:r>
                        <a:rPr lang="en-US" sz="1050" dirty="0">
                          <a:solidFill>
                            <a:srgbClr val="222222"/>
                          </a:solidFill>
                        </a:rPr>
                        <a:t>earthquake</a:t>
                      </a:r>
                      <a:endParaRPr lang="en-US" sz="10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ctr" indent="0" marL="0">
                        <a:buNone/>
                      </a:pPr>
                      <a:r>
                        <a:rPr lang="en-US" sz="1150" b="1" dirty="0">
                          <a:solidFill>
                            <a:srgbClr val="1F3864"/>
                          </a:solidFill>
                        </a:rPr>
                        <a:t>1999</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rPr>
                        <a:t>Armenia </a:t>
                      </a:r>
                      <a:pPr algn="l" indent="0" marL="0">
                        <a:buNone/>
                      </a:pPr>
                      <a:r>
                        <a:rPr lang="en-US" sz="1150" dirty="0">
                          <a:solidFill>
                            <a:srgbClr val="222222"/>
                          </a:solidFill>
                        </a:rPr>
                        <a:t>(Quindío) </a:t>
                      </a:r>
                      <a:pPr algn="l" indent="0" marL="0">
                        <a:buNone/>
                      </a:pPr>
                      <a:r>
                        <a:rPr lang="en-US" sz="1150" dirty="0">
                          <a:solidFill>
                            <a:srgbClr val="222222"/>
                          </a:solidFill>
                        </a:rPr>
                        <a:t>earthquake</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22222"/>
                          </a:solidFill>
                        </a:rPr>
                        <a:t>M6.1-6.2</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rPr>
                        <a:t>About </a:t>
                      </a:r>
                      <a:pPr algn="l" indent="0" marL="0">
                        <a:buNone/>
                      </a:pPr>
                      <a:r>
                        <a:rPr lang="en-US" sz="1050" dirty="0">
                          <a:solidFill>
                            <a:srgbClr val="222222"/>
                          </a:solidFill>
                        </a:rPr>
                        <a:t>1,185 </a:t>
                      </a:r>
                      <a:pPr algn="l" indent="0" marL="0">
                        <a:buNone/>
                      </a:pPr>
                      <a:r>
                        <a:rPr lang="en-US" sz="1050" dirty="0">
                          <a:solidFill>
                            <a:srgbClr val="222222"/>
                          </a:solidFill>
                        </a:rPr>
                        <a:t>deaths; </a:t>
                      </a:r>
                      <a:pPr algn="l" indent="0" marL="0">
                        <a:buNone/>
                      </a:pPr>
                      <a:r>
                        <a:rPr lang="en-US" sz="1050" dirty="0">
                          <a:solidFill>
                            <a:srgbClr val="222222"/>
                          </a:solidFill>
                        </a:rPr>
                        <a:t>Colombia's </a:t>
                      </a:r>
                      <a:pPr algn="l" indent="0" marL="0">
                        <a:buNone/>
                      </a:pPr>
                      <a:r>
                        <a:rPr lang="en-US" sz="1050" dirty="0">
                          <a:solidFill>
                            <a:srgbClr val="222222"/>
                          </a:solidFill>
                        </a:rPr>
                        <a:t>costliest </a:t>
                      </a:r>
                      <a:pPr algn="l" indent="0" marL="0">
                        <a:buNone/>
                      </a:pPr>
                      <a:r>
                        <a:rPr lang="en-US" sz="1050" dirty="0">
                          <a:solidFill>
                            <a:srgbClr val="222222"/>
                          </a:solidFill>
                        </a:rPr>
                        <a:t>earthquake </a:t>
                      </a:r>
                      <a:pPr algn="l" indent="0" marL="0">
                        <a:buNone/>
                      </a:pPr>
                      <a:r>
                        <a:rPr lang="en-US" sz="1050" dirty="0">
                          <a:solidFill>
                            <a:srgbClr val="222222"/>
                          </a:solidFill>
                        </a:rPr>
                        <a:t>disaster; </a:t>
                      </a:r>
                      <a:pPr algn="l" indent="0" marL="0">
                        <a:buNone/>
                      </a:pPr>
                      <a:r>
                        <a:rPr lang="en-US" sz="1050" dirty="0">
                          <a:solidFill>
                            <a:srgbClr val="222222"/>
                          </a:solidFill>
                        </a:rPr>
                        <a:t>drove </a:t>
                      </a:r>
                      <a:pPr algn="l" indent="0" marL="0">
                        <a:buNone/>
                      </a:pPr>
                      <a:r>
                        <a:rPr lang="en-US" sz="1050" dirty="0">
                          <a:solidFill>
                            <a:srgbClr val="222222"/>
                          </a:solidFill>
                        </a:rPr>
                        <a:t>the </a:t>
                      </a:r>
                      <a:pPr algn="l" indent="0" marL="0">
                        <a:buNone/>
                      </a:pPr>
                      <a:r>
                        <a:rPr lang="en-US" sz="1050" dirty="0">
                          <a:solidFill>
                            <a:srgbClr val="222222"/>
                          </a:solidFill>
                        </a:rPr>
                        <a:t>modern </a:t>
                      </a:r>
                      <a:pPr algn="l" indent="0" marL="0">
                        <a:buNone/>
                      </a:pPr>
                      <a:r>
                        <a:rPr lang="en-US" sz="1050" dirty="0">
                          <a:solidFill>
                            <a:srgbClr val="222222"/>
                          </a:solidFill>
                        </a:rPr>
                        <a:t>DRM </a:t>
                      </a:r>
                      <a:pPr algn="l" indent="0" marL="0">
                        <a:buNone/>
                      </a:pPr>
                      <a:r>
                        <a:rPr lang="en-US" sz="1050" dirty="0">
                          <a:solidFill>
                            <a:srgbClr val="222222"/>
                          </a:solidFill>
                        </a:rPr>
                        <a:t>reforms</a:t>
                      </a:r>
                      <a:endParaRPr lang="en-US" sz="10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ctr" indent="0" marL="0">
                        <a:buNone/>
                      </a:pPr>
                      <a:r>
                        <a:rPr lang="en-US" sz="1150" b="1" dirty="0">
                          <a:solidFill>
                            <a:srgbClr val="1F3864"/>
                          </a:solidFill>
                        </a:rPr>
                        <a:t>2026</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rPr>
                        <a:t>Chocó </a:t>
                      </a:r>
                      <a:pPr algn="l" indent="0" marL="0">
                        <a:buNone/>
                      </a:pPr>
                      <a:r>
                        <a:rPr lang="en-US" sz="1150" dirty="0">
                          <a:solidFill>
                            <a:srgbClr val="222222"/>
                          </a:solidFill>
                        </a:rPr>
                        <a:t>earthquake </a:t>
                      </a:r>
                      <a:pPr algn="l" indent="0" marL="0">
                        <a:buNone/>
                      </a:pPr>
                      <a:r>
                        <a:rPr lang="en-US" sz="1150" dirty="0">
                          <a:solidFill>
                            <a:srgbClr val="222222"/>
                          </a:solidFill>
                        </a:rPr>
                        <a:t>(this </a:t>
                      </a:r>
                      <a:pPr algn="l" indent="0" marL="0">
                        <a:buNone/>
                      </a:pPr>
                      <a:r>
                        <a:rPr lang="en-US" sz="1150" dirty="0">
                          <a:solidFill>
                            <a:srgbClr val="222222"/>
                          </a:solidFill>
                        </a:rPr>
                        <a:t>event)</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dirty="0">
                          <a:solidFill>
                            <a:srgbClr val="222222"/>
                          </a:solidFill>
                        </a:rPr>
                        <a:t>M7.4</a:t>
                      </a:r>
                      <a:endParaRPr lang="en-US" sz="11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rPr>
                        <a:t>Largest </a:t>
                      </a:r>
                      <a:pPr algn="l" indent="0" marL="0">
                        <a:buNone/>
                      </a:pPr>
                      <a:r>
                        <a:rPr lang="en-US" sz="1050" dirty="0">
                          <a:solidFill>
                            <a:srgbClr val="222222"/>
                          </a:solidFill>
                        </a:rPr>
                        <a:t>magnitude </a:t>
                      </a:r>
                      <a:pPr algn="l" indent="0" marL="0">
                        <a:buNone/>
                      </a:pPr>
                      <a:r>
                        <a:rPr lang="en-US" sz="1050" dirty="0">
                          <a:solidFill>
                            <a:srgbClr val="222222"/>
                          </a:solidFill>
                        </a:rPr>
                        <a:t>recorded </a:t>
                      </a:r>
                      <a:pPr algn="l" indent="0" marL="0">
                        <a:buNone/>
                      </a:pPr>
                      <a:r>
                        <a:rPr lang="en-US" sz="1050" dirty="0">
                          <a:solidFill>
                            <a:srgbClr val="222222"/>
                          </a:solidFill>
                        </a:rPr>
                        <a:t>in </a:t>
                      </a:r>
                      <a:pPr algn="l" indent="0" marL="0">
                        <a:buNone/>
                      </a:pPr>
                      <a:r>
                        <a:rPr lang="en-US" sz="1050" dirty="0">
                          <a:solidFill>
                            <a:srgbClr val="222222"/>
                          </a:solidFill>
                        </a:rPr>
                        <a:t>Colombia </a:t>
                      </a:r>
                      <a:pPr algn="l" indent="0" marL="0">
                        <a:buNone/>
                      </a:pPr>
                      <a:r>
                        <a:rPr lang="en-US" sz="1050" dirty="0">
                          <a:solidFill>
                            <a:srgbClr val="222222"/>
                          </a:solidFill>
                        </a:rPr>
                        <a:t>in </a:t>
                      </a:r>
                      <a:pPr algn="l" indent="0" marL="0">
                        <a:buNone/>
                      </a:pPr>
                      <a:r>
                        <a:rPr lang="en-US" sz="1050" dirty="0">
                          <a:solidFill>
                            <a:srgbClr val="222222"/>
                          </a:solidFill>
                        </a:rPr>
                        <a:t>the </a:t>
                      </a:r>
                      <a:pPr algn="l" indent="0" marL="0">
                        <a:buNone/>
                      </a:pPr>
                      <a:r>
                        <a:rPr lang="en-US" sz="1050" dirty="0">
                          <a:solidFill>
                            <a:srgbClr val="222222"/>
                          </a:solidFill>
                        </a:rPr>
                        <a:t>past </a:t>
                      </a:r>
                      <a:pPr algn="l" indent="0" marL="0">
                        <a:buNone/>
                      </a:pPr>
                      <a:r>
                        <a:rPr lang="en-US" sz="1050" dirty="0">
                          <a:solidFill>
                            <a:srgbClr val="222222"/>
                          </a:solidFill>
                        </a:rPr>
                        <a:t>decade </a:t>
                      </a:r>
                      <a:pPr algn="l" indent="0" marL="0">
                        <a:buNone/>
                      </a:pPr>
                      <a:r>
                        <a:rPr lang="en-US" sz="1050" dirty="0">
                          <a:solidFill>
                            <a:srgbClr val="222222"/>
                          </a:solidFill>
                        </a:rPr>
                        <a:t>(SGC); </a:t>
                      </a:r>
                      <a:pPr algn="l" indent="0" marL="0">
                        <a:buNone/>
                      </a:pPr>
                      <a:r>
                        <a:rPr lang="en-US" sz="1050" dirty="0">
                          <a:solidFill>
                            <a:srgbClr val="222222"/>
                          </a:solidFill>
                        </a:rPr>
                        <a:t>intermediate </a:t>
                      </a:r>
                      <a:pPr algn="l" indent="0" marL="0">
                        <a:buNone/>
                      </a:pPr>
                      <a:r>
                        <a:rPr lang="en-US" sz="1050" dirty="0">
                          <a:solidFill>
                            <a:srgbClr val="222222"/>
                          </a:solidFill>
                        </a:rPr>
                        <a:t>depth, </a:t>
                      </a:r>
                      <a:pPr algn="l" indent="0" marL="0">
                        <a:buNone/>
                      </a:pPr>
                      <a:r>
                        <a:rPr lang="en-US" sz="1050" dirty="0">
                          <a:solidFill>
                            <a:srgbClr val="222222"/>
                          </a:solidFill>
                        </a:rPr>
                        <a:t>wide-area </a:t>
                      </a:r>
                      <a:pPr algn="l" indent="0" marL="0">
                        <a:buNone/>
                      </a:pPr>
                      <a:r>
                        <a:rPr lang="en-US" sz="1050" dirty="0">
                          <a:solidFill>
                            <a:srgbClr val="222222"/>
                          </a:solidFill>
                        </a:rPr>
                        <a:t>damage</a:t>
                      </a:r>
                      <a:endParaRPr lang="en-US" sz="105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42 / 63</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Observations &amp; Points to Watch</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51560"/>
            <a:ext cx="11430000" cy="4983480"/>
          </a:xfrm>
          <a:prstGeom prst="rect">
            <a:avLst/>
          </a:prstGeom>
          <a:noFill/>
          <a:ln/>
        </p:spPr>
        <p:txBody>
          <a:bodyPr wrap="square" lIns="50800" tIns="50800" rIns="50800" bIns="50800" rtlCol="0" anchor="t"/>
          <a:lstStyle/>
          <a:p>
            <a:pPr algn="l" marL="342900" indent="-342900">
              <a:buSzPct val="100000"/>
              <a:buChar char="•"/>
            </a:pPr>
            <a:r>
              <a:rPr lang="en-US" sz="95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020" dirty="0">
                <a:solidFill>
                  <a:srgbClr val="222222"/>
                </a:solidFill>
                <a:latin typeface="Meiryo" pitchFamily="34" charset="0"/>
                <a:ea typeface="Meiryo" pitchFamily="34" charset="-122"/>
                <a:cs typeface="Meiryo" pitchFamily="34" charset="-120"/>
              </a:rPr>
              <a:t>A deep source with shallow-disaster consequences. At 110 km depth the earthquake produced no surface rupture and no tsunami, yet it damaged buildings in at least six departments. Damage is dispersed rather than concentrated, which complicates needs assessment, logistics and the targeting of search and rescue.</a:t>
            </a:r>
            <a:endParaRPr lang="en-US" sz="950" dirty="0"/>
          </a:p>
          <a:p>
            <a:pPr algn="l" marL="342900" indent="-342900">
              <a:buSzPct val="100000"/>
              <a:buChar char="•"/>
            </a:pPr>
            <a:r>
              <a:rPr lang="en-US" sz="95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020" dirty="0">
                <a:solidFill>
                  <a:srgbClr val="222222"/>
                </a:solidFill>
                <a:latin typeface="Meiryo" pitchFamily="34" charset="0"/>
                <a:ea typeface="Meiryo" pitchFamily="34" charset="-122"/>
                <a:cs typeface="Meiryo" pitchFamily="34" charset="-120"/>
              </a:rPr>
              <a:t>Critical facilities failed. The collapse of about 30% of Cali's University Hospital, the closure of seven health institutions, damage to 52 schools and the partial collapse of an international airport terminal all reduce response capacity exactly where it is needed. Seismic performance of hospitals, schools and transport terminals is the clearest lesson emerging so far.</a:t>
            </a:r>
            <a:endParaRPr lang="en-US" sz="950" dirty="0"/>
          </a:p>
          <a:p>
            <a:pPr algn="l" marL="342900" indent="-342900">
              <a:buSzPct val="100000"/>
              <a:buChar char="•"/>
            </a:pPr>
            <a:r>
              <a:rPr lang="en-US" sz="95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020" dirty="0">
                <a:solidFill>
                  <a:srgbClr val="222222"/>
                </a:solidFill>
                <a:latin typeface="Meiryo" pitchFamily="34" charset="0"/>
                <a:ea typeface="Meiryo" pitchFamily="34" charset="-122"/>
                <a:cs typeface="Meiryo" pitchFamily="34" charset="-120"/>
              </a:rPr>
              <a:t>The toll multiplied as the assessment reached the damage. In 56 hours deaths went from 111 to 239, injured from 87 to 3,755, missing from none counted to 287, damaged homes from 1,612 to about 54,000, and the affected area from “more than 20 municipalities” to 403 across 14 departments. Nothing new happened to cause those jumps; the assessment reached places it had not reached, and much of Chocó is still accessible only by boat or aircraft. Two lessons for reading early figures: the first-day numbers describe the reach of the assessment, not the size of the disaster; and where two counts of the same thing exist, check what each is counting before comparing them.</a:t>
            </a:r>
            <a:endParaRPr lang="en-US" sz="950" dirty="0"/>
          </a:p>
          <a:p>
            <a:pPr algn="l" marL="342900" indent="-342900">
              <a:buSzPct val="100000"/>
              <a:buChar char="•"/>
            </a:pPr>
            <a:r>
              <a:rPr lang="en-US" sz="950" b="1" dirty="0">
                <a:solidFill>
                  <a:srgbClr val="B8860B"/>
                </a:solidFill>
                <a:latin typeface="Meiryo" pitchFamily="34" charset="0"/>
                <a:ea typeface="Meiryo" pitchFamily="34" charset="-122"/>
                <a:cs typeface="Meiryo" pitchFamily="34" charset="-120"/>
              </a:rPr>
              <a:t>[Media] </a:t>
            </a:r>
            <a:pPr algn="l" indent="0" marL="0">
              <a:spcAft>
                <a:spcPts val="200"/>
              </a:spcAft>
              <a:buNone/>
            </a:pPr>
            <a:r>
              <a:rPr lang="en-US" sz="1020" dirty="0">
                <a:solidFill>
                  <a:srgbClr val="222222"/>
                </a:solidFill>
                <a:latin typeface="Meiryo" pitchFamily="34" charset="0"/>
                <a:ea typeface="Meiryo" pitchFamily="34" charset="-122"/>
                <a:cs typeface="Meiryo" pitchFamily="34" charset="-120"/>
              </a:rPr>
              <a:t>The affected area is the Coffee Region rebuilt after 1999. Comparing how post-1999 construction performed against older stock, under a very different type of shaking, will be valuable for the region and for other countries with intermediate-depth seismic sources.</a:t>
            </a:r>
            <a:endParaRPr lang="en-US" sz="950" dirty="0"/>
          </a:p>
          <a:p>
            <a:pPr algn="l" marL="342900" indent="-342900">
              <a:buSzPct val="100000"/>
              <a:buChar char="•"/>
            </a:pPr>
            <a:r>
              <a:rPr lang="en-US" sz="95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020" dirty="0">
                <a:solidFill>
                  <a:srgbClr val="222222"/>
                </a:solidFill>
                <a:latin typeface="Meiryo" pitchFamily="34" charset="0"/>
                <a:ea typeface="Meiryo" pitchFamily="34" charset="-122"/>
                <a:cs typeface="Meiryo" pitchFamily="34" charset="-120"/>
              </a:rPr>
              <a:t>The assessments existed before the event. Cali's GEM-TREQ risk model and its local plan had already named hospitals and other indispensable buildings as the priority to retrofit, and the 2026 earthquake — a far weaker test than the city's own modelled scenario — still took out roughly 30% of its main public hospital. The gap here is not knowledge but implementation and financing.</a:t>
            </a:r>
            <a:endParaRPr lang="en-US" sz="950" dirty="0"/>
          </a:p>
          <a:p>
            <a:pPr algn="l" marL="342900" indent="-342900">
              <a:buSzPct val="100000"/>
              <a:buChar char="•"/>
            </a:pPr>
            <a:r>
              <a:rPr lang="en-US" sz="95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020" dirty="0">
                <a:solidFill>
                  <a:srgbClr val="222222"/>
                </a:solidFill>
                <a:latin typeface="Meiryo" pitchFamily="34" charset="0"/>
                <a:ea typeface="Meiryo" pitchFamily="34" charset="-122"/>
                <a:cs typeface="Meiryo" pitchFamily="34" charset="-120"/>
              </a:rPr>
              <a:t>Aftershock risk to damaged buildings. The SGC located 147 events in 34 hours, 92% of them below M3.0 and only one above M4.0 - as modest as an intermediate-depth intraslab rupture predicts. That statistic is not the operational point: the M4.8 of 10 August was felt widely, and the M3.9 of 11 August emptied buildings again in several cities. Structures the mainshock left standing but damaged have lost capacity, so rapid habitability assessment before re-occupancy matters more than the aftershock numbers.</a:t>
            </a:r>
            <a:endParaRPr lang="en-US" sz="950" dirty="0"/>
          </a:p>
          <a:p>
            <a:pPr algn="l" marL="342900" indent="-342900">
              <a:buSzPct val="100000"/>
              <a:buChar char="•"/>
            </a:pPr>
            <a:r>
              <a:rPr lang="en-US" sz="950" b="1" dirty="0">
                <a:solidFill>
                  <a:srgbClr val="888888"/>
                </a:solidFill>
                <a:latin typeface="Meiryo" pitchFamily="34" charset="0"/>
                <a:ea typeface="Meiryo" pitchFamily="34" charset="-122"/>
                <a:cs typeface="Meiryo" pitchFamily="34" charset="-120"/>
              </a:rPr>
              <a:t>[TBC] </a:t>
            </a:r>
            <a:pPr algn="l" indent="0" marL="0">
              <a:spcAft>
                <a:spcPts val="200"/>
              </a:spcAft>
              <a:buNone/>
            </a:pPr>
            <a:r>
              <a:rPr lang="en-US" sz="1020" dirty="0">
                <a:solidFill>
                  <a:srgbClr val="222222"/>
                </a:solidFill>
                <a:latin typeface="Meiryo" pitchFamily="34" charset="0"/>
                <a:ea typeface="Meiryo" pitchFamily="34" charset="-122"/>
                <a:cs typeface="Meiryo" pitchFamily="34" charset="-120"/>
              </a:rPr>
              <a:t>Points to watch: the reconciled national casualty figures; shelter and displacement numbers, which have not yet been published; water and power restoration in Chocó; the results of satellite-based damage mapping; and whether the Government requests international assistance beyond the offers already made.</a:t>
            </a:r>
            <a:endParaRPr lang="en-US" sz="950" dirty="0"/>
          </a:p>
        </p:txBody>
      </p:sp>
      <p:sp>
        <p:nvSpPr>
          <p:cNvPr id="5"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7"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43 / 63</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Cali: municipal damage report</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51560"/>
            <a:ext cx="11430000" cy="1463040"/>
          </a:xfrm>
          <a:prstGeom prst="rect">
            <a:avLst/>
          </a:prstGeom>
          <a:noFill/>
          <a:ln/>
        </p:spPr>
        <p:txBody>
          <a:bodyPr wrap="square" lIns="50800" tIns="50800" rIns="50800" bIns="50800" rtlCol="0" anchor="t">
            <a:normAutofit/>
          </a:bodyPr>
          <a:lstStyle/>
          <a:p>
            <a:pPr algn="l" indent="0" marL="0">
              <a:buNone/>
            </a:pPr>
            <a:r>
              <a:rPr lang="en-US" sz="1150" dirty="0">
                <a:solidFill>
                  <a:srgbClr val="222222"/>
                </a:solidFill>
                <a:latin typeface="Meiryo" pitchFamily="34" charset="0"/>
                <a:ea typeface="Meiryo" pitchFamily="34" charset="-122"/>
                <a:cs typeface="Meiryo" pitchFamily="34" charset="-120"/>
              </a:rPr>
              <a:t>Reading these against the other Cali figures — The city's own count of 69 deaths sits below the 85 the mayor gave on 11 August and the 97 in the President's breakdown the same day, and its 1,008 injured sits above the mayor's 885. The municipal report carries no cut-off time, so it cannot be placed in that sequence: it may be an earlier snapshot, or a narrower count of deaths confirmed by the city itself. Until the city states its cut-off, cite the national figures for the national picture and use these for what only the municipality reports - collapsed and structurally damaged buildings, evacuation orders, and the trapped-versus-rescued balance.</a:t>
            </a:r>
            <a:endParaRPr lang="en-US" sz="115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365760" y="2606040"/>
          <a:ext cx="11430000" cy="914400"/>
        </p:xfrm>
        <a:graphic>
          <a:graphicData uri="http://schemas.openxmlformats.org/drawingml/2006/table">
            <a:tbl>
              <a:tblPr/>
              <a:tblGrid>
                <a:gridCol w="3840480"/>
                <a:gridCol w="1828800"/>
              </a:tblGrid>
              <a:tr h="0">
                <a:tc>
                  <a:txBody>
                    <a:bodyPr/>
                    <a:lstStyle/>
                    <a:p>
                      <a:pPr algn="l" indent="0" marL="0">
                        <a:buNone/>
                      </a:pPr>
                      <a:r>
                        <a:rPr lang="en-US" sz="1300" b="1" dirty="0">
                          <a:solidFill>
                            <a:srgbClr val="FFFFFF"/>
                          </a:solidFill>
                        </a:rPr>
                        <a:t>Item</a:t>
                      </a:r>
                      <a:endParaRPr lang="en-US" sz="1300" dirty="0"/>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Figure</a:t>
                      </a:r>
                      <a:endParaRPr lang="en-US" sz="1300" dirty="0"/>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0">
                <a:tc>
                  <a:txBody>
                    <a:bodyPr/>
                    <a:lstStyle/>
                    <a:p>
                      <a:pPr algn="l" indent="0" marL="0">
                        <a:buNone/>
                      </a:pPr>
                      <a:r>
                        <a:rPr lang="en-US" sz="1100" dirty="0">
                          <a:solidFill>
                            <a:srgbClr val="222222"/>
                          </a:solidFill>
                        </a:rPr>
                        <a:t>Deaths</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rPr>
                        <a:t>69</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rPr>
                        <a:t>Injured</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rPr>
                        <a:t>1,008</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rPr>
                        <a:t>People </a:t>
                      </a:r>
                      <a:pPr algn="l" indent="0" marL="0">
                        <a:buNone/>
                      </a:pPr>
                      <a:r>
                        <a:rPr lang="en-US" sz="1100" dirty="0">
                          <a:solidFill>
                            <a:srgbClr val="222222"/>
                          </a:solidFill>
                        </a:rPr>
                        <a:t>trapped</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rPr>
                        <a:t>230</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rPr>
                        <a:t>People </a:t>
                      </a:r>
                      <a:pPr algn="l" indent="0" marL="0">
                        <a:buNone/>
                      </a:pPr>
                      <a:r>
                        <a:rPr lang="en-US" sz="1100" dirty="0">
                          <a:solidFill>
                            <a:srgbClr val="222222"/>
                          </a:solidFill>
                        </a:rPr>
                        <a:t>rescued</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rPr>
                        <a:t>88</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rPr>
                        <a:t>Buildings </a:t>
                      </a:r>
                      <a:pPr algn="l" indent="0" marL="0">
                        <a:buNone/>
                      </a:pPr>
                      <a:r>
                        <a:rPr lang="en-US" sz="1100" dirty="0">
                          <a:solidFill>
                            <a:srgbClr val="222222"/>
                          </a:solidFill>
                        </a:rPr>
                        <a:t>collapsed</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rPr>
                        <a:t>107</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rPr>
                        <a:t>Buildings </a:t>
                      </a:r>
                      <a:pPr algn="l" indent="0" marL="0">
                        <a:buNone/>
                      </a:pPr>
                      <a:r>
                        <a:rPr lang="en-US" sz="1100" dirty="0">
                          <a:solidFill>
                            <a:srgbClr val="222222"/>
                          </a:solidFill>
                        </a:rPr>
                        <a:t>with </a:t>
                      </a:r>
                      <a:pPr algn="l" indent="0" marL="0">
                        <a:buNone/>
                      </a:pPr>
                      <a:r>
                        <a:rPr lang="en-US" sz="1100" dirty="0">
                          <a:solidFill>
                            <a:srgbClr val="222222"/>
                          </a:solidFill>
                        </a:rPr>
                        <a:t>structural </a:t>
                      </a:r>
                      <a:pPr algn="l" indent="0" marL="0">
                        <a:buNone/>
                      </a:pPr>
                      <a:r>
                        <a:rPr lang="en-US" sz="1100" dirty="0">
                          <a:solidFill>
                            <a:srgbClr val="222222"/>
                          </a:solidFill>
                        </a:rPr>
                        <a:t>damage</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rPr>
                        <a:t>643</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rPr>
                        <a:t>Buildings </a:t>
                      </a:r>
                      <a:pPr algn="l" indent="0" marL="0">
                        <a:buNone/>
                      </a:pPr>
                      <a:r>
                        <a:rPr lang="en-US" sz="1100" dirty="0">
                          <a:solidFill>
                            <a:srgbClr val="222222"/>
                          </a:solidFill>
                        </a:rPr>
                        <a:t>under </a:t>
                      </a:r>
                      <a:pPr algn="l" indent="0" marL="0">
                        <a:buNone/>
                      </a:pPr>
                      <a:r>
                        <a:rPr lang="en-US" sz="1100" dirty="0">
                          <a:solidFill>
                            <a:srgbClr val="222222"/>
                          </a:solidFill>
                        </a:rPr>
                        <a:t>evacuation </a:t>
                      </a:r>
                      <a:pPr algn="l" indent="0" marL="0">
                        <a:buNone/>
                      </a:pPr>
                      <a:r>
                        <a:rPr lang="en-US" sz="1100" dirty="0">
                          <a:solidFill>
                            <a:srgbClr val="222222"/>
                          </a:solidFill>
                        </a:rPr>
                        <a:t>order</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rPr>
                        <a:t>18</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rPr>
                        <a:t>People </a:t>
                      </a:r>
                      <a:pPr algn="l" indent="0" marL="0">
                        <a:buNone/>
                      </a:pPr>
                      <a:r>
                        <a:rPr lang="en-US" sz="1100" dirty="0">
                          <a:solidFill>
                            <a:srgbClr val="222222"/>
                          </a:solidFill>
                        </a:rPr>
                        <a:t>trapped</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rPr>
                        <a:t>230</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rPr>
                        <a:t>People </a:t>
                      </a:r>
                      <a:pPr algn="l" indent="0" marL="0">
                        <a:buNone/>
                      </a:pPr>
                      <a:r>
                        <a:rPr lang="en-US" sz="1100" dirty="0">
                          <a:solidFill>
                            <a:srgbClr val="222222"/>
                          </a:solidFill>
                        </a:rPr>
                        <a:t>rescued</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rPr>
                        <a:t>88</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rPr>
                        <a:t>Deaths</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rPr>
                        <a:t>69</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rPr>
                        <a:t>Injured</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rPr>
                        <a:t>1,008</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5870448"/>
            <a:ext cx="11430000" cy="402336"/>
          </a:xfrm>
          <a:prstGeom prst="rect">
            <a:avLst/>
          </a:prstGeom>
          <a:noFill/>
          <a:ln/>
        </p:spPr>
        <p:txBody>
          <a:bodyPr wrap="square" lIns="38100" tIns="38100" rIns="38100" bIns="38100" rtlCol="0" anchor="t">
            <a:normAutofit/>
          </a:bodyPr>
          <a:lstStyle/>
          <a:p>
            <a:pPr algn="l" indent="0" marL="0">
              <a:buNone/>
            </a:pPr>
            <a:r>
              <a:rPr lang="en-US" sz="950" dirty="0">
                <a:solidFill>
                  <a:srgbClr val="6A6A6A"/>
                </a:solidFill>
                <a:latin typeface="Meiryo" pitchFamily="34" charset="0"/>
                <a:ea typeface="Meiryo" pitchFamily="34" charset="-122"/>
                <a:cs typeface="Meiryo" pitchFamily="34" charset="-120"/>
              </a:rPr>
              <a:t>230 people trapped against 88 rescued is the number that drives the next 48 hours in Cali: it is the search-and-rescue caseload, and it is larger than the city's death toll.  (Officials of the Alcaldía de Santiago de Cali, received 12 August 2026)</a:t>
            </a:r>
            <a:endParaRPr lang="en-US" sz="9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44 / 63</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Pre-event Risk Assessment: Santiago de Cali</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51560"/>
            <a:ext cx="11430000" cy="1463040"/>
          </a:xfrm>
          <a:prstGeom prst="rect">
            <a:avLst/>
          </a:prstGeom>
          <a:noFill/>
          <a:ln/>
        </p:spPr>
        <p:txBody>
          <a:bodyPr wrap="square" lIns="50800" tIns="50800" rIns="50800" bIns="50800" rtlCol="0" anchor="t">
            <a:normAutofit/>
          </a:bodyPr>
          <a:lstStyle/>
          <a:p>
            <a:pPr algn="l" indent="0" marL="0">
              <a:buNone/>
            </a:pPr>
            <a:r>
              <a:rPr lang="en-US" sz="1150" dirty="0">
                <a:solidFill>
                  <a:srgbClr val="222222"/>
                </a:solidFill>
                <a:latin typeface="Meiryo" pitchFamily="34" charset="0"/>
                <a:ea typeface="Meiryo" pitchFamily="34" charset="-122"/>
                <a:cs typeface="Meiryo" pitchFamily="34" charset="-120"/>
              </a:rPr>
              <a:t>Cali did not lack a risk assessment. Between 2020 and 2022 the city built a full urban earthquake risk model with the GEM Foundation under the USAID-supported TREQ project, one of three pilot cities alongside Quito and Santiago de los Caballeros. The modelled scenario is a shallow local one — magnitude 6.5 at 10 km depth on the Dagua-Calima fault — and its estimates dwarf what the city actually experienced on 10 August 2026.</a:t>
            </a:r>
            <a:endParaRPr lang="en-US" sz="115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365760" y="2606040"/>
          <a:ext cx="11430000" cy="914400"/>
        </p:xfrm>
        <a:graphic>
          <a:graphicData uri="http://schemas.openxmlformats.org/drawingml/2006/table">
            <a:tbl>
              <a:tblPr/>
              <a:tblGrid>
                <a:gridCol w="3108960"/>
                <a:gridCol w="8321040"/>
              </a:tblGrid>
              <a:tr h="0">
                <a:tc>
                  <a:txBody>
                    <a:bodyPr/>
                    <a:lstStyle/>
                    <a:p>
                      <a:pPr algn="l" indent="0" marL="0">
                        <a:buNone/>
                      </a:pPr>
                      <a:r>
                        <a:rPr lang="en-US" sz="1300" b="1" dirty="0">
                          <a:solidFill>
                            <a:srgbClr val="FFFFFF"/>
                          </a:solidFill>
                        </a:rPr>
                        <a:t>Item</a:t>
                      </a:r>
                      <a:endParaRPr lang="en-US" sz="1300" dirty="0"/>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Value</a:t>
                      </a:r>
                      <a:endParaRPr lang="en-US" sz="1300" dirty="0"/>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0">
                <a:tc>
                  <a:txBody>
                    <a:bodyPr/>
                    <a:lstStyle/>
                    <a:p>
                      <a:pPr algn="l" indent="0" marL="0">
                        <a:buNone/>
                      </a:pPr>
                      <a:r>
                        <a:rPr lang="en-US" sz="1100" dirty="0">
                          <a:solidFill>
                            <a:srgbClr val="222222"/>
                          </a:solidFill>
                        </a:rPr>
                        <a:t>Modelled </a:t>
                      </a:r>
                      <a:pPr algn="l" indent="0" marL="0">
                        <a:buNone/>
                      </a:pPr>
                      <a:r>
                        <a:rPr lang="en-US" sz="1100" dirty="0">
                          <a:solidFill>
                            <a:srgbClr val="222222"/>
                          </a:solidFill>
                        </a:rPr>
                        <a:t>scenario</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rPr>
                        <a:t>M6.5, </a:t>
                      </a:r>
                      <a:pPr algn="l" indent="0" marL="0">
                        <a:buNone/>
                      </a:pPr>
                      <a:r>
                        <a:rPr lang="en-US" sz="1100" dirty="0">
                          <a:solidFill>
                            <a:srgbClr val="222222"/>
                          </a:solidFill>
                        </a:rPr>
                        <a:t>10 </a:t>
                      </a:r>
                      <a:pPr algn="l" indent="0" marL="0">
                        <a:buNone/>
                      </a:pPr>
                      <a:r>
                        <a:rPr lang="en-US" sz="1100" dirty="0">
                          <a:solidFill>
                            <a:srgbClr val="222222"/>
                          </a:solidFill>
                        </a:rPr>
                        <a:t>km </a:t>
                      </a:r>
                      <a:pPr algn="l" indent="0" marL="0">
                        <a:buNone/>
                      </a:pPr>
                      <a:r>
                        <a:rPr lang="en-US" sz="1100" dirty="0">
                          <a:solidFill>
                            <a:srgbClr val="222222"/>
                          </a:solidFill>
                        </a:rPr>
                        <a:t>depth, </a:t>
                      </a:r>
                      <a:pPr algn="l" indent="0" marL="0">
                        <a:buNone/>
                      </a:pPr>
                      <a:r>
                        <a:rPr lang="en-US" sz="1100" dirty="0">
                          <a:solidFill>
                            <a:srgbClr val="222222"/>
                          </a:solidFill>
                        </a:rPr>
                        <a:t>Dagua-Calima </a:t>
                      </a:r>
                      <a:pPr algn="l" indent="0" marL="0">
                        <a:buNone/>
                      </a:pPr>
                      <a:r>
                        <a:rPr lang="en-US" sz="1100" dirty="0">
                          <a:solidFill>
                            <a:srgbClr val="222222"/>
                          </a:solidFill>
                        </a:rPr>
                        <a:t>fault, </a:t>
                      </a:r>
                      <a:pPr algn="l" indent="0" marL="0">
                        <a:buNone/>
                      </a:pPr>
                      <a:r>
                        <a:rPr lang="en-US" sz="1100" dirty="0">
                          <a:solidFill>
                            <a:srgbClr val="222222"/>
                          </a:solidFill>
                        </a:rPr>
                        <a:t>urban </a:t>
                      </a:r>
                      <a:pPr algn="l" indent="0" marL="0">
                        <a:buNone/>
                      </a:pPr>
                      <a:r>
                        <a:rPr lang="en-US" sz="1100" dirty="0">
                          <a:solidFill>
                            <a:srgbClr val="222222"/>
                          </a:solidFill>
                        </a:rPr>
                        <a:t>area</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rPr>
                        <a:t>Population </a:t>
                      </a:r>
                      <a:pPr algn="l" indent="0" marL="0">
                        <a:buNone/>
                      </a:pPr>
                      <a:r>
                        <a:rPr lang="en-US" sz="1100" dirty="0">
                          <a:solidFill>
                            <a:srgbClr val="222222"/>
                          </a:solidFill>
                        </a:rPr>
                        <a:t>exposed</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rPr>
                        <a:t>approx. </a:t>
                      </a:r>
                      <a:pPr algn="l" indent="0" marL="0">
                        <a:buNone/>
                      </a:pPr>
                      <a:r>
                        <a:rPr lang="en-US" sz="1100" dirty="0">
                          <a:solidFill>
                            <a:srgbClr val="222222"/>
                          </a:solidFill>
                        </a:rPr>
                        <a:t>2,300,000</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rPr>
                        <a:t>Estimated </a:t>
                      </a:r>
                      <a:pPr algn="l" indent="0" marL="0">
                        <a:buNone/>
                      </a:pPr>
                      <a:r>
                        <a:rPr lang="en-US" sz="1100" dirty="0">
                          <a:solidFill>
                            <a:srgbClr val="222222"/>
                          </a:solidFill>
                        </a:rPr>
                        <a:t>deaths</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rPr>
                        <a:t>approx. </a:t>
                      </a:r>
                      <a:pPr algn="l" indent="0" marL="0">
                        <a:buNone/>
                      </a:pPr>
                      <a:r>
                        <a:rPr lang="en-US" sz="1100" dirty="0">
                          <a:solidFill>
                            <a:srgbClr val="222222"/>
                          </a:solidFill>
                        </a:rPr>
                        <a:t>1,200</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rPr>
                        <a:t>Seriously </a:t>
                      </a:r>
                      <a:pPr algn="l" indent="0" marL="0">
                        <a:buNone/>
                      </a:pPr>
                      <a:r>
                        <a:rPr lang="en-US" sz="1100" dirty="0">
                          <a:solidFill>
                            <a:srgbClr val="222222"/>
                          </a:solidFill>
                        </a:rPr>
                        <a:t>injured</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rPr>
                        <a:t>approx. </a:t>
                      </a:r>
                      <a:pPr algn="l" indent="0" marL="0">
                        <a:buNone/>
                      </a:pPr>
                      <a:r>
                        <a:rPr lang="en-US" sz="1100" dirty="0">
                          <a:solidFill>
                            <a:srgbClr val="222222"/>
                          </a:solidFill>
                        </a:rPr>
                        <a:t>36,300</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rPr>
                        <a:t>Displaced</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rPr>
                        <a:t>approx. </a:t>
                      </a:r>
                      <a:pPr algn="l" indent="0" marL="0">
                        <a:buNone/>
                      </a:pPr>
                      <a:r>
                        <a:rPr lang="en-US" sz="1100" dirty="0">
                          <a:solidFill>
                            <a:srgbClr val="222222"/>
                          </a:solidFill>
                        </a:rPr>
                        <a:t>181,000</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rPr>
                        <a:t>Buildings </a:t>
                      </a:r>
                      <a:pPr algn="l" indent="0" marL="0">
                        <a:buNone/>
                      </a:pPr>
                      <a:r>
                        <a:rPr lang="en-US" sz="1100" dirty="0">
                          <a:solidFill>
                            <a:srgbClr val="222222"/>
                          </a:solidFill>
                        </a:rPr>
                        <a:t>collapsed</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rPr>
                        <a:t>approx. </a:t>
                      </a:r>
                      <a:pPr algn="l" indent="0" marL="0">
                        <a:buNone/>
                      </a:pPr>
                      <a:r>
                        <a:rPr lang="en-US" sz="1100" dirty="0">
                          <a:solidFill>
                            <a:srgbClr val="222222"/>
                          </a:solidFill>
                        </a:rPr>
                        <a:t>1,800 </a:t>
                      </a:r>
                      <a:pPr algn="l" indent="0" marL="0">
                        <a:buNone/>
                      </a:pPr>
                      <a:r>
                        <a:rPr lang="en-US" sz="1100" dirty="0">
                          <a:solidFill>
                            <a:srgbClr val="222222"/>
                          </a:solidFill>
                        </a:rPr>
                        <a:t>of </a:t>
                      </a:r>
                      <a:pPr algn="l" indent="0" marL="0">
                        <a:buNone/>
                      </a:pPr>
                      <a:r>
                        <a:rPr lang="en-US" sz="1100" dirty="0">
                          <a:solidFill>
                            <a:srgbClr val="222222"/>
                          </a:solidFill>
                        </a:rPr>
                        <a:t>348,000 </a:t>
                      </a:r>
                      <a:pPr algn="l" indent="0" marL="0">
                        <a:buNone/>
                      </a:pPr>
                      <a:r>
                        <a:rPr lang="en-US" sz="1100" dirty="0">
                          <a:solidFill>
                            <a:srgbClr val="222222"/>
                          </a:solidFill>
                        </a:rPr>
                        <a:t>(0.5%)</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rPr>
                        <a:t>Residual </a:t>
                      </a:r>
                      <a:pPr algn="l" indent="0" marL="0">
                        <a:buNone/>
                      </a:pPr>
                      <a:r>
                        <a:rPr lang="en-US" sz="1100" dirty="0">
                          <a:solidFill>
                            <a:srgbClr val="222222"/>
                          </a:solidFill>
                        </a:rPr>
                        <a:t>risk</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rPr>
                        <a:t>assessed </a:t>
                      </a:r>
                      <a:pPr algn="l" indent="0" marL="0">
                        <a:buNone/>
                      </a:pPr>
                      <a:r>
                        <a:rPr lang="en-US" sz="1100" dirty="0">
                          <a:solidFill>
                            <a:srgbClr val="222222"/>
                          </a:solidFill>
                        </a:rPr>
                        <a:t>at </a:t>
                      </a:r>
                      <a:pPr algn="l" indent="0" marL="0">
                        <a:buNone/>
                      </a:pPr>
                      <a:r>
                        <a:rPr lang="en-US" sz="1100" dirty="0">
                          <a:solidFill>
                            <a:srgbClr val="222222"/>
                          </a:solidFill>
                        </a:rPr>
                        <a:t>about </a:t>
                      </a:r>
                      <a:pPr algn="l" indent="0" marL="0">
                        <a:buNone/>
                      </a:pPr>
                      <a:r>
                        <a:rPr lang="en-US" sz="1100" dirty="0">
                          <a:solidFill>
                            <a:srgbClr val="222222"/>
                          </a:solidFill>
                        </a:rPr>
                        <a:t>40% </a:t>
                      </a:r>
                      <a:pPr algn="l" indent="0" marL="0">
                        <a:buNone/>
                      </a:pPr>
                      <a:r>
                        <a:rPr lang="en-US" sz="1100" dirty="0">
                          <a:solidFill>
                            <a:srgbClr val="222222"/>
                          </a:solidFill>
                        </a:rPr>
                        <a:t>after </a:t>
                      </a:r>
                      <a:pPr algn="l" indent="0" marL="0">
                        <a:buNone/>
                      </a:pPr>
                      <a:r>
                        <a:rPr lang="en-US" sz="1100" dirty="0">
                          <a:solidFill>
                            <a:srgbClr val="222222"/>
                          </a:solidFill>
                        </a:rPr>
                        <a:t>existing </a:t>
                      </a:r>
                      <a:pPr algn="l" indent="0" marL="0">
                        <a:buNone/>
                      </a:pPr>
                      <a:r>
                        <a:rPr lang="en-US" sz="1100" dirty="0">
                          <a:solidFill>
                            <a:srgbClr val="222222"/>
                          </a:solidFill>
                        </a:rPr>
                        <a:t>measures</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5870448"/>
            <a:ext cx="11430000" cy="402336"/>
          </a:xfrm>
          <a:prstGeom prst="rect">
            <a:avLst/>
          </a:prstGeom>
          <a:noFill/>
          <a:ln/>
        </p:spPr>
        <p:txBody>
          <a:bodyPr wrap="square" lIns="38100" tIns="38100" rIns="38100" bIns="38100" rtlCol="0" anchor="t">
            <a:normAutofit/>
          </a:bodyPr>
          <a:lstStyle/>
          <a:p>
            <a:pPr algn="l" indent="0" marL="0">
              <a:buNone/>
            </a:pPr>
            <a:r>
              <a:rPr lang="en-US" sz="950" dirty="0">
                <a:solidFill>
                  <a:srgbClr val="6A6A6A"/>
                </a:solidFill>
                <a:latin typeface="Meiryo" pitchFamily="34" charset="0"/>
                <a:ea typeface="Meiryo" pitchFamily="34" charset="-122"/>
                <a:cs typeface="Meiryo" pitchFamily="34" charset="-120"/>
              </a:rPr>
              <a:t>Figures from the GEM-TREQ urban risk assessment for Santiago de Cali and from the city's local disaster risk management plan, as compiled by the Municipality of Santiago de Cali (Secretaría de Gestión del Riesgo de Emergencias y Desastres) for a JICA training course.</a:t>
            </a:r>
            <a:endParaRPr lang="en-US" sz="9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45 / 63</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What the city had already prioritised</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51560"/>
            <a:ext cx="11430000" cy="1463040"/>
          </a:xfrm>
          <a:prstGeom prst="rect">
            <a:avLst/>
          </a:prstGeom>
          <a:noFill/>
          <a:ln/>
        </p:spPr>
        <p:txBody>
          <a:bodyPr wrap="square" lIns="50800" tIns="50800" rIns="50800" bIns="50800" rtlCol="0" anchor="t">
            <a:normAutofit/>
          </a:bodyPr>
          <a:lstStyle/>
          <a:p>
            <a:pPr algn="l" indent="0" marL="0">
              <a:buNone/>
            </a:pPr>
            <a:r>
              <a:rPr lang="en-US" sz="1150" dirty="0">
                <a:solidFill>
                  <a:srgbClr val="222222"/>
                </a:solidFill>
                <a:latin typeface="Meiryo" pitchFamily="34" charset="0"/>
                <a:ea typeface="Meiryo" pitchFamily="34" charset="-122"/>
                <a:cs typeface="Meiryo" pitchFamily="34" charset="-120"/>
              </a:rPr>
              <a:t>The 2026 earthquake was not this scenario — The 10 August event was larger in magnitude (M7.4) but 110 km deep and 158 km from Cali, giving the city MMI VI rather than the near-field shaking of the modelled M6.5. Cali recorded 27 deaths and 25-30 collapsed structures — two orders of magnitude below the scenario. What it did test is exactly the weakness the local plan had flagged: about 30% of the University Hospital collapsed and seven health institutions closed. The city's own worst case remains ahead of it, and the case for retrofitting indispensable buildings is now evidential rather than theoretical.</a:t>
            </a:r>
            <a:endParaRPr lang="en-US" sz="115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365760" y="2606040"/>
          <a:ext cx="11430000" cy="914400"/>
        </p:xfrm>
        <a:graphic>
          <a:graphicData uri="http://schemas.openxmlformats.org/drawingml/2006/table">
            <a:tbl>
              <a:tblPr/>
              <a:tblGrid>
                <a:gridCol w="11430000"/>
              </a:tblGrid>
              <a:tr h="0">
                <a:tc>
                  <a:txBody>
                    <a:bodyPr/>
                    <a:lstStyle/>
                    <a:p>
                      <a:pPr algn="l" indent="0" marL="0">
                        <a:buNone/>
                      </a:pPr>
                      <a:r>
                        <a:rPr lang="en-US" sz="1300" b="1" dirty="0">
                          <a:solidFill>
                            <a:srgbClr val="FFFFFF"/>
                          </a:solidFill>
                        </a:rPr>
                        <a:t>Priority </a:t>
                      </a:r>
                      <a:pPr algn="l" indent="0" marL="0">
                        <a:buNone/>
                      </a:pPr>
                      <a:r>
                        <a:rPr lang="en-US" sz="1300" b="1" dirty="0">
                          <a:solidFill>
                            <a:srgbClr val="FFFFFF"/>
                          </a:solidFill>
                        </a:rPr>
                        <a:t>already </a:t>
                      </a:r>
                      <a:pPr algn="l" indent="0" marL="0">
                        <a:buNone/>
                      </a:pPr>
                      <a:r>
                        <a:rPr lang="en-US" sz="1300" b="1" dirty="0">
                          <a:solidFill>
                            <a:srgbClr val="FFFFFF"/>
                          </a:solidFill>
                        </a:rPr>
                        <a:t>identified</a:t>
                      </a:r>
                      <a:endParaRPr lang="en-US" sz="1300" dirty="0"/>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0">
                <a:tc>
                  <a:txBody>
                    <a:bodyPr/>
                    <a:lstStyle/>
                    <a:p>
                      <a:pPr algn="l" indent="0" marL="0">
                        <a:buNone/>
                      </a:pPr>
                      <a:r>
                        <a:rPr lang="en-US" sz="1100" dirty="0">
                          <a:solidFill>
                            <a:srgbClr val="222222"/>
                          </a:solidFill>
                        </a:rPr>
                        <a:t>Seismic </a:t>
                      </a:r>
                      <a:pPr algn="l" indent="0" marL="0">
                        <a:buNone/>
                      </a:pPr>
                      <a:r>
                        <a:rPr lang="en-US" sz="1100" dirty="0">
                          <a:solidFill>
                            <a:srgbClr val="222222"/>
                          </a:solidFill>
                        </a:rPr>
                        <a:t>vulnerability </a:t>
                      </a:r>
                      <a:pPr algn="l" indent="0" marL="0">
                        <a:buNone/>
                      </a:pPr>
                      <a:r>
                        <a:rPr lang="en-US" sz="1100" dirty="0">
                          <a:solidFill>
                            <a:srgbClr val="222222"/>
                          </a:solidFill>
                        </a:rPr>
                        <a:t>studies </a:t>
                      </a:r>
                      <a:pPr algn="l" indent="0" marL="0">
                        <a:buNone/>
                      </a:pPr>
                      <a:r>
                        <a:rPr lang="en-US" sz="1100" dirty="0">
                          <a:solidFill>
                            <a:srgbClr val="222222"/>
                          </a:solidFill>
                        </a:rPr>
                        <a:t>of </a:t>
                      </a:r>
                      <a:pPr algn="l" indent="0" marL="0">
                        <a:buNone/>
                      </a:pPr>
                      <a:r>
                        <a:rPr lang="en-US" sz="1100" dirty="0">
                          <a:solidFill>
                            <a:srgbClr val="222222"/>
                          </a:solidFill>
                        </a:rPr>
                        <a:t>indispensable </a:t>
                      </a:r>
                      <a:pPr algn="l" indent="0" marL="0">
                        <a:buNone/>
                      </a:pPr>
                      <a:r>
                        <a:rPr lang="en-US" sz="1100" dirty="0">
                          <a:solidFill>
                            <a:srgbClr val="222222"/>
                          </a:solidFill>
                        </a:rPr>
                        <a:t>buildings </a:t>
                      </a:r>
                      <a:pPr algn="l" indent="0" marL="0">
                        <a:buNone/>
                      </a:pPr>
                      <a:r>
                        <a:rPr lang="en-US" sz="1100" dirty="0">
                          <a:solidFill>
                            <a:srgbClr val="222222"/>
                          </a:solidFill>
                        </a:rPr>
                        <a:t>— </a:t>
                      </a:r>
                      <a:pPr algn="l" indent="0" marL="0">
                        <a:buNone/>
                      </a:pPr>
                      <a:r>
                        <a:rPr lang="en-US" sz="1100" dirty="0">
                          <a:solidFill>
                            <a:srgbClr val="222222"/>
                          </a:solidFill>
                        </a:rPr>
                        <a:t>hospitals, </a:t>
                      </a:r>
                      <a:pPr algn="l" indent="0" marL="0">
                        <a:buNone/>
                      </a:pPr>
                      <a:r>
                        <a:rPr lang="en-US" sz="1100" dirty="0">
                          <a:solidFill>
                            <a:srgbClr val="222222"/>
                          </a:solidFill>
                        </a:rPr>
                        <a:t>schools, </a:t>
                      </a:r>
                      <a:pPr algn="l" indent="0" marL="0">
                        <a:buNone/>
                      </a:pPr>
                      <a:r>
                        <a:rPr lang="en-US" sz="1100" dirty="0">
                          <a:solidFill>
                            <a:srgbClr val="222222"/>
                          </a:solidFill>
                        </a:rPr>
                        <a:t>fire </a:t>
                      </a:r>
                      <a:pPr algn="l" indent="0" marL="0">
                        <a:buNone/>
                      </a:pPr>
                      <a:r>
                        <a:rPr lang="en-US" sz="1100" dirty="0">
                          <a:solidFill>
                            <a:srgbClr val="222222"/>
                          </a:solidFill>
                        </a:rPr>
                        <a:t>stations </a:t>
                      </a:r>
                      <a:pPr algn="l" indent="0" marL="0">
                        <a:buNone/>
                      </a:pPr>
                      <a:r>
                        <a:rPr lang="en-US" sz="1100" dirty="0">
                          <a:solidFill>
                            <a:srgbClr val="222222"/>
                          </a:solidFill>
                        </a:rPr>
                        <a:t>— </a:t>
                      </a:r>
                      <a:pPr algn="l" indent="0" marL="0">
                        <a:buNone/>
                      </a:pPr>
                      <a:r>
                        <a:rPr lang="en-US" sz="1100" dirty="0">
                          <a:solidFill>
                            <a:srgbClr val="222222"/>
                          </a:solidFill>
                        </a:rPr>
                        <a:t>to </a:t>
                      </a:r>
                      <a:pPr algn="l" indent="0" marL="0">
                        <a:buNone/>
                      </a:pPr>
                      <a:r>
                        <a:rPr lang="en-US" sz="1100" dirty="0">
                          <a:solidFill>
                            <a:srgbClr val="222222"/>
                          </a:solidFill>
                        </a:rPr>
                        <a:t>the </a:t>
                      </a:r>
                      <a:pPr algn="l" indent="0" marL="0">
                        <a:buNone/>
                      </a:pPr>
                      <a:r>
                        <a:rPr lang="en-US" sz="1100" dirty="0">
                          <a:solidFill>
                            <a:srgbClr val="222222"/>
                          </a:solidFill>
                        </a:rPr>
                        <a:t>NSR-10 </a:t>
                      </a:r>
                      <a:pPr algn="l" indent="0" marL="0">
                        <a:buNone/>
                      </a:pPr>
                      <a:r>
                        <a:rPr lang="en-US" sz="1100" dirty="0">
                          <a:solidFill>
                            <a:srgbClr val="222222"/>
                          </a:solidFill>
                        </a:rPr>
                        <a:t>code </a:t>
                      </a:r>
                      <a:pPr algn="l" indent="0" marL="0">
                        <a:buNone/>
                      </a:pPr>
                      <a:r>
                        <a:rPr lang="en-US" sz="1100" dirty="0">
                          <a:solidFill>
                            <a:srgbClr val="222222"/>
                          </a:solidFill>
                        </a:rPr>
                        <a:t>(budgeted </a:t>
                      </a:r>
                      <a:pPr algn="l" indent="0" marL="0">
                        <a:buNone/>
                      </a:pPr>
                      <a:r>
                        <a:rPr lang="en-US" sz="1100" dirty="0">
                          <a:solidFill>
                            <a:srgbClr val="222222"/>
                          </a:solidFill>
                        </a:rPr>
                        <a:t>at </a:t>
                      </a:r>
                      <a:pPr algn="l" indent="0" marL="0">
                        <a:buNone/>
                      </a:pPr>
                      <a:r>
                        <a:rPr lang="en-US" sz="1100" dirty="0">
                          <a:solidFill>
                            <a:srgbClr val="222222"/>
                          </a:solidFill>
                        </a:rPr>
                        <a:t>about </a:t>
                      </a:r>
                      <a:pPr algn="l" indent="0" marL="0">
                        <a:buNone/>
                      </a:pPr>
                      <a:r>
                        <a:rPr lang="en-US" sz="1100" dirty="0">
                          <a:solidFill>
                            <a:srgbClr val="222222"/>
                          </a:solidFill>
                        </a:rPr>
                        <a:t>USD </a:t>
                      </a:r>
                      <a:pPr algn="l" indent="0" marL="0">
                        <a:buNone/>
                      </a:pPr>
                      <a:r>
                        <a:rPr lang="en-US" sz="1100" dirty="0">
                          <a:solidFill>
                            <a:srgbClr val="222222"/>
                          </a:solidFill>
                        </a:rPr>
                        <a:t>1.7 </a:t>
                      </a:r>
                      <a:pPr algn="l" indent="0" marL="0">
                        <a:buNone/>
                      </a:pPr>
                      <a:r>
                        <a:rPr lang="en-US" sz="1100" dirty="0">
                          <a:solidFill>
                            <a:srgbClr val="222222"/>
                          </a:solidFill>
                        </a:rPr>
                        <a:t>million, </a:t>
                      </a:r>
                      <a:pPr algn="l" indent="0" marL="0">
                        <a:buNone/>
                      </a:pPr>
                      <a:r>
                        <a:rPr lang="en-US" sz="1100" dirty="0">
                          <a:solidFill>
                            <a:srgbClr val="222222"/>
                          </a:solidFill>
                        </a:rPr>
                        <a:t>short </a:t>
                      </a:r>
                      <a:pPr algn="l" indent="0" marL="0">
                        <a:buNone/>
                      </a:pPr>
                      <a:r>
                        <a:rPr lang="en-US" sz="1100" dirty="0">
                          <a:solidFill>
                            <a:srgbClr val="222222"/>
                          </a:solidFill>
                        </a:rPr>
                        <a:t>term).</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rPr>
                        <a:t>Structural </a:t>
                      </a:r>
                      <a:pPr algn="l" indent="0" marL="0">
                        <a:buNone/>
                      </a:pPr>
                      <a:r>
                        <a:rPr lang="en-US" sz="1100" dirty="0">
                          <a:solidFill>
                            <a:srgbClr val="222222"/>
                          </a:solidFill>
                        </a:rPr>
                        <a:t>retrofitting </a:t>
                      </a:r>
                      <a:pPr algn="l" indent="0" marL="0">
                        <a:buNone/>
                      </a:pPr>
                      <a:r>
                        <a:rPr lang="en-US" sz="1100" dirty="0">
                          <a:solidFill>
                            <a:srgbClr val="222222"/>
                          </a:solidFill>
                        </a:rPr>
                        <a:t>of </a:t>
                      </a:r>
                      <a:pPr algn="l" indent="0" marL="0">
                        <a:buNone/>
                      </a:pPr>
                      <a:r>
                        <a:rPr lang="en-US" sz="1100" dirty="0">
                          <a:solidFill>
                            <a:srgbClr val="222222"/>
                          </a:solidFill>
                        </a:rPr>
                        <a:t>indispensable </a:t>
                      </a:r>
                      <a:pPr algn="l" indent="0" marL="0">
                        <a:buNone/>
                      </a:pPr>
                      <a:r>
                        <a:rPr lang="en-US" sz="1100" dirty="0">
                          <a:solidFill>
                            <a:srgbClr val="222222"/>
                          </a:solidFill>
                        </a:rPr>
                        <a:t>buildings </a:t>
                      </a:r>
                      <a:pPr algn="l" indent="0" marL="0">
                        <a:buNone/>
                      </a:pPr>
                      <a:r>
                        <a:rPr lang="en-US" sz="1100" dirty="0">
                          <a:solidFill>
                            <a:srgbClr val="222222"/>
                          </a:solidFill>
                        </a:rPr>
                        <a:t>and </a:t>
                      </a:r>
                      <a:pPr algn="l" indent="0" marL="0">
                        <a:buNone/>
                      </a:pPr>
                      <a:r>
                        <a:rPr lang="en-US" sz="1100" dirty="0">
                          <a:solidFill>
                            <a:srgbClr val="222222"/>
                          </a:solidFill>
                        </a:rPr>
                        <a:t>of </a:t>
                      </a:r>
                      <a:pPr algn="l" indent="0" marL="0">
                        <a:buNone/>
                      </a:pPr>
                      <a:r>
                        <a:rPr lang="en-US" sz="1100" dirty="0">
                          <a:solidFill>
                            <a:srgbClr val="222222"/>
                          </a:solidFill>
                        </a:rPr>
                        <a:t>basic-service </a:t>
                      </a:r>
                      <a:pPr algn="l" indent="0" marL="0">
                        <a:buNone/>
                      </a:pPr>
                      <a:r>
                        <a:rPr lang="en-US" sz="1100" dirty="0">
                          <a:solidFill>
                            <a:srgbClr val="222222"/>
                          </a:solidFill>
                        </a:rPr>
                        <a:t>infrastructure, </a:t>
                      </a:r>
                      <a:pPr algn="l" indent="0" marL="0">
                        <a:buNone/>
                      </a:pPr>
                      <a:r>
                        <a:rPr lang="en-US" sz="1100" dirty="0">
                          <a:solidFill>
                            <a:srgbClr val="222222"/>
                          </a:solidFill>
                        </a:rPr>
                        <a:t>to </a:t>
                      </a:r>
                      <a:pPr algn="l" indent="0" marL="0">
                        <a:buNone/>
                      </a:pPr>
                      <a:r>
                        <a:rPr lang="en-US" sz="1100" dirty="0">
                          <a:solidFill>
                            <a:srgbClr val="222222"/>
                          </a:solidFill>
                        </a:rPr>
                        <a:t>keep </a:t>
                      </a:r>
                      <a:pPr algn="l" indent="0" marL="0">
                        <a:buNone/>
                      </a:pPr>
                      <a:r>
                        <a:rPr lang="en-US" sz="1100" dirty="0">
                          <a:solidFill>
                            <a:srgbClr val="222222"/>
                          </a:solidFill>
                        </a:rPr>
                        <a:t>essential </a:t>
                      </a:r>
                      <a:pPr algn="l" indent="0" marL="0">
                        <a:buNone/>
                      </a:pPr>
                      <a:r>
                        <a:rPr lang="en-US" sz="1100" dirty="0">
                          <a:solidFill>
                            <a:srgbClr val="222222"/>
                          </a:solidFill>
                        </a:rPr>
                        <a:t>services </a:t>
                      </a:r>
                      <a:pPr algn="l" indent="0" marL="0">
                        <a:buNone/>
                      </a:pPr>
                      <a:r>
                        <a:rPr lang="en-US" sz="1100" dirty="0">
                          <a:solidFill>
                            <a:srgbClr val="222222"/>
                          </a:solidFill>
                        </a:rPr>
                        <a:t>running </a:t>
                      </a:r>
                      <a:pPr algn="l" indent="0" marL="0">
                        <a:buNone/>
                      </a:pPr>
                      <a:r>
                        <a:rPr lang="en-US" sz="1100" dirty="0">
                          <a:solidFill>
                            <a:srgbClr val="222222"/>
                          </a:solidFill>
                        </a:rPr>
                        <a:t>after </a:t>
                      </a:r>
                      <a:pPr algn="l" indent="0" marL="0">
                        <a:buNone/>
                      </a:pPr>
                      <a:r>
                        <a:rPr lang="en-US" sz="1100" dirty="0">
                          <a:solidFill>
                            <a:srgbClr val="222222"/>
                          </a:solidFill>
                        </a:rPr>
                        <a:t>an </a:t>
                      </a:r>
                      <a:pPr algn="l" indent="0" marL="0">
                        <a:buNone/>
                      </a:pPr>
                      <a:r>
                        <a:rPr lang="en-US" sz="1100" dirty="0">
                          <a:solidFill>
                            <a:srgbClr val="222222"/>
                          </a:solidFill>
                        </a:rPr>
                        <a:t>earthquake.</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rPr>
                        <a:t>Seismic </a:t>
                      </a:r>
                      <a:pPr algn="l" indent="0" marL="0">
                        <a:buNone/>
                      </a:pPr>
                      <a:r>
                        <a:rPr lang="en-US" sz="1100" dirty="0">
                          <a:solidFill>
                            <a:srgbClr val="222222"/>
                          </a:solidFill>
                        </a:rPr>
                        <a:t>vulnerability </a:t>
                      </a:r>
                      <a:pPr algn="l" indent="0" marL="0">
                        <a:buNone/>
                      </a:pPr>
                      <a:r>
                        <a:rPr lang="en-US" sz="1100" dirty="0">
                          <a:solidFill>
                            <a:srgbClr val="222222"/>
                          </a:solidFill>
                        </a:rPr>
                        <a:t>assessment </a:t>
                      </a:r>
                      <a:pPr algn="l" indent="0" marL="0">
                        <a:buNone/>
                      </a:pPr>
                      <a:r>
                        <a:rPr lang="en-US" sz="1100" dirty="0">
                          <a:solidFill>
                            <a:srgbClr val="222222"/>
                          </a:solidFill>
                        </a:rPr>
                        <a:t>of </a:t>
                      </a:r>
                      <a:pPr algn="l" indent="0" marL="0">
                        <a:buNone/>
                      </a:pPr>
                      <a:r>
                        <a:rPr lang="en-US" sz="1100" dirty="0">
                          <a:solidFill>
                            <a:srgbClr val="222222"/>
                          </a:solidFill>
                        </a:rPr>
                        <a:t>the </a:t>
                      </a:r>
                      <a:pPr algn="l" indent="0" marL="0">
                        <a:buNone/>
                      </a:pPr>
                      <a:r>
                        <a:rPr lang="en-US" sz="1100" dirty="0">
                          <a:solidFill>
                            <a:srgbClr val="222222"/>
                          </a:solidFill>
                        </a:rPr>
                        <a:t>EMCALI </a:t>
                      </a:r>
                      <a:pPr algn="l" indent="0" marL="0">
                        <a:buNone/>
                      </a:pPr>
                      <a:r>
                        <a:rPr lang="en-US" sz="1100" dirty="0">
                          <a:solidFill>
                            <a:srgbClr val="222222"/>
                          </a:solidFill>
                        </a:rPr>
                        <a:t>water, </a:t>
                      </a:r>
                      <a:pPr algn="l" indent="0" marL="0">
                        <a:buNone/>
                      </a:pPr>
                      <a:r>
                        <a:rPr lang="en-US" sz="1100" dirty="0">
                          <a:solidFill>
                            <a:srgbClr val="222222"/>
                          </a:solidFill>
                        </a:rPr>
                        <a:t>sewerage </a:t>
                      </a:r>
                      <a:pPr algn="l" indent="0" marL="0">
                        <a:buNone/>
                      </a:pPr>
                      <a:r>
                        <a:rPr lang="en-US" sz="1100" dirty="0">
                          <a:solidFill>
                            <a:srgbClr val="222222"/>
                          </a:solidFill>
                        </a:rPr>
                        <a:t>and </a:t>
                      </a:r>
                      <a:pPr algn="l" indent="0" marL="0">
                        <a:buNone/>
                      </a:pPr>
                      <a:r>
                        <a:rPr lang="en-US" sz="1100" dirty="0">
                          <a:solidFill>
                            <a:srgbClr val="222222"/>
                          </a:solidFill>
                        </a:rPr>
                        <a:t>power </a:t>
                      </a:r>
                      <a:pPr algn="l" indent="0" marL="0">
                        <a:buNone/>
                      </a:pPr>
                      <a:r>
                        <a:rPr lang="en-US" sz="1100" dirty="0">
                          <a:solidFill>
                            <a:srgbClr val="222222"/>
                          </a:solidFill>
                        </a:rPr>
                        <a:t>networks </a:t>
                      </a:r>
                      <a:pPr algn="l" indent="0" marL="0">
                        <a:buNone/>
                      </a:pPr>
                      <a:r>
                        <a:rPr lang="en-US" sz="1100" dirty="0">
                          <a:solidFill>
                            <a:srgbClr val="222222"/>
                          </a:solidFill>
                        </a:rPr>
                        <a:t>and </a:t>
                      </a:r>
                      <a:pPr algn="l" indent="0" marL="0">
                        <a:buNone/>
                      </a:pPr>
                      <a:r>
                        <a:rPr lang="en-US" sz="1100" dirty="0">
                          <a:solidFill>
                            <a:srgbClr val="222222"/>
                          </a:solidFill>
                        </a:rPr>
                        <a:t>of </a:t>
                      </a:r>
                      <a:pPr algn="l" indent="0" marL="0">
                        <a:buNone/>
                      </a:pPr>
                      <a:r>
                        <a:rPr lang="en-US" sz="1100" dirty="0">
                          <a:solidFill>
                            <a:srgbClr val="222222"/>
                          </a:solidFill>
                        </a:rPr>
                        <a:t>the </a:t>
                      </a:r>
                      <a:pPr algn="l" indent="0" marL="0">
                        <a:buNone/>
                      </a:pPr>
                      <a:r>
                        <a:rPr lang="en-US" sz="1100" dirty="0">
                          <a:solidFill>
                            <a:srgbClr val="222222"/>
                          </a:solidFill>
                        </a:rPr>
                        <a:t>city </a:t>
                      </a:r>
                      <a:pPr algn="l" indent="0" marL="0">
                        <a:buNone/>
                      </a:pPr>
                      <a:r>
                        <a:rPr lang="en-US" sz="1100" dirty="0">
                          <a:solidFill>
                            <a:srgbClr val="222222"/>
                          </a:solidFill>
                        </a:rPr>
                        <a:t>gas </a:t>
                      </a:r>
                      <a:pPr algn="l" indent="0" marL="0">
                        <a:buNone/>
                      </a:pPr>
                      <a:r>
                        <a:rPr lang="en-US" sz="1100" dirty="0">
                          <a:solidFill>
                            <a:srgbClr val="222222"/>
                          </a:solidFill>
                        </a:rPr>
                        <a:t>network.</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rPr>
                        <a:t>Updating </a:t>
                      </a:r>
                      <a:pPr algn="l" indent="0" marL="0">
                        <a:buNone/>
                      </a:pPr>
                      <a:r>
                        <a:rPr lang="en-US" sz="1100" dirty="0">
                          <a:solidFill>
                            <a:srgbClr val="222222"/>
                          </a:solidFill>
                        </a:rPr>
                        <a:t>the </a:t>
                      </a:r>
                      <a:pPr algn="l" indent="0" marL="0">
                        <a:buNone/>
                      </a:pPr>
                      <a:r>
                        <a:rPr lang="en-US" sz="1100" dirty="0">
                          <a:solidFill>
                            <a:srgbClr val="222222"/>
                          </a:solidFill>
                        </a:rPr>
                        <a:t>local </a:t>
                      </a:r>
                      <a:pPr algn="l" indent="0" marL="0">
                        <a:buNone/>
                      </a:pPr>
                      <a:r>
                        <a:rPr lang="en-US" sz="1100" dirty="0">
                          <a:solidFill>
                            <a:srgbClr val="222222"/>
                          </a:solidFill>
                        </a:rPr>
                        <a:t>soil-response </a:t>
                      </a:r>
                      <a:pPr algn="l" indent="0" marL="0">
                        <a:buNone/>
                      </a:pPr>
                      <a:r>
                        <a:rPr lang="en-US" sz="1100" dirty="0">
                          <a:solidFill>
                            <a:srgbClr val="222222"/>
                          </a:solidFill>
                        </a:rPr>
                        <a:t>model </a:t>
                      </a:r>
                      <a:pPr algn="l" indent="0" marL="0">
                        <a:buNone/>
                      </a:pPr>
                      <a:r>
                        <a:rPr lang="en-US" sz="1100" dirty="0">
                          <a:solidFill>
                            <a:srgbClr val="222222"/>
                          </a:solidFill>
                        </a:rPr>
                        <a:t>and </a:t>
                      </a:r>
                      <a:pPr algn="l" indent="0" marL="0">
                        <a:buNone/>
                      </a:pPr>
                      <a:r>
                        <a:rPr lang="en-US" sz="1100" dirty="0">
                          <a:solidFill>
                            <a:srgbClr val="222222"/>
                          </a:solidFill>
                        </a:rPr>
                        <a:t>the </a:t>
                      </a:r>
                      <a:pPr algn="l" indent="0" marL="0">
                        <a:buNone/>
                      </a:pPr>
                      <a:r>
                        <a:rPr lang="en-US" sz="1100" dirty="0">
                          <a:solidFill>
                            <a:srgbClr val="222222"/>
                          </a:solidFill>
                        </a:rPr>
                        <a:t>seismic </a:t>
                      </a:r>
                      <a:pPr algn="l" indent="0" marL="0">
                        <a:buNone/>
                      </a:pPr>
                      <a:r>
                        <a:rPr lang="en-US" sz="1100" dirty="0">
                          <a:solidFill>
                            <a:srgbClr val="222222"/>
                          </a:solidFill>
                        </a:rPr>
                        <a:t>microzonation, </a:t>
                      </a:r>
                      <a:pPr algn="l" indent="0" marL="0">
                        <a:buNone/>
                      </a:pPr>
                      <a:r>
                        <a:rPr lang="en-US" sz="1100" dirty="0">
                          <a:solidFill>
                            <a:srgbClr val="222222"/>
                          </a:solidFill>
                        </a:rPr>
                        <a:t>in </a:t>
                      </a:r>
                      <a:pPr algn="l" indent="0" marL="0">
                        <a:buNone/>
                      </a:pPr>
                      <a:r>
                        <a:rPr lang="en-US" sz="1100" dirty="0">
                          <a:solidFill>
                            <a:srgbClr val="222222"/>
                          </a:solidFill>
                        </a:rPr>
                        <a:t>force </a:t>
                      </a:r>
                      <a:pPr algn="l" indent="0" marL="0">
                        <a:buNone/>
                      </a:pPr>
                      <a:r>
                        <a:rPr lang="en-US" sz="1100" dirty="0">
                          <a:solidFill>
                            <a:srgbClr val="222222"/>
                          </a:solidFill>
                        </a:rPr>
                        <a:t>since </a:t>
                      </a:r>
                      <a:pPr algn="l" indent="0" marL="0">
                        <a:buNone/>
                      </a:pPr>
                      <a:r>
                        <a:rPr lang="en-US" sz="1100" dirty="0">
                          <a:solidFill>
                            <a:srgbClr val="222222"/>
                          </a:solidFill>
                        </a:rPr>
                        <a:t>INGEOMINAS/DAGMA </a:t>
                      </a:r>
                      <a:pPr algn="l" indent="0" marL="0">
                        <a:buNone/>
                      </a:pPr>
                      <a:r>
                        <a:rPr lang="en-US" sz="1100" dirty="0">
                          <a:solidFill>
                            <a:srgbClr val="222222"/>
                          </a:solidFill>
                        </a:rPr>
                        <a:t>(2005) </a:t>
                      </a:r>
                      <a:pPr algn="l" indent="0" marL="0">
                        <a:buNone/>
                      </a:pPr>
                      <a:r>
                        <a:rPr lang="en-US" sz="1100" dirty="0">
                          <a:solidFill>
                            <a:srgbClr val="222222"/>
                          </a:solidFill>
                        </a:rPr>
                        <a:t>and </a:t>
                      </a:r>
                      <a:pPr algn="l" indent="0" marL="0">
                        <a:buNone/>
                      </a:pPr>
                      <a:r>
                        <a:rPr lang="en-US" sz="1100" dirty="0">
                          <a:solidFill>
                            <a:srgbClr val="222222"/>
                          </a:solidFill>
                        </a:rPr>
                        <a:t>adopted </a:t>
                      </a:r>
                      <a:pPr algn="l" indent="0" marL="0">
                        <a:buNone/>
                      </a:pPr>
                      <a:r>
                        <a:rPr lang="en-US" sz="1100" dirty="0">
                          <a:solidFill>
                            <a:srgbClr val="222222"/>
                          </a:solidFill>
                        </a:rPr>
                        <a:t>by </a:t>
                      </a:r>
                      <a:pPr algn="l" indent="0" marL="0">
                        <a:buNone/>
                      </a:pPr>
                      <a:r>
                        <a:rPr lang="en-US" sz="1100" dirty="0">
                          <a:solidFill>
                            <a:srgbClr val="222222"/>
                          </a:solidFill>
                        </a:rPr>
                        <a:t>Decree </a:t>
                      </a:r>
                      <a:pPr algn="l" indent="0" marL="0">
                        <a:buNone/>
                      </a:pPr>
                      <a:r>
                        <a:rPr lang="en-US" sz="1100" dirty="0">
                          <a:solidFill>
                            <a:srgbClr val="222222"/>
                          </a:solidFill>
                        </a:rPr>
                        <a:t>411.0.20.0158 </a:t>
                      </a:r>
                      <a:pPr algn="l" indent="0" marL="0">
                        <a:buNone/>
                      </a:pPr>
                      <a:r>
                        <a:rPr lang="en-US" sz="1100" dirty="0">
                          <a:solidFill>
                            <a:srgbClr val="222222"/>
                          </a:solidFill>
                        </a:rPr>
                        <a:t>of </a:t>
                      </a:r>
                      <a:pPr algn="l" indent="0" marL="0">
                        <a:buNone/>
                      </a:pPr>
                      <a:r>
                        <a:rPr lang="en-US" sz="1100" dirty="0">
                          <a:solidFill>
                            <a:srgbClr val="222222"/>
                          </a:solidFill>
                        </a:rPr>
                        <a:t>2014 </a:t>
                      </a:r>
                      <a:pPr algn="l" indent="0" marL="0">
                        <a:buNone/>
                      </a:pPr>
                      <a:r>
                        <a:rPr lang="en-US" sz="1100" dirty="0">
                          <a:solidFill>
                            <a:srgbClr val="222222"/>
                          </a:solidFill>
                        </a:rPr>
                        <a:t>for </a:t>
                      </a:r>
                      <a:pPr algn="l" indent="0" marL="0">
                        <a:buNone/>
                      </a:pPr>
                      <a:r>
                        <a:rPr lang="en-US" sz="1100" dirty="0">
                          <a:solidFill>
                            <a:srgbClr val="222222"/>
                          </a:solidFill>
                        </a:rPr>
                        <a:t>structural </a:t>
                      </a:r>
                      <a:pPr algn="l" indent="0" marL="0">
                        <a:buNone/>
                      </a:pPr>
                      <a:r>
                        <a:rPr lang="en-US" sz="1100" dirty="0">
                          <a:solidFill>
                            <a:srgbClr val="222222"/>
                          </a:solidFill>
                        </a:rPr>
                        <a:t>design.</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rPr>
                        <a:t>Maintaining </a:t>
                      </a:r>
                      <a:pPr algn="l" indent="0" marL="0">
                        <a:buNone/>
                      </a:pPr>
                      <a:r>
                        <a:rPr lang="en-US" sz="1100" dirty="0">
                          <a:solidFill>
                            <a:srgbClr val="222222"/>
                          </a:solidFill>
                        </a:rPr>
                        <a:t>and </a:t>
                      </a:r>
                      <a:pPr algn="l" indent="0" marL="0">
                        <a:buNone/>
                      </a:pPr>
                      <a:r>
                        <a:rPr lang="en-US" sz="1100" dirty="0">
                          <a:solidFill>
                            <a:srgbClr val="222222"/>
                          </a:solidFill>
                        </a:rPr>
                        <a:t>extending </a:t>
                      </a:r>
                      <a:pPr algn="l" indent="0" marL="0">
                        <a:buNone/>
                      </a:pPr>
                      <a:r>
                        <a:rPr lang="en-US" sz="1100" dirty="0">
                          <a:solidFill>
                            <a:srgbClr val="222222"/>
                          </a:solidFill>
                        </a:rPr>
                        <a:t>the </a:t>
                      </a:r>
                      <a:pPr algn="l" indent="0" marL="0">
                        <a:buNone/>
                      </a:pPr>
                      <a:r>
                        <a:rPr lang="en-US" sz="1100" dirty="0">
                          <a:solidFill>
                            <a:srgbClr val="222222"/>
                          </a:solidFill>
                        </a:rPr>
                        <a:t>Cali </a:t>
                      </a:r>
                      <a:pPr algn="l" indent="0" marL="0">
                        <a:buNone/>
                      </a:pPr>
                      <a:r>
                        <a:rPr lang="en-US" sz="1100" dirty="0">
                          <a:solidFill>
                            <a:srgbClr val="222222"/>
                          </a:solidFill>
                        </a:rPr>
                        <a:t>accelerograph </a:t>
                      </a:r>
                      <a:pPr algn="l" indent="0" marL="0">
                        <a:buNone/>
                      </a:pPr>
                      <a:r>
                        <a:rPr lang="en-US" sz="1100" dirty="0">
                          <a:solidFill>
                            <a:srgbClr val="222222"/>
                          </a:solidFill>
                        </a:rPr>
                        <a:t>network </a:t>
                      </a:r>
                      <a:pPr algn="l" indent="0" marL="0">
                        <a:buNone/>
                      </a:pPr>
                      <a:r>
                        <a:rPr lang="en-US" sz="1100" dirty="0">
                          <a:solidFill>
                            <a:srgbClr val="222222"/>
                          </a:solidFill>
                        </a:rPr>
                        <a:t>(RAC) </a:t>
                      </a:r>
                      <a:pPr algn="l" indent="0" marL="0">
                        <a:buNone/>
                      </a:pPr>
                      <a:r>
                        <a:rPr lang="en-US" sz="1100" dirty="0">
                          <a:solidFill>
                            <a:srgbClr val="222222"/>
                          </a:solidFill>
                        </a:rPr>
                        <a:t>and </a:t>
                      </a:r>
                      <a:pPr algn="l" indent="0" marL="0">
                        <a:buNone/>
                      </a:pPr>
                      <a:r>
                        <a:rPr lang="en-US" sz="1100" dirty="0">
                          <a:solidFill>
                            <a:srgbClr val="222222"/>
                          </a:solidFill>
                        </a:rPr>
                        <a:t>its </a:t>
                      </a:r>
                      <a:pPr algn="l" indent="0" marL="0">
                        <a:buNone/>
                      </a:pPr>
                      <a:r>
                        <a:rPr lang="en-US" sz="1100" dirty="0">
                          <a:solidFill>
                            <a:srgbClr val="222222"/>
                          </a:solidFill>
                        </a:rPr>
                        <a:t>interoperability </a:t>
                      </a:r>
                      <a:pPr algn="l" indent="0" marL="0">
                        <a:buNone/>
                      </a:pPr>
                      <a:r>
                        <a:rPr lang="en-US" sz="1100" dirty="0">
                          <a:solidFill>
                            <a:srgbClr val="222222"/>
                          </a:solidFill>
                        </a:rPr>
                        <a:t>with </a:t>
                      </a:r>
                      <a:pPr algn="l" indent="0" marL="0">
                        <a:buNone/>
                      </a:pPr>
                      <a:r>
                        <a:rPr lang="en-US" sz="1100" dirty="0">
                          <a:solidFill>
                            <a:srgbClr val="222222"/>
                          </a:solidFill>
                        </a:rPr>
                        <a:t>the </a:t>
                      </a:r>
                      <a:pPr algn="l" indent="0" marL="0">
                        <a:buNone/>
                      </a:pPr>
                      <a:r>
                        <a:rPr lang="en-US" sz="1100" dirty="0">
                          <a:solidFill>
                            <a:srgbClr val="222222"/>
                          </a:solidFill>
                        </a:rPr>
                        <a:t>SGC </a:t>
                      </a:r>
                      <a:pPr algn="l" indent="0" marL="0">
                        <a:buNone/>
                      </a:pPr>
                      <a:r>
                        <a:rPr lang="en-US" sz="1100" dirty="0">
                          <a:solidFill>
                            <a:srgbClr val="222222"/>
                          </a:solidFill>
                        </a:rPr>
                        <a:t>national </a:t>
                      </a:r>
                      <a:pPr algn="l" indent="0" marL="0">
                        <a:buNone/>
                      </a:pPr>
                      <a:r>
                        <a:rPr lang="en-US" sz="1100" dirty="0">
                          <a:solidFill>
                            <a:srgbClr val="222222"/>
                          </a:solidFill>
                        </a:rPr>
                        <a:t>network.</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rPr>
                        <a:t>Insuring </a:t>
                      </a:r>
                      <a:pPr algn="l" indent="0" marL="0">
                        <a:buNone/>
                      </a:pPr>
                      <a:r>
                        <a:rPr lang="en-US" sz="1100" dirty="0">
                          <a:solidFill>
                            <a:srgbClr val="222222"/>
                          </a:solidFill>
                        </a:rPr>
                        <a:t>public </a:t>
                      </a:r>
                      <a:pPr algn="l" indent="0" marL="0">
                        <a:buNone/>
                      </a:pPr>
                      <a:r>
                        <a:rPr lang="en-US" sz="1100" dirty="0">
                          <a:solidFill>
                            <a:srgbClr val="222222"/>
                          </a:solidFill>
                        </a:rPr>
                        <a:t>infrastructure </a:t>
                      </a:r>
                      <a:pPr algn="l" indent="0" marL="0">
                        <a:buNone/>
                      </a:pPr>
                      <a:r>
                        <a:rPr lang="en-US" sz="1100" dirty="0">
                          <a:solidFill>
                            <a:srgbClr val="222222"/>
                          </a:solidFill>
                        </a:rPr>
                        <a:t>against </a:t>
                      </a:r>
                      <a:pPr algn="l" indent="0" marL="0">
                        <a:buNone/>
                      </a:pPr>
                      <a:r>
                        <a:rPr lang="en-US" sz="1100" dirty="0">
                          <a:solidFill>
                            <a:srgbClr val="222222"/>
                          </a:solidFill>
                        </a:rPr>
                        <a:t>seismic </a:t>
                      </a:r>
                      <a:pPr algn="l" indent="0" marL="0">
                        <a:buNone/>
                      </a:pPr>
                      <a:r>
                        <a:rPr lang="en-US" sz="1100" dirty="0">
                          <a:solidFill>
                            <a:srgbClr val="222222"/>
                          </a:solidFill>
                        </a:rPr>
                        <a:t>risk, </a:t>
                      </a:r>
                      <a:pPr algn="l" indent="0" marL="0">
                        <a:buNone/>
                      </a:pPr>
                      <a:r>
                        <a:rPr lang="en-US" sz="1100" dirty="0">
                          <a:solidFill>
                            <a:srgbClr val="222222"/>
                          </a:solidFill>
                        </a:rPr>
                        <a:t>and </a:t>
                      </a:r>
                      <a:pPr algn="l" indent="0" marL="0">
                        <a:buNone/>
                      </a:pPr>
                      <a:r>
                        <a:rPr lang="en-US" sz="1100" dirty="0">
                          <a:solidFill>
                            <a:srgbClr val="222222"/>
                          </a:solidFill>
                        </a:rPr>
                        <a:t>retrofitting </a:t>
                      </a:r>
                      <a:pPr algn="l" indent="0" marL="0">
                        <a:buNone/>
                      </a:pPr>
                      <a:r>
                        <a:rPr lang="en-US" sz="1100" dirty="0">
                          <a:solidFill>
                            <a:srgbClr val="222222"/>
                          </a:solidFill>
                        </a:rPr>
                        <a:t>low-income </a:t>
                      </a:r>
                      <a:pPr algn="l" indent="0" marL="0">
                        <a:buNone/>
                      </a:pPr>
                      <a:r>
                        <a:rPr lang="en-US" sz="1100" dirty="0">
                          <a:solidFill>
                            <a:srgbClr val="222222"/>
                          </a:solidFill>
                        </a:rPr>
                        <a:t>housing </a:t>
                      </a:r>
                      <a:pPr algn="l" indent="0" marL="0">
                        <a:buNone/>
                      </a:pPr>
                      <a:r>
                        <a:rPr lang="en-US" sz="1100" dirty="0">
                          <a:solidFill>
                            <a:srgbClr val="222222"/>
                          </a:solidFill>
                        </a:rPr>
                        <a:t>through </a:t>
                      </a:r>
                      <a:pPr algn="l" indent="0" marL="0">
                        <a:buNone/>
                      </a:pPr>
                      <a:r>
                        <a:rPr lang="en-US" sz="1100" dirty="0">
                          <a:solidFill>
                            <a:srgbClr val="222222"/>
                          </a:solidFill>
                        </a:rPr>
                        <a:t>subsidies </a:t>
                      </a:r>
                      <a:pPr algn="l" indent="0" marL="0">
                        <a:buNone/>
                      </a:pPr>
                      <a:r>
                        <a:rPr lang="en-US" sz="1100" dirty="0">
                          <a:solidFill>
                            <a:srgbClr val="222222"/>
                          </a:solidFill>
                        </a:rPr>
                        <a:t>and </a:t>
                      </a:r>
                      <a:pPr algn="l" indent="0" marL="0">
                        <a:buNone/>
                      </a:pPr>
                      <a:r>
                        <a:rPr lang="en-US" sz="1100" dirty="0">
                          <a:solidFill>
                            <a:srgbClr val="222222"/>
                          </a:solidFill>
                        </a:rPr>
                        <a:t>safe </a:t>
                      </a:r>
                      <a:pPr algn="l" indent="0" marL="0">
                        <a:buNone/>
                      </a:pPr>
                      <a:r>
                        <a:rPr lang="en-US" sz="1100" dirty="0">
                          <a:solidFill>
                            <a:srgbClr val="222222"/>
                          </a:solidFill>
                        </a:rPr>
                        <a:t>self-build </a:t>
                      </a:r>
                      <a:pPr algn="l" indent="0" marL="0">
                        <a:buNone/>
                      </a:pPr>
                      <a:r>
                        <a:rPr lang="en-US" sz="1100" dirty="0">
                          <a:solidFill>
                            <a:srgbClr val="222222"/>
                          </a:solidFill>
                        </a:rPr>
                        <a:t>programmes.</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rPr>
                        <a:t>Financing </a:t>
                      </a:r>
                      <a:pPr algn="l" indent="0" marL="0">
                        <a:buNone/>
                      </a:pPr>
                      <a:r>
                        <a:rPr lang="en-US" sz="1100" dirty="0">
                          <a:solidFill>
                            <a:srgbClr val="222222"/>
                          </a:solidFill>
                        </a:rPr>
                        <a:t>model </a:t>
                      </a:r>
                      <a:pPr algn="l" indent="0" marL="0">
                        <a:buNone/>
                      </a:pPr>
                      <a:r>
                        <a:rPr lang="en-US" sz="1100" dirty="0">
                          <a:solidFill>
                            <a:srgbClr val="222222"/>
                          </a:solidFill>
                        </a:rPr>
                        <a:t>for </a:t>
                      </a:r>
                      <a:pPr algn="l" indent="0" marL="0">
                        <a:buNone/>
                      </a:pPr>
                      <a:r>
                        <a:rPr lang="en-US" sz="1100" dirty="0">
                          <a:solidFill>
                            <a:srgbClr val="222222"/>
                          </a:solidFill>
                        </a:rPr>
                        <a:t>the </a:t>
                      </a:r>
                      <a:pPr algn="l" indent="0" marL="0">
                        <a:buNone/>
                      </a:pPr>
                      <a:r>
                        <a:rPr lang="en-US" sz="1100" dirty="0">
                          <a:solidFill>
                            <a:srgbClr val="222222"/>
                          </a:solidFill>
                        </a:rPr>
                        <a:t>priority </a:t>
                      </a:r>
                      <a:pPr algn="l" indent="0" marL="0">
                        <a:buNone/>
                      </a:pPr>
                      <a:r>
                        <a:rPr lang="en-US" sz="1100" dirty="0">
                          <a:solidFill>
                            <a:srgbClr val="222222"/>
                          </a:solidFill>
                        </a:rPr>
                        <a:t>measures: </a:t>
                      </a:r>
                      <a:pPr algn="l" indent="0" marL="0">
                        <a:buNone/>
                      </a:pPr>
                      <a:r>
                        <a:rPr lang="en-US" sz="1100" dirty="0">
                          <a:solidFill>
                            <a:srgbClr val="222222"/>
                          </a:solidFill>
                        </a:rPr>
                        <a:t>local </a:t>
                      </a:r>
                      <a:pPr algn="l" indent="0" marL="0">
                        <a:buNone/>
                      </a:pPr>
                      <a:r>
                        <a:rPr lang="en-US" sz="1100" dirty="0">
                          <a:solidFill>
                            <a:srgbClr val="222222"/>
                          </a:solidFill>
                        </a:rPr>
                        <a:t>government </a:t>
                      </a:r>
                      <a:pPr algn="l" indent="0" marL="0">
                        <a:buNone/>
                      </a:pPr>
                      <a:r>
                        <a:rPr lang="en-US" sz="1100" dirty="0">
                          <a:solidFill>
                            <a:srgbClr val="222222"/>
                          </a:solidFill>
                        </a:rPr>
                        <a:t>30-50%, </a:t>
                      </a:r>
                      <a:pPr algn="l" indent="0" marL="0">
                        <a:buNone/>
                      </a:pPr>
                      <a:r>
                        <a:rPr lang="en-US" sz="1100" dirty="0">
                          <a:solidFill>
                            <a:srgbClr val="222222"/>
                          </a:solidFill>
                        </a:rPr>
                        <a:t>national </a:t>
                      </a:r>
                      <a:pPr algn="l" indent="0" marL="0">
                        <a:buNone/>
                      </a:pPr>
                      <a:r>
                        <a:rPr lang="en-US" sz="1100" dirty="0">
                          <a:solidFill>
                            <a:srgbClr val="222222"/>
                          </a:solidFill>
                        </a:rPr>
                        <a:t>disaster </a:t>
                      </a:r>
                      <a:pPr algn="l" indent="0" marL="0">
                        <a:buNone/>
                      </a:pPr>
                      <a:r>
                        <a:rPr lang="en-US" sz="1100" dirty="0">
                          <a:solidFill>
                            <a:srgbClr val="222222"/>
                          </a:solidFill>
                        </a:rPr>
                        <a:t>fund </a:t>
                      </a:r>
                      <a:pPr algn="l" indent="0" marL="0">
                        <a:buNone/>
                      </a:pPr>
                      <a:r>
                        <a:rPr lang="en-US" sz="1100" dirty="0">
                          <a:solidFill>
                            <a:srgbClr val="222222"/>
                          </a:solidFill>
                        </a:rPr>
                        <a:t>(FNGRD/UNGRD) </a:t>
                      </a:r>
                      <a:pPr algn="l" indent="0" marL="0">
                        <a:buNone/>
                      </a:pPr>
                      <a:r>
                        <a:rPr lang="en-US" sz="1100" dirty="0">
                          <a:solidFill>
                            <a:srgbClr val="222222"/>
                          </a:solidFill>
                        </a:rPr>
                        <a:t>30-50%, </a:t>
                      </a:r>
                      <a:pPr algn="l" indent="0" marL="0">
                        <a:buNone/>
                      </a:pPr>
                      <a:r>
                        <a:rPr lang="en-US" sz="1100" dirty="0">
                          <a:solidFill>
                            <a:srgbClr val="222222"/>
                          </a:solidFill>
                        </a:rPr>
                        <a:t>international </a:t>
                      </a:r>
                      <a:pPr algn="l" indent="0" marL="0">
                        <a:buNone/>
                      </a:pPr>
                      <a:r>
                        <a:rPr lang="en-US" sz="1100" dirty="0">
                          <a:solidFill>
                            <a:srgbClr val="222222"/>
                          </a:solidFill>
                        </a:rPr>
                        <a:t>partners </a:t>
                      </a:r>
                      <a:pPr algn="l" indent="0" marL="0">
                        <a:buNone/>
                      </a:pPr>
                      <a:r>
                        <a:rPr lang="en-US" sz="1100" dirty="0">
                          <a:solidFill>
                            <a:srgbClr val="222222"/>
                          </a:solidFill>
                        </a:rPr>
                        <a:t>including </a:t>
                      </a:r>
                      <a:pPr algn="l" indent="0" marL="0">
                        <a:buNone/>
                      </a:pPr>
                      <a:r>
                        <a:rPr lang="en-US" sz="1100" dirty="0">
                          <a:solidFill>
                            <a:srgbClr val="222222"/>
                          </a:solidFill>
                        </a:rPr>
                        <a:t>JICA, </a:t>
                      </a:r>
                      <a:pPr algn="l" indent="0" marL="0">
                        <a:buNone/>
                      </a:pPr>
                      <a:r>
                        <a:rPr lang="en-US" sz="1100" dirty="0">
                          <a:solidFill>
                            <a:srgbClr val="222222"/>
                          </a:solidFill>
                        </a:rPr>
                        <a:t>the </a:t>
                      </a:r>
                      <a:pPr algn="l" indent="0" marL="0">
                        <a:buNone/>
                      </a:pPr>
                      <a:r>
                        <a:rPr lang="en-US" sz="1100" dirty="0">
                          <a:solidFill>
                            <a:srgbClr val="222222"/>
                          </a:solidFill>
                        </a:rPr>
                        <a:t>GEM </a:t>
                      </a:r>
                      <a:pPr algn="l" indent="0" marL="0">
                        <a:buNone/>
                      </a:pPr>
                      <a:r>
                        <a:rPr lang="en-US" sz="1100" dirty="0">
                          <a:solidFill>
                            <a:srgbClr val="222222"/>
                          </a:solidFill>
                        </a:rPr>
                        <a:t>Foundation </a:t>
                      </a:r>
                      <a:pPr algn="l" indent="0" marL="0">
                        <a:buNone/>
                      </a:pPr>
                      <a:r>
                        <a:rPr lang="en-US" sz="1100" dirty="0">
                          <a:solidFill>
                            <a:srgbClr val="222222"/>
                          </a:solidFill>
                        </a:rPr>
                        <a:t>and </a:t>
                      </a:r>
                      <a:pPr algn="l" indent="0" marL="0">
                        <a:buNone/>
                      </a:pPr>
                      <a:r>
                        <a:rPr lang="en-US" sz="1100" dirty="0">
                          <a:solidFill>
                            <a:srgbClr val="222222"/>
                          </a:solidFill>
                        </a:rPr>
                        <a:t>the </a:t>
                      </a:r>
                      <a:pPr algn="l" indent="0" marL="0">
                        <a:buNone/>
                      </a:pPr>
                      <a:r>
                        <a:rPr lang="en-US" sz="1100" dirty="0">
                          <a:solidFill>
                            <a:srgbClr val="222222"/>
                          </a:solidFill>
                        </a:rPr>
                        <a:t>IDB </a:t>
                      </a:r>
                      <a:pPr algn="l" indent="0" marL="0">
                        <a:buNone/>
                      </a:pPr>
                      <a:r>
                        <a:rPr lang="en-US" sz="1100" dirty="0">
                          <a:solidFill>
                            <a:srgbClr val="222222"/>
                          </a:solidFill>
                        </a:rPr>
                        <a:t>about </a:t>
                      </a:r>
                      <a:pPr algn="l" indent="0" marL="0">
                        <a:buNone/>
                      </a:pPr>
                      <a:r>
                        <a:rPr lang="en-US" sz="1100" dirty="0">
                          <a:solidFill>
                            <a:srgbClr val="222222"/>
                          </a:solidFill>
                        </a:rPr>
                        <a:t>20%.</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5870448"/>
            <a:ext cx="11430000" cy="402336"/>
          </a:xfrm>
          <a:prstGeom prst="rect">
            <a:avLst/>
          </a:prstGeom>
          <a:noFill/>
          <a:ln/>
        </p:spPr>
        <p:txBody>
          <a:bodyPr wrap="square" lIns="38100" tIns="38100" rIns="38100" bIns="38100" rtlCol="0" anchor="t">
            <a:normAutofit/>
          </a:bodyPr>
          <a:lstStyle/>
          <a:p>
            <a:pPr algn="l" indent="0" marL="0">
              <a:buNone/>
            </a:pPr>
            <a:r>
              <a:rPr lang="en-US" sz="950" dirty="0">
                <a:solidFill>
                  <a:srgbClr val="6A6A6A"/>
                </a:solidFill>
                <a:latin typeface="Meiryo" pitchFamily="34" charset="0"/>
                <a:ea typeface="Meiryo" pitchFamily="34" charset="-122"/>
                <a:cs typeface="Meiryo" pitchFamily="34" charset="-120"/>
              </a:rPr>
              <a:t>Figures from the GEM-TREQ urban risk assessment for Santiago de Cali and from the city's local disaster risk management plan, as compiled by the Municipality of Santiago de Cali (Secretaría de Gestión del Riesgo de Emergencias y Desastres) for a JICA training course.</a:t>
            </a:r>
            <a:endParaRPr lang="en-US" sz="9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46 / 63</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GEM-TREQ City Profile: Cali</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pic>
        <p:nvPicPr>
          <p:cNvPr id="4" name="Image 1" descr="/tmp/build_event-bT0zLO/generator/images/EQ-2026-000146-COL/gem_treq_cali_manual.jpg">    </p:cNvPr>
          <p:cNvPicPr>
            <a:picLocks noChangeAspect="1"/>
          </p:cNvPicPr>
          <p:nvPr/>
        </p:nvPicPr>
        <p:blipFill>
          <a:blip r:embed="rId2"/>
          <a:stretch>
            <a:fillRect/>
          </a:stretch>
        </p:blipFill>
        <p:spPr>
          <a:xfrm>
            <a:off x="7223760" y="1280168"/>
            <a:ext cx="4572000" cy="3236960"/>
          </a:xfrm>
          <a:prstGeom prst="rect">
            <a:avLst/>
          </a:prstGeom>
        </p:spPr>
      </p:pic>
      <p:sp>
        <p:nvSpPr>
          <p:cNvPr id="5" name="Text 1"/>
          <p:cNvSpPr/>
          <p:nvPr/>
        </p:nvSpPr>
        <p:spPr>
          <a:xfrm>
            <a:off x="7223760" y="4718304"/>
            <a:ext cx="4572000" cy="585216"/>
          </a:xfrm>
          <a:prstGeom prst="rect">
            <a:avLst/>
          </a:prstGeom>
          <a:noFill/>
          <a:ln/>
        </p:spPr>
        <p:txBody>
          <a:bodyPr wrap="square" lIns="0" tIns="0" rIns="0" bIns="0" rtlCol="0" anchor="t">
            <a:normAutofit/>
          </a:bodyPr>
          <a:lstStyle/>
          <a:p>
            <a:pPr algn="ctr" indent="0" marL="0">
              <a:buNone/>
            </a:pPr>
            <a:r>
              <a:rPr lang="en-US" sz="900" dirty="0">
                <a:solidFill>
                  <a:srgbClr val="6A6A6A"/>
                </a:solidFill>
                <a:latin typeface="Meiryo" pitchFamily="34" charset="0"/>
                <a:ea typeface="Meiryo" pitchFamily="34" charset="-122"/>
                <a:cs typeface="Meiryo" pitchFamily="34" charset="-120"/>
              </a:rPr>
              <a:t>GEM-TREQ city profile for Cali</a:t>
            </a:r>
            <a:endParaRPr lang="en-US" sz="900" dirty="0"/>
          </a:p>
        </p:txBody>
      </p:sp>
      <p:sp>
        <p:nvSpPr>
          <p:cNvPr id="6" name="Text 2"/>
          <p:cNvSpPr/>
          <p:nvPr/>
        </p:nvSpPr>
        <p:spPr>
          <a:xfrm>
            <a:off x="365760" y="1051560"/>
            <a:ext cx="6583680" cy="1463040"/>
          </a:xfrm>
          <a:prstGeom prst="rect">
            <a:avLst/>
          </a:prstGeom>
          <a:noFill/>
          <a:ln/>
        </p:spPr>
        <p:txBody>
          <a:bodyPr wrap="square" lIns="50800" tIns="50800" rIns="50800" bIns="50800" rtlCol="0" anchor="t">
            <a:normAutofit/>
          </a:bodyPr>
          <a:lstStyle/>
          <a:p>
            <a:pPr algn="l" indent="0" marL="0">
              <a:buNone/>
            </a:pPr>
            <a:r>
              <a:rPr lang="en-US" sz="1150" dirty="0">
                <a:solidFill>
                  <a:srgbClr val="222222"/>
                </a:solidFill>
                <a:latin typeface="Meiryo" pitchFamily="34" charset="0"/>
                <a:ea typeface="Meiryo" pitchFamily="34" charset="-122"/>
                <a:cs typeface="Meiryo" pitchFamily="34" charset="-120"/>
              </a:rPr>
              <a:t>GEM-TREQ city profile for Cali: the M6.5 / 10 km Dagua-Calima scenario. 2.3 million people and 312,000 residential, 22,000 commercial, 5,300 industrial and 8,000 institutional buildings are exposed, with COP 220 trillion of exposed capital. The bars give, per comuna, the collapse index, fatalities, serious injuries, displaced people and economic losses; the histograms give the city totals with their modelled ranges.</a:t>
            </a:r>
            <a:endParaRPr lang="en-US" sz="11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47 / 63</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(1/16)</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566928"/>
          </a:xfrm>
          <a:prstGeom prst="rect">
            <a:avLst/>
          </a:prstGeom>
          <a:noFill/>
          <a:ln/>
        </p:spPr>
        <p:txBody>
          <a:bodyPr wrap="square" lIns="25400" tIns="25400" rIns="25400" bIns="25400" rtlCol="0" anchor="t"/>
          <a:lstStyle/>
          <a:p>
            <a:pPr algn="l" indent="0" marL="0">
              <a:buNone/>
            </a:pPr>
            <a:r>
              <a:rPr lang="en-US" sz="1250" b="1" dirty="0">
                <a:solidFill>
                  <a:srgbClr val="1F3864"/>
                </a:solidFill>
                <a:latin typeface="Meiryo" pitchFamily="34" charset="0"/>
                <a:ea typeface="Meiryo" pitchFamily="34" charset="-122"/>
                <a:cs typeface="Meiryo" pitchFamily="34" charset="-120"/>
              </a:rPr>
              <a:t>Source policy: </a:t>
            </a:r>
            <a:pPr algn="l" indent="0" marL="0">
              <a:buNone/>
            </a:pPr>
            <a:r>
              <a:rPr lang="en-US" sz="1200" dirty="0">
                <a:solidFill>
                  <a:srgbClr val="444444"/>
                </a:solidFill>
                <a:latin typeface="Meiryo" pitchFamily="34" charset="0"/>
                <a:ea typeface="Meiryo" pitchFamily="34" charset="-122"/>
                <a:cs typeface="Meiryo" pitchFamily="34" charset="-120"/>
              </a:rPr>
              <a:t>Source hierarchy: official &gt; media &gt; TBC. Government and scientific-agency figures are used as primary; media reports are used only where official figures are not yet published and are labelled as such. Items still being verified are marked TBC. Preliminary figures are never replaced by larger unverified numbers.</a:t>
            </a:r>
            <a:endParaRPr lang="en-US" sz="125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365760" y="1572768"/>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USGS - M 7.4 San José del Palmar, Colombia (event page)</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https://earthquake.usgs.gov/earthquakes/eventpage/us6000tjl2/executive</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Servicio Geológico Colombiano (SGC)</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https://www.sgc.gov.co/</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SGC — event bulletin SGC2026pqqmro (this earthquake)</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https://www.sgc.gov.co/detallesismo/SGC2026pqqmro/</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SGC — macroseismic intensity map (ShakeMap) for this earthquake</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https://www.sgc.gov.co/detallesismo/SGC2026pqqmro/mmi</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 - National Unit for Disaster Risk Management</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https://portal.gestiondelriesgo.gov.co/</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GDACS - Orange earthquake alert, Colombia, 10 Aug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https://gdacs.org/report.aspx?eventid=1557236&amp;eventtype=EQ</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International Charter 'Space and Major Disasters' - activations</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https://disasterscharter.org/activations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Copernicus EMS — EMSR916 'Earthquake in Colombia' (activation)</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https://mapping.emergency.copernicus.eu/activations/EMSR916/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 Colombia</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https://reliefweb.int/country/col</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PAHO/WHO - Colombia</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https://www.paho.org/en/colombia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PreventionWeb - Colombia PNGRD 2015-2030</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https://www.preventionweb.net/publication/colombia-plan-nacional-de-gestion-del-riesgo-de-desastres-pngrd-2015-2030</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GEM - Seismic regulations for Colombia (NSR-10)</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https://www.globalquakemodel.org/seismic-regulations/colombia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48 / 63</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(2/16)</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CNN — live updates: death toll rises to 132</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https://www.cnn.com/2026/08/10/world/live-news/colombia-earthquake-san-jose-del-palmar</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El Colombiano — 84 injured and 12 dead in Chocó (department government)</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https://www.elcolombiano.com/colombia/terremoto-temblor-hoy-colombia-choco-heridos-FL39761141</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UN-SPIDER - UNGRD of Colombia</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https://un-spider.org/national-unit-disaster-risk-management-ungrd-colombia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OECD - Risk governance scan of Colombia</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https://www.oecd.org/en/publications/risk-governance-scan-of-colombia_eeb81954-en.html</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CNN - Live updates: at least 111 dead</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https://www.cnn.com/2026/08/10/world/live-news/colombia-earthquake-san-jose-del-palmar</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France 24 - Colombia declares national emergency as quake toll hits 111</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https://www.france24.com/en/americas/20260810-powerful-quake-rocks-colombia-causing-major-damage</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Al Jazeera - M7.4 earthquake hits Colombia</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https://www.aljazeera.com/news/2026/8/10/7-4-magnitude-earthquake-hits-colombia-killing-at-least-20</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CBS News - Strong earthquake strikes western Colombia</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https://www.cbsnews.com/news/colombia-earthquake-western-region-evacuations/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NBC News - Deaths, injuries and collapsed buildings</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https://www.nbcnews.com/world/latin-america/strong-earthquake-colombia-ecuador-people-evacuating-homes-buildings-rcna591709</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Colombia One - First official assessment: widespread structural damage</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https://colombiaone.com/2026/08/10/earthquake-colombia-official-details/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Colombia One - Government declares national disaster</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https://colombiaone.com/2026/08/10/colombia-national-disaster/</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49 / 63</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(3/16)</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Infobae - SGC explains why the shaking lasted so long</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https://www.infobae.com/colombia/2026/08/10/por-que-el-temblor-en-colombia-de-este-lunes-10-de-agosto-duro-una-eternidad-el-servicio-geologico-explico-que-paso/</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NHK - President reports 111 dead, 87 injured (Japanese)</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https://www3.nhk.or.jp/news/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Nikkei - M7.4 earthquake in western Colombia (Japanese)</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https://www.nikkei.com/article/DGXZQOGN108V30Q6A810C2000000/</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Jiji Press - M7.4 earthquake in Colombia (Japanese)</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https://www.jiji.com/jc/article?k=2026081000878&amp;g=int</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Save the Children - Children at risk after the earthquake</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https://www.savethechildren.org/us/about-us/media-and-news/2026-press-releases/children-at-risk-after-earthquake-strikes-colombia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Direct Relief - Mobilising medical aid</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https://www.directrelief.org/2026/08/colombia-earthquake-7-4-magnitude-direct-relief-response/</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Americares - Colombia earthquake, August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https://www.americares.org/crisis-alerts/colombia-earthquake-august-2026/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GLIDEnumber — EQ-2026-000146-COL (event identifier)</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https://glidenumber.net/</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ADRC - Asian Disaster Reduction Center</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https://www.adrc.asia/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European Commission — EU support for Colombia, Copernicus activated</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https://www.democrata.es/en/international/von-der-leyen-expresses-the-eu-s-support-for-colombia-and-activates-copernicus-after-the-earthquake/</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GEM Foundation — TREQ project (urban earthquake risk, Quito / Cali / Santiago de los Caballeros)</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https://www.globalquakemodel.org/proj/treq</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50 / 63</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(4/16)</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GEM-TREQ — Evaluación de riesgo sísmico para Santiago de Cali (technical report D2.6.2)</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https://cloud-storage.globalquakemodel.org/public/wix-new-website/pdf-collections-wix/publications/TREQ%20deliverables/reports/TREQ_D262_Riesgo_Sismico_Cali_v1.00.pdf</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Understanding seismic risk in Santiago de Cali for its application in risk management (peer-reviewed, 2025)</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https://www.sciencedirect.com/science/article/abs/pii/S2212420925003097</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SATIC — Cali's intelligent and community early warning system</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https://satic.cali.gov.co/satic</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Alcaldía de Santiago de Cali — disaster risk management</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https://www.cali.gov.co/gestiondelriesgo/</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 — Plan Nacional de Gestión del Riesgo de Desastres (PNGRD)</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https://portal.gestiondelriesgo.gov.co/Paginas/Plan-Nacional-de-Gestion-del-Riesgo.aspx</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Decreto 1478 de 2022 — update of the PNGRD</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https://www.funcionpublica.gov.co/eva/gestornormativo/norma.php?i=191411</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EMSC-CSEM SeismicPortal — bulletin and FDSN event service</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https://www.emsc-csem.org/</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SGC — seismic catalogue viewer (reviewed catalogue ends Feb 2018)</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https://catalogosismico.sgc.gov.co/visor/index.html</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El Tiempo — live updates, 11 August (Cali toll rises to 85)</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https://www.eltiempo.com/colombia/otras-ciudades/terremoto-en-colombia-de-7-4-en-vivo-el-comandante-del-ejercito-nacional-se-encuentra-en-choco-coordinando-las-labores-de-atencion-de-la-emergencia-3577491</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Asocapitales balance — 132 deaths, 570+ injured, by city</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https://www.elespectador.com/colombia/mas-regiones/temblor-en-colombia-hoy-10-de-agosto-en-vivo-epicentro-y-reporte-de-afectaciones/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Noticias Caracol — UNGRD balance: 182 deaths, 2,542 injured, 189 missing</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https://www.noticiascaracol.com/colombia/en-vivo-colombia-hoy-tras-terremoto-de-magnitud-7-4-continuan-las-labores-de-rescate-so35</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51 / 63</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(5/16)</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RPP — the President's 181 is 59 fewer than the regional data</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https://rpp.pe/mundo/colombia/abelardo-de-la-espriella-cifra-en-181-los-muertos-por-el-terremoto-59-menos-que-datos-regionales-noticia-1701022</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El Tiempo — 99 aftershocks and their magnitudes (SGC)</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https://www.eltiempo.com/colombia/otras-ciudades/cuantas-replicas-se-han-registrado-tras-el-terremoto-de-7-4-en-colombia-estas-son-todas-las-magnitudes-3577711</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Semana — SGC total: 103 aftershocks to 15:00 on 11 Aug</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https://www.semana.com/tecnologia/articulo/servicio-geologico-revela-el-numero-total-de-replicas-que-ha-habido-en-colombia-tras-fuerte-terremoto-que-estremecio-al-pais/202641/</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MOFA Japan — Foreign Minister Motegi's message on the earthquake in Colombia</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https://www.mofa.go.jp/mofaj/la_c/sa/co/pageit_000001_00001.html</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MOFA Japan on X — post of 11 August</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https://x.com/MofaJapan_jp/status/2087155064855261537</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El Tiempo — list of countries that have offered assistance</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https://www.eltiempo.com/mundo/mas-regiones/la-comunidad-internacional-se-vuelca-en-ayudas-para-colombia-lista-de-paises-que-han-ofrecido-apoyo-tras-el-terremoto-de-magnitud-7-3577512</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 in Colombia — earthquake information and updates</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https://colombia.un.org/es/320793-informaci%C3%B3n-y-actualizaciones-sobre-el-terremoto-en-colombia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 News — the UN offers support to Colombia</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https://news.un.org/es/story/2026/08/1541792</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“Colombia te busca” — citizen missing-persons platform</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https://www.colombiatebusca.com/</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Asocapitales — earthquake missing-persons tool</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https://www.asocapitales.co/terremoto-colombia.html</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Infobae — relief and subsidies announced on the Coffee Region tour</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https://www.infobae.com/colombia/2026/08/12/de-la-espriella-anuncio-alivios-y-subsidios-tras-emergencia-en-el-eje-cafetero-por-el-terremoto-detallo-plan-de-choque-para-educacion-y-vivienda/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52 / 63</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(6/16)</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Pulzo — UNGRD damage and casualty report across 14 departments</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https://www.pulzo.com/nacion/terremoto-en-colombia-ungrd-reporta-danos-y-victimas-en-valle-del-cauca-y-risaralda-PP5272829A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El Tiempo — SAR teams arriving from Israel, Ecuador, El Salvador and the US</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https://www.eltiempo.com/colombia/otras-ciudades/terremoto-en-colombia-hoy-12-de-agosto-ultimas-noticias-presidente-de-la-espriella-celebro-rescate-de-daniela-largo-tras-36-horas-bajo-los-escombros-3577781</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Asocapitales — 188 deaths and 1,677 injured in capital cities</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https://www.asocapitales.co/actualidad/noticias/ciudades-seguras/terremoto-deja-188-fallecidos-y-1677-heridos-en-ciudades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infolibre — at least 254 dead as the search continues</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https://www.infolibre.es/internacional/terremoto-colombia-deja-254-muertos-continua-busqueda-escombros_1_2235003.html</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El Colombiano — 265 dead, 3,494 injured, 496 missing</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https://www.elcolombiano.com/colombia/cifra-muertos-heridos-desaparecidos-por-terremoto-colombia-MK39884181</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El Tiempo — UNGRD balance of 13 August: 273 dead, 3,824 injured, 377 missing</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https://www.eltiempo.com/colombia/otras-ciudades/balance-oficial-de-la-ungrd-tras-terremoto-de-magnitud-7-4-en-colombia-273-fallecidos-3-824-heridos-y-377-desaparecidos-3578196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El Tiempo — 40,753 families affected: UNGRD's new balance</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https://www.eltiempo.com/vida/40-753-familias-afectadas-y-273-muertos-ungrd-entrega-nuevo-balance-del-terremoto-en-colombia-3578185</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El Tiempo — M4.2 aftershock at San José del Palmar, 13 August</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https://www.eltiempo.com/colombia/otras-ciudades/nuevo-temblor-de-magnitud-4-2-se-registro-en-san-jose-del-palmar-choco-en-la-manana-de-este-jueves-13-de-agosto-3578131</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Infobae — Colombia to receive rescue teams from the US, Israel, Ecuador and El Salvador</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https://www.infobae.com/colombia/2026/08/13/colombia-recibira-equipos-de-rescate-de-ee-uu-israel-ecuador-y-el-salvador-por-terremoto/</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El Tiempo — UNGRD balance of 14 August: 287 dead, 3,975 injured, 378 missing</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https://www.eltiempo.com/colombia/otras-ciudades/balance-oficial-de-la-ungrd-tras-terremoto-de-magnitud-7-4-en-colombia-287-fallecidos-3-975-heridos-y-378-desaparecidos-3578445</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53 / 63</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(7/16)</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Infobae — live: the toll rises to 288, more than 4,000 injured and 202 missing</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https://www.infobae.com/colombia/2026/08/14/temblor-de-74-en-colombia-el-10-de-agosto-se-actualizo-el-numero-de-fallecidos-en-todo-el-pais/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Infobae — international assistance grows: India, Norway, Sweden and Spain</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https://www.infobae.com/colombia/2026/08/14/aumenta-la-ayuda-internacional-a-colombia-tras-el-terremoto-de-74-india-envia-20-toneladas-y-noruega-suecia-y-espana-anuncian-nuevos-recursos/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El Heraldo — Italy, India, Spain, Chile and the World Bank among those sending aid</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https://www.elheraldo.co/colombia/2026/08/14/italia-india-espana-chile-y-banco-mundial-entre-los-paises-y-organismos-que-han-enviado-ayudas-a-colombia-por-el-terremoto/</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Japanese Red Cross Society — Colombian Red Cross response to the M7.4 earthquake</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https://www.jrc.or.jp/international/news/2026/0812_054987.html</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El Tiempo — why Colombia did not need foreign rescuers: 23 national USAR teams</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https://www.eltiempo.com/vida/medio-ambiente/por-que-colombia-no-necesito-rescatistas-extranjeros-tras-el-terremoto-el-pais-cuenta-con-23-equipos-con-personal-que-hace-parte-de-la-elite-global-3577677</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El Tiempo — SGC: 184 aftershocks since 10 August (14 Aug)</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https://www.eltiempo.com/amp/vida/medio-ambiente/terremoto-en-colombia-desde-el-sismo-del-10-de-agosto-se-han-registrado-184-replicas-reporta-este-viernes-14-el-servicio-geologico-colombiano-3578360</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CNN en Español — live coverage of rescue and recovery</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https://cnnespanol.cnn.com/2026/08/12/colombia/live-news/terremoto-en-vivo-muertos-videos-rescates-orix</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El Tiempo — UNGRD balance of 15 August: 294 dead, 3,935 injured, 320 missing, 353 rescued</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https://www.eltiempo.com/colombia/otras-ciudades/balance-oficial-de-la-ungrd-este-15-de-agosto-tras-terremoto-de-7-4-en-colombia-294-fallecidos-3-935-heridos-320-desaparecidos-y-353-rescatados-3578602</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Semana — 294 dead and 81,506 homes damaged, official figures</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https://www.semana.com/nacion/articulo/ascienden-a-294-los-fallecidos-del-terremoto-del-10-de-agosto-y-van-81506-viviendas-averiadas-segun-cifras-oficiales/202627/</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El Heraldo — Decree 1172: three days of national mourning</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https://www.elheraldo.co/colombia/2026/08/12/presidente-de-la-espriella-decreta-tres-dias-de-duelo-nacional-por-victimas-del-terremoto/</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54 / 63</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(8/16)</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El Tiempo — the governor of Chocó ends the department's search-and-rescue phase</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https://www.eltiempo.com/colombia/otras-ciudades/gobernadora-del-choco-dio-por-finalizada-la-fase-de-busqueda-y-rescate-en-el-departamento-tras-terremoto-de-7-4-en-colombia-ya-no-buscamos-a-nadie-3578022</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El Tiempo — UNGRD balance of 16 August: 289 dead, 4,187 injured, 143 missing</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https://www.eltiempo.com/colombia/otras-ciudades/balance-oficial-de-la-ungrd-este-16-de-agosto-tras-terremoto-de-7-4-en-colombia-289-fallecidos-4-187-heridos-y-143-desaparecidos-3578742</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RTVC Noticias — 289 dead, 143 missing and more than 185,000 affected</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https://www.rtvcnoticias.com/actualidad/terremoto-deja-289-fallecidos-143-desaparecidos-y-mas-de-185000-afectados-en-colombia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Radio Santa Fe — UNGRD reduces the death and missing figures</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https://www.radiosantafe.com/2026/08/16/ungrd-reduce-a-289-cifra-de-fallecidos-y-a-143-la-de-personas-desaparecidas-por-el-terremoto/</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Semana — UNGRD balance of 16 August evening: 287 dead, 4,147 injured</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https://www.semana.com/nacion/articulo/terremoto-en-colombia-reportan-287-muertos-y-4147-heridos-en-nuevo-balance-de-la-ungrd/202615/</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La Tercera — Colombia lowers the death toll and raises the injured count</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https://www.latercera.com/mundo/noticia/colombia-rebaja-a-casi-287-los-muertos-y-eleva-a-cerca-de-4150-los-heridos-por-el-terremoto/</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 - Colombia Flash Update 010 (27 Aug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https://reliefweb.int/report/colombia/colombia-flash-update-010-update-impact-earthquake-colombia-august-27-2026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 - Colombia Flash Update 010, ES (27 Aug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https://reliefweb.int/report/colombia/colombia-flash-update-010-actualizacion-afectaciones-por-terremoto-en-colombia-27-de-agosto-de-2026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 - Colombia Flash Update 009 (24 Aug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https://reliefweb.int/report/colombia/colombia-flash-update-009-update-impact-earthquake-colombia-august-24-2026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 - Colombia Flash Update 009, ES (24 Aug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https://reliefweb.int/report/colombia/colombia-flash-update-009-actualizacion-afectaciones-por-terremoto-en-colombia-24-de-agosto-de-2026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55 / 63</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(9/16)</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IOM Colombia Earthquake Response - Situation Report #6 (28 Aug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https://reliefweb.int/report/colombia/iom-colombia-earthquake-response-situation-report-6-28-august-2026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IOM Colombia Earthquake Response - Situation Report #6, ES (28 Aug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https://reliefweb.int/report/colombia/oim-respuesta-al-terremoto-en-colombia-reporte-de-situacion-6-28-agosto-2026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 national balance, 06:30 cut, 31 Aug 2026 (official X)</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https://x.com/UNGRD/status/2094414373506736128</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 national balance, 06:30 cut, 1 Sep 2026 (official X)</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https://x.com/UNGRD/status/2094764781831872512</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Colombia - Earthquake: LTC Telecoms Situation Report #02 (25-31 Aug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https://reliefweb.int/report/colombia/colombia-earthquake-ltc-telecoms-situation-report-02-reporting-period-25-31-august-2026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AMDA Emergency Relief 1 - Earthquake Colombia (1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https://reliefweb.int/report/colombia/amda-emergency-relief-1-earthquake-colombia-1-september-2026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Colombia: ICRC assesses needs of communities affected by armed conflict following the earthquake</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https://reliefweb.int/report/colombia/colombia-icrc-assesses-needs-communities-affected-armed-conflict-following-earthquake</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Colombia 7.4M Earthquake and EU response - DG ECHO Daily Map (26 Aug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https://reliefweb.int/map/colombia/colombia-74-m-earthquake-10-august-and-eu-response-dg-echo-daily-map-26082026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Pereira, Colombia: temporary shelters, earthquake of 10 Aug 2026 (19 Aug 2026 map)</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https://reliefweb.int/map/colombia/pereira-colombia-alojamientos-temporales-terremoto-10-de-agosto-2026-19082026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Manizales, Colombia: affected neighbourhoods, earthquake of 10 Aug 2026 (20 Aug 2026 map)</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https://reliefweb.int/map/colombia/manizales-colombia-barrios-afectados-terremoto-10-de-agosto-2026-20082026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56 / 63</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(10/16)</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Colombia: Addendum to the Humanitarian Response Plan - Earthquake (Aug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https://reliefweb.int/report/colombia/colombia-addendum-humanitarian-response-plan-earthquake-august-2026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Colombia: Addendum to the Humanitarian Response Plan - Earthquake, ES</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https://reliefweb.int/report/colombia/colombia-adenda-al-plan-de-respuesta-humanitaria-terremoto-agosto-2026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Colombia Humanitarian Needs and Response Plan, Feb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https://reliefweb.int/report/colombia/colombia-plan-de-respuesta-necesidades-humanitarias-febrero-2026-enes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Humanitarian Action for Children 2026 - Colombia</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https://reliefweb.int/report/colombia/humanitarian-action-children-2026-colombia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Colombia: Flash Update 011 (2 Sep 2026, Spanish)</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https://reliefweb.int/report/colombia/colombia-flash-update-011-actualizacion-afectaciones-por-terremoto-en-colombia-02-de-septiembre-de-2026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Colombia: Flash Update 011 (2 Sep 2026, English)</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https://reliefweb.int/report/colombia/colombia-flash-update-011-update-impact-earthquake-colombia-september-2-2026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Colombia: urgent needs persist three weeks after the earthquake (MSF)</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https://reliefweb.int/report/colombia/urgent-needs-persist-three-weeks-after-earthquake-colombia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DRC quarterly protection monitoring, Colombia (Apr-Jun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https://reliefweb.int/report/colombia/informe-de-monitoreo-de-proteccion-trimestral-de-drc-colombia-abril-junio-2026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IOM Colombia Earthquake Situation Report #7 (31 Aug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https://reliefweb.int/report/colombia/colombia-earthquake-situation-report-7-31-aug-2026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IOM Colombia Earthquake Situation Report #7 (Spanish, 31 Aug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https://reliefweb.int/report/colombia/respuesta-al-terremoto-en-colombia-reporte-de-situacion-7-31-agosto-2026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AMDA Emergency Relief #2: Earthquake in Colombia (3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https://reliefweb.int/report/colombia/amda-emergency-relief-2-earthquake-colombia-3-september-2026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57 / 63</a:t>
            </a:r>
            <a:endParaRPr lang="en-US" sz="1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(11/16)</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3iS - Manizales, Colombia: Barrios afectados (affected neighbourhoods) map, 10 August 2026 earthquake (03/09/2026)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https://reliefweb.int/map/colombia/manizales-colombia-barrios-afectados-terremoto-10-de-agosto-2026-03092026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AMDA Emergency Relief #3: Earthquake in Colombia (7 Sep 2026, Istmina hospital/church needs assessment)</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https://reliefweb.int/report/colombia/amda-emergency-relief-3-earthquake-colombia-7-september-2026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Fundación ABBACOL - psychosocial intervention update, Cali (04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https://reliefweb.int/report/colombia/resumen-actualizado-de-la-intervencion-psicosocial-de-abbacol-fecha-de-resumen-y-actualizacion-04-septiembre-2026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FEWS NET - Colombia Food Security Outlook Update (Aug 2026 - Jan 2027): earthquake impacts reduce food access as El Niño strengthens</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https://reliefweb.int/report/colombia/colombia-food-security-outlook-update-august-2026-january-2027-earthquake-impacts-reduce-food-access-affected-areas-el-nino-strengthens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Quibdó - Colombia: Barrios afectados map, 10 August 2026 earthquake (03/09/2026)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https://reliefweb.int/map/colombia/quibdo-colombia-barrios-afectados-terremoto-10-de-agosto-2026-03092026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IOM Colombia Earthquake Situation Report #8 (3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https://reliefweb.int/report/colombia/iom-colombia-earthquake-situation-report-8-03-september-2026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IOM Colombia Earthquake Situation Report #8 (Spanish)</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https://reliefweb.int/report/colombia/oim-respuesta-al-terremoto-en-colombia-reporte-de-situacion-8-3-septiembre-2026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WFP Colombia Earthquake Emergency Situation Report (7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https://reliefweb.int/report/colombia/wfp-colombia-earthquake-response-7-september-2026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AMDA Emergency Relief #4: Earthquake in Colombia (8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https://reliefweb.int/report/colombia/amda-emergency-relief-4-earthquake-colombia-8-september-2026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OCHA/EHP Colombia - HNRP 2026 5W System Response Report (Jan-Jul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https://reliefweb.int/report/colombia/colombia-reporte-plan-de-respuesta-necesidades-humanitarias-hnrp-2026-en-el-sistema-5w-entre-enero-y-julio-de-2026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58 / 63</a:t>
            </a: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(12/16)</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Action Against Hunger - Situation and Response Analysis, Earthquake (4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https://reliefweb.int/report/colombia/analisis-de-situacion-y-respuesta-al-terremoto-4-de-septiembre-2026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Action Against Hunger - Situation and Response Analysis, Earthquake (16 Aug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https://reliefweb.int/report/colombia/analisis-de-situacion-y-respuesta-al-terremoto-16-agosto-2026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Cali, Colombia: Affected Neighbourhoods Map (3iS, 8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https://reliefweb.int/map/colombia/cali-colombia-barrios-afectados-terremoto-10-de-agosto-2026-08092026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OCHA/EHP Colombia - Flash Update 012, Update on the Impact of the Earthquake (10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https://reliefweb.int/report/colombia/colombia-flash-update-012-update-impact-earthquake-colombia-september-10-2026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Caritas - Earthquake in Colombia: Caritas moves from emergency response to recovery (FR, 10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https://reliefweb.int/report/colombia/seisme-en-colombie-caritas-passe-de-laide-durgence-au-relevement</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Caritas - Earthquake in Colombia: Caritas moves from emergency response to recovery (ES, 10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https://reliefweb.int/report/colombia/terremoto-en-colombia-caritas-pasa-de-la-respuesta-de-emergencia-la-recuperacion</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3iS - Buenaventura, Colombia: Affected Neighbourhoods Map (11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https://reliefweb.int/map/colombia/buenaventura-colombia-barrios-afectados-terremoto-10-de-agosto-2026-11092026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iMMAP/OCHA/UNICEF - Colombia WASH Situation One Month After the Earthquake: Response, Gaps and Priorities (11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https://reliefweb.int/report/colombia/colombia-situacion-agua-saneamiento-e-higiene-wash-un-mes-del-sismo-de-agosto-de-2026-respuesta-brechas-y-prioridades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DRC - Colombia Protection Monitoring (January-March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https://reliefweb.int/report/colombia/drc-colombia-monitoreo-de-proteccion-enero-marzo-2026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 (X/Twitter) - temporary housing economic support payments, Choco and Cali (11-12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https://x.com/UNGRD/status/2098758429951078754</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59 / 63</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(13/16)</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 (portal) - "356 people rescued": one month on, response continues (10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https://portal.gestiondelriesgo.gov.co/Paginas/Noticias/2026/356-personas-rescatadas-la-respuesta-de-la-UNGRD-continua-un-mes-despues-del-terremoto.aspx</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 (portal) - Chocó housing support payments begin (11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https://portal.gestiondelriesgo.gov.co/Paginas/Noticias/2026/Inicia-el-pago-de-mas-de-3324-millones-en-apoyo-economico-para-las-familias-damnificadas-por-el-terremoto-en-Choco.aspx</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IFRC - Colombia: IFRC calls for sustained support, one month on (10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https://reliefweb.int/report/colombia/colombia-ifrc-calls-sustained-support-earthquake-affected-communities-one-month</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IOM Colombia Earthquake Situation Report #9, 10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https://reliefweb.int/report/colombia/iom-colombia-earthquake-situation-report-9-10-september-2026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CESVI - Colombia Emergency Response, Situation Report #2 (11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https://reliefweb.int/report/colombia/colombia-emergency-response-situation-report-2-18-august-10-september-2026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 - Colombia Flash Update 013 (17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https://reliefweb.int/report/colombia/colombia-flash-update-013-actualizacion-afectaciones-por-terremoto-en-colombia-17-de-septiembre-de-2026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 - Colombia Flash Update 013, English (posted 18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https://reliefweb.int/report/colombia/colombia-flash-update-013-update-impact-earthquake-colombia-september-18-2026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https://portal.gestiondelriesgo.gov.co/Paginas/Noticias/2026/UNGRD-y-Naciones-Unidas-analizan-en-Cali-los-retos-de-la-recuperacion-tras-el-terremoto.aspx</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https://reliefweb.int/report/colombia/analisis-de-situacion-y-respuesta-al-terremoto-10-de-septiembre-2026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https://reliefweb.int/report/colombia/colombia-earthquake-response-situation-report-10-14-september-2026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https://reliefweb.int/report/colombia/colombia-evaluacion-rapida-conjunta-de-mercados-jram-panorama-de-la-situacion-agosto-2026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60 / 63</a:t>
            </a:r>
            <a:endParaRPr lang="en-US" sz="1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(14/16)</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https://reliefweb.int/report/colombia/colombia-grupo-de-trabajo-de-logistica-gtl-un-mes-de-operacion-de-emergencia-10-de-septiembre-de-2026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https://reliefweb.int/report/colombia/respuesta-al-terremoto-en-colombia-reporte-de-situacion-10-14-septiembre-2026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https://reliefweb.int/report/colombia/terremoto-en-colombia-el-cicr-apoya-la-recuperacion-de-infraestructura-comunitaria-esencial-en-zonas-afectadas-por-los-conflictos-armados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https://reliefweb.int/report/colombia/un-mes-despues-del-terremoto-en-colombia-avanzar-con-la-reconstruccion-en-medio-de-una-compleja-situacion-humanitaria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https://reliefweb.int/report/colombia/unhcr-colombia-2026-funding-update-31-august-2026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ICRC: Earthquake in Colombia - rehabilitation of essential community infrastructure (18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https://reliefweb.int/report/colombia/earthquake-colombia-icrc-supports-rehabilitation-essential-community-infrastructure</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IOM Colombia: territorial severity and vulnerability assessment after the earthquake (27 Aug 2026, Spanish)</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https://reliefweb.int/report/colombia/oim-colombia-severidad-y-vulnerabilidad-territorial-tras-el-terremoto-27-agosto-2026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IOM Colombia Earthquake Response - Situation Report #9, 10 Sep 2026 (Spanish edition)</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https://reliefweb.int/report/colombia/oim-respuesta-al-terremoto-en-colombia-reporte-de-situacion-9-10-septiembre-2026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PAHO/WHO: One month after the Colombia earthquake - response and stabilization (as of 4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https://reliefweb.int/report/colombia/one-month-after-colombia-earthquake-pahowho-continues-support-response-and-stabilization</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Colombia Population Movement - Imminent DREF Final Report (MDRCO034) - unrelated migration programme, not this earthquake</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https://reliefweb.int/report/colombia/colombia-population-movement-imminent-dref-final-report-mdrco034</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61 / 63</a:t>
            </a:r>
            <a:endParaRPr lang="en-US" sz="1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(15/16)</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IFRC Colombia Earthquake - Operation Update #1 (MDRCO036), 22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https://reliefweb.int/report/colombia/colombia-earthquake-operation-update-1-mdrco036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OCHA/EHP Colombia - Flash Update 014, Update on the Impact of the Earthquake (23 Sep 2026, 18:30 cut)</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https://reliefweb.int/report/colombia/colombia-flash-update-014-update-impact-earthquake-colombia-september-23-2026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OCHA/EHP Colombia - Flash Update 014 (Spanish edition), 23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https://reliefweb.int/report/colombia/colombia-flash-update-014-actualizacion-afectaciones-por-terremoto-en-colombia-23-de-septiembre-de-2026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Colombia Earthquake Response Situation Report #11 (IOM, 21/25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https://reliefweb.int/report/colombia/colombia-earthquake-response-situation-report-11-21-september-2026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Colombia displacement/confinement monitoring, Jan-Mar 2026 (UNHCR)</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https://reliefweb.int/report/colombia/colombia-monitoreo-de-emergencias-humanitarias-desplazamiento-masivo-y-confinamiento-enero-marzo-2026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Colombia displacement/confinement monitoring, 2025 (UNHCR)</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https://reliefweb.int/report/colombia/colombia-monitoreo-de-emergencias-humanitarias-desplazamiento-masivo-y-confinamiento-2025</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ACAPS Thematic Report — expected humanitarian impacts, 25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https://reliefweb.int/report/colombia/acaps-thematic-report-colombia-earthquakes-expected-humanitarian-impacts-25-september-2026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ACAPS 専題報告（スペイン語版）</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https://reliefweb.int/report/colombia/colombia-impactos-humanitarios-previstos-del-terremoto-acaps-reporte-tematico-25-de-septiembre-2026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IOM Colombia Earthquake Response Situation Report #12 (29 Sep)</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https://reliefweb.int/report/colombia/colombia-earthquake-response-situation-report-12-29-september-2026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62 / 63</a:t>
            </a:r>
            <a:endParaRPr lang="en-US" sz="1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(16/16)</a:t>
            </a:r>
            <a:endParaRPr lang="en-US" sz="2100" dirty="0"/>
          </a:p>
        </p:txBody>
      </p:sp>
      <p:pic>
        <p:nvPicPr>
          <p:cNvPr id="3" name="Image 0" descr="/tmp/build_event-bT0zLO/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IOM 状況報告第12号（スペイン語版）</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https://reliefweb.int/report/colombia/respuesta-al-terremoto-en-colombia-reporte-de-situacion-12-29-septiembre-2026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OCHA Flash Update 015 (30 Sep)</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https://reliefweb.int/report/colombia/colombia-flash-update-015-update-impact-earthquake-colombia-september-30-2026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OCHA Flash Update 015 (Spanish)</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https://reliefweb.int/report/colombia/colombia-flash-update-015-actualizacion-afectaciones-por-terremoto-en-colombia-30-de-septiembre-de-2026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DRC Rapid Protection Assessment, Buenaventura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https://reliefweb.int/report/colombia/rapid-protection-assessment-earthquake-response-buenaventura-valle-del-cauca-september-2026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63 / 63</a:t>
            </a:r>
            <a:endParaRPr lang="en-US" sz="1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1F3864"/>
        </a:solidFill>
      </p:bgPr>
    </p:bg>
    <p:spTree>
      <p:nvGrpSpPr>
        <p:cNvPr id="1" name=""/>
        <p:cNvGrpSpPr/>
        <p:nvPr/>
      </p:nvGrpSpPr>
      <p:grpSpPr>
        <a:xfrm>
          <a:off x="0" y="0"/>
          <a:ext cx="0" cy="0"/>
          <a:chOff x="0" y="0"/>
          <a:chExt cx="0" cy="0"/>
        </a:xfrm>
      </p:grpSpPr>
      <p:sp>
        <p:nvSpPr>
          <p:cNvPr id="2" name="Shape 0"/>
          <p:cNvSpPr/>
          <p:nvPr/>
        </p:nvSpPr>
        <p:spPr>
          <a:xfrm>
            <a:off x="5614416" y="1865376"/>
            <a:ext cx="969264" cy="932688"/>
          </a:xfrm>
          <a:prstGeom prst="roundRect">
            <a:avLst>
              <a:gd name="adj" fmla="val 4902"/>
            </a:avLst>
          </a:prstGeom>
          <a:solidFill>
            <a:srgbClr val="FFFFFF"/>
          </a:solidFill>
          <a:ln w="12700">
            <a:solidFill>
              <a:srgbClr val="FFFFFF"/>
            </a:solidFill>
            <a:prstDash val="solid"/>
          </a:ln>
        </p:spPr>
      </p:sp>
      <p:pic>
        <p:nvPicPr>
          <p:cNvPr id="3" name="Image 0" descr="/tmp/build_event-bT0zLO/generator/images/adrc_logo.png">    </p:cNvPr>
          <p:cNvPicPr>
            <a:picLocks noChangeAspect="1"/>
          </p:cNvPicPr>
          <p:nvPr/>
        </p:nvPicPr>
        <p:blipFill>
          <a:blip r:embed="rId1"/>
          <a:stretch>
            <a:fillRect/>
          </a:stretch>
        </p:blipFill>
        <p:spPr>
          <a:xfrm>
            <a:off x="5687568" y="1920240"/>
            <a:ext cx="822960" cy="822960"/>
          </a:xfrm>
          <a:prstGeom prst="rect">
            <a:avLst/>
          </a:prstGeom>
        </p:spPr>
      </p:pic>
      <p:sp>
        <p:nvSpPr>
          <p:cNvPr id="4" name="Text 1"/>
          <p:cNvSpPr/>
          <p:nvPr/>
        </p:nvSpPr>
        <p:spPr>
          <a:xfrm>
            <a:off x="731520" y="2971800"/>
            <a:ext cx="1069848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Asian Disaster Reduction Center (ADRC)</a:t>
            </a:r>
            <a:endParaRPr lang="en-US" sz="2000" dirty="0"/>
          </a:p>
        </p:txBody>
      </p:sp>
      <p:sp>
        <p:nvSpPr>
          <p:cNvPr id="5" name="Text 2"/>
          <p:cNvSpPr/>
          <p:nvPr/>
        </p:nvSpPr>
        <p:spPr>
          <a:xfrm>
            <a:off x="1463040" y="3611880"/>
            <a:ext cx="9235440" cy="1463040"/>
          </a:xfrm>
          <a:prstGeom prst="rect">
            <a:avLst/>
          </a:prstGeom>
          <a:noFill/>
          <a:ln/>
        </p:spPr>
        <p:txBody>
          <a:bodyPr wrap="square" lIns="0" tIns="0" rIns="0" bIns="0" rtlCol="0" anchor="t">
            <a:normAutofit/>
          </a:bodyPr>
          <a:lstStyle/>
          <a:p>
            <a:pPr algn="ctr" indent="0" marL="0">
              <a:buNone/>
            </a:pPr>
            <a:r>
              <a:rPr lang="en-US" sz="1200" dirty="0">
                <a:solidFill>
                  <a:srgbClr val="D8E0EC"/>
                </a:solidFill>
                <a:latin typeface="Meiryo" pitchFamily="34" charset="0"/>
                <a:ea typeface="Meiryo" pitchFamily="34" charset="-122"/>
                <a:cs typeface="Meiryo" pitchFamily="34" charset="-120"/>
              </a:rPr>
              <a:t>Bilingual (EN/JA) report for domestic and international dissemination. Public-agency sources take priority; gaps are filled with clearly-labelled media reports.</a:t>
            </a:r>
            <a:endParaRPr lang="en-US" sz="1200" dirty="0"/>
          </a:p>
        </p:txBody>
      </p:sp>
      <p:sp>
        <p:nvSpPr>
          <p:cNvPr id="6" name="Text 3"/>
          <p:cNvSpPr/>
          <p:nvPr/>
        </p:nvSpPr>
        <p:spPr>
          <a:xfrm>
            <a:off x="731520" y="5989320"/>
            <a:ext cx="10698480" cy="274320"/>
          </a:xfrm>
          <a:prstGeom prst="rect">
            <a:avLst/>
          </a:prstGeom>
          <a:noFill/>
          <a:ln/>
        </p:spPr>
        <p:txBody>
          <a:bodyPr wrap="square" lIns="0" tIns="0" rIns="0" bIns="0" rtlCol="0" anchor="ctr"/>
          <a:lstStyle/>
          <a:p>
            <a:pPr algn="ctr" indent="0" marL="0">
              <a:buNone/>
            </a:pPr>
            <a:r>
              <a:rPr lang="en-US" sz="1000" dirty="0">
                <a:solidFill>
                  <a:srgbClr val="9FB0C8"/>
                </a:solidFill>
                <a:latin typeface="Meiryo" pitchFamily="34" charset="0"/>
                <a:ea typeface="Meiryo" pitchFamily="34" charset="-122"/>
                <a:cs typeface="Meiryo" pitchFamily="34" charset="-120"/>
              </a:rPr>
              <a:t>2026-10-04 JST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64</Slides>
  <Notes>64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64</vt:i4>
      </vt:variant>
    </vt:vector>
  </HeadingPairs>
  <TitlesOfParts>
    <vt:vector size="6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2026-10-09T22:37:38Z</dcterms:created>
  <dcterms:modified xsi:type="dcterms:W3CDTF">2026-10-09T22:37:38Z</dcterms:modified>
</cp:coreProperties>
</file>