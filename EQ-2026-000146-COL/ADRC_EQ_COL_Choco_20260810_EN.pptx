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reliefweb.int/report/colombia/colombia-population-movement-imminent-dref-final-report-mdrco034" TargetMode="External"/><Relationship Id="rId4" Type="http://schemas.openxmlformats.org/officeDocument/2006/relationships/hyperlink" Target="https://www.google.com/maps/@5.69,-76.66,9z"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5-1.png"/><Relationship Id="rId2" Type="http://schemas.openxmlformats.org/officeDocument/2006/relationships/image" Target="../media/image-15-2.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8-1.png"/><Relationship Id="rId2" Type="http://schemas.openxmlformats.org/officeDocument/2006/relationships/image" Target="../media/image-18-2.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jp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47-1.png"/><Relationship Id="rId14" Type="http://schemas.openxmlformats.org/officeDocument/2006/relationships/slideLayout" Target="../slideLayouts/slideLayout1.xml"/><Relationship Id="rId1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 Type="http://schemas.openxmlformats.org/officeDocument/2006/relationships/image" Target="../media/image-48-1.png"/><Relationship Id="rId13" Type="http://schemas.openxmlformats.org/officeDocument/2006/relationships/slideLayout" Target="../slideLayouts/slideLayout1.xml"/><Relationship Id="rId1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hyperlink" Target="https://www3.nhk.or.jp/news/" TargetMode="External"/><Relationship Id="rId4" Type="http://schemas.openxmlformats.org/officeDocument/2006/relationships/hyperlink" Target="https://www.nikkei.com/article/DGXZQOGN108V30Q6A810C2000000/" TargetMode="External"/><Relationship Id="rId5" Type="http://schemas.openxmlformats.org/officeDocument/2006/relationships/hyperlink" Target="https://www.jiji.com/jc/article?k=2026081000878&amp;g=int" TargetMode="External"/><Relationship Id="rId6" Type="http://schemas.openxmlformats.org/officeDocument/2006/relationships/hyperlink" Target="https://www.savethechildren.org/us/about-us/media-and-news/2026-press-releases/children-at-risk-after-earthquake-strikes-colombia" TargetMode="External"/><Relationship Id="rId7" Type="http://schemas.openxmlformats.org/officeDocument/2006/relationships/hyperlink" Target="https://www.directrelief.org/2026/08/colombia-earthquake-7-4-magnitude-direct-relief-response/" TargetMode="External"/><Relationship Id="rId8" Type="http://schemas.openxmlformats.org/officeDocument/2006/relationships/hyperlink" Target="https://www.americares.org/crisis-alerts/colombia-earthquake-august-2026/" TargetMode="External"/><Relationship Id="rId9" Type="http://schemas.openxmlformats.org/officeDocument/2006/relationships/hyperlink" Target="https://glidenumber.net/" TargetMode="External"/><Relationship Id="rId10" Type="http://schemas.openxmlformats.org/officeDocument/2006/relationships/hyperlink" Target="https://www.adrc.asia/" TargetMode="External"/><Relationship Id="rId11" Type="http://schemas.openxmlformats.org/officeDocument/2006/relationships/hyperlink" Target="https://www.democrata.es/en/international/von-der-leyen-expresses-the-eu-s-support-for-colombia-and-activates-copernicus-after-the-earthquake/" TargetMode="External"/><Relationship Id="rId12" Type="http://schemas.openxmlformats.org/officeDocument/2006/relationships/hyperlink" Target="https://www.globalquakemodel.org/proj/treq" TargetMode="External"/><Relationship Id="rId1" Type="http://schemas.openxmlformats.org/officeDocument/2006/relationships/image" Target="../media/image-49-1.png"/><Relationship Id="rId13" Type="http://schemas.openxmlformats.org/officeDocument/2006/relationships/slideLayout" Target="../slideLayouts/slideLayout1.xml"/><Relationship Id="rId1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cloud-storage.globalquakemodel.org/public/wix-new-website/pdf-collections-wix/publications/TREQ%20deliverables/reports/TREQ_D262_Riesgo_Sismico_Cali_v1.00.pdf" TargetMode="External"/><Relationship Id="rId3" Type="http://schemas.openxmlformats.org/officeDocument/2006/relationships/hyperlink" Target="https://www.sciencedirect.com/science/article/abs/pii/S2212420925003097" TargetMode="External"/><Relationship Id="rId4" Type="http://schemas.openxmlformats.org/officeDocument/2006/relationships/hyperlink" Target="https://satic.cali.gov.co/satic"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Paginas/Plan-Nacional-de-Gestion-del-Riesgo.aspx" TargetMode="External"/><Relationship Id="rId7" Type="http://schemas.openxmlformats.org/officeDocument/2006/relationships/hyperlink" Target="https://www.funcionpublica.gov.co/eva/gestornormativo/norma.php?i=191411" TargetMode="External"/><Relationship Id="rId8" Type="http://schemas.openxmlformats.org/officeDocument/2006/relationships/hyperlink" Target="https://www.emsc-csem.org/" TargetMode="External"/><Relationship Id="rId9" Type="http://schemas.openxmlformats.org/officeDocument/2006/relationships/hyperlink" Target="https://catalogosismico.sgc.gov.co/visor/index.html" TargetMode="External"/><Relationship Id="rId10"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1" Type="http://schemas.openxmlformats.org/officeDocument/2006/relationships/hyperlink" Target="https://www.elespectador.com/colombia/mas-regiones/temblor-en-colombia-hoy-10-de-agosto-en-vivo-epicentro-y-reporte-de-afectaciones/" TargetMode="External"/><Relationship Id="rId12" Type="http://schemas.openxmlformats.org/officeDocument/2006/relationships/hyperlink" Target="https://www.noticiascaracol.com/colombia/en-vivo-colombia-hoy-tras-terremoto-de-magnitud-7-4-continuan-las-labores-de-rescate-so35" TargetMode="External"/><Relationship Id="rId1" Type="http://schemas.openxmlformats.org/officeDocument/2006/relationships/image" Target="../media/image-50-1.png"/><Relationship Id="rId13" Type="http://schemas.openxmlformats.org/officeDocument/2006/relationships/slideLayout" Target="../slideLayouts/slideLayout1.xml"/><Relationship Id="rId1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rpp.pe/mundo/colombia/abelardo-de-la-espriella-cifra-en-181-los-muertos-por-el-terremoto-59-menos-que-datos-regionales-noticia-1701022" TargetMode="External"/><Relationship Id="rId3" Type="http://schemas.openxmlformats.org/officeDocument/2006/relationships/hyperlink" Target="https://www.eltiempo.com/colombia/otras-ciudades/cuantas-replicas-se-han-registrado-tras-el-terremoto-de-7-4-en-colombia-estas-son-todas-las-magnitudes-3577711"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mofa.go.jp/mofaj/la_c/sa/co/pageit_000001_00001.html" TargetMode="External"/><Relationship Id="rId6" Type="http://schemas.openxmlformats.org/officeDocument/2006/relationships/hyperlink" Target="https://x.com/MofaJapan_jp/status/2087155064855261537" TargetMode="External"/><Relationship Id="rId7" Type="http://schemas.openxmlformats.org/officeDocument/2006/relationships/hyperlink" Target="https://www.eltiempo.com/mundo/mas-regiones/la-comunidad-internacional-se-vuelca-en-ayudas-para-colombia-lista-de-paises-que-han-ofrecido-apoyo-tras-el-terremoto-de-magnitud-7-3577512" TargetMode="External"/><Relationship Id="rId8" Type="http://schemas.openxmlformats.org/officeDocument/2006/relationships/hyperlink" Target="https://colombia.un.org/es/320793-informaci%C3%B3n-y-actualizaciones-sobre-el-terremoto-en-colombia" TargetMode="External"/><Relationship Id="rId9" Type="http://schemas.openxmlformats.org/officeDocument/2006/relationships/hyperlink" Target="https://news.un.org/es/story/2026/08/1541792" TargetMode="External"/><Relationship Id="rId10" Type="http://schemas.openxmlformats.org/officeDocument/2006/relationships/hyperlink" Target="https://www.colombiatebusca.com/" TargetMode="External"/><Relationship Id="rId11" Type="http://schemas.openxmlformats.org/officeDocument/2006/relationships/hyperlink" Target="https://www.asocapitales.co/terremoto-colombia.html" TargetMode="External"/><Relationship Id="rId12"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51-1.png"/><Relationship Id="rId13" Type="http://schemas.openxmlformats.org/officeDocument/2006/relationships/slideLayout" Target="../slideLayouts/slideLayout1.xml"/><Relationship Id="rId1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 Type="http://schemas.openxmlformats.org/officeDocument/2006/relationships/image" Target="../media/image-52-1.png"/><Relationship Id="rId12" Type="http://schemas.openxmlformats.org/officeDocument/2006/relationships/slideLayout" Target="../slideLayouts/slideLayout1.xml"/><Relationship Id="rId1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www.infobae.com/colombia/2026/08/14/temblor-de-74-en-colombia-el-10-de-agosto-se-actualizo-el-numero-de-fallecidos-en-todo-el-pais/" TargetMode="External"/><Relationship Id="rId3" Type="http://schemas.openxmlformats.org/officeDocument/2006/relationships/hyperlink" Target="https://www.infobae.com/colombia/2026/08/14/aumenta-la-ayuda-internacional-a-colombia-tras-el-terremoto-de-74-india-envia-20-toneladas-y-noruega-suecia-y-espana-anuncian-nuevos-recursos/" TargetMode="External"/><Relationship Id="rId4" Type="http://schemas.openxmlformats.org/officeDocument/2006/relationships/hyperlink" Target="https://www.elheraldo.co/colombia/2026/08/14/italia-india-espana-chile-y-banco-mundial-entre-los-paises-y-organismos-que-han-enviado-ayudas-a-colombia-por-el-terremoto/" TargetMode="External"/><Relationship Id="rId5" Type="http://schemas.openxmlformats.org/officeDocument/2006/relationships/hyperlink" Target="https://www.jrc.or.jp/international/news/2026/0812_054987.html" TargetMode="External"/><Relationship Id="rId6"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7"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8" Type="http://schemas.openxmlformats.org/officeDocument/2006/relationships/hyperlink" Target="https://cnnespanol.cnn.com/2026/08/12/colombia/live-news/terremoto-en-vivo-muertos-videos-rescates-orix" TargetMode="External"/><Relationship Id="rId9"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0" Type="http://schemas.openxmlformats.org/officeDocument/2006/relationships/hyperlink" Target="https://www.semana.com/nacion/articulo/ascienden-a-294-los-fallecidos-del-terremoto-del-10-de-agosto-y-van-81506-viviendas-averiadas-segun-cifras-oficiales/202627/" TargetMode="External"/><Relationship Id="rId11" Type="http://schemas.openxmlformats.org/officeDocument/2006/relationships/hyperlink" Target="https://www.elheraldo.co/colombia/2026/08/12/presidente-de-la-espriella-decreta-tres-dias-de-duelo-nacional-por-victimas-del-terremoto/" TargetMode="External"/><Relationship Id="rId1" Type="http://schemas.openxmlformats.org/officeDocument/2006/relationships/image" Target="../media/image-53-1.png"/><Relationship Id="rId12" Type="http://schemas.openxmlformats.org/officeDocument/2006/relationships/slideLayout" Target="../slideLayouts/slideLayout1.xml"/><Relationship Id="rId1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3" Type="http://schemas.openxmlformats.org/officeDocument/2006/relationships/hyperlink" Target="https://www.eltiempo.com/colombia/otras-ciudades/balance-oficial-de-la-ungrd-este-16-de-agosto-tras-terremoto-de-7-4-en-colombia-289-fallecidos-4-187-heridos-y-143-desaparecidos-3578742" TargetMode="External"/><Relationship Id="rId4" Type="http://schemas.openxmlformats.org/officeDocument/2006/relationships/hyperlink" Target="https://www.rtvcnoticias.com/actualidad/terremoto-deja-289-fallecidos-143-desaparecidos-y-mas-de-185000-afectados-en-colombia" TargetMode="External"/><Relationship Id="rId5" Type="http://schemas.openxmlformats.org/officeDocument/2006/relationships/hyperlink" Target="https://www.radiosantafe.com/2026/08/16/ungrd-reduce-a-289-cifra-de-fallecidos-y-a-143-la-de-personas-desaparecidas-por-el-terremoto/" TargetMode="External"/><Relationship Id="rId6" Type="http://schemas.openxmlformats.org/officeDocument/2006/relationships/hyperlink" Target="https://www.semana.com/nacion/articulo/terremoto-en-colombia-reportan-287-muertos-y-4147-heridos-en-nuevo-balance-de-la-ungrd/202615/" TargetMode="External"/><Relationship Id="rId7" Type="http://schemas.openxmlformats.org/officeDocument/2006/relationships/hyperlink" Target="https://www.latercera.com/mundo/noticia/colombia-rebaja-a-casi-287-los-muertos-y-eleva-a-cerca-de-4150-los-heridos-por-el-terremoto/" TargetMode="External"/><Relationship Id="rId8" Type="http://schemas.openxmlformats.org/officeDocument/2006/relationships/hyperlink" Target="https://reliefweb.int/report/colombia/colombia-flash-update-010-update-impact-earthquake-colombia-august-27-2026" TargetMode="External"/><Relationship Id="rId9" Type="http://schemas.openxmlformats.org/officeDocument/2006/relationships/hyperlink" Target="https://reliefweb.int/report/colombia/colombia-flash-update-010-actualizacion-afectaciones-por-terremoto-en-colombia-27-de-agosto-de-2026" TargetMode="External"/><Relationship Id="rId10" Type="http://schemas.openxmlformats.org/officeDocument/2006/relationships/hyperlink" Target="https://reliefweb.int/report/colombia/colombia-flash-update-009-update-impact-earthquake-colombia-august-24-2026" TargetMode="External"/><Relationship Id="rId11" Type="http://schemas.openxmlformats.org/officeDocument/2006/relationships/hyperlink" Target="https://reliefweb.int/report/colombia/colombia-flash-update-009-actualizacion-afectaciones-por-terremoto-en-colombia-24-de-agosto-de-2026" TargetMode="External"/><Relationship Id="rId1" Type="http://schemas.openxmlformats.org/officeDocument/2006/relationships/image" Target="../media/image-54-1.png"/><Relationship Id="rId12" Type="http://schemas.openxmlformats.org/officeDocument/2006/relationships/slideLayout" Target="../slideLayouts/slideLayout1.xml"/><Relationship Id="rId1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reliefweb.int/report/colombia/iom-colombia-earthquake-response-situation-report-6-28-august-2026" TargetMode="External"/><Relationship Id="rId3" Type="http://schemas.openxmlformats.org/officeDocument/2006/relationships/hyperlink" Target="https://reliefweb.int/report/colombia/oim-respuesta-al-terremoto-en-colombia-reporte-de-situacion-6-28-agosto-2026" TargetMode="External"/><Relationship Id="rId4" Type="http://schemas.openxmlformats.org/officeDocument/2006/relationships/hyperlink" Target="https://x.com/UNGRD/status/2094414373506736128" TargetMode="External"/><Relationship Id="rId5" Type="http://schemas.openxmlformats.org/officeDocument/2006/relationships/hyperlink" Target="https://x.com/UNGRD/status/2094764781831872512" TargetMode="External"/><Relationship Id="rId6" Type="http://schemas.openxmlformats.org/officeDocument/2006/relationships/hyperlink" Target="https://reliefweb.int/report/colombia/colombia-earthquake-ltc-telecoms-situation-report-02-reporting-period-25-31-august-2026" TargetMode="External"/><Relationship Id="rId7" Type="http://schemas.openxmlformats.org/officeDocument/2006/relationships/hyperlink" Target="https://reliefweb.int/report/colombia/amda-emergency-relief-1-earthquake-colombia-1-september-2026" TargetMode="External"/><Relationship Id="rId8" Type="http://schemas.openxmlformats.org/officeDocument/2006/relationships/hyperlink" Target="https://reliefweb.int/report/colombia/colombia-icrc-assesses-needs-communities-affected-armed-conflict-following-earthquake" TargetMode="External"/><Relationship Id="rId9" Type="http://schemas.openxmlformats.org/officeDocument/2006/relationships/hyperlink" Target="https://reliefweb.int/map/colombia/colombia-74-m-earthquake-10-august-and-eu-response-dg-echo-daily-map-26082026" TargetMode="External"/><Relationship Id="rId10" Type="http://schemas.openxmlformats.org/officeDocument/2006/relationships/hyperlink" Target="https://reliefweb.int/map/colombia/pereira-colombia-alojamientos-temporales-terremoto-10-de-agosto-2026-19082026" TargetMode="External"/><Relationship Id="rId11" Type="http://schemas.openxmlformats.org/officeDocument/2006/relationships/hyperlink" Target="https://reliefweb.int/map/colombia/manizales-colombia-barrios-afectados-terremoto-10-de-agosto-2026-20082026" TargetMode="External"/><Relationship Id="rId1" Type="http://schemas.openxmlformats.org/officeDocument/2006/relationships/image" Target="../media/image-55-1.png"/><Relationship Id="rId12" Type="http://schemas.openxmlformats.org/officeDocument/2006/relationships/slideLayout" Target="../slideLayouts/slideLayout1.xml"/><Relationship Id="rId1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reliefweb.int/report/colombia/colombia-addendum-humanitarian-response-plan-earthquake-august-2026" TargetMode="External"/><Relationship Id="rId3" Type="http://schemas.openxmlformats.org/officeDocument/2006/relationships/hyperlink" Target="https://reliefweb.int/report/colombia/colombia-adenda-al-plan-de-respuesta-humanitaria-terremoto-agosto-2026" TargetMode="External"/><Relationship Id="rId4" Type="http://schemas.openxmlformats.org/officeDocument/2006/relationships/hyperlink" Target="https://reliefweb.int/report/colombia/colombia-plan-de-respuesta-necesidades-humanitarias-febrero-2026-enes" TargetMode="External"/><Relationship Id="rId5" Type="http://schemas.openxmlformats.org/officeDocument/2006/relationships/hyperlink" Target="https://reliefweb.int/report/colombia/humanitarian-action-children-2026-colombia" TargetMode="External"/><Relationship Id="rId6" Type="http://schemas.openxmlformats.org/officeDocument/2006/relationships/hyperlink" Target="https://reliefweb.int/report/colombia/colombia-flash-update-011-actualizacion-afectaciones-por-terremoto-en-colombia-02-de-septiembre-de-2026" TargetMode="External"/><Relationship Id="rId7" Type="http://schemas.openxmlformats.org/officeDocument/2006/relationships/hyperlink" Target="https://reliefweb.int/report/colombia/colombia-flash-update-011-update-impact-earthquake-colombia-september-2-2026" TargetMode="External"/><Relationship Id="rId8" Type="http://schemas.openxmlformats.org/officeDocument/2006/relationships/hyperlink" Target="https://reliefweb.int/report/colombia/urgent-needs-persist-three-weeks-after-earthquake-colombia" TargetMode="External"/><Relationship Id="rId9" Type="http://schemas.openxmlformats.org/officeDocument/2006/relationships/hyperlink" Target="https://reliefweb.int/report/colombia/informe-de-monitoreo-de-proteccion-trimestral-de-drc-colombia-abril-junio-2026" TargetMode="External"/><Relationship Id="rId10" Type="http://schemas.openxmlformats.org/officeDocument/2006/relationships/hyperlink" Target="https://reliefweb.int/report/colombia/colombia-earthquake-situation-report-7-31-aug-2026" TargetMode="External"/><Relationship Id="rId11" Type="http://schemas.openxmlformats.org/officeDocument/2006/relationships/hyperlink" Target="https://reliefweb.int/report/colombia/respuesta-al-terremoto-en-colombia-reporte-de-situacion-7-31-agosto-2026" TargetMode="External"/><Relationship Id="rId12" Type="http://schemas.openxmlformats.org/officeDocument/2006/relationships/hyperlink" Target="https://reliefweb.int/report/colombia/amda-emergency-relief-2-earthquake-colombia-3-september-2026" TargetMode="External"/><Relationship Id="rId1" Type="http://schemas.openxmlformats.org/officeDocument/2006/relationships/image" Target="../media/image-56-1.png"/><Relationship Id="rId13" Type="http://schemas.openxmlformats.org/officeDocument/2006/relationships/slideLayout" Target="../slideLayouts/slideLayout1.xml"/><Relationship Id="rId1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reliefweb.int/map/colombia/manizales-colombia-barrios-afectados-terremoto-10-de-agosto-2026-03092026" TargetMode="External"/><Relationship Id="rId3" Type="http://schemas.openxmlformats.org/officeDocument/2006/relationships/hyperlink" Target="https://reliefweb.int/report/colombia/amda-emergency-relief-3-earthquake-colombia-7-september-2026" TargetMode="External"/><Relationship Id="rId4" Type="http://schemas.openxmlformats.org/officeDocument/2006/relationships/hyperlink" Target="https://reliefweb.int/report/colombia/resumen-actualizado-de-la-intervencion-psicosocial-de-abbacol-fecha-de-resumen-y-actualizacion-04-septiembre-2026" TargetMode="External"/><Relationship Id="rId5" Type="http://schemas.openxmlformats.org/officeDocument/2006/relationships/hyperlink" Target="https://reliefweb.int/report/colombia/colombia-food-security-outlook-update-august-2026-january-2027-earthquake-impacts-reduce-food-access-affected-areas-el-nino-strengthens" TargetMode="External"/><Relationship Id="rId6" Type="http://schemas.openxmlformats.org/officeDocument/2006/relationships/hyperlink" Target="https://reliefweb.int/map/colombia/quibdo-colombia-barrios-afectados-terremoto-10-de-agosto-2026-03092026" TargetMode="External"/><Relationship Id="rId7" Type="http://schemas.openxmlformats.org/officeDocument/2006/relationships/hyperlink" Target="https://reliefweb.int/report/colombia/iom-colombia-earthquake-situation-report-8-03-september-2026" TargetMode="External"/><Relationship Id="rId8" Type="http://schemas.openxmlformats.org/officeDocument/2006/relationships/hyperlink" Target="https://reliefweb.int/report/colombia/oim-respuesta-al-terremoto-en-colombia-reporte-de-situacion-8-3-septiembre-2026" TargetMode="External"/><Relationship Id="rId9" Type="http://schemas.openxmlformats.org/officeDocument/2006/relationships/hyperlink" Target="https://reliefweb.int/report/colombia/wfp-colombia-earthquake-response-7-september-2026" TargetMode="External"/><Relationship Id="rId10" Type="http://schemas.openxmlformats.org/officeDocument/2006/relationships/hyperlink" Target="https://reliefweb.int/report/colombia/amda-emergency-relief-4-earthquake-colombia-8-september-2026" TargetMode="External"/><Relationship Id="rId11" Type="http://schemas.openxmlformats.org/officeDocument/2006/relationships/hyperlink" Target="https://reliefweb.int/report/colombia/colombia-reporte-plan-de-respuesta-necesidades-humanitarias-hnrp-2026-en-el-sistema-5w-entre-enero-y-julio-de-2026" TargetMode="External"/><Relationship Id="rId1" Type="http://schemas.openxmlformats.org/officeDocument/2006/relationships/image" Target="../media/image-57-1.png"/><Relationship Id="rId12" Type="http://schemas.openxmlformats.org/officeDocument/2006/relationships/slideLayout" Target="../slideLayouts/slideLayout1.xml"/><Relationship Id="rId1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reliefweb.int/report/colombia/analisis-de-situacion-y-respuesta-al-terremoto-4-de-septiembre-2026" TargetMode="External"/><Relationship Id="rId3" Type="http://schemas.openxmlformats.org/officeDocument/2006/relationships/hyperlink" Target="https://reliefweb.int/report/colombia/analisis-de-situacion-y-respuesta-al-terremoto-16-agosto-2026" TargetMode="External"/><Relationship Id="rId4" Type="http://schemas.openxmlformats.org/officeDocument/2006/relationships/hyperlink" Target="https://reliefweb.int/map/colombia/cali-colombia-barrios-afectados-terremoto-10-de-agosto-2026-08092026" TargetMode="External"/><Relationship Id="rId5" Type="http://schemas.openxmlformats.org/officeDocument/2006/relationships/hyperlink" Target="https://reliefweb.int/report/colombia/colombia-flash-update-012-update-impact-earthquake-colombia-september-10-2026" TargetMode="External"/><Relationship Id="rId6" Type="http://schemas.openxmlformats.org/officeDocument/2006/relationships/hyperlink" Target="https://reliefweb.int/report/colombia/seisme-en-colombie-caritas-passe-de-laide-durgence-au-relevement" TargetMode="External"/><Relationship Id="rId7" Type="http://schemas.openxmlformats.org/officeDocument/2006/relationships/hyperlink" Target="https://reliefweb.int/report/colombia/terremoto-en-colombia-caritas-pasa-de-la-respuesta-de-emergencia-la-recuperacion" TargetMode="External"/><Relationship Id="rId8" Type="http://schemas.openxmlformats.org/officeDocument/2006/relationships/hyperlink" Target="https://reliefweb.int/map/colombia/buenaventura-colombia-barrios-afectados-terremoto-10-de-agosto-2026-11092026" TargetMode="External"/><Relationship Id="rId9" Type="http://schemas.openxmlformats.org/officeDocument/2006/relationships/hyperlink" Target="https://reliefweb.int/report/colombia/colombia-situacion-agua-saneamiento-e-higiene-wash-un-mes-del-sismo-de-agosto-de-2026-respuesta-brechas-y-prioridades" TargetMode="External"/><Relationship Id="rId10" Type="http://schemas.openxmlformats.org/officeDocument/2006/relationships/hyperlink" Target="https://reliefweb.int/report/colombia/drc-colombia-monitoreo-de-proteccion-enero-marzo-2026" TargetMode="External"/><Relationship Id="rId11" Type="http://schemas.openxmlformats.org/officeDocument/2006/relationships/hyperlink" Target="https://x.com/UNGRD/status/2098758429951078754" TargetMode="External"/><Relationship Id="rId1" Type="http://schemas.openxmlformats.org/officeDocument/2006/relationships/image" Target="../media/image-58-1.png"/><Relationship Id="rId12" Type="http://schemas.openxmlformats.org/officeDocument/2006/relationships/slideLayout" Target="../slideLayouts/slideLayout1.xml"/><Relationship Id="rId1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portal.gestiondelriesgo.gov.co/Paginas/Noticias/2026/356-personas-rescatadas-la-respuesta-de-la-UNGRD-continua-un-mes-despues-del-terremoto.aspx" TargetMode="External"/><Relationship Id="rId3" Type="http://schemas.openxmlformats.org/officeDocument/2006/relationships/hyperlink" Target="https://portal.gestiondelriesgo.gov.co/Paginas/Noticias/2026/Inicia-el-pago-de-mas-de-3324-millones-en-apoyo-economico-para-las-familias-damnificadas-por-el-terremoto-en-Choco.aspx" TargetMode="External"/><Relationship Id="rId4" Type="http://schemas.openxmlformats.org/officeDocument/2006/relationships/hyperlink" Target="https://reliefweb.int/report/colombia/colombia-ifrc-calls-sustained-support-earthquake-affected-communities-one-month" TargetMode="External"/><Relationship Id="rId5" Type="http://schemas.openxmlformats.org/officeDocument/2006/relationships/hyperlink" Target="https://reliefweb.int/report/colombia/iom-colombia-earthquake-situation-report-9-10-september-2026" TargetMode="External"/><Relationship Id="rId6" Type="http://schemas.openxmlformats.org/officeDocument/2006/relationships/hyperlink" Target="https://reliefweb.int/report/colombia/colombia-emergency-response-situation-report-2-18-august-10-september-2026" TargetMode="External"/><Relationship Id="rId7" Type="http://schemas.openxmlformats.org/officeDocument/2006/relationships/hyperlink" Target="https://reliefweb.int/report/colombia/colombia-flash-update-013-actualizacion-afectaciones-por-terremoto-en-colombia-17-de-septiembre-de-2026" TargetMode="External"/><Relationship Id="rId8" Type="http://schemas.openxmlformats.org/officeDocument/2006/relationships/hyperlink" Target="https://reliefweb.int/report/colombia/colombia-flash-update-013-update-impact-earthquake-colombia-september-18-2026" TargetMode="External"/><Relationship Id="rId9" Type="http://schemas.openxmlformats.org/officeDocument/2006/relationships/hyperlink" Target="https://portal.gestiondelriesgo.gov.co/Paginas/Noticias/2026/UNGRD-y-Naciones-Unidas-analizan-en-Cali-los-retos-de-la-recuperacion-tras-el-terremoto.aspx" TargetMode="External"/><Relationship Id="rId10" Type="http://schemas.openxmlformats.org/officeDocument/2006/relationships/hyperlink" Target="https://reliefweb.int/report/colombia/analisis-de-situacion-y-respuesta-al-terremoto-10-de-septiembre-2026" TargetMode="External"/><Relationship Id="rId11" Type="http://schemas.openxmlformats.org/officeDocument/2006/relationships/hyperlink" Target="https://reliefweb.int/report/colombia/colombia-earthquake-response-situation-report-10-14-september-2026" TargetMode="External"/><Relationship Id="rId12" Type="http://schemas.openxmlformats.org/officeDocument/2006/relationships/hyperlink" Target="https://reliefweb.int/report/colombia/colombia-evaluacion-rapida-conjunta-de-mercados-jram-panorama-de-la-situacion-agosto-2026" TargetMode="External"/><Relationship Id="rId1" Type="http://schemas.openxmlformats.org/officeDocument/2006/relationships/image" Target="../media/image-59-1.png"/><Relationship Id="rId13" Type="http://schemas.openxmlformats.org/officeDocument/2006/relationships/slideLayout" Target="../slideLayouts/slideLayout1.xml"/><Relationship Id="rId1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reliefweb.int/report/colombia/colombia-grupo-de-trabajo-de-logistica-gtl-un-mes-de-operacion-de-emergencia-10-de-septiembre-de-2026" TargetMode="External"/><Relationship Id="rId3" Type="http://schemas.openxmlformats.org/officeDocument/2006/relationships/hyperlink" Target="https://reliefweb.int/report/colombia/respuesta-al-terremoto-en-colombia-reporte-de-situacion-10-14-septiembre-2026" TargetMode="External"/><Relationship Id="rId4" Type="http://schemas.openxmlformats.org/officeDocument/2006/relationships/hyperlink" Target="https://reliefweb.int/report/colombia/terremoto-en-colombia-el-cicr-apoya-la-recuperacion-de-infraestructura-comunitaria-esencial-en-zonas-afectadas-por-los-conflictos-armados" TargetMode="External"/><Relationship Id="rId5" Type="http://schemas.openxmlformats.org/officeDocument/2006/relationships/hyperlink" Target="https://reliefweb.int/report/colombia/un-mes-despues-del-terremoto-en-colombia-avanzar-con-la-reconstruccion-en-medio-de-una-compleja-situacion-humanitaria" TargetMode="External"/><Relationship Id="rId6" Type="http://schemas.openxmlformats.org/officeDocument/2006/relationships/hyperlink" Target="https://reliefweb.int/report/colombia/unhcr-colombia-2026-funding-update-31-august-2026" TargetMode="External"/><Relationship Id="rId7" Type="http://schemas.openxmlformats.org/officeDocument/2006/relationships/hyperlink" Target="https://reliefweb.int/report/colombia/earthquake-colombia-icrc-supports-rehabilitation-essential-community-infrastructure" TargetMode="External"/><Relationship Id="rId8" Type="http://schemas.openxmlformats.org/officeDocument/2006/relationships/hyperlink" Target="https://reliefweb.int/report/colombia/oim-colombia-severidad-y-vulnerabilidad-territorial-tras-el-terremoto-27-agosto-2026" TargetMode="External"/><Relationship Id="rId9" Type="http://schemas.openxmlformats.org/officeDocument/2006/relationships/hyperlink" Target="https://reliefweb.int/report/colombia/oim-respuesta-al-terremoto-en-colombia-reporte-de-situacion-9-10-septiembre-2026" TargetMode="External"/><Relationship Id="rId10" Type="http://schemas.openxmlformats.org/officeDocument/2006/relationships/hyperlink" Target="https://reliefweb.int/report/colombia/one-month-after-colombia-earthquake-pahowho-continues-support-response-and-stabilization" TargetMode="External"/><Relationship Id="rId11" Type="http://schemas.openxmlformats.org/officeDocument/2006/relationships/hyperlink" Target="https://reliefweb.int/report/colombia/colombia-population-movement-imminent-dref-final-report-mdrco034" TargetMode="External"/><Relationship Id="rId1" Type="http://schemas.openxmlformats.org/officeDocument/2006/relationships/image" Target="../media/image-60-1.png"/><Relationship Id="rId12" Type="http://schemas.openxmlformats.org/officeDocument/2006/relationships/slideLayout" Target="../slideLayouts/slideLayout1.xml"/><Relationship Id="rId1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2" Type="http://schemas.openxmlformats.org/officeDocument/2006/relationships/hyperlink" Target="https://reliefweb.int/report/colombia/colombia-earthquake-operation-update-1-mdrco036" TargetMode="External"/><Relationship Id="rId3" Type="http://schemas.openxmlformats.org/officeDocument/2006/relationships/hyperlink" Target="https://reliefweb.int/report/colombia/colombia-flash-update-014-update-impact-earthquake-colombia-september-23-2026" TargetMode="External"/><Relationship Id="rId4" Type="http://schemas.openxmlformats.org/officeDocument/2006/relationships/hyperlink" Target="https://reliefweb.int/report/colombia/colombia-flash-update-014-actualizacion-afectaciones-por-terremoto-en-colombia-23-de-septiembre-de-2026" TargetMode="External"/><Relationship Id="rId5" Type="http://schemas.openxmlformats.org/officeDocument/2006/relationships/hyperlink" Target="https://reliefweb.int/report/colombia/colombia-earthquake-response-situation-report-11-21-september-2026" TargetMode="External"/><Relationship Id="rId6" Type="http://schemas.openxmlformats.org/officeDocument/2006/relationships/hyperlink" Target="https://reliefweb.int/report/colombia/colombia-monitoreo-de-emergencias-humanitarias-desplazamiento-masivo-y-confinamiento-enero-marzo-2026" TargetMode="External"/><Relationship Id="rId7" Type="http://schemas.openxmlformats.org/officeDocument/2006/relationships/hyperlink" Target="https://reliefweb.int/report/colombia/colombia-monitoreo-de-emergencias-humanitarias-desplazamiento-masivo-y-confinamiento-2025" TargetMode="External"/><Relationship Id="rId1" Type="http://schemas.openxmlformats.org/officeDocument/2006/relationships/image" Target="../media/image-61-1.png"/><Relationship Id="rId8" Type="http://schemas.openxmlformats.org/officeDocument/2006/relationships/slideLayout" Target="../slideLayouts/slideLayout1.xml"/><Relationship Id="rId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dLzzVE/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Chocó Earthquake (Colombia)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800" dirty="0">
                <a:solidFill>
                  <a:srgbClr val="222222"/>
                </a:solidFill>
                <a:latin typeface="Meiryo" pitchFamily="34" charset="0"/>
                <a:ea typeface="Meiryo" pitchFamily="34" charset="-122"/>
                <a:cs typeface="Meiryo" pitchFamily="34" charset="-120"/>
              </a:rPr>
              <a:t>Mww 7.4   ·   Max. seismic intensity MMI VII (USGS ShakeMap)   ·   USGS: 5 km S of San José del Palmar, Chocó Department (approx. 280 km W of Bogotá) — SGC: 12 km from San José del Palmar</a:t>
            </a:r>
            <a:endParaRPr lang="en-US" sz="8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Colombia</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dLzzVE/generator/images/EQ-2026-000146-COL/locator_world_manual.jp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Colombia → Chocó</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dLzzVE/generator/images/EQ-2026-000146-COL/locator_region_manual.jp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SGC macroseismic intensity</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dLzzVE/generator/images/EQ-2026-000146-COL/sgc_shakemap_manual.jp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688998" y="2302265"/>
            <a:ext cx="698098" cy="1020278"/>
          </a:xfrm>
          <a:prstGeom prst="rect">
            <a:avLst/>
          </a:prstGeom>
          <a:solidFill>
            <a:srgbClr val="FFFFFF">
              <a:alpha val="0"/>
            </a:srgbClr>
          </a:solidFill>
          <a:ln w="22225">
            <a:solidFill>
              <a:srgbClr val="C00000"/>
            </a:solidFill>
            <a:prstDash val="solid"/>
          </a:ln>
        </p:spPr>
      </p:sp>
      <p:sp>
        <p:nvSpPr>
          <p:cNvPr id="23" name="Shape 17"/>
          <p:cNvSpPr/>
          <p:nvPr/>
        </p:nvSpPr>
        <p:spPr>
          <a:xfrm flipV="1">
            <a:off x="2387096" y="1645920"/>
            <a:ext cx="2084320" cy="656345"/>
          </a:xfrm>
          <a:prstGeom prst="line">
            <a:avLst/>
          </a:prstGeom>
          <a:noFill/>
          <a:ln w="19050">
            <a:solidFill>
              <a:srgbClr val="C00000"/>
            </a:solidFill>
            <a:prstDash val="solid"/>
          </a:ln>
        </p:spPr>
      </p:sp>
      <p:sp>
        <p:nvSpPr>
          <p:cNvPr id="24" name="Shape 18"/>
          <p:cNvSpPr/>
          <p:nvPr/>
        </p:nvSpPr>
        <p:spPr>
          <a:xfrm>
            <a:off x="2387096" y="3322543"/>
            <a:ext cx="2084320" cy="737393"/>
          </a:xfrm>
          <a:prstGeom prst="line">
            <a:avLst/>
          </a:prstGeom>
          <a:noFill/>
          <a:ln w="19050">
            <a:solidFill>
              <a:srgbClr val="C00000"/>
            </a:solidFill>
            <a:prstDash val="solid"/>
          </a:ln>
        </p:spPr>
      </p:sp>
      <p:sp>
        <p:nvSpPr>
          <p:cNvPr id="25" name="Shape 19"/>
          <p:cNvSpPr/>
          <p:nvPr/>
        </p:nvSpPr>
        <p:spPr>
          <a:xfrm>
            <a:off x="5485660" y="1682130"/>
            <a:ext cx="869761" cy="1997716"/>
          </a:xfrm>
          <a:prstGeom prst="rect">
            <a:avLst/>
          </a:prstGeom>
          <a:solidFill>
            <a:srgbClr val="FFFFFF">
              <a:alpha val="0"/>
            </a:srgbClr>
          </a:solidFill>
          <a:ln w="22225">
            <a:solidFill>
              <a:srgbClr val="C00000"/>
            </a:solidFill>
            <a:prstDash val="solid"/>
          </a:ln>
        </p:spPr>
      </p:sp>
      <p:sp>
        <p:nvSpPr>
          <p:cNvPr id="26" name="Shape 20"/>
          <p:cNvSpPr/>
          <p:nvPr/>
        </p:nvSpPr>
        <p:spPr>
          <a:xfrm flipV="1">
            <a:off x="6355421" y="1645920"/>
            <a:ext cx="2221651" cy="36210"/>
          </a:xfrm>
          <a:prstGeom prst="line">
            <a:avLst/>
          </a:prstGeom>
          <a:noFill/>
          <a:ln w="19050">
            <a:solidFill>
              <a:srgbClr val="C00000"/>
            </a:solidFill>
            <a:prstDash val="solid"/>
          </a:ln>
        </p:spPr>
      </p:sp>
      <p:sp>
        <p:nvSpPr>
          <p:cNvPr id="27" name="Shape 21"/>
          <p:cNvSpPr/>
          <p:nvPr/>
        </p:nvSpPr>
        <p:spPr>
          <a:xfrm>
            <a:off x="6355421" y="3679847"/>
            <a:ext cx="2221651" cy="380089"/>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cathedral in Manizales fell onto the nave, and about 30% of Cali's University Hospital collapsed. The President declared a national disaster, set up a Unified Command Post in Chocó and deployed four USAR teams. There was no tsunami.</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Earthquake &amp; Recovery</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The 1999 Armenia (Quindío) Earthquake - the same Coffee Region  /
</a:t>
            </a:r>
            <a:pPr algn="l" indent="0" marL="0">
              <a:buNone/>
            </a:pPr>
            <a:r>
              <a:rPr lang="en-US" sz="1150" dirty="0">
                <a:solidFill>
                  <a:srgbClr val="222222"/>
                </a:solidFill>
                <a:latin typeface="Meiryo" pitchFamily="34" charset="0"/>
                <a:ea typeface="Meiryo" pitchFamily="34" charset="-122"/>
                <a:cs typeface="Meiryo"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
</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 damage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Deaths</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1,185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Injured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5,000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Structures damaged or destroyed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50,000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200,000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Coffee sector</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8,000 farms and 1,200 processing facilities damaged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Recovery and what it changed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Reconstruction was managed through a dedicated temporary body for the Coffee Region, an early example in Latin America of a purpose-built reconstruction agency.</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disaster drove enforcement of the national seismic code and the seismic microzonation studies that now cover Pereira, Manizales and Armenia.</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Recovery of the coffee economy took roughly a decade - the economic tail of the disaster far outlasted the emergency phase.</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2026 earthquake shook the same cities, but as a deep, distant source rather than a shallow local one: a different loading of the same building stock.</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The cities hit hardest in 2026 - Pereira, Manizales, Armenia - are the same cities that rebuilt after 1999. How that rebuilt stock performed under long-period, long-duration shaking from a 110 km-deep source is the key question for post-event assessment.
</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61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 7.4 earthquake, epicentre 5 km S of San José del Palmar (Chocó), depth approx. 110 km. Felt in Bogotá, Cali, Medellín, and in Ecuador, Panama and Venezuela.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issues a first bulletin (initially M6.6, 79 km depth), later revised to M7.4 at 96 km, located with 69 stations (event SGC2026pqqmro); damage-assessment protocols activated.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Rapid Mapping activated as EMSR916 (17:13 UTC), requested by EC Services / DG ECHO, for earthquake damage assessment mapping.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reports first damage indications in 9 municipalities of Chocó, 8 of Caldas, 2 of Valle del Cauca and 2 of Risaralda, plus localities in Quindío.</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reports collapsed structures at 12 critical points with people trapped; part of the University Hospital collapses.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reports 17 buildings collapsed and 19 partially collapsed; a tower of the neo-Gothic cathedral falls onto the nave. Residents asked to stay outdoors because of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Passenger terminal of Matecaña International Airport (Pereira) partially collapses; flights suspended at six regional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 /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National disaster declared; Unified Command Post established in Chocó; armed forces deployed.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Four USAR teams deployed from Bogotá, Envigado, Yopal and Medellín.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More than 20 aftershocks recorded; the largest widely felt aftershock is M4.8.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President travels to Pereira to lead the response on the ground.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61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(2/11)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Ecuador mobilises a 47-person USAR team with canine units; Mexico and other governments offer assistance, to be channelled through the Foreign Ministry and UNGRD.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 (MOFA)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revises its solution for the mainshock to M7.4 at 103 km depth, 4.99 N 76.29 W, located with 119 stations and 208 phases. Its first bulletin had given M6.6 at 79 km and its second 7.4 at 96 km with 69 stations.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61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(3/11)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 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city officials report 107 buildings collapsed, 643 with structural damage and 18 under evacuation order; 230 people trapped, 88 rescued, 69 dead and 1,008 injured in the 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Adding up the departmental and city announcements gives 254 deaths - Pereira 101, Cali 95 - ahead of the national consolidation, which media attribute to the central government being slower to update.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61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(4/11)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reports 184 aftershocks located since the mainshock, 15 of them above M3.0 and 2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 / 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61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(5/11)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for the missing while more than 100,000 people affected await assistance; in El Cairo (Valle del Cauca) 80% of the houses are reported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12:44 cut-off, published from the National Crisis Room: 329 dead, 4,592 injured and 151 missing across 494 municipalities in 16 departments. UNGRD reports it is tracking the Registro Unico de Damnificados (RUD), the register that determines which affected families can access support and subsidies, and is monitoring emergency humanitarian assistance, temporary shelter and the availability of heavy machinery. The balance does not restate housing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61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(6/11)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 more than 406,000 people (193,011 families) affected, concentrated in Risaralda, Valle del Cauca, Choco, Quindio and Caldas. At least 25 humanitarian organizations have assisted nearly 72,000 people in 36 municipalities; donors have mobilized more than US$40 million and CERF has allocated US$5 million.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4,505 injured, 136 missing and 364 rescued; 225,024 families (449,442 people) affected across 497 municipalities in 16 departments. Housing is restated for the first time since 16 Aug: 198,720 homes damaged and 37,255 destroyed, plus 5,849 buildings damaged and 646 collapsed. Infrastructure: 406 health, 4,268 educational and 5,524 community facilities; 462 roads, 5 airports, 122 aqueducts, 91 road bridges and 13 footbridges affected. 2,874 animals affected and 2,976 rescued. UNGRD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(unchanged), 4,519 injured, 136 missing (unchanged) and 364 rescued (unchanged); 290,252 families (466,606 people) affected across 497 municipalities in 16 departments. Housing: 200,929 homes damaged and 37,542 destroyed, plus 5,871 buildings damaged and 651 collapsed. Infrastructure: 400 health, 4,290 educational and 5,698 community facilities; 468 roads, 5 airports, 140 aqueducts, 91 road bridges and 13 footbridges affected. 3,018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136 missing and 364 rescued (all four unchanged from 1 Sep); 293,743 families (466,606 people, unchanged) affected across 497 municipalities in 16 departments (unchanged). Housing: 201,005 homes damaged and 36,336 destroyed - down from 37,542 destroyed at the 1 Sep cut, with no explanation given - plus 5,889 buildings damaged and 709 collapsed (up from 5,871 and 651). Infrastructure: 400 health, 4,287 educational and 5,600 community facilities; 468 roads, 5 airports, 140 aqueducts, 91 road bridges and 13 footbridges affected.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61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(7/11)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 more than 466,600 people affected, including 331 deaths, thousands injured and missing, and more than 36,000 homes destroyed - consistent with UNGRD's same-day balance. At least 29 humanitarian organisations have assisted nearly 123,000 people in 49 municipalities; international cooperation has mobilised more than USD 40 million; the Humanitarian Response Plan Addendum continues to seek funding for needs through the end of the year. The update also flags 'double affectation' - communities facing both earthquake damage and risks tied to the armed conflict - as a persistent concern.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and 364 rescued (all unchanged from 2 Sep); missing fell to 122 from 136 at the 2 Sep cut, with no explanation given; 293,743 families (466,606 people, unchanged) affected across 498 municipalities in 16 departments (up from 497). Housing: 201,010 homes damaged (up from 201,005) and 36,336 destroyed (unchanged), plus 5,889 buildings damaged and 709 collapsed (both unchanged). Infrastructure: 400 health, 4,292 educational (up from 4,287) and 5,600 community facilities; 468 roads, 5 airports, 140 aqueducts, 91 road bridges and 13 footbridges affected (all unchanged).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announced a temporary economic subsidy of COP 787,907-1,050,543 per month for three months for RUD-registered families whose homes were destroyed or declared uninhabitable.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 of this update, UNGRD's most recent published balance remained the 3 Sep 06:30 cut-off (no new balance had posted as of mid-afternoon on 4 Sep); UNGRD's director met WFP Colombia's country director to coordinate food-assistance actions for affected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WFP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accompanied President Abelardo de la Espriella and the Housing Minister to Buga and Cali to assess 10 August earthquake damage. In Buga, the delegation inspected structural damage at the Basílica del Señor de los Milagros, the ITA educational institute and the Pueblo Nuevo corregimiento; in Cali, the visit covered the Cuarto de Legua neighbourhood, meeting affected residents. The national government is coordinating with local mayors' offices to speed up the census and direct delivery of financial aid.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61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(8/11)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and WFP Colombia country director Neils Greede formalised a strategic alliance to secure food assistance for families affected by the earthquake, building on their 4 Sep meeting; the two agencies also strengthened cooperation for future responses, citing El Niño and forest fires as examples.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6 Sep 2026 (posted 11:48 COT), the first new balance since the 3 Sep 06:30 cut - no balance was posted on 4 or 5 Sep. 331 deaths (unchanged), 4,505 injured (down from 4,519), 111 missing (down from 122) and 364 rescued alive (unchanged), across 498 municipalities in 16 departments (unchanged); 296,725 families (466,644 people) affected, up from 293,743 families (466,606 people). Housing: 201,989 homes damaged (up from 201,010) and 36,326 destroyed (down from 36,336), plus 6,005 buildings damaged and 743 collapsed (both up from 5,889 and 709). UNGRD gives no explanation for the small decreases in injured, missing and destroyed housing; as with earlier revisions this report treats them as reconciliation of reports filed, resolved and de-duplicated during ongoing consolidation rather than new information about casualties or a corrected report. UNGRD again describes the figures as preliminary and still being consolidated by territorial entities and operational agencies.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7 Sep 2026 (posted 07:43 COT). 331 deaths (unchanged), 4,505 injured (unchanged), 111 missing (unchanged) and 364 rescued alive (unchanged), across 498 municipalities in 16 departments (unchanged); 296,738 families (466,709 people) affected, up slightly from 296,725 families (466,644 people) at the 6 Sep 06:30 cut. Housing: 202,002 homes damaged (up from 201,989) and 36,326 destroyed (unchanged), plus 6,005 buildings damaged and 743 collapsed (both unchanged). Infrastructure newly itemised in this balance: 400 health facilities, 4,313 educational facilities (up from 4,288), 6,033 community facilities (down from 6,035), 521 roads (up from 491), 5 airports, 141 aqueducts (unchanged), 102 road bridges (up from 91) and 13 footbridges (unchanged) affected. UNGRD again describes the figures as preliminary and still being consolidated.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received a 14.9-tonne field hospital donated by the State of Qatar, including 6 ICU beds, 44 standard patient beds, 50 blankets/sheets/pillows sets, 26 air-conditioning units and a diesel storage tank. The hospital can be relocated to whichever territory needs it to support the response to the earthquake and other emergencies. Coordinated via the Embassy of Qatar in Bogotá.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61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(9/11)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One month on, UNGRD reports search-and-rescue operations concluded: over 288 hours, 54 groups and 1,849 rescuers from Colombia, Argentina, Chile, Mexico, Venezuela, Spain and the United States rescued 356 people alive and recovered 259 bodies. UNGRD has committed COP 42,754 million for the first month of housing economic support (of three planned months). The Damage Assessment and Needs Analysis for Integral Recovery process (EDANPRI) has been launched with UNDP, national/territorial entities and 16 sectors to inform recovery planning. Humanitarian aid moved to date: 2,071 tonnes (477.1 t international cooperation, 1,500 t via the First Lady, plus contributions from Atlántico and Bogotá). 4,720 people remain in 35 temporary shelters across Caldas, Quindío, Chocó and Valle del Cauca. The Air Force has flown 106h40 in support; 60 Starlink antennas are deployed; 1,976 animals have been rescued. The article restates, 'as of today 10 September': 331 deaths, 4,505 injured, 111 missing, 466,345 people affected in 497 municipalities across 16 departments, 36,327 homes destroyed and 201,939 damaged, 759 buildings collapsed, 4,316 educational, 397 health and 6,118 community facilities affected, 521 roads, 107 road bridges, 13 footbridges, 141 aqueducts and 5 airports. Deaths/injured/missing match the 6-7 Sep official balance exactly, but affected-people (-364), municipalities (-1), homes damaged (-63) and health facilities (-3) are marginally lower than the 7 Sep 06:30 balance already recorded above, with no explanation given; consistent with this report's treatment of similar small back-and-forth movements as consolidation noise rather than a correction, this narrative figure is shown here rather than used to revise the headline balance.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began disbursing temporary housing economic support payments to earthquake-affected households: in Chocó from 11 September (more than COP 3,324 million for the first month, for households whose homes were destroyed or are uninhabitable), and in Cali from 12 September, both via SuperGiros payment points against original national ID, over a 15-calendar-day claim window. UNGRD states payments will subsequently extend to Valle del Cauca, Caldas, Quindio and Risaralda. No new casualty or damage balance was posted between 7 and 12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posted a new balance via the Registro Unico de Damnificados (RUD) tool, with a 06:30 COT cut-off on 15 Sep 2026: 303,934 families (486,917 people) registered as affected, up from 296,738 families (466,709 people) at the 7 Sep 06:30 cut; 206,931 homes damaged (up from 202,002) and 36,478 destroyed (up from 36,326). UNGRD describes the RUD as the tool through which municipalities, with support from SNGRD entities, register and upload information on affected people and reported damage. No new deaths/injured/missing/rescued balance has been posted since the 7 Sep 06:30 cut; the latest published figures remain 331 deaths, 4,505 injured, 111 missing and 364 rescued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 RUD)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61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(10/11)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 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OCHA's Flash Update 013 (14:00 COT cut) restates the 15 Sep UNGRD RUD balance unchanged (486,917 people / 303,934 families affected; 36,478 homes destroyed) and reports more than 137,000 people assisted, up from 135,000 in Flash Update 012 (10 Sep). No new UNGRD deaths/injured/missing/rescued balance has been posted since the 7 Sep 06:30 cut; UNGRD's own public communications in the intervening period have focused on the recovery-phase Plan de Accion Especifico para la Recuperacion (PAE) and sector working groups with UNDP and ECLAC, rather than a further daily casualty bulletin.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Flash Update 013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announced a community-infrastructure recovery response, run jointly with the Colombian Red Cross and IFRC, focused on conflict-affected rural areas of Choco and Valle del Cauca hit by the earthquake. The six-to-nine month response has two phases: Phase 1, basic repair materials for seven community spaces; Phase 2, medium-complexity rehabilitation of roofs, kitchens, school dining halls and other community and educational infrastructure. ICRC noted the earthquake compounded pre-existing humanitarian needs from armed conflict (displacement, confinement, explosive ordnance) in these areas.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 (portal article, published 21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hosted UNDRR special representative Kamal Kishore in Cali to review recovery challenges. The article states a Cali-specific balance (distinct from the national RUD balance reported elsewhere in this report): 154 deaths, 1,504 injured and 88 rescued alive in Cali, with more than 12,000 buildings affected; authorities have carried out 1,216 technical building inspections, and damage/needs assessments (EDAN) cover 35,280 families in the city. Figures are scoped to Cali only and are not additive to the national UNGRD RUD totals shown in this report's headline.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61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(11/11)</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published Earthquake Operation Update #1 (MDRCO036). It restates search-and-rescue as concluded (356 people rescued alive, 259 bodies recovered, over 288 hours by 54 groups/1,849 rescuers - matching the 10 Sep UNGRD figures already recorded above) and, citing a UNDP (2026) estimate, gives the first economic-damage figure recorded in this report: COP 42.1 trillion (USD 13.2 billion) in direct physical damage, about 2.3% of GDP (see the new Economic damage entry above). It also cites the Ministry of Housing, City and Territory on water/sanitation service disruption in 137 municipalities, 93 not yet restored (see the Lifelines entry above), and states 286 Colombian Red Cross Society volunteers were themselves directly affected by the earthquake. For national people-affected and family counts, the update's cited "UNGRD report of 10 September" figures (778,281 people / 364,672 families) match UNGRD's 19 September San Jose del Palmar municipality-only figures almost exactly rather than any previously published national total (see the People affected entry above); this is shown there as an unreconciled, separately dated figure rather than merged into the headline. The update does not revise UNGRD's own headline deaths/injured/missing/housing balances, which remain as last posted (7/15 Sep cuts).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 (Operation Update #1, MDRCO036)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published Flash Update 014. It gives an approximate national toll of 487,000 people affected across 500 municipalities in 16 departments - consistent with (not a revision of) UNGRD's 15 Sep RUD balance of 486,917 people / 498 municipalities already shown in this report's headline. It records humanitarian response reach as 31 organisations having supported more than 137,000 people across 53 prioritised municipalities, and states the response plan is 52% short of the USD 619 million required through the end of 2026. It flags a potential severe El Nino event as a risk to further strain recovery needs. UNGRD's own deaths/injured/missing/housing balances are not restated and remain unchanged (7/15 Sep cuts).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OCHA/EHP Colombia (Flash Update 014, 18:30 cut)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Sep (posted 25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IOM's Situation Report #11 cites UNGRD's 16 Sep 06:30 COT balance: 335 deaths, 105 missing, 364 rescued, 4,516 injured, 486,917 people affected (unchanged from the 15 Sep RUD cut), 206,931 homes damaged and 36,478 destroyed (also unchanged), across 500 municipalities in 16 departments (up from 498). Separately, at the 19 September National Unified Command Post (PMU), UNGRD consolidated territorial information from different sectors and reported 364,670 families / 778,279 people registered via the RUD, and a differently-classified housing tally (84,855 habitable, 104,037 uninhabitable, 19,143 destroyed, 119,752 damaged). This PMU consolidation has not been reconciled with the RUD balance above; both figures are shown with their dates and not combined.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via IOM Colombia Earthquake Response Situation Report #11 (25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61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Areas</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dLzzVE/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epicentre</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Department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City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Dist.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Note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Chocó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San José del Palmar / Quibdó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Epicentral department; 9 municipalities with reported damage; access, power and communications constrained.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Risaralda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Pereira, Dosquebradas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Highest reported death toll (at least 40; the governor cites at least 42). Airport terminal partially collapsed.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Valle del Cauca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Cali, Cartago, Buenaventura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27 deaths reported; 25-30 collapsed structures at 12 critical points in Cali; University Hospital heavily damaged.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+4 more</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Population Movement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Google Maps</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61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Epicentre &amp; Seismic Intensity</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dLzzVE/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macroseismic intensity map (ShakeMap)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Value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Origin time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Epicentre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 5 km S of San José del Palmar, Chocó Department (approx. 280 km W of Bogotá) — SGC: 12 km from San José del Palmar (4.8436N, -76.2422E)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Magnitude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 (USGS)   ·   7.4 (SGC)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Depth</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 km (USGS, PAGER v5) / 103 km (SGC, revised 11 Aug)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Max. intensity</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MMI VII (Very strong) — USGS ShakeMap; the SGC macroseismic intensity map agrees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Mechanism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Strike-slip faulting at intermediate depth, within the subducting Nazca slab (not on the shallow plate interface)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 across western and central Colombia including Bogotá, Cali and Medellín, and in Ecuador, Panama and Venezuela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Source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 / SGC / 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61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 Epicentre Distribution &amp; Aftershocks</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dLzzVE/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Epicentre distribution: mainshock and 284 aftershocks, 10-19 Aug 2026 (SGC Catalogo de Sismicidad; base map 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dLzzVE/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Aftershock time-series</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61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
</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Depth about 110 km (USGS, revised): an intraslab event, not a plate-interface megathrust.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Strike-slip mechanism within the descending Nazca slab (USGS tectonic summary).</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Maximum shaking MMI VII (Very strong); about 10.5 million people exposed to MMI VI-VII.</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 (v5) Orange alert: the most likely fatality band is 1,000-10,000 and the most likely loss band USD 100-1,000 million — model estimates, not observations, and far above the figures reported so far.</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SGC assesses this as the largest-magnitude earthquake recorded in Colombia in the past decade.</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Shaking was reported as unusually long in duration in cities far from the epicentre - a characteristic of deep events recorded on soft valley sediments.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Coffee Region has a history of both deep and shallow damaging events: M7.0 at 150 km depth in 1938, M6.5 at 64 km in 1962 and M6.1 at 15 km in 1999 (SGC/GEM national hazard model).</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61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Source Mechanism &amp; Waveform Analysis</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Magnitude M7.4 (USGS Mww) / M7.4 (SGC); depth about 110 km (USGS) / 103 km (SGC).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Intraslab event within the subducting Nazca plate, not a plate-interface megathrust.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No surface faulting and no tsunami; shaking felt as far as Bogota, Quito and Panama City.</a:t>
            </a:r>
            <a:endParaRPr lang="en-US" sz="1300" dirty="0"/>
          </a:p>
        </p:txBody>
      </p:sp>
      <p:pic>
        <p:nvPicPr>
          <p:cNvPr id="5" name="Image 1" descr="/tmp/build_event-dLzzVE/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Focal mechanism / moment tensor (beachball)</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Waveform-based analysis resources
</a:t>
            </a:r>
            <a:pPr algn="l" indent="0" marL="0">
              <a:buNone/>
            </a:pPr>
            <a:r>
              <a:rPr lang="en-US" sz="1200" dirty="0">
                <a:solidFill>
                  <a:srgbClr val="222222"/>
                </a:solidFill>
                <a:latin typeface="Meiryo" pitchFamily="34" charset="0"/>
                <a:ea typeface="Meiryo" pitchFamily="34" charset="-122"/>
                <a:cs typeface="Meiryo" pitchFamily="34" charset="-120"/>
              </a:rPr>
              <a:t>• USGS — moment tensor &amp; finite-fault model (event page)
</a:t>
            </a:r>
            <a:pPr algn="l" indent="0" marL="0">
              <a:buNone/>
            </a:pPr>
            <a:r>
              <a:rPr lang="en-US" sz="1200" dirty="0">
                <a:solidFill>
                  <a:srgbClr val="222222"/>
                </a:solidFill>
                <a:latin typeface="Meiryo" pitchFamily="34" charset="0"/>
                <a:ea typeface="Meiryo" pitchFamily="34" charset="-122"/>
                <a:cs typeface="Meiryo" pitchFamily="34" charset="-120"/>
              </a:rPr>
              <a:t>• SGC — Colombian national seismological network (RSNC)
</a:t>
            </a:r>
            <a:pPr algn="l" indent="0" marL="0">
              <a:buNone/>
            </a:pPr>
            <a:r>
              <a:rPr lang="en-US" sz="1200" dirty="0">
                <a:solidFill>
                  <a:srgbClr val="222222"/>
                </a:solidFill>
                <a:latin typeface="Meiryo" pitchFamily="34" charset="0"/>
                <a:ea typeface="Meiryo" pitchFamily="34" charset="-122"/>
                <a:cs typeface="Meiryo" pitchFamily="34" charset="-120"/>
              </a:rPr>
              <a:t>• GEOFON / GFZ — regional broadband moment tensor</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61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Notable Aftershocks</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rPr>
                        <a:t>Time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Tier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08:18 </a:t>
                      </a:r>
                      <a:pPr algn="l" indent="0" marL="0">
                        <a:buNone/>
                      </a:pPr>
                      <a:r>
                        <a:rPr lang="en-US" sz="1150" dirty="0">
                          <a:solidFill>
                            <a:srgbClr val="222222"/>
                          </a:solidFill>
                        </a:rPr>
                        <a:t>COT </a:t>
                      </a:r>
                      <a:pPr algn="l" indent="0" marL="0">
                        <a:buNone/>
                      </a:pPr>
                      <a:r>
                        <a:rPr lang="en-US" sz="1150" dirty="0">
                          <a:solidFill>
                            <a:srgbClr val="222222"/>
                          </a:solidFill>
                        </a:rPr>
                        <a:t>(13:18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M4.8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aftershock, </a:t>
                      </a:r>
                      <a:pPr algn="l" indent="0" marL="0">
                        <a:buNone/>
                      </a:pPr>
                      <a:r>
                        <a:rPr lang="en-US" sz="1050" dirty="0">
                          <a:solidFill>
                            <a:srgbClr val="222222"/>
                          </a:solidFill>
                        </a:rPr>
                        <a:t>44 </a:t>
                      </a:r>
                      <a:pPr algn="l" indent="0" marL="0">
                        <a:buNone/>
                      </a:pPr>
                      <a:r>
                        <a:rPr lang="en-US" sz="1050" dirty="0">
                          <a:solidFill>
                            <a:srgbClr val="222222"/>
                          </a:solidFill>
                        </a:rPr>
                        <a:t>minutes </a:t>
                      </a:r>
                      <a:pPr algn="l" indent="0" marL="0">
                        <a:buNone/>
                      </a:pPr>
                      <a:r>
                        <a:rPr lang="en-US" sz="1050" dirty="0">
                          <a:solidFill>
                            <a:srgbClr val="222222"/>
                          </a:solidFill>
                        </a:rPr>
                        <a:t>after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94 </a:t>
                      </a:r>
                      <a:pPr algn="l" indent="0" marL="0">
                        <a:buNone/>
                      </a:pPr>
                      <a:r>
                        <a:rPr lang="en-US" sz="1050" dirty="0">
                          <a:solidFill>
                            <a:srgbClr val="222222"/>
                          </a:solidFill>
                        </a:rPr>
                        <a:t>km, </a:t>
                      </a:r>
                      <a:pPr algn="l" indent="0" marL="0">
                        <a:buNone/>
                      </a:pPr>
                      <a:r>
                        <a:rPr lang="en-US" sz="1050" dirty="0">
                          <a:solidFill>
                            <a:srgbClr val="222222"/>
                          </a:solidFill>
                        </a:rPr>
                        <a:t>19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(SGC2026pqryij). </a:t>
                      </a:r>
                      <a:pPr algn="l" indent="0" marL="0">
                        <a:buNone/>
                      </a:pPr>
                      <a:r>
                        <a:rPr lang="en-US" sz="1050" dirty="0">
                          <a:solidFill>
                            <a:srgbClr val="222222"/>
                          </a:solidFill>
                        </a:rPr>
                        <a:t>USGS </a:t>
                      </a:r>
                      <a:pPr algn="l" indent="0" marL="0">
                        <a:buNone/>
                      </a:pPr>
                      <a:r>
                        <a:rPr lang="en-US" sz="1050" dirty="0">
                          <a:solidFill>
                            <a:srgbClr val="222222"/>
                          </a:solidFill>
                        </a:rPr>
                        <a:t>catalogues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event </a:t>
                      </a:r>
                      <a:pPr algn="l" indent="0" marL="0">
                        <a:buNone/>
                      </a:pPr>
                      <a:r>
                        <a:rPr lang="en-US" sz="1050" dirty="0">
                          <a:solidFill>
                            <a:srgbClr val="222222"/>
                          </a:solidFill>
                        </a:rPr>
                        <a:t>as </a:t>
                      </a:r>
                      <a:pPr algn="l" indent="0" marL="0">
                        <a:buNone/>
                      </a:pPr>
                      <a:r>
                        <a:rPr lang="en-US" sz="1050" dirty="0">
                          <a:solidFill>
                            <a:srgbClr val="222222"/>
                          </a:solidFill>
                        </a:rPr>
                        <a:t>mb </a:t>
                      </a:r>
                      <a:pPr algn="l" indent="0" marL="0">
                        <a:buNone/>
                      </a:pPr>
                      <a:r>
                        <a:rPr lang="en-US" sz="1050" dirty="0">
                          <a:solidFill>
                            <a:srgbClr val="222222"/>
                          </a:solidFill>
                        </a:rPr>
                        <a:t>5.0 </a:t>
                      </a:r>
                      <a:pPr algn="l" indent="0" marL="0">
                        <a:buNone/>
                      </a:pPr>
                      <a:r>
                        <a:rPr lang="en-US" sz="1050" dirty="0">
                          <a:solidFill>
                            <a:srgbClr val="222222"/>
                          </a:solidFill>
                        </a:rPr>
                        <a:t>at </a:t>
                      </a:r>
                      <a:pPr algn="l" indent="0" marL="0">
                        <a:buNone/>
                      </a:pPr>
                      <a:r>
                        <a:rPr lang="en-US" sz="1050" dirty="0">
                          <a:solidFill>
                            <a:srgbClr val="222222"/>
                          </a:solidFill>
                        </a:rPr>
                        <a:t>98.5 </a:t>
                      </a:r>
                      <a:pPr algn="l" indent="0" marL="0">
                        <a:buNone/>
                      </a:pPr>
                      <a:r>
                        <a:rPr lang="en-US" sz="1050" dirty="0">
                          <a:solidFill>
                            <a:srgbClr val="222222"/>
                          </a:solidFill>
                        </a:rPr>
                        <a:t>km. </a:t>
                      </a:r>
                      <a:pPr algn="l" indent="0" marL="0">
                        <a:buNone/>
                      </a:pPr>
                      <a:r>
                        <a:rPr lang="en-US" sz="1050" dirty="0">
                          <a:solidFill>
                            <a:srgbClr val="222222"/>
                          </a:solidFill>
                        </a:rPr>
                        <a:t>Widely </a:t>
                      </a:r>
                      <a:pPr algn="l" indent="0" marL="0">
                        <a:buNone/>
                      </a:pPr>
                      <a:r>
                        <a:rPr lang="en-US" sz="1050" dirty="0">
                          <a:solidFill>
                            <a:srgbClr val="222222"/>
                          </a:solidFill>
                        </a:rPr>
                        <a:t>felt.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10:01 </a:t>
                      </a:r>
                      <a:pPr algn="l" indent="0" marL="0">
                        <a:buNone/>
                      </a:pPr>
                      <a:r>
                        <a:rPr lang="en-US" sz="1150" dirty="0">
                          <a:solidFill>
                            <a:srgbClr val="222222"/>
                          </a:solidFill>
                        </a:rPr>
                        <a:t>COT </a:t>
                      </a:r>
                      <a:pPr algn="l" indent="0" marL="0">
                        <a:buNone/>
                      </a:pPr>
                      <a:r>
                        <a:rPr lang="en-US" sz="1150" dirty="0">
                          <a:solidFill>
                            <a:srgbClr val="222222"/>
                          </a:solidFill>
                        </a:rPr>
                        <a:t>(15:01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88 </a:t>
                      </a:r>
                      <a:pPr algn="l" indent="0" marL="0">
                        <a:buNone/>
                      </a:pPr>
                      <a:r>
                        <a:rPr lang="en-US" sz="1050" dirty="0">
                          <a:solidFill>
                            <a:srgbClr val="222222"/>
                          </a:solidFill>
                        </a:rPr>
                        <a:t>km. </a:t>
                      </a:r>
                      <a:pPr algn="l" indent="0" marL="0">
                        <a:buNone/>
                      </a:pPr>
                      <a:r>
                        <a:rPr lang="en-US" sz="1050" dirty="0">
                          <a:solidFill>
                            <a:srgbClr val="222222"/>
                          </a:solidFill>
                        </a:rPr>
                        <a:t>This </a:t>
                      </a:r>
                      <a:pPr algn="l" indent="0" marL="0">
                        <a:buNone/>
                      </a:pPr>
                      <a:r>
                        <a:rPr lang="en-US" sz="1050" dirty="0">
                          <a:solidFill>
                            <a:srgbClr val="222222"/>
                          </a:solidFill>
                        </a:rPr>
                        <a:t>is </a:t>
                      </a:r>
                      <a:pPr algn="l" indent="0" marL="0">
                        <a:buNone/>
                      </a:pPr>
                      <a:r>
                        <a:rPr lang="en-US" sz="1050" dirty="0">
                          <a:solidFill>
                            <a:srgbClr val="222222"/>
                          </a:solidFill>
                        </a:rPr>
                        <a:t>the </a:t>
                      </a:r>
                      <a:pPr algn="l" indent="0" marL="0">
                        <a:buNone/>
                      </a:pPr>
                      <a:r>
                        <a:rPr lang="en-US" sz="1050" dirty="0">
                          <a:solidFill>
                            <a:srgbClr val="222222"/>
                          </a:solidFill>
                        </a:rPr>
                        <a:t>event </a:t>
                      </a:r>
                      <a:pPr algn="l" indent="0" marL="0">
                        <a:buNone/>
                      </a:pPr>
                      <a:r>
                        <a:rPr lang="en-US" sz="1050" dirty="0">
                          <a:solidFill>
                            <a:srgbClr val="222222"/>
                          </a:solidFill>
                        </a:rPr>
                        <a:t>two </a:t>
                      </a:r>
                      <a:pPr algn="l" indent="0" marL="0">
                        <a:buNone/>
                      </a:pPr>
                      <a:r>
                        <a:rPr lang="en-US" sz="1050" dirty="0">
                          <a:solidFill>
                            <a:srgbClr val="222222"/>
                          </a:solidFill>
                        </a:rPr>
                        <a:t>regional </a:t>
                      </a:r>
                      <a:pPr algn="l" indent="0" marL="0">
                        <a:buNone/>
                      </a:pPr>
                      <a:r>
                        <a:rPr lang="en-US" sz="1050" dirty="0">
                          <a:solidFill>
                            <a:srgbClr val="222222"/>
                          </a:solidFill>
                        </a:rPr>
                        <a:t>agencies </a:t>
                      </a:r>
                      <a:pPr algn="l" indent="0" marL="0">
                        <a:buNone/>
                      </a:pPr>
                      <a:r>
                        <a:rPr lang="en-US" sz="1050" dirty="0">
                          <a:solidFill>
                            <a:srgbClr val="222222"/>
                          </a:solidFill>
                        </a:rPr>
                        <a:t>published </a:t>
                      </a:r>
                      <a:pPr algn="l" indent="0" marL="0">
                        <a:buNone/>
                      </a:pPr>
                      <a:r>
                        <a:rPr lang="en-US" sz="1050" dirty="0">
                          <a:solidFill>
                            <a:srgbClr val="222222"/>
                          </a:solidFill>
                        </a:rPr>
                        <a:t>as </a:t>
                      </a:r>
                      <a:pPr algn="l" indent="0" marL="0">
                        <a:buNone/>
                      </a:pPr>
                      <a:r>
                        <a:rPr lang="en-US" sz="1050" dirty="0">
                          <a:solidFill>
                            <a:srgbClr val="222222"/>
                          </a:solidFill>
                        </a:rPr>
                        <a:t>M4.7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multi-agency </a:t>
                      </a:r>
                      <a:pPr algn="l" indent="0" marL="0">
                        <a:buNone/>
                      </a:pPr>
                      <a:r>
                        <a:rPr lang="en-US" sz="1050" dirty="0">
                          <a:solidFill>
                            <a:srgbClr val="222222"/>
                          </a:solidFill>
                        </a:rPr>
                        <a:t>bulletin; </a:t>
                      </a:r>
                      <a:pPr algn="l" indent="0" marL="0">
                        <a:buNone/>
                      </a:pPr>
                      <a:r>
                        <a:rPr lang="en-US" sz="1050" dirty="0">
                          <a:solidFill>
                            <a:srgbClr val="222222"/>
                          </a:solidFill>
                        </a:rPr>
                        <a:t>the </a:t>
                      </a:r>
                      <a:pPr algn="l" indent="0" marL="0">
                        <a:buNone/>
                      </a:pPr>
                      <a:r>
                        <a:rPr lang="en-US" sz="1050" dirty="0">
                          <a:solidFill>
                            <a:srgbClr val="222222"/>
                          </a:solidFill>
                        </a:rPr>
                        <a:t>SGC </a:t>
                      </a:r>
                      <a:pPr algn="l" indent="0" marL="0">
                        <a:buNone/>
                      </a:pPr>
                      <a:r>
                        <a:rPr lang="en-US" sz="1050" dirty="0">
                          <a:solidFill>
                            <a:srgbClr val="222222"/>
                          </a:solidFill>
                        </a:rPr>
                        <a:t>solution </a:t>
                      </a:r>
                      <a:pPr algn="l" indent="0" marL="0">
                        <a:buNone/>
                      </a:pPr>
                      <a:r>
                        <a:rPr lang="en-US" sz="1050" dirty="0">
                          <a:solidFill>
                            <a:srgbClr val="222222"/>
                          </a:solidFill>
                        </a:rPr>
                        <a:t>is </a:t>
                      </a:r>
                      <a:pPr algn="l" indent="0" marL="0">
                        <a:buNone/>
                      </a:pPr>
                      <a:r>
                        <a:rPr lang="en-US" sz="1050" dirty="0">
                          <a:solidFill>
                            <a:srgbClr val="222222"/>
                          </a:solidFill>
                        </a:rPr>
                        <a:t>0.9 </a:t>
                      </a:r>
                      <a:pPr algn="l" indent="0" marL="0">
                        <a:buNone/>
                      </a:pPr>
                      <a:r>
                        <a:rPr lang="en-US" sz="1050" dirty="0">
                          <a:solidFill>
                            <a:srgbClr val="222222"/>
                          </a:solidFill>
                        </a:rPr>
                        <a:t>units </a:t>
                      </a:r>
                      <a:pPr algn="l" indent="0" marL="0">
                        <a:buNone/>
                      </a:pPr>
                      <a:r>
                        <a:rPr lang="en-US" sz="1050" dirty="0">
                          <a:solidFill>
                            <a:srgbClr val="222222"/>
                          </a:solidFill>
                        </a:rPr>
                        <a:t>smaller.</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11 </a:t>
                      </a:r>
                      <a:pPr algn="l" indent="0" marL="0">
                        <a:buNone/>
                      </a:pPr>
                      <a:r>
                        <a:rPr lang="en-US" sz="1150" dirty="0">
                          <a:solidFill>
                            <a:srgbClr val="222222"/>
                          </a:solidFill>
                        </a:rPr>
                        <a:t>Aug </a:t>
                      </a:r>
                      <a:pPr algn="l" indent="0" marL="0">
                        <a:buNone/>
                      </a:pPr>
                      <a:r>
                        <a:rPr lang="en-US" sz="1150" dirty="0">
                          <a:solidFill>
                            <a:srgbClr val="222222"/>
                          </a:solidFill>
                        </a:rPr>
                        <a:t>00:12 </a:t>
                      </a:r>
                      <a:pPr algn="l" indent="0" marL="0">
                        <a:buNone/>
                      </a:pPr>
                      <a:r>
                        <a:rPr lang="en-US" sz="1150" dirty="0">
                          <a:solidFill>
                            <a:srgbClr val="222222"/>
                          </a:solidFill>
                        </a:rPr>
                        <a:t>/ </a:t>
                      </a:r>
                      <a:pPr algn="l" indent="0" marL="0">
                        <a:buNone/>
                      </a:pPr>
                      <a:r>
                        <a:rPr lang="en-US" sz="1150" dirty="0">
                          <a:solidFill>
                            <a:srgbClr val="222222"/>
                          </a:solidFill>
                        </a:rPr>
                        <a:t>10:43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M3.6 </a:t>
                      </a:r>
                      <a:pPr algn="ctr" indent="0" marL="0">
                        <a:buNone/>
                      </a:pPr>
                      <a:r>
                        <a:rPr lang="en-US" sz="1150" b="1" dirty="0">
                          <a:solidFill>
                            <a:srgbClr val="1F3864"/>
                          </a:solidFill>
                        </a:rPr>
                        <a:t>/ </a:t>
                      </a:r>
                      <a:pPr algn="ctr" indent="0" marL="0">
                        <a:buNone/>
                      </a:pPr>
                      <a:r>
                        <a:rPr lang="en-US" sz="1150" b="1" dirty="0">
                          <a:solidFill>
                            <a:srgbClr val="1F3864"/>
                          </a:solidFill>
                        </a:rPr>
                        <a:t>M3.9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depths </a:t>
                      </a:r>
                      <a:pPr algn="l" indent="0" marL="0">
                        <a:buNone/>
                      </a:pPr>
                      <a:r>
                        <a:rPr lang="en-US" sz="1050" dirty="0">
                          <a:solidFill>
                            <a:srgbClr val="222222"/>
                          </a:solidFill>
                        </a:rPr>
                        <a:t>96 </a:t>
                      </a:r>
                      <a:pPr algn="l" indent="0" marL="0">
                        <a:buNone/>
                      </a:pPr>
                      <a:r>
                        <a:rPr lang="en-US" sz="1050" dirty="0">
                          <a:solidFill>
                            <a:srgbClr val="222222"/>
                          </a:solidFill>
                        </a:rPr>
                        <a:t>km </a:t>
                      </a:r>
                      <a:pPr algn="l" indent="0" marL="0">
                        <a:buNone/>
                      </a:pPr>
                      <a:r>
                        <a:rPr lang="en-US" sz="1050" dirty="0">
                          <a:solidFill>
                            <a:srgbClr val="222222"/>
                          </a:solidFill>
                        </a:rPr>
                        <a:t>and </a:t>
                      </a:r>
                      <a:pPr algn="l" indent="0" marL="0">
                        <a:buNone/>
                      </a:pPr>
                      <a:r>
                        <a:rPr lang="en-US" sz="1050" dirty="0">
                          <a:solidFill>
                            <a:srgbClr val="222222"/>
                          </a:solidFill>
                        </a:rPr>
                        <a:t>92 </a:t>
                      </a:r>
                      <a:pPr algn="l" indent="0" marL="0">
                        <a:buNone/>
                      </a:pPr>
                      <a:r>
                        <a:rPr lang="en-US" sz="1050" dirty="0">
                          <a:solidFill>
                            <a:srgbClr val="222222"/>
                          </a:solidFill>
                        </a:rPr>
                        <a:t>km. </a:t>
                      </a:r>
                      <a:pPr algn="l" indent="0" marL="0">
                        <a:buNone/>
                      </a:pPr>
                      <a:r>
                        <a:rPr lang="en-US" sz="1050" dirty="0">
                          <a:solidFill>
                            <a:srgbClr val="222222"/>
                          </a:solidFill>
                        </a:rPr>
                        <a:t>The </a:t>
                      </a:r>
                      <a:pPr algn="l" indent="0" marL="0">
                        <a:buNone/>
                      </a:pPr>
                      <a:r>
                        <a:rPr lang="en-US" sz="1050" dirty="0">
                          <a:solidFill>
                            <a:srgbClr val="222222"/>
                          </a:solidFill>
                        </a:rPr>
                        <a:t>10:43 </a:t>
                      </a:r>
                      <a:pPr algn="l" indent="0" marL="0">
                        <a:buNone/>
                      </a:pPr>
                      <a:r>
                        <a:rPr lang="en-US" sz="1050" dirty="0">
                          <a:solidFill>
                            <a:srgbClr val="222222"/>
                          </a:solidFill>
                        </a:rPr>
                        <a:t>event </a:t>
                      </a:r>
                      <a:pPr algn="l" indent="0" marL="0">
                        <a:buNone/>
                      </a:pPr>
                      <a:r>
                        <a:rPr lang="en-US" sz="1050" dirty="0">
                          <a:solidFill>
                            <a:srgbClr val="222222"/>
                          </a:solidFill>
                        </a:rPr>
                        <a:t>was </a:t>
                      </a:r>
                      <a:pPr algn="l" indent="0" marL="0">
                        <a:buNone/>
                      </a:pPr>
                      <a:r>
                        <a:rPr lang="en-US" sz="1050" dirty="0">
                          <a:solidFill>
                            <a:srgbClr val="222222"/>
                          </a:solidFill>
                        </a:rPr>
                        <a:t>felt </a:t>
                      </a:r>
                      <a:pPr algn="l" indent="0" marL="0">
                        <a:buNone/>
                      </a:pPr>
                      <a:r>
                        <a:rPr lang="en-US" sz="1050" dirty="0">
                          <a:solidFill>
                            <a:srgbClr val="222222"/>
                          </a:solidFill>
                        </a:rPr>
                        <a:t>strongly </a:t>
                      </a:r>
                      <a:pPr algn="l" indent="0" marL="0">
                        <a:buNone/>
                      </a:pPr>
                      <a:r>
                        <a:rPr lang="en-US" sz="1050" dirty="0">
                          <a:solidFill>
                            <a:srgbClr val="222222"/>
                          </a:solidFill>
                        </a:rPr>
                        <a:t>enough </a:t>
                      </a:r>
                      <a:pPr algn="l" indent="0" marL="0">
                        <a:buNone/>
                      </a:pPr>
                      <a:r>
                        <a:rPr lang="en-US" sz="1050" dirty="0">
                          <a:solidFill>
                            <a:srgbClr val="222222"/>
                          </a:solidFill>
                        </a:rPr>
                        <a:t>for </a:t>
                      </a:r>
                      <a:pPr algn="l" indent="0" marL="0">
                        <a:buNone/>
                      </a:pPr>
                      <a:r>
                        <a:rPr lang="en-US" sz="1050" dirty="0">
                          <a:solidFill>
                            <a:srgbClr val="222222"/>
                          </a:solidFill>
                        </a:rPr>
                        <a:t>buildings </a:t>
                      </a:r>
                      <a:pPr algn="l" indent="0" marL="0">
                        <a:buNone/>
                      </a:pPr>
                      <a:r>
                        <a:rPr lang="en-US" sz="1050" dirty="0">
                          <a:solidFill>
                            <a:srgbClr val="222222"/>
                          </a:solidFill>
                        </a:rPr>
                        <a:t>to </a:t>
                      </a:r>
                      <a:pPr algn="l" indent="0" marL="0">
                        <a:buNone/>
                      </a:pPr>
                      <a:r>
                        <a:rPr lang="en-US" sz="1050" dirty="0">
                          <a:solidFill>
                            <a:srgbClr val="222222"/>
                          </a:solidFill>
                        </a:rPr>
                        <a:t>be </a:t>
                      </a:r>
                      <a:pPr algn="l" indent="0" marL="0">
                        <a:buNone/>
                      </a:pPr>
                      <a:r>
                        <a:rPr lang="en-US" sz="1050" dirty="0">
                          <a:solidFill>
                            <a:srgbClr val="222222"/>
                          </a:solidFill>
                        </a:rPr>
                        <a:t>evacuated </a:t>
                      </a:r>
                      <a:pPr algn="l" indent="0" marL="0">
                        <a:buNone/>
                      </a:pPr>
                      <a:r>
                        <a:rPr lang="en-US" sz="1050" dirty="0">
                          <a:solidFill>
                            <a:srgbClr val="222222"/>
                          </a:solidFill>
                        </a:rPr>
                        <a:t>in </a:t>
                      </a:r>
                      <a:pPr algn="l" indent="0" marL="0">
                        <a:buNone/>
                      </a:pPr>
                      <a:r>
                        <a:rPr lang="en-US" sz="1050" dirty="0">
                          <a:solidFill>
                            <a:srgbClr val="222222"/>
                          </a:solidFill>
                        </a:rPr>
                        <a:t>several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affected </a:t>
                      </a:r>
                      <a:pPr algn="l" indent="0" marL="0">
                        <a:buNone/>
                      </a:pPr>
                      <a:r>
                        <a:rPr lang="en-US" sz="1050" dirty="0">
                          <a:solidFill>
                            <a:srgbClr val="222222"/>
                          </a:solidFill>
                        </a:rPr>
                        <a:t>cities.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13 </a:t>
                      </a:r>
                      <a:pPr algn="l" indent="0" marL="0">
                        <a:buNone/>
                      </a:pPr>
                      <a:r>
                        <a:rPr lang="en-US" sz="1150" dirty="0">
                          <a:solidFill>
                            <a:srgbClr val="222222"/>
                          </a:solidFill>
                        </a:rPr>
                        <a:t>Aug </a:t>
                      </a:r>
                      <a:pPr algn="l" indent="0" marL="0">
                        <a:buNone/>
                      </a:pPr>
                      <a:r>
                        <a:rPr lang="en-US" sz="1150" dirty="0">
                          <a:solidFill>
                            <a:srgbClr val="222222"/>
                          </a:solidFill>
                        </a:rPr>
                        <a:t>09:42 </a:t>
                      </a:r>
                      <a:pPr algn="l" indent="0" marL="0">
                        <a:buNone/>
                      </a:pPr>
                      <a:r>
                        <a:rPr lang="en-US" sz="1150" dirty="0">
                          <a:solidFill>
                            <a:srgbClr val="222222"/>
                          </a:solidFill>
                        </a:rPr>
                        <a:t>COT </a:t>
                      </a:r>
                      <a:pPr algn="l" indent="0" marL="0">
                        <a:buNone/>
                      </a:pPr>
                      <a:r>
                        <a:rPr lang="en-US" sz="1150" dirty="0">
                          <a:solidFill>
                            <a:srgbClr val="222222"/>
                          </a:solidFill>
                        </a:rPr>
                        <a:t>(14:42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M4.2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95 </a:t>
                      </a:r>
                      <a:pPr algn="l" indent="0" marL="0">
                        <a:buNone/>
                      </a:pPr>
                      <a:r>
                        <a:rPr lang="en-US" sz="1050" dirty="0">
                          <a:solidFill>
                            <a:srgbClr val="222222"/>
                          </a:solidFill>
                        </a:rPr>
                        <a:t>km, </a:t>
                      </a:r>
                      <a:pPr algn="l" indent="0" marL="0">
                        <a:buNone/>
                      </a:pPr>
                      <a:r>
                        <a:rPr lang="en-US" sz="1050" dirty="0">
                          <a:solidFill>
                            <a:srgbClr val="222222"/>
                          </a:solidFill>
                        </a:rPr>
                        <a:t>about </a:t>
                      </a:r>
                      <a:pPr algn="l" indent="0" marL="0">
                        <a:buNone/>
                      </a:pPr>
                      <a:r>
                        <a:rPr lang="en-US" sz="1050" dirty="0">
                          <a:solidFill>
                            <a:srgbClr val="222222"/>
                          </a:solidFill>
                        </a:rPr>
                        <a:t>20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source </a:t>
                      </a:r>
                      <a:pPr algn="l" indent="0" marL="0">
                        <a:buNone/>
                      </a:pPr>
                      <a:r>
                        <a:rPr lang="en-US" sz="1050" dirty="0">
                          <a:solidFill>
                            <a:srgbClr val="222222"/>
                          </a:solidFill>
                        </a:rPr>
                        <a:t>volume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Felt </a:t>
                      </a:r>
                      <a:pPr algn="l" indent="0" marL="0">
                        <a:buNone/>
                      </a:pPr>
                      <a:r>
                        <a:rPr lang="en-US" sz="1050" dirty="0">
                          <a:solidFill>
                            <a:srgbClr val="222222"/>
                          </a:solidFill>
                        </a:rPr>
                        <a:t>as </a:t>
                      </a:r>
                      <a:pPr algn="l" indent="0" marL="0">
                        <a:buNone/>
                      </a:pPr>
                      <a:r>
                        <a:rPr lang="en-US" sz="1050" dirty="0">
                          <a:solidFill>
                            <a:srgbClr val="222222"/>
                          </a:solidFill>
                        </a:rPr>
                        <a:t>far </a:t>
                      </a:r>
                      <a:pPr algn="l" indent="0" marL="0">
                        <a:buNone/>
                      </a:pPr>
                      <a:r>
                        <a:rPr lang="en-US" sz="1050" dirty="0">
                          <a:solidFill>
                            <a:srgbClr val="222222"/>
                          </a:solidFill>
                        </a:rPr>
                        <a:t>as </a:t>
                      </a:r>
                      <a:pPr algn="l" indent="0" marL="0">
                        <a:buNone/>
                      </a:pPr>
                      <a:r>
                        <a:rPr lang="en-US" sz="1050" dirty="0">
                          <a:solidFill>
                            <a:srgbClr val="222222"/>
                          </a:solidFill>
                        </a:rPr>
                        <a:t>Bogotá </a:t>
                      </a:r>
                      <a:pPr algn="l" indent="0" marL="0">
                        <a:buNone/>
                      </a:pPr>
                      <a:r>
                        <a:rPr lang="en-US" sz="1050" dirty="0">
                          <a:solidFill>
                            <a:srgbClr val="222222"/>
                          </a:solidFill>
                        </a:rPr>
                        <a:t>and </a:t>
                      </a:r>
                      <a:pPr algn="l" indent="0" marL="0">
                        <a:buNone/>
                      </a:pPr>
                      <a:r>
                        <a:rPr lang="en-US" sz="1050" dirty="0">
                          <a:solidFill>
                            <a:srgbClr val="222222"/>
                          </a:solidFill>
                        </a:rPr>
                        <a:t>strong </a:t>
                      </a:r>
                      <a:pPr algn="l" indent="0" marL="0">
                        <a:buNone/>
                      </a:pPr>
                      <a:r>
                        <a:rPr lang="en-US" sz="1050" dirty="0">
                          <a:solidFill>
                            <a:srgbClr val="222222"/>
                          </a:solidFill>
                        </a:rPr>
                        <a:t>enough </a:t>
                      </a:r>
                      <a:pPr algn="l" indent="0" marL="0">
                        <a:buNone/>
                      </a:pPr>
                      <a:r>
                        <a:rPr lang="en-US" sz="1050" dirty="0">
                          <a:solidFill>
                            <a:srgbClr val="222222"/>
                          </a:solidFill>
                        </a:rPr>
                        <a:t>to </a:t>
                      </a:r>
                      <a:pPr algn="l" indent="0" marL="0">
                        <a:buNone/>
                      </a:pPr>
                      <a:r>
                        <a:rPr lang="en-US" sz="1050" dirty="0">
                          <a:solidFill>
                            <a:srgbClr val="222222"/>
                          </a:solidFill>
                        </a:rPr>
                        <a:t>halt </a:t>
                      </a:r>
                      <a:pPr algn="l" indent="0" marL="0">
                        <a:buNone/>
                      </a:pPr>
                      <a:r>
                        <a:rPr lang="en-US" sz="1050" dirty="0">
                          <a:solidFill>
                            <a:srgbClr val="222222"/>
                          </a:solidFill>
                        </a:rPr>
                        <a:t>search-and-rescue </a:t>
                      </a:r>
                      <a:pPr algn="l" indent="0" marL="0">
                        <a:buNone/>
                      </a:pPr>
                      <a:r>
                        <a:rPr lang="en-US" sz="1050" dirty="0">
                          <a:solidFill>
                            <a:srgbClr val="222222"/>
                          </a:solidFill>
                        </a:rPr>
                        <a:t>work </a:t>
                      </a:r>
                      <a:pPr algn="l" indent="0" marL="0">
                        <a:buNone/>
                      </a:pPr>
                      <a:r>
                        <a:rPr lang="en-US" sz="1050" dirty="0">
                          <a:solidFill>
                            <a:srgbClr val="222222"/>
                          </a:solidFill>
                        </a:rPr>
                        <a:t>temporarily.</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to </a:t>
                      </a:r>
                      <a:pPr algn="l" indent="0" marL="0">
                        <a:buNone/>
                      </a:pPr>
                      <a:r>
                        <a:rPr lang="en-US" sz="1150" dirty="0">
                          <a:solidFill>
                            <a:srgbClr val="222222"/>
                          </a:solidFill>
                        </a:rPr>
                        <a:t>14 </a:t>
                      </a:r>
                      <a:pPr algn="l" indent="0" marL="0">
                        <a:buNone/>
                      </a:pPr>
                      <a:r>
                        <a:rPr lang="en-US" sz="1150" dirty="0">
                          <a:solidFill>
                            <a:srgbClr val="222222"/>
                          </a:solidFill>
                        </a:rPr>
                        <a:t>Aug </a:t>
                      </a:r>
                      <a:pPr algn="l" indent="0" marL="0">
                        <a:buNone/>
                      </a:pPr>
                      <a:r>
                        <a:rPr lang="en-US" sz="1150" dirty="0">
                          <a:solidFill>
                            <a:srgbClr val="222222"/>
                          </a:solidFill>
                        </a:rPr>
                        <a:t>07:00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184 </a:t>
                      </a:r>
                      <a:pPr algn="ctr" indent="0" marL="0">
                        <a:buNone/>
                      </a:pPr>
                      <a:r>
                        <a:rPr lang="en-US" sz="1150" b="1" dirty="0">
                          <a:solidFill>
                            <a:srgbClr val="1F3864"/>
                          </a:solidFill>
                        </a:rPr>
                        <a:t>located</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SGC </a:t>
                      </a:r>
                      <a:pPr algn="l" indent="0" marL="0">
                        <a:buNone/>
                      </a:pPr>
                      <a:r>
                        <a:rPr lang="en-US" sz="1050" dirty="0">
                          <a:solidFill>
                            <a:srgbClr val="222222"/>
                          </a:solidFill>
                        </a:rPr>
                        <a:t>running </a:t>
                      </a:r>
                      <a:pPr algn="l" indent="0" marL="0">
                        <a:buNone/>
                      </a:pPr>
                      <a:r>
                        <a:rPr lang="en-US" sz="1050" dirty="0">
                          <a:solidFill>
                            <a:srgbClr val="222222"/>
                          </a:solidFill>
                        </a:rPr>
                        <a:t>total </a:t>
                      </a:r>
                      <a:pPr algn="l" indent="0" marL="0">
                        <a:buNone/>
                      </a:pPr>
                      <a:r>
                        <a:rPr lang="en-US" sz="1050" dirty="0">
                          <a:solidFill>
                            <a:srgbClr val="222222"/>
                          </a:solidFill>
                        </a:rPr>
                        <a:t>four </a:t>
                      </a:r>
                      <a:pPr algn="l" indent="0" marL="0">
                        <a:buNone/>
                      </a:pPr>
                      <a:r>
                        <a:rPr lang="en-US" sz="1050" dirty="0">
                          <a:solidFill>
                            <a:srgbClr val="222222"/>
                          </a:solidFill>
                        </a:rPr>
                        <a:t>days </a:t>
                      </a:r>
                      <a:pPr algn="l" indent="0" marL="0">
                        <a:buNone/>
                      </a:pPr>
                      <a:r>
                        <a:rPr lang="en-US" sz="1050" dirty="0">
                          <a:solidFill>
                            <a:srgbClr val="222222"/>
                          </a:solidFill>
                        </a:rPr>
                        <a:t>on: </a:t>
                      </a:r>
                      <a:pPr algn="l" indent="0" marL="0">
                        <a:buNone/>
                      </a:pPr>
                      <a:r>
                        <a:rPr lang="en-US" sz="1050" dirty="0">
                          <a:solidFill>
                            <a:srgbClr val="222222"/>
                          </a:solidFill>
                        </a:rPr>
                        <a:t>184 </a:t>
                      </a:r>
                      <a:pPr algn="l" indent="0" marL="0">
                        <a:buNone/>
                      </a:pPr>
                      <a:r>
                        <a:rPr lang="en-US" sz="1050" dirty="0">
                          <a:solidFill>
                            <a:srgbClr val="222222"/>
                          </a:solidFill>
                        </a:rPr>
                        <a:t>aftershocks, </a:t>
                      </a:r>
                      <a:pPr algn="l" indent="0" marL="0">
                        <a:buNone/>
                      </a:pPr>
                      <a:r>
                        <a:rPr lang="en-US" sz="1050" dirty="0">
                          <a:solidFill>
                            <a:srgbClr val="222222"/>
                          </a:solidFill>
                        </a:rPr>
                        <a:t>15 </a:t>
                      </a:r>
                      <a:pPr algn="l" indent="0" marL="0">
                        <a:buNone/>
                      </a:pPr>
                      <a:r>
                        <a:rPr lang="en-US" sz="1050" dirty="0">
                          <a:solidFill>
                            <a:srgbClr val="222222"/>
                          </a:solidFill>
                        </a:rPr>
                        <a:t>above </a:t>
                      </a:r>
                      <a:pPr algn="l" indent="0" marL="0">
                        <a:buNone/>
                      </a:pPr>
                      <a:r>
                        <a:rPr lang="en-US" sz="1050" dirty="0">
                          <a:solidFill>
                            <a:srgbClr val="222222"/>
                          </a:solidFill>
                        </a:rPr>
                        <a:t>M3.0 </a:t>
                      </a:r>
                      <a:pPr algn="l" indent="0" marL="0">
                        <a:buNone/>
                      </a:pPr>
                      <a:r>
                        <a:rPr lang="en-US" sz="1050" dirty="0">
                          <a:solidFill>
                            <a:srgbClr val="222222"/>
                          </a:solidFill>
                        </a:rPr>
                        <a:t>and </a:t>
                      </a:r>
                      <a:pPr algn="l" indent="0" marL="0">
                        <a:buNone/>
                      </a:pPr>
                      <a:r>
                        <a:rPr lang="en-US" sz="1050" dirty="0">
                          <a:solidFill>
                            <a:srgbClr val="222222"/>
                          </a:solidFill>
                        </a:rPr>
                        <a:t>2 </a:t>
                      </a:r>
                      <a:pPr algn="l" indent="0" marL="0">
                        <a:buNone/>
                      </a:pPr>
                      <a:r>
                        <a:rPr lang="en-US" sz="1050" dirty="0">
                          <a:solidFill>
                            <a:srgbClr val="222222"/>
                          </a:solidFill>
                        </a:rPr>
                        <a:t>above </a:t>
                      </a:r>
                      <a:pPr algn="l" indent="0" marL="0">
                        <a:buNone/>
                      </a:pPr>
                      <a:r>
                        <a:rPr lang="en-US" sz="1050" dirty="0">
                          <a:solidFill>
                            <a:srgbClr val="222222"/>
                          </a:solidFill>
                        </a:rPr>
                        <a:t>M4.0. </a:t>
                      </a:r>
                      <a:pPr algn="l" indent="0" marL="0">
                        <a:buNone/>
                      </a:pPr>
                      <a:r>
                        <a:rPr lang="en-US" sz="1050" dirty="0">
                          <a:solidFill>
                            <a:srgbClr val="222222"/>
                          </a:solidFill>
                        </a:rPr>
                        <a:t>The </a:t>
                      </a:r>
                      <a:pPr algn="l" indent="0" marL="0">
                        <a:buNone/>
                      </a:pPr>
                      <a:r>
                        <a:rPr lang="en-US" sz="1050" dirty="0">
                          <a:solidFill>
                            <a:srgbClr val="222222"/>
                          </a:solidFill>
                        </a:rPr>
                        <a:t>published </a:t>
                      </a:r>
                      <a:pPr algn="l" indent="0" marL="0">
                        <a:buNone/>
                      </a:pPr>
                      <a:r>
                        <a:rPr lang="en-US" sz="1050" dirty="0">
                          <a:solidFill>
                            <a:srgbClr val="222222"/>
                          </a:solidFill>
                        </a:rPr>
                        <a:t>total </a:t>
                      </a:r>
                      <a:pPr algn="l" indent="0" marL="0">
                        <a:buNone/>
                      </a:pPr>
                      <a:r>
                        <a:rPr lang="en-US" sz="1050" dirty="0">
                          <a:solidFill>
                            <a:srgbClr val="222222"/>
                          </a:solidFill>
                        </a:rPr>
                        <a:t>was </a:t>
                      </a:r>
                      <a:pPr algn="l" indent="0" marL="0">
                        <a:buNone/>
                      </a:pPr>
                      <a:r>
                        <a:rPr lang="en-US" sz="1050" dirty="0">
                          <a:solidFill>
                            <a:srgbClr val="222222"/>
                          </a:solidFill>
                        </a:rPr>
                        <a:t>103 </a:t>
                      </a:r>
                      <a:pPr algn="l" indent="0" marL="0">
                        <a:buNone/>
                      </a:pPr>
                      <a:r>
                        <a:rPr lang="en-US" sz="1050" dirty="0">
                          <a:solidFill>
                            <a:srgbClr val="222222"/>
                          </a:solidFill>
                        </a:rPr>
                        <a:t>at </a:t>
                      </a:r>
                      <a:pPr algn="l" indent="0" marL="0">
                        <a:buNone/>
                      </a:pPr>
                      <a:r>
                        <a:rPr lang="en-US" sz="1050" dirty="0">
                          <a:solidFill>
                            <a:srgbClr val="222222"/>
                          </a:solidFill>
                        </a:rPr>
                        <a:t>15:00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 </a:t>
                      </a:r>
                      <a:pPr algn="l" indent="0" marL="0">
                        <a:buNone/>
                      </a:pPr>
                      <a:r>
                        <a:rPr lang="en-US" sz="1050" dirty="0">
                          <a:solidFill>
                            <a:srgbClr val="222222"/>
                          </a:solidFill>
                        </a:rPr>
                        <a:t>the </a:t>
                      </a:r>
                      <a:pPr algn="l" indent="0" marL="0">
                        <a:buNone/>
                      </a:pPr>
                      <a:r>
                        <a:rPr lang="en-US" sz="1050" dirty="0">
                          <a:solidFill>
                            <a:srgbClr val="222222"/>
                          </a:solidFill>
                        </a:rPr>
                        <a:t>catalogue </a:t>
                      </a:r>
                      <a:pPr algn="l" indent="0" marL="0">
                        <a:buNone/>
                      </a:pPr>
                      <a:r>
                        <a:rPr lang="en-US" sz="1050" dirty="0">
                          <a:solidFill>
                            <a:srgbClr val="222222"/>
                          </a:solidFill>
                        </a:rPr>
                        <a:t>extract </a:t>
                      </a:r>
                      <a:pPr algn="l" indent="0" marL="0">
                        <a:buNone/>
                      </a:pPr>
                      <a:r>
                        <a:rPr lang="en-US" sz="1050" dirty="0">
                          <a:solidFill>
                            <a:srgbClr val="222222"/>
                          </a:solidFill>
                        </a:rPr>
                        <a:t>used </a:t>
                      </a:r>
                      <a:pPr algn="l" indent="0" marL="0">
                        <a:buNone/>
                      </a:pPr>
                      <a:r>
                        <a:rPr lang="en-US" sz="1050" dirty="0">
                          <a:solidFill>
                            <a:srgbClr val="222222"/>
                          </a:solidFill>
                        </a:rPr>
                        <a:t>for </a:t>
                      </a:r>
                      <a:pPr algn="l" indent="0" marL="0">
                        <a:buNone/>
                      </a:pPr>
                      <a:r>
                        <a:rPr lang="en-US" sz="1050" dirty="0">
                          <a:solidFill>
                            <a:srgbClr val="222222"/>
                          </a:solidFill>
                        </a:rPr>
                        <a:t>the </a:t>
                      </a:r>
                      <a:pPr algn="l" indent="0" marL="0">
                        <a:buNone/>
                      </a:pPr>
                      <a:r>
                        <a:rPr lang="en-US" sz="1050" dirty="0">
                          <a:solidFill>
                            <a:srgbClr val="222222"/>
                          </a:solidFill>
                        </a:rPr>
                        <a:t>figure </a:t>
                      </a:r>
                      <a:pPr algn="l" indent="0" marL="0">
                        <a:buNone/>
                      </a:pPr>
                      <a:r>
                        <a:rPr lang="en-US" sz="1050" dirty="0">
                          <a:solidFill>
                            <a:srgbClr val="222222"/>
                          </a:solidFill>
                        </a:rPr>
                        <a:t>holds </a:t>
                      </a:r>
                      <a:pPr algn="l" indent="0" marL="0">
                        <a:buNone/>
                      </a:pPr>
                      <a:r>
                        <a:rPr lang="en-US" sz="1050" dirty="0">
                          <a:solidFill>
                            <a:srgbClr val="222222"/>
                          </a:solidFill>
                        </a:rPr>
                        <a:t>147 </a:t>
                      </a:r>
                      <a:pPr algn="l" indent="0" marL="0">
                        <a:buNone/>
                      </a:pPr>
                      <a:r>
                        <a:rPr lang="en-US" sz="1050" dirty="0">
                          <a:solidFill>
                            <a:srgbClr val="222222"/>
                          </a:solidFill>
                        </a:rPr>
                        <a:t>events </a:t>
                      </a:r>
                      <a:pPr algn="l" indent="0" marL="0">
                        <a:buNone/>
                      </a:pPr>
                      <a:r>
                        <a:rPr lang="en-US" sz="1050" dirty="0">
                          <a:solidFill>
                            <a:srgbClr val="222222"/>
                          </a:solidFill>
                        </a:rPr>
                        <a:t>to </a:t>
                      </a:r>
                      <a:pPr algn="l" indent="0" marL="0">
                        <a:buNone/>
                      </a:pPr>
                      <a:r>
                        <a:rPr lang="en-US" sz="1050" dirty="0">
                          <a:solidFill>
                            <a:srgbClr val="222222"/>
                          </a:solidFill>
                        </a:rPr>
                        <a:t>17:24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61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335 (UNGRD (06:30 COT cut on 16 Sep 2026, per IOM Colombia Earthquake Response Situation Report #11, posted 25 Sep 2026)), unchanged from the 15 Sep report cycle (486,917 affected total unchanged - see People affected). The series has run 273, 281, 285, 287, 288, 294, 289, 287, 329, 331, 335.</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4,516 (UNGRD (06:30 COT cut on 16 Sep 2026, per IOM Colombia Earthquake Response Situation Report #11, posted 25 Sep 2026)), up from 4,505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(reported to the authorities)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 (UNGRD (06:30 COT cut on 16 Sep 2026, per IOM Colombia Earthquake Response Situation Report #11, posted 25 Sep 2026)), down from 111 at the 7 Sep 06:30 cut. UNGRD gives no explanation for the change; treated as reconciliation (identification/rescue) rather than a data error, consistent with the missing count being a non-cumulative, currently-outstanding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 (national balance)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 (UNGRD (06:30 COT cut on 16 Sep 2026, per IOM Colombia Earthquake Response Situation Report #11, posted 25 Sep 2026)), unchanged from the 7 Sep 06:30 cut, plus 3,003 animals rescued and 3,277 affected (both unchanged from 6 Sep). This is the national balance figure carried alongside the casualty count; see the separate 16 Aug entry below for named rescue cases.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61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Unresolved reports on citizen platforms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4,084 people registered on “Colombia te busca”, of whom 3,653 are still to be located and 429 have been found - concentrated in Valle del Cauca, Risaralda, Caldas and Chocó. Asocapitales has launched a second platform.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 (citizen initiative); 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16 Aug 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Municipalities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500 municipalities in 16 departments (UNGRD (06:30 COT cut on 16 Sep 2026, per IOM Colombia Earthquake Response Situation Report #11, posted 25 Sep 2026)), up from 498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61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303,934 families (486,917 people) registered as affected via UNGRD's Registro Unico de Damnificados (RUD) balance, 06:30 COT cut-off on 15 Sep 2026, up from 296,738 families (466,709 people) at the 7 Sep 06:30 cut. UNGRD describes the RUD as the tool through which municipalities, with support from SNGRD entities, register and upload information on affected people and reported damage; this report treats it as continuing the same affected-population series reported in earlier balances. OCHA's Flash Update 011 corroborates the people-affected figure as of 2 Sep 17:00 ("more than 466,600"). OCHA's earlier Flash Update 010 separately reported more than 406,000 people (193,011 families) as of 27 Aug 20:00, concentrated in Risaralda, Valle del Cauca, Choco, Quindio and Caldas; the two organisations' bases are not confirmed to be identical, so both are shown with their dates. Separately, WFP's Colombia Earthquake Emergency Situation Report (7 September) states "authorities reported 759,311 people affected, 331 fatalities, 4,519 injured people and 136 missing people" as of that date - a substantially larger affected-population figure than UNGRD's own balances, while the casualty figures WFP cites (4,519 injured, 136 missing) match UNGRD's earlier 1-2 Sep cuts rather than the later cuts. The report does not explain what the 759,311 figure counts or which UNGRD cut it draws on; it is shown here with its date rather than merged with UNGRD's own count.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 OCHA Flash Update 011, 2 Sep 17:00; IFRC, 10 Sep 2026 (one-month statement); IFRC Operation Update #1 (MDRCO036), 22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61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Separately, IFRC (10 Sep, one-month statement) cites more than 661,000 people formally registered as disaster-affected as of 4 September - a third, substantially larger figure that does not match UNGRD's RUD series, OCHA's Flash Update figures, or WFP's 759,311; the four are shown separately with their own dates rather than merged, as none has been confirmed to share the same registration basis. Separately again, IFRC's Earthquake Operation Update #1 (MDRCO036, posted 22 Sep) states that, per "the UNGRD report of 10 September", 778,281 people (364,672 families) were affected nationally. These two figures are almost identical to the San Jose del Palmar municipality-only RUD figures UNGRD posted on 19 September - 778,279 people / 364,670 families for that one epicentral municipality (see the Homes damaged or destroyed entry below) - which suggests Operation Update #1 may have applied a single-municipality RUD figure to the national total rather than reporting an independent national count; it is shown here with its date rather than merged, pending clarification. A separate, larger tally was reported from the 19 September National Unified Command Post (PMU), where UNGRD consolidated territorial information from different sectors: 364,670 families and 778,279 people registered as of 19 Sep 2026. This PMU consolidation figure has not been reconciled with the RUD balance above and is not used to replace it; both are shown with their dates (UNGRD, PMU consolidation reported 19 Sep 2026, per IOM SitRep #11).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61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same PMU consolidation also reported a differently-classified housing tally: 84,855 habitable homes, 104,037 uninhabitable homes, 19,143 destroyed and 119,752 damaged (as of 19 Sep 2026). This uses different categories from the RUD "damaged/destroyed" balance in the Homes damaged or destroyed entry below and must not be combined with 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Homes damaged or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243,409: 36,478 destroyed and 206,931 damaged (UNGRD (06:30 COT cut on 16 Sep 2026, per IOM Colombia Earthquake Response Situation Report #11, posted 25 Sep 2026)), unchanged from the 15 Sep 06:30 cut, against 238,328 (36,326 destroyed and 202,002 damaged) at the 7 Sep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 OCHA Flash Update 011, 2 Sep 17:00; CESVI, 11 Sep 2026; UNGRD (X/Twitter), San José del Palmar municipal RUD, 19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seriously damaged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206,931 (UNGRD (06:30 COT cut on 16 Sep 2026, per IOM Colombia Earthquake Response Situation Report #11, posted 25 Sep 2026)), unchanged from the 15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36,478 (UNGRD (06:30 COT cut on 16 Sep 2026, per IOM Colombia Earthquake Response Situation Report #11, posted 25 Sep 2026)), unchanged from the 15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61</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Buildings collapsed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743 nationally, plus 6,005 buildings damaged (UNGRD, 06:30 cut on 7 Sep), unchanged from the 6 Sep 06:30 cut (against 197 collapsed at the 18:30 cut on 16 Aug, 66 that morning and 121 on 14 Aug). Asocapitales separately counted 243 collapsed structures in the capital cities as of 16 Aug; Cali city officials reported 107 collapsed and 643 structurally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Asocapitales (16 Aug); Alcaldía de Cali (16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402 damaged (UNGRD (06:30 COT cut on 16 Sep 2026, per IOM Colombia Earthquake Response Situation Report #11, posted 25 Sep 2026)), up from 400 at the 6 Sep 06:30 cut (406 at the 31 Aug 06:30 cut, 304 at the 18:30 cut on 16 Aug, 240 that morning).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6 Sep 06:30; Ministry of the Interior (14 Aug); Valle del Cauca government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Educational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4,431 affected (UNGRD (06:30 COT cut on 16 Sep 2026, per IOM Colombia Earthquake Response Situation Report #11, posted 25 Sep 2026)), up from 4,313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Community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6,094 damaged (UNGRD (06:30 COT cut on 16 Sep 2026, per IOM Colombia Earthquake Response Situation Report #11, posted 25 Sep 2026)), up from 6,033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521 roads damaged (UNGRD, 06:30 cut on 7 Sep), up from 491 at the 6 Sep 06:30 cut (468 at 3 Sep, 462 at 31 Aug, 410 at the 18:30 cut on 16 Aug, 210 that morning and 18 on 10 Aug); 102 road bridges and 13 footbridges also damaged (up from 91 road bridges on 6 Sep; against 48 road bridges and 13 footbridges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61</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Airports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13 Aug; civil aviation authority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Cultural heritage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tower of the neo-Gothic Cathedral of Manizales collapsed onto the nave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Mayor of Manizales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141 aqueducts damaged (UNGRD, 06:30 cut on 7 Sep), unchanged from the 6 Sep 06:30 cut (140 at 3 Sep, 122 at 31 Aug, 95 at the 18:30 cut on 16 Aug, 73 that morning); 29 banking offices out of service as of 16 Aug. Power outages and communications disruption reported in areas near the epicentre as of 16 Aug. Separately, IFRC's Operation Update #1 (MDRCO036, 22 Sep) cites Colombia's Ministry of Housing, City and Territory as reporting 137 municipalities with disruptions to water supply, sewerage and solid waste management services, of which 93 had not yet restored these services as of that report - a municipality-count metric distinct from UNGRD's aqueduct-count series above and not reconciled with 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IFRC Operation Update #1 (MDRCO036), 22 Sep 2026 (citing Ministry of Housing, City and Territory)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Animals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3,277 animals affected and 3,003 rescued nationally (UNGRD, 06:30 cut on 7 Sep), unchanged from the 6 Sep 06:30 cut, against 768 affected and 496 rescued at the 16 Aug 18:30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61</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Thousands reported to have left their homes; shelter figures not yet published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Media / humanitarian agencies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Economic damage (estimated)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IFRC's Operation Update #1 (MDRCO036, 22 Sep) cites a UNDP (2026) estimate that direct physical damage to structures amounts to COP 42.1 trillion (USD 13.2 billion), equivalent to approximately 2.3% of Colombia's GDP, concentrated in Risaralda, Valle del Cauca, Choco, Caldas and Quindio. This is the first economic-loss estimate recorded in this report; no earlier UNGRD, OCHA or government figure for total economic damage has been published to compare it against.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Operation Update #1 (MDRCO036), 22 Sep 2026, citing UNDP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61</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29 humanitarian organizations have assisted nearly 123,000 people across 49 affected municipalities, up from 25 organizations / 72,000 people / 36 municipalities in Flash Update 010 (27 Aug). Donors have mobilized more than US$40 million. The Humanitarian Response Plan Addendum continues to seek additional funding to cover needs through the end of the year. OCHA also flags persistent urgent needs and 'double affectation' - communities facing both earthquake damage and risks tied to the armed conflict. OCHA's Flash Update 012 (10 Sep, one month after the earthquake) reports the Government, SNGRD and international partners have assisted more than 135,000 people through multi-sectoral interventions in 53 priority municipalities, up from 123,000 people / 49 municipalities in Flash Update 011. It flags growing challenges to recovery from concurrent crises (armed conflict, wildfires, drought and flooding) and calls for additional, timely funding through the end of 2026. Separately, the Colombian Red Cross/IFRC reports 1,844 volunteers and staff delivered more than 3,600 tonnes of assistance, 5,300+ health support interventions, 15,700+ litres of water and Restoring Family Links support to 4,400+ people over the first month, and IFRC has launched a CHF 25 million (US$30 million) emergency appeal to sustain this response.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012, 10 Sep; IFRC, 10 Sep (one-month statement); OCHA Flash Update 013, 17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61</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(10/10)</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OCHA's Flash Update 013 (17 Sep, 14:00 COT cut) reports more than 137,000 people assisted, up from 135,000 in Flash Update 012 (10 Sep); it restates the same affected-population and housing totals as the 15 Sep UNGRD RUD balance (486,917 people / 303,934 families affected; 36,478 homes destroyed) without indicating any further RUD update, and separately flags concurrent hazards (flooding, wildfires, ongoing seismicity, a volcanic alert and armed-conflict dynamics) as compounding vulnerability in the worst-affected territories.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Secondary hazard - Baudó River flooding (Medio Baudó, Chocó)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Indigenous (Emberá) communities in Medio Baudó faced sudden flooding from the Baudó River about two days after the earthquake, compounding earthquake damage in an area with pre-existing barriers to healthcare and a presence of armed groups.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MSF,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61</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 (version 7)</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 is the USGS rapid impact estimate, issued within minutes and revised as the event is refined. Version 7 was created eleven days after the earthquake and carries a RED alert, raised from the orange alert of the early versions. The alert has two components and the headline level is the higher of them: the fatality alert is orange (significant casualties likely), while the economic alert is red — estimated losses of 0-6% of Colombia's GDP, a level that past events have required a national or international response to meet. The fatality estimate is a probability distribution, not a single number: 33% for 100-1,000 deaths and 32% for 1,000-10,000. The reported toll of 329 (UNGRD, 27 Aug) sits in the 100-1,000 band. Estimated population exposed to MMI VIII is 1.13 million and to MMI VII 5.39 million; the cities carrying MMI VIII exposure include Pereira (591k), Armenia (301k), Zarzal (313k) and Quibdo (131k).
</a:t>
            </a:r>
            <a:endParaRPr lang="en-US" sz="1200" dirty="0"/>
          </a:p>
        </p:txBody>
      </p:sp>
      <p:pic>
        <p:nvPicPr>
          <p:cNvPr id="5" name="Image 1" descr="/tmp/build_event-dLzzVE/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one-pager (version 7) — alert levels, population exposure and selected city exposure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61</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Deaths by Area</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rPr>
                        <a:t>Area</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Deaths</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rPr>
                        <a:t>Valle </a:t>
                      </a:r>
                      <a:pPr algn="l" indent="0" marL="0">
                        <a:buNone/>
                      </a:pPr>
                      <a:r>
                        <a:rPr lang="en-US" sz="1200" dirty="0">
                          <a:solidFill>
                            <a:srgbClr val="222222"/>
                          </a:solidFill>
                        </a:rPr>
                        <a:t>del </a:t>
                      </a:r>
                      <a:pPr algn="l" indent="0" marL="0">
                        <a:buNone/>
                      </a:pPr>
                      <a:r>
                        <a:rPr lang="en-US" sz="1200" dirty="0">
                          <a:solidFill>
                            <a:srgbClr val="222222"/>
                          </a:solidFill>
                        </a:rPr>
                        <a:t>Cauca </a:t>
                      </a:r>
                      <a:pPr algn="l" indent="0" marL="0">
                        <a:buNone/>
                      </a:pPr>
                      <a:r>
                        <a:rPr lang="en-US" sz="1200" dirty="0">
                          <a:solidFill>
                            <a:srgbClr val="222222"/>
                          </a:solidFill>
                        </a:rPr>
                        <a:t>(Cali)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97</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government's </a:t>
                      </a:r>
                      <a:pPr algn="l" indent="0" marL="0">
                        <a:buNone/>
                      </a:pPr>
                      <a:r>
                        <a:rPr lang="en-US" sz="1050" dirty="0">
                          <a:solidFill>
                            <a:srgbClr val="6A6A6A"/>
                          </a:solidFill>
                        </a:rPr>
                        <a:t>count </a:t>
                      </a:r>
                      <a:pPr algn="l" indent="0" marL="0">
                        <a:buNone/>
                      </a:pPr>
                      <a:r>
                        <a:rPr lang="en-US" sz="1050" dirty="0">
                          <a:solidFill>
                            <a:srgbClr val="6A6A6A"/>
                          </a:solidFill>
                        </a:rPr>
                        <a:t>is </a:t>
                      </a:r>
                      <a:pPr algn="l" indent="0" marL="0">
                        <a:buNone/>
                      </a:pPr>
                      <a:r>
                        <a:rPr lang="en-US" sz="1050" dirty="0">
                          <a:solidFill>
                            <a:srgbClr val="6A6A6A"/>
                          </a:solidFill>
                        </a:rPr>
                        <a:t>higher: </a:t>
                      </a:r>
                      <a:pPr algn="l" indent="0" marL="0">
                        <a:buNone/>
                      </a:pPr>
                      <a:r>
                        <a:rPr lang="en-US" sz="1050" dirty="0">
                          <a:solidFill>
                            <a:srgbClr val="6A6A6A"/>
                          </a:solidFill>
                        </a:rPr>
                        <a:t>95 </a:t>
                      </a:r>
                      <a:pPr algn="l" indent="0" marL="0">
                        <a:buNone/>
                      </a:pPr>
                      <a:r>
                        <a:rPr lang="en-US" sz="1050" dirty="0">
                          <a:solidFill>
                            <a:srgbClr val="6A6A6A"/>
                          </a:solidFill>
                        </a:rPr>
                        <a:t>in </a:t>
                      </a:r>
                      <a:pPr algn="l" indent="0" marL="0">
                        <a:buNone/>
                      </a:pPr>
                      <a:r>
                        <a:rPr lang="en-US" sz="1050" dirty="0">
                          <a:solidFill>
                            <a:srgbClr val="6A6A6A"/>
                          </a:solidFill>
                        </a:rPr>
                        <a:t>Cali </a:t>
                      </a:r>
                      <a:pPr algn="l" indent="0" marL="0">
                        <a:buNone/>
                      </a:pPr>
                      <a:r>
                        <a:rPr lang="en-US" sz="1050" dirty="0">
                          <a:solidFill>
                            <a:srgbClr val="6A6A6A"/>
                          </a:solidFill>
                        </a:rPr>
                        <a:t>plus </a:t>
                      </a:r>
                      <a:pPr algn="l" indent="0" marL="0">
                        <a:buNone/>
                      </a:pPr>
                      <a:r>
                        <a:rPr lang="en-US" sz="1050" dirty="0">
                          <a:solidFill>
                            <a:srgbClr val="6A6A6A"/>
                          </a:solidFill>
                        </a:rPr>
                        <a:t>35 </a:t>
                      </a:r>
                      <a:pPr algn="l" indent="0" marL="0">
                        <a:buNone/>
                      </a:pPr>
                      <a:r>
                        <a:rPr lang="en-US" sz="1050" dirty="0">
                          <a:solidFill>
                            <a:srgbClr val="6A6A6A"/>
                          </a:solidFill>
                        </a:rPr>
                        <a:t>in </a:t>
                      </a:r>
                      <a:pPr algn="l" indent="0" marL="0">
                        <a:buNone/>
                      </a:pPr>
                      <a:r>
                        <a:rPr lang="en-US" sz="1050" dirty="0">
                          <a:solidFill>
                            <a:srgbClr val="6A6A6A"/>
                          </a:solidFill>
                        </a:rPr>
                        <a:t>other </a:t>
                      </a:r>
                      <a:pPr algn="l" indent="0" marL="0">
                        <a:buNone/>
                      </a:pPr>
                      <a:r>
                        <a:rPr lang="en-US" sz="1050" dirty="0">
                          <a:solidFill>
                            <a:srgbClr val="6A6A6A"/>
                          </a:solidFill>
                        </a:rPr>
                        <a:t>municipalities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Risaralda </a:t>
                      </a:r>
                      <a:pPr algn="l" indent="0" marL="0">
                        <a:buNone/>
                      </a:pPr>
                      <a:r>
                        <a:rPr lang="en-US" sz="1200" dirty="0">
                          <a:solidFill>
                            <a:srgbClr val="222222"/>
                          </a:solidFill>
                        </a:rPr>
                        <a:t>(Pereira)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66</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around </a:t>
                      </a:r>
                      <a:pPr algn="l" indent="0" marL="0">
                        <a:buNone/>
                      </a:pPr>
                      <a:r>
                        <a:rPr lang="en-US" sz="1050" dirty="0">
                          <a:solidFill>
                            <a:srgbClr val="6A6A6A"/>
                          </a:solidFill>
                        </a:rPr>
                        <a:t>90</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Chocó </a:t>
                      </a:r>
                      <a:pPr algn="l" indent="0" marL="0">
                        <a:buNone/>
                      </a:pPr>
                      <a:r>
                        <a:rPr lang="en-US" sz="1200" dirty="0">
                          <a:solidFill>
                            <a:srgbClr val="222222"/>
                          </a:solidFill>
                        </a:rPr>
                        <a:t>(Quibdó)</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Chocó </a:t>
                      </a:r>
                      <a:pPr algn="l" indent="0" marL="0">
                        <a:buNone/>
                      </a:pPr>
                      <a:r>
                        <a:rPr lang="en-US" sz="1050" dirty="0">
                          <a:solidFill>
                            <a:srgbClr val="6A6A6A"/>
                          </a:solidFill>
                        </a:rPr>
                        <a:t>closed </a:t>
                      </a:r>
                      <a:pPr algn="l" indent="0" marL="0">
                        <a:buNone/>
                      </a:pPr>
                      <a:r>
                        <a:rPr lang="en-US" sz="1050" dirty="0">
                          <a:solidFill>
                            <a:srgbClr val="6A6A6A"/>
                          </a:solidFill>
                        </a:rPr>
                        <a:t>its </a:t>
                      </a:r>
                      <a:pPr algn="l" indent="0" marL="0">
                        <a:buNone/>
                      </a:pPr>
                      <a:r>
                        <a:rPr lang="en-US" sz="1050" dirty="0">
                          <a:solidFill>
                            <a:srgbClr val="6A6A6A"/>
                          </a:solidFill>
                        </a:rPr>
                        <a:t>search </a:t>
                      </a:r>
                      <a:pPr algn="l" indent="0" marL="0">
                        <a:buNone/>
                      </a:pPr>
                      <a:r>
                        <a:rPr lang="en-US" sz="1050" dirty="0">
                          <a:solidFill>
                            <a:srgbClr val="6A6A6A"/>
                          </a:solidFill>
                        </a:rPr>
                        <a:t>phase </a:t>
                      </a:r>
                      <a:pPr algn="l" indent="0" marL="0">
                        <a:buNone/>
                      </a:pPr>
                      <a:r>
                        <a:rPr lang="en-US" sz="1050" dirty="0">
                          <a:solidFill>
                            <a:srgbClr val="6A6A6A"/>
                          </a:solidFill>
                        </a:rPr>
                        <a:t>on </a:t>
                      </a:r>
                      <a:pPr algn="l" indent="0" marL="0">
                        <a:buNone/>
                      </a:pPr>
                      <a:r>
                        <a:rPr lang="en-US" sz="1050" dirty="0">
                          <a:solidFill>
                            <a:srgbClr val="6A6A6A"/>
                          </a:solidFill>
                        </a:rPr>
                        <a:t>12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14 </a:t>
                      </a:r>
                      <a:pPr algn="l" indent="0" marL="0">
                        <a:buNone/>
                      </a:pPr>
                      <a:r>
                        <a:rPr lang="en-US" sz="1050" dirty="0">
                          <a:solidFill>
                            <a:srgbClr val="6A6A6A"/>
                          </a:solidFill>
                        </a:rPr>
                        <a:t>dead </a:t>
                      </a:r>
                      <a:pPr algn="l" indent="0" marL="0">
                        <a:buNone/>
                      </a:pPr>
                      <a:r>
                        <a:rPr lang="en-US" sz="1050" dirty="0">
                          <a:solidFill>
                            <a:srgbClr val="6A6A6A"/>
                          </a:solidFill>
                        </a:rPr>
                        <a:t>and </a:t>
                      </a:r>
                      <a:pPr algn="l" indent="0" marL="0">
                        <a:buNone/>
                      </a:pPr>
                      <a:r>
                        <a:rPr lang="en-US" sz="1050" dirty="0">
                          <a:solidFill>
                            <a:srgbClr val="6A6A6A"/>
                          </a:solidFill>
                        </a:rPr>
                        <a:t>138 </a:t>
                      </a:r>
                      <a:pPr algn="l" indent="0" marL="0">
                        <a:buNone/>
                      </a:pPr>
                      <a:r>
                        <a:rPr lang="en-US" sz="1050" dirty="0">
                          <a:solidFill>
                            <a:srgbClr val="6A6A6A"/>
                          </a:solidFill>
                        </a:rPr>
                        <a:t>injured.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Caldas </a:t>
                      </a:r>
                      <a:pPr algn="l" indent="0" marL="0">
                        <a:buNone/>
                      </a:pPr>
                      <a:r>
                        <a:rPr lang="en-US" sz="1200" dirty="0">
                          <a:solidFill>
                            <a:srgbClr val="222222"/>
                          </a:solidFill>
                        </a:rPr>
                        <a:t>(Manizales)</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5</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Reported </a:t>
                      </a:r>
                      <a:pPr algn="l" indent="0" marL="0">
                        <a:buNone/>
                      </a:pPr>
                      <a:r>
                        <a:rPr lang="en-US" sz="1050" dirty="0">
                          <a:solidFill>
                            <a:srgbClr val="6A6A6A"/>
                          </a:solidFill>
                        </a:rPr>
                        <a:t>as </a:t>
                      </a:r>
                      <a:pPr algn="l" indent="0" marL="0">
                        <a:buNone/>
                      </a:pPr>
                      <a:r>
                        <a:rPr lang="en-US" sz="1050" dirty="0">
                          <a:solidFill>
                            <a:srgbClr val="6A6A6A"/>
                          </a:solidFill>
                        </a:rPr>
                        <a:t>2, </a:t>
                      </a:r>
                      <a:pPr algn="l" indent="0" marL="0">
                        <a:buNone/>
                      </a:pPr>
                      <a:r>
                        <a:rPr lang="en-US" sz="1050" dirty="0">
                          <a:solidFill>
                            <a:srgbClr val="6A6A6A"/>
                          </a:solidFill>
                        </a:rPr>
                        <a:t>then </a:t>
                      </a:r>
                      <a:pPr algn="l" indent="0" marL="0">
                        <a:buNone/>
                      </a:pPr>
                      <a:r>
                        <a:rPr lang="en-US" sz="1050" dirty="0">
                          <a:solidFill>
                            <a:srgbClr val="6A6A6A"/>
                          </a:solidFill>
                        </a:rPr>
                        <a:t>4, </a:t>
                      </a:r>
                      <a:pPr algn="l" indent="0" marL="0">
                        <a:buNone/>
                      </a:pPr>
                      <a:r>
                        <a:rPr lang="en-US" sz="1050" dirty="0">
                          <a:solidFill>
                            <a:srgbClr val="6A6A6A"/>
                          </a:solidFill>
                        </a:rPr>
                        <a:t>then </a:t>
                      </a:r>
                      <a:pPr algn="l" indent="0" marL="0">
                        <a:buNone/>
                      </a:pPr>
                      <a:r>
                        <a:rPr lang="en-US" sz="1050" dirty="0">
                          <a:solidFill>
                            <a:srgbClr val="6A6A6A"/>
                          </a:solidFill>
                        </a:rPr>
                        <a:t>5</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Antioquia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1</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73-year-old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61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Population Exposure by Shaking Intensity</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rPr>
                        <a:t>MMI</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Level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Exposed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rPr>
                        <a:t>VIII+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Severe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No </a:t>
                      </a:r>
                      <a:pPr algn="l" indent="0" marL="0">
                        <a:buNone/>
                      </a:pPr>
                      <a:r>
                        <a:rPr lang="en-US" sz="1050" dirty="0">
                          <a:solidFill>
                            <a:srgbClr val="6A6A6A"/>
                          </a:solidFill>
                        </a:rPr>
                        <a:t>population </a:t>
                      </a:r>
                      <a:pPr algn="l" indent="0" marL="0">
                        <a:buNone/>
                      </a:pPr>
                      <a:r>
                        <a:rPr lang="en-US" sz="1050" dirty="0">
                          <a:solidFill>
                            <a:srgbClr val="6A6A6A"/>
                          </a:solidFill>
                        </a:rPr>
                        <a:t>estimated </a:t>
                      </a:r>
                      <a:pPr algn="l" indent="0" marL="0">
                        <a:buNone/>
                      </a:pPr>
                      <a:r>
                        <a:rPr lang="en-US" sz="1050" dirty="0">
                          <a:solidFill>
                            <a:srgbClr val="6A6A6A"/>
                          </a:solidFill>
                        </a:rPr>
                        <a:t>at </a:t>
                      </a:r>
                      <a:pPr algn="l" indent="0" marL="0">
                        <a:buNone/>
                      </a:pPr>
                      <a:r>
                        <a:rPr lang="en-US" sz="1050" dirty="0">
                          <a:solidFill>
                            <a:srgbClr val="6A6A6A"/>
                          </a:solidFill>
                        </a:rPr>
                        <a:t>MMI </a:t>
                      </a:r>
                      <a:pPr algn="l" indent="0" marL="0">
                        <a:buNone/>
                      </a:pPr>
                      <a:r>
                        <a:rPr lang="en-US" sz="1050" dirty="0">
                          <a:solidFill>
                            <a:srgbClr val="6A6A6A"/>
                          </a:solidFill>
                        </a:rPr>
                        <a:t>VIII </a:t>
                      </a:r>
                      <a:pPr algn="l" indent="0" marL="0">
                        <a:buNone/>
                      </a:pPr>
                      <a:r>
                        <a:rPr lang="en-US" sz="1050" dirty="0">
                          <a:solidFill>
                            <a:srgbClr val="6A6A6A"/>
                          </a:solidFill>
                        </a:rPr>
                        <a:t>or </a:t>
                      </a:r>
                      <a:pPr algn="l" indent="0" marL="0">
                        <a:buNone/>
                      </a:pPr>
                      <a:r>
                        <a:rPr lang="en-US" sz="1050" dirty="0">
                          <a:solidFill>
                            <a:srgbClr val="6A6A6A"/>
                          </a:solidFill>
                        </a:rPr>
                        <a:t>above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Very </a:t>
                      </a:r>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1,564,000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Pereira </a:t>
                      </a:r>
                      <a:pPr algn="l" indent="0" marL="0">
                        <a:buNone/>
                      </a:pPr>
                      <a:r>
                        <a:rPr lang="en-US" sz="1050" dirty="0">
                          <a:solidFill>
                            <a:srgbClr val="6A6A6A"/>
                          </a:solidFill>
                        </a:rPr>
                        <a:t>(591k), </a:t>
                      </a:r>
                      <a:pPr algn="l" indent="0" marL="0">
                        <a:buNone/>
                      </a:pPr>
                      <a:r>
                        <a:rPr lang="en-US" sz="1050" dirty="0">
                          <a:solidFill>
                            <a:srgbClr val="6A6A6A"/>
                          </a:solidFill>
                        </a:rPr>
                        <a:t>Armenia </a:t>
                      </a:r>
                      <a:pPr algn="l" indent="0" marL="0">
                        <a:buNone/>
                      </a:pPr>
                      <a:r>
                        <a:rPr lang="en-US" sz="1050" dirty="0">
                          <a:solidFill>
                            <a:srgbClr val="6A6A6A"/>
                          </a:solidFill>
                        </a:rPr>
                        <a:t>(301k) </a:t>
                      </a:r>
                      <a:pPr algn="l" indent="0" marL="0">
                        <a:buNone/>
                      </a:pPr>
                      <a:r>
                        <a:rPr lang="en-US" sz="1050" dirty="0">
                          <a:solidFill>
                            <a:srgbClr val="6A6A6A"/>
                          </a:solidFill>
                        </a:rPr>
                        <a:t>and </a:t>
                      </a:r>
                      <a:pPr algn="l" indent="0" marL="0">
                        <a:buNone/>
                      </a:pPr>
                      <a:r>
                        <a:rPr lang="en-US" sz="1050" dirty="0">
                          <a:solidFill>
                            <a:srgbClr val="6A6A6A"/>
                          </a:solidFill>
                        </a:rPr>
                        <a:t>Cartago </a:t>
                      </a:r>
                      <a:pPr algn="l" indent="0" marL="0">
                        <a:buNone/>
                      </a:pPr>
                      <a:r>
                        <a:rPr lang="en-US" sz="1050" dirty="0">
                          <a:solidFill>
                            <a:srgbClr val="6A6A6A"/>
                          </a:solidFill>
                        </a:rPr>
                        <a:t>(135k)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VI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8,888,000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Cali </a:t>
                      </a:r>
                      <a:pPr algn="l" indent="0" marL="0">
                        <a:buNone/>
                      </a:pPr>
                      <a:r>
                        <a:rPr lang="en-US" sz="1050" dirty="0">
                          <a:solidFill>
                            <a:srgbClr val="6A6A6A"/>
                          </a:solidFill>
                        </a:rPr>
                        <a:t>(2,471k), </a:t>
                      </a:r>
                      <a:pPr algn="l" indent="0" marL="0">
                        <a:buNone/>
                      </a:pPr>
                      <a:r>
                        <a:rPr lang="en-US" sz="1050" dirty="0">
                          <a:solidFill>
                            <a:srgbClr val="6A6A6A"/>
                          </a:solidFill>
                        </a:rPr>
                        <a:t>Buenaventura </a:t>
                      </a:r>
                      <a:pPr algn="l" indent="0" marL="0">
                        <a:buNone/>
                      </a:pPr>
                      <a:r>
                        <a:rPr lang="en-US" sz="1050" dirty="0">
                          <a:solidFill>
                            <a:srgbClr val="6A6A6A"/>
                          </a:solidFill>
                        </a:rPr>
                        <a:t>(424k) </a:t>
                      </a:r>
                      <a:pPr algn="l" indent="0" marL="0">
                        <a:buNone/>
                      </a:pPr>
                      <a:r>
                        <a:rPr lang="en-US" sz="1050" dirty="0">
                          <a:solidFill>
                            <a:srgbClr val="6A6A6A"/>
                          </a:solidFill>
                        </a:rPr>
                        <a:t>and </a:t>
                      </a:r>
                      <a:pPr algn="l" indent="0" marL="0">
                        <a:buNone/>
                      </a:pPr>
                      <a:r>
                        <a:rPr lang="en-US" sz="1050" dirty="0">
                          <a:solidFill>
                            <a:srgbClr val="6A6A6A"/>
                          </a:solidFill>
                        </a:rPr>
                        <a:t>Palmira </a:t>
                      </a:r>
                      <a:pPr algn="l" indent="0" marL="0">
                        <a:buNone/>
                      </a:pPr>
                      <a:r>
                        <a:rPr lang="en-US" sz="1050" dirty="0">
                          <a:solidFill>
                            <a:srgbClr val="6A6A6A"/>
                          </a:solidFill>
                        </a:rPr>
                        <a:t>(349k)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Moderate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17,076,000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The </a:t>
                      </a:r>
                      <a:pPr algn="l" indent="0" marL="0">
                        <a:buNone/>
                      </a:pPr>
                      <a:r>
                        <a:rPr lang="en-US" sz="1050" dirty="0">
                          <a:solidFill>
                            <a:srgbClr val="6A6A6A"/>
                          </a:solidFill>
                        </a:rPr>
                        <a:t>largest </a:t>
                      </a:r>
                      <a:pPr algn="l" indent="0" marL="0">
                        <a:buNone/>
                      </a:pPr>
                      <a:r>
                        <a:rPr lang="en-US" sz="1050" dirty="0">
                          <a:solidFill>
                            <a:srgbClr val="6A6A6A"/>
                          </a:solidFill>
                        </a:rPr>
                        <a:t>exposed </a:t>
                      </a:r>
                      <a:pPr algn="l" indent="0" marL="0">
                        <a:buNone/>
                      </a:pPr>
                      <a:r>
                        <a:rPr lang="en-US" sz="1050" dirty="0">
                          <a:solidFill>
                            <a:srgbClr val="6A6A6A"/>
                          </a:solidFill>
                        </a:rPr>
                        <a:t>group</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IV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Light</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6,465,000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Reaches </a:t>
                      </a:r>
                      <a:pPr algn="l" indent="0" marL="0">
                        <a:buNone/>
                      </a:pPr>
                      <a:r>
                        <a:rPr lang="en-US" sz="1050" dirty="0">
                          <a:solidFill>
                            <a:srgbClr val="6A6A6A"/>
                          </a:solidFill>
                        </a:rPr>
                        <a:t>Bogotá </a:t>
                      </a:r>
                      <a:pPr algn="l" indent="0" marL="0">
                        <a:buNone/>
                      </a:pPr>
                      <a:r>
                        <a:rPr lang="en-US" sz="1050" dirty="0">
                          <a:solidFill>
                            <a:srgbClr val="6A6A6A"/>
                          </a:solidFill>
                        </a:rPr>
                        <a:t>and </a:t>
                      </a:r>
                      <a:pPr algn="l" indent="0" marL="0">
                        <a:buNone/>
                      </a:pPr>
                      <a:r>
                        <a:rPr lang="en-US" sz="1050" dirty="0">
                          <a:solidFill>
                            <a:srgbClr val="6A6A6A"/>
                          </a:solidFill>
                        </a:rPr>
                        <a:t>Medellín</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 (version 5) exposure estimates. About 10.5 million people were exposed to Strong or Very Strong shaking (MMI VI-VII) and about 34 million to MMI IV or above across four countries. These are model estimates.</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61</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(1/2)</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Three days of national mourning declared by Decree 1172 from 12 August, with the flag at half-mast on all public buildings and at Colombian embassies and consulates abroad.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Patients transferred from the damaged University Hospital in Cali to other facilities; the city reported casualties concentrated at 12 critical collapse sites.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President toured the affected regions on 11-12 August - Quibdó, then Cali, then Pereira, Dosquebradas, Manizales and Armenia - and said he would direct the response from the field rather than Bogotá.</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61</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(2/2)</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activated a temporary economic subsidy, announced 2 September, for families registered in the Single Registry of Victims (RUD) whose homes were destroyed or declared uninhabitable by the 10 August earthquake: a monthly payment of between COP 787,907 and COP 1,050,543 (depending on the municipality's category) for three months. UNGRD stresses that only municipal and departmental authorities may register households in the RUD; affected people cannot register directly, and any correction must go through the relevant territorial entity.</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61</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(1/3)</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States: USD 15.5 million in emergency assistance announced on 10 August, for emergency shelter, food, protection and damage assessment.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61</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(2/3)</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 the NGO AMDA also dispatched a nurse (30 Aug) and, with AMDA Colombia and Fundación Salamandra, supported relief in Cali and Chocó until concluding its emergency-phase response on 4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Ecuador mobilised a specialised USAR team of 47 personnel with canine units and self-sufficient equipment.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61</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(3/3)</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International Charter 'Space and Major Disasters' is also reported to have been activated for this earthquake; the activation number had not been confirmed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director David Santiago Tamayo Roldan and deputy director for disaster management Hernan Dario Diaz Diaz met with Nils Grede, WFP Colombia's representative and country director, to coordinate food-assistance actions for families affected by the 10 August earthquake.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One month on, the ICRC reports its response (with the Colombian Red Cross) in rural Chocó and Valle del Cauca, focused on communities also affected by armed conflict: more than 2,000 families supported for safe water storage/access and construction materials; materials to repair educational facilities in 10 communities serving 755 students; 15 health clinics in Chocó received rapid-response kits; 7,495 people (1,759 families) received food assistance; 7,037 hygiene items and 1,127 shelter kits distributed; cash assistance reached 400 people for food, 40 for livelihoods and 168 for temporary housing costs. The response is expected to continue 6-9 months.</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61</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for the Colombia earthquake reported; wide-area optical/SAR imagery for damage assessment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 / 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TBC</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 'Earthquake in Colombia' — Rapid Mapping for damage assessment; requested by EC Services / DG ECHO; 3 AOIs, 3 products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 (EMSR916)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 PAGER (Orange), finite-fault and aftershock catalogue</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Overall Orange alert; population exposure and impact estimates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National seismic network: hypocentre, magnitude revision, aftershock bulletins, accelerographic records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Not applicable - the mechanism covers the Asia-Pacific region; Colombia is served by the International Charter and Copernicus EMS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International Charter 'Space and Major Disasters'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61</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 EMSR916</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rPr>
                        <a:t>Activation</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EMSR916 — Earthquake in 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10/08/2026 afternoon (UTC)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Activation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10/08/2026, 17:13 (UTC) = 12:13 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type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Earthquake / Ground shaking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Affected country</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Authorised user</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EC Services | DG ECHO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Service output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3 AOIs · 3 products · 0 maps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Status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ONGOING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Activation reason
</a:t>
            </a:r>
            <a:pPr algn="l" indent="0" marL="0">
              <a:buNone/>
            </a:pPr>
            <a:r>
              <a:rPr lang="en-US" sz="1050" dirty="0">
                <a:solidFill>
                  <a:srgbClr val="222222"/>
                </a:solidFill>
                <a:latin typeface="Meiryo" pitchFamily="34" charset="0"/>
                <a:ea typeface="Meiryo" pitchFamily="34" charset="-122"/>
                <a:cs typeface="Meiryo"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
</a:t>
            </a:r>
            <a:pPr algn="l" indent="0" marL="0">
              <a:buNone/>
            </a:pPr>
            <a:r>
              <a:rPr lang="en-US" sz="1050" i="1" dirty="0">
                <a:solidFill>
                  <a:srgbClr val="6A6A6A"/>
                </a:solidFill>
                <a:latin typeface="Meiryo" pitchFamily="34" charset="0"/>
                <a:ea typeface="Meiryo" pitchFamily="34" charset="-122"/>
                <a:cs typeface="Meiryo" pitchFamily="34" charset="-120"/>
              </a:rPr>
              <a:t>Rapid Mapping delivers reference and grading products over selected areas of interest, not nationwide coverage. Products are published on the activation page as they are produced and are free to use.
</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61</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Disaster Risk Management System</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
</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UNGRD - national coordinating agency under the Presidency; runs the national response, the disaster fund (FNGRD) and the national information system.</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Departmental and municipal risk management councils (CDGRD / CMGRD) carry out first response; UNGRD reinforces when local capacity is exceeded.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PNGRD 2015-2030 — the national disaster risk management plan, adopted by Decree 308 of 2016 and updated by Decree 1478 of 3 August 2022; aligned with the Sendai Framework and monitored annually by UNGRD.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The SGC operates the National Seismological Network and the national accelerograph network, and issues public bulletins within minutes.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1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61</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Damaging Earthquakes</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rPr>
                        <a:t>Year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Event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Impact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rPr>
                        <a:t>1906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Ecuador-Colombia </a:t>
                      </a:r>
                      <a:pPr algn="l" indent="0" marL="0">
                        <a:buNone/>
                      </a:pPr>
                      <a:r>
                        <a:rPr lang="en-US" sz="1150" dirty="0">
                          <a:solidFill>
                            <a:srgbClr val="222222"/>
                          </a:solidFill>
                        </a:rPr>
                        <a:t>earthquake </a:t>
                      </a:r>
                      <a:pPr algn="l" indent="0" marL="0">
                        <a:buNone/>
                      </a:pPr>
                      <a:r>
                        <a:rPr lang="en-US" sz="1150" dirty="0">
                          <a:solidFill>
                            <a:srgbClr val="222222"/>
                          </a:solidFill>
                        </a:rPr>
                        <a:t>(Pacific </a:t>
                      </a:r>
                      <a:pPr algn="l" indent="0" marL="0">
                        <a:buNone/>
                      </a:pPr>
                      <a:r>
                        <a:rPr lang="en-US" sz="1150" dirty="0">
                          <a:solidFill>
                            <a:srgbClr val="222222"/>
                          </a:solidFill>
                        </a:rPr>
                        <a:t>coast)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M8.8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One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earthquakes </a:t>
                      </a:r>
                      <a:pPr algn="l" indent="0" marL="0">
                        <a:buNone/>
                      </a:pPr>
                      <a:r>
                        <a:rPr lang="en-US" sz="1050" dirty="0">
                          <a:solidFill>
                            <a:srgbClr val="222222"/>
                          </a:solidFill>
                        </a:rPr>
                        <a:t>ever </a:t>
                      </a:r>
                      <a:pPr algn="l" indent="0" marL="0">
                        <a:buNone/>
                      </a:pPr>
                      <a:r>
                        <a:rPr lang="en-US" sz="1050" dirty="0">
                          <a:solidFill>
                            <a:srgbClr val="222222"/>
                          </a:solidFill>
                        </a:rPr>
                        <a:t>recorded; </a:t>
                      </a:r>
                      <a:pPr algn="l" indent="0" marL="0">
                        <a:buNone/>
                      </a:pPr>
                      <a:r>
                        <a:rPr lang="en-US" sz="1050" dirty="0">
                          <a:solidFill>
                            <a:srgbClr val="222222"/>
                          </a:solidFill>
                        </a:rPr>
                        <a:t>destructive </a:t>
                      </a:r>
                      <a:pPr algn="l" indent="0" marL="0">
                        <a:buNone/>
                      </a:pPr>
                      <a:r>
                        <a:rPr lang="en-US" sz="1050" dirty="0">
                          <a:solidFill>
                            <a:srgbClr val="222222"/>
                          </a:solidFill>
                        </a:rPr>
                        <a:t>tsunami </a:t>
                      </a:r>
                      <a:pPr algn="l" indent="0" marL="0">
                        <a:buNone/>
                      </a:pPr>
                      <a:r>
                        <a:rPr lang="en-US" sz="1050" dirty="0">
                          <a:solidFill>
                            <a:srgbClr val="222222"/>
                          </a:solidFill>
                        </a:rPr>
                        <a:t>on </a:t>
                      </a:r>
                      <a:pPr algn="l" indent="0" marL="0">
                        <a:buNone/>
                      </a:pPr>
                      <a:r>
                        <a:rPr lang="en-US" sz="1050" dirty="0">
                          <a:solidFill>
                            <a:srgbClr val="222222"/>
                          </a:solidFill>
                        </a:rPr>
                        <a:t>the </a:t>
                      </a:r>
                      <a:pPr algn="l" indent="0" marL="0">
                        <a:buNone/>
                      </a:pPr>
                      <a:r>
                        <a:rPr lang="en-US" sz="1050" dirty="0">
                          <a:solidFill>
                            <a:srgbClr val="222222"/>
                          </a:solidFill>
                        </a:rPr>
                        <a:t>Pacific </a:t>
                      </a:r>
                      <a:pPr algn="l" indent="0" marL="0">
                        <a:buNone/>
                      </a:pPr>
                      <a:r>
                        <a:rPr lang="en-US" sz="1050" dirty="0">
                          <a:solidFill>
                            <a:srgbClr val="222222"/>
                          </a:solidFill>
                        </a:rPr>
                        <a:t>coast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1925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Cali </a:t>
                      </a:r>
                      <a:pPr algn="l" indent="0" marL="0">
                        <a:buNone/>
                      </a:pPr>
                      <a:r>
                        <a:rPr lang="en-US" sz="1150" dirty="0">
                          <a:solidFill>
                            <a:srgbClr val="222222"/>
                          </a:solidFill>
                        </a:rPr>
                        <a:t>earthquake </a:t>
                      </a:r>
                      <a:pPr algn="l" indent="0" marL="0">
                        <a:buNone/>
                      </a:pPr>
                      <a:r>
                        <a:rPr lang="en-US" sz="1150" dirty="0">
                          <a:solidFill>
                            <a:srgbClr val="222222"/>
                          </a:solidFill>
                        </a:rPr>
                        <a:t>(Valle </a:t>
                      </a:r>
                      <a:pPr algn="l" indent="0" marL="0">
                        <a:buNone/>
                      </a:pPr>
                      <a:r>
                        <a:rPr lang="en-US" sz="1150" dirty="0">
                          <a:solidFill>
                            <a:srgbClr val="222222"/>
                          </a:solidFill>
                        </a:rPr>
                        <a:t>del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reference </a:t>
                      </a:r>
                      <a:pPr algn="l" indent="0" marL="0">
                        <a:buNone/>
                      </a:pPr>
                      <a:r>
                        <a:rPr lang="en-US" sz="1050" dirty="0">
                          <a:solidFill>
                            <a:srgbClr val="222222"/>
                          </a:solidFill>
                        </a:rPr>
                        <a:t>historical </a:t>
                      </a:r>
                      <a:pPr algn="l" indent="0" marL="0">
                        <a:buNone/>
                      </a:pPr>
                      <a:r>
                        <a:rPr lang="en-US" sz="1050" dirty="0">
                          <a:solidFill>
                            <a:srgbClr val="222222"/>
                          </a:solidFill>
                        </a:rPr>
                        <a:t>event </a:t>
                      </a:r>
                      <a:pPr algn="l" indent="0" marL="0">
                        <a:buNone/>
                      </a:pPr>
                      <a:r>
                        <a:rPr lang="en-US" sz="1050" dirty="0">
                          <a:solidFill>
                            <a:srgbClr val="222222"/>
                          </a:solidFill>
                        </a:rPr>
                        <a:t>for </a:t>
                      </a:r>
                      <a:pPr algn="l" indent="0" marL="0">
                        <a:buNone/>
                      </a:pPr>
                      <a:r>
                        <a:rPr lang="en-US" sz="1050" dirty="0">
                          <a:solidFill>
                            <a:srgbClr val="222222"/>
                          </a:solidFill>
                        </a:rPr>
                        <a:t>Cali; </a:t>
                      </a:r>
                      <a:pPr algn="l" indent="0" marL="0">
                        <a:buNone/>
                      </a:pPr>
                      <a:r>
                        <a:rPr lang="en-US" sz="1050" dirty="0">
                          <a:solidFill>
                            <a:srgbClr val="222222"/>
                          </a:solidFill>
                        </a:rPr>
                        <a:t>the </a:t>
                      </a:r>
                      <a:pPr algn="l" indent="0" marL="0">
                        <a:buNone/>
                      </a:pPr>
                      <a:r>
                        <a:rPr lang="en-US" sz="1050" dirty="0">
                          <a:solidFill>
                            <a:srgbClr val="222222"/>
                          </a:solidFill>
                        </a:rPr>
                        <a:t>city </a:t>
                      </a:r>
                      <a:pPr algn="l" indent="0" marL="0">
                        <a:buNone/>
                      </a:pPr>
                      <a:r>
                        <a:rPr lang="en-US" sz="1050" dirty="0">
                          <a:solidFill>
                            <a:srgbClr val="222222"/>
                          </a:solidFill>
                        </a:rPr>
                        <a:t>was </a:t>
                      </a:r>
                      <a:pPr algn="l" indent="0" marL="0">
                        <a:buNone/>
                      </a:pPr>
                      <a:r>
                        <a:rPr lang="en-US" sz="1050" dirty="0">
                          <a:solidFill>
                            <a:srgbClr val="222222"/>
                          </a:solidFill>
                        </a:rPr>
                        <a:t>also </a:t>
                      </a:r>
                      <a:pPr algn="l" indent="0" marL="0">
                        <a:buNone/>
                      </a:pPr>
                      <a:r>
                        <a:rPr lang="en-US" sz="1050" dirty="0">
                          <a:solidFill>
                            <a:srgbClr val="222222"/>
                          </a:solidFill>
                        </a:rPr>
                        <a:t>shaken </a:t>
                      </a:r>
                      <a:pPr algn="l" indent="0" marL="0">
                        <a:buNone/>
                      </a:pPr>
                      <a:r>
                        <a:rPr lang="en-US" sz="1050" dirty="0">
                          <a:solidFill>
                            <a:srgbClr val="222222"/>
                          </a:solidFill>
                        </a:rPr>
                        <a:t>in </a:t>
                      </a:r>
                      <a:pPr algn="l" indent="0" marL="0">
                        <a:buNone/>
                      </a:pPr>
                      <a:r>
                        <a:rPr lang="en-US" sz="1050" dirty="0">
                          <a:solidFill>
                            <a:srgbClr val="222222"/>
                          </a:solidFill>
                        </a:rPr>
                        <a:t>1995 </a:t>
                      </a:r>
                      <a:pPr algn="l" indent="0" marL="0">
                        <a:buNone/>
                      </a:pPr>
                      <a:r>
                        <a:rPr lang="en-US" sz="1050" dirty="0">
                          <a:solidFill>
                            <a:srgbClr val="222222"/>
                          </a:solidFill>
                        </a:rPr>
                        <a:t>and </a:t>
                      </a:r>
                      <a:pPr algn="l" indent="0" marL="0">
                        <a:buNone/>
                      </a:pPr>
                      <a:r>
                        <a:rPr lang="en-US" sz="1050" dirty="0">
                          <a:solidFill>
                            <a:srgbClr val="222222"/>
                          </a:solidFill>
                        </a:rPr>
                        <a:t>2004, </a:t>
                      </a:r>
                      <a:pPr algn="l" indent="0" marL="0">
                        <a:buNone/>
                      </a:pPr>
                      <a:r>
                        <a:rPr lang="en-US" sz="1050" dirty="0">
                          <a:solidFill>
                            <a:srgbClr val="222222"/>
                          </a:solidFill>
                        </a:rPr>
                        <a:t>the </a:t>
                      </a:r>
                      <a:pPr algn="l" indent="0" marL="0">
                        <a:buNone/>
                      </a:pPr>
                      <a:r>
                        <a:rPr lang="en-US" sz="1050" dirty="0">
                          <a:solidFill>
                            <a:srgbClr val="222222"/>
                          </a:solidFill>
                        </a:rPr>
                        <a:t>latter </a:t>
                      </a:r>
                      <a:pPr algn="l" indent="0" marL="0">
                        <a:buNone/>
                      </a:pPr>
                      <a:r>
                        <a:rPr lang="en-US" sz="1050" dirty="0">
                          <a:solidFill>
                            <a:srgbClr val="222222"/>
                          </a:solidFill>
                        </a:rPr>
                        <a:t>damaging </a:t>
                      </a:r>
                      <a:pPr algn="l" indent="0" marL="0">
                        <a:buNone/>
                      </a:pPr>
                      <a:r>
                        <a:rPr lang="en-US" sz="1050" dirty="0">
                          <a:solidFill>
                            <a:srgbClr val="222222"/>
                          </a:solidFill>
                        </a:rPr>
                        <a:t>clinics </a:t>
                      </a:r>
                      <a:pPr algn="l" indent="0" marL="0">
                        <a:buNone/>
                      </a:pPr>
                      <a:r>
                        <a:rPr lang="en-US" sz="1050" dirty="0">
                          <a:solidFill>
                            <a:srgbClr val="222222"/>
                          </a:solidFill>
                        </a:rPr>
                        <a:t>and </a:t>
                      </a:r>
                      <a:pPr algn="l" indent="0" marL="0">
                        <a:buNone/>
                      </a:pPr>
                      <a:r>
                        <a:rPr lang="en-US" sz="1050" dirty="0">
                          <a:solidFill>
                            <a:srgbClr val="222222"/>
                          </a:solidFill>
                        </a:rPr>
                        <a:t>residential </a:t>
                      </a:r>
                      <a:pPr algn="l" indent="0" marL="0">
                        <a:buNone/>
                      </a:pPr>
                      <a:r>
                        <a:rPr lang="en-US" sz="1050" dirty="0">
                          <a:solidFill>
                            <a:srgbClr val="222222"/>
                          </a:solidFill>
                        </a:rPr>
                        <a:t>buildings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Coffee </a:t>
                      </a:r>
                      <a:pPr algn="l" indent="0" marL="0">
                        <a:buNone/>
                      </a:pPr>
                      <a:r>
                        <a:rPr lang="en-US" sz="1150" dirty="0">
                          <a:solidFill>
                            <a:srgbClr val="222222"/>
                          </a:solidFill>
                        </a:rPr>
                        <a:t>Region </a:t>
                      </a:r>
                      <a:pPr algn="l" indent="0" marL="0">
                        <a:buNone/>
                      </a:pPr>
                      <a:r>
                        <a:rPr lang="en-US" sz="1150" dirty="0">
                          <a:solidFill>
                            <a:srgbClr val="222222"/>
                          </a:solidFill>
                        </a:rPr>
                        <a:t>earthquake </a:t>
                      </a:r>
                      <a:pPr algn="l" indent="0" marL="0">
                        <a:buNone/>
                      </a:pPr>
                      <a:r>
                        <a:rPr lang="en-US" sz="1150" dirty="0">
                          <a:solidFill>
                            <a:srgbClr val="222222"/>
                          </a:solidFill>
                        </a:rPr>
                        <a:t>(deep, </a:t>
                      </a:r>
                      <a:pPr algn="l" indent="0" marL="0">
                        <a:buNone/>
                      </a:pPr>
                      <a:r>
                        <a:rPr lang="en-US" sz="1150" dirty="0">
                          <a:solidFill>
                            <a:srgbClr val="222222"/>
                          </a:solidFill>
                        </a:rPr>
                        <a:t>150 </a:t>
                      </a:r>
                      <a:pPr algn="l" indent="0" marL="0">
                        <a:buNone/>
                      </a:pPr>
                      <a:r>
                        <a:rPr lang="en-US" sz="1150" dirty="0">
                          <a:solidFill>
                            <a:srgbClr val="222222"/>
                          </a:solidFill>
                        </a:rPr>
                        <a:t>km)</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An </a:t>
                      </a:r>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beneath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coffee-growing </a:t>
                      </a:r>
                      <a:pPr algn="l" indent="0" marL="0">
                        <a:buNone/>
                      </a:pPr>
                      <a:r>
                        <a:rPr lang="en-US" sz="1050" dirty="0">
                          <a:solidFill>
                            <a:srgbClr val="222222"/>
                          </a:solidFill>
                        </a:rPr>
                        <a:t>departments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closest </a:t>
                      </a:r>
                      <a:pPr algn="l" indent="0" marL="0">
                        <a:buNone/>
                      </a:pPr>
                      <a:r>
                        <a:rPr lang="en-US" sz="1050" dirty="0">
                          <a:solidFill>
                            <a:srgbClr val="222222"/>
                          </a:solidFill>
                        </a:rPr>
                        <a:t>historical </a:t>
                      </a:r>
                      <a:pPr algn="l" indent="0" marL="0">
                        <a:buNone/>
                      </a:pPr>
                      <a:r>
                        <a:rPr lang="en-US" sz="1050" dirty="0">
                          <a:solidFill>
                            <a:srgbClr val="222222"/>
                          </a:solidFill>
                        </a:rPr>
                        <a:t>analogue </a:t>
                      </a:r>
                      <a:pPr algn="l" indent="0" marL="0">
                        <a:buNone/>
                      </a:pPr>
                      <a:r>
                        <a:rPr lang="en-US" sz="1050" dirty="0">
                          <a:solidFill>
                            <a:srgbClr val="222222"/>
                          </a:solidFill>
                        </a:rPr>
                        <a:t>to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1979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Tumaco </a:t>
                      </a:r>
                      <a:pPr algn="l" indent="0" marL="0">
                        <a:buNone/>
                      </a:pPr>
                      <a:r>
                        <a:rPr lang="en-US" sz="1150" dirty="0">
                          <a:solidFill>
                            <a:srgbClr val="222222"/>
                          </a:solidFill>
                        </a:rPr>
                        <a:t>earthquake </a:t>
                      </a:r>
                      <a:pPr algn="l" indent="0" marL="0">
                        <a:buNone/>
                      </a:pPr>
                      <a:r>
                        <a:rPr lang="en-US" sz="1150" dirty="0">
                          <a:solidFill>
                            <a:srgbClr val="222222"/>
                          </a:solidFill>
                        </a:rPr>
                        <a:t>(Nariño)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M8.1</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Subduction-interface </a:t>
                      </a:r>
                      <a:pPr algn="l" indent="0" marL="0">
                        <a:buNone/>
                      </a:pPr>
                      <a:r>
                        <a:rPr lang="en-US" sz="1050" dirty="0">
                          <a:solidFill>
                            <a:srgbClr val="222222"/>
                          </a:solidFill>
                        </a:rPr>
                        <a:t>event </a:t>
                      </a:r>
                      <a:pPr algn="l" indent="0" marL="0">
                        <a:buNone/>
                      </a:pPr>
                      <a:r>
                        <a:rPr lang="en-US" sz="1050" dirty="0">
                          <a:solidFill>
                            <a:srgbClr val="222222"/>
                          </a:solidFill>
                        </a:rPr>
                        <a:t>with </a:t>
                      </a:r>
                      <a:pPr algn="l" indent="0" marL="0">
                        <a:buNone/>
                      </a:pPr>
                      <a:r>
                        <a:rPr lang="en-US" sz="1050" dirty="0">
                          <a:solidFill>
                            <a:srgbClr val="222222"/>
                          </a:solidFill>
                        </a:rPr>
                        <a:t>tsunami; </a:t>
                      </a:r>
                      <a:pPr algn="l" indent="0" marL="0">
                        <a:buNone/>
                      </a:pPr>
                      <a:r>
                        <a:rPr lang="en-US" sz="1050" dirty="0">
                          <a:solidFill>
                            <a:srgbClr val="222222"/>
                          </a:solidFill>
                        </a:rPr>
                        <a:t>several </a:t>
                      </a:r>
                      <a:pPr algn="l" indent="0" marL="0">
                        <a:buNone/>
                      </a:pPr>
                      <a:r>
                        <a:rPr lang="en-US" sz="1050" dirty="0">
                          <a:solidFill>
                            <a:srgbClr val="222222"/>
                          </a:solidFill>
                        </a:rPr>
                        <a:t>hundred </a:t>
                      </a:r>
                      <a:pPr algn="l" indent="0" marL="0">
                        <a:buNone/>
                      </a:pPr>
                      <a:r>
                        <a:rPr lang="en-US" sz="1050" dirty="0">
                          <a:solidFill>
                            <a:srgbClr val="222222"/>
                          </a:solidFill>
                        </a:rPr>
                        <a:t>deaths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1983</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Popayán </a:t>
                      </a:r>
                      <a:pPr algn="l" indent="0" marL="0">
                        <a:buNone/>
                      </a:pPr>
                      <a:r>
                        <a:rPr lang="en-US" sz="1150" dirty="0">
                          <a:solidFill>
                            <a:srgbClr val="222222"/>
                          </a:solidFill>
                        </a:rPr>
                        <a:t>earthquake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M5.5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250-300 </a:t>
                      </a:r>
                      <a:pPr algn="l" indent="0" marL="0">
                        <a:buNone/>
                      </a:pPr>
                      <a:r>
                        <a:rPr lang="en-US" sz="1050" dirty="0">
                          <a:solidFill>
                            <a:srgbClr val="222222"/>
                          </a:solidFill>
                        </a:rPr>
                        <a:t>deaths; </a:t>
                      </a:r>
                      <a:pPr algn="l" indent="0" marL="0">
                        <a:buNone/>
                      </a:pPr>
                      <a:r>
                        <a:rPr lang="en-US" sz="1050" dirty="0">
                          <a:solidFill>
                            <a:srgbClr val="222222"/>
                          </a:solidFill>
                        </a:rPr>
                        <a:t>historic </a:t>
                      </a:r>
                      <a:pPr algn="l" indent="0" marL="0">
                        <a:buNone/>
                      </a:pPr>
                      <a:r>
                        <a:rPr lang="en-US" sz="1050" dirty="0">
                          <a:solidFill>
                            <a:srgbClr val="222222"/>
                          </a:solidFill>
                        </a:rPr>
                        <a:t>city </a:t>
                      </a:r>
                      <a:pPr algn="l" indent="0" marL="0">
                        <a:buNone/>
                      </a:pPr>
                      <a:r>
                        <a:rPr lang="en-US" sz="1050" dirty="0">
                          <a:solidFill>
                            <a:srgbClr val="222222"/>
                          </a:solidFill>
                        </a:rPr>
                        <a:t>centre </a:t>
                      </a:r>
                      <a:pPr algn="l" indent="0" marL="0">
                        <a:buNone/>
                      </a:pPr>
                      <a:r>
                        <a:rPr lang="en-US" sz="1050" dirty="0">
                          <a:solidFill>
                            <a:srgbClr val="222222"/>
                          </a:solidFill>
                        </a:rPr>
                        <a:t>heavily </a:t>
                      </a:r>
                      <a:pPr algn="l" indent="0" marL="0">
                        <a:buNone/>
                      </a:pPr>
                      <a:r>
                        <a:rPr lang="en-US" sz="1050" dirty="0">
                          <a:solidFill>
                            <a:srgbClr val="222222"/>
                          </a:solidFill>
                        </a:rPr>
                        <a:t>damaged </a:t>
                      </a:r>
                      <a:pPr algn="l" indent="0" marL="0">
                        <a:buNone/>
                      </a:pPr>
                      <a:r>
                        <a:rPr lang="en-US" sz="1050" dirty="0">
                          <a:solidFill>
                            <a:srgbClr val="222222"/>
                          </a:solidFill>
                        </a:rPr>
                        <a:t>- </a:t>
                      </a:r>
                      <a:pPr algn="l" indent="0" marL="0">
                        <a:buNone/>
                      </a:pPr>
                      <a:r>
                        <a:rPr lang="en-US" sz="1050" dirty="0">
                          <a:solidFill>
                            <a:srgbClr val="222222"/>
                          </a:solidFill>
                        </a:rPr>
                        <a:t>a </a:t>
                      </a:r>
                      <a:pPr algn="l" indent="0" marL="0">
                        <a:buNone/>
                      </a:pPr>
                      <a:r>
                        <a:rPr lang="en-US" sz="1050" dirty="0">
                          <a:solidFill>
                            <a:srgbClr val="222222"/>
                          </a:solidFill>
                        </a:rPr>
                        <a:t>small </a:t>
                      </a:r>
                      <a:pPr algn="l" indent="0" marL="0">
                        <a:buNone/>
                      </a:pPr>
                      <a:r>
                        <a:rPr lang="en-US" sz="1050" dirty="0">
                          <a:solidFill>
                            <a:srgbClr val="222222"/>
                          </a:solidFill>
                        </a:rPr>
                        <a:t>but </a:t>
                      </a:r>
                      <a:pPr algn="l" indent="0" marL="0">
                        <a:buNone/>
                      </a:pPr>
                      <a:r>
                        <a:rPr lang="en-US" sz="1050" dirty="0">
                          <a:solidFill>
                            <a:srgbClr val="222222"/>
                          </a:solidFill>
                        </a:rPr>
                        <a:t>shallow, </a:t>
                      </a:r>
                      <a:pPr algn="l" indent="0" marL="0">
                        <a:buNone/>
                      </a:pPr>
                      <a:r>
                        <a:rPr lang="en-US" sz="1050" dirty="0">
                          <a:solidFill>
                            <a:srgbClr val="222222"/>
                          </a:solidFill>
                        </a:rPr>
                        <a:t>urban </a:t>
                      </a:r>
                      <a:pPr algn="l" indent="0" marL="0">
                        <a:buNone/>
                      </a:pPr>
                      <a:r>
                        <a:rPr lang="en-US" sz="1050" dirty="0">
                          <a:solidFill>
                            <a:srgbClr val="222222"/>
                          </a:solidFill>
                        </a:rPr>
                        <a:t>event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Páez </a:t>
                      </a:r>
                      <a:pPr algn="l" indent="0" marL="0">
                        <a:buNone/>
                      </a:pPr>
                      <a:r>
                        <a:rPr lang="en-US" sz="1150" dirty="0">
                          <a:solidFill>
                            <a:srgbClr val="222222"/>
                          </a:solidFill>
                        </a:rPr>
                        <a:t>(Cauca)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1,100 </a:t>
                      </a:r>
                      <a:pPr algn="l" indent="0" marL="0">
                        <a:buNone/>
                      </a:pPr>
                      <a:r>
                        <a:rPr lang="en-US" sz="1050" dirty="0">
                          <a:solidFill>
                            <a:srgbClr val="222222"/>
                          </a:solidFill>
                        </a:rPr>
                        <a:t>deaths, </a:t>
                      </a:r>
                      <a:pPr algn="l" indent="0" marL="0">
                        <a:buNone/>
                      </a:pPr>
                      <a:r>
                        <a:rPr lang="en-US" sz="1050" dirty="0">
                          <a:solidFill>
                            <a:srgbClr val="222222"/>
                          </a:solidFill>
                        </a:rPr>
                        <a:t>most </a:t>
                      </a:r>
                      <a:pPr algn="l" indent="0" marL="0">
                        <a:buNone/>
                      </a:pPr>
                      <a:r>
                        <a:rPr lang="en-US" sz="1050" dirty="0">
                          <a:solidFill>
                            <a:srgbClr val="222222"/>
                          </a:solidFill>
                        </a:rPr>
                        <a:t>caused </a:t>
                      </a:r>
                      <a:pPr algn="l" indent="0" marL="0">
                        <a:buNone/>
                      </a:pPr>
                      <a:r>
                        <a:rPr lang="en-US" sz="1050" dirty="0">
                          <a:solidFill>
                            <a:srgbClr val="222222"/>
                          </a:solidFill>
                        </a:rPr>
                        <a:t>by </a:t>
                      </a:r>
                      <a:pPr algn="l" indent="0" marL="0">
                        <a:buNone/>
                      </a:pPr>
                      <a:r>
                        <a:rPr lang="en-US" sz="1050" dirty="0">
                          <a:solidFill>
                            <a:srgbClr val="222222"/>
                          </a:solidFill>
                        </a:rPr>
                        <a:t>earthquake-triggered </a:t>
                      </a:r>
                      <a:pPr algn="l" indent="0" marL="0">
                        <a:buNone/>
                      </a:pPr>
                      <a:r>
                        <a:rPr lang="en-US" sz="1050" dirty="0">
                          <a:solidFill>
                            <a:srgbClr val="222222"/>
                          </a:solidFill>
                        </a:rPr>
                        <a:t>landslides </a:t>
                      </a:r>
                      <a:pPr algn="l" indent="0" marL="0">
                        <a:buNone/>
                      </a:pPr>
                      <a:r>
                        <a:rPr lang="en-US" sz="1050" dirty="0">
                          <a:solidFill>
                            <a:srgbClr val="222222"/>
                          </a:solidFill>
                        </a:rPr>
                        <a:t>and </a:t>
                      </a:r>
                      <a:pPr algn="l" indent="0" marL="0">
                        <a:buNone/>
                      </a:pPr>
                      <a:r>
                        <a:rPr lang="en-US" sz="1050" dirty="0">
                          <a:solidFill>
                            <a:srgbClr val="222222"/>
                          </a:solidFill>
                        </a:rPr>
                        <a:t>debris </a:t>
                      </a:r>
                      <a:pPr algn="l" indent="0" marL="0">
                        <a:buNone/>
                      </a:pPr>
                      <a:r>
                        <a:rPr lang="en-US" sz="1050" dirty="0">
                          <a:solidFill>
                            <a:srgbClr val="222222"/>
                          </a:solidFill>
                        </a:rPr>
                        <a:t>flows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1995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M6.6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department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Armenia </a:t>
                      </a:r>
                      <a:pPr algn="l" indent="0" marL="0">
                        <a:buNone/>
                      </a:pPr>
                      <a:r>
                        <a:rPr lang="en-US" sz="1150" dirty="0">
                          <a:solidFill>
                            <a:srgbClr val="222222"/>
                          </a:solidFill>
                        </a:rPr>
                        <a:t>(Quindío)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M6.1-6.2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1,185 </a:t>
                      </a:r>
                      <a:pPr algn="l" indent="0" marL="0">
                        <a:buNone/>
                      </a:pPr>
                      <a:r>
                        <a:rPr lang="en-US" sz="1050" dirty="0">
                          <a:solidFill>
                            <a:srgbClr val="222222"/>
                          </a:solidFill>
                        </a:rPr>
                        <a:t>deaths; </a:t>
                      </a:r>
                      <a:pPr algn="l" indent="0" marL="0">
                        <a:buNone/>
                      </a:pPr>
                      <a:r>
                        <a:rPr lang="en-US" sz="1050" dirty="0">
                          <a:solidFill>
                            <a:srgbClr val="222222"/>
                          </a:solidFill>
                        </a:rPr>
                        <a:t>Colombia's </a:t>
                      </a:r>
                      <a:pPr algn="l" indent="0" marL="0">
                        <a:buNone/>
                      </a:pPr>
                      <a:r>
                        <a:rPr lang="en-US" sz="1050" dirty="0">
                          <a:solidFill>
                            <a:srgbClr val="222222"/>
                          </a:solidFill>
                        </a:rPr>
                        <a:t>costliest </a:t>
                      </a:r>
                      <a:pPr algn="l" indent="0" marL="0">
                        <a:buNone/>
                      </a:pPr>
                      <a:r>
                        <a:rPr lang="en-US" sz="1050" dirty="0">
                          <a:solidFill>
                            <a:srgbClr val="222222"/>
                          </a:solidFill>
                        </a:rPr>
                        <a:t>earthquake </a:t>
                      </a:r>
                      <a:pPr algn="l" indent="0" marL="0">
                        <a:buNone/>
                      </a:pPr>
                      <a:r>
                        <a:rPr lang="en-US" sz="1050" dirty="0">
                          <a:solidFill>
                            <a:srgbClr val="222222"/>
                          </a:solidFill>
                        </a:rPr>
                        <a:t>disaster; </a:t>
                      </a:r>
                      <a:pPr algn="l" indent="0" marL="0">
                        <a:buNone/>
                      </a:pPr>
                      <a:r>
                        <a:rPr lang="en-US" sz="1050" dirty="0">
                          <a:solidFill>
                            <a:srgbClr val="222222"/>
                          </a:solidFill>
                        </a:rPr>
                        <a:t>drove </a:t>
                      </a:r>
                      <a:pPr algn="l" indent="0" marL="0">
                        <a:buNone/>
                      </a:pPr>
                      <a:r>
                        <a:rPr lang="en-US" sz="1050" dirty="0">
                          <a:solidFill>
                            <a:srgbClr val="222222"/>
                          </a:solidFill>
                        </a:rPr>
                        <a:t>the </a:t>
                      </a:r>
                      <a:pPr algn="l" indent="0" marL="0">
                        <a:buNone/>
                      </a:pPr>
                      <a:r>
                        <a:rPr lang="en-US" sz="1050" dirty="0">
                          <a:solidFill>
                            <a:srgbClr val="222222"/>
                          </a:solidFill>
                        </a:rPr>
                        <a:t>modern </a:t>
                      </a:r>
                      <a:pPr algn="l" indent="0" marL="0">
                        <a:buNone/>
                      </a:pPr>
                      <a:r>
                        <a:rPr lang="en-US" sz="1050" dirty="0">
                          <a:solidFill>
                            <a:srgbClr val="222222"/>
                          </a:solidFill>
                        </a:rPr>
                        <a:t>DRM </a:t>
                      </a:r>
                      <a:pPr algn="l" indent="0" marL="0">
                        <a:buNone/>
                      </a:pPr>
                      <a:r>
                        <a:rPr lang="en-US" sz="1050" dirty="0">
                          <a:solidFill>
                            <a:srgbClr val="222222"/>
                          </a:solidFill>
                        </a:rPr>
                        <a:t>reforms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2026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 </a:t>
                      </a:r>
                      <a:pPr algn="l" indent="0" marL="0">
                        <a:buNone/>
                      </a:pPr>
                      <a:r>
                        <a:rPr lang="en-US" sz="1150" dirty="0">
                          <a:solidFill>
                            <a:srgbClr val="222222"/>
                          </a:solidFill>
                        </a:rPr>
                        <a:t>(this </a:t>
                      </a:r>
                      <a:pPr algn="l" indent="0" marL="0">
                        <a:buNone/>
                      </a:pPr>
                      <a:r>
                        <a:rPr lang="en-US" sz="1150" dirty="0">
                          <a:solidFill>
                            <a:srgbClr val="222222"/>
                          </a:solidFill>
                        </a:rPr>
                        <a:t>event)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Largest </a:t>
                      </a:r>
                      <a:pPr algn="l" indent="0" marL="0">
                        <a:buNone/>
                      </a:pPr>
                      <a:r>
                        <a:rPr lang="en-US" sz="1050" dirty="0">
                          <a:solidFill>
                            <a:srgbClr val="222222"/>
                          </a:solidFill>
                        </a:rPr>
                        <a:t>magnitude </a:t>
                      </a:r>
                      <a:pPr algn="l" indent="0" marL="0">
                        <a:buNone/>
                      </a:pPr>
                      <a:r>
                        <a:rPr lang="en-US" sz="1050" dirty="0">
                          <a:solidFill>
                            <a:srgbClr val="222222"/>
                          </a:solidFill>
                        </a:rPr>
                        <a:t>recorded </a:t>
                      </a:r>
                      <a:pPr algn="l" indent="0" marL="0">
                        <a:buNone/>
                      </a:pPr>
                      <a:r>
                        <a:rPr lang="en-US" sz="1050" dirty="0">
                          <a:solidFill>
                            <a:srgbClr val="222222"/>
                          </a:solidFill>
                        </a:rPr>
                        <a:t>in </a:t>
                      </a:r>
                      <a:pPr algn="l" indent="0" marL="0">
                        <a:buNone/>
                      </a:pPr>
                      <a:r>
                        <a:rPr lang="en-US" sz="1050" dirty="0">
                          <a:solidFill>
                            <a:srgbClr val="222222"/>
                          </a:solidFill>
                        </a:rPr>
                        <a:t>Colombia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past </a:t>
                      </a:r>
                      <a:pPr algn="l" indent="0" marL="0">
                        <a:buNone/>
                      </a:pPr>
                      <a:r>
                        <a:rPr lang="en-US" sz="1050" dirty="0">
                          <a:solidFill>
                            <a:srgbClr val="222222"/>
                          </a:solidFill>
                        </a:rPr>
                        <a:t>decade </a:t>
                      </a:r>
                      <a:pPr algn="l" indent="0" marL="0">
                        <a:buNone/>
                      </a:pPr>
                      <a:r>
                        <a:rPr lang="en-US" sz="1050" dirty="0">
                          <a:solidFill>
                            <a:srgbClr val="222222"/>
                          </a:solidFill>
                        </a:rPr>
                        <a:t>(SGC); </a:t>
                      </a:r>
                      <a:pPr algn="l" indent="0" marL="0">
                        <a:buNone/>
                      </a:pPr>
                      <a:r>
                        <a:rPr lang="en-US" sz="1050" dirty="0">
                          <a:solidFill>
                            <a:srgbClr val="222222"/>
                          </a:solidFill>
                        </a:rPr>
                        <a:t>intermediate </a:t>
                      </a:r>
                      <a:pPr algn="l" indent="0" marL="0">
                        <a:buNone/>
                      </a:pPr>
                      <a:r>
                        <a:rPr lang="en-US" sz="1050" dirty="0">
                          <a:solidFill>
                            <a:srgbClr val="222222"/>
                          </a:solidFill>
                        </a:rPr>
                        <a:t>depth, </a:t>
                      </a:r>
                      <a:pPr algn="l" indent="0" marL="0">
                        <a:buNone/>
                      </a:pPr>
                      <a:r>
                        <a:rPr lang="en-US" sz="1050" dirty="0">
                          <a:solidFill>
                            <a:srgbClr val="222222"/>
                          </a:solidFill>
                        </a:rPr>
                        <a:t>wide-area </a:t>
                      </a:r>
                      <a:pPr algn="l" indent="0" marL="0">
                        <a:buNone/>
                      </a:pPr>
                      <a:r>
                        <a:rPr lang="en-US" sz="1050" dirty="0">
                          <a:solidFill>
                            <a:srgbClr val="222222"/>
                          </a:solidFill>
                        </a:rPr>
                        <a:t>damage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61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50" dirty="0"/>
          </a:p>
          <a:p>
            <a:pPr algn="l" marL="342900" indent="-342900">
              <a:buSzPct val="100000"/>
              <a:buChar char="•"/>
            </a:pPr>
            <a:r>
              <a:rPr lang="en-US" sz="95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50" dirty="0"/>
          </a:p>
          <a:p>
            <a:pPr algn="l" marL="342900" indent="-342900">
              <a:buSzPct val="100000"/>
              <a:buChar char="•"/>
            </a:pPr>
            <a:r>
              <a:rPr lang="en-US" sz="95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5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61</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Reading these against the other Cali figures — 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1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Figure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with </a:t>
                      </a:r>
                      <a:pPr algn="l" indent="0" marL="0">
                        <a:buNone/>
                      </a:pPr>
                      <a:r>
                        <a:rPr lang="en-US" sz="1100" dirty="0">
                          <a:solidFill>
                            <a:srgbClr val="222222"/>
                          </a:solidFill>
                        </a:rPr>
                        <a:t>structural </a:t>
                      </a:r>
                      <a:pPr algn="l" indent="0" marL="0">
                        <a:buNone/>
                      </a:pPr>
                      <a:r>
                        <a:rPr lang="en-US" sz="1100" dirty="0">
                          <a:solidFill>
                            <a:srgbClr val="222222"/>
                          </a:solidFill>
                        </a:rPr>
                        <a:t>damage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643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under </a:t>
                      </a:r>
                      <a:pPr algn="l" indent="0" marL="0">
                        <a:buNone/>
                      </a:pPr>
                      <a:r>
                        <a:rPr lang="en-US" sz="1100" dirty="0">
                          <a:solidFill>
                            <a:srgbClr val="222222"/>
                          </a:solidFill>
                        </a:rPr>
                        <a:t>evacuation </a:t>
                      </a:r>
                      <a:pPr algn="l" indent="0" marL="0">
                        <a:buNone/>
                      </a:pPr>
                      <a:r>
                        <a:rPr lang="en-US" sz="1100" dirty="0">
                          <a:solidFill>
                            <a:srgbClr val="222222"/>
                          </a:solidFill>
                        </a:rPr>
                        <a:t>order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230 people trapped against 88 rescued is the number that drives the next 48 hours in Cali: it is the search-and-rescue caseload, and it is larger than the city's death toll.  (Officials of the Alcaldía de Santiago de Cali, received 12 August 2026)</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61</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1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Value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Modelled </a:t>
                      </a:r>
                      <a:pPr algn="l" indent="0" marL="0">
                        <a:buNone/>
                      </a:pPr>
                      <a:r>
                        <a:rPr lang="en-US" sz="1100" dirty="0">
                          <a:solidFill>
                            <a:srgbClr val="222222"/>
                          </a:solidFill>
                        </a:rPr>
                        <a:t>scenario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M6.5, </a:t>
                      </a:r>
                      <a:pPr algn="l" indent="0" marL="0">
                        <a:buNone/>
                      </a:pPr>
                      <a:r>
                        <a:rPr lang="en-US" sz="1100" dirty="0">
                          <a:solidFill>
                            <a:srgbClr val="222222"/>
                          </a:solidFill>
                        </a:rPr>
                        <a:t>10 </a:t>
                      </a:r>
                      <a:pPr algn="l" indent="0" marL="0">
                        <a:buNone/>
                      </a:pPr>
                      <a:r>
                        <a:rPr lang="en-US" sz="1100" dirty="0">
                          <a:solidFill>
                            <a:srgbClr val="222222"/>
                          </a:solidFill>
                        </a:rPr>
                        <a:t>km </a:t>
                      </a:r>
                      <a:pPr algn="l" indent="0" marL="0">
                        <a:buNone/>
                      </a:pPr>
                      <a:r>
                        <a:rPr lang="en-US" sz="1100" dirty="0">
                          <a:solidFill>
                            <a:srgbClr val="222222"/>
                          </a:solidFill>
                        </a:rPr>
                        <a:t>depth, </a:t>
                      </a:r>
                      <a:pPr algn="l" indent="0" marL="0">
                        <a:buNone/>
                      </a:pPr>
                      <a:r>
                        <a:rPr lang="en-US" sz="1100" dirty="0">
                          <a:solidFill>
                            <a:srgbClr val="222222"/>
                          </a:solidFill>
                        </a:rPr>
                        <a:t>Dagua-Calima </a:t>
                      </a:r>
                      <a:pPr algn="l" indent="0" marL="0">
                        <a:buNone/>
                      </a:pPr>
                      <a:r>
                        <a:rPr lang="en-US" sz="1100" dirty="0">
                          <a:solidFill>
                            <a:srgbClr val="222222"/>
                          </a:solidFill>
                        </a:rPr>
                        <a:t>fault, </a:t>
                      </a:r>
                      <a:pPr algn="l" indent="0" marL="0">
                        <a:buNone/>
                      </a:pPr>
                      <a:r>
                        <a:rPr lang="en-US" sz="1100" dirty="0">
                          <a:solidFill>
                            <a:srgbClr val="222222"/>
                          </a:solidFill>
                        </a:rPr>
                        <a:t>urban </a:t>
                      </a:r>
                      <a:pPr algn="l" indent="0" marL="0">
                        <a:buNone/>
                      </a:pPr>
                      <a:r>
                        <a:rPr lang="en-US" sz="1100" dirty="0">
                          <a:solidFill>
                            <a:srgbClr val="222222"/>
                          </a:solidFill>
                        </a:rPr>
                        <a:t>area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Population </a:t>
                      </a:r>
                      <a:pPr algn="l" indent="0" marL="0">
                        <a:buNone/>
                      </a:pPr>
                      <a:r>
                        <a:rPr lang="en-US" sz="1100" dirty="0">
                          <a:solidFill>
                            <a:srgbClr val="222222"/>
                          </a:solidFill>
                        </a:rPr>
                        <a:t>exposed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2,300,000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Estimated </a:t>
                      </a:r>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1,200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Seriously </a:t>
                      </a:r>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36,300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181,000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1,800 </a:t>
                      </a:r>
                      <a:pPr algn="l" indent="0" marL="0">
                        <a:buNone/>
                      </a:pPr>
                      <a:r>
                        <a:rPr lang="en-US" sz="1100" dirty="0">
                          <a:solidFill>
                            <a:srgbClr val="222222"/>
                          </a:solidFill>
                        </a:rPr>
                        <a:t>of </a:t>
                      </a:r>
                      <a:pPr algn="l" indent="0" marL="0">
                        <a:buNone/>
                      </a:pPr>
                      <a:r>
                        <a:rPr lang="en-US" sz="1100" dirty="0">
                          <a:solidFill>
                            <a:srgbClr val="222222"/>
                          </a:solidFill>
                        </a:rPr>
                        <a:t>348,000 </a:t>
                      </a:r>
                      <a:pPr algn="l" indent="0" marL="0">
                        <a:buNone/>
                      </a:pPr>
                      <a:r>
                        <a:rPr lang="en-US" sz="1100" dirty="0">
                          <a:solidFill>
                            <a:srgbClr val="222222"/>
                          </a:solidFill>
                        </a:rPr>
                        <a:t>(0.5%)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Residual </a:t>
                      </a:r>
                      <a:pPr algn="l" indent="0" marL="0">
                        <a:buNone/>
                      </a:pPr>
                      <a:r>
                        <a:rPr lang="en-US" sz="1100" dirty="0">
                          <a:solidFill>
                            <a:srgbClr val="222222"/>
                          </a:solidFill>
                        </a:rPr>
                        <a:t>risk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assessed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40% </a:t>
                      </a:r>
                      <a:pPr algn="l" indent="0" marL="0">
                        <a:buNone/>
                      </a:pPr>
                      <a:r>
                        <a:rPr lang="en-US" sz="1100" dirty="0">
                          <a:solidFill>
                            <a:srgbClr val="222222"/>
                          </a:solidFill>
                        </a:rPr>
                        <a:t>after </a:t>
                      </a:r>
                      <a:pPr algn="l" indent="0" marL="0">
                        <a:buNone/>
                      </a:pPr>
                      <a:r>
                        <a:rPr lang="en-US" sz="1100" dirty="0">
                          <a:solidFill>
                            <a:srgbClr val="222222"/>
                          </a:solidFill>
                        </a:rPr>
                        <a:t>existing </a:t>
                      </a:r>
                      <a:pPr algn="l" indent="0" marL="0">
                        <a:buNone/>
                      </a:pPr>
                      <a:r>
                        <a:rPr lang="en-US" sz="1100" dirty="0">
                          <a:solidFill>
                            <a:srgbClr val="222222"/>
                          </a:solidFill>
                        </a:rPr>
                        <a:t>measures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61</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What the city had already prioritised</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2026 earthquake was not this scenario — 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1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rPr>
                        <a:t>Priority </a:t>
                      </a:r>
                      <a:pPr algn="l" indent="0" marL="0">
                        <a:buNone/>
                      </a:pPr>
                      <a:r>
                        <a:rPr lang="en-US" sz="1300" b="1" dirty="0">
                          <a:solidFill>
                            <a:srgbClr val="FFFFFF"/>
                          </a:solidFill>
                        </a:rPr>
                        <a:t>already </a:t>
                      </a:r>
                      <a:pPr algn="l" indent="0" marL="0">
                        <a:buNone/>
                      </a:pPr>
                      <a:r>
                        <a:rPr lang="en-US" sz="1300" b="1" dirty="0">
                          <a:solidFill>
                            <a:srgbClr val="FFFFFF"/>
                          </a:solidFill>
                        </a:rPr>
                        <a:t>identified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studies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 </a:t>
                      </a:r>
                      <a:pPr algn="l" indent="0" marL="0">
                        <a:buNone/>
                      </a:pPr>
                      <a:r>
                        <a:rPr lang="en-US" sz="1100" dirty="0">
                          <a:solidFill>
                            <a:srgbClr val="222222"/>
                          </a:solidFill>
                        </a:rPr>
                        <a:t>hospitals, </a:t>
                      </a:r>
                      <a:pPr algn="l" indent="0" marL="0">
                        <a:buNone/>
                      </a:pPr>
                      <a:r>
                        <a:rPr lang="en-US" sz="1100" dirty="0">
                          <a:solidFill>
                            <a:srgbClr val="222222"/>
                          </a:solidFill>
                        </a:rPr>
                        <a:t>schools, </a:t>
                      </a:r>
                      <a:pPr algn="l" indent="0" marL="0">
                        <a:buNone/>
                      </a:pPr>
                      <a:r>
                        <a:rPr lang="en-US" sz="1100" dirty="0">
                          <a:solidFill>
                            <a:srgbClr val="222222"/>
                          </a:solidFill>
                        </a:rPr>
                        <a:t>fire </a:t>
                      </a:r>
                      <a:pPr algn="l" indent="0" marL="0">
                        <a:buNone/>
                      </a:pPr>
                      <a:r>
                        <a:rPr lang="en-US" sz="1100" dirty="0">
                          <a:solidFill>
                            <a:srgbClr val="222222"/>
                          </a:solidFill>
                        </a:rPr>
                        <a:t>stations </a:t>
                      </a:r>
                      <a:pPr algn="l" indent="0" marL="0">
                        <a:buNone/>
                      </a:pPr>
                      <a:r>
                        <a:rPr lang="en-US" sz="1100" dirty="0">
                          <a:solidFill>
                            <a:srgbClr val="222222"/>
                          </a:solidFill>
                        </a:rPr>
                        <a:t>—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NSR-10 </a:t>
                      </a:r>
                      <a:pPr algn="l" indent="0" marL="0">
                        <a:buNone/>
                      </a:pPr>
                      <a:r>
                        <a:rPr lang="en-US" sz="1100" dirty="0">
                          <a:solidFill>
                            <a:srgbClr val="222222"/>
                          </a:solidFill>
                        </a:rPr>
                        <a:t>code </a:t>
                      </a:r>
                      <a:pPr algn="l" indent="0" marL="0">
                        <a:buNone/>
                      </a:pPr>
                      <a:r>
                        <a:rPr lang="en-US" sz="1100" dirty="0">
                          <a:solidFill>
                            <a:srgbClr val="222222"/>
                          </a:solidFill>
                        </a:rPr>
                        <a:t>(budgeted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USD </a:t>
                      </a:r>
                      <a:pPr algn="l" indent="0" marL="0">
                        <a:buNone/>
                      </a:pPr>
                      <a:r>
                        <a:rPr lang="en-US" sz="1100" dirty="0">
                          <a:solidFill>
                            <a:srgbClr val="222222"/>
                          </a:solidFill>
                        </a:rPr>
                        <a:t>1.7 </a:t>
                      </a:r>
                      <a:pPr algn="l" indent="0" marL="0">
                        <a:buNone/>
                      </a:pPr>
                      <a:r>
                        <a:rPr lang="en-US" sz="1100" dirty="0">
                          <a:solidFill>
                            <a:srgbClr val="222222"/>
                          </a:solidFill>
                        </a:rPr>
                        <a:t>million, </a:t>
                      </a:r>
                      <a:pPr algn="l" indent="0" marL="0">
                        <a:buNone/>
                      </a:pPr>
                      <a:r>
                        <a:rPr lang="en-US" sz="1100" dirty="0">
                          <a:solidFill>
                            <a:srgbClr val="222222"/>
                          </a:solidFill>
                        </a:rPr>
                        <a:t>short </a:t>
                      </a:r>
                      <a:pPr algn="l" indent="0" marL="0">
                        <a:buNone/>
                      </a:pPr>
                      <a:r>
                        <a:rPr lang="en-US" sz="1100" dirty="0">
                          <a:solidFill>
                            <a:srgbClr val="222222"/>
                          </a:solidFill>
                        </a:rPr>
                        <a:t>term).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Structural </a:t>
                      </a:r>
                      <a:pPr algn="l" indent="0" marL="0">
                        <a:buNone/>
                      </a:pPr>
                      <a:r>
                        <a:rPr lang="en-US" sz="1100" dirty="0">
                          <a:solidFill>
                            <a:srgbClr val="222222"/>
                          </a:solidFill>
                        </a:rPr>
                        <a:t>retrofitting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basic-service </a:t>
                      </a:r>
                      <a:pPr algn="l" indent="0" marL="0">
                        <a:buNone/>
                      </a:pPr>
                      <a:r>
                        <a:rPr lang="en-US" sz="1100" dirty="0">
                          <a:solidFill>
                            <a:srgbClr val="222222"/>
                          </a:solidFill>
                        </a:rPr>
                        <a:t>infrastructure, </a:t>
                      </a:r>
                      <a:pPr algn="l" indent="0" marL="0">
                        <a:buNone/>
                      </a:pPr>
                      <a:r>
                        <a:rPr lang="en-US" sz="1100" dirty="0">
                          <a:solidFill>
                            <a:srgbClr val="222222"/>
                          </a:solidFill>
                        </a:rPr>
                        <a:t>to </a:t>
                      </a:r>
                      <a:pPr algn="l" indent="0" marL="0">
                        <a:buNone/>
                      </a:pPr>
                      <a:r>
                        <a:rPr lang="en-US" sz="1100" dirty="0">
                          <a:solidFill>
                            <a:srgbClr val="222222"/>
                          </a:solidFill>
                        </a:rPr>
                        <a:t>keep </a:t>
                      </a:r>
                      <a:pPr algn="l" indent="0" marL="0">
                        <a:buNone/>
                      </a:pPr>
                      <a:r>
                        <a:rPr lang="en-US" sz="1100" dirty="0">
                          <a:solidFill>
                            <a:srgbClr val="222222"/>
                          </a:solidFill>
                        </a:rPr>
                        <a:t>essential </a:t>
                      </a:r>
                      <a:pPr algn="l" indent="0" marL="0">
                        <a:buNone/>
                      </a:pPr>
                      <a:r>
                        <a:rPr lang="en-US" sz="1100" dirty="0">
                          <a:solidFill>
                            <a:srgbClr val="222222"/>
                          </a:solidFill>
                        </a:rPr>
                        <a:t>services </a:t>
                      </a:r>
                      <a:pPr algn="l" indent="0" marL="0">
                        <a:buNone/>
                      </a:pPr>
                      <a:r>
                        <a:rPr lang="en-US" sz="1100" dirty="0">
                          <a:solidFill>
                            <a:srgbClr val="222222"/>
                          </a:solidFill>
                        </a:rPr>
                        <a:t>running </a:t>
                      </a:r>
                      <a:pPr algn="l" indent="0" marL="0">
                        <a:buNone/>
                      </a:pPr>
                      <a:r>
                        <a:rPr lang="en-US" sz="1100" dirty="0">
                          <a:solidFill>
                            <a:srgbClr val="222222"/>
                          </a:solidFill>
                        </a:rPr>
                        <a:t>after </a:t>
                      </a:r>
                      <a:pPr algn="l" indent="0" marL="0">
                        <a:buNone/>
                      </a:pPr>
                      <a:r>
                        <a:rPr lang="en-US" sz="1100" dirty="0">
                          <a:solidFill>
                            <a:srgbClr val="222222"/>
                          </a:solidFill>
                        </a:rPr>
                        <a:t>an </a:t>
                      </a:r>
                      <a:pPr algn="l" indent="0" marL="0">
                        <a:buNone/>
                      </a:pPr>
                      <a:r>
                        <a:rPr lang="en-US" sz="1100" dirty="0">
                          <a:solidFill>
                            <a:srgbClr val="222222"/>
                          </a:solidFill>
                        </a:rPr>
                        <a:t>earthquake.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assessment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EMCALI </a:t>
                      </a:r>
                      <a:pPr algn="l" indent="0" marL="0">
                        <a:buNone/>
                      </a:pPr>
                      <a:r>
                        <a:rPr lang="en-US" sz="1100" dirty="0">
                          <a:solidFill>
                            <a:srgbClr val="222222"/>
                          </a:solidFill>
                        </a:rPr>
                        <a:t>water, </a:t>
                      </a:r>
                      <a:pPr algn="l" indent="0" marL="0">
                        <a:buNone/>
                      </a:pPr>
                      <a:r>
                        <a:rPr lang="en-US" sz="1100" dirty="0">
                          <a:solidFill>
                            <a:srgbClr val="222222"/>
                          </a:solidFill>
                        </a:rPr>
                        <a:t>sewerage </a:t>
                      </a:r>
                      <a:pPr algn="l" indent="0" marL="0">
                        <a:buNone/>
                      </a:pPr>
                      <a:r>
                        <a:rPr lang="en-US" sz="1100" dirty="0">
                          <a:solidFill>
                            <a:srgbClr val="222222"/>
                          </a:solidFill>
                        </a:rPr>
                        <a:t>and </a:t>
                      </a:r>
                      <a:pPr algn="l" indent="0" marL="0">
                        <a:buNone/>
                      </a:pPr>
                      <a:r>
                        <a:rPr lang="en-US" sz="1100" dirty="0">
                          <a:solidFill>
                            <a:srgbClr val="222222"/>
                          </a:solidFill>
                        </a:rPr>
                        <a:t>power </a:t>
                      </a:r>
                      <a:pPr algn="l" indent="0" marL="0">
                        <a:buNone/>
                      </a:pPr>
                      <a:r>
                        <a:rPr lang="en-US" sz="1100" dirty="0">
                          <a:solidFill>
                            <a:srgbClr val="222222"/>
                          </a:solidFill>
                        </a:rPr>
                        <a:t>networks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city </a:t>
                      </a:r>
                      <a:pPr algn="l" indent="0" marL="0">
                        <a:buNone/>
                      </a:pPr>
                      <a:r>
                        <a:rPr lang="en-US" sz="1100" dirty="0">
                          <a:solidFill>
                            <a:srgbClr val="222222"/>
                          </a:solidFill>
                        </a:rPr>
                        <a:t>gas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Updating </a:t>
                      </a:r>
                      <a:pPr algn="l" indent="0" marL="0">
                        <a:buNone/>
                      </a:pPr>
                      <a:r>
                        <a:rPr lang="en-US" sz="1100" dirty="0">
                          <a:solidFill>
                            <a:srgbClr val="222222"/>
                          </a:solidFill>
                        </a:rPr>
                        <a:t>the </a:t>
                      </a:r>
                      <a:pPr algn="l" indent="0" marL="0">
                        <a:buNone/>
                      </a:pPr>
                      <a:r>
                        <a:rPr lang="en-US" sz="1100" dirty="0">
                          <a:solidFill>
                            <a:srgbClr val="222222"/>
                          </a:solidFill>
                        </a:rPr>
                        <a:t>local </a:t>
                      </a:r>
                      <a:pPr algn="l" indent="0" marL="0">
                        <a:buNone/>
                      </a:pPr>
                      <a:r>
                        <a:rPr lang="en-US" sz="1100" dirty="0">
                          <a:solidFill>
                            <a:srgbClr val="222222"/>
                          </a:solidFill>
                        </a:rPr>
                        <a:t>soil-response </a:t>
                      </a:r>
                      <a:pPr algn="l" indent="0" marL="0">
                        <a:buNone/>
                      </a:pPr>
                      <a:r>
                        <a:rPr lang="en-US" sz="1100" dirty="0">
                          <a:solidFill>
                            <a:srgbClr val="222222"/>
                          </a:solidFill>
                        </a:rPr>
                        <a:t>model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seismic </a:t>
                      </a:r>
                      <a:pPr algn="l" indent="0" marL="0">
                        <a:buNone/>
                      </a:pPr>
                      <a:r>
                        <a:rPr lang="en-US" sz="1100" dirty="0">
                          <a:solidFill>
                            <a:srgbClr val="222222"/>
                          </a:solidFill>
                        </a:rPr>
                        <a:t>microzonation, </a:t>
                      </a:r>
                      <a:pPr algn="l" indent="0" marL="0">
                        <a:buNone/>
                      </a:pPr>
                      <a:r>
                        <a:rPr lang="en-US" sz="1100" dirty="0">
                          <a:solidFill>
                            <a:srgbClr val="222222"/>
                          </a:solidFill>
                        </a:rPr>
                        <a:t>in </a:t>
                      </a:r>
                      <a:pPr algn="l" indent="0" marL="0">
                        <a:buNone/>
                      </a:pPr>
                      <a:r>
                        <a:rPr lang="en-US" sz="1100" dirty="0">
                          <a:solidFill>
                            <a:srgbClr val="222222"/>
                          </a:solidFill>
                        </a:rPr>
                        <a:t>force </a:t>
                      </a:r>
                      <a:pPr algn="l" indent="0" marL="0">
                        <a:buNone/>
                      </a:pPr>
                      <a:r>
                        <a:rPr lang="en-US" sz="1100" dirty="0">
                          <a:solidFill>
                            <a:srgbClr val="222222"/>
                          </a:solidFill>
                        </a:rPr>
                        <a:t>since </a:t>
                      </a:r>
                      <a:pPr algn="l" indent="0" marL="0">
                        <a:buNone/>
                      </a:pPr>
                      <a:r>
                        <a:rPr lang="en-US" sz="1100" dirty="0">
                          <a:solidFill>
                            <a:srgbClr val="222222"/>
                          </a:solidFill>
                        </a:rPr>
                        <a:t>INGEOMINAS/DAGMA </a:t>
                      </a:r>
                      <a:pPr algn="l" indent="0" marL="0">
                        <a:buNone/>
                      </a:pPr>
                      <a:r>
                        <a:rPr lang="en-US" sz="1100" dirty="0">
                          <a:solidFill>
                            <a:srgbClr val="222222"/>
                          </a:solidFill>
                        </a:rPr>
                        <a:t>(2005) </a:t>
                      </a:r>
                      <a:pPr algn="l" indent="0" marL="0">
                        <a:buNone/>
                      </a:pPr>
                      <a:r>
                        <a:rPr lang="en-US" sz="1100" dirty="0">
                          <a:solidFill>
                            <a:srgbClr val="222222"/>
                          </a:solidFill>
                        </a:rPr>
                        <a:t>and </a:t>
                      </a:r>
                      <a:pPr algn="l" indent="0" marL="0">
                        <a:buNone/>
                      </a:pPr>
                      <a:r>
                        <a:rPr lang="en-US" sz="1100" dirty="0">
                          <a:solidFill>
                            <a:srgbClr val="222222"/>
                          </a:solidFill>
                        </a:rPr>
                        <a:t>adopted </a:t>
                      </a:r>
                      <a:pPr algn="l" indent="0" marL="0">
                        <a:buNone/>
                      </a:pPr>
                      <a:r>
                        <a:rPr lang="en-US" sz="1100" dirty="0">
                          <a:solidFill>
                            <a:srgbClr val="222222"/>
                          </a:solidFill>
                        </a:rPr>
                        <a:t>by </a:t>
                      </a:r>
                      <a:pPr algn="l" indent="0" marL="0">
                        <a:buNone/>
                      </a:pPr>
                      <a:r>
                        <a:rPr lang="en-US" sz="1100" dirty="0">
                          <a:solidFill>
                            <a:srgbClr val="222222"/>
                          </a:solidFill>
                        </a:rPr>
                        <a:t>Decree </a:t>
                      </a:r>
                      <a:pPr algn="l" indent="0" marL="0">
                        <a:buNone/>
                      </a:pPr>
                      <a:r>
                        <a:rPr lang="en-US" sz="1100" dirty="0">
                          <a:solidFill>
                            <a:srgbClr val="222222"/>
                          </a:solidFill>
                        </a:rPr>
                        <a:t>411.0.20.0158 </a:t>
                      </a:r>
                      <a:pPr algn="l" indent="0" marL="0">
                        <a:buNone/>
                      </a:pPr>
                      <a:r>
                        <a:rPr lang="en-US" sz="1100" dirty="0">
                          <a:solidFill>
                            <a:srgbClr val="222222"/>
                          </a:solidFill>
                        </a:rPr>
                        <a:t>of </a:t>
                      </a:r>
                      <a:pPr algn="l" indent="0" marL="0">
                        <a:buNone/>
                      </a:pPr>
                      <a:r>
                        <a:rPr lang="en-US" sz="1100" dirty="0">
                          <a:solidFill>
                            <a:srgbClr val="222222"/>
                          </a:solidFill>
                        </a:rPr>
                        <a:t>2014 </a:t>
                      </a:r>
                      <a:pPr algn="l" indent="0" marL="0">
                        <a:buNone/>
                      </a:pPr>
                      <a:r>
                        <a:rPr lang="en-US" sz="1100" dirty="0">
                          <a:solidFill>
                            <a:srgbClr val="222222"/>
                          </a:solidFill>
                        </a:rPr>
                        <a:t>for </a:t>
                      </a:r>
                      <a:pPr algn="l" indent="0" marL="0">
                        <a:buNone/>
                      </a:pPr>
                      <a:r>
                        <a:rPr lang="en-US" sz="1100" dirty="0">
                          <a:solidFill>
                            <a:srgbClr val="222222"/>
                          </a:solidFill>
                        </a:rPr>
                        <a:t>structural </a:t>
                      </a:r>
                      <a:pPr algn="l" indent="0" marL="0">
                        <a:buNone/>
                      </a:pPr>
                      <a:r>
                        <a:rPr lang="en-US" sz="1100" dirty="0">
                          <a:solidFill>
                            <a:srgbClr val="222222"/>
                          </a:solidFill>
                        </a:rPr>
                        <a:t>design.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Maintaining </a:t>
                      </a:r>
                      <a:pPr algn="l" indent="0" marL="0">
                        <a:buNone/>
                      </a:pPr>
                      <a:r>
                        <a:rPr lang="en-US" sz="1100" dirty="0">
                          <a:solidFill>
                            <a:srgbClr val="222222"/>
                          </a:solidFill>
                        </a:rPr>
                        <a:t>and </a:t>
                      </a:r>
                      <a:pPr algn="l" indent="0" marL="0">
                        <a:buNone/>
                      </a:pPr>
                      <a:r>
                        <a:rPr lang="en-US" sz="1100" dirty="0">
                          <a:solidFill>
                            <a:srgbClr val="222222"/>
                          </a:solidFill>
                        </a:rPr>
                        <a:t>extending </a:t>
                      </a:r>
                      <a:pPr algn="l" indent="0" marL="0">
                        <a:buNone/>
                      </a:pPr>
                      <a:r>
                        <a:rPr lang="en-US" sz="1100" dirty="0">
                          <a:solidFill>
                            <a:srgbClr val="222222"/>
                          </a:solidFill>
                        </a:rPr>
                        <a:t>the </a:t>
                      </a:r>
                      <a:pPr algn="l" indent="0" marL="0">
                        <a:buNone/>
                      </a:pPr>
                      <a:r>
                        <a:rPr lang="en-US" sz="1100" dirty="0">
                          <a:solidFill>
                            <a:srgbClr val="222222"/>
                          </a:solidFill>
                        </a:rPr>
                        <a:t>Cali </a:t>
                      </a:r>
                      <a:pPr algn="l" indent="0" marL="0">
                        <a:buNone/>
                      </a:pPr>
                      <a:r>
                        <a:rPr lang="en-US" sz="1100" dirty="0">
                          <a:solidFill>
                            <a:srgbClr val="222222"/>
                          </a:solidFill>
                        </a:rPr>
                        <a:t>accelerograph </a:t>
                      </a:r>
                      <a:pPr algn="l" indent="0" marL="0">
                        <a:buNone/>
                      </a:pPr>
                      <a:r>
                        <a:rPr lang="en-US" sz="1100" dirty="0">
                          <a:solidFill>
                            <a:srgbClr val="222222"/>
                          </a:solidFill>
                        </a:rPr>
                        <a:t>network </a:t>
                      </a:r>
                      <a:pPr algn="l" indent="0" marL="0">
                        <a:buNone/>
                      </a:pPr>
                      <a:r>
                        <a:rPr lang="en-US" sz="1100" dirty="0">
                          <a:solidFill>
                            <a:srgbClr val="222222"/>
                          </a:solidFill>
                        </a:rPr>
                        <a:t>(RAC) </a:t>
                      </a:r>
                      <a:pPr algn="l" indent="0" marL="0">
                        <a:buNone/>
                      </a:pPr>
                      <a:r>
                        <a:rPr lang="en-US" sz="1100" dirty="0">
                          <a:solidFill>
                            <a:srgbClr val="222222"/>
                          </a:solidFill>
                        </a:rPr>
                        <a:t>and </a:t>
                      </a:r>
                      <a:pPr algn="l" indent="0" marL="0">
                        <a:buNone/>
                      </a:pPr>
                      <a:r>
                        <a:rPr lang="en-US" sz="1100" dirty="0">
                          <a:solidFill>
                            <a:srgbClr val="222222"/>
                          </a:solidFill>
                        </a:rPr>
                        <a:t>its </a:t>
                      </a:r>
                      <a:pPr algn="l" indent="0" marL="0">
                        <a:buNone/>
                      </a:pPr>
                      <a:r>
                        <a:rPr lang="en-US" sz="1100" dirty="0">
                          <a:solidFill>
                            <a:srgbClr val="222222"/>
                          </a:solidFill>
                        </a:rPr>
                        <a:t>interoperability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SGC </a:t>
                      </a:r>
                      <a:pPr algn="l" indent="0" marL="0">
                        <a:buNone/>
                      </a:pPr>
                      <a:r>
                        <a:rPr lang="en-US" sz="1100" dirty="0">
                          <a:solidFill>
                            <a:srgbClr val="222222"/>
                          </a:solidFill>
                        </a:rPr>
                        <a:t>national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Insuring </a:t>
                      </a:r>
                      <a:pPr algn="l" indent="0" marL="0">
                        <a:buNone/>
                      </a:pPr>
                      <a:r>
                        <a:rPr lang="en-US" sz="1100" dirty="0">
                          <a:solidFill>
                            <a:srgbClr val="222222"/>
                          </a:solidFill>
                        </a:rPr>
                        <a:t>public </a:t>
                      </a:r>
                      <a:pPr algn="l" indent="0" marL="0">
                        <a:buNone/>
                      </a:pPr>
                      <a:r>
                        <a:rPr lang="en-US" sz="1100" dirty="0">
                          <a:solidFill>
                            <a:srgbClr val="222222"/>
                          </a:solidFill>
                        </a:rPr>
                        <a:t>infrastructure </a:t>
                      </a:r>
                      <a:pPr algn="l" indent="0" marL="0">
                        <a:buNone/>
                      </a:pPr>
                      <a:r>
                        <a:rPr lang="en-US" sz="1100" dirty="0">
                          <a:solidFill>
                            <a:srgbClr val="222222"/>
                          </a:solidFill>
                        </a:rPr>
                        <a:t>against </a:t>
                      </a:r>
                      <a:pPr algn="l" indent="0" marL="0">
                        <a:buNone/>
                      </a:pPr>
                      <a:r>
                        <a:rPr lang="en-US" sz="1100" dirty="0">
                          <a:solidFill>
                            <a:srgbClr val="222222"/>
                          </a:solidFill>
                        </a:rPr>
                        <a:t>seismic </a:t>
                      </a:r>
                      <a:pPr algn="l" indent="0" marL="0">
                        <a:buNone/>
                      </a:pPr>
                      <a:r>
                        <a:rPr lang="en-US" sz="1100" dirty="0">
                          <a:solidFill>
                            <a:srgbClr val="222222"/>
                          </a:solidFill>
                        </a:rPr>
                        <a:t>risk, </a:t>
                      </a:r>
                      <a:pPr algn="l" indent="0" marL="0">
                        <a:buNone/>
                      </a:pPr>
                      <a:r>
                        <a:rPr lang="en-US" sz="1100" dirty="0">
                          <a:solidFill>
                            <a:srgbClr val="222222"/>
                          </a:solidFill>
                        </a:rPr>
                        <a:t>and </a:t>
                      </a:r>
                      <a:pPr algn="l" indent="0" marL="0">
                        <a:buNone/>
                      </a:pPr>
                      <a:r>
                        <a:rPr lang="en-US" sz="1100" dirty="0">
                          <a:solidFill>
                            <a:srgbClr val="222222"/>
                          </a:solidFill>
                        </a:rPr>
                        <a:t>retrofitting </a:t>
                      </a:r>
                      <a:pPr algn="l" indent="0" marL="0">
                        <a:buNone/>
                      </a:pPr>
                      <a:r>
                        <a:rPr lang="en-US" sz="1100" dirty="0">
                          <a:solidFill>
                            <a:srgbClr val="222222"/>
                          </a:solidFill>
                        </a:rPr>
                        <a:t>low-income </a:t>
                      </a:r>
                      <a:pPr algn="l" indent="0" marL="0">
                        <a:buNone/>
                      </a:pPr>
                      <a:r>
                        <a:rPr lang="en-US" sz="1100" dirty="0">
                          <a:solidFill>
                            <a:srgbClr val="222222"/>
                          </a:solidFill>
                        </a:rPr>
                        <a:t>housing </a:t>
                      </a:r>
                      <a:pPr algn="l" indent="0" marL="0">
                        <a:buNone/>
                      </a:pPr>
                      <a:r>
                        <a:rPr lang="en-US" sz="1100" dirty="0">
                          <a:solidFill>
                            <a:srgbClr val="222222"/>
                          </a:solidFill>
                        </a:rPr>
                        <a:t>through </a:t>
                      </a:r>
                      <a:pPr algn="l" indent="0" marL="0">
                        <a:buNone/>
                      </a:pPr>
                      <a:r>
                        <a:rPr lang="en-US" sz="1100" dirty="0">
                          <a:solidFill>
                            <a:srgbClr val="222222"/>
                          </a:solidFill>
                        </a:rPr>
                        <a:t>subsidies </a:t>
                      </a:r>
                      <a:pPr algn="l" indent="0" marL="0">
                        <a:buNone/>
                      </a:pPr>
                      <a:r>
                        <a:rPr lang="en-US" sz="1100" dirty="0">
                          <a:solidFill>
                            <a:srgbClr val="222222"/>
                          </a:solidFill>
                        </a:rPr>
                        <a:t>and </a:t>
                      </a:r>
                      <a:pPr algn="l" indent="0" marL="0">
                        <a:buNone/>
                      </a:pPr>
                      <a:r>
                        <a:rPr lang="en-US" sz="1100" dirty="0">
                          <a:solidFill>
                            <a:srgbClr val="222222"/>
                          </a:solidFill>
                        </a:rPr>
                        <a:t>safe </a:t>
                      </a:r>
                      <a:pPr algn="l" indent="0" marL="0">
                        <a:buNone/>
                      </a:pPr>
                      <a:r>
                        <a:rPr lang="en-US" sz="1100" dirty="0">
                          <a:solidFill>
                            <a:srgbClr val="222222"/>
                          </a:solidFill>
                        </a:rPr>
                        <a:t>self-build </a:t>
                      </a:r>
                      <a:pPr algn="l" indent="0" marL="0">
                        <a:buNone/>
                      </a:pPr>
                      <a:r>
                        <a:rPr lang="en-US" sz="1100" dirty="0">
                          <a:solidFill>
                            <a:srgbClr val="222222"/>
                          </a:solidFill>
                        </a:rPr>
                        <a:t>programmes.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Financing </a:t>
                      </a:r>
                      <a:pPr algn="l" indent="0" marL="0">
                        <a:buNone/>
                      </a:pPr>
                      <a:r>
                        <a:rPr lang="en-US" sz="1100" dirty="0">
                          <a:solidFill>
                            <a:srgbClr val="222222"/>
                          </a:solidFill>
                        </a:rPr>
                        <a:t>model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priority </a:t>
                      </a:r>
                      <a:pPr algn="l" indent="0" marL="0">
                        <a:buNone/>
                      </a:pPr>
                      <a:r>
                        <a:rPr lang="en-US" sz="1100" dirty="0">
                          <a:solidFill>
                            <a:srgbClr val="222222"/>
                          </a:solidFill>
                        </a:rPr>
                        <a:t>measures: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30-50%, </a:t>
                      </a:r>
                      <a:pPr algn="l" indent="0" marL="0">
                        <a:buNone/>
                      </a:pPr>
                      <a:r>
                        <a:rPr lang="en-US" sz="1100" dirty="0">
                          <a:solidFill>
                            <a:srgbClr val="222222"/>
                          </a:solidFill>
                        </a:rPr>
                        <a:t>national </a:t>
                      </a:r>
                      <a:pPr algn="l" indent="0" marL="0">
                        <a:buNone/>
                      </a:pPr>
                      <a:r>
                        <a:rPr lang="en-US" sz="1100" dirty="0">
                          <a:solidFill>
                            <a:srgbClr val="222222"/>
                          </a:solidFill>
                        </a:rPr>
                        <a:t>disaster </a:t>
                      </a:r>
                      <a:pPr algn="l" indent="0" marL="0">
                        <a:buNone/>
                      </a:pPr>
                      <a:r>
                        <a:rPr lang="en-US" sz="1100" dirty="0">
                          <a:solidFill>
                            <a:srgbClr val="222222"/>
                          </a:solidFill>
                        </a:rPr>
                        <a:t>fund </a:t>
                      </a:r>
                      <a:pPr algn="l" indent="0" marL="0">
                        <a:buNone/>
                      </a:pPr>
                      <a:r>
                        <a:rPr lang="en-US" sz="1100" dirty="0">
                          <a:solidFill>
                            <a:srgbClr val="222222"/>
                          </a:solidFill>
                        </a:rPr>
                        <a:t>(FNGRD/UNGRD) </a:t>
                      </a:r>
                      <a:pPr algn="l" indent="0" marL="0">
                        <a:buNone/>
                      </a:pPr>
                      <a:r>
                        <a:rPr lang="en-US" sz="1100" dirty="0">
                          <a:solidFill>
                            <a:srgbClr val="222222"/>
                          </a:solidFill>
                        </a:rPr>
                        <a:t>30-50%, </a:t>
                      </a:r>
                      <a:pPr algn="l" indent="0" marL="0">
                        <a:buNone/>
                      </a:pPr>
                      <a:r>
                        <a:rPr lang="en-US" sz="1100" dirty="0">
                          <a:solidFill>
                            <a:srgbClr val="222222"/>
                          </a:solidFill>
                        </a:rPr>
                        <a:t>international </a:t>
                      </a:r>
                      <a:pPr algn="l" indent="0" marL="0">
                        <a:buNone/>
                      </a:pPr>
                      <a:r>
                        <a:rPr lang="en-US" sz="1100" dirty="0">
                          <a:solidFill>
                            <a:srgbClr val="222222"/>
                          </a:solidFill>
                        </a:rPr>
                        <a:t>partners </a:t>
                      </a:r>
                      <a:pPr algn="l" indent="0" marL="0">
                        <a:buNone/>
                      </a:pPr>
                      <a:r>
                        <a:rPr lang="en-US" sz="1100" dirty="0">
                          <a:solidFill>
                            <a:srgbClr val="222222"/>
                          </a:solidFill>
                        </a:rPr>
                        <a:t>including </a:t>
                      </a:r>
                      <a:pPr algn="l" indent="0" marL="0">
                        <a:buNone/>
                      </a:pPr>
                      <a:r>
                        <a:rPr lang="en-US" sz="1100" dirty="0">
                          <a:solidFill>
                            <a:srgbClr val="222222"/>
                          </a:solidFill>
                        </a:rPr>
                        <a:t>JICA, </a:t>
                      </a:r>
                      <a:pPr algn="l" indent="0" marL="0">
                        <a:buNone/>
                      </a:pPr>
                      <a:r>
                        <a:rPr lang="en-US" sz="1100" dirty="0">
                          <a:solidFill>
                            <a:srgbClr val="222222"/>
                          </a:solidFill>
                        </a:rPr>
                        <a:t>the </a:t>
                      </a:r>
                      <a:pPr algn="l" indent="0" marL="0">
                        <a:buNone/>
                      </a:pPr>
                      <a:r>
                        <a:rPr lang="en-US" sz="1100" dirty="0">
                          <a:solidFill>
                            <a:srgbClr val="222222"/>
                          </a:solidFill>
                        </a:rPr>
                        <a:t>GEM </a:t>
                      </a:r>
                      <a:pPr algn="l" indent="0" marL="0">
                        <a:buNone/>
                      </a:pPr>
                      <a:r>
                        <a:rPr lang="en-US" sz="1100" dirty="0">
                          <a:solidFill>
                            <a:srgbClr val="222222"/>
                          </a:solidFill>
                        </a:rPr>
                        <a:t>Foundation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IDB </a:t>
                      </a:r>
                      <a:pPr algn="l" indent="0" marL="0">
                        <a:buNone/>
                      </a:pPr>
                      <a:r>
                        <a:rPr lang="en-US" sz="1100" dirty="0">
                          <a:solidFill>
                            <a:srgbClr val="222222"/>
                          </a:solidFill>
                        </a:rPr>
                        <a:t>about </a:t>
                      </a:r>
                      <a:pPr algn="l" indent="0" marL="0">
                        <a:buNone/>
                      </a:pPr>
                      <a:r>
                        <a:rPr lang="en-US" sz="1100" dirty="0">
                          <a:solidFill>
                            <a:srgbClr val="222222"/>
                          </a:solidFill>
                        </a:rPr>
                        <a:t>20%.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61</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dLzzVE/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 city profile for Cali</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61</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r>
              <a:rPr lang="en-US" sz="1200" dirty="0">
                <a:solidFill>
                  <a:srgbClr val="444444"/>
                </a:solidFill>
                <a:latin typeface="Meiryo" pitchFamily="34" charset="0"/>
                <a:ea typeface="Meiryo" pitchFamily="34" charset="-122"/>
                <a:cs typeface="Meiryo"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12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7.4 San José del Palmar, Colombia (event page)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Servicio Geológico Colombiano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event bulletin SGC2026pqqmro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macroseismic intensity map (ShakeMap) for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National Unit for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 Orange earthquake alert, Colombia, 10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'Space and Major Disasters' - activations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 EMSR916 'Earthquake in Colombia' (activation)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 Colombia PNGRD 2015-2030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 Seismic regulations for Colombia (NSR-10)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61</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death toll rises to 132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84 injured and 12 dead in Chocó (department government)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 UNGRD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 Risk governance scan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at least 111 dead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 Colombia declares national emergency as quake toll hits 111</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 Jazeera - M7.4 earthquake hits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News - Strong earthquake strikes western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News - Deaths, injuries and collapsed buildings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First official assessment: widespread structural damage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Government declares national disaster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61</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SGC explains why the shaking lasted so long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 President reports 111 dead, 87 injured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Nikkei - M7.4 earthquake in western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Jiji Press - M7.4 earthquake in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Save the Children - Children at risk after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Mobilising medical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Americares - Colombia earthquake,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GLIDEnumber — EQ-2026-000146-COL (event identifier)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ADRC - Asian Disaster Reduction Center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European Commission — EU support for Colombia, Copernicus activated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Foundation — TREQ project (urban earthquake risk, Quito / Cali / Santiago de los Caballeros)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61</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 Evaluación de riesgo sísmico para Santiago de Cali (technical report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Understanding seismic risk in Santiago de Cali for its application in risk management (peer-reviewed, 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 Cali's intelligent and community early warning system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Alcaldía de Santiago de Cali —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Plan Nacional de Gestión del Riesgo de Desastres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Decreto 1478 de 2022 — update of the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 bulletin and FDSN event service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seismic catalogue viewer (reviewed catalogue ends Feb 2018)</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live updates, 11 August (Cali toll rises to 85)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balance — 132 deaths, 570+ injured, by city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 UNGRD balance: 182 deaths, 2,542 injured, 189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61</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 the President's 181 is 59 fewer than the regional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99 aftershocks and their magnitudes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SGC total: 103 aftershocks to 15:00 on 11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 Foreign Minister Motegi's message on the earthquake in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on X — post of 11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list of countries that have offered assistance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in Colombia — earthquake information and updates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News — the UN offers support to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 — citizen missing-persons platform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earthquake missing-persons tool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relief and subsidies announced on the Coffee Region tour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61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 UNGRD damage and casualty report across 14 departments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SAR teams arriving from Israel, Ecuador, El Salvador and the US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188 deaths and 1,677 injured in capital cities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 at least 254 dead as the search continues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265 dead, 3,494 injured, 496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13 August: 273 dead, 3,824 injured, 377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40,753 families affected: UNGRD's new balance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M4.2 aftershock at San José del Palmar, 13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Colombia to receive rescue teams from the US, Israel, Ecuador and El Salvador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14 August: 287 dead, 3,975 injured, 378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61</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live: the toll rises to 288, more than 4,000 injured and 202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international assistance grows: India, Norway, Sweden and Spain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Italy, India, Spain, Chile and the World Bank among those sending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Japanese Red Cross Society — Colombian Red Cross response to the M7.4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why Colombia did not need foreign rescuers: 23 national USAR teams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SGC: 184 aftershocks since 10 August (14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en Español — live coverage of rescue and recovery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15 August: 294 dead, 3,935 injured, 320 missing, 353 rescued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294 dead and 81,506 homes damaged, official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Decree 1172: three days of national mourning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61</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the governor of Chocó ends the department's search-and-rescue phase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16 August: 289 dead, 4,187 injured, 143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Noticias — 289 dead, 143 missing and more than 185,000 affected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 UNGRD reduces the death and missing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UNGRD balance of 16 August evening: 287 dead, 4,147 injured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 Colombia lowers the death toll and raises the injured count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ES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ES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61</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ES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31 Aug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1 Sep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 Earthquake: LTC Telecoms Situation Report #02 (25-31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1 - Earthquake Colombia (1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ICRC assesses needs of communities affected by armed conflict following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7.4M Earthquake and EU response - DG ECHO Daily Map (26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Pereira, Colombia: temporary shelters, earthquake of 10 Aug 2026 (19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Colombia: affected neighbourhoods, earthquake of 10 Aug 2026 (20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61</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Humanitarian Needs and Response Plan, Feb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Humanitarian Action for Children 2026 -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English)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urgent needs persist three weeks after the earthquake (MSF)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quarterly protection monitoring, Colombia (Apr-Jun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(Spanish,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#2: Earthquake in Colombia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61</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Manizales, Colombia: Barrios afectados (affected neighbourhoods)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#3: Earthquake in Colombia (7 Sep 2026, Istmina hospital/church needs assessment)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Fundación ABBACOL - psychosocial intervention update, Cali (04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Colombia Food Security Outlook Update (Aug 2026 - Jan 2027): earthquake impacts reduce food access as El Niño strengthens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Quibdó - Colombia: Barrios afectados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Colombia Earthquake Emergency Situation Report (7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#4: Earthquake in Colombia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HNRP 2026 5W System Response Report (Jan-Jul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61</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Colombia: Affected Neighbourhoods Map (3iS,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012, Update on the Impact of the Earthquake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(FR,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Buenaventura, Colombia: Affected Neighbourhoods Map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 Colombia WASH Situation One Month After the Earthquake: Response, Gaps and Priorities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 Colombia Protection Monitoring (January-March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(X/Twitter) - temporary housing economic support payments, Choco and Cali (11-12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61</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(portal) - "356 people rescued": one month on, response continues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https://portal.gestiondelriesgo.gov.co/Paginas/Noticias/2026/356-personas-rescatadas-la-respuesta-de-la-UNGRD-continua-un-mes-despues-del-terremoto.aspx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(portal) - Chocó housing support payments begin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https://portal.gestiondelriesgo.gov.co/Paginas/Noticias/2026/Inicia-el-pago-de-mas-de-3324-millones-en-apoyo-economico-para-las-familias-damnificadas-por-el-terremoto-en-Choco.aspx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Colombia: IFRC calls for sustained support, one month on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https://reliefweb.int/report/colombia/colombia-ifrc-calls-sustained-support-earthquake-affected-communities-one-month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#9,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https://reliefweb.int/report/colombia/iom-colombia-earthquake-situation-report-9-10-september-2026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CESVI - Colombia Emergency Response, Situation Report #2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https://reliefweb.int/report/colombia/colombia-emergency-response-situation-report-2-18-august-10-september-2026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013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https://reliefweb.int/report/colombia/colombia-flash-update-013-actualizacion-afectaciones-por-terremoto-en-colombia-17-de-septiembre-de-2026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013, English (posted 18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https://reliefweb.int/report/colombia/colombia-flash-update-013-update-impact-earthquake-colombia-september-18-2026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https://portal.gestiondelriesgo.gov.co/Paginas/Noticias/2026/UNGRD-y-Naciones-Unidas-analizan-en-Cali-los-retos-de-la-recuperacion-tras-el-terremoto.aspx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https://reliefweb.int/report/colombia/analisis-de-situacion-y-respuesta-al-terremoto-10-de-septiembre-2026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https://reliefweb.int/report/colombia/colombia-earthquake-response-situation-report-10-14-september-2026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https://reliefweb.int/report/colombia/colombia-evaluacion-rapida-conjunta-de-mercados-jram-panorama-de-la-situacion-agosto-2026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61</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https://reliefweb.int/report/colombia/colombia-grupo-de-trabajo-de-logistica-gtl-un-mes-de-operacion-de-emergencia-10-de-septiembre-de-2026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https://reliefweb.int/report/colombia/respuesta-al-terremoto-en-colombia-reporte-de-situacion-10-14-septiembre-2026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https://reliefweb.int/report/colombia/terremoto-en-colombia-el-cicr-apoya-la-recuperacion-de-infraestructura-comunitaria-esencial-en-zonas-afectadas-por-los-conflictos-armados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https://reliefweb.int/report/colombia/un-mes-despues-del-terremoto-en-colombia-avanzar-con-la-reconstruccion-en-medio-de-una-compleja-situacion-humanitaria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https://reliefweb.int/report/colombia/unhcr-colombia-2026-funding-update-31-august-2026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Earthquake in Colombia - rehabilitation of essential community infrastructure (18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https://reliefweb.int/report/colombia/earthquake-colombia-icrc-supports-rehabilitation-essential-community-infrastructure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territorial severity and vulnerability assessment after the earthquake (27 Aug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https://reliefweb.int/report/colombia/oim-colombia-severidad-y-vulnerabilidad-territorial-tras-el-terremoto-27-agosto-2026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#9, 10 Sep 2026 (Spanish edition)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https://reliefweb.int/report/colombia/oim-respuesta-al-terremoto-en-colombia-reporte-de-situacion-9-10-septiembre-2026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One month after the Colombia earthquake - response and stabilization (as of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https://reliefweb.int/report/colombia/one-month-after-colombia-earthquake-pahowho-continues-support-response-and-stabilization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Population Movement - Imminent DREF Final Report (MDRCO034) - unrelated migration programme, not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https://reliefweb.int/report/colombia/colombia-population-movement-imminent-dref-final-report-mdrco034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60 / 61</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(15/15)</a:t>
            </a:r>
            <a:endParaRPr lang="en-US" sz="2100" dirty="0"/>
          </a:p>
        </p:txBody>
      </p:sp>
      <p:pic>
        <p:nvPicPr>
          <p:cNvPr id="3" name="Image 0" descr="/tmp/build_event-dLzzV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Colombia Earthquake - Operation Update #1 (MDRCO036), 22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https://reliefweb.int/report/colombia/colombia-earthquake-operation-update-1-mdrco036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014, Update on the Impact of the Earthquake (23 Sep 2026, 18:30 cut)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https://reliefweb.int/report/colombia/colombia-flash-update-014-update-impact-earthquake-colombia-september-23-2026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014 (Spanish edition),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https://reliefweb.int/report/colombia/colombia-flash-update-014-actualizacion-afectaciones-por-terremoto-en-colombia-23-de-septiembre-de-2026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Colombia Earthquake Response Situation Report #11 (IOM, 21/25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https://reliefweb.int/report/colombia/colombia-earthquake-response-situation-report-11-21-september-2026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Colombia displacement/confinement monitoring, Jan-Mar 2026 (UNHCR)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https://reliefweb.int/report/colombia/colombia-monitoreo-de-emergencias-humanitarias-desplazamiento-masivo-y-confinamiento-enero-marzo-2026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Colombia displacement/confinement monitoring, 2025 (UNHCR)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https://reliefweb.int/report/colombia/colombia-monitoreo-de-emergencias-humanitarias-desplazamiento-masivo-y-confinamiento-2025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61 / 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dLzzVE/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Asian Disaster Reduction Center (ADRC)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Bilingual (EN/JA) report for domestic and international dissemination. Public-agency sources take priority; gaps are filled with clearly-labelled media reports.</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2026-09-26 07:50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2026-09-25T22:48:30Z</dcterms:created>
  <dcterms:modified xsi:type="dcterms:W3CDTF">2026-09-25T22:48:30Z</dcterms:modified>
</cp:coreProperties>
</file>