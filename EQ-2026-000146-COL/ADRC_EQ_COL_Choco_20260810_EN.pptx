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sgc.gov.co/detallesismo/SGC2026pqqmro/mmi" TargetMode="External"/><Relationship Id="rId6"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3-1.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4-1.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5-1.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6-1.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7-1.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google.com/maps/@5.69,-76.66,9z"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jp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bdrsnc.sgc.gov.co/paginas1/catalogo/index.php" TargetMode="External"/><Relationship Id="rId5" Type="http://schemas.openxmlformats.org/officeDocument/2006/relationships/hyperlink" Target="https://earthquake.usgs.gov/earthquakes/eventpage/us6000tjl2/executive"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1"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fnet.bosai.go.jp/"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1" Type="http://schemas.openxmlformats.org/officeDocument/2006/relationships/image" Target="../media/image-13-1.png"/><Relationship Id="rId2" Type="http://schemas.openxmlformats.org/officeDocument/2006/relationships/image" Target="../media/image-13-2.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pager" TargetMode="External"/><Relationship Id="rId1" Type="http://schemas.openxmlformats.org/officeDocument/2006/relationships/image" Target="../media/image-21-1.png"/><Relationship Id="rId2" Type="http://schemas.openxmlformats.org/officeDocument/2006/relationships/image" Target="../media/image-21-2.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6-1.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8-1.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1" Type="http://schemas.openxmlformats.org/officeDocument/2006/relationships/image" Target="../media/image-29-1.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mapping.emergency.copernicus.eu/activations/EMSR916/" TargetMode="External"/><Relationship Id="rId1" Type="http://schemas.openxmlformats.org/officeDocument/2006/relationships/image" Target="../media/image-30-1.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jp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 Type="http://schemas.openxmlformats.org/officeDocument/2006/relationships/image" Target="../media/image-38-1.png"/><Relationship Id="rId14" Type="http://schemas.openxmlformats.org/officeDocument/2006/relationships/slideLayout" Target="../slideLayouts/slideLayout1.xml"/><Relationship Id="rId1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2" Type="http://schemas.openxmlformats.org/officeDocument/2006/relationships/hyperlink" Target="https://www.cnn.com/2026/08/10/world/live-news/colombia-earthquake-san-jose-del-palmar" TargetMode="External"/><Relationship Id="rId3" Type="http://schemas.openxmlformats.org/officeDocument/2006/relationships/hyperlink" Target="https://www.elcolombiano.com/colombia/terremoto-temblor-hoy-colombia-choco-heridos-FL39761141" TargetMode="External"/><Relationship Id="rId4" Type="http://schemas.openxmlformats.org/officeDocument/2006/relationships/hyperlink" Target="https://un-spider.org/national-unit-disaster-risk-management-ungrd-colombia" TargetMode="External"/><Relationship Id="rId5" Type="http://schemas.openxmlformats.org/officeDocument/2006/relationships/hyperlink" Target="https://www.oecd.org/en/publications/risk-governance-scan-of-colombia_eeb81954-en.html" TargetMode="External"/><Relationship Id="rId6" Type="http://schemas.openxmlformats.org/officeDocument/2006/relationships/hyperlink" Target="https://www.cnn.com/2026/08/10/world/live-news/colombia-earthquake-san-jose-del-palmar" TargetMode="External"/><Relationship Id="rId7" Type="http://schemas.openxmlformats.org/officeDocument/2006/relationships/hyperlink" Target="https://www.france24.com/en/americas/20260810-powerful-quake-rocks-colombia-causing-major-damage" TargetMode="External"/><Relationship Id="rId8" Type="http://schemas.openxmlformats.org/officeDocument/2006/relationships/hyperlink" Target="https://www.aljazeera.com/news/2026/8/10/7-4-magnitude-earthquake-hits-colombia-killing-at-least-20" TargetMode="External"/><Relationship Id="rId9" Type="http://schemas.openxmlformats.org/officeDocument/2006/relationships/hyperlink" Target="https://www.cbsnews.com/news/colombia-earthquake-western-region-evacuations/" TargetMode="External"/><Relationship Id="rId10" Type="http://schemas.openxmlformats.org/officeDocument/2006/relationships/hyperlink" Target="https://www.nbcnews.com/world/latin-america/strong-earthquake-colombia-ecuador-people-evacuating-homes-buildings-rcna591709" TargetMode="External"/><Relationship Id="rId11" Type="http://schemas.openxmlformats.org/officeDocument/2006/relationships/hyperlink" Target="https://colombiaone.com/2026/08/10/earthquake-colombia-official-details/" TargetMode="External"/><Relationship Id="rId12" Type="http://schemas.openxmlformats.org/officeDocument/2006/relationships/hyperlink" Target="https://colombiaone.com/2026/08/10/colombia-national-disaster/" TargetMode="External"/><Relationship Id="rId1" Type="http://schemas.openxmlformats.org/officeDocument/2006/relationships/image" Target="../media/image-39-1.png"/><Relationship Id="rId13" Type="http://schemas.openxmlformats.org/officeDocument/2006/relationships/slideLayout" Target="../slideLayouts/slideLayout1.xml"/><Relationship Id="rId1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2" Type="http://schemas.openxmlformats.org/officeDocument/2006/relationships/hyperlink" Target="https://www.infobae.com/colombia/2026/08/10/por-que-el-temblor-en-colombia-de-este-lunes-10-de-agosto-duro-una-eternidad-el-servicio-geologico-explico-que-paso/" TargetMode="External"/><Relationship Id="rId3" Type="http://schemas.openxmlformats.org/officeDocument/2006/relationships/hyperlink" Target="https://www3.nhk.or.jp/news/" TargetMode="External"/><Relationship Id="rId4" Type="http://schemas.openxmlformats.org/officeDocument/2006/relationships/hyperlink" Target="https://www.nikkei.com/article/DGXZQOGN108V30Q6A810C2000000/" TargetMode="External"/><Relationship Id="rId5" Type="http://schemas.openxmlformats.org/officeDocument/2006/relationships/hyperlink" Target="https://www.jiji.com/jc/article?k=2026081000878&amp;g=int" TargetMode="External"/><Relationship Id="rId6" Type="http://schemas.openxmlformats.org/officeDocument/2006/relationships/hyperlink" Target="https://www.savethechildren.org/us/about-us/media-and-news/2026-press-releases/children-at-risk-after-earthquake-strikes-colombia" TargetMode="External"/><Relationship Id="rId7" Type="http://schemas.openxmlformats.org/officeDocument/2006/relationships/hyperlink" Target="https://www.directrelief.org/2026/08/colombia-earthquake-7-4-magnitude-direct-relief-response/" TargetMode="External"/><Relationship Id="rId8" Type="http://schemas.openxmlformats.org/officeDocument/2006/relationships/hyperlink" Target="https://www.americares.org/crisis-alerts/colombia-earthquake-august-2026/" TargetMode="External"/><Relationship Id="rId9" Type="http://schemas.openxmlformats.org/officeDocument/2006/relationships/hyperlink" Target="https://glidenumber.net/" TargetMode="External"/><Relationship Id="rId10" Type="http://schemas.openxmlformats.org/officeDocument/2006/relationships/hyperlink" Target="https://www.adrc.asia/" TargetMode="External"/><Relationship Id="rId11" Type="http://schemas.openxmlformats.org/officeDocument/2006/relationships/hyperlink" Target="https://www.democrata.es/en/international/von-der-leyen-expresses-the-eu-s-support-for-colombia-and-activates-copernicus-after-the-earthquake/" TargetMode="External"/><Relationship Id="rId12" Type="http://schemas.openxmlformats.org/officeDocument/2006/relationships/hyperlink" Target="https://www.globalquakemodel.org/proj/treq" TargetMode="External"/><Relationship Id="rId1" Type="http://schemas.openxmlformats.org/officeDocument/2006/relationships/image" Target="../media/image-40-1.png"/><Relationship Id="rId13" Type="http://schemas.openxmlformats.org/officeDocument/2006/relationships/slideLayout" Target="../slideLayouts/slideLayout1.xml"/><Relationship Id="rId1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2" Type="http://schemas.openxmlformats.org/officeDocument/2006/relationships/hyperlink" Target="https://cloud-storage.globalquakemodel.org/public/wix-new-website/pdf-collections-wix/publications/TREQ%20deliverables/reports/TREQ_D262_Riesgo_Sismico_Cali_v1.00.pdf" TargetMode="External"/><Relationship Id="rId3" Type="http://schemas.openxmlformats.org/officeDocument/2006/relationships/hyperlink" Target="https://www.sciencedirect.com/science/article/abs/pii/S2212420925003097" TargetMode="External"/><Relationship Id="rId4" Type="http://schemas.openxmlformats.org/officeDocument/2006/relationships/hyperlink" Target="https://satic.cali.gov.co/satic"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Paginas/Plan-Nacional-de-Gestion-del-Riesgo.aspx" TargetMode="External"/><Relationship Id="rId7" Type="http://schemas.openxmlformats.org/officeDocument/2006/relationships/hyperlink" Target="https://www.funcionpublica.gov.co/eva/gestornormativo/norma.php?i=191411" TargetMode="External"/><Relationship Id="rId8" Type="http://schemas.openxmlformats.org/officeDocument/2006/relationships/hyperlink" Target="https://www.emsc-csem.org/" TargetMode="External"/><Relationship Id="rId9" Type="http://schemas.openxmlformats.org/officeDocument/2006/relationships/hyperlink" Target="https://catalogosismico.sgc.gov.co/visor/index.html" TargetMode="External"/><Relationship Id="rId10"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1" Type="http://schemas.openxmlformats.org/officeDocument/2006/relationships/hyperlink" Target="https://www.elespectador.com/colombia/mas-regiones/temblor-en-colombia-hoy-10-de-agosto-en-vivo-epicentro-y-reporte-de-afectaciones/" TargetMode="External"/><Relationship Id="rId12" Type="http://schemas.openxmlformats.org/officeDocument/2006/relationships/hyperlink" Target="https://www.noticiascaracol.com/colombia/en-vivo-colombia-hoy-tras-terremoto-de-magnitud-7-4-continuan-las-labores-de-rescate-so35" TargetMode="External"/><Relationship Id="rId1" Type="http://schemas.openxmlformats.org/officeDocument/2006/relationships/image" Target="../media/image-41-1.png"/><Relationship Id="rId13" Type="http://schemas.openxmlformats.org/officeDocument/2006/relationships/slideLayout" Target="../slideLayouts/slideLayout1.xml"/><Relationship Id="rId1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2" Type="http://schemas.openxmlformats.org/officeDocument/2006/relationships/hyperlink" Target="https://rpp.pe/mundo/colombia/abelardo-de-la-espriella-cifra-en-181-los-muertos-por-el-terremoto-59-menos-que-datos-regionales-noticia-1701022" TargetMode="External"/><Relationship Id="rId3" Type="http://schemas.openxmlformats.org/officeDocument/2006/relationships/hyperlink" Target="https://www.eltiempo.com/colombia/otras-ciudades/cuantas-replicas-se-han-registrado-tras-el-terremoto-de-7-4-en-colombia-estas-son-todas-las-magnitudes-3577711"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mofa.go.jp/mofaj/la_c/sa/co/pageit_000001_00001.html" TargetMode="External"/><Relationship Id="rId6" Type="http://schemas.openxmlformats.org/officeDocument/2006/relationships/hyperlink" Target="https://x.com/MofaJapan_jp/status/2087155064855261537" TargetMode="External"/><Relationship Id="rId7" Type="http://schemas.openxmlformats.org/officeDocument/2006/relationships/hyperlink" Target="https://www.eltiempo.com/mundo/mas-regiones/la-comunidad-internacional-se-vuelca-en-ayudas-para-colombia-lista-de-paises-que-han-ofrecido-apoyo-tras-el-terremoto-de-magnitud-7-3577512" TargetMode="External"/><Relationship Id="rId8" Type="http://schemas.openxmlformats.org/officeDocument/2006/relationships/hyperlink" Target="https://colombia.un.org/es/320793-informaci%C3%B3n-y-actualizaciones-sobre-el-terremoto-en-colombia" TargetMode="External"/><Relationship Id="rId9" Type="http://schemas.openxmlformats.org/officeDocument/2006/relationships/hyperlink" Target="https://news.un.org/es/story/2026/08/1541792" TargetMode="External"/><Relationship Id="rId10" Type="http://schemas.openxmlformats.org/officeDocument/2006/relationships/hyperlink" Target="https://www.colombiatebusca.com/" TargetMode="External"/><Relationship Id="rId11" Type="http://schemas.openxmlformats.org/officeDocument/2006/relationships/hyperlink" Target="https://www.asocapitales.co/terremoto-colombia.html" TargetMode="External"/><Relationship Id="rId12" Type="http://schemas.openxmlformats.org/officeDocument/2006/relationships/hyperlink" Target="https://www.infobae.com/colombia/2026/08/12/de-la-espriella-anuncio-alivios-y-subsidios-tras-emergencia-en-el-eje-cafetero-por-el-terremoto-detallo-plan-de-choque-para-educacion-y-vivienda/" TargetMode="External"/><Relationship Id="rId1" Type="http://schemas.openxmlformats.org/officeDocument/2006/relationships/image" Target="../media/image-42-1.png"/><Relationship Id="rId13" Type="http://schemas.openxmlformats.org/officeDocument/2006/relationships/slideLayout" Target="../slideLayouts/slideLayout1.xml"/><Relationship Id="rId1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2" Type="http://schemas.openxmlformats.org/officeDocument/2006/relationships/hyperlink" Target="https://www.pulzo.com/nacion/terremoto-en-colombia-ungrd-reporta-danos-y-victimas-en-valle-del-cauca-y-risaralda-PP5272829A" TargetMode="External"/><Relationship Id="rId3"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4" Type="http://schemas.openxmlformats.org/officeDocument/2006/relationships/hyperlink" Target="https://www.asocapitales.co/actualidad/noticias/ciudades-seguras/terremoto-deja-188-fallecidos-y-1677-heridos-en-ciudades" TargetMode="External"/><Relationship Id="rId5" Type="http://schemas.openxmlformats.org/officeDocument/2006/relationships/hyperlink" Target="https://www.infolibre.es/internacional/terremoto-colombia-deja-254-muertos-continua-busqueda-escombros_1_2235003.html" TargetMode="External"/><Relationship Id="rId6" Type="http://schemas.openxmlformats.org/officeDocument/2006/relationships/hyperlink" Target="https://www.elcolombiano.com/colombia/cifra-muertos-heridos-desaparecidos-por-terremoto-colombia-MK39884181" TargetMode="External"/><Relationship Id="rId7" Type="http://schemas.openxmlformats.org/officeDocument/2006/relationships/hyperlink" Target="https://www.eltiempo.com/colombia/otras-ciudades/balance-oficial-de-la-ungrd-tras-terremoto-de-magnitud-7-4-en-colombia-273-fallecidos-3-824-heridos-y-377-desaparecidos-3578196" TargetMode="External"/><Relationship Id="rId8" Type="http://schemas.openxmlformats.org/officeDocument/2006/relationships/hyperlink" Target="https://www.eltiempo.com/vida/40-753-familias-afectadas-y-273-muertos-ungrd-entrega-nuevo-balance-del-terremoto-en-colombia-3578185" TargetMode="External"/><Relationship Id="rId9" Type="http://schemas.openxmlformats.org/officeDocument/2006/relationships/hyperlink" Target="https://www.eltiempo.com/colombia/otras-ciudades/nuevo-temblor-de-magnitud-4-2-se-registro-en-san-jose-del-palmar-choco-en-la-manana-de-este-jueves-13-de-agosto-3578131" TargetMode="External"/><Relationship Id="rId10" Type="http://schemas.openxmlformats.org/officeDocument/2006/relationships/hyperlink" Target="https://www.infobae.com/colombia/2026/08/13/colombia-recibira-equipos-de-rescate-de-ee-uu-israel-ecuador-y-el-salvador-por-terremoto/" TargetMode="External"/><Relationship Id="rId11" Type="http://schemas.openxmlformats.org/officeDocument/2006/relationships/hyperlink" Target="https://www.eltiempo.com/colombia/otras-ciudades/balance-oficial-de-la-ungrd-tras-terremoto-de-magnitud-7-4-en-colombia-287-fallecidos-3-975-heridos-y-378-desaparecidos-3578445" TargetMode="External"/><Relationship Id="rId1" Type="http://schemas.openxmlformats.org/officeDocument/2006/relationships/image" Target="../media/image-43-1.png"/><Relationship Id="rId12" Type="http://schemas.openxmlformats.org/officeDocument/2006/relationships/slideLayout" Target="../slideLayouts/slideLayout1.xml"/><Relationship Id="rId1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hyperlink" Target="https://www.infobae.com/colombia/2026/08/14/temblor-de-74-en-colombia-el-10-de-agosto-se-actualizo-el-numero-de-fallecidos-en-todo-el-pais/" TargetMode="External"/><Relationship Id="rId3" Type="http://schemas.openxmlformats.org/officeDocument/2006/relationships/hyperlink" Target="https://www.infobae.com/colombia/2026/08/14/aumenta-la-ayuda-internacional-a-colombia-tras-el-terremoto-de-74-india-envia-20-toneladas-y-noruega-suecia-y-espana-anuncian-nuevos-recursos/" TargetMode="External"/><Relationship Id="rId4" Type="http://schemas.openxmlformats.org/officeDocument/2006/relationships/hyperlink" Target="https://www.elheraldo.co/colombia/2026/08/14/italia-india-espana-chile-y-banco-mundial-entre-los-paises-y-organismos-que-han-enviado-ayudas-a-colombia-por-el-terremoto/" TargetMode="External"/><Relationship Id="rId5" Type="http://schemas.openxmlformats.org/officeDocument/2006/relationships/hyperlink" Target="https://www.jrc.or.jp/international/news/2026/0812_054987.html" TargetMode="External"/><Relationship Id="rId6"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7"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8" Type="http://schemas.openxmlformats.org/officeDocument/2006/relationships/hyperlink" Target="https://cnnespanol.cnn.com/2026/08/12/colombia/live-news/terremoto-en-vivo-muertos-videos-rescates-orix" TargetMode="External"/><Relationship Id="rId9"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10" Type="http://schemas.openxmlformats.org/officeDocument/2006/relationships/hyperlink" Target="https://www.semana.com/nacion/articulo/ascienden-a-294-los-fallecidos-del-terremoto-del-10-de-agosto-y-van-81506-viviendas-averiadas-segun-cifras-oficiales/202627/" TargetMode="External"/><Relationship Id="rId11" Type="http://schemas.openxmlformats.org/officeDocument/2006/relationships/hyperlink" Target="https://www.elheraldo.co/colombia/2026/08/12/presidente-de-la-espriella-decreta-tres-dias-de-duelo-nacional-por-victimas-del-terremoto/" TargetMode="External"/><Relationship Id="rId1" Type="http://schemas.openxmlformats.org/officeDocument/2006/relationships/image" Target="../media/image-44-1.png"/><Relationship Id="rId12" Type="http://schemas.openxmlformats.org/officeDocument/2006/relationships/slideLayout" Target="../slideLayouts/slideLayout1.xml"/><Relationship Id="rId1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3" Type="http://schemas.openxmlformats.org/officeDocument/2006/relationships/hyperlink" Target="https://www.eltiempo.com/colombia/otras-ciudades/balance-oficial-de-la-ungrd-este-16-de-agosto-tras-terremoto-de-7-4-en-colombia-289-fallecidos-4-187-heridos-y-143-desaparecidos-3578742" TargetMode="External"/><Relationship Id="rId4" Type="http://schemas.openxmlformats.org/officeDocument/2006/relationships/hyperlink" Target="https://www.rtvcnoticias.com/actualidad/terremoto-deja-289-fallecidos-143-desaparecidos-y-mas-de-185000-afectados-en-colombia" TargetMode="External"/><Relationship Id="rId5" Type="http://schemas.openxmlformats.org/officeDocument/2006/relationships/hyperlink" Target="https://www.radiosantafe.com/2026/08/16/ungrd-reduce-a-289-cifra-de-fallecidos-y-a-143-la-de-personas-desaparecidas-por-el-terremoto/" TargetMode="External"/><Relationship Id="rId6" Type="http://schemas.openxmlformats.org/officeDocument/2006/relationships/hyperlink" Target="https://www.semana.com/nacion/articulo/terremoto-en-colombia-reportan-287-muertos-y-4147-heridos-en-nuevo-balance-de-la-ungrd/202615/" TargetMode="External"/><Relationship Id="rId7" Type="http://schemas.openxmlformats.org/officeDocument/2006/relationships/hyperlink" Target="https://www.latercera.com/mundo/noticia/colombia-rebaja-a-casi-287-los-muertos-y-eleva-a-cerca-de-4150-los-heridos-por-el-terremoto/" TargetMode="External"/><Relationship Id="rId8" Type="http://schemas.openxmlformats.org/officeDocument/2006/relationships/hyperlink" Target="https://reliefweb.int/report/colombia/colombia-flash-update-010-update-impact-earthquake-colombia-august-27-2026" TargetMode="External"/><Relationship Id="rId9" Type="http://schemas.openxmlformats.org/officeDocument/2006/relationships/hyperlink" Target="https://reliefweb.int/report/colombia/colombia-flash-update-010-actualizacion-afectaciones-por-terremoto-en-colombia-27-de-agosto-de-2026" TargetMode="External"/><Relationship Id="rId10" Type="http://schemas.openxmlformats.org/officeDocument/2006/relationships/hyperlink" Target="https://reliefweb.int/report/colombia/colombia-flash-update-009-update-impact-earthquake-colombia-august-24-2026" TargetMode="External"/><Relationship Id="rId11" Type="http://schemas.openxmlformats.org/officeDocument/2006/relationships/hyperlink" Target="https://reliefweb.int/report/colombia/colombia-flash-update-009-actualizacion-afectaciones-por-terremoto-en-colombia-24-de-agosto-de-2026" TargetMode="External"/><Relationship Id="rId1" Type="http://schemas.openxmlformats.org/officeDocument/2006/relationships/image" Target="../media/image-45-1.png"/><Relationship Id="rId12" Type="http://schemas.openxmlformats.org/officeDocument/2006/relationships/slideLayout" Target="../slideLayouts/slideLayout1.xml"/><Relationship Id="rId1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2" Type="http://schemas.openxmlformats.org/officeDocument/2006/relationships/hyperlink" Target="https://reliefweb.int/report/colombia/iom-colombia-earthquake-response-situation-report-6-28-august-2026" TargetMode="External"/><Relationship Id="rId3" Type="http://schemas.openxmlformats.org/officeDocument/2006/relationships/hyperlink" Target="https://reliefweb.int/report/colombia/oim-respuesta-al-terremoto-en-colombia-reporte-de-situacion-6-28-agosto-2026" TargetMode="External"/><Relationship Id="rId4" Type="http://schemas.openxmlformats.org/officeDocument/2006/relationships/hyperlink" Target="https://x.com/UNGRD/status/2094414373506736128" TargetMode="External"/><Relationship Id="rId5" Type="http://schemas.openxmlformats.org/officeDocument/2006/relationships/hyperlink" Target="https://x.com/UNGRD/status/2094764781831872512" TargetMode="External"/><Relationship Id="rId6" Type="http://schemas.openxmlformats.org/officeDocument/2006/relationships/hyperlink" Target="https://reliefweb.int/report/colombia/colombia-earthquake-ltc-telecoms-situation-report-02-reporting-period-25-31-august-2026" TargetMode="External"/><Relationship Id="rId7" Type="http://schemas.openxmlformats.org/officeDocument/2006/relationships/hyperlink" Target="https://reliefweb.int/report/colombia/amda-emergency-relief-1-earthquake-colombia-1-september-2026" TargetMode="External"/><Relationship Id="rId8" Type="http://schemas.openxmlformats.org/officeDocument/2006/relationships/hyperlink" Target="https://reliefweb.int/report/colombia/colombia-icrc-assesses-needs-communities-affected-armed-conflict-following-earthquake" TargetMode="External"/><Relationship Id="rId9" Type="http://schemas.openxmlformats.org/officeDocument/2006/relationships/hyperlink" Target="https://reliefweb.int/map/colombia/colombia-74-m-earthquake-10-august-and-eu-response-dg-echo-daily-map-26082026" TargetMode="External"/><Relationship Id="rId10" Type="http://schemas.openxmlformats.org/officeDocument/2006/relationships/hyperlink" Target="https://reliefweb.int/map/colombia/pereira-colombia-alojamientos-temporales-terremoto-10-de-agosto-2026-19082026" TargetMode="External"/><Relationship Id="rId11" Type="http://schemas.openxmlformats.org/officeDocument/2006/relationships/hyperlink" Target="https://reliefweb.int/map/colombia/manizales-colombia-barrios-afectados-terremoto-10-de-agosto-2026-20082026" TargetMode="External"/><Relationship Id="rId1" Type="http://schemas.openxmlformats.org/officeDocument/2006/relationships/image" Target="../media/image-46-1.png"/><Relationship Id="rId12" Type="http://schemas.openxmlformats.org/officeDocument/2006/relationships/slideLayout" Target="../slideLayouts/slideLayout1.xml"/><Relationship Id="rId1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2" Type="http://schemas.openxmlformats.org/officeDocument/2006/relationships/hyperlink" Target="https://reliefweb.int/report/colombia/colombia-addendum-humanitarian-response-plan-earthquake-august-2026" TargetMode="External"/><Relationship Id="rId3" Type="http://schemas.openxmlformats.org/officeDocument/2006/relationships/hyperlink" Target="https://reliefweb.int/report/colombia/colombia-adenda-al-plan-de-respuesta-humanitaria-terremoto-agosto-2026" TargetMode="External"/><Relationship Id="rId4" Type="http://schemas.openxmlformats.org/officeDocument/2006/relationships/hyperlink" Target="https://reliefweb.int/report/colombia/colombia-plan-de-respuesta-necesidades-humanitarias-febrero-2026-enes" TargetMode="External"/><Relationship Id="rId5" Type="http://schemas.openxmlformats.org/officeDocument/2006/relationships/hyperlink" Target="https://reliefweb.int/report/colombia/humanitarian-action-children-2026-colombia" TargetMode="External"/><Relationship Id="rId6" Type="http://schemas.openxmlformats.org/officeDocument/2006/relationships/hyperlink" Target="https://reliefweb.int/report/colombia/colombia-flash-update-011-actualizacion-afectaciones-por-terremoto-en-colombia-02-de-septiembre-de-2026" TargetMode="External"/><Relationship Id="rId7" Type="http://schemas.openxmlformats.org/officeDocument/2006/relationships/hyperlink" Target="https://reliefweb.int/report/colombia/colombia-flash-update-011-update-impact-earthquake-colombia-september-2-2026" TargetMode="External"/><Relationship Id="rId8" Type="http://schemas.openxmlformats.org/officeDocument/2006/relationships/hyperlink" Target="https://reliefweb.int/report/colombia/urgent-needs-persist-three-weeks-after-earthquake-colombia" TargetMode="External"/><Relationship Id="rId9" Type="http://schemas.openxmlformats.org/officeDocument/2006/relationships/hyperlink" Target="https://reliefweb.int/report/colombia/informe-de-monitoreo-de-proteccion-trimestral-de-drc-colombia-abril-junio-2026" TargetMode="External"/><Relationship Id="rId10" Type="http://schemas.openxmlformats.org/officeDocument/2006/relationships/hyperlink" Target="https://reliefweb.int/report/colombia/colombia-earthquake-situation-report-7-31-aug-2026" TargetMode="External"/><Relationship Id="rId11" Type="http://schemas.openxmlformats.org/officeDocument/2006/relationships/hyperlink" Target="https://reliefweb.int/report/colombia/respuesta-al-terremoto-en-colombia-reporte-de-situacion-7-31-agosto-2026" TargetMode="External"/><Relationship Id="rId12" Type="http://schemas.openxmlformats.org/officeDocument/2006/relationships/hyperlink" Target="https://reliefweb.int/report/colombia/amda-emergency-relief-2-earthquake-colombia-3-september-2026" TargetMode="External"/><Relationship Id="rId1" Type="http://schemas.openxmlformats.org/officeDocument/2006/relationships/image" Target="../media/image-47-1.png"/><Relationship Id="rId13" Type="http://schemas.openxmlformats.org/officeDocument/2006/relationships/slideLayout" Target="../slideLayouts/slideLayout1.xml"/><Relationship Id="rId1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2" Type="http://schemas.openxmlformats.org/officeDocument/2006/relationships/hyperlink" Target="https://reliefweb.int/map/colombia/manizales-colombia-barrios-afectados-terremoto-10-de-agosto-2026-03092026" TargetMode="External"/><Relationship Id="rId1" Type="http://schemas.openxmlformats.org/officeDocument/2006/relationships/image" Target="../media/image-48-1.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1j1h9p/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Cambria" pitchFamily="34" charset="0"/>
                <a:ea typeface="Cambria" pitchFamily="34" charset="-122"/>
                <a:cs typeface="Cambria" pitchFamily="34" charset="-120"/>
              </a:rPr>
              <a:t>2026 Chocó Earthquake (Colombia)</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EQ-2026-000146-COL)</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Mww 7.4   ·   Max. seismic intensity MMI VII (USGS ShakeMap)   ·   USGS: 5 km S of San José del Palmar, Chocó Department (approx. 280 km W of Bogotá) — SGC: 12 km from San José del Palmar</a:t>
            </a:r>
            <a:endParaRPr lang="en-US" sz="130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371600"/>
            <a:ext cx="4590288"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① World → Colombia</a:t>
            </a:r>
            <a:endParaRPr lang="en-US" sz="1250" dirty="0"/>
          </a:p>
        </p:txBody>
      </p:sp>
      <p:sp>
        <p:nvSpPr>
          <p:cNvPr id="8" name="Shape 5"/>
          <p:cNvSpPr/>
          <p:nvPr/>
        </p:nvSpPr>
        <p:spPr>
          <a:xfrm>
            <a:off x="365760" y="1645920"/>
            <a:ext cx="3218688" cy="2414016"/>
          </a:xfrm>
          <a:prstGeom prst="rect">
            <a:avLst/>
          </a:prstGeom>
          <a:solidFill>
            <a:srgbClr val="F2F2F2"/>
          </a:solidFill>
          <a:ln w="9525">
            <a:solidFill>
              <a:srgbClr val="D9D9D9"/>
            </a:solidFill>
            <a:prstDash val="solid"/>
          </a:ln>
        </p:spPr>
      </p:sp>
      <p:pic>
        <p:nvPicPr>
          <p:cNvPr id="9" name="Image 1" descr="/tmp/build_event-1j1h9p/generator/images/EQ-2026-000146-COL/locator_world_manual.jpg">    </p:cNvPr>
          <p:cNvPicPr>
            <a:picLocks noChangeAspect="1"/>
          </p:cNvPicPr>
          <p:nvPr/>
        </p:nvPicPr>
        <p:blipFill>
          <a:blip r:embed="rId2"/>
          <a:srcRect l="0" r="0" t="0" b="0"/>
          <a:stretch/>
        </p:blipFill>
        <p:spPr>
          <a:xfrm>
            <a:off x="365760" y="1645920"/>
            <a:ext cx="3218688" cy="2414016"/>
          </a:xfrm>
          <a:prstGeom prst="rect">
            <a:avLst/>
          </a:prstGeom>
        </p:spPr>
      </p:pic>
      <p:sp>
        <p:nvSpPr>
          <p:cNvPr id="10" name="Shape 6"/>
          <p:cNvSpPr/>
          <p:nvPr/>
        </p:nvSpPr>
        <p:spPr>
          <a:xfrm>
            <a:off x="2377440" y="3822192"/>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377440" y="3822192"/>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2" name="Text 8"/>
          <p:cNvSpPr/>
          <p:nvPr/>
        </p:nvSpPr>
        <p:spPr>
          <a:xfrm>
            <a:off x="4471416" y="1371600"/>
            <a:ext cx="4590288"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② Colombia → Chocó</a:t>
            </a:r>
            <a:endParaRPr lang="en-US" sz="1250" dirty="0"/>
          </a:p>
        </p:txBody>
      </p:sp>
      <p:sp>
        <p:nvSpPr>
          <p:cNvPr id="13" name="Shape 9"/>
          <p:cNvSpPr/>
          <p:nvPr/>
        </p:nvSpPr>
        <p:spPr>
          <a:xfrm>
            <a:off x="4471416" y="1645920"/>
            <a:ext cx="3218688" cy="2414016"/>
          </a:xfrm>
          <a:prstGeom prst="rect">
            <a:avLst/>
          </a:prstGeom>
          <a:solidFill>
            <a:srgbClr val="F2F2F2"/>
          </a:solidFill>
          <a:ln w="9525">
            <a:solidFill>
              <a:srgbClr val="D9D9D9"/>
            </a:solidFill>
            <a:prstDash val="solid"/>
          </a:ln>
        </p:spPr>
      </p:sp>
      <p:pic>
        <p:nvPicPr>
          <p:cNvPr id="14" name="Image 2" descr="/tmp/build_event-1j1h9p/generator/images/EQ-2026-000146-COL/locator_region_manual.jpg">    </p:cNvPr>
          <p:cNvPicPr>
            <a:picLocks noChangeAspect="1"/>
          </p:cNvPicPr>
          <p:nvPr/>
        </p:nvPicPr>
        <p:blipFill>
          <a:blip r:embed="rId3"/>
          <a:srcRect l="0" r="0" t="0" b="0"/>
          <a:stretch/>
        </p:blipFill>
        <p:spPr>
          <a:xfrm>
            <a:off x="4471416" y="1645920"/>
            <a:ext cx="3218688" cy="2414016"/>
          </a:xfrm>
          <a:prstGeom prst="rect">
            <a:avLst/>
          </a:prstGeom>
        </p:spPr>
      </p:pic>
      <p:sp>
        <p:nvSpPr>
          <p:cNvPr id="15" name="Shape 10"/>
          <p:cNvSpPr/>
          <p:nvPr/>
        </p:nvSpPr>
        <p:spPr>
          <a:xfrm>
            <a:off x="6483096" y="3822192"/>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483096" y="3822192"/>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7" name="Text 12"/>
          <p:cNvSpPr/>
          <p:nvPr/>
        </p:nvSpPr>
        <p:spPr>
          <a:xfrm>
            <a:off x="8577072" y="1371600"/>
            <a:ext cx="4590288"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③ SGC macroseismic intensity</a:t>
            </a:r>
            <a:endParaRPr lang="en-US" sz="1250" dirty="0"/>
          </a:p>
        </p:txBody>
      </p:sp>
      <p:sp>
        <p:nvSpPr>
          <p:cNvPr id="18" name="Shape 13"/>
          <p:cNvSpPr/>
          <p:nvPr/>
        </p:nvSpPr>
        <p:spPr>
          <a:xfrm>
            <a:off x="8577072" y="1645920"/>
            <a:ext cx="3218688" cy="2414016"/>
          </a:xfrm>
          <a:prstGeom prst="rect">
            <a:avLst/>
          </a:prstGeom>
          <a:solidFill>
            <a:srgbClr val="F2F2F2"/>
          </a:solidFill>
          <a:ln w="9525">
            <a:solidFill>
              <a:srgbClr val="D9D9D9"/>
            </a:solidFill>
            <a:prstDash val="solid"/>
          </a:ln>
        </p:spPr>
      </p:sp>
      <p:pic>
        <p:nvPicPr>
          <p:cNvPr id="19" name="Image 3" descr="/tmp/build_event-1j1h9p/generator/images/EQ-2026-000146-COL/sgc_shakemap_manual.jpg">    </p:cNvPr>
          <p:cNvPicPr>
            <a:picLocks noChangeAspect="1"/>
          </p:cNvPicPr>
          <p:nvPr/>
        </p:nvPicPr>
        <p:blipFill>
          <a:blip r:embed="rId4"/>
          <a:srcRect l="0" r="0" t="0" b="0"/>
          <a:stretch/>
        </p:blipFill>
        <p:spPr>
          <a:xfrm>
            <a:off x="8577072" y="1645920"/>
            <a:ext cx="3218688" cy="2414016"/>
          </a:xfrm>
          <a:prstGeom prst="rect">
            <a:avLst/>
          </a:prstGeom>
        </p:spPr>
      </p:pic>
      <p:sp>
        <p:nvSpPr>
          <p:cNvPr id="20" name="Shape 14"/>
          <p:cNvSpPr/>
          <p:nvPr/>
        </p:nvSpPr>
        <p:spPr>
          <a:xfrm>
            <a:off x="10588752" y="3822192"/>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3822192"/>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SGC</a:t>
            </a:r>
            <a:endParaRPr lang="en-US" sz="850" dirty="0"/>
          </a:p>
        </p:txBody>
      </p:sp>
      <p:sp>
        <p:nvSpPr>
          <p:cNvPr id="22" name="Shape 16"/>
          <p:cNvSpPr/>
          <p:nvPr/>
        </p:nvSpPr>
        <p:spPr>
          <a:xfrm>
            <a:off x="1688998" y="2302265"/>
            <a:ext cx="698098" cy="1020278"/>
          </a:xfrm>
          <a:prstGeom prst="rect">
            <a:avLst/>
          </a:prstGeom>
          <a:solidFill>
            <a:srgbClr val="FFFFFF">
              <a:alpha val="0"/>
            </a:srgbClr>
          </a:solidFill>
          <a:ln w="22225">
            <a:solidFill>
              <a:srgbClr val="C00000"/>
            </a:solidFill>
            <a:prstDash val="solid"/>
          </a:ln>
        </p:spPr>
      </p:sp>
      <p:sp>
        <p:nvSpPr>
          <p:cNvPr id="23" name="Shape 17"/>
          <p:cNvSpPr/>
          <p:nvPr/>
        </p:nvSpPr>
        <p:spPr>
          <a:xfrm flipV="1">
            <a:off x="2387096" y="1645920"/>
            <a:ext cx="2084320" cy="656345"/>
          </a:xfrm>
          <a:prstGeom prst="line">
            <a:avLst/>
          </a:prstGeom>
          <a:noFill/>
          <a:ln w="19050">
            <a:solidFill>
              <a:srgbClr val="C00000"/>
            </a:solidFill>
            <a:prstDash val="solid"/>
          </a:ln>
        </p:spPr>
      </p:sp>
      <p:sp>
        <p:nvSpPr>
          <p:cNvPr id="24" name="Shape 18"/>
          <p:cNvSpPr/>
          <p:nvPr/>
        </p:nvSpPr>
        <p:spPr>
          <a:xfrm>
            <a:off x="2387096" y="3322543"/>
            <a:ext cx="2084320" cy="737393"/>
          </a:xfrm>
          <a:prstGeom prst="line">
            <a:avLst/>
          </a:prstGeom>
          <a:noFill/>
          <a:ln w="19050">
            <a:solidFill>
              <a:srgbClr val="C00000"/>
            </a:solidFill>
            <a:prstDash val="solid"/>
          </a:ln>
        </p:spPr>
      </p:sp>
      <p:sp>
        <p:nvSpPr>
          <p:cNvPr id="25" name="Shape 19"/>
          <p:cNvSpPr/>
          <p:nvPr/>
        </p:nvSpPr>
        <p:spPr>
          <a:xfrm>
            <a:off x="5485660" y="1682130"/>
            <a:ext cx="869761" cy="1997716"/>
          </a:xfrm>
          <a:prstGeom prst="rect">
            <a:avLst/>
          </a:prstGeom>
          <a:solidFill>
            <a:srgbClr val="FFFFFF">
              <a:alpha val="0"/>
            </a:srgbClr>
          </a:solidFill>
          <a:ln w="22225">
            <a:solidFill>
              <a:srgbClr val="C00000"/>
            </a:solidFill>
            <a:prstDash val="solid"/>
          </a:ln>
        </p:spPr>
      </p:sp>
      <p:sp>
        <p:nvSpPr>
          <p:cNvPr id="26" name="Shape 20"/>
          <p:cNvSpPr/>
          <p:nvPr/>
        </p:nvSpPr>
        <p:spPr>
          <a:xfrm flipV="1">
            <a:off x="6355421" y="1645920"/>
            <a:ext cx="2221651" cy="36210"/>
          </a:xfrm>
          <a:prstGeom prst="line">
            <a:avLst/>
          </a:prstGeom>
          <a:noFill/>
          <a:ln w="19050">
            <a:solidFill>
              <a:srgbClr val="C00000"/>
            </a:solidFill>
            <a:prstDash val="solid"/>
          </a:ln>
        </p:spPr>
      </p:sp>
      <p:sp>
        <p:nvSpPr>
          <p:cNvPr id="27" name="Shape 21"/>
          <p:cNvSpPr/>
          <p:nvPr/>
        </p:nvSpPr>
        <p:spPr>
          <a:xfrm>
            <a:off x="6355421" y="3679847"/>
            <a:ext cx="2221651" cy="380089"/>
          </a:xfrm>
          <a:prstGeom prst="line">
            <a:avLst/>
          </a:prstGeom>
          <a:noFill/>
          <a:ln w="19050">
            <a:solidFill>
              <a:srgbClr val="C00000"/>
            </a:solidFill>
            <a:prstDash val="solid"/>
          </a:ln>
        </p:spPr>
      </p:sp>
      <p:sp>
        <p:nvSpPr>
          <p:cNvPr id="28" name="Shape 22"/>
          <p:cNvSpPr/>
          <p:nvPr/>
        </p:nvSpPr>
        <p:spPr>
          <a:xfrm>
            <a:off x="0" y="4187952"/>
            <a:ext cx="12188952" cy="2139696"/>
          </a:xfrm>
          <a:prstGeom prst="rect">
            <a:avLst/>
          </a:prstGeom>
          <a:solidFill>
            <a:srgbClr val="262626"/>
          </a:solidFill>
          <a:ln w="12700">
            <a:solidFill>
              <a:srgbClr val="333333"/>
            </a:solidFill>
            <a:prstDash val="solid"/>
          </a:ln>
        </p:spPr>
      </p:sp>
      <p:sp>
        <p:nvSpPr>
          <p:cNvPr id="29" name="Text 23"/>
          <p:cNvSpPr/>
          <p:nvPr/>
        </p:nvSpPr>
        <p:spPr>
          <a:xfrm>
            <a:off x="457200" y="4261104"/>
            <a:ext cx="11274552" cy="199339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Overview   </a:t>
            </a:r>
            <a:pPr algn="l" indent="0" marL="0">
              <a:buNone/>
            </a:pPr>
            <a:r>
              <a:rPr lang="en-US" sz="1100" dirty="0">
                <a:solidFill>
                  <a:srgbClr val="FFFFFF"/>
                </a:solidFill>
                <a:latin typeface="Meiryo" pitchFamily="34" charset="0"/>
                <a:ea typeface="Meiryo" pitchFamily="34" charset="-122"/>
                <a:cs typeface="Meiryo" pitchFamily="34" charset="-120"/>
              </a:rPr>
              <a:t>At 07:34 local time (12:34 UTC) on 10 August 2026, an Mww 7.4 earthquake struck western Colombia with its epicentre 5 km east of San José del Palmar in Chocó Department, at a depth of about 110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The toll rose steeply through the first two days: 111 deaths in the Government's 13:00 COT balance on 10 August, 132 by that evening, and 182 deaths with 2,542 injured and 189 missing in UNGRD's situation report on 11 August, against 240 deaths when the departmental and city announcements are added up —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cathedral in Manizales fell onto the nave, and about 30% of Cali's University Hospital collapsed. The President declared a national disaster, set up a Unified Command Post in Chocó and deployed four USAR teams. There was no tsunami.</a:t>
            </a:r>
            <a:endParaRPr lang="en-US" sz="1250" dirty="0"/>
          </a:p>
        </p:txBody>
      </p:sp>
      <p:sp>
        <p:nvSpPr>
          <p:cNvPr id="30" name="Text 24"/>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Google Maps © Google</a:t>
            </a:r>
            <a:endParaRPr lang="en-US" sz="1050" dirty="0"/>
          </a:p>
        </p:txBody>
      </p:sp>
      <p:sp>
        <p:nvSpPr>
          <p:cNvPr id="31" name="Shape 25"/>
          <p:cNvSpPr/>
          <p:nvPr/>
        </p:nvSpPr>
        <p:spPr>
          <a:xfrm>
            <a:off x="10268712" y="6510528"/>
            <a:ext cx="1554480" cy="274320"/>
          </a:xfrm>
          <a:prstGeom prst="rect">
            <a:avLst/>
          </a:prstGeom>
          <a:solidFill>
            <a:srgbClr val="E8A317"/>
          </a:solidFill>
          <a:ln w="12700">
            <a:solidFill>
              <a:srgbClr val="E8A317"/>
            </a:solidFill>
            <a:prstDash val="solid"/>
          </a:ln>
        </p:spPr>
      </p:sp>
      <p:sp>
        <p:nvSpPr>
          <p:cNvPr id="32" name="Text 2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Earthquake &amp; Recovery</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5760720" cy="187452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The 1999 Armenia (Quindío) Earthquake - the same Coffee Region  /
</a:t>
            </a:r>
            <a:pPr algn="l" indent="0" marL="0">
              <a:buNone/>
            </a:pPr>
            <a:r>
              <a:rPr lang="en-US" sz="1150" dirty="0">
                <a:solidFill>
                  <a:srgbClr val="222222"/>
                </a:solidFill>
                <a:latin typeface="Meiryo" pitchFamily="34" charset="0"/>
                <a:ea typeface="Meiryo" pitchFamily="34" charset="-122"/>
                <a:cs typeface="Meiryo"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
</a:t>
            </a:r>
            <a:endParaRPr lang="en-US" sz="1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2971800"/>
          <a:ext cx="5760720" cy="914400"/>
        </p:xfrm>
        <a:graphic>
          <a:graphicData uri="http://schemas.openxmlformats.org/drawingml/2006/table">
            <a:tbl>
              <a:tblPr/>
              <a:tblGrid>
                <a:gridCol w="2377440"/>
                <a:gridCol w="3383280"/>
              </a:tblGrid>
              <a:tr h="402336">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1999 damage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Deaths</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approx. 1,185</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Injured</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over 5,000</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Structures damaged or destroyed</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approx. 50,000</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Displaced</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over 200,000</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Coffee sector</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approx. 8,000 farms and 1,200 processing facilities damaged</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309360" y="1051560"/>
            <a:ext cx="5486400" cy="397764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Recovery and what it changed
</a:t>
            </a:r>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Reconstruction was managed through a dedicated temporary body for the Coffee Region, an early example in Latin America of a purpose-built reconstruction agency.</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The disaster drove enforcement of the national seismic code and the seismic microzonation studies that now cover Pereira, Manizales and Armenia.</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Recovery of the coffee economy took roughly a decade - the economic tail of the disaster far outlasted the emergency phase.</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The 2026 earthquake shook the same cities, but as a deep, distant source rather than a shallow local one: a different loading of the same building stock.</a:t>
            </a:r>
            <a:endParaRPr lang="en-US" sz="1300" dirty="0"/>
          </a:p>
        </p:txBody>
      </p:sp>
      <p:sp>
        <p:nvSpPr>
          <p:cNvPr id="7" name="Shape 3"/>
          <p:cNvSpPr/>
          <p:nvPr/>
        </p:nvSpPr>
        <p:spPr>
          <a:xfrm>
            <a:off x="365760" y="5413248"/>
            <a:ext cx="11430000" cy="566928"/>
          </a:xfrm>
          <a:prstGeom prst="roundRect">
            <a:avLst>
              <a:gd name="adj" fmla="val 6452"/>
            </a:avLst>
          </a:prstGeom>
          <a:solidFill>
            <a:srgbClr val="FCE9DC"/>
          </a:solidFill>
          <a:ln w="9525">
            <a:solidFill>
              <a:srgbClr val="E8A317"/>
            </a:solidFill>
            <a:prstDash val="solid"/>
          </a:ln>
        </p:spPr>
      </p:sp>
      <p:sp>
        <p:nvSpPr>
          <p:cNvPr id="8" name="Text 4"/>
          <p:cNvSpPr/>
          <p:nvPr/>
        </p:nvSpPr>
        <p:spPr>
          <a:xfrm>
            <a:off x="594360" y="5440680"/>
            <a:ext cx="10972800" cy="51206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The cities hit hardest in 2026 - Pereira, Manizales, Armenia - are the same cities that rebuilt after 1999. How that rebuilt stock performed under long-period, long-duration shaking from a 110 km-deep source is the key question for post-event assessment.
</a:t>
            </a:r>
            <a:endParaRPr lang="en-US" sz="10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1" name="Text 7"/>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48</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(1/6)</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07:34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Mww 7.4 earthquake, epicentre 5 km S of San José del Palmar (Chocó), depth approx. 110 km. Felt in Bogotá, Cali, Medellín, and in Ecuador, Panama and Venezuela.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 / 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07:40s</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SGC issues a first bulletin (initially M6.6, 79 km depth), later revised to M7.4 at 96 km, located with 69 stations (event SGC2026pqqmro); damage-assessment protocols activated.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12:13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Copernicus EMS Rapid Mapping activated as EMSR916 (17:13 UTC), requested by EC Services / DG ECHO, for earthquake damage assessment mapping.</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Copernicus EMS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reports first damage indications in 9 municipalities of Chocó, 8 of Caldas, 2 of Valle del Cauca and 2 of Risaralda, plus localities in Quindío.</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Cali reports collapsed structures at 12 critical points with people trapped; part of the University Hospital collapses.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Mayor of Cali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Manizales reports 17 buildings collapsed and 19 partially collapsed; a tower of the neo-Gothic cathedral falls onto the nave. Residents asked to stay outdoors because of aftershocks.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Mayor of Manizales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Passenger terminal of Matecaña International Airport (Pereira) partially collapses; flights suspended at six regional airports.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Aerocivil / media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National disaster declared; Unified Command Post established in Chocó; armed forces deployed.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Four USAR teams deployed from Bogotá, Envigado, Yopal and Medellín.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More than 20 aftershocks recorded; the largest widely felt aftershock is M4.8.</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President travels to Pereira to lead the response on the ground.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Afternoon</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 / 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48</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(2/6)</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Afternoon</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Ecuador mobilises a 47-person USAR team with canine units; Mexico and other governments offer assistance, to be channelled through the Foreign Ministry and UNGRD.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media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Evening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reported national death toll rises to 132. Four people have been rescued alive from the rubble; more than 20 municipalities are reported affected, and power and telecommunications faults continue in Chocó.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media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 07:31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Japan's Prime Minister posts condolences (21:31 JST) and Foreign Minister Motegi issues a message offering condolences and stating that the Government of Japan also stands ready to provide the necessary assistance and that Japan stands in strong solidarity with the people of Colombia.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Japan (MOFA)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 09:20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SGC revises its solution for the mainshock to M7.4 at 103 km depth, 4.99 N 76.29 W, located with 119 stations and 208 phases. Its first bulletin had given M6.6 at 79 km and its second 7.4 at 96 km with 69 stations. (14:20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Search continues overnight. The President reports 700 injured nationally and about 5,000 homes damaged or destroyed, declares the missing the State's priority, and orders troops to Cali to maintain order. The mayor of Cali reports 85 deaths, 885 injured and 188 missing; Pereira's fire service reports 66 deaths; about 100 people are missing in Manizales. Five capital cities - Cali, Pereira, Quibdó, Manizales and Armenia - remain on red alert.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 / local authorities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UNGRD's situation report gives 182 deaths, 2,542 injured and 189 missing, with 13,067 homes damaged and 2,501 destroyed, 93 health facilities, 884 educational institutions, 427 community facilities and 77 roads affected. The President puts the toll at 181, of which 97.6% in capital cities. Ecuador, El Salvador and Russia are thanked for assistance.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 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SGC's published aftershock total reaches 103 at 15:00 COT - 97 at M3.0 or below, 5 between M3.0 and M4.0, one above M4.0 - and an M3.9 during the day prompts building evacuations in several affected cities. Its catalogue for the same period holds 147 located events, the wider figure including background seismicity.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states the humanitarian system is ready to support Colombia and names drinking water, hygiene and household items, health, food and shelter as the priority needs; no formal request for assistance has been received from the Colombian authorities.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 / 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48</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(3/6)</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Cali city officials report 107 buildings collapsed, 643 with structural damage and 18 under evacuation order; 230 people trapped, 88 rescued, 69 dead and 1,008 injured in the city.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Mayor of Cali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provisional national balance passes 224 deaths and more than 2,500 injured, with 279 taken to hospital and 243 people rescued alive; 195 are reported missing to the authorities. The citizen platform “Colombia te busca” holds 4,084 registrations, 3,653 of them still unresolved. Search continues in Pereira with about 300 rescuers, and much of Chocó remains reachable only by boat or aircraft.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President tours Pereira, Dosquebradas, Manizales and Armenia after Quibdó and Cali, announcing three months of relief on utility bills for affected households, rent subsidies for those who lost their homes and a shock plan for education and housing; an economic emergency decree is being prepared.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UNGRD's consolidated report covers 14 departments and 403 municipalities: 239 deaths, 3,755 injured, 287 missing, 140 buildings collapsed, 24,324 families (49,214 people) affected, 9,215 homes destroyed and 45,457 seriously damaged. Colombia accepts INSARAG-classified USAR teams from Israel, Ecuador, El Salvador and the United States; El Salvador sends 100 tonnes of relief supplies. A woman is rescued in Pereira after 36 hours under the rubble.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Adding up the departmental and city announcements gives 254 deaths - Pereira 101, Cali 95 - ahead of the national consolidation, which media attribute to the central government being slower to update.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media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From the Palacio de San Carlos the President announces UNGRD's updated balance: 265 deaths, 3,494 injured, 496 missing, 25,872 families (53,816 people) affected, 11,347 homes destroyed and 53,526 damaged, 1,819 educational centres and 631 community facilities affected. He also announces the declaration of an economic emergency.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Decree 1172 declares three days of national mourning from 12 August, flags at half-mast at home and in Colombian missions abroad. The same night the governor of Chocó ends the department's search-and-rescue phase after the last family sought in Quibdó, four people, is found alive.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 / Gobernación del Chocó</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13 Aug 09:42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M4.2 aftershock strikes San José del Palmar at 95 km depth, about 20 km from the mainshock epicentre. Felt in Pereira, Manizales, Medellín and Bogotá; search-and-rescue work is halted temporarily. It is the second aftershock above M4.0.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48</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(4/6)</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13 Aug AM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UNGRD's director gives a new balance: 273 dead, 3,824 injured, 377 missing, 40,753 families (97,515 people) affected, 12,584 homes destroyed and 74,873 damaged, 172 buildings collapsed, 2,198 educational and 825 community facilities, 216 health facilities, 71 aqueducts, 29 banking offices and five airports. Medicina Legal has received 250 bodies, 227 recognised. Red alert continues in Cali, Pereira, Quibdó, Manizales and Armenia.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 Aug 07:00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reports 184 aftershocks located since the mainshock, 15 of them above M3.0 and 2 above M4.0.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 Aug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UNGRD's 09:00 cut: 287 dead, 3,975 injured, 378 missing, 354 rescued alive; 56,448 families (135,179 people) affected in 15 departments and 437 municipalities; 13,077 homes destroyed and 79,108 damaged; 121 buildings collapsed. Confined-space search continues with the certified international teams.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India sends 20 tonnes of humanitarian supplies; Norway allocates NOK 10 million and Sweden SEK 5 million through UNHCR; Spain, Italy, Chile, Mexico, Turkey, Brazil and the World Bank also send or announce support. The Interior Minister says the hospital network in Buenaventura is overwhelmed.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Cancillería / donors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14-15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Running balance: 288 dead, 4,018 injured, 202 missing, 354 rescued alive; 45,523 families (102,263 people) affected in 15 departments and 426 municipalities; 12,828 homes destroyed and 73,455 damaged; 121 buildings collapsed; 240 health, 2,205 educational and 1,208 community facilities; 210 roads, 73 aqueducts, 44 road bridges, 13 footbridges and five airports. The falls against the 09:00 cut are duplicate assessment records being consolidated.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06:30 cut-off: 294 dead, 3,935 injured, 320 missing, 353 people and 188 animals rescued alive; 54,008 families (115,461 people) affected; 448 municipalities reporting damage; 14,493 homes destroyed and 81,506 damaged; 66 buildings collapsed. Chocó, Risaralda and Valle del Cauca are the worst affected.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Search continues for the missing while more than 100,000 people affected await assistance; in El Cairo (Valle del Cauca) 80% of the houses are reported damaged.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media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48</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(5/6)</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16 Aug 07:30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07:30 cut-off: 289 dead, 4,187 injured, 143 missing, 354 people and 510 animals rescued alive; 120,238 families (185,016 people) affected across 450 municipalities in 15 departments; 26,945 homes destroyed and 127,557 damaged; 66 buildings collapsed. UNGRD states that the variations come from verifying and consolidating figures reported by the territories, some of which had been sent unverified.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16 Aug 18:30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an 18:30 cut-off: 287 dead, 4,147 injured, 194 missing, 355 people and 496 animals rescued alive; 120,671 families (185,996 people) affected across 472 municipalities in 15 departments; 26,392 homes destroyed and 127,608 damaged; 197 buildings collapsed; 304 health, 3,207 educational and 4,059 community facilities; 410 roads, 95 aqueducts, 48 road bridges, 13 footbridges and five airports.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 12:44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12:44 cut-off, published from the National Crisis Room: 329 dead, 4,592 injured and 151 missing across 494 municipalities in 16 departments. UNGRD reports it is tracking the Registro Unico de Damnificados (RUD), the register that determines which affected families can access support and subsidies, and is monitoring emergency humanitarian assistance, temporary shelter and the availability of heavy machinery. The balance does not restate housing damage.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 20:00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Flash Update 010: more than 406,000 people (193,011 families) affected, concentrated in Risaralda, Valle del Cauca, Choco, Quindio and Caldas. At least 25 humanitarian organizations have assisted nearly 72,000 people in 36 municipalities; donors have mobilized more than US$40 million and CERF has allocated US$5 million.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31 Aug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06:30 cut-off: 331 dead, 4,505 injured, 136 missing and 364 rescued; 225,024 families (449,442 people) affected across 497 municipalities in 16 departments. Housing is restated for the first time since 16 Aug: 198,720 homes damaged and 37,255 destroyed, plus 5,849 buildings damaged and 646 collapsed. Infrastructure: 406 health, 4,268 educational and 5,524 community facilities; 462 roads, 5 airports, 122 aqueducts, 91 road bridges and 13 footbridges affected. 2,874 animals affected and 2,976 rescued. UNGRD describes the figures as preliminary and still being consolidated by territorial entities and operational agencies.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 Sep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06:30 cut-off: 331 dead (unchanged), 4,519 injured, 136 missing (unchanged) and 364 rescued (unchanged); 290,252 families (466,606 people) affected across 497 municipalities in 16 departments. Housing: 200,929 homes damaged and 37,542 destroyed, plus 5,871 buildings damaged and 651 collapsed. Infrastructure: 400 health, 4,290 educational and 5,698 community facilities; 468 roads, 5 airports, 140 aqueducts, 91 road bridges and 13 footbridges affected. 3,018 animals affected and 2,976 rescued (unchanged). UNGRD again describes the figures as preliminary and still being consolidated by territorial entities and operational agencies.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48</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(6/6)</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 Sep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06:30 cut-off: 331 dead, 4,519 injured, 136 missing and 364 rescued (all four unchanged from 1 Sep); 293,743 families (466,606 people, unchanged) affected across 497 municipalities in 16 departments (unchanged). Housing: 201,005 homes damaged and 36,336 destroyed - down from 37,542 destroyed at the 1 Sep cut, with no explanation given - plus 5,889 buildings damaged and 709 collapsed (up from 5,871 and 651). Infrastructure: 400 health, 4,287 educational and 5,600 community facilities; 468 roads, 5 airports, 140 aqueducts, 91 road bridges and 13 footbridges affected. 3,023 animals affected and 2,976 rescued (unchanged). UNGRD again describes the figures as preliminary and still being consolidated by territorial entities and operational agencies.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 Sep 17:00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Flash Update 011: more than 466,600 people affected, including 331 deaths, thousands injured and missing, and more than 36,000 homes destroyed - consistent with UNGRD's same-day balance. At least 29 humanitarian organisations have assisted nearly 123,000 people in 49 municipalities; international cooperation has mobilised more than USD 40 million; the Humanitarian Response Plan Addendum continues to seek funding for needs through the end of the year. The update also flags 'double affectation' - communities facing both earthquake damage and risks tied to the armed conflict - as a persistent concern.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 Sep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06:30 cut-off: 331 dead, 4,519 injured and 364 rescued (all unchanged from 2 Sep); missing fell to 122 from 136 at the 2 Sep cut, with no explanation given; 293,743 families (466,606 people, unchanged) affected across 498 municipalities in 16 departments (up from 497). Housing: 201,010 homes damaged (up from 201,005) and 36,336 destroyed (unchanged), plus 5,889 buildings damaged and 709 collapsed (both unchanged). Infrastructure: 400 health, 4,292 educational (up from 4,287) and 5,600 community facilities; 468 roads, 5 airports, 140 aqueducts, 91 road bridges and 13 footbridges affected (all unchanged). 3,023 animals affected and 2,976 rescued (unchanged). UNGRD again describes the figures as preliminary and still being consolidated by territorial entities and operational agencies.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 Sep 19:02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announced a temporary economic subsidy of COP 787,907-1,050,543 per month for three months for RUD-registered families whose homes were destroyed or declared uninhabitable.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4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 of this update, UNGRD's most recent published balance remained the 3 Sep 06:30 cut-off (no new balance had posted as of mid-afternoon on 4 Sep); UNGRD's director met WFP Colombia's country director to coordinate food-assistance actions for affected families.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 WFP (official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48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Areas</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188720"/>
            <a:ext cx="5852160" cy="4389120"/>
          </a:xfrm>
          <a:prstGeom prst="rect">
            <a:avLst/>
          </a:prstGeom>
          <a:solidFill>
            <a:srgbClr val="EEEEEE"/>
          </a:solidFill>
          <a:ln w="9525">
            <a:solidFill>
              <a:srgbClr val="D9D9D9"/>
            </a:solidFill>
            <a:prstDash val="solid"/>
          </a:ln>
        </p:spPr>
      </p:sp>
      <p:pic>
        <p:nvPicPr>
          <p:cNvPr id="5" name="Image 1" descr="/tmp/build_event-1j1h9p/generator/images/EQ-2026-000146-COL/google_cities.png">    </p:cNvPr>
          <p:cNvPicPr>
            <a:picLocks noChangeAspect="1"/>
          </p:cNvPicPr>
          <p:nvPr/>
        </p:nvPicPr>
        <p:blipFill>
          <a:blip r:embed="rId2"/>
          <a:stretch>
            <a:fillRect/>
          </a:stretch>
        </p:blipFill>
        <p:spPr>
          <a:xfrm>
            <a:off x="365760" y="1188720"/>
            <a:ext cx="5852160" cy="4389120"/>
          </a:xfrm>
          <a:prstGeom prst="rect">
            <a:avLst/>
          </a:prstGeom>
        </p:spPr>
      </p:pic>
      <p:sp>
        <p:nvSpPr>
          <p:cNvPr id="6" name="Text 2"/>
          <p:cNvSpPr/>
          <p:nvPr/>
        </p:nvSpPr>
        <p:spPr>
          <a:xfrm>
            <a:off x="365760" y="5596128"/>
            <a:ext cx="5852160" cy="201168"/>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 epicentre</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92240" y="1234440"/>
          <a:ext cx="5303520" cy="914400"/>
        </p:xfrm>
        <a:graphic>
          <a:graphicData uri="http://schemas.openxmlformats.org/drawingml/2006/table">
            <a:tbl>
              <a:tblPr/>
              <a:tblGrid>
                <a:gridCol w="1188720"/>
                <a:gridCol w="1280160"/>
                <a:gridCol w="731520"/>
                <a:gridCol w="548640"/>
                <a:gridCol w="1554480"/>
              </a:tblGrid>
              <a:tr h="5029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Department</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City</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Dist.</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Int.</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Note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Chocó</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San José del Palmar / Quibdó</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6 / 105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VII / VI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Epicentral department; 9 municipalities with reported damage; access, power and communications constrained.</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Risaralda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Pereira, Dosquebradas</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61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Highest reported death toll (at least 40; the governor cites at least 42). Airport terminal partially collapsed.</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Valle del Cauca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Cali, Cartago, Buenaventura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158 / 38 / 138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VI-VII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27 deaths reported; 25-30 collapsed structures at 12 critical points in Cali; University Hospital heavily damaged.</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gridSpan="5">
                  <a:txBody>
                    <a:bodyPr/>
                    <a:lstStyle/>
                    <a:p>
                      <a:pPr algn="l" indent="0" marL="0">
                        <a:buNone/>
                      </a:pPr>
                      <a:r>
                        <a:rPr lang="en-US" sz="1100" i="1" dirty="0">
                          <a:solidFill>
                            <a:srgbClr val="6A6A6A"/>
                          </a:solidFill>
                          <a:latin typeface="Meiryo" pitchFamily="34" charset="0"/>
                          <a:ea typeface="Meiryo" pitchFamily="34" charset="-122"/>
                          <a:cs typeface="Meiryo" pitchFamily="34" charset="-120"/>
                        </a:rPr>
                        <a:t>+4 more</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hMerge="1">
                  <a:tcPr/>
                </a:tc>
                <a:tc hMerge="1">
                  <a:tcPr/>
                </a:tc>
                <a:tc hMerge="1">
                  <a:tcPr/>
                </a:tc>
                <a:tc hMerge="1">
                  <a:tcPr/>
                </a:tc>
              </a:tr>
            </a:tbl>
          </a:graphicData>
        </a:graphic>
      </p:graphicFrame>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Google Maps — </a:t>
            </a:r>
            <a:pPr algn="l" indent="0" marL="0">
              <a:buNone/>
            </a:pPr>
            <a:r>
              <a:rPr lang="en-US" sz="10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https://www.google.com/maps/@5.69,-76.66,9z</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48</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Epicentre &amp; Seismic Intensity</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1j1h9p/generator/images/EQ-2026-000146-COL/sgc_shakemap_manual.jpg">    </p:cNvPr>
          <p:cNvPicPr>
            <a:picLocks noChangeAspect="1"/>
          </p:cNvPicPr>
          <p:nvPr/>
        </p:nvPicPr>
        <p:blipFill>
          <a:blip r:embed="rId2"/>
          <a:stretch>
            <a:fillRect/>
          </a:stretch>
        </p:blipFill>
        <p:spPr>
          <a:xfrm>
            <a:off x="1927217" y="1097280"/>
            <a:ext cx="3643645" cy="4425696"/>
          </a:xfrm>
          <a:prstGeom prst="rect">
            <a:avLst/>
          </a:prstGeom>
        </p:spPr>
      </p:pic>
      <p:sp>
        <p:nvSpPr>
          <p:cNvPr id="5" name="Text 1"/>
          <p:cNvSpPr/>
          <p:nvPr/>
        </p:nvSpPr>
        <p:spPr>
          <a:xfrm>
            <a:off x="365760" y="5541264"/>
            <a:ext cx="6766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SGC macroseismic intensity map (ShakeMap)</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360920" y="1234440"/>
          <a:ext cx="4434840" cy="914400"/>
        </p:xfrm>
        <a:graphic>
          <a:graphicData uri="http://schemas.openxmlformats.org/drawingml/2006/table">
            <a:tbl>
              <a:tblPr/>
              <a:tblGrid>
                <a:gridCol w="2057400"/>
                <a:gridCol w="237744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Value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Origin time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10 Aug 2026, 07:34:28 COT (UTC-5)   ·   10 Aug 2026, 12:34:28 UTC   ·   10 Aug 2026, 21:34 JST</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Epicentre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USGS: 5 km S of San José del Palmar, Chocó Department (approx. 280 km W of Bogotá) — SGC: 12 km from San José del Palmar (4.8436N, -76.2422E)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Magnitude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Mww 7.4 (USGS)   ·   7.4 (SGC)</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Depth</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110.3 km (USGS, PAGER v5) / 103 km (SGC, revised 11 Aug)</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Max. intensity</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MMI VII (Very strong) — USGS ShakeMap; the SGC macroseismic intensity map agrees</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Mechanism</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Strike-slip faulting at intermediate depth, within the subducting Nazca slab (not on the shallow plate interface)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Felt</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Felt across western and central Colombia including Bogotá, Cali and Medellín, and in Ecuador, Panama and Venezuela</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GLIDE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EQ-2026-000146-COL</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Source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 / SGC / USGS</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7"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a:t>
            </a:r>
            <a:endParaRPr lang="en-US" sz="1050" dirty="0"/>
          </a:p>
        </p:txBody>
      </p:sp>
      <p:sp>
        <p:nvSpPr>
          <p:cNvPr id="8"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0"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48</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 Epicentre Distribution &amp; Aftershocks</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1j1h9p/generator/images/EQ-2026-000146-COL/epicentre_distribution.png">    </p:cNvPr>
          <p:cNvPicPr>
            <a:picLocks noChangeAspect="1"/>
          </p:cNvPicPr>
          <p:nvPr/>
        </p:nvPicPr>
        <p:blipFill>
          <a:blip r:embed="rId2"/>
          <a:stretch>
            <a:fillRect/>
          </a:stretch>
        </p:blipFill>
        <p:spPr>
          <a:xfrm>
            <a:off x="676879" y="1097280"/>
            <a:ext cx="5229922" cy="4288536"/>
          </a:xfrm>
          <a:prstGeom prst="rect">
            <a:avLst/>
          </a:prstGeom>
        </p:spPr>
      </p:pic>
      <p:sp>
        <p:nvSpPr>
          <p:cNvPr id="5" name="Text 1"/>
          <p:cNvSpPr/>
          <p:nvPr/>
        </p:nvSpPr>
        <p:spPr>
          <a:xfrm>
            <a:off x="365760" y="5404104"/>
            <a:ext cx="58521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Epicentre distribution: mainshock and 284 aftershocks, 10-19 Aug 2026 (SGC Catalogo de Sismicidad; base map Natural Earth)</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https://bdrsnc.sgc.gov.co/paginas1/catalogo/index.php</a:t>
            </a:r>
            <a:endParaRPr lang="en-US" sz="900" dirty="0"/>
          </a:p>
        </p:txBody>
      </p:sp>
      <p:pic>
        <p:nvPicPr>
          <p:cNvPr id="6" name="Image 2" descr="/tmp/build_event-1j1h9p/generator/images/EQ-2026-000146-COL/aftershock_counts.png">    </p:cNvPr>
          <p:cNvPicPr>
            <a:picLocks noChangeAspect="1"/>
          </p:cNvPicPr>
          <p:nvPr/>
        </p:nvPicPr>
        <p:blipFill>
          <a:blip r:embed="rId4"/>
          <a:stretch>
            <a:fillRect/>
          </a:stretch>
        </p:blipFill>
        <p:spPr>
          <a:xfrm>
            <a:off x="6400800" y="2111095"/>
            <a:ext cx="5394960" cy="2260906"/>
          </a:xfrm>
          <a:prstGeom prst="rect">
            <a:avLst/>
          </a:prstGeom>
        </p:spPr>
      </p:pic>
      <p:sp>
        <p:nvSpPr>
          <p:cNvPr id="7" name="Text 2"/>
          <p:cNvSpPr/>
          <p:nvPr/>
        </p:nvSpPr>
        <p:spPr>
          <a:xfrm>
            <a:off x="6400800" y="5404104"/>
            <a:ext cx="53949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Aftershock time-series</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USGS — </a:t>
            </a:r>
            <a:pPr algn="l" indent="0" marL="0">
              <a:buNone/>
            </a:pPr>
            <a:r>
              <a:rPr lang="en-US" sz="10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48</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2103120"/>
          </a:xfrm>
          <a:prstGeom prst="rect">
            <a:avLst/>
          </a:prstGeom>
          <a:noFill/>
          <a:ln/>
        </p:spPr>
        <p:txBody>
          <a:bodyPr wrap="square" lIns="50800" tIns="50800" rIns="50800" bIns="50800" rtlCol="0" anchor="t"/>
          <a:lstStyle/>
          <a:p>
            <a:pPr algn="l" indent="0" marL="0">
              <a:buNone/>
            </a:pPr>
            <a:r>
              <a:rPr lang="en-US" sz="1200" dirty="0">
                <a:solidFill>
                  <a:srgbClr val="222222"/>
                </a:solidFill>
                <a:latin typeface="Meiryo" pitchFamily="34" charset="0"/>
                <a:ea typeface="Meiryo" pitchFamily="34" charset="-122"/>
                <a:cs typeface="Meiryo"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110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
</a:t>
            </a:r>
            <a:endParaRPr lang="en-US" sz="1200" dirty="0"/>
          </a:p>
        </p:txBody>
      </p:sp>
      <p:sp>
        <p:nvSpPr>
          <p:cNvPr id="5" name="Text 2"/>
          <p:cNvSpPr/>
          <p:nvPr/>
        </p:nvSpPr>
        <p:spPr>
          <a:xfrm>
            <a:off x="365760" y="3246120"/>
            <a:ext cx="11430000" cy="278892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Depth about 110 km (USGS, revised): an intraslab event, not a plate-interface megathrust.</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Strike-slip mechanism within the descending Nazca slab (USGS tectonic summary).</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Maximum shaking MMI VII (Very strong); about 10.5 million people exposed to MMI VI-VII.</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USGS PAGER (v5) Orange alert: the most likely fatality band is 1,000-10,000 and the most likely loss band USD 100-1,000 million — model estimates, not observations, and far above the figures reported so far.</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SGC assesses this as the largest-magnitude earthquake recorded in Colombia in the past decade.</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Shaking was reported as unusually long in duration in cities far from the epicentre - a characteristic of deep events recorded on soft valley sediments.</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Coffee Region has a history of both deep and shallow damaging events: M7.0 at 150 km depth in 1938, M6.5 at 64 km in 1962 and M6.1 at 15 km in 1999 (SGC/GEM national hazard model).</a:t>
            </a:r>
            <a:endParaRPr lang="en-US" sz="120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USGS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10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48</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Source Mechanism &amp; Waveform Analysis</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97280"/>
            <a:ext cx="6126480" cy="178308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Magnitude M7.4 (USGS Mww) / M7.4 (SGC); depth about 110 km (USGS) / 103 km (SGC).</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Intraslab event within the subducting Nazca plate, not a plate-interface megathrust.</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No surface faulting and no tsunami; shaking felt as far as Bogota, Quito and Panama City.</a:t>
            </a:r>
            <a:endParaRPr lang="en-US" sz="1300" dirty="0"/>
          </a:p>
        </p:txBody>
      </p:sp>
      <p:pic>
        <p:nvPicPr>
          <p:cNvPr id="5" name="Image 1" descr="/tmp/build_event-1j1h9p/generator/images/EQ-2026-000146-COL/mechanism_manual.png">    </p:cNvPr>
          <p:cNvPicPr>
            <a:picLocks noChangeAspect="1"/>
          </p:cNvPicPr>
          <p:nvPr/>
        </p:nvPicPr>
        <p:blipFill>
          <a:blip r:embed="rId2"/>
          <a:stretch>
            <a:fillRect/>
          </a:stretch>
        </p:blipFill>
        <p:spPr>
          <a:xfrm>
            <a:off x="2473452" y="3017520"/>
            <a:ext cx="1911096" cy="1911096"/>
          </a:xfrm>
          <a:prstGeom prst="rect">
            <a:avLst/>
          </a:prstGeom>
        </p:spPr>
      </p:pic>
      <p:sp>
        <p:nvSpPr>
          <p:cNvPr id="6" name="Text 2"/>
          <p:cNvSpPr/>
          <p:nvPr/>
        </p:nvSpPr>
        <p:spPr>
          <a:xfrm>
            <a:off x="365760" y="4946904"/>
            <a:ext cx="612648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Focal mechanism / moment tensor (beachball)</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https://www.fnet.bosai.go.jp/</a:t>
            </a:r>
            <a:endParaRPr lang="en-US" sz="900" dirty="0"/>
          </a:p>
        </p:txBody>
      </p:sp>
      <p:sp>
        <p:nvSpPr>
          <p:cNvPr id="7" name="Shape 3"/>
          <p:cNvSpPr/>
          <p:nvPr/>
        </p:nvSpPr>
        <p:spPr>
          <a:xfrm>
            <a:off x="6492240" y="1143000"/>
            <a:ext cx="5303520" cy="4160520"/>
          </a:xfrm>
          <a:prstGeom prst="roundRect">
            <a:avLst>
              <a:gd name="adj" fmla="val 1319"/>
            </a:avLst>
          </a:prstGeom>
          <a:solidFill>
            <a:srgbClr val="EAF2F8"/>
          </a:solidFill>
          <a:ln w="12700">
            <a:solidFill>
              <a:srgbClr val="2E5496"/>
            </a:solidFill>
            <a:prstDash val="solid"/>
          </a:ln>
        </p:spPr>
      </p:sp>
      <p:sp>
        <p:nvSpPr>
          <p:cNvPr id="8" name="Text 4"/>
          <p:cNvSpPr/>
          <p:nvPr/>
        </p:nvSpPr>
        <p:spPr>
          <a:xfrm>
            <a:off x="6675120" y="1325880"/>
            <a:ext cx="5029200" cy="384048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Waveform-based analysis resources
</a:t>
            </a:r>
            <a:pPr algn="l" indent="0" marL="0">
              <a:buNone/>
            </a:pPr>
            <a:r>
              <a:rPr lang="en-US" sz="1200" dirty="0">
                <a:solidFill>
                  <a:srgbClr val="222222"/>
                </a:solidFill>
                <a:latin typeface="Meiryo" pitchFamily="34" charset="0"/>
                <a:ea typeface="Meiryo" pitchFamily="34" charset="-122"/>
                <a:cs typeface="Meiryo" pitchFamily="34" charset="-120"/>
              </a:rPr>
              <a:t>• USGS — moment tensor &amp; finite-fault model (event page)
</a:t>
            </a:r>
            <a:pPr algn="l" indent="0" marL="0">
              <a:buNone/>
            </a:pPr>
            <a:r>
              <a:rPr lang="en-US" sz="1200" dirty="0">
                <a:solidFill>
                  <a:srgbClr val="222222"/>
                </a:solidFill>
                <a:latin typeface="Meiryo" pitchFamily="34" charset="0"/>
                <a:ea typeface="Meiryo" pitchFamily="34" charset="-122"/>
                <a:cs typeface="Meiryo" pitchFamily="34" charset="-120"/>
              </a:rPr>
              <a:t>• SGC — Colombian national seismological network (RSNC)
</a:t>
            </a:r>
            <a:pPr algn="l" indent="0" marL="0">
              <a:buNone/>
            </a:pPr>
            <a:r>
              <a:rPr lang="en-US" sz="1200" dirty="0">
                <a:solidFill>
                  <a:srgbClr val="222222"/>
                </a:solidFill>
                <a:latin typeface="Meiryo" pitchFamily="34" charset="0"/>
                <a:ea typeface="Meiryo" pitchFamily="34" charset="-122"/>
                <a:cs typeface="Meiryo" pitchFamily="34" charset="-120"/>
              </a:rPr>
              <a:t>• GEOFON / GFZ — regional broadband moment tensor</a:t>
            </a:r>
            <a:endParaRPr lang="en-US" sz="1300" dirty="0"/>
          </a:p>
        </p:txBody>
      </p:sp>
      <p:sp>
        <p:nvSpPr>
          <p:cNvPr id="9"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event page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(RSNC)</a:t>
            </a:r>
            <a:endParaRPr lang="en-US" sz="1050" dirty="0"/>
          </a:p>
        </p:txBody>
      </p:sp>
      <p:sp>
        <p:nvSpPr>
          <p:cNvPr id="10"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2" name="Text 8"/>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48</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Notable Aftershocks</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118872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The SGC located 147 events in the 34 hours after the mainshock. Within that window only one exceeded M4.0 - the M4.8 that followed 44 minutes later - and 92% were below M3.0; the M4.2 of 13 August is the second. No aftershock has come close to the mainshock in size. Ninety-six of the 147 lie at 60 km depth or more within 80 km of the epicentre: that subset is the intraslab sequence itself, and its cumulative curve tracks the SGC's published totals. The remainder is background seismicity the same catalogue records, which is why a raw count runs ahead of the official figure. A modest, quickly-decaying sequence is what an intermediate-depth rupture is expected to produce - but the 13 August event shows that shaking able to stop rescue work continues. By 07:00 on 14 August the SGC's published total had reached 184, of which 15 above M3.0 and 2 above M4.0 - a rate consistent with the catalogue extract and with normal decay.</a:t>
            </a:r>
            <a:endParaRPr lang="en-US" sz="11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2304288"/>
          <a:ext cx="11430000" cy="914400"/>
        </p:xfrm>
        <a:graphic>
          <a:graphicData uri="http://schemas.openxmlformats.org/drawingml/2006/table">
            <a:tbl>
              <a:tblPr/>
              <a:tblGrid>
                <a:gridCol w="2194560"/>
                <a:gridCol w="914400"/>
                <a:gridCol w="6949440"/>
                <a:gridCol w="1371600"/>
              </a:tblGrid>
              <a:tr h="0">
                <a:tc>
                  <a:txBody>
                    <a:bodyPr/>
                    <a:lstStyle/>
                    <a:p>
                      <a:pPr algn="l" indent="0" marL="0">
                        <a:buNone/>
                      </a:pPr>
                      <a:r>
                        <a:rPr lang="en-US" sz="1300" b="1" dirty="0">
                          <a:solidFill>
                            <a:srgbClr val="FFFFFF"/>
                          </a:solidFill>
                        </a:rPr>
                        <a:t>Time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Mag.</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Note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Tier</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50" dirty="0">
                          <a:solidFill>
                            <a:srgbClr val="222222"/>
                          </a:solidFill>
                        </a:rPr>
                        <a:t>10 </a:t>
                      </a:r>
                      <a:pPr algn="l" indent="0" marL="0">
                        <a:buNone/>
                      </a:pPr>
                      <a:r>
                        <a:rPr lang="en-US" sz="1150" dirty="0">
                          <a:solidFill>
                            <a:srgbClr val="222222"/>
                          </a:solidFill>
                        </a:rPr>
                        <a:t>Aug </a:t>
                      </a:r>
                      <a:pPr algn="l" indent="0" marL="0">
                        <a:buNone/>
                      </a:pPr>
                      <a:r>
                        <a:rPr lang="en-US" sz="1150" dirty="0">
                          <a:solidFill>
                            <a:srgbClr val="222222"/>
                          </a:solidFill>
                        </a:rPr>
                        <a:t>08:18 </a:t>
                      </a:r>
                      <a:pPr algn="l" indent="0" marL="0">
                        <a:buNone/>
                      </a:pPr>
                      <a:r>
                        <a:rPr lang="en-US" sz="1150" dirty="0">
                          <a:solidFill>
                            <a:srgbClr val="222222"/>
                          </a:solidFill>
                        </a:rPr>
                        <a:t>COT </a:t>
                      </a:r>
                      <a:pPr algn="l" indent="0" marL="0">
                        <a:buNone/>
                      </a:pPr>
                      <a:r>
                        <a:rPr lang="en-US" sz="1150" dirty="0">
                          <a:solidFill>
                            <a:srgbClr val="222222"/>
                          </a:solidFill>
                        </a:rPr>
                        <a:t>(13:18 </a:t>
                      </a:r>
                      <a:pPr algn="l" indent="0" marL="0">
                        <a:buNone/>
                      </a:pPr>
                      <a:r>
                        <a:rPr lang="en-US" sz="1150" dirty="0">
                          <a:solidFill>
                            <a:srgbClr val="222222"/>
                          </a:solidFill>
                        </a:rPr>
                        <a:t>UTC)</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rPr>
                        <a:t>M4.8</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The </a:t>
                      </a:r>
                      <a:pPr algn="l" indent="0" marL="0">
                        <a:buNone/>
                      </a:pPr>
                      <a:r>
                        <a:rPr lang="en-US" sz="1050" dirty="0">
                          <a:solidFill>
                            <a:srgbClr val="222222"/>
                          </a:solidFill>
                        </a:rPr>
                        <a:t>largest </a:t>
                      </a:r>
                      <a:pPr algn="l" indent="0" marL="0">
                        <a:buNone/>
                      </a:pPr>
                      <a:r>
                        <a:rPr lang="en-US" sz="1050" dirty="0">
                          <a:solidFill>
                            <a:srgbClr val="222222"/>
                          </a:solidFill>
                        </a:rPr>
                        <a:t>aftershock, </a:t>
                      </a:r>
                      <a:pPr algn="l" indent="0" marL="0">
                        <a:buNone/>
                      </a:pPr>
                      <a:r>
                        <a:rPr lang="en-US" sz="1050" dirty="0">
                          <a:solidFill>
                            <a:srgbClr val="222222"/>
                          </a:solidFill>
                        </a:rPr>
                        <a:t>44 </a:t>
                      </a:r>
                      <a:pPr algn="l" indent="0" marL="0">
                        <a:buNone/>
                      </a:pPr>
                      <a:r>
                        <a:rPr lang="en-US" sz="1050" dirty="0">
                          <a:solidFill>
                            <a:srgbClr val="222222"/>
                          </a:solidFill>
                        </a:rPr>
                        <a:t>minutes </a:t>
                      </a:r>
                      <a:pPr algn="l" indent="0" marL="0">
                        <a:buNone/>
                      </a:pPr>
                      <a:r>
                        <a:rPr lang="en-US" sz="1050" dirty="0">
                          <a:solidFill>
                            <a:srgbClr val="222222"/>
                          </a:solidFill>
                        </a:rPr>
                        <a:t>after </a:t>
                      </a:r>
                      <a:pPr algn="l" indent="0" marL="0">
                        <a:buNone/>
                      </a:pPr>
                      <a:r>
                        <a:rPr lang="en-US" sz="1050" dirty="0">
                          <a:solidFill>
                            <a:srgbClr val="222222"/>
                          </a:solidFill>
                        </a:rPr>
                        <a:t>the </a:t>
                      </a:r>
                      <a:pPr algn="l" indent="0" marL="0">
                        <a:buNone/>
                      </a:pPr>
                      <a:r>
                        <a:rPr lang="en-US" sz="1050" dirty="0">
                          <a:solidFill>
                            <a:srgbClr val="222222"/>
                          </a:solidFill>
                        </a:rPr>
                        <a:t>mainshock: </a:t>
                      </a:r>
                      <a:pPr algn="l" indent="0" marL="0">
                        <a:buNone/>
                      </a:pPr>
                      <a:r>
                        <a:rPr lang="en-US" sz="1050" dirty="0">
                          <a:solidFill>
                            <a:srgbClr val="222222"/>
                          </a:solidFill>
                        </a:rPr>
                        <a:t>San </a:t>
                      </a:r>
                      <a:pPr algn="l" indent="0" marL="0">
                        <a:buNone/>
                      </a:pPr>
                      <a:r>
                        <a:rPr lang="en-US" sz="1050" dirty="0">
                          <a:solidFill>
                            <a:srgbClr val="222222"/>
                          </a:solidFill>
                        </a:rPr>
                        <a:t>José </a:t>
                      </a:r>
                      <a:pPr algn="l" indent="0" marL="0">
                        <a:buNone/>
                      </a:pPr>
                      <a:r>
                        <a:rPr lang="en-US" sz="1050" dirty="0">
                          <a:solidFill>
                            <a:srgbClr val="222222"/>
                          </a:solidFill>
                        </a:rPr>
                        <a:t>del </a:t>
                      </a:r>
                      <a:pPr algn="l" indent="0" marL="0">
                        <a:buNone/>
                      </a:pPr>
                      <a:r>
                        <a:rPr lang="en-US" sz="1050" dirty="0">
                          <a:solidFill>
                            <a:srgbClr val="222222"/>
                          </a:solidFill>
                        </a:rPr>
                        <a:t>Palmar, </a:t>
                      </a:r>
                      <a:pPr algn="l" indent="0" marL="0">
                        <a:buNone/>
                      </a:pPr>
                      <a:r>
                        <a:rPr lang="en-US" sz="1050" dirty="0">
                          <a:solidFill>
                            <a:srgbClr val="222222"/>
                          </a:solidFill>
                        </a:rPr>
                        <a:t>depth </a:t>
                      </a:r>
                      <a:pPr algn="l" indent="0" marL="0">
                        <a:buNone/>
                      </a:pPr>
                      <a:r>
                        <a:rPr lang="en-US" sz="1050" dirty="0">
                          <a:solidFill>
                            <a:srgbClr val="222222"/>
                          </a:solidFill>
                        </a:rPr>
                        <a:t>94 </a:t>
                      </a:r>
                      <a:pPr algn="l" indent="0" marL="0">
                        <a:buNone/>
                      </a:pPr>
                      <a:r>
                        <a:rPr lang="en-US" sz="1050" dirty="0">
                          <a:solidFill>
                            <a:srgbClr val="222222"/>
                          </a:solidFill>
                        </a:rPr>
                        <a:t>km, </a:t>
                      </a:r>
                      <a:pPr algn="l" indent="0" marL="0">
                        <a:buNone/>
                      </a:pPr>
                      <a:r>
                        <a:rPr lang="en-US" sz="1050" dirty="0">
                          <a:solidFill>
                            <a:srgbClr val="222222"/>
                          </a:solidFill>
                        </a:rPr>
                        <a:t>19 </a:t>
                      </a:r>
                      <a:pPr algn="l" indent="0" marL="0">
                        <a:buNone/>
                      </a:pPr>
                      <a:r>
                        <a:rPr lang="en-US" sz="1050" dirty="0">
                          <a:solidFill>
                            <a:srgbClr val="222222"/>
                          </a:solidFill>
                        </a:rPr>
                        <a:t>km </a:t>
                      </a:r>
                      <a:pPr algn="l" indent="0" marL="0">
                        <a:buNone/>
                      </a:pPr>
                      <a:r>
                        <a:rPr lang="en-US" sz="1050" dirty="0">
                          <a:solidFill>
                            <a:srgbClr val="222222"/>
                          </a:solidFill>
                        </a:rPr>
                        <a:t>from </a:t>
                      </a:r>
                      <a:pPr algn="l" indent="0" marL="0">
                        <a:buNone/>
                      </a:pPr>
                      <a:r>
                        <a:rPr lang="en-US" sz="1050" dirty="0">
                          <a:solidFill>
                            <a:srgbClr val="222222"/>
                          </a:solidFill>
                        </a:rPr>
                        <a:t>the </a:t>
                      </a:r>
                      <a:pPr algn="l" indent="0" marL="0">
                        <a:buNone/>
                      </a:pPr>
                      <a:r>
                        <a:rPr lang="en-US" sz="1050" dirty="0">
                          <a:solidFill>
                            <a:srgbClr val="222222"/>
                          </a:solidFill>
                        </a:rPr>
                        <a:t>epicentre </a:t>
                      </a:r>
                      <a:pPr algn="l" indent="0" marL="0">
                        <a:buNone/>
                      </a:pPr>
                      <a:r>
                        <a:rPr lang="en-US" sz="1050" dirty="0">
                          <a:solidFill>
                            <a:srgbClr val="222222"/>
                          </a:solidFill>
                        </a:rPr>
                        <a:t>(SGC2026pqryij). </a:t>
                      </a:r>
                      <a:pPr algn="l" indent="0" marL="0">
                        <a:buNone/>
                      </a:pPr>
                      <a:r>
                        <a:rPr lang="en-US" sz="1050" dirty="0">
                          <a:solidFill>
                            <a:srgbClr val="222222"/>
                          </a:solidFill>
                        </a:rPr>
                        <a:t>USGS </a:t>
                      </a:r>
                      <a:pPr algn="l" indent="0" marL="0">
                        <a:buNone/>
                      </a:pPr>
                      <a:r>
                        <a:rPr lang="en-US" sz="1050" dirty="0">
                          <a:solidFill>
                            <a:srgbClr val="222222"/>
                          </a:solidFill>
                        </a:rPr>
                        <a:t>catalogues </a:t>
                      </a:r>
                      <a:pPr algn="l" indent="0" marL="0">
                        <a:buNone/>
                      </a:pPr>
                      <a:r>
                        <a:rPr lang="en-US" sz="1050" dirty="0">
                          <a:solidFill>
                            <a:srgbClr val="222222"/>
                          </a:solidFill>
                        </a:rPr>
                        <a:t>the </a:t>
                      </a:r>
                      <a:pPr algn="l" indent="0" marL="0">
                        <a:buNone/>
                      </a:pPr>
                      <a:r>
                        <a:rPr lang="en-US" sz="1050" dirty="0">
                          <a:solidFill>
                            <a:srgbClr val="222222"/>
                          </a:solidFill>
                        </a:rPr>
                        <a:t>same </a:t>
                      </a:r>
                      <a:pPr algn="l" indent="0" marL="0">
                        <a:buNone/>
                      </a:pPr>
                      <a:r>
                        <a:rPr lang="en-US" sz="1050" dirty="0">
                          <a:solidFill>
                            <a:srgbClr val="222222"/>
                          </a:solidFill>
                        </a:rPr>
                        <a:t>event </a:t>
                      </a:r>
                      <a:pPr algn="l" indent="0" marL="0">
                        <a:buNone/>
                      </a:pPr>
                      <a:r>
                        <a:rPr lang="en-US" sz="1050" dirty="0">
                          <a:solidFill>
                            <a:srgbClr val="222222"/>
                          </a:solidFill>
                        </a:rPr>
                        <a:t>as </a:t>
                      </a:r>
                      <a:pPr algn="l" indent="0" marL="0">
                        <a:buNone/>
                      </a:pPr>
                      <a:r>
                        <a:rPr lang="en-US" sz="1050" dirty="0">
                          <a:solidFill>
                            <a:srgbClr val="222222"/>
                          </a:solidFill>
                        </a:rPr>
                        <a:t>mb </a:t>
                      </a:r>
                      <a:pPr algn="l" indent="0" marL="0">
                        <a:buNone/>
                      </a:pPr>
                      <a:r>
                        <a:rPr lang="en-US" sz="1050" dirty="0">
                          <a:solidFill>
                            <a:srgbClr val="222222"/>
                          </a:solidFill>
                        </a:rPr>
                        <a:t>5.0 </a:t>
                      </a:r>
                      <a:pPr algn="l" indent="0" marL="0">
                        <a:buNone/>
                      </a:pPr>
                      <a:r>
                        <a:rPr lang="en-US" sz="1050" dirty="0">
                          <a:solidFill>
                            <a:srgbClr val="222222"/>
                          </a:solidFill>
                        </a:rPr>
                        <a:t>at </a:t>
                      </a:r>
                      <a:pPr algn="l" indent="0" marL="0">
                        <a:buNone/>
                      </a:pPr>
                      <a:r>
                        <a:rPr lang="en-US" sz="1050" dirty="0">
                          <a:solidFill>
                            <a:srgbClr val="222222"/>
                          </a:solidFill>
                        </a:rPr>
                        <a:t>98.5 </a:t>
                      </a:r>
                      <a:pPr algn="l" indent="0" marL="0">
                        <a:buNone/>
                      </a:pPr>
                      <a:r>
                        <a:rPr lang="en-US" sz="1050" dirty="0">
                          <a:solidFill>
                            <a:srgbClr val="222222"/>
                          </a:solidFill>
                        </a:rPr>
                        <a:t>km. </a:t>
                      </a:r>
                      <a:pPr algn="l" indent="0" marL="0">
                        <a:buNone/>
                      </a:pPr>
                      <a:r>
                        <a:rPr lang="en-US" sz="1050" dirty="0">
                          <a:solidFill>
                            <a:srgbClr val="222222"/>
                          </a:solidFill>
                        </a:rPr>
                        <a:t>Widely </a:t>
                      </a:r>
                      <a:pPr algn="l" indent="0" marL="0">
                        <a:buNone/>
                      </a:pPr>
                      <a:r>
                        <a:rPr lang="en-US" sz="1050" dirty="0">
                          <a:solidFill>
                            <a:srgbClr val="222222"/>
                          </a:solidFill>
                        </a:rPr>
                        <a:t>felt.</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rPr>
                        <a:t>Official</a:t>
                      </a:r>
                      <a:endParaRPr lang="en-US" sz="10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dirty="0">
                          <a:solidFill>
                            <a:srgbClr val="222222"/>
                          </a:solidFill>
                        </a:rPr>
                        <a:t>10 </a:t>
                      </a:r>
                      <a:pPr algn="l" indent="0" marL="0">
                        <a:buNone/>
                      </a:pPr>
                      <a:r>
                        <a:rPr lang="en-US" sz="1150" dirty="0">
                          <a:solidFill>
                            <a:srgbClr val="222222"/>
                          </a:solidFill>
                        </a:rPr>
                        <a:t>Aug </a:t>
                      </a:r>
                      <a:pPr algn="l" indent="0" marL="0">
                        <a:buNone/>
                      </a:pPr>
                      <a:r>
                        <a:rPr lang="en-US" sz="1150" dirty="0">
                          <a:solidFill>
                            <a:srgbClr val="222222"/>
                          </a:solidFill>
                        </a:rPr>
                        <a:t>10:01 </a:t>
                      </a:r>
                      <a:pPr algn="l" indent="0" marL="0">
                        <a:buNone/>
                      </a:pPr>
                      <a:r>
                        <a:rPr lang="en-US" sz="1150" dirty="0">
                          <a:solidFill>
                            <a:srgbClr val="222222"/>
                          </a:solidFill>
                        </a:rPr>
                        <a:t>COT </a:t>
                      </a:r>
                      <a:pPr algn="l" indent="0" marL="0">
                        <a:buNone/>
                      </a:pPr>
                      <a:r>
                        <a:rPr lang="en-US" sz="1150" dirty="0">
                          <a:solidFill>
                            <a:srgbClr val="222222"/>
                          </a:solidFill>
                        </a:rPr>
                        <a:t>(15:01 </a:t>
                      </a:r>
                      <a:pPr algn="l" indent="0" marL="0">
                        <a:buNone/>
                      </a:pPr>
                      <a:r>
                        <a:rPr lang="en-US" sz="1150" dirty="0">
                          <a:solidFill>
                            <a:srgbClr val="222222"/>
                          </a:solidFill>
                        </a:rPr>
                        <a:t>UTC)</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F3864"/>
                          </a:solidFill>
                        </a:rPr>
                        <a:t>M3.8</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San </a:t>
                      </a:r>
                      <a:pPr algn="l" indent="0" marL="0">
                        <a:buNone/>
                      </a:pPr>
                      <a:r>
                        <a:rPr lang="en-US" sz="1050" dirty="0">
                          <a:solidFill>
                            <a:srgbClr val="222222"/>
                          </a:solidFill>
                        </a:rPr>
                        <a:t>José </a:t>
                      </a:r>
                      <a:pPr algn="l" indent="0" marL="0">
                        <a:buNone/>
                      </a:pPr>
                      <a:r>
                        <a:rPr lang="en-US" sz="1050" dirty="0">
                          <a:solidFill>
                            <a:srgbClr val="222222"/>
                          </a:solidFill>
                        </a:rPr>
                        <a:t>del </a:t>
                      </a:r>
                      <a:pPr algn="l" indent="0" marL="0">
                        <a:buNone/>
                      </a:pPr>
                      <a:r>
                        <a:rPr lang="en-US" sz="1050" dirty="0">
                          <a:solidFill>
                            <a:srgbClr val="222222"/>
                          </a:solidFill>
                        </a:rPr>
                        <a:t>Palmar, </a:t>
                      </a:r>
                      <a:pPr algn="l" indent="0" marL="0">
                        <a:buNone/>
                      </a:pPr>
                      <a:r>
                        <a:rPr lang="en-US" sz="1050" dirty="0">
                          <a:solidFill>
                            <a:srgbClr val="222222"/>
                          </a:solidFill>
                        </a:rPr>
                        <a:t>depth </a:t>
                      </a:r>
                      <a:pPr algn="l" indent="0" marL="0">
                        <a:buNone/>
                      </a:pPr>
                      <a:r>
                        <a:rPr lang="en-US" sz="1050" dirty="0">
                          <a:solidFill>
                            <a:srgbClr val="222222"/>
                          </a:solidFill>
                        </a:rPr>
                        <a:t>88 </a:t>
                      </a:r>
                      <a:pPr algn="l" indent="0" marL="0">
                        <a:buNone/>
                      </a:pPr>
                      <a:r>
                        <a:rPr lang="en-US" sz="1050" dirty="0">
                          <a:solidFill>
                            <a:srgbClr val="222222"/>
                          </a:solidFill>
                        </a:rPr>
                        <a:t>km. </a:t>
                      </a:r>
                      <a:pPr algn="l" indent="0" marL="0">
                        <a:buNone/>
                      </a:pPr>
                      <a:r>
                        <a:rPr lang="en-US" sz="1050" dirty="0">
                          <a:solidFill>
                            <a:srgbClr val="222222"/>
                          </a:solidFill>
                        </a:rPr>
                        <a:t>This </a:t>
                      </a:r>
                      <a:pPr algn="l" indent="0" marL="0">
                        <a:buNone/>
                      </a:pPr>
                      <a:r>
                        <a:rPr lang="en-US" sz="1050" dirty="0">
                          <a:solidFill>
                            <a:srgbClr val="222222"/>
                          </a:solidFill>
                        </a:rPr>
                        <a:t>is </a:t>
                      </a:r>
                      <a:pPr algn="l" indent="0" marL="0">
                        <a:buNone/>
                      </a:pPr>
                      <a:r>
                        <a:rPr lang="en-US" sz="1050" dirty="0">
                          <a:solidFill>
                            <a:srgbClr val="222222"/>
                          </a:solidFill>
                        </a:rPr>
                        <a:t>the </a:t>
                      </a:r>
                      <a:pPr algn="l" indent="0" marL="0">
                        <a:buNone/>
                      </a:pPr>
                      <a:r>
                        <a:rPr lang="en-US" sz="1050" dirty="0">
                          <a:solidFill>
                            <a:srgbClr val="222222"/>
                          </a:solidFill>
                        </a:rPr>
                        <a:t>event </a:t>
                      </a:r>
                      <a:pPr algn="l" indent="0" marL="0">
                        <a:buNone/>
                      </a:pPr>
                      <a:r>
                        <a:rPr lang="en-US" sz="1050" dirty="0">
                          <a:solidFill>
                            <a:srgbClr val="222222"/>
                          </a:solidFill>
                        </a:rPr>
                        <a:t>two </a:t>
                      </a:r>
                      <a:pPr algn="l" indent="0" marL="0">
                        <a:buNone/>
                      </a:pPr>
                      <a:r>
                        <a:rPr lang="en-US" sz="1050" dirty="0">
                          <a:solidFill>
                            <a:srgbClr val="222222"/>
                          </a:solidFill>
                        </a:rPr>
                        <a:t>regional </a:t>
                      </a:r>
                      <a:pPr algn="l" indent="0" marL="0">
                        <a:buNone/>
                      </a:pPr>
                      <a:r>
                        <a:rPr lang="en-US" sz="1050" dirty="0">
                          <a:solidFill>
                            <a:srgbClr val="222222"/>
                          </a:solidFill>
                        </a:rPr>
                        <a:t>agencies </a:t>
                      </a:r>
                      <a:pPr algn="l" indent="0" marL="0">
                        <a:buNone/>
                      </a:pPr>
                      <a:r>
                        <a:rPr lang="en-US" sz="1050" dirty="0">
                          <a:solidFill>
                            <a:srgbClr val="222222"/>
                          </a:solidFill>
                        </a:rPr>
                        <a:t>published </a:t>
                      </a:r>
                      <a:pPr algn="l" indent="0" marL="0">
                        <a:buNone/>
                      </a:pPr>
                      <a:r>
                        <a:rPr lang="en-US" sz="1050" dirty="0">
                          <a:solidFill>
                            <a:srgbClr val="222222"/>
                          </a:solidFill>
                        </a:rPr>
                        <a:t>as </a:t>
                      </a:r>
                      <a:pPr algn="l" indent="0" marL="0">
                        <a:buNone/>
                      </a:pPr>
                      <a:r>
                        <a:rPr lang="en-US" sz="1050" dirty="0">
                          <a:solidFill>
                            <a:srgbClr val="222222"/>
                          </a:solidFill>
                        </a:rPr>
                        <a:t>M4.7 </a:t>
                      </a:r>
                      <a:pPr algn="l" indent="0" marL="0">
                        <a:buNone/>
                      </a:pPr>
                      <a:r>
                        <a:rPr lang="en-US" sz="1050" dirty="0">
                          <a:solidFill>
                            <a:srgbClr val="222222"/>
                          </a:solidFill>
                        </a:rPr>
                        <a:t>in </a:t>
                      </a:r>
                      <a:pPr algn="l" indent="0" marL="0">
                        <a:buNone/>
                      </a:pPr>
                      <a:r>
                        <a:rPr lang="en-US" sz="1050" dirty="0">
                          <a:solidFill>
                            <a:srgbClr val="222222"/>
                          </a:solidFill>
                        </a:rPr>
                        <a:t>the </a:t>
                      </a:r>
                      <a:pPr algn="l" indent="0" marL="0">
                        <a:buNone/>
                      </a:pPr>
                      <a:r>
                        <a:rPr lang="en-US" sz="1050" dirty="0">
                          <a:solidFill>
                            <a:srgbClr val="222222"/>
                          </a:solidFill>
                        </a:rPr>
                        <a:t>multi-agency </a:t>
                      </a:r>
                      <a:pPr algn="l" indent="0" marL="0">
                        <a:buNone/>
                      </a:pPr>
                      <a:r>
                        <a:rPr lang="en-US" sz="1050" dirty="0">
                          <a:solidFill>
                            <a:srgbClr val="222222"/>
                          </a:solidFill>
                        </a:rPr>
                        <a:t>bulletin; </a:t>
                      </a:r>
                      <a:pPr algn="l" indent="0" marL="0">
                        <a:buNone/>
                      </a:pPr>
                      <a:r>
                        <a:rPr lang="en-US" sz="1050" dirty="0">
                          <a:solidFill>
                            <a:srgbClr val="222222"/>
                          </a:solidFill>
                        </a:rPr>
                        <a:t>the </a:t>
                      </a:r>
                      <a:pPr algn="l" indent="0" marL="0">
                        <a:buNone/>
                      </a:pPr>
                      <a:r>
                        <a:rPr lang="en-US" sz="1050" dirty="0">
                          <a:solidFill>
                            <a:srgbClr val="222222"/>
                          </a:solidFill>
                        </a:rPr>
                        <a:t>SGC </a:t>
                      </a:r>
                      <a:pPr algn="l" indent="0" marL="0">
                        <a:buNone/>
                      </a:pPr>
                      <a:r>
                        <a:rPr lang="en-US" sz="1050" dirty="0">
                          <a:solidFill>
                            <a:srgbClr val="222222"/>
                          </a:solidFill>
                        </a:rPr>
                        <a:t>solution </a:t>
                      </a:r>
                      <a:pPr algn="l" indent="0" marL="0">
                        <a:buNone/>
                      </a:pPr>
                      <a:r>
                        <a:rPr lang="en-US" sz="1050" dirty="0">
                          <a:solidFill>
                            <a:srgbClr val="222222"/>
                          </a:solidFill>
                        </a:rPr>
                        <a:t>is </a:t>
                      </a:r>
                      <a:pPr algn="l" indent="0" marL="0">
                        <a:buNone/>
                      </a:pPr>
                      <a:r>
                        <a:rPr lang="en-US" sz="1050" dirty="0">
                          <a:solidFill>
                            <a:srgbClr val="222222"/>
                          </a:solidFill>
                        </a:rPr>
                        <a:t>0.9 </a:t>
                      </a:r>
                      <a:pPr algn="l" indent="0" marL="0">
                        <a:buNone/>
                      </a:pPr>
                      <a:r>
                        <a:rPr lang="en-US" sz="1050" dirty="0">
                          <a:solidFill>
                            <a:srgbClr val="222222"/>
                          </a:solidFill>
                        </a:rPr>
                        <a:t>units </a:t>
                      </a:r>
                      <a:pPr algn="l" indent="0" marL="0">
                        <a:buNone/>
                      </a:pPr>
                      <a:r>
                        <a:rPr lang="en-US" sz="1050" dirty="0">
                          <a:solidFill>
                            <a:srgbClr val="222222"/>
                          </a:solidFill>
                        </a:rPr>
                        <a:t>smaller.</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A6A6A"/>
                          </a:solidFill>
                        </a:rPr>
                        <a:t>Official</a:t>
                      </a:r>
                      <a:endParaRPr lang="en-US" sz="10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dirty="0">
                          <a:solidFill>
                            <a:srgbClr val="222222"/>
                          </a:solidFill>
                        </a:rPr>
                        <a:t>11 </a:t>
                      </a:r>
                      <a:pPr algn="l" indent="0" marL="0">
                        <a:buNone/>
                      </a:pPr>
                      <a:r>
                        <a:rPr lang="en-US" sz="1150" dirty="0">
                          <a:solidFill>
                            <a:srgbClr val="222222"/>
                          </a:solidFill>
                        </a:rPr>
                        <a:t>Aug </a:t>
                      </a:r>
                      <a:pPr algn="l" indent="0" marL="0">
                        <a:buNone/>
                      </a:pPr>
                      <a:r>
                        <a:rPr lang="en-US" sz="1150" dirty="0">
                          <a:solidFill>
                            <a:srgbClr val="222222"/>
                          </a:solidFill>
                        </a:rPr>
                        <a:t>00:12 </a:t>
                      </a:r>
                      <a:pPr algn="l" indent="0" marL="0">
                        <a:buNone/>
                      </a:pPr>
                      <a:r>
                        <a:rPr lang="en-US" sz="1150" dirty="0">
                          <a:solidFill>
                            <a:srgbClr val="222222"/>
                          </a:solidFill>
                        </a:rPr>
                        <a:t>/ </a:t>
                      </a:r>
                      <a:pPr algn="l" indent="0" marL="0">
                        <a:buNone/>
                      </a:pPr>
                      <a:r>
                        <a:rPr lang="en-US" sz="1150" dirty="0">
                          <a:solidFill>
                            <a:srgbClr val="222222"/>
                          </a:solidFill>
                        </a:rPr>
                        <a:t>10:43 </a:t>
                      </a:r>
                      <a:pPr algn="l" indent="0" marL="0">
                        <a:buNone/>
                      </a:pPr>
                      <a:r>
                        <a:rPr lang="en-US" sz="1150" dirty="0">
                          <a:solidFill>
                            <a:srgbClr val="222222"/>
                          </a:solidFill>
                        </a:rPr>
                        <a:t>COT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rPr>
                        <a:t>M3.6 </a:t>
                      </a:r>
                      <a:pPr algn="ctr" indent="0" marL="0">
                        <a:buNone/>
                      </a:pPr>
                      <a:r>
                        <a:rPr lang="en-US" sz="1150" b="1" dirty="0">
                          <a:solidFill>
                            <a:srgbClr val="1F3864"/>
                          </a:solidFill>
                        </a:rPr>
                        <a:t>/ </a:t>
                      </a:r>
                      <a:pPr algn="ctr" indent="0" marL="0">
                        <a:buNone/>
                      </a:pPr>
                      <a:r>
                        <a:rPr lang="en-US" sz="1150" b="1" dirty="0">
                          <a:solidFill>
                            <a:srgbClr val="1F3864"/>
                          </a:solidFill>
                        </a:rPr>
                        <a:t>M3.9</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San </a:t>
                      </a:r>
                      <a:pPr algn="l" indent="0" marL="0">
                        <a:buNone/>
                      </a:pPr>
                      <a:r>
                        <a:rPr lang="en-US" sz="1050" dirty="0">
                          <a:solidFill>
                            <a:srgbClr val="222222"/>
                          </a:solidFill>
                        </a:rPr>
                        <a:t>José </a:t>
                      </a:r>
                      <a:pPr algn="l" indent="0" marL="0">
                        <a:buNone/>
                      </a:pPr>
                      <a:r>
                        <a:rPr lang="en-US" sz="1050" dirty="0">
                          <a:solidFill>
                            <a:srgbClr val="222222"/>
                          </a:solidFill>
                        </a:rPr>
                        <a:t>del </a:t>
                      </a:r>
                      <a:pPr algn="l" indent="0" marL="0">
                        <a:buNone/>
                      </a:pPr>
                      <a:r>
                        <a:rPr lang="en-US" sz="1050" dirty="0">
                          <a:solidFill>
                            <a:srgbClr val="222222"/>
                          </a:solidFill>
                        </a:rPr>
                        <a:t>Palmar, </a:t>
                      </a:r>
                      <a:pPr algn="l" indent="0" marL="0">
                        <a:buNone/>
                      </a:pPr>
                      <a:r>
                        <a:rPr lang="en-US" sz="1050" dirty="0">
                          <a:solidFill>
                            <a:srgbClr val="222222"/>
                          </a:solidFill>
                        </a:rPr>
                        <a:t>depths </a:t>
                      </a:r>
                      <a:pPr algn="l" indent="0" marL="0">
                        <a:buNone/>
                      </a:pPr>
                      <a:r>
                        <a:rPr lang="en-US" sz="1050" dirty="0">
                          <a:solidFill>
                            <a:srgbClr val="222222"/>
                          </a:solidFill>
                        </a:rPr>
                        <a:t>96 </a:t>
                      </a:r>
                      <a:pPr algn="l" indent="0" marL="0">
                        <a:buNone/>
                      </a:pPr>
                      <a:r>
                        <a:rPr lang="en-US" sz="1050" dirty="0">
                          <a:solidFill>
                            <a:srgbClr val="222222"/>
                          </a:solidFill>
                        </a:rPr>
                        <a:t>km </a:t>
                      </a:r>
                      <a:pPr algn="l" indent="0" marL="0">
                        <a:buNone/>
                      </a:pPr>
                      <a:r>
                        <a:rPr lang="en-US" sz="1050" dirty="0">
                          <a:solidFill>
                            <a:srgbClr val="222222"/>
                          </a:solidFill>
                        </a:rPr>
                        <a:t>and </a:t>
                      </a:r>
                      <a:pPr algn="l" indent="0" marL="0">
                        <a:buNone/>
                      </a:pPr>
                      <a:r>
                        <a:rPr lang="en-US" sz="1050" dirty="0">
                          <a:solidFill>
                            <a:srgbClr val="222222"/>
                          </a:solidFill>
                        </a:rPr>
                        <a:t>92 </a:t>
                      </a:r>
                      <a:pPr algn="l" indent="0" marL="0">
                        <a:buNone/>
                      </a:pPr>
                      <a:r>
                        <a:rPr lang="en-US" sz="1050" dirty="0">
                          <a:solidFill>
                            <a:srgbClr val="222222"/>
                          </a:solidFill>
                        </a:rPr>
                        <a:t>km. </a:t>
                      </a:r>
                      <a:pPr algn="l" indent="0" marL="0">
                        <a:buNone/>
                      </a:pPr>
                      <a:r>
                        <a:rPr lang="en-US" sz="1050" dirty="0">
                          <a:solidFill>
                            <a:srgbClr val="222222"/>
                          </a:solidFill>
                        </a:rPr>
                        <a:t>The </a:t>
                      </a:r>
                      <a:pPr algn="l" indent="0" marL="0">
                        <a:buNone/>
                      </a:pPr>
                      <a:r>
                        <a:rPr lang="en-US" sz="1050" dirty="0">
                          <a:solidFill>
                            <a:srgbClr val="222222"/>
                          </a:solidFill>
                        </a:rPr>
                        <a:t>10:43 </a:t>
                      </a:r>
                      <a:pPr algn="l" indent="0" marL="0">
                        <a:buNone/>
                      </a:pPr>
                      <a:r>
                        <a:rPr lang="en-US" sz="1050" dirty="0">
                          <a:solidFill>
                            <a:srgbClr val="222222"/>
                          </a:solidFill>
                        </a:rPr>
                        <a:t>event </a:t>
                      </a:r>
                      <a:pPr algn="l" indent="0" marL="0">
                        <a:buNone/>
                      </a:pPr>
                      <a:r>
                        <a:rPr lang="en-US" sz="1050" dirty="0">
                          <a:solidFill>
                            <a:srgbClr val="222222"/>
                          </a:solidFill>
                        </a:rPr>
                        <a:t>was </a:t>
                      </a:r>
                      <a:pPr algn="l" indent="0" marL="0">
                        <a:buNone/>
                      </a:pPr>
                      <a:r>
                        <a:rPr lang="en-US" sz="1050" dirty="0">
                          <a:solidFill>
                            <a:srgbClr val="222222"/>
                          </a:solidFill>
                        </a:rPr>
                        <a:t>felt </a:t>
                      </a:r>
                      <a:pPr algn="l" indent="0" marL="0">
                        <a:buNone/>
                      </a:pPr>
                      <a:r>
                        <a:rPr lang="en-US" sz="1050" dirty="0">
                          <a:solidFill>
                            <a:srgbClr val="222222"/>
                          </a:solidFill>
                        </a:rPr>
                        <a:t>strongly </a:t>
                      </a:r>
                      <a:pPr algn="l" indent="0" marL="0">
                        <a:buNone/>
                      </a:pPr>
                      <a:r>
                        <a:rPr lang="en-US" sz="1050" dirty="0">
                          <a:solidFill>
                            <a:srgbClr val="222222"/>
                          </a:solidFill>
                        </a:rPr>
                        <a:t>enough </a:t>
                      </a:r>
                      <a:pPr algn="l" indent="0" marL="0">
                        <a:buNone/>
                      </a:pPr>
                      <a:r>
                        <a:rPr lang="en-US" sz="1050" dirty="0">
                          <a:solidFill>
                            <a:srgbClr val="222222"/>
                          </a:solidFill>
                        </a:rPr>
                        <a:t>for </a:t>
                      </a:r>
                      <a:pPr algn="l" indent="0" marL="0">
                        <a:buNone/>
                      </a:pPr>
                      <a:r>
                        <a:rPr lang="en-US" sz="1050" dirty="0">
                          <a:solidFill>
                            <a:srgbClr val="222222"/>
                          </a:solidFill>
                        </a:rPr>
                        <a:t>buildings </a:t>
                      </a:r>
                      <a:pPr algn="l" indent="0" marL="0">
                        <a:buNone/>
                      </a:pPr>
                      <a:r>
                        <a:rPr lang="en-US" sz="1050" dirty="0">
                          <a:solidFill>
                            <a:srgbClr val="222222"/>
                          </a:solidFill>
                        </a:rPr>
                        <a:t>to </a:t>
                      </a:r>
                      <a:pPr algn="l" indent="0" marL="0">
                        <a:buNone/>
                      </a:pPr>
                      <a:r>
                        <a:rPr lang="en-US" sz="1050" dirty="0">
                          <a:solidFill>
                            <a:srgbClr val="222222"/>
                          </a:solidFill>
                        </a:rPr>
                        <a:t>be </a:t>
                      </a:r>
                      <a:pPr algn="l" indent="0" marL="0">
                        <a:buNone/>
                      </a:pPr>
                      <a:r>
                        <a:rPr lang="en-US" sz="1050" dirty="0">
                          <a:solidFill>
                            <a:srgbClr val="222222"/>
                          </a:solidFill>
                        </a:rPr>
                        <a:t>evacuated </a:t>
                      </a:r>
                      <a:pPr algn="l" indent="0" marL="0">
                        <a:buNone/>
                      </a:pPr>
                      <a:r>
                        <a:rPr lang="en-US" sz="1050" dirty="0">
                          <a:solidFill>
                            <a:srgbClr val="222222"/>
                          </a:solidFill>
                        </a:rPr>
                        <a:t>in </a:t>
                      </a:r>
                      <a:pPr algn="l" indent="0" marL="0">
                        <a:buNone/>
                      </a:pPr>
                      <a:r>
                        <a:rPr lang="en-US" sz="1050" dirty="0">
                          <a:solidFill>
                            <a:srgbClr val="222222"/>
                          </a:solidFill>
                        </a:rPr>
                        <a:t>several </a:t>
                      </a:r>
                      <a:pPr algn="l" indent="0" marL="0">
                        <a:buNone/>
                      </a:pPr>
                      <a:r>
                        <a:rPr lang="en-US" sz="1050" dirty="0">
                          <a:solidFill>
                            <a:srgbClr val="222222"/>
                          </a:solidFill>
                        </a:rPr>
                        <a:t>of </a:t>
                      </a:r>
                      <a:pPr algn="l" indent="0" marL="0">
                        <a:buNone/>
                      </a:pPr>
                      <a:r>
                        <a:rPr lang="en-US" sz="1050" dirty="0">
                          <a:solidFill>
                            <a:srgbClr val="222222"/>
                          </a:solidFill>
                        </a:rPr>
                        <a:t>the </a:t>
                      </a:r>
                      <a:pPr algn="l" indent="0" marL="0">
                        <a:buNone/>
                      </a:pPr>
                      <a:r>
                        <a:rPr lang="en-US" sz="1050" dirty="0">
                          <a:solidFill>
                            <a:srgbClr val="222222"/>
                          </a:solidFill>
                        </a:rPr>
                        <a:t>affected </a:t>
                      </a:r>
                      <a:pPr algn="l" indent="0" marL="0">
                        <a:buNone/>
                      </a:pPr>
                      <a:r>
                        <a:rPr lang="en-US" sz="1050" dirty="0">
                          <a:solidFill>
                            <a:srgbClr val="222222"/>
                          </a:solidFill>
                        </a:rPr>
                        <a:t>cities.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rPr>
                        <a:t>Official</a:t>
                      </a:r>
                      <a:endParaRPr lang="en-US" sz="10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dirty="0">
                          <a:solidFill>
                            <a:srgbClr val="222222"/>
                          </a:solidFill>
                        </a:rPr>
                        <a:t>13 </a:t>
                      </a:r>
                      <a:pPr algn="l" indent="0" marL="0">
                        <a:buNone/>
                      </a:pPr>
                      <a:r>
                        <a:rPr lang="en-US" sz="1150" dirty="0">
                          <a:solidFill>
                            <a:srgbClr val="222222"/>
                          </a:solidFill>
                        </a:rPr>
                        <a:t>Aug </a:t>
                      </a:r>
                      <a:pPr algn="l" indent="0" marL="0">
                        <a:buNone/>
                      </a:pPr>
                      <a:r>
                        <a:rPr lang="en-US" sz="1150" dirty="0">
                          <a:solidFill>
                            <a:srgbClr val="222222"/>
                          </a:solidFill>
                        </a:rPr>
                        <a:t>09:42 </a:t>
                      </a:r>
                      <a:pPr algn="l" indent="0" marL="0">
                        <a:buNone/>
                      </a:pPr>
                      <a:r>
                        <a:rPr lang="en-US" sz="1150" dirty="0">
                          <a:solidFill>
                            <a:srgbClr val="222222"/>
                          </a:solidFill>
                        </a:rPr>
                        <a:t>COT </a:t>
                      </a:r>
                      <a:pPr algn="l" indent="0" marL="0">
                        <a:buNone/>
                      </a:pPr>
                      <a:r>
                        <a:rPr lang="en-US" sz="1150" dirty="0">
                          <a:solidFill>
                            <a:srgbClr val="222222"/>
                          </a:solidFill>
                        </a:rPr>
                        <a:t>(14:42 </a:t>
                      </a:r>
                      <a:pPr algn="l" indent="0" marL="0">
                        <a:buNone/>
                      </a:pPr>
                      <a:r>
                        <a:rPr lang="en-US" sz="1150" dirty="0">
                          <a:solidFill>
                            <a:srgbClr val="222222"/>
                          </a:solidFill>
                        </a:rPr>
                        <a:t>UTC)</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F3864"/>
                          </a:solidFill>
                        </a:rPr>
                        <a:t>M4.2</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San </a:t>
                      </a:r>
                      <a:pPr algn="l" indent="0" marL="0">
                        <a:buNone/>
                      </a:pPr>
                      <a:r>
                        <a:rPr lang="en-US" sz="1050" dirty="0">
                          <a:solidFill>
                            <a:srgbClr val="222222"/>
                          </a:solidFill>
                        </a:rPr>
                        <a:t>José </a:t>
                      </a:r>
                      <a:pPr algn="l" indent="0" marL="0">
                        <a:buNone/>
                      </a:pPr>
                      <a:r>
                        <a:rPr lang="en-US" sz="1050" dirty="0">
                          <a:solidFill>
                            <a:srgbClr val="222222"/>
                          </a:solidFill>
                        </a:rPr>
                        <a:t>del </a:t>
                      </a:r>
                      <a:pPr algn="l" indent="0" marL="0">
                        <a:buNone/>
                      </a:pPr>
                      <a:r>
                        <a:rPr lang="en-US" sz="1050" dirty="0">
                          <a:solidFill>
                            <a:srgbClr val="222222"/>
                          </a:solidFill>
                        </a:rPr>
                        <a:t>Palmar, </a:t>
                      </a:r>
                      <a:pPr algn="l" indent="0" marL="0">
                        <a:buNone/>
                      </a:pPr>
                      <a:r>
                        <a:rPr lang="en-US" sz="1050" dirty="0">
                          <a:solidFill>
                            <a:srgbClr val="222222"/>
                          </a:solidFill>
                        </a:rPr>
                        <a:t>depth </a:t>
                      </a:r>
                      <a:pPr algn="l" indent="0" marL="0">
                        <a:buNone/>
                      </a:pPr>
                      <a:r>
                        <a:rPr lang="en-US" sz="1050" dirty="0">
                          <a:solidFill>
                            <a:srgbClr val="222222"/>
                          </a:solidFill>
                        </a:rPr>
                        <a:t>95 </a:t>
                      </a:r>
                      <a:pPr algn="l" indent="0" marL="0">
                        <a:buNone/>
                      </a:pPr>
                      <a:r>
                        <a:rPr lang="en-US" sz="1050" dirty="0">
                          <a:solidFill>
                            <a:srgbClr val="222222"/>
                          </a:solidFill>
                        </a:rPr>
                        <a:t>km, </a:t>
                      </a:r>
                      <a:pPr algn="l" indent="0" marL="0">
                        <a:buNone/>
                      </a:pPr>
                      <a:r>
                        <a:rPr lang="en-US" sz="1050" dirty="0">
                          <a:solidFill>
                            <a:srgbClr val="222222"/>
                          </a:solidFill>
                        </a:rPr>
                        <a:t>about </a:t>
                      </a:r>
                      <a:pPr algn="l" indent="0" marL="0">
                        <a:buNone/>
                      </a:pPr>
                      <a:r>
                        <a:rPr lang="en-US" sz="1050" dirty="0">
                          <a:solidFill>
                            <a:srgbClr val="222222"/>
                          </a:solidFill>
                        </a:rPr>
                        <a:t>20 </a:t>
                      </a:r>
                      <a:pPr algn="l" indent="0" marL="0">
                        <a:buNone/>
                      </a:pPr>
                      <a:r>
                        <a:rPr lang="en-US" sz="1050" dirty="0">
                          <a:solidFill>
                            <a:srgbClr val="222222"/>
                          </a:solidFill>
                        </a:rPr>
                        <a:t>km </a:t>
                      </a:r>
                      <a:pPr algn="l" indent="0" marL="0">
                        <a:buNone/>
                      </a:pPr>
                      <a:r>
                        <a:rPr lang="en-US" sz="1050" dirty="0">
                          <a:solidFill>
                            <a:srgbClr val="222222"/>
                          </a:solidFill>
                        </a:rPr>
                        <a:t>from </a:t>
                      </a:r>
                      <a:pPr algn="l" indent="0" marL="0">
                        <a:buNone/>
                      </a:pPr>
                      <a:r>
                        <a:rPr lang="en-US" sz="1050" dirty="0">
                          <a:solidFill>
                            <a:srgbClr val="222222"/>
                          </a:solidFill>
                        </a:rPr>
                        <a:t>the </a:t>
                      </a:r>
                      <a:pPr algn="l" indent="0" marL="0">
                        <a:buNone/>
                      </a:pPr>
                      <a:r>
                        <a:rPr lang="en-US" sz="1050" dirty="0">
                          <a:solidFill>
                            <a:srgbClr val="222222"/>
                          </a:solidFill>
                        </a:rPr>
                        <a:t>epicentre </a:t>
                      </a:r>
                      <a:pPr algn="l" indent="0" marL="0">
                        <a:buNone/>
                      </a:pPr>
                      <a:r>
                        <a:rPr lang="en-US" sz="1050" dirty="0">
                          <a:solidFill>
                            <a:srgbClr val="222222"/>
                          </a:solidFill>
                        </a:rPr>
                        <a:t>- </a:t>
                      </a:r>
                      <a:pPr algn="l" indent="0" marL="0">
                        <a:buNone/>
                      </a:pPr>
                      <a:r>
                        <a:rPr lang="en-US" sz="1050" dirty="0">
                          <a:solidFill>
                            <a:srgbClr val="222222"/>
                          </a:solidFill>
                        </a:rPr>
                        <a:t>the </a:t>
                      </a:r>
                      <a:pPr algn="l" indent="0" marL="0">
                        <a:buNone/>
                      </a:pPr>
                      <a:r>
                        <a:rPr lang="en-US" sz="1050" dirty="0">
                          <a:solidFill>
                            <a:srgbClr val="222222"/>
                          </a:solidFill>
                        </a:rPr>
                        <a:t>same </a:t>
                      </a:r>
                      <a:pPr algn="l" indent="0" marL="0">
                        <a:buNone/>
                      </a:pPr>
                      <a:r>
                        <a:rPr lang="en-US" sz="1050" dirty="0">
                          <a:solidFill>
                            <a:srgbClr val="222222"/>
                          </a:solidFill>
                        </a:rPr>
                        <a:t>source </a:t>
                      </a:r>
                      <a:pPr algn="l" indent="0" marL="0">
                        <a:buNone/>
                      </a:pPr>
                      <a:r>
                        <a:rPr lang="en-US" sz="1050" dirty="0">
                          <a:solidFill>
                            <a:srgbClr val="222222"/>
                          </a:solidFill>
                        </a:rPr>
                        <a:t>volume </a:t>
                      </a:r>
                      <a:pPr algn="l" indent="0" marL="0">
                        <a:buNone/>
                      </a:pPr>
                      <a:r>
                        <a:rPr lang="en-US" sz="1050" dirty="0">
                          <a:solidFill>
                            <a:srgbClr val="222222"/>
                          </a:solidFill>
                        </a:rPr>
                        <a:t>as </a:t>
                      </a:r>
                      <a:pPr algn="l" indent="0" marL="0">
                        <a:buNone/>
                      </a:pPr>
                      <a:r>
                        <a:rPr lang="en-US" sz="1050" dirty="0">
                          <a:solidFill>
                            <a:srgbClr val="222222"/>
                          </a:solidFill>
                        </a:rPr>
                        <a:t>the </a:t>
                      </a:r>
                      <a:pPr algn="l" indent="0" marL="0">
                        <a:buNone/>
                      </a:pPr>
                      <a:r>
                        <a:rPr lang="en-US" sz="1050" dirty="0">
                          <a:solidFill>
                            <a:srgbClr val="222222"/>
                          </a:solidFill>
                        </a:rPr>
                        <a:t>mainshock. </a:t>
                      </a:r>
                      <a:pPr algn="l" indent="0" marL="0">
                        <a:buNone/>
                      </a:pPr>
                      <a:r>
                        <a:rPr lang="en-US" sz="1050" dirty="0">
                          <a:solidFill>
                            <a:srgbClr val="222222"/>
                          </a:solidFill>
                        </a:rPr>
                        <a:t>Felt </a:t>
                      </a:r>
                      <a:pPr algn="l" indent="0" marL="0">
                        <a:buNone/>
                      </a:pPr>
                      <a:r>
                        <a:rPr lang="en-US" sz="1050" dirty="0">
                          <a:solidFill>
                            <a:srgbClr val="222222"/>
                          </a:solidFill>
                        </a:rPr>
                        <a:t>as </a:t>
                      </a:r>
                      <a:pPr algn="l" indent="0" marL="0">
                        <a:buNone/>
                      </a:pPr>
                      <a:r>
                        <a:rPr lang="en-US" sz="1050" dirty="0">
                          <a:solidFill>
                            <a:srgbClr val="222222"/>
                          </a:solidFill>
                        </a:rPr>
                        <a:t>far </a:t>
                      </a:r>
                      <a:pPr algn="l" indent="0" marL="0">
                        <a:buNone/>
                      </a:pPr>
                      <a:r>
                        <a:rPr lang="en-US" sz="1050" dirty="0">
                          <a:solidFill>
                            <a:srgbClr val="222222"/>
                          </a:solidFill>
                        </a:rPr>
                        <a:t>as </a:t>
                      </a:r>
                      <a:pPr algn="l" indent="0" marL="0">
                        <a:buNone/>
                      </a:pPr>
                      <a:r>
                        <a:rPr lang="en-US" sz="1050" dirty="0">
                          <a:solidFill>
                            <a:srgbClr val="222222"/>
                          </a:solidFill>
                        </a:rPr>
                        <a:t>Bogotá </a:t>
                      </a:r>
                      <a:pPr algn="l" indent="0" marL="0">
                        <a:buNone/>
                      </a:pPr>
                      <a:r>
                        <a:rPr lang="en-US" sz="1050" dirty="0">
                          <a:solidFill>
                            <a:srgbClr val="222222"/>
                          </a:solidFill>
                        </a:rPr>
                        <a:t>and </a:t>
                      </a:r>
                      <a:pPr algn="l" indent="0" marL="0">
                        <a:buNone/>
                      </a:pPr>
                      <a:r>
                        <a:rPr lang="en-US" sz="1050" dirty="0">
                          <a:solidFill>
                            <a:srgbClr val="222222"/>
                          </a:solidFill>
                        </a:rPr>
                        <a:t>strong </a:t>
                      </a:r>
                      <a:pPr algn="l" indent="0" marL="0">
                        <a:buNone/>
                      </a:pPr>
                      <a:r>
                        <a:rPr lang="en-US" sz="1050" dirty="0">
                          <a:solidFill>
                            <a:srgbClr val="222222"/>
                          </a:solidFill>
                        </a:rPr>
                        <a:t>enough </a:t>
                      </a:r>
                      <a:pPr algn="l" indent="0" marL="0">
                        <a:buNone/>
                      </a:pPr>
                      <a:r>
                        <a:rPr lang="en-US" sz="1050" dirty="0">
                          <a:solidFill>
                            <a:srgbClr val="222222"/>
                          </a:solidFill>
                        </a:rPr>
                        <a:t>to </a:t>
                      </a:r>
                      <a:pPr algn="l" indent="0" marL="0">
                        <a:buNone/>
                      </a:pPr>
                      <a:r>
                        <a:rPr lang="en-US" sz="1050" dirty="0">
                          <a:solidFill>
                            <a:srgbClr val="222222"/>
                          </a:solidFill>
                        </a:rPr>
                        <a:t>halt </a:t>
                      </a:r>
                      <a:pPr algn="l" indent="0" marL="0">
                        <a:buNone/>
                      </a:pPr>
                      <a:r>
                        <a:rPr lang="en-US" sz="1050" dirty="0">
                          <a:solidFill>
                            <a:srgbClr val="222222"/>
                          </a:solidFill>
                        </a:rPr>
                        <a:t>search-and-rescue </a:t>
                      </a:r>
                      <a:pPr algn="l" indent="0" marL="0">
                        <a:buNone/>
                      </a:pPr>
                      <a:r>
                        <a:rPr lang="en-US" sz="1050" dirty="0">
                          <a:solidFill>
                            <a:srgbClr val="222222"/>
                          </a:solidFill>
                        </a:rPr>
                        <a:t>work </a:t>
                      </a:r>
                      <a:pPr algn="l" indent="0" marL="0">
                        <a:buNone/>
                      </a:pPr>
                      <a:r>
                        <a:rPr lang="en-US" sz="1050" dirty="0">
                          <a:solidFill>
                            <a:srgbClr val="222222"/>
                          </a:solidFill>
                        </a:rPr>
                        <a:t>temporarily.</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A6A6A"/>
                          </a:solidFill>
                        </a:rPr>
                        <a:t>Official</a:t>
                      </a:r>
                      <a:endParaRPr lang="en-US" sz="10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dirty="0">
                          <a:solidFill>
                            <a:srgbClr val="222222"/>
                          </a:solidFill>
                        </a:rPr>
                        <a:t>to </a:t>
                      </a:r>
                      <a:pPr algn="l" indent="0" marL="0">
                        <a:buNone/>
                      </a:pPr>
                      <a:r>
                        <a:rPr lang="en-US" sz="1150" dirty="0">
                          <a:solidFill>
                            <a:srgbClr val="222222"/>
                          </a:solidFill>
                        </a:rPr>
                        <a:t>14 </a:t>
                      </a:r>
                      <a:pPr algn="l" indent="0" marL="0">
                        <a:buNone/>
                      </a:pPr>
                      <a:r>
                        <a:rPr lang="en-US" sz="1150" dirty="0">
                          <a:solidFill>
                            <a:srgbClr val="222222"/>
                          </a:solidFill>
                        </a:rPr>
                        <a:t>Aug </a:t>
                      </a:r>
                      <a:pPr algn="l" indent="0" marL="0">
                        <a:buNone/>
                      </a:pPr>
                      <a:r>
                        <a:rPr lang="en-US" sz="1150" dirty="0">
                          <a:solidFill>
                            <a:srgbClr val="222222"/>
                          </a:solidFill>
                        </a:rPr>
                        <a:t>07:00 </a:t>
                      </a:r>
                      <a:pPr algn="l" indent="0" marL="0">
                        <a:buNone/>
                      </a:pPr>
                      <a:r>
                        <a:rPr lang="en-US" sz="1150" dirty="0">
                          <a:solidFill>
                            <a:srgbClr val="222222"/>
                          </a:solidFill>
                        </a:rPr>
                        <a:t>COT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rPr>
                        <a:t>184 </a:t>
                      </a:r>
                      <a:pPr algn="ctr" indent="0" marL="0">
                        <a:buNone/>
                      </a:pPr>
                      <a:r>
                        <a:rPr lang="en-US" sz="1150" b="1" dirty="0">
                          <a:solidFill>
                            <a:srgbClr val="1F3864"/>
                          </a:solidFill>
                        </a:rPr>
                        <a:t>located</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SGC </a:t>
                      </a:r>
                      <a:pPr algn="l" indent="0" marL="0">
                        <a:buNone/>
                      </a:pPr>
                      <a:r>
                        <a:rPr lang="en-US" sz="1050" dirty="0">
                          <a:solidFill>
                            <a:srgbClr val="222222"/>
                          </a:solidFill>
                        </a:rPr>
                        <a:t>running </a:t>
                      </a:r>
                      <a:pPr algn="l" indent="0" marL="0">
                        <a:buNone/>
                      </a:pPr>
                      <a:r>
                        <a:rPr lang="en-US" sz="1050" dirty="0">
                          <a:solidFill>
                            <a:srgbClr val="222222"/>
                          </a:solidFill>
                        </a:rPr>
                        <a:t>total </a:t>
                      </a:r>
                      <a:pPr algn="l" indent="0" marL="0">
                        <a:buNone/>
                      </a:pPr>
                      <a:r>
                        <a:rPr lang="en-US" sz="1050" dirty="0">
                          <a:solidFill>
                            <a:srgbClr val="222222"/>
                          </a:solidFill>
                        </a:rPr>
                        <a:t>four </a:t>
                      </a:r>
                      <a:pPr algn="l" indent="0" marL="0">
                        <a:buNone/>
                      </a:pPr>
                      <a:r>
                        <a:rPr lang="en-US" sz="1050" dirty="0">
                          <a:solidFill>
                            <a:srgbClr val="222222"/>
                          </a:solidFill>
                        </a:rPr>
                        <a:t>days </a:t>
                      </a:r>
                      <a:pPr algn="l" indent="0" marL="0">
                        <a:buNone/>
                      </a:pPr>
                      <a:r>
                        <a:rPr lang="en-US" sz="1050" dirty="0">
                          <a:solidFill>
                            <a:srgbClr val="222222"/>
                          </a:solidFill>
                        </a:rPr>
                        <a:t>on: </a:t>
                      </a:r>
                      <a:pPr algn="l" indent="0" marL="0">
                        <a:buNone/>
                      </a:pPr>
                      <a:r>
                        <a:rPr lang="en-US" sz="1050" dirty="0">
                          <a:solidFill>
                            <a:srgbClr val="222222"/>
                          </a:solidFill>
                        </a:rPr>
                        <a:t>184 </a:t>
                      </a:r>
                      <a:pPr algn="l" indent="0" marL="0">
                        <a:buNone/>
                      </a:pPr>
                      <a:r>
                        <a:rPr lang="en-US" sz="1050" dirty="0">
                          <a:solidFill>
                            <a:srgbClr val="222222"/>
                          </a:solidFill>
                        </a:rPr>
                        <a:t>aftershocks, </a:t>
                      </a:r>
                      <a:pPr algn="l" indent="0" marL="0">
                        <a:buNone/>
                      </a:pPr>
                      <a:r>
                        <a:rPr lang="en-US" sz="1050" dirty="0">
                          <a:solidFill>
                            <a:srgbClr val="222222"/>
                          </a:solidFill>
                        </a:rPr>
                        <a:t>15 </a:t>
                      </a:r>
                      <a:pPr algn="l" indent="0" marL="0">
                        <a:buNone/>
                      </a:pPr>
                      <a:r>
                        <a:rPr lang="en-US" sz="1050" dirty="0">
                          <a:solidFill>
                            <a:srgbClr val="222222"/>
                          </a:solidFill>
                        </a:rPr>
                        <a:t>above </a:t>
                      </a:r>
                      <a:pPr algn="l" indent="0" marL="0">
                        <a:buNone/>
                      </a:pPr>
                      <a:r>
                        <a:rPr lang="en-US" sz="1050" dirty="0">
                          <a:solidFill>
                            <a:srgbClr val="222222"/>
                          </a:solidFill>
                        </a:rPr>
                        <a:t>M3.0 </a:t>
                      </a:r>
                      <a:pPr algn="l" indent="0" marL="0">
                        <a:buNone/>
                      </a:pPr>
                      <a:r>
                        <a:rPr lang="en-US" sz="1050" dirty="0">
                          <a:solidFill>
                            <a:srgbClr val="222222"/>
                          </a:solidFill>
                        </a:rPr>
                        <a:t>and </a:t>
                      </a:r>
                      <a:pPr algn="l" indent="0" marL="0">
                        <a:buNone/>
                      </a:pPr>
                      <a:r>
                        <a:rPr lang="en-US" sz="1050" dirty="0">
                          <a:solidFill>
                            <a:srgbClr val="222222"/>
                          </a:solidFill>
                        </a:rPr>
                        <a:t>2 </a:t>
                      </a:r>
                      <a:pPr algn="l" indent="0" marL="0">
                        <a:buNone/>
                      </a:pPr>
                      <a:r>
                        <a:rPr lang="en-US" sz="1050" dirty="0">
                          <a:solidFill>
                            <a:srgbClr val="222222"/>
                          </a:solidFill>
                        </a:rPr>
                        <a:t>above </a:t>
                      </a:r>
                      <a:pPr algn="l" indent="0" marL="0">
                        <a:buNone/>
                      </a:pPr>
                      <a:r>
                        <a:rPr lang="en-US" sz="1050" dirty="0">
                          <a:solidFill>
                            <a:srgbClr val="222222"/>
                          </a:solidFill>
                        </a:rPr>
                        <a:t>M4.0. </a:t>
                      </a:r>
                      <a:pPr algn="l" indent="0" marL="0">
                        <a:buNone/>
                      </a:pPr>
                      <a:r>
                        <a:rPr lang="en-US" sz="1050" dirty="0">
                          <a:solidFill>
                            <a:srgbClr val="222222"/>
                          </a:solidFill>
                        </a:rPr>
                        <a:t>The </a:t>
                      </a:r>
                      <a:pPr algn="l" indent="0" marL="0">
                        <a:buNone/>
                      </a:pPr>
                      <a:r>
                        <a:rPr lang="en-US" sz="1050" dirty="0">
                          <a:solidFill>
                            <a:srgbClr val="222222"/>
                          </a:solidFill>
                        </a:rPr>
                        <a:t>published </a:t>
                      </a:r>
                      <a:pPr algn="l" indent="0" marL="0">
                        <a:buNone/>
                      </a:pPr>
                      <a:r>
                        <a:rPr lang="en-US" sz="1050" dirty="0">
                          <a:solidFill>
                            <a:srgbClr val="222222"/>
                          </a:solidFill>
                        </a:rPr>
                        <a:t>total </a:t>
                      </a:r>
                      <a:pPr algn="l" indent="0" marL="0">
                        <a:buNone/>
                      </a:pPr>
                      <a:r>
                        <a:rPr lang="en-US" sz="1050" dirty="0">
                          <a:solidFill>
                            <a:srgbClr val="222222"/>
                          </a:solidFill>
                        </a:rPr>
                        <a:t>was </a:t>
                      </a:r>
                      <a:pPr algn="l" indent="0" marL="0">
                        <a:buNone/>
                      </a:pPr>
                      <a:r>
                        <a:rPr lang="en-US" sz="1050" dirty="0">
                          <a:solidFill>
                            <a:srgbClr val="222222"/>
                          </a:solidFill>
                        </a:rPr>
                        <a:t>103 </a:t>
                      </a:r>
                      <a:pPr algn="l" indent="0" marL="0">
                        <a:buNone/>
                      </a:pPr>
                      <a:r>
                        <a:rPr lang="en-US" sz="1050" dirty="0">
                          <a:solidFill>
                            <a:srgbClr val="222222"/>
                          </a:solidFill>
                        </a:rPr>
                        <a:t>at </a:t>
                      </a:r>
                      <a:pPr algn="l" indent="0" marL="0">
                        <a:buNone/>
                      </a:pPr>
                      <a:r>
                        <a:rPr lang="en-US" sz="1050" dirty="0">
                          <a:solidFill>
                            <a:srgbClr val="222222"/>
                          </a:solidFill>
                        </a:rPr>
                        <a:t>15:00 </a:t>
                      </a:r>
                      <a:pPr algn="l" indent="0" marL="0">
                        <a:buNone/>
                      </a:pPr>
                      <a:r>
                        <a:rPr lang="en-US" sz="1050" dirty="0">
                          <a:solidFill>
                            <a:srgbClr val="222222"/>
                          </a:solidFill>
                        </a:rPr>
                        <a:t>on </a:t>
                      </a:r>
                      <a:pPr algn="l" indent="0" marL="0">
                        <a:buNone/>
                      </a:pPr>
                      <a:r>
                        <a:rPr lang="en-US" sz="1050" dirty="0">
                          <a:solidFill>
                            <a:srgbClr val="222222"/>
                          </a:solidFill>
                        </a:rPr>
                        <a:t>11 </a:t>
                      </a:r>
                      <a:pPr algn="l" indent="0" marL="0">
                        <a:buNone/>
                      </a:pPr>
                      <a:r>
                        <a:rPr lang="en-US" sz="1050" dirty="0">
                          <a:solidFill>
                            <a:srgbClr val="222222"/>
                          </a:solidFill>
                        </a:rPr>
                        <a:t>August; </a:t>
                      </a:r>
                      <a:pPr algn="l" indent="0" marL="0">
                        <a:buNone/>
                      </a:pPr>
                      <a:r>
                        <a:rPr lang="en-US" sz="1050" dirty="0">
                          <a:solidFill>
                            <a:srgbClr val="222222"/>
                          </a:solidFill>
                        </a:rPr>
                        <a:t>the </a:t>
                      </a:r>
                      <a:pPr algn="l" indent="0" marL="0">
                        <a:buNone/>
                      </a:pPr>
                      <a:r>
                        <a:rPr lang="en-US" sz="1050" dirty="0">
                          <a:solidFill>
                            <a:srgbClr val="222222"/>
                          </a:solidFill>
                        </a:rPr>
                        <a:t>catalogue </a:t>
                      </a:r>
                      <a:pPr algn="l" indent="0" marL="0">
                        <a:buNone/>
                      </a:pPr>
                      <a:r>
                        <a:rPr lang="en-US" sz="1050" dirty="0">
                          <a:solidFill>
                            <a:srgbClr val="222222"/>
                          </a:solidFill>
                        </a:rPr>
                        <a:t>extract </a:t>
                      </a:r>
                      <a:pPr algn="l" indent="0" marL="0">
                        <a:buNone/>
                      </a:pPr>
                      <a:r>
                        <a:rPr lang="en-US" sz="1050" dirty="0">
                          <a:solidFill>
                            <a:srgbClr val="222222"/>
                          </a:solidFill>
                        </a:rPr>
                        <a:t>used </a:t>
                      </a:r>
                      <a:pPr algn="l" indent="0" marL="0">
                        <a:buNone/>
                      </a:pPr>
                      <a:r>
                        <a:rPr lang="en-US" sz="1050" dirty="0">
                          <a:solidFill>
                            <a:srgbClr val="222222"/>
                          </a:solidFill>
                        </a:rPr>
                        <a:t>for </a:t>
                      </a:r>
                      <a:pPr algn="l" indent="0" marL="0">
                        <a:buNone/>
                      </a:pPr>
                      <a:r>
                        <a:rPr lang="en-US" sz="1050" dirty="0">
                          <a:solidFill>
                            <a:srgbClr val="222222"/>
                          </a:solidFill>
                        </a:rPr>
                        <a:t>the </a:t>
                      </a:r>
                      <a:pPr algn="l" indent="0" marL="0">
                        <a:buNone/>
                      </a:pPr>
                      <a:r>
                        <a:rPr lang="en-US" sz="1050" dirty="0">
                          <a:solidFill>
                            <a:srgbClr val="222222"/>
                          </a:solidFill>
                        </a:rPr>
                        <a:t>figure </a:t>
                      </a:r>
                      <a:pPr algn="l" indent="0" marL="0">
                        <a:buNone/>
                      </a:pPr>
                      <a:r>
                        <a:rPr lang="en-US" sz="1050" dirty="0">
                          <a:solidFill>
                            <a:srgbClr val="222222"/>
                          </a:solidFill>
                        </a:rPr>
                        <a:t>holds </a:t>
                      </a:r>
                      <a:pPr algn="l" indent="0" marL="0">
                        <a:buNone/>
                      </a:pPr>
                      <a:r>
                        <a:rPr lang="en-US" sz="1050" dirty="0">
                          <a:solidFill>
                            <a:srgbClr val="222222"/>
                          </a:solidFill>
                        </a:rPr>
                        <a:t>147 </a:t>
                      </a:r>
                      <a:pPr algn="l" indent="0" marL="0">
                        <a:buNone/>
                      </a:pPr>
                      <a:r>
                        <a:rPr lang="en-US" sz="1050" dirty="0">
                          <a:solidFill>
                            <a:srgbClr val="222222"/>
                          </a:solidFill>
                        </a:rPr>
                        <a:t>events </a:t>
                      </a:r>
                      <a:pPr algn="l" indent="0" marL="0">
                        <a:buNone/>
                      </a:pPr>
                      <a:r>
                        <a:rPr lang="en-US" sz="1050" dirty="0">
                          <a:solidFill>
                            <a:srgbClr val="222222"/>
                          </a:solidFill>
                        </a:rPr>
                        <a:t>to </a:t>
                      </a:r>
                      <a:pPr algn="l" indent="0" marL="0">
                        <a:buNone/>
                      </a:pPr>
                      <a:r>
                        <a:rPr lang="en-US" sz="1050" dirty="0">
                          <a:solidFill>
                            <a:srgbClr val="222222"/>
                          </a:solidFill>
                        </a:rPr>
                        <a:t>17:24 </a:t>
                      </a:r>
                      <a:pPr algn="l" indent="0" marL="0">
                        <a:buNone/>
                      </a:pPr>
                      <a:r>
                        <a:rPr lang="en-US" sz="1050" dirty="0">
                          <a:solidFill>
                            <a:srgbClr val="222222"/>
                          </a:solidFill>
                        </a:rPr>
                        <a:t>on </a:t>
                      </a:r>
                      <a:pPr algn="l" indent="0" marL="0">
                        <a:buNone/>
                      </a:pPr>
                      <a:r>
                        <a:rPr lang="en-US" sz="1050" dirty="0">
                          <a:solidFill>
                            <a:srgbClr val="222222"/>
                          </a:solidFill>
                        </a:rPr>
                        <a:t>11 </a:t>
                      </a:r>
                      <a:pPr algn="l" indent="0" marL="0">
                        <a:buNone/>
                      </a:pPr>
                      <a:r>
                        <a:rPr lang="en-US" sz="1050" dirty="0">
                          <a:solidFill>
                            <a:srgbClr val="222222"/>
                          </a:solidFill>
                        </a:rPr>
                        <a:t>August.</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rPr>
                        <a:t>Official</a:t>
                      </a:r>
                      <a:endParaRPr lang="en-US" sz="10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650992"/>
            <a:ext cx="11430000" cy="530352"/>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More than 30 agencies published a solution for the mainshock within minutes. Their magnitudes span Mw 7.0-7.7 and their depths 74-121 km; several automatic solutions defaulted to 10 km before revision. This report uses the USGS/NEIC solution (Mw 7.4, 110 km), which matches PAGER v5, and shows the SGC solution beside it. The spread is normal for a deep event recorded at teleseismic distances, and it is the reason early media figures for depth and magnitude disagreed.</a:t>
            </a:r>
            <a:endParaRPr lang="en-US" sz="100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48</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(1/6)</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Deaths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331 (UNGRD, 06:30 cut on 3 Sep), unchanged from the 2 Sep 06:30 cut. The series has run 273, 281, 285, 287, 288, 294, 289, 287, 329, 331, 331, 331 and now 331 again; UNGRD attributes earlier movement to verification and consolidation of figures reported from the territories.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3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Injured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4,519 (UNGRD, 06:30 cut on 3 Sep), unchanged from the 2 Sep 06:30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3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Missing (reported to the authorities)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122 (UNGRD, 06:30 cut on 3 Sep), down from 136 at the 2 Sep 06:30 cut. The series has run 496, 377, 378, 202, 320, 143, 194, 151, 136, 136, 136 and now 122: reports are filed, resolved and de-duplicated at the same time, so this count moves in both directions; UNGRD gives no explanation for this decrease, and it is treated here as reconciliation rather than a new finding about casualties.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3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Rescued alive (national balance)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364 (UNGRD, 06:30 cut on 3 Sep), unchanged from 2 Sep, plus 2,976 animals rescued (unchanged) and 3,023 affected (unchanged). This is the national balance figure carried alongside the casualty count; see the separate 16 Aug entry below for named rescue cases.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3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Unresolved reports on citizen platforms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4,084 people registered on “Colombia te busca”, of whom 3,653 are still to be located and 429 have been found - concentrated in Valle del Cauca, Risaralda, Caldas and Chocó. Asocapitales has launched a second platform.</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“Colombia te busca” (citizen initiative); Asocapitales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48</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(2/6)</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Rescued alive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355 (UNGRD, 18:30 cut on 16 Aug), plus 496 animals rescued and 768 affected. They include a woman recovered in Cali almost 30 hours after the earthquake, a woman freed in Pereira after 36 hours, a baby pulled from an apartment block and the family of four found alive in Quibdó.</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16 Aug 18:30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Municipalities affected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498 municipalities in 16 departments (UNGRD, 06:30 cut on 3 Sep), up from 497 at the 2 Sep 06:30 cut (against 494 municipalities in 16 departments on 27 Aug and 472 municipalities in 15 departments at the 18:30 cut on 16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3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People affected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293,743 families (466,606 people) affected (UNGRD, 06:30 cut on 3 Sep), unchanged from the 2 Sep 06:30 cut. OCHA's Flash Update 011 corroborates the people-affected figure as of 2 Sep 17:00 ("more than 466,600"). OCHA's earlier Flash Update 010 separately reported more than 406,000 people (193,011 families) as of 27 Aug 20:00, concentrated in Risaralda, Valle del Cauca, Choco, Quindio and Caldas; the two organisations' bases are not confirmed to be identical, so both are shown with their dates.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3 Sep 06:30; OCHA Flash Update 011, 2 Sep 17:00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48</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(3/6)</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Homes damaged or destroyed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237,346: 36,336 destroyed and 201,010 damaged (UNGRD, 06:30 cut on 3 Sep), against 237,341 (36,336 destroyed and 201,005 damaged) at the 2 Sep 06:30 cut. The destroyed count is unchanged; the damaged count rose slightly. OCHA's Flash Update 011 (2 Sep 17:00) separately cites more than 36,000 homes destroyed, consistent with the UNGRD figure. In El Cairo, a coffee town in the mountains of Valle del Cauca, 80% of the houses were damaged (as of 16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3 Sep 06:30; OCHA Flash Update 011, 2 Sep 17:00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of which seriously damaged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201,010 (UNGRD, 06:30 cut on 3 Sep), up from 201,005 at the 2 Sep 06:30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3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of which destroyed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36,336 (UNGRD, 06:30 cut on 3 Sep), unchanged from the 2 Sep 06:30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3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Buildings collapsed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709 nationally, plus 5,889 buildings damaged (UNGRD, 06:30 cut on 3 Sep), unchanged from the 2 Sep 06:30 cut (against 197 collapsed at the 18:30 cut on 16 Aug, 66 that morning and 121 on 14 Aug). Asocapitales separately counted 243 collapsed structures in the capital cities as of 16 Aug; Cali city officials reported 107 collapsed and 643 structurally damaged as of 16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3 Sep 06:30; Asocapitales (16 Aug); Alcaldía de Cali (16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48</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(4/6)</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Health facilities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400 damaged (UNGRD, 06:30 cut on 3 Sep), unchanged from the 2 Sep 06:30 cut (406 at the 31 Aug 06:30 cut, 304 at the 18:30 cut on 16 Aug, 240 that morning and 18 on 10 Aug); 7 health institutions closed as of 16 Aug. About 30% of the University Hospital in Cali collapsed, including three floors (paediatrics, internal medicine, part of the neonatal unit). The Interior Minister said on 14 Aug that the hospital network in Buenaventura is overwhelmed.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3 Sep 06:30; Ministry of the Interior (14 Aug); Valle del Cauca government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Educational facilities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4,292 affected (UNGRD, 06:30 cut on 3 Sep), up slightly from 4,287 at the 2 Sep 06:30 cut (4,290 at 1 Sep, 4,268 at 31 Aug, 3,207 at the 18:30 cut on 16 Aug, 2,205 that morning and 52 on 10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3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Community facilities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5,600 damaged (UNGRD, 06:30 cut on 3 Sep), unchanged from the 2 Sep 06:30 cut (5,698 at 1 Sep, 5,524 at 31 Aug, 4,059 at the 18:30 cut on 16 Aug, 1,208 that morning)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3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Roads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468 roads damaged (UNGRD, 06:30 cut on 3 Sep), unchanged from the 2 Sep 06:30 cut (462 at 31 Aug, 410 at the 18:30 cut on 16 Aug, 210 that morning and 18 on 10 Aug); 91 road bridges and 13 footbridges also damaged, unchanged (against 48 road bridges and 13 footbridges on 16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3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48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(5/6)</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Airports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5 airports with damage in the UNGRD balance of 13 Aug; operations had been suspended at seven. Matecaña International (Pereira) passenger terminal partially collapsed; flights suspended at Pereira, Manizales, Quibdó, Armenia, Cartago and Buenaventura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13 Aug; civil aviation authority</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Cultural heritage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 tower of the neo-Gothic Cathedral of Manizales collapsed onto the nave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Mayor of Manizales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Lifelines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140 aqueducts damaged (UNGRD, 06:30 cut on 2 Sep), unchanged from the 1 Sep 06:30 cut (122 at 31 Aug, 95 at the 18:30 cut on 16 Aug, 73 that morning); 29 banking offices out of service as of 16 Aug. Power outages and communications disruption reported in areas near the epicentre as of 16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2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Animals affected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3,023 animals affected and 2,976 rescued nationally (UNGRD, 06:30 cut on 3 Sep), unchanged from the 2 Sep 06:30 cut, against 768 affected and 496 rescued at the 16 Aug 18:30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3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Displacement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Thousands reported to have left their homes; shelter figures not yet published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Media / humanitarian agencies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48</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(6/6)</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Humanitarian response and funding</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At least 29 humanitarian organizations have assisted nearly 123,000 people across 49 affected municipalities, up from 25 organizations / 72,000 people / 36 municipalities in Flash Update 010 (27 Aug). Donors have mobilized more than US$40 million. The Humanitarian Response Plan Addendum continues to seek additional funding to cover needs through the end of the year. OCHA also flags persistent urgent needs and 'double affectation' - communities facing both earthquake damage and risks tied to the armed conflict.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OCHA Flash Update 011, 2 Sep</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Secondary hazard - Baudó River flooding (Medio Baudó, Chocó)</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Indigenous (Emberá) communities in Medio Baudó faced sudden flooding from the Baudó River about two days after the earthquake, compounding earthquake damage in an area with pre-existing barriers to healthcare and a presence of armed groups.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MSF, 2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48</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USGS PAGER assessment (version 7)</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600200"/>
          </a:xfrm>
          <a:prstGeom prst="rect">
            <a:avLst/>
          </a:prstGeom>
          <a:noFill/>
          <a:ln/>
        </p:spPr>
        <p:txBody>
          <a:bodyPr wrap="square" lIns="50800" tIns="50800" rIns="50800" bIns="50800" rtlCol="0" anchor="t">
            <a:normAutofit/>
          </a:bodyPr>
          <a:lstStyle/>
          <a:p>
            <a:pPr algn="l" indent="0" marL="0">
              <a:buNone/>
            </a:pPr>
            <a:r>
              <a:rPr lang="en-US" sz="1200" dirty="0">
                <a:solidFill>
                  <a:srgbClr val="222222"/>
                </a:solidFill>
                <a:latin typeface="Meiryo" pitchFamily="34" charset="0"/>
                <a:ea typeface="Meiryo" pitchFamily="34" charset="-122"/>
                <a:cs typeface="Meiryo" pitchFamily="34" charset="-120"/>
              </a:rPr>
              <a:t>PAGER is the USGS rapid impact estimate, issued within minutes and revised as the event is refined. Version 7 was created eleven days after the earthquake and carries a RED alert, raised from the orange alert of the early versions. The alert has two components and the headline level is the higher of them: the fatality alert is orange (significant casualties likely), while the economic alert is red — estimated losses of 0-6% of Colombia's GDP, a level that past events have required a national or international response to meet. The fatality estimate is a probability distribution, not a single number: 33% for 100-1,000 deaths and 32% for 1,000-10,000. The reported toll of 329 (UNGRD, 27 Aug) sits in the 100-1,000 band. Estimated population exposed to MMI VIII is 1.13 million and to MMI VII 5.39 million; the cities carrying MMI VIII exposure include Pereira (591k), Armenia (301k), Zarzal (313k) and Quibdo (131k).
</a:t>
            </a:r>
            <a:endParaRPr lang="en-US" sz="1200" dirty="0"/>
          </a:p>
        </p:txBody>
      </p:sp>
      <p:pic>
        <p:nvPicPr>
          <p:cNvPr id="5" name="Image 1" descr="/tmp/build_event-1j1h9p/generator/images/EQ-2026-000146-COL/usgs_pager.png">    </p:cNvPr>
          <p:cNvPicPr>
            <a:picLocks noChangeAspect="1"/>
          </p:cNvPicPr>
          <p:nvPr/>
        </p:nvPicPr>
        <p:blipFill>
          <a:blip r:embed="rId2"/>
          <a:stretch>
            <a:fillRect/>
          </a:stretch>
        </p:blipFill>
        <p:spPr>
          <a:xfrm>
            <a:off x="5042085" y="2743200"/>
            <a:ext cx="2077351" cy="2688336"/>
          </a:xfrm>
          <a:prstGeom prst="rect">
            <a:avLst/>
          </a:prstGeom>
        </p:spPr>
      </p:pic>
      <p:sp>
        <p:nvSpPr>
          <p:cNvPr id="6" name="Text 2"/>
          <p:cNvSpPr/>
          <p:nvPr/>
        </p:nvSpPr>
        <p:spPr>
          <a:xfrm>
            <a:off x="1737360" y="5449824"/>
            <a:ext cx="868680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USGS PAGER one-pager (version 7) — alert levels, population exposure and selected city exposure</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https://earthquake.usgs.gov/earthquakes/eventpage/us6000tjl2/pager</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USGS PAGER — </a:t>
            </a:r>
            <a:pPr algn="l" indent="0" marL="0">
              <a:buNone/>
            </a:pPr>
            <a:r>
              <a:rPr lang="en-US" sz="10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https://earthquake.usgs.gov/earthquakes/eventpage/us6000tjl2/pager</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48</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Deaths by Area</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3017520"/>
                <a:gridCol w="1097280"/>
                <a:gridCol w="7315200"/>
              </a:tblGrid>
              <a:tr h="0">
                <a:tc>
                  <a:txBody>
                    <a:bodyPr/>
                    <a:lstStyle/>
                    <a:p>
                      <a:pPr algn="l" indent="0" marL="0">
                        <a:buNone/>
                      </a:pPr>
                      <a:r>
                        <a:rPr lang="en-US" sz="1300" b="1" dirty="0">
                          <a:solidFill>
                            <a:srgbClr val="FFFFFF"/>
                          </a:solidFill>
                        </a:rPr>
                        <a:t>Area</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Deaths</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Note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200" dirty="0">
                          <a:solidFill>
                            <a:srgbClr val="222222"/>
                          </a:solidFill>
                        </a:rPr>
                        <a:t>Valle </a:t>
                      </a:r>
                      <a:pPr algn="l" indent="0" marL="0">
                        <a:buNone/>
                      </a:pPr>
                      <a:r>
                        <a:rPr lang="en-US" sz="1200" dirty="0">
                          <a:solidFill>
                            <a:srgbClr val="222222"/>
                          </a:solidFill>
                        </a:rPr>
                        <a:t>del </a:t>
                      </a:r>
                      <a:pPr algn="l" indent="0" marL="0">
                        <a:buNone/>
                      </a:pPr>
                      <a:r>
                        <a:rPr lang="en-US" sz="1200" dirty="0">
                          <a:solidFill>
                            <a:srgbClr val="222222"/>
                          </a:solidFill>
                        </a:rPr>
                        <a:t>Cauca </a:t>
                      </a:r>
                      <a:pPr algn="l" indent="0" marL="0">
                        <a:buNone/>
                      </a:pPr>
                      <a:r>
                        <a:rPr lang="en-US" sz="1200" dirty="0">
                          <a:solidFill>
                            <a:srgbClr val="222222"/>
                          </a:solidFill>
                        </a:rPr>
                        <a:t>(Cali)</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rPr>
                        <a:t>97</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President, </a:t>
                      </a:r>
                      <a:pPr algn="l" indent="0" marL="0">
                        <a:buNone/>
                      </a:pPr>
                      <a:r>
                        <a:rPr lang="en-US" sz="1050" dirty="0">
                          <a:solidFill>
                            <a:srgbClr val="6A6A6A"/>
                          </a:solidFill>
                        </a:rPr>
                        <a:t>11 </a:t>
                      </a:r>
                      <a:pPr algn="l" indent="0" marL="0">
                        <a:buNone/>
                      </a:pPr>
                      <a:r>
                        <a:rPr lang="en-US" sz="1050" dirty="0">
                          <a:solidFill>
                            <a:srgbClr val="6A6A6A"/>
                          </a:solidFill>
                        </a:rPr>
                        <a:t>Aug. </a:t>
                      </a:r>
                      <a:pPr algn="l" indent="0" marL="0">
                        <a:buNone/>
                      </a:pPr>
                      <a:r>
                        <a:rPr lang="en-US" sz="1050" dirty="0">
                          <a:solidFill>
                            <a:srgbClr val="6A6A6A"/>
                          </a:solidFill>
                        </a:rPr>
                        <a:t>The </a:t>
                      </a:r>
                      <a:pPr algn="l" indent="0" marL="0">
                        <a:buNone/>
                      </a:pPr>
                      <a:r>
                        <a:rPr lang="en-US" sz="1050" dirty="0">
                          <a:solidFill>
                            <a:srgbClr val="6A6A6A"/>
                          </a:solidFill>
                        </a:rPr>
                        <a:t>department </a:t>
                      </a:r>
                      <a:pPr algn="l" indent="0" marL="0">
                        <a:buNone/>
                      </a:pPr>
                      <a:r>
                        <a:rPr lang="en-US" sz="1050" dirty="0">
                          <a:solidFill>
                            <a:srgbClr val="6A6A6A"/>
                          </a:solidFill>
                        </a:rPr>
                        <a:t>government's </a:t>
                      </a:r>
                      <a:pPr algn="l" indent="0" marL="0">
                        <a:buNone/>
                      </a:pPr>
                      <a:r>
                        <a:rPr lang="en-US" sz="1050" dirty="0">
                          <a:solidFill>
                            <a:srgbClr val="6A6A6A"/>
                          </a:solidFill>
                        </a:rPr>
                        <a:t>count </a:t>
                      </a:r>
                      <a:pPr algn="l" indent="0" marL="0">
                        <a:buNone/>
                      </a:pPr>
                      <a:r>
                        <a:rPr lang="en-US" sz="1050" dirty="0">
                          <a:solidFill>
                            <a:srgbClr val="6A6A6A"/>
                          </a:solidFill>
                        </a:rPr>
                        <a:t>is </a:t>
                      </a:r>
                      <a:pPr algn="l" indent="0" marL="0">
                        <a:buNone/>
                      </a:pPr>
                      <a:r>
                        <a:rPr lang="en-US" sz="1050" dirty="0">
                          <a:solidFill>
                            <a:srgbClr val="6A6A6A"/>
                          </a:solidFill>
                        </a:rPr>
                        <a:t>higher: </a:t>
                      </a:r>
                      <a:pPr algn="l" indent="0" marL="0">
                        <a:buNone/>
                      </a:pPr>
                      <a:r>
                        <a:rPr lang="en-US" sz="1050" dirty="0">
                          <a:solidFill>
                            <a:srgbClr val="6A6A6A"/>
                          </a:solidFill>
                        </a:rPr>
                        <a:t>95 </a:t>
                      </a:r>
                      <a:pPr algn="l" indent="0" marL="0">
                        <a:buNone/>
                      </a:pPr>
                      <a:r>
                        <a:rPr lang="en-US" sz="1050" dirty="0">
                          <a:solidFill>
                            <a:srgbClr val="6A6A6A"/>
                          </a:solidFill>
                        </a:rPr>
                        <a:t>in </a:t>
                      </a:r>
                      <a:pPr algn="l" indent="0" marL="0">
                        <a:buNone/>
                      </a:pPr>
                      <a:r>
                        <a:rPr lang="en-US" sz="1050" dirty="0">
                          <a:solidFill>
                            <a:srgbClr val="6A6A6A"/>
                          </a:solidFill>
                        </a:rPr>
                        <a:t>Cali </a:t>
                      </a:r>
                      <a:pPr algn="l" indent="0" marL="0">
                        <a:buNone/>
                      </a:pPr>
                      <a:r>
                        <a:rPr lang="en-US" sz="1050" dirty="0">
                          <a:solidFill>
                            <a:srgbClr val="6A6A6A"/>
                          </a:solidFill>
                        </a:rPr>
                        <a:t>plus </a:t>
                      </a:r>
                      <a:pPr algn="l" indent="0" marL="0">
                        <a:buNone/>
                      </a:pPr>
                      <a:r>
                        <a:rPr lang="en-US" sz="1050" dirty="0">
                          <a:solidFill>
                            <a:srgbClr val="6A6A6A"/>
                          </a:solidFill>
                        </a:rPr>
                        <a:t>35 </a:t>
                      </a:r>
                      <a:pPr algn="l" indent="0" marL="0">
                        <a:buNone/>
                      </a:pPr>
                      <a:r>
                        <a:rPr lang="en-US" sz="1050" dirty="0">
                          <a:solidFill>
                            <a:srgbClr val="6A6A6A"/>
                          </a:solidFill>
                        </a:rPr>
                        <a:t>in </a:t>
                      </a:r>
                      <a:pPr algn="l" indent="0" marL="0">
                        <a:buNone/>
                      </a:pPr>
                      <a:r>
                        <a:rPr lang="en-US" sz="1050" dirty="0">
                          <a:solidFill>
                            <a:srgbClr val="6A6A6A"/>
                          </a:solidFill>
                        </a:rPr>
                        <a:t>other </a:t>
                      </a:r>
                      <a:pPr algn="l" indent="0" marL="0">
                        <a:buNone/>
                      </a:pPr>
                      <a:r>
                        <a:rPr lang="en-US" sz="1050" dirty="0">
                          <a:solidFill>
                            <a:srgbClr val="6A6A6A"/>
                          </a:solidFill>
                        </a:rPr>
                        <a:t>municipalities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200" dirty="0">
                          <a:solidFill>
                            <a:srgbClr val="222222"/>
                          </a:solidFill>
                        </a:rPr>
                        <a:t>Risaralda </a:t>
                      </a:r>
                      <a:pPr algn="l" indent="0" marL="0">
                        <a:buNone/>
                      </a:pPr>
                      <a:r>
                        <a:rPr lang="en-US" sz="1200" dirty="0">
                          <a:solidFill>
                            <a:srgbClr val="222222"/>
                          </a:solidFill>
                        </a:rPr>
                        <a:t>(Pereira)</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rPr>
                        <a:t>66</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rPr>
                        <a:t>President, </a:t>
                      </a:r>
                      <a:pPr algn="l" indent="0" marL="0">
                        <a:buNone/>
                      </a:pPr>
                      <a:r>
                        <a:rPr lang="en-US" sz="1050" dirty="0">
                          <a:solidFill>
                            <a:srgbClr val="6A6A6A"/>
                          </a:solidFill>
                        </a:rPr>
                        <a:t>11 </a:t>
                      </a:r>
                      <a:pPr algn="l" indent="0" marL="0">
                        <a:buNone/>
                      </a:pPr>
                      <a:r>
                        <a:rPr lang="en-US" sz="1050" dirty="0">
                          <a:solidFill>
                            <a:srgbClr val="6A6A6A"/>
                          </a:solidFill>
                        </a:rPr>
                        <a:t>Aug. </a:t>
                      </a:r>
                      <a:pPr algn="l" indent="0" marL="0">
                        <a:buNone/>
                      </a:pPr>
                      <a:r>
                        <a:rPr lang="en-US" sz="1050" dirty="0">
                          <a:solidFill>
                            <a:srgbClr val="6A6A6A"/>
                          </a:solidFill>
                        </a:rPr>
                        <a:t>The </a:t>
                      </a:r>
                      <a:pPr algn="l" indent="0" marL="0">
                        <a:buNone/>
                      </a:pPr>
                      <a:r>
                        <a:rPr lang="en-US" sz="1050" dirty="0">
                          <a:solidFill>
                            <a:srgbClr val="6A6A6A"/>
                          </a:solidFill>
                        </a:rPr>
                        <a:t>department </a:t>
                      </a:r>
                      <a:pPr algn="l" indent="0" marL="0">
                        <a:buNone/>
                      </a:pPr>
                      <a:r>
                        <a:rPr lang="en-US" sz="1050" dirty="0">
                          <a:solidFill>
                            <a:srgbClr val="6A6A6A"/>
                          </a:solidFill>
                        </a:rPr>
                        <a:t>reports </a:t>
                      </a:r>
                      <a:pPr algn="l" indent="0" marL="0">
                        <a:buNone/>
                      </a:pPr>
                      <a:r>
                        <a:rPr lang="en-US" sz="1050" dirty="0">
                          <a:solidFill>
                            <a:srgbClr val="6A6A6A"/>
                          </a:solidFill>
                        </a:rPr>
                        <a:t>around </a:t>
                      </a:r>
                      <a:pPr algn="l" indent="0" marL="0">
                        <a:buNone/>
                      </a:pPr>
                      <a:r>
                        <a:rPr lang="en-US" sz="1050" dirty="0">
                          <a:solidFill>
                            <a:srgbClr val="6A6A6A"/>
                          </a:solidFill>
                        </a:rPr>
                        <a:t>90</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222222"/>
                          </a:solidFill>
                        </a:rPr>
                        <a:t>Chocó </a:t>
                      </a:r>
                      <a:pPr algn="l" indent="0" marL="0">
                        <a:buNone/>
                      </a:pPr>
                      <a:r>
                        <a:rPr lang="en-US" sz="1200" dirty="0">
                          <a:solidFill>
                            <a:srgbClr val="222222"/>
                          </a:solidFill>
                        </a:rPr>
                        <a:t>(Quibdó)</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rPr>
                        <a:t>9</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Chocó </a:t>
                      </a:r>
                      <a:pPr algn="l" indent="0" marL="0">
                        <a:buNone/>
                      </a:pPr>
                      <a:r>
                        <a:rPr lang="en-US" sz="1050" dirty="0">
                          <a:solidFill>
                            <a:srgbClr val="6A6A6A"/>
                          </a:solidFill>
                        </a:rPr>
                        <a:t>closed </a:t>
                      </a:r>
                      <a:pPr algn="l" indent="0" marL="0">
                        <a:buNone/>
                      </a:pPr>
                      <a:r>
                        <a:rPr lang="en-US" sz="1050" dirty="0">
                          <a:solidFill>
                            <a:srgbClr val="6A6A6A"/>
                          </a:solidFill>
                        </a:rPr>
                        <a:t>its </a:t>
                      </a:r>
                      <a:pPr algn="l" indent="0" marL="0">
                        <a:buNone/>
                      </a:pPr>
                      <a:r>
                        <a:rPr lang="en-US" sz="1050" dirty="0">
                          <a:solidFill>
                            <a:srgbClr val="6A6A6A"/>
                          </a:solidFill>
                        </a:rPr>
                        <a:t>search </a:t>
                      </a:r>
                      <a:pPr algn="l" indent="0" marL="0">
                        <a:buNone/>
                      </a:pPr>
                      <a:r>
                        <a:rPr lang="en-US" sz="1050" dirty="0">
                          <a:solidFill>
                            <a:srgbClr val="6A6A6A"/>
                          </a:solidFill>
                        </a:rPr>
                        <a:t>phase </a:t>
                      </a:r>
                      <a:pPr algn="l" indent="0" marL="0">
                        <a:buNone/>
                      </a:pPr>
                      <a:r>
                        <a:rPr lang="en-US" sz="1050" dirty="0">
                          <a:solidFill>
                            <a:srgbClr val="6A6A6A"/>
                          </a:solidFill>
                        </a:rPr>
                        <a:t>on </a:t>
                      </a:r>
                      <a:pPr algn="l" indent="0" marL="0">
                        <a:buNone/>
                      </a:pPr>
                      <a:r>
                        <a:rPr lang="en-US" sz="1050" dirty="0">
                          <a:solidFill>
                            <a:srgbClr val="6A6A6A"/>
                          </a:solidFill>
                        </a:rPr>
                        <a:t>12 </a:t>
                      </a:r>
                      <a:pPr algn="l" indent="0" marL="0">
                        <a:buNone/>
                      </a:pPr>
                      <a:r>
                        <a:rPr lang="en-US" sz="1050" dirty="0">
                          <a:solidFill>
                            <a:srgbClr val="6A6A6A"/>
                          </a:solidFill>
                        </a:rPr>
                        <a:t>Aug; </a:t>
                      </a:r>
                      <a:pPr algn="l" indent="0" marL="0">
                        <a:buNone/>
                      </a:pPr>
                      <a:r>
                        <a:rPr lang="en-US" sz="1050" dirty="0">
                          <a:solidFill>
                            <a:srgbClr val="6A6A6A"/>
                          </a:solidFill>
                        </a:rPr>
                        <a:t>the </a:t>
                      </a:r>
                      <a:pPr algn="l" indent="0" marL="0">
                        <a:buNone/>
                      </a:pPr>
                      <a:r>
                        <a:rPr lang="en-US" sz="1050" dirty="0">
                          <a:solidFill>
                            <a:srgbClr val="6A6A6A"/>
                          </a:solidFill>
                        </a:rPr>
                        <a:t>department </a:t>
                      </a:r>
                      <a:pPr algn="l" indent="0" marL="0">
                        <a:buNone/>
                      </a:pPr>
                      <a:r>
                        <a:rPr lang="en-US" sz="1050" dirty="0">
                          <a:solidFill>
                            <a:srgbClr val="6A6A6A"/>
                          </a:solidFill>
                        </a:rPr>
                        <a:t>reports </a:t>
                      </a:r>
                      <a:pPr algn="l" indent="0" marL="0">
                        <a:buNone/>
                      </a:pPr>
                      <a:r>
                        <a:rPr lang="en-US" sz="1050" dirty="0">
                          <a:solidFill>
                            <a:srgbClr val="6A6A6A"/>
                          </a:solidFill>
                        </a:rPr>
                        <a:t>14 </a:t>
                      </a:r>
                      <a:pPr algn="l" indent="0" marL="0">
                        <a:buNone/>
                      </a:pPr>
                      <a:r>
                        <a:rPr lang="en-US" sz="1050" dirty="0">
                          <a:solidFill>
                            <a:srgbClr val="6A6A6A"/>
                          </a:solidFill>
                        </a:rPr>
                        <a:t>dead </a:t>
                      </a:r>
                      <a:pPr algn="l" indent="0" marL="0">
                        <a:buNone/>
                      </a:pPr>
                      <a:r>
                        <a:rPr lang="en-US" sz="1050" dirty="0">
                          <a:solidFill>
                            <a:srgbClr val="6A6A6A"/>
                          </a:solidFill>
                        </a:rPr>
                        <a:t>and </a:t>
                      </a:r>
                      <a:pPr algn="l" indent="0" marL="0">
                        <a:buNone/>
                      </a:pPr>
                      <a:r>
                        <a:rPr lang="en-US" sz="1050" dirty="0">
                          <a:solidFill>
                            <a:srgbClr val="6A6A6A"/>
                          </a:solidFill>
                        </a:rPr>
                        <a:t>138 </a:t>
                      </a:r>
                      <a:pPr algn="l" indent="0" marL="0">
                        <a:buNone/>
                      </a:pPr>
                      <a:r>
                        <a:rPr lang="en-US" sz="1050" dirty="0">
                          <a:solidFill>
                            <a:srgbClr val="6A6A6A"/>
                          </a:solidFill>
                        </a:rPr>
                        <a:t>injured.</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200" dirty="0">
                          <a:solidFill>
                            <a:srgbClr val="222222"/>
                          </a:solidFill>
                        </a:rPr>
                        <a:t>Caldas </a:t>
                      </a:r>
                      <a:pPr algn="l" indent="0" marL="0">
                        <a:buNone/>
                      </a:pPr>
                      <a:r>
                        <a:rPr lang="en-US" sz="1200" dirty="0">
                          <a:solidFill>
                            <a:srgbClr val="222222"/>
                          </a:solidFill>
                        </a:rPr>
                        <a:t>(Manizales)</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rPr>
                        <a:t>5</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rPr>
                        <a:t>Reported </a:t>
                      </a:r>
                      <a:pPr algn="l" indent="0" marL="0">
                        <a:buNone/>
                      </a:pPr>
                      <a:r>
                        <a:rPr lang="en-US" sz="1050" dirty="0">
                          <a:solidFill>
                            <a:srgbClr val="6A6A6A"/>
                          </a:solidFill>
                        </a:rPr>
                        <a:t>as </a:t>
                      </a:r>
                      <a:pPr algn="l" indent="0" marL="0">
                        <a:buNone/>
                      </a:pPr>
                      <a:r>
                        <a:rPr lang="en-US" sz="1050" dirty="0">
                          <a:solidFill>
                            <a:srgbClr val="6A6A6A"/>
                          </a:solidFill>
                        </a:rPr>
                        <a:t>2, </a:t>
                      </a:r>
                      <a:pPr algn="l" indent="0" marL="0">
                        <a:buNone/>
                      </a:pPr>
                      <a:r>
                        <a:rPr lang="en-US" sz="1050" dirty="0">
                          <a:solidFill>
                            <a:srgbClr val="6A6A6A"/>
                          </a:solidFill>
                        </a:rPr>
                        <a:t>then </a:t>
                      </a:r>
                      <a:pPr algn="l" indent="0" marL="0">
                        <a:buNone/>
                      </a:pPr>
                      <a:r>
                        <a:rPr lang="en-US" sz="1050" dirty="0">
                          <a:solidFill>
                            <a:srgbClr val="6A6A6A"/>
                          </a:solidFill>
                        </a:rPr>
                        <a:t>4, </a:t>
                      </a:r>
                      <a:pPr algn="l" indent="0" marL="0">
                        <a:buNone/>
                      </a:pPr>
                      <a:r>
                        <a:rPr lang="en-US" sz="1050" dirty="0">
                          <a:solidFill>
                            <a:srgbClr val="6A6A6A"/>
                          </a:solidFill>
                        </a:rPr>
                        <a:t>then </a:t>
                      </a:r>
                      <a:pPr algn="l" indent="0" marL="0">
                        <a:buNone/>
                      </a:pPr>
                      <a:r>
                        <a:rPr lang="en-US" sz="1050" dirty="0">
                          <a:solidFill>
                            <a:srgbClr val="6A6A6A"/>
                          </a:solidFill>
                        </a:rPr>
                        <a:t>5</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222222"/>
                          </a:solidFill>
                        </a:rPr>
                        <a:t>Antioquia</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rPr>
                        <a:t>1</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73-year-old</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5669280"/>
            <a:ext cx="11430000" cy="502920"/>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The national figure is 287 at the 18:30 cut on 16 August, after 289 at the 07:30 cut the same morning and 294 on 15 August. The series ran 273 (13 Aug), 281, 285, 287, 288, 294, 289 and now 287. UNGRD attributes the movement to verification and consolidation of figures reported from the territories, some sent before being checked. Medicina Legal had received 250 bodies with 227 recognised at the 13 August reading. Cite 287 with its cut-off as the official national figure. The chart is the President's 11 August breakdown (181) and shows the shape of the distribution - deaths concentrated in Risaralda (Pereira) and Valle del Cauca (Cali) - not a current tally. Cali is reported three ways as well: 97 in the President's breakdown, 85 by the mayor on 11 August and 69 in the city's own municipal report, which carries no cut-off time.</a:t>
            </a:r>
            <a:endParaRPr lang="en-US" sz="100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22 / 48</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Population Exposure by Shaking Intensity</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914400"/>
                <a:gridCol w="1828800"/>
                <a:gridCol w="1645920"/>
                <a:gridCol w="7040880"/>
              </a:tblGrid>
              <a:tr h="0">
                <a:tc>
                  <a:txBody>
                    <a:bodyPr/>
                    <a:lstStyle/>
                    <a:p>
                      <a:pPr algn="l" indent="0" marL="0">
                        <a:buNone/>
                      </a:pPr>
                      <a:r>
                        <a:rPr lang="en-US" sz="1300" b="1" dirty="0">
                          <a:solidFill>
                            <a:srgbClr val="FFFFFF"/>
                          </a:solidFill>
                        </a:rPr>
                        <a:t>MMI</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Level</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Exposed</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Note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ctr" indent="0" marL="0">
                        <a:buNone/>
                      </a:pPr>
                      <a:r>
                        <a:rPr lang="en-US" sz="1200" b="1" dirty="0">
                          <a:solidFill>
                            <a:srgbClr val="1F3864"/>
                          </a:solidFill>
                        </a:rPr>
                        <a:t>VIII+</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rPr>
                        <a:t>Severe</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rPr>
                        <a:t>0</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No </a:t>
                      </a:r>
                      <a:pPr algn="l" indent="0" marL="0">
                        <a:buNone/>
                      </a:pPr>
                      <a:r>
                        <a:rPr lang="en-US" sz="1050" dirty="0">
                          <a:solidFill>
                            <a:srgbClr val="6A6A6A"/>
                          </a:solidFill>
                        </a:rPr>
                        <a:t>population </a:t>
                      </a:r>
                      <a:pPr algn="l" indent="0" marL="0">
                        <a:buNone/>
                      </a:pPr>
                      <a:r>
                        <a:rPr lang="en-US" sz="1050" dirty="0">
                          <a:solidFill>
                            <a:srgbClr val="6A6A6A"/>
                          </a:solidFill>
                        </a:rPr>
                        <a:t>estimated </a:t>
                      </a:r>
                      <a:pPr algn="l" indent="0" marL="0">
                        <a:buNone/>
                      </a:pPr>
                      <a:r>
                        <a:rPr lang="en-US" sz="1050" dirty="0">
                          <a:solidFill>
                            <a:srgbClr val="6A6A6A"/>
                          </a:solidFill>
                        </a:rPr>
                        <a:t>at </a:t>
                      </a:r>
                      <a:pPr algn="l" indent="0" marL="0">
                        <a:buNone/>
                      </a:pPr>
                      <a:r>
                        <a:rPr lang="en-US" sz="1050" dirty="0">
                          <a:solidFill>
                            <a:srgbClr val="6A6A6A"/>
                          </a:solidFill>
                        </a:rPr>
                        <a:t>MMI </a:t>
                      </a:r>
                      <a:pPr algn="l" indent="0" marL="0">
                        <a:buNone/>
                      </a:pPr>
                      <a:r>
                        <a:rPr lang="en-US" sz="1050" dirty="0">
                          <a:solidFill>
                            <a:srgbClr val="6A6A6A"/>
                          </a:solidFill>
                        </a:rPr>
                        <a:t>VIII </a:t>
                      </a:r>
                      <a:pPr algn="l" indent="0" marL="0">
                        <a:buNone/>
                      </a:pPr>
                      <a:r>
                        <a:rPr lang="en-US" sz="1050" dirty="0">
                          <a:solidFill>
                            <a:srgbClr val="6A6A6A"/>
                          </a:solidFill>
                        </a:rPr>
                        <a:t>or </a:t>
                      </a:r>
                      <a:pPr algn="l" indent="0" marL="0">
                        <a:buNone/>
                      </a:pPr>
                      <a:r>
                        <a:rPr lang="en-US" sz="1050" dirty="0">
                          <a:solidFill>
                            <a:srgbClr val="6A6A6A"/>
                          </a:solidFill>
                        </a:rPr>
                        <a:t>above</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200" b="1" dirty="0">
                          <a:solidFill>
                            <a:srgbClr val="1F3864"/>
                          </a:solidFill>
                        </a:rPr>
                        <a:t>VII</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rPr>
                        <a:t>Very </a:t>
                      </a:r>
                      <a:pPr algn="l" indent="0" marL="0">
                        <a:buNone/>
                      </a:pPr>
                      <a:r>
                        <a:rPr lang="en-US" sz="1200" dirty="0">
                          <a:solidFill>
                            <a:srgbClr val="222222"/>
                          </a:solidFill>
                        </a:rPr>
                        <a:t>strong</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222"/>
                          </a:solidFill>
                        </a:rPr>
                        <a:t>1,564,000</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rPr>
                        <a:t>Includes </a:t>
                      </a:r>
                      <a:pPr algn="l" indent="0" marL="0">
                        <a:buNone/>
                      </a:pPr>
                      <a:r>
                        <a:rPr lang="en-US" sz="1050" dirty="0">
                          <a:solidFill>
                            <a:srgbClr val="6A6A6A"/>
                          </a:solidFill>
                        </a:rPr>
                        <a:t>Pereira </a:t>
                      </a:r>
                      <a:pPr algn="l" indent="0" marL="0">
                        <a:buNone/>
                      </a:pPr>
                      <a:r>
                        <a:rPr lang="en-US" sz="1050" dirty="0">
                          <a:solidFill>
                            <a:srgbClr val="6A6A6A"/>
                          </a:solidFill>
                        </a:rPr>
                        <a:t>(591k), </a:t>
                      </a:r>
                      <a:pPr algn="l" indent="0" marL="0">
                        <a:buNone/>
                      </a:pPr>
                      <a:r>
                        <a:rPr lang="en-US" sz="1050" dirty="0">
                          <a:solidFill>
                            <a:srgbClr val="6A6A6A"/>
                          </a:solidFill>
                        </a:rPr>
                        <a:t>Armenia </a:t>
                      </a:r>
                      <a:pPr algn="l" indent="0" marL="0">
                        <a:buNone/>
                      </a:pPr>
                      <a:r>
                        <a:rPr lang="en-US" sz="1050" dirty="0">
                          <a:solidFill>
                            <a:srgbClr val="6A6A6A"/>
                          </a:solidFill>
                        </a:rPr>
                        <a:t>(301k) </a:t>
                      </a:r>
                      <a:pPr algn="l" indent="0" marL="0">
                        <a:buNone/>
                      </a:pPr>
                      <a:r>
                        <a:rPr lang="en-US" sz="1050" dirty="0">
                          <a:solidFill>
                            <a:srgbClr val="6A6A6A"/>
                          </a:solidFill>
                        </a:rPr>
                        <a:t>and </a:t>
                      </a:r>
                      <a:pPr algn="l" indent="0" marL="0">
                        <a:buNone/>
                      </a:pPr>
                      <a:r>
                        <a:rPr lang="en-US" sz="1050" dirty="0">
                          <a:solidFill>
                            <a:srgbClr val="6A6A6A"/>
                          </a:solidFill>
                        </a:rPr>
                        <a:t>Cartago </a:t>
                      </a:r>
                      <a:pPr algn="l" indent="0" marL="0">
                        <a:buNone/>
                      </a:pPr>
                      <a:r>
                        <a:rPr lang="en-US" sz="1050" dirty="0">
                          <a:solidFill>
                            <a:srgbClr val="6A6A6A"/>
                          </a:solidFill>
                        </a:rPr>
                        <a:t>(135k)</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200" b="1" dirty="0">
                          <a:solidFill>
                            <a:srgbClr val="1F3864"/>
                          </a:solidFill>
                        </a:rPr>
                        <a:t>VI</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rPr>
                        <a:t>Strong</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rPr>
                        <a:t>8,888,000</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Includes </a:t>
                      </a:r>
                      <a:pPr algn="l" indent="0" marL="0">
                        <a:buNone/>
                      </a:pPr>
                      <a:r>
                        <a:rPr lang="en-US" sz="1050" dirty="0">
                          <a:solidFill>
                            <a:srgbClr val="6A6A6A"/>
                          </a:solidFill>
                        </a:rPr>
                        <a:t>Cali </a:t>
                      </a:r>
                      <a:pPr algn="l" indent="0" marL="0">
                        <a:buNone/>
                      </a:pPr>
                      <a:r>
                        <a:rPr lang="en-US" sz="1050" dirty="0">
                          <a:solidFill>
                            <a:srgbClr val="6A6A6A"/>
                          </a:solidFill>
                        </a:rPr>
                        <a:t>(2,471k), </a:t>
                      </a:r>
                      <a:pPr algn="l" indent="0" marL="0">
                        <a:buNone/>
                      </a:pPr>
                      <a:r>
                        <a:rPr lang="en-US" sz="1050" dirty="0">
                          <a:solidFill>
                            <a:srgbClr val="6A6A6A"/>
                          </a:solidFill>
                        </a:rPr>
                        <a:t>Buenaventura </a:t>
                      </a:r>
                      <a:pPr algn="l" indent="0" marL="0">
                        <a:buNone/>
                      </a:pPr>
                      <a:r>
                        <a:rPr lang="en-US" sz="1050" dirty="0">
                          <a:solidFill>
                            <a:srgbClr val="6A6A6A"/>
                          </a:solidFill>
                        </a:rPr>
                        <a:t>(424k) </a:t>
                      </a:r>
                      <a:pPr algn="l" indent="0" marL="0">
                        <a:buNone/>
                      </a:pPr>
                      <a:r>
                        <a:rPr lang="en-US" sz="1050" dirty="0">
                          <a:solidFill>
                            <a:srgbClr val="6A6A6A"/>
                          </a:solidFill>
                        </a:rPr>
                        <a:t>and </a:t>
                      </a:r>
                      <a:pPr algn="l" indent="0" marL="0">
                        <a:buNone/>
                      </a:pPr>
                      <a:r>
                        <a:rPr lang="en-US" sz="1050" dirty="0">
                          <a:solidFill>
                            <a:srgbClr val="6A6A6A"/>
                          </a:solidFill>
                        </a:rPr>
                        <a:t>Palmira </a:t>
                      </a:r>
                      <a:pPr algn="l" indent="0" marL="0">
                        <a:buNone/>
                      </a:pPr>
                      <a:r>
                        <a:rPr lang="en-US" sz="1050" dirty="0">
                          <a:solidFill>
                            <a:srgbClr val="6A6A6A"/>
                          </a:solidFill>
                        </a:rPr>
                        <a:t>(349k)</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200" b="1" dirty="0">
                          <a:solidFill>
                            <a:srgbClr val="1F3864"/>
                          </a:solidFill>
                        </a:rPr>
                        <a:t>V</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rPr>
                        <a:t>Moderate</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222"/>
                          </a:solidFill>
                        </a:rPr>
                        <a:t>17,076,000</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rPr>
                        <a:t>The </a:t>
                      </a:r>
                      <a:pPr algn="l" indent="0" marL="0">
                        <a:buNone/>
                      </a:pPr>
                      <a:r>
                        <a:rPr lang="en-US" sz="1050" dirty="0">
                          <a:solidFill>
                            <a:srgbClr val="6A6A6A"/>
                          </a:solidFill>
                        </a:rPr>
                        <a:t>largest </a:t>
                      </a:r>
                      <a:pPr algn="l" indent="0" marL="0">
                        <a:buNone/>
                      </a:pPr>
                      <a:r>
                        <a:rPr lang="en-US" sz="1050" dirty="0">
                          <a:solidFill>
                            <a:srgbClr val="6A6A6A"/>
                          </a:solidFill>
                        </a:rPr>
                        <a:t>exposed </a:t>
                      </a:r>
                      <a:pPr algn="l" indent="0" marL="0">
                        <a:buNone/>
                      </a:pPr>
                      <a:r>
                        <a:rPr lang="en-US" sz="1050" dirty="0">
                          <a:solidFill>
                            <a:srgbClr val="6A6A6A"/>
                          </a:solidFill>
                        </a:rPr>
                        <a:t>group</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200" b="1" dirty="0">
                          <a:solidFill>
                            <a:srgbClr val="1F3864"/>
                          </a:solidFill>
                        </a:rPr>
                        <a:t>IV</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rPr>
                        <a:t>Light</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rPr>
                        <a:t>6,465,000</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Reaches </a:t>
                      </a:r>
                      <a:pPr algn="l" indent="0" marL="0">
                        <a:buNone/>
                      </a:pPr>
                      <a:r>
                        <a:rPr lang="en-US" sz="1050" dirty="0">
                          <a:solidFill>
                            <a:srgbClr val="6A6A6A"/>
                          </a:solidFill>
                        </a:rPr>
                        <a:t>Bogotá </a:t>
                      </a:r>
                      <a:pPr algn="l" indent="0" marL="0">
                        <a:buNone/>
                      </a:pPr>
                      <a:r>
                        <a:rPr lang="en-US" sz="1050" dirty="0">
                          <a:solidFill>
                            <a:srgbClr val="6A6A6A"/>
                          </a:solidFill>
                        </a:rPr>
                        <a:t>and </a:t>
                      </a:r>
                      <a:pPr algn="l" indent="0" marL="0">
                        <a:buNone/>
                      </a:pPr>
                      <a:r>
                        <a:rPr lang="en-US" sz="1050" dirty="0">
                          <a:solidFill>
                            <a:srgbClr val="6A6A6A"/>
                          </a:solidFill>
                        </a:rPr>
                        <a:t>Medellín</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5669280"/>
            <a:ext cx="11430000" cy="502920"/>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USGS PAGER (version 5) exposure estimates. About 10.5 million people were exposed to Strong or Very Strong shaking (MMI VI-VII) and about 34 million to MMI IV or above across four countries. These are model estimates.</a:t>
            </a:r>
            <a:endParaRPr lang="en-US" sz="100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23 / 48</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Domestic (1/2)</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National disaster declaration activating the National Disaster Risk Management System (SNGRD) under Law 1523 of 2012.</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Three days of national mourning declared by Decree 1172 from 12 August, with the flag at half-mast on all public buildings and at Colombian embassies and consulates abroad.</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Unified Command Post (PMU) established in Chocó; UNGRD coordinating with departmental and municipal risk-management councils.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Four USAR teams (Bogotá, Envigado, Yopal, Medellín) deployed for search and rescue in collapsed structures.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Chocó ended its search-and-rescue phase on the night of 12 August, the governor stating that nobody remained reported under the rubble after the last family sought in Quibdó was found alive; the department moved to care for the affected and recovery. It reports 14 dead, 138 injured and 2,791 damaged properties.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Armed forces deployed for search, rescue, route clearance and security in the affected departments.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Rapid structural inspection of hospitals, schools and airports; seven health institutions closed and six airports suspended pending assessment.</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Patients transferred from the damaged University Hospital in Cali to other facilities; the city reported casualties concentrated at 12 critical collapse sites.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President toured the affected regions on 11-12 August - Quibdó, then Cali, then Pereira, Dosquebradas, Manizales and Armenia - and said he would direct the response from the field rather than Bogotá.</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Relief measures announced during the tour: three months of relief on public-utility bills for households registered as affected, a rent subsidy for those who lost their homes, a census and characterisation of damaged housing ahead of repairs, and a shock plan for education and housing. On the evening of 12 August the President announced the declaration of an economic emergency, a constitutional mechanism intended to speed up the response.</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24 / 48</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Domestic (2/2)</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UNGRD activated a temporary economic subsidy, announced 2 September, for families registered in the Single Registry of Victims (RUD) whose homes were destroyed or declared uninhabitable by the 10 August earthquake: a monthly payment of between COP 787,907 and COP 1,050,543 (depending on the municipality's category) for three months. UNGRD stresses that only municipal and departmental authorities may register households in the RUD; affected people cannot register directly, and any correction must go through the relevant territorial entity.</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25 / 48</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 (1/3)</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Colombia is taking INSARAG-classified USAR teams from four countries only - the United States, Israel, Ecuador and El Salvador - on the stated grounds that they are internationally certified, work to INSARAG standards under UN coordination, and are fully self-sufficient, so they place no additional burden on municipal administrations. Their role is to support the Colombian USAR teams already deployed. The Government denied reports that other offers were declined for ideological reasons; the selection has nonetheless been questioned in the Colombian press.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Assistance broadened on 14 August beyond the four countries sending rescuers. India dispatched 20 tonnes of humanitarian supplies (medicines and medical equipment, temporary shelter and hygiene items). Norway allocated NOK 10 million (about USD 1 million) for emergency health care, water supply, disease prevention and temporary housing, and Sweden SEK 5 million (about USD 522,000) channelled through UNHCR. Spain, Italy, Chile, Mexico, Turkey, Brazil and the World Bank have also sent or announced support; the Colombian government says it has received offers worth about USD 1.3 billion in total, and lists Japan among the countries that have announced assistance.</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On 12 August Colombia accepted international search-and-rescue assistance, from countries whose teams meet the INSARAG classification: Israel, Ecuador, El Salvador and the United States. At Colombia's request the US State Department mobilised the Fairfax County (Virginia) and Los Angeles County (California) USAR task forces. El Salvador sent 100 tonnes of relief supplies and a Mexican aid flight has arrived.</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United States: USD 15.5 million in emergency assistance announced on 10 August, for emergency shelter, food, protection and damage assessment.</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European Union: the EU Civil Protection Mechanism was activated and an initial EUR 100,000 in humanitarian funding released, channelled through the German Red Cross, whose teams were already in the country. Copernicus was placed at the disposal of the Colombian authorities and the EU consular crisis mechanism was activated for EU citizens in the affected area. The Commission President and the High Representative stated the EU is ready to provide more if needed.</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26 / 48</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 (2/3)</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Japan: on 11 August at 21:31 JST (07:31 COT) the Prime Minister, Takaichi Sanae, posted condolences - “Japan stands with Colombia in this difficult time”. Foreign Minister Motegi issued a message: “In the wake of the earthquake that struck the Republic of Colombia on August 10, I express my deepest condolences to those who lost their lives and extend my heartfelt sympathies to all those affected. The Government of Japan also stands ready to provide the necessary assistance. Japan stands in strong solidarity with the people of Colombia.” No dispatch of the Japan Disaster Relief team and no emergency grant aid had been announced at the time of writing.</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Japan: the Colombian government lists Japan among the countries that have announced assistance, but as of this cut-off neither MOFA nor JICA has published a Japan Disaster Relief dispatch, an emergency relief goods provision or emergency grant aid. On the Japanese side what is confirmed is non-governmental: the Japanese Red Cross Society is supporting the Colombian Red Cross response, and the Nippon Foundation opened a Colombia earthquake appeal running from 12 August to 30 September.</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Ecuador mobilised a specialised USAR team of 47 personnel with canine units and self-sufficient equipment.</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Offers of assistance were also reported from Chile, Peru, Panama, Argentina, Brazil, Venezuela, Bolivia, Guatemala, Cuba, El Salvador, Spain, Italy, France, Germany, Switzerland, Israel and Ukraine - USAR teams, medical and paramedic personnel, relief items and satellite observation. The CAF development bank announced a USD 500,000 donation.</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United Nations: OCHA stated the humanitarian system is ready to support Colombia, and its preliminary needs analysis names drinking water, hygiene kits and household items, health care, food assistance and shelter. As of 11 August no formal request had been made; on 12 August the Government accepted international search-and-rescue assistance.</a:t>
            </a:r>
            <a:endParaRPr lang="en-US" sz="1300" dirty="0"/>
          </a:p>
          <a:p>
            <a:pPr algn="l" marL="342900" indent="-342900">
              <a:buSzPct val="100000"/>
              <a:buChar char="•"/>
            </a:pPr>
            <a:r>
              <a:rPr lang="en-US" sz="1300" b="1" dirty="0">
                <a:solidFill>
                  <a:srgbClr val="888888"/>
                </a:solidFill>
                <a:latin typeface="Meiryo" pitchFamily="34" charset="0"/>
                <a:ea typeface="Meiryo" pitchFamily="34" charset="-122"/>
                <a:cs typeface="Meiryo" pitchFamily="34" charset="-120"/>
              </a:rPr>
              <a:t>[TBC]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International Charter 'Space and Major Disasters' is also reported to have been activated for this earthquake; the activation number had not been confirmed at the time of writing.</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27 / 48</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 (3/3)</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UNGRD director David Santiago Tamayo Roldan and deputy director for disaster management Hernan Dario Diaz Diaz met with Nils Grede, WFP Colombia's representative and country director, to coordinate food-assistance actions for families affected by the 10 August earthquake.</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28 / 48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 Bodies &amp; Products</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All bodies contributing observations or value-added products; source tier shown per row</a:t>
            </a:r>
            <a:endParaRPr lang="en-US" sz="12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Body</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Contribution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Status</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Activation for the Colombia earthquake reported; wide-area optical/SAR imagery for damage assessment</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Reported / number pending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888888"/>
                          </a:solidFill>
                          <a:latin typeface="Meiryo" pitchFamily="34" charset="0"/>
                          <a:ea typeface="Meiryo" pitchFamily="34" charset="-122"/>
                          <a:cs typeface="Meiryo" pitchFamily="34" charset="-120"/>
                        </a:rPr>
                        <a:t>TBC</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Copernicus EMS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EMSR916 'Earthquake in Colombia' — Rapid Mapping for damage assessment; requested by EC Services / DG ECHO; 3 AOIs, 3 products</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Ongoing (EMSR916)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USGS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ShakeMap, PAGER (Orange), finite-fault and aftershock catalogue</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GDACS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Overall Orange alert; population exposure and impact estimates</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SGC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National seismic network: hypocentre, magnitude revision, aftershock bulletins, accelerographic records</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Not applicable - the mechanism covers the Asia-Pacific region; Colombia is served by the International Charter and Copernicus EMS</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n/a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International Charter 'Space and Major Disasters'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29 / 48</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 EMSR916</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5623560" cy="914400"/>
        </p:xfrm>
        <a:graphic>
          <a:graphicData uri="http://schemas.openxmlformats.org/drawingml/2006/table">
            <a:tbl>
              <a:tblPr/>
              <a:tblGrid>
                <a:gridCol w="1828800"/>
                <a:gridCol w="3794760"/>
              </a:tblGrid>
              <a:tr h="0">
                <a:tc>
                  <a:txBody>
                    <a:bodyPr/>
                    <a:lstStyle/>
                    <a:p>
                      <a:pPr algn="l" indent="0" marL="0">
                        <a:buNone/>
                      </a:pPr>
                      <a:r>
                        <a:rPr lang="en-US" sz="1150" b="1" dirty="0">
                          <a:solidFill>
                            <a:srgbClr val="222222"/>
                          </a:solidFill>
                        </a:rPr>
                        <a:t>Activation</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EMSR916 — Earthquake in Colombia</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rPr>
                        <a:t>Event time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10/08/2026 afternoon (UTC)</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rPr>
                        <a:t>Activation time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10/08/2026, 17:13 (UTC) = 12:13 COT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rPr>
                        <a:t>Event type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Earthquake / Ground shaking</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rPr>
                        <a:t>Affected country</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Colombia</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rPr>
                        <a:t>Authorised user</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EC Services | DG ECHO</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rPr>
                        <a:t>Service output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3 AOIs · 3 products · 0 maps</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rPr>
                        <a:t>Status</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ONGOING</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6172200" y="1051560"/>
            <a:ext cx="5623560" cy="4892040"/>
          </a:xfrm>
          <a:prstGeom prst="roundRect">
            <a:avLst>
              <a:gd name="adj" fmla="val 1121"/>
            </a:avLst>
          </a:prstGeom>
          <a:solidFill>
            <a:srgbClr val="EAF2F8"/>
          </a:solidFill>
          <a:ln w="12700">
            <a:solidFill>
              <a:srgbClr val="2E5496"/>
            </a:solidFill>
            <a:prstDash val="solid"/>
          </a:ln>
        </p:spPr>
      </p:sp>
      <p:sp>
        <p:nvSpPr>
          <p:cNvPr id="6" name="Text 2"/>
          <p:cNvSpPr/>
          <p:nvPr/>
        </p:nvSpPr>
        <p:spPr>
          <a:xfrm>
            <a:off x="6355080" y="1188720"/>
            <a:ext cx="5257800" cy="4617720"/>
          </a:xfrm>
          <a:prstGeom prst="rect">
            <a:avLst/>
          </a:prstGeom>
          <a:noFill/>
          <a:ln/>
        </p:spPr>
        <p:txBody>
          <a:bodyPr wrap="square" lIns="50800" tIns="50800" rIns="50800" bIns="50800" rtlCol="0" anchor="t">
            <a:normAutofit/>
          </a:bodyPr>
          <a:lstStyle/>
          <a:p>
            <a:pPr algn="l" indent="0" marL="0">
              <a:buNone/>
            </a:pPr>
            <a:r>
              <a:rPr lang="en-US" sz="1200" b="1" dirty="0">
                <a:solidFill>
                  <a:srgbClr val="1F3864"/>
                </a:solidFill>
                <a:latin typeface="Meiryo" pitchFamily="34" charset="0"/>
                <a:ea typeface="Meiryo" pitchFamily="34" charset="-122"/>
                <a:cs typeface="Meiryo" pitchFamily="34" charset="-120"/>
              </a:rPr>
              <a:t>Activation reason
</a:t>
            </a:r>
            <a:pPr algn="l" indent="0" marL="0">
              <a:buNone/>
            </a:pPr>
            <a:r>
              <a:rPr lang="en-US" sz="1050" dirty="0">
                <a:solidFill>
                  <a:srgbClr val="222222"/>
                </a:solidFill>
                <a:latin typeface="Meiryo" pitchFamily="34" charset="0"/>
                <a:ea typeface="Meiryo" pitchFamily="34" charset="-122"/>
                <a:cs typeface="Meiryo"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
</a:t>
            </a:r>
            <a:pPr algn="l" indent="0" marL="0">
              <a:buNone/>
            </a:pPr>
            <a:r>
              <a:rPr lang="en-US" sz="1050" i="1" dirty="0">
                <a:solidFill>
                  <a:srgbClr val="6A6A6A"/>
                </a:solidFill>
                <a:latin typeface="Meiryo" pitchFamily="34" charset="0"/>
                <a:ea typeface="Meiryo" pitchFamily="34" charset="-122"/>
                <a:cs typeface="Meiryo" pitchFamily="34" charset="-120"/>
              </a:rPr>
              <a:t>Rapid Mapping delivers reference and grading products over selected areas of interest, not nationwide coverage. Products are published on the activation page as they are produced and are free to use.
</a:t>
            </a:r>
            <a:endParaRPr lang="en-US" sz="12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Copernicus EMS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30 / 48</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Disaster Risk Management System</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1783080"/>
          </a:xfrm>
          <a:prstGeom prst="rect">
            <a:avLst/>
          </a:prstGeom>
          <a:noFill/>
          <a:ln/>
        </p:spPr>
        <p:txBody>
          <a:bodyPr wrap="square" lIns="50800" tIns="50800" rIns="50800" bIns="50800" rtlCol="0" anchor="t"/>
          <a:lstStyle/>
          <a:p>
            <a:pPr algn="l" indent="0" marL="0">
              <a:buNone/>
            </a:pPr>
            <a:r>
              <a:rPr lang="en-US" sz="1200" dirty="0">
                <a:solidFill>
                  <a:srgbClr val="222222"/>
                </a:solidFill>
                <a:latin typeface="Meiryo" pitchFamily="34" charset="0"/>
                <a:ea typeface="Meiryo" pitchFamily="34" charset="-122"/>
                <a:cs typeface="Meiryo"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
</a:t>
            </a:r>
            <a:endParaRPr lang="en-US" sz="1200" dirty="0"/>
          </a:p>
        </p:txBody>
      </p:sp>
      <p:sp>
        <p:nvSpPr>
          <p:cNvPr id="5" name="Text 2"/>
          <p:cNvSpPr/>
          <p:nvPr/>
        </p:nvSpPr>
        <p:spPr>
          <a:xfrm>
            <a:off x="365760" y="2926080"/>
            <a:ext cx="11430000" cy="3108960"/>
          </a:xfrm>
          <a:prstGeom prst="rect">
            <a:avLst/>
          </a:prstGeom>
          <a:noFill/>
          <a:ln/>
        </p:spPr>
        <p:txBody>
          <a:bodyPr wrap="square" lIns="50800" tIns="50800" rIns="50800" bIns="50800" rtlCol="0" anchor="t">
            <a:normAutofit/>
          </a:bodyPr>
          <a:lstStyle/>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Law 1523 of 2012 - national policy on disaster risk management; defines the SNGRD and makes risk management a mandatory duty of every public authority and, in part, of private actors.</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UNGRD - national coordinating agency under the Presidency; runs the national response, the disaster fund (FNGRD) and the national information system.</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Departmental and municipal risk management councils (CDGRD / CMGRD) carry out first response; UNGRD reinforces when local capacity is exceeded.</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PNGRD 2015-2030 — the national disaster risk management plan, adopted by Decree 308 of 2016 and updated by Decree 1478 of 3 August 2022; aligned with the Sendai Framework and monitored annually by UNGRD.</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The SGC operates the National Seismological Network and the national accelerograph network, and issues public bulletins within minutes.</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1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31 / 48</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Damaging Earthquakes</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822960"/>
                <a:gridCol w="3291840"/>
                <a:gridCol w="822960"/>
                <a:gridCol w="6492240"/>
              </a:tblGrid>
              <a:tr h="0">
                <a:tc>
                  <a:txBody>
                    <a:bodyPr/>
                    <a:lstStyle/>
                    <a:p>
                      <a:pPr algn="l" indent="0" marL="0">
                        <a:buNone/>
                      </a:pPr>
                      <a:r>
                        <a:rPr lang="en-US" sz="1300" b="1" dirty="0">
                          <a:solidFill>
                            <a:srgbClr val="FFFFFF"/>
                          </a:solidFill>
                        </a:rPr>
                        <a:t>Year</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Event</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Mag.</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Impact</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ctr" indent="0" marL="0">
                        <a:buNone/>
                      </a:pPr>
                      <a:r>
                        <a:rPr lang="en-US" sz="1150" b="1" dirty="0">
                          <a:solidFill>
                            <a:srgbClr val="1F3864"/>
                          </a:solidFill>
                        </a:rPr>
                        <a:t>1906</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Ecuador-Colombia </a:t>
                      </a:r>
                      <a:pPr algn="l" indent="0" marL="0">
                        <a:buNone/>
                      </a:pPr>
                      <a:r>
                        <a:rPr lang="en-US" sz="1150" dirty="0">
                          <a:solidFill>
                            <a:srgbClr val="222222"/>
                          </a:solidFill>
                        </a:rPr>
                        <a:t>earthquake </a:t>
                      </a:r>
                      <a:pPr algn="l" indent="0" marL="0">
                        <a:buNone/>
                      </a:pPr>
                      <a:r>
                        <a:rPr lang="en-US" sz="1150" dirty="0">
                          <a:solidFill>
                            <a:srgbClr val="222222"/>
                          </a:solidFill>
                        </a:rPr>
                        <a:t>(Pacific </a:t>
                      </a:r>
                      <a:pPr algn="l" indent="0" marL="0">
                        <a:buNone/>
                      </a:pPr>
                      <a:r>
                        <a:rPr lang="en-US" sz="1150" dirty="0">
                          <a:solidFill>
                            <a:srgbClr val="222222"/>
                          </a:solidFill>
                        </a:rPr>
                        <a:t>coast)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rPr>
                        <a:t>M8.8</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One </a:t>
                      </a:r>
                      <a:pPr algn="l" indent="0" marL="0">
                        <a:buNone/>
                      </a:pPr>
                      <a:r>
                        <a:rPr lang="en-US" sz="1050" dirty="0">
                          <a:solidFill>
                            <a:srgbClr val="222222"/>
                          </a:solidFill>
                        </a:rPr>
                        <a:t>of </a:t>
                      </a:r>
                      <a:pPr algn="l" indent="0" marL="0">
                        <a:buNone/>
                      </a:pPr>
                      <a:r>
                        <a:rPr lang="en-US" sz="1050" dirty="0">
                          <a:solidFill>
                            <a:srgbClr val="222222"/>
                          </a:solidFill>
                        </a:rPr>
                        <a:t>the </a:t>
                      </a:r>
                      <a:pPr algn="l" indent="0" marL="0">
                        <a:buNone/>
                      </a:pPr>
                      <a:r>
                        <a:rPr lang="en-US" sz="1050" dirty="0">
                          <a:solidFill>
                            <a:srgbClr val="222222"/>
                          </a:solidFill>
                        </a:rPr>
                        <a:t>largest </a:t>
                      </a:r>
                      <a:pPr algn="l" indent="0" marL="0">
                        <a:buNone/>
                      </a:pPr>
                      <a:r>
                        <a:rPr lang="en-US" sz="1050" dirty="0">
                          <a:solidFill>
                            <a:srgbClr val="222222"/>
                          </a:solidFill>
                        </a:rPr>
                        <a:t>earthquakes </a:t>
                      </a:r>
                      <a:pPr algn="l" indent="0" marL="0">
                        <a:buNone/>
                      </a:pPr>
                      <a:r>
                        <a:rPr lang="en-US" sz="1050" dirty="0">
                          <a:solidFill>
                            <a:srgbClr val="222222"/>
                          </a:solidFill>
                        </a:rPr>
                        <a:t>ever </a:t>
                      </a:r>
                      <a:pPr algn="l" indent="0" marL="0">
                        <a:buNone/>
                      </a:pPr>
                      <a:r>
                        <a:rPr lang="en-US" sz="1050" dirty="0">
                          <a:solidFill>
                            <a:srgbClr val="222222"/>
                          </a:solidFill>
                        </a:rPr>
                        <a:t>recorded; </a:t>
                      </a:r>
                      <a:pPr algn="l" indent="0" marL="0">
                        <a:buNone/>
                      </a:pPr>
                      <a:r>
                        <a:rPr lang="en-US" sz="1050" dirty="0">
                          <a:solidFill>
                            <a:srgbClr val="222222"/>
                          </a:solidFill>
                        </a:rPr>
                        <a:t>destructive </a:t>
                      </a:r>
                      <a:pPr algn="l" indent="0" marL="0">
                        <a:buNone/>
                      </a:pPr>
                      <a:r>
                        <a:rPr lang="en-US" sz="1050" dirty="0">
                          <a:solidFill>
                            <a:srgbClr val="222222"/>
                          </a:solidFill>
                        </a:rPr>
                        <a:t>tsunami </a:t>
                      </a:r>
                      <a:pPr algn="l" indent="0" marL="0">
                        <a:buNone/>
                      </a:pPr>
                      <a:r>
                        <a:rPr lang="en-US" sz="1050" dirty="0">
                          <a:solidFill>
                            <a:srgbClr val="222222"/>
                          </a:solidFill>
                        </a:rPr>
                        <a:t>on </a:t>
                      </a:r>
                      <a:pPr algn="l" indent="0" marL="0">
                        <a:buNone/>
                      </a:pPr>
                      <a:r>
                        <a:rPr lang="en-US" sz="1050" dirty="0">
                          <a:solidFill>
                            <a:srgbClr val="222222"/>
                          </a:solidFill>
                        </a:rPr>
                        <a:t>the </a:t>
                      </a:r>
                      <a:pPr algn="l" indent="0" marL="0">
                        <a:buNone/>
                      </a:pPr>
                      <a:r>
                        <a:rPr lang="en-US" sz="1050" dirty="0">
                          <a:solidFill>
                            <a:srgbClr val="222222"/>
                          </a:solidFill>
                        </a:rPr>
                        <a:t>Pacific </a:t>
                      </a:r>
                      <a:pPr algn="l" indent="0" marL="0">
                        <a:buNone/>
                      </a:pPr>
                      <a:r>
                        <a:rPr lang="en-US" sz="1050" dirty="0">
                          <a:solidFill>
                            <a:srgbClr val="222222"/>
                          </a:solidFill>
                        </a:rPr>
                        <a:t>coast</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rPr>
                        <a:t>1925</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Cali </a:t>
                      </a:r>
                      <a:pPr algn="l" indent="0" marL="0">
                        <a:buNone/>
                      </a:pPr>
                      <a:r>
                        <a:rPr lang="en-US" sz="1150" dirty="0">
                          <a:solidFill>
                            <a:srgbClr val="222222"/>
                          </a:solidFill>
                        </a:rPr>
                        <a:t>earthquake </a:t>
                      </a:r>
                      <a:pPr algn="l" indent="0" marL="0">
                        <a:buNone/>
                      </a:pPr>
                      <a:r>
                        <a:rPr lang="en-US" sz="1150" dirty="0">
                          <a:solidFill>
                            <a:srgbClr val="222222"/>
                          </a:solidFill>
                        </a:rPr>
                        <a:t>(Valle </a:t>
                      </a:r>
                      <a:pPr algn="l" indent="0" marL="0">
                        <a:buNone/>
                      </a:pPr>
                      <a:r>
                        <a:rPr lang="en-US" sz="1150" dirty="0">
                          <a:solidFill>
                            <a:srgbClr val="222222"/>
                          </a:solidFill>
                        </a:rPr>
                        <a:t>del </a:t>
                      </a:r>
                      <a:pPr algn="l" indent="0" marL="0">
                        <a:buNone/>
                      </a:pPr>
                      <a:r>
                        <a:rPr lang="en-US" sz="1150" dirty="0">
                          <a:solidFill>
                            <a:srgbClr val="222222"/>
                          </a:solidFill>
                        </a:rPr>
                        <a:t>Cauca)</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rPr>
                        <a:t>M7.0</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The </a:t>
                      </a:r>
                      <a:pPr algn="l" indent="0" marL="0">
                        <a:buNone/>
                      </a:pPr>
                      <a:r>
                        <a:rPr lang="en-US" sz="1050" dirty="0">
                          <a:solidFill>
                            <a:srgbClr val="222222"/>
                          </a:solidFill>
                        </a:rPr>
                        <a:t>reference </a:t>
                      </a:r>
                      <a:pPr algn="l" indent="0" marL="0">
                        <a:buNone/>
                      </a:pPr>
                      <a:r>
                        <a:rPr lang="en-US" sz="1050" dirty="0">
                          <a:solidFill>
                            <a:srgbClr val="222222"/>
                          </a:solidFill>
                        </a:rPr>
                        <a:t>historical </a:t>
                      </a:r>
                      <a:pPr algn="l" indent="0" marL="0">
                        <a:buNone/>
                      </a:pPr>
                      <a:r>
                        <a:rPr lang="en-US" sz="1050" dirty="0">
                          <a:solidFill>
                            <a:srgbClr val="222222"/>
                          </a:solidFill>
                        </a:rPr>
                        <a:t>event </a:t>
                      </a:r>
                      <a:pPr algn="l" indent="0" marL="0">
                        <a:buNone/>
                      </a:pPr>
                      <a:r>
                        <a:rPr lang="en-US" sz="1050" dirty="0">
                          <a:solidFill>
                            <a:srgbClr val="222222"/>
                          </a:solidFill>
                        </a:rPr>
                        <a:t>for </a:t>
                      </a:r>
                      <a:pPr algn="l" indent="0" marL="0">
                        <a:buNone/>
                      </a:pPr>
                      <a:r>
                        <a:rPr lang="en-US" sz="1050" dirty="0">
                          <a:solidFill>
                            <a:srgbClr val="222222"/>
                          </a:solidFill>
                        </a:rPr>
                        <a:t>Cali; </a:t>
                      </a:r>
                      <a:pPr algn="l" indent="0" marL="0">
                        <a:buNone/>
                      </a:pPr>
                      <a:r>
                        <a:rPr lang="en-US" sz="1050" dirty="0">
                          <a:solidFill>
                            <a:srgbClr val="222222"/>
                          </a:solidFill>
                        </a:rPr>
                        <a:t>the </a:t>
                      </a:r>
                      <a:pPr algn="l" indent="0" marL="0">
                        <a:buNone/>
                      </a:pPr>
                      <a:r>
                        <a:rPr lang="en-US" sz="1050" dirty="0">
                          <a:solidFill>
                            <a:srgbClr val="222222"/>
                          </a:solidFill>
                        </a:rPr>
                        <a:t>city </a:t>
                      </a:r>
                      <a:pPr algn="l" indent="0" marL="0">
                        <a:buNone/>
                      </a:pPr>
                      <a:r>
                        <a:rPr lang="en-US" sz="1050" dirty="0">
                          <a:solidFill>
                            <a:srgbClr val="222222"/>
                          </a:solidFill>
                        </a:rPr>
                        <a:t>was </a:t>
                      </a:r>
                      <a:pPr algn="l" indent="0" marL="0">
                        <a:buNone/>
                      </a:pPr>
                      <a:r>
                        <a:rPr lang="en-US" sz="1050" dirty="0">
                          <a:solidFill>
                            <a:srgbClr val="222222"/>
                          </a:solidFill>
                        </a:rPr>
                        <a:t>also </a:t>
                      </a:r>
                      <a:pPr algn="l" indent="0" marL="0">
                        <a:buNone/>
                      </a:pPr>
                      <a:r>
                        <a:rPr lang="en-US" sz="1050" dirty="0">
                          <a:solidFill>
                            <a:srgbClr val="222222"/>
                          </a:solidFill>
                        </a:rPr>
                        <a:t>shaken </a:t>
                      </a:r>
                      <a:pPr algn="l" indent="0" marL="0">
                        <a:buNone/>
                      </a:pPr>
                      <a:r>
                        <a:rPr lang="en-US" sz="1050" dirty="0">
                          <a:solidFill>
                            <a:srgbClr val="222222"/>
                          </a:solidFill>
                        </a:rPr>
                        <a:t>in </a:t>
                      </a:r>
                      <a:pPr algn="l" indent="0" marL="0">
                        <a:buNone/>
                      </a:pPr>
                      <a:r>
                        <a:rPr lang="en-US" sz="1050" dirty="0">
                          <a:solidFill>
                            <a:srgbClr val="222222"/>
                          </a:solidFill>
                        </a:rPr>
                        <a:t>1995 </a:t>
                      </a:r>
                      <a:pPr algn="l" indent="0" marL="0">
                        <a:buNone/>
                      </a:pPr>
                      <a:r>
                        <a:rPr lang="en-US" sz="1050" dirty="0">
                          <a:solidFill>
                            <a:srgbClr val="222222"/>
                          </a:solidFill>
                        </a:rPr>
                        <a:t>and </a:t>
                      </a:r>
                      <a:pPr algn="l" indent="0" marL="0">
                        <a:buNone/>
                      </a:pPr>
                      <a:r>
                        <a:rPr lang="en-US" sz="1050" dirty="0">
                          <a:solidFill>
                            <a:srgbClr val="222222"/>
                          </a:solidFill>
                        </a:rPr>
                        <a:t>2004, </a:t>
                      </a:r>
                      <a:pPr algn="l" indent="0" marL="0">
                        <a:buNone/>
                      </a:pPr>
                      <a:r>
                        <a:rPr lang="en-US" sz="1050" dirty="0">
                          <a:solidFill>
                            <a:srgbClr val="222222"/>
                          </a:solidFill>
                        </a:rPr>
                        <a:t>the </a:t>
                      </a:r>
                      <a:pPr algn="l" indent="0" marL="0">
                        <a:buNone/>
                      </a:pPr>
                      <a:r>
                        <a:rPr lang="en-US" sz="1050" dirty="0">
                          <a:solidFill>
                            <a:srgbClr val="222222"/>
                          </a:solidFill>
                        </a:rPr>
                        <a:t>latter </a:t>
                      </a:r>
                      <a:pPr algn="l" indent="0" marL="0">
                        <a:buNone/>
                      </a:pPr>
                      <a:r>
                        <a:rPr lang="en-US" sz="1050" dirty="0">
                          <a:solidFill>
                            <a:srgbClr val="222222"/>
                          </a:solidFill>
                        </a:rPr>
                        <a:t>damaging </a:t>
                      </a:r>
                      <a:pPr algn="l" indent="0" marL="0">
                        <a:buNone/>
                      </a:pPr>
                      <a:r>
                        <a:rPr lang="en-US" sz="1050" dirty="0">
                          <a:solidFill>
                            <a:srgbClr val="222222"/>
                          </a:solidFill>
                        </a:rPr>
                        <a:t>clinics </a:t>
                      </a:r>
                      <a:pPr algn="l" indent="0" marL="0">
                        <a:buNone/>
                      </a:pPr>
                      <a:r>
                        <a:rPr lang="en-US" sz="1050" dirty="0">
                          <a:solidFill>
                            <a:srgbClr val="222222"/>
                          </a:solidFill>
                        </a:rPr>
                        <a:t>and </a:t>
                      </a:r>
                      <a:pPr algn="l" indent="0" marL="0">
                        <a:buNone/>
                      </a:pPr>
                      <a:r>
                        <a:rPr lang="en-US" sz="1050" dirty="0">
                          <a:solidFill>
                            <a:srgbClr val="222222"/>
                          </a:solidFill>
                        </a:rPr>
                        <a:t>residential </a:t>
                      </a:r>
                      <a:pPr algn="l" indent="0" marL="0">
                        <a:buNone/>
                      </a:pPr>
                      <a:r>
                        <a:rPr lang="en-US" sz="1050" dirty="0">
                          <a:solidFill>
                            <a:srgbClr val="222222"/>
                          </a:solidFill>
                        </a:rPr>
                        <a:t>buildings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rPr>
                        <a:t>1938</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Coffee </a:t>
                      </a:r>
                      <a:pPr algn="l" indent="0" marL="0">
                        <a:buNone/>
                      </a:pPr>
                      <a:r>
                        <a:rPr lang="en-US" sz="1150" dirty="0">
                          <a:solidFill>
                            <a:srgbClr val="222222"/>
                          </a:solidFill>
                        </a:rPr>
                        <a:t>Region </a:t>
                      </a:r>
                      <a:pPr algn="l" indent="0" marL="0">
                        <a:buNone/>
                      </a:pPr>
                      <a:r>
                        <a:rPr lang="en-US" sz="1150" dirty="0">
                          <a:solidFill>
                            <a:srgbClr val="222222"/>
                          </a:solidFill>
                        </a:rPr>
                        <a:t>earthquake </a:t>
                      </a:r>
                      <a:pPr algn="l" indent="0" marL="0">
                        <a:buNone/>
                      </a:pPr>
                      <a:r>
                        <a:rPr lang="en-US" sz="1150" dirty="0">
                          <a:solidFill>
                            <a:srgbClr val="222222"/>
                          </a:solidFill>
                        </a:rPr>
                        <a:t>(deep, </a:t>
                      </a:r>
                      <a:pPr algn="l" indent="0" marL="0">
                        <a:buNone/>
                      </a:pPr>
                      <a:r>
                        <a:rPr lang="en-US" sz="1150" dirty="0">
                          <a:solidFill>
                            <a:srgbClr val="222222"/>
                          </a:solidFill>
                        </a:rPr>
                        <a:t>150 </a:t>
                      </a:r>
                      <a:pPr algn="l" indent="0" marL="0">
                        <a:buNone/>
                      </a:pPr>
                      <a:r>
                        <a:rPr lang="en-US" sz="1150" dirty="0">
                          <a:solidFill>
                            <a:srgbClr val="222222"/>
                          </a:solidFill>
                        </a:rPr>
                        <a:t>km)</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rPr>
                        <a:t>M7.0</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An </a:t>
                      </a:r>
                      <a:pPr algn="l" indent="0" marL="0">
                        <a:buNone/>
                      </a:pPr>
                      <a:r>
                        <a:rPr lang="en-US" sz="1050" dirty="0">
                          <a:solidFill>
                            <a:srgbClr val="222222"/>
                          </a:solidFill>
                        </a:rPr>
                        <a:t>intermediate-depth </a:t>
                      </a:r>
                      <a:pPr algn="l" indent="0" marL="0">
                        <a:buNone/>
                      </a:pPr>
                      <a:r>
                        <a:rPr lang="en-US" sz="1050" dirty="0">
                          <a:solidFill>
                            <a:srgbClr val="222222"/>
                          </a:solidFill>
                        </a:rPr>
                        <a:t>event </a:t>
                      </a:r>
                      <a:pPr algn="l" indent="0" marL="0">
                        <a:buNone/>
                      </a:pPr>
                      <a:r>
                        <a:rPr lang="en-US" sz="1050" dirty="0">
                          <a:solidFill>
                            <a:srgbClr val="222222"/>
                          </a:solidFill>
                        </a:rPr>
                        <a:t>beneath </a:t>
                      </a:r>
                      <a:pPr algn="l" indent="0" marL="0">
                        <a:buNone/>
                      </a:pPr>
                      <a:r>
                        <a:rPr lang="en-US" sz="1050" dirty="0">
                          <a:solidFill>
                            <a:srgbClr val="222222"/>
                          </a:solidFill>
                        </a:rPr>
                        <a:t>the </a:t>
                      </a:r>
                      <a:pPr algn="l" indent="0" marL="0">
                        <a:buNone/>
                      </a:pPr>
                      <a:r>
                        <a:rPr lang="en-US" sz="1050" dirty="0">
                          <a:solidFill>
                            <a:srgbClr val="222222"/>
                          </a:solidFill>
                        </a:rPr>
                        <a:t>same </a:t>
                      </a:r>
                      <a:pPr algn="l" indent="0" marL="0">
                        <a:buNone/>
                      </a:pPr>
                      <a:r>
                        <a:rPr lang="en-US" sz="1050" dirty="0">
                          <a:solidFill>
                            <a:srgbClr val="222222"/>
                          </a:solidFill>
                        </a:rPr>
                        <a:t>coffee-growing </a:t>
                      </a:r>
                      <a:pPr algn="l" indent="0" marL="0">
                        <a:buNone/>
                      </a:pPr>
                      <a:r>
                        <a:rPr lang="en-US" sz="1050" dirty="0">
                          <a:solidFill>
                            <a:srgbClr val="222222"/>
                          </a:solidFill>
                        </a:rPr>
                        <a:t>departments </a:t>
                      </a:r>
                      <a:pPr algn="l" indent="0" marL="0">
                        <a:buNone/>
                      </a:pPr>
                      <a:r>
                        <a:rPr lang="en-US" sz="1050" dirty="0">
                          <a:solidFill>
                            <a:srgbClr val="222222"/>
                          </a:solidFill>
                        </a:rPr>
                        <a:t>— </a:t>
                      </a:r>
                      <a:pPr algn="l" indent="0" marL="0">
                        <a:buNone/>
                      </a:pPr>
                      <a:r>
                        <a:rPr lang="en-US" sz="1050" dirty="0">
                          <a:solidFill>
                            <a:srgbClr val="222222"/>
                          </a:solidFill>
                        </a:rPr>
                        <a:t>the </a:t>
                      </a:r>
                      <a:pPr algn="l" indent="0" marL="0">
                        <a:buNone/>
                      </a:pPr>
                      <a:r>
                        <a:rPr lang="en-US" sz="1050" dirty="0">
                          <a:solidFill>
                            <a:srgbClr val="222222"/>
                          </a:solidFill>
                        </a:rPr>
                        <a:t>closest </a:t>
                      </a:r>
                      <a:pPr algn="l" indent="0" marL="0">
                        <a:buNone/>
                      </a:pPr>
                      <a:r>
                        <a:rPr lang="en-US" sz="1050" dirty="0">
                          <a:solidFill>
                            <a:srgbClr val="222222"/>
                          </a:solidFill>
                        </a:rPr>
                        <a:t>historical </a:t>
                      </a:r>
                      <a:pPr algn="l" indent="0" marL="0">
                        <a:buNone/>
                      </a:pPr>
                      <a:r>
                        <a:rPr lang="en-US" sz="1050" dirty="0">
                          <a:solidFill>
                            <a:srgbClr val="222222"/>
                          </a:solidFill>
                        </a:rPr>
                        <a:t>analogue </a:t>
                      </a:r>
                      <a:pPr algn="l" indent="0" marL="0">
                        <a:buNone/>
                      </a:pPr>
                      <a:r>
                        <a:rPr lang="en-US" sz="1050" dirty="0">
                          <a:solidFill>
                            <a:srgbClr val="222222"/>
                          </a:solidFill>
                        </a:rPr>
                        <a:t>to </a:t>
                      </a:r>
                      <a:pPr algn="l" indent="0" marL="0">
                        <a:buNone/>
                      </a:pPr>
                      <a:r>
                        <a:rPr lang="en-US" sz="1050" dirty="0">
                          <a:solidFill>
                            <a:srgbClr val="222222"/>
                          </a:solidFill>
                        </a:rPr>
                        <a:t>the </a:t>
                      </a:r>
                      <a:pPr algn="l" indent="0" marL="0">
                        <a:buNone/>
                      </a:pPr>
                      <a:r>
                        <a:rPr lang="en-US" sz="1050" dirty="0">
                          <a:solidFill>
                            <a:srgbClr val="222222"/>
                          </a:solidFill>
                        </a:rPr>
                        <a:t>2026 </a:t>
                      </a:r>
                      <a:pPr algn="l" indent="0" marL="0">
                        <a:buNone/>
                      </a:pPr>
                      <a:r>
                        <a:rPr lang="en-US" sz="1050" dirty="0">
                          <a:solidFill>
                            <a:srgbClr val="222222"/>
                          </a:solidFill>
                        </a:rPr>
                        <a:t>earthquake</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rPr>
                        <a:t>1979</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Tumaco </a:t>
                      </a:r>
                      <a:pPr algn="l" indent="0" marL="0">
                        <a:buNone/>
                      </a:pPr>
                      <a:r>
                        <a:rPr lang="en-US" sz="1150" dirty="0">
                          <a:solidFill>
                            <a:srgbClr val="222222"/>
                          </a:solidFill>
                        </a:rPr>
                        <a:t>earthquake </a:t>
                      </a:r>
                      <a:pPr algn="l" indent="0" marL="0">
                        <a:buNone/>
                      </a:pPr>
                      <a:r>
                        <a:rPr lang="en-US" sz="1150" dirty="0">
                          <a:solidFill>
                            <a:srgbClr val="222222"/>
                          </a:solidFill>
                        </a:rPr>
                        <a:t>(Nariño)</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rPr>
                        <a:t>M8.1</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Subduction-interface </a:t>
                      </a:r>
                      <a:pPr algn="l" indent="0" marL="0">
                        <a:buNone/>
                      </a:pPr>
                      <a:r>
                        <a:rPr lang="en-US" sz="1050" dirty="0">
                          <a:solidFill>
                            <a:srgbClr val="222222"/>
                          </a:solidFill>
                        </a:rPr>
                        <a:t>event </a:t>
                      </a:r>
                      <a:pPr algn="l" indent="0" marL="0">
                        <a:buNone/>
                      </a:pPr>
                      <a:r>
                        <a:rPr lang="en-US" sz="1050" dirty="0">
                          <a:solidFill>
                            <a:srgbClr val="222222"/>
                          </a:solidFill>
                        </a:rPr>
                        <a:t>with </a:t>
                      </a:r>
                      <a:pPr algn="l" indent="0" marL="0">
                        <a:buNone/>
                      </a:pPr>
                      <a:r>
                        <a:rPr lang="en-US" sz="1050" dirty="0">
                          <a:solidFill>
                            <a:srgbClr val="222222"/>
                          </a:solidFill>
                        </a:rPr>
                        <a:t>tsunami; </a:t>
                      </a:r>
                      <a:pPr algn="l" indent="0" marL="0">
                        <a:buNone/>
                      </a:pPr>
                      <a:r>
                        <a:rPr lang="en-US" sz="1050" dirty="0">
                          <a:solidFill>
                            <a:srgbClr val="222222"/>
                          </a:solidFill>
                        </a:rPr>
                        <a:t>several </a:t>
                      </a:r>
                      <a:pPr algn="l" indent="0" marL="0">
                        <a:buNone/>
                      </a:pPr>
                      <a:r>
                        <a:rPr lang="en-US" sz="1050" dirty="0">
                          <a:solidFill>
                            <a:srgbClr val="222222"/>
                          </a:solidFill>
                        </a:rPr>
                        <a:t>hundred </a:t>
                      </a:r>
                      <a:pPr algn="l" indent="0" marL="0">
                        <a:buNone/>
                      </a:pPr>
                      <a:r>
                        <a:rPr lang="en-US" sz="1050" dirty="0">
                          <a:solidFill>
                            <a:srgbClr val="222222"/>
                          </a:solidFill>
                        </a:rPr>
                        <a:t>deaths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rPr>
                        <a:t>1983</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Popayán </a:t>
                      </a:r>
                      <a:pPr algn="l" indent="0" marL="0">
                        <a:buNone/>
                      </a:pPr>
                      <a:r>
                        <a:rPr lang="en-US" sz="1150" dirty="0">
                          <a:solidFill>
                            <a:srgbClr val="222222"/>
                          </a:solidFill>
                        </a:rPr>
                        <a:t>earthquake </a:t>
                      </a:r>
                      <a:pPr algn="l" indent="0" marL="0">
                        <a:buNone/>
                      </a:pPr>
                      <a:r>
                        <a:rPr lang="en-US" sz="1150" dirty="0">
                          <a:solidFill>
                            <a:srgbClr val="222222"/>
                          </a:solidFill>
                        </a:rPr>
                        <a:t>(Cauca)</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rPr>
                        <a:t>M5.5</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About </a:t>
                      </a:r>
                      <a:pPr algn="l" indent="0" marL="0">
                        <a:buNone/>
                      </a:pPr>
                      <a:r>
                        <a:rPr lang="en-US" sz="1050" dirty="0">
                          <a:solidFill>
                            <a:srgbClr val="222222"/>
                          </a:solidFill>
                        </a:rPr>
                        <a:t>250-300 </a:t>
                      </a:r>
                      <a:pPr algn="l" indent="0" marL="0">
                        <a:buNone/>
                      </a:pPr>
                      <a:r>
                        <a:rPr lang="en-US" sz="1050" dirty="0">
                          <a:solidFill>
                            <a:srgbClr val="222222"/>
                          </a:solidFill>
                        </a:rPr>
                        <a:t>deaths; </a:t>
                      </a:r>
                      <a:pPr algn="l" indent="0" marL="0">
                        <a:buNone/>
                      </a:pPr>
                      <a:r>
                        <a:rPr lang="en-US" sz="1050" dirty="0">
                          <a:solidFill>
                            <a:srgbClr val="222222"/>
                          </a:solidFill>
                        </a:rPr>
                        <a:t>historic </a:t>
                      </a:r>
                      <a:pPr algn="l" indent="0" marL="0">
                        <a:buNone/>
                      </a:pPr>
                      <a:r>
                        <a:rPr lang="en-US" sz="1050" dirty="0">
                          <a:solidFill>
                            <a:srgbClr val="222222"/>
                          </a:solidFill>
                        </a:rPr>
                        <a:t>city </a:t>
                      </a:r>
                      <a:pPr algn="l" indent="0" marL="0">
                        <a:buNone/>
                      </a:pPr>
                      <a:r>
                        <a:rPr lang="en-US" sz="1050" dirty="0">
                          <a:solidFill>
                            <a:srgbClr val="222222"/>
                          </a:solidFill>
                        </a:rPr>
                        <a:t>centre </a:t>
                      </a:r>
                      <a:pPr algn="l" indent="0" marL="0">
                        <a:buNone/>
                      </a:pPr>
                      <a:r>
                        <a:rPr lang="en-US" sz="1050" dirty="0">
                          <a:solidFill>
                            <a:srgbClr val="222222"/>
                          </a:solidFill>
                        </a:rPr>
                        <a:t>heavily </a:t>
                      </a:r>
                      <a:pPr algn="l" indent="0" marL="0">
                        <a:buNone/>
                      </a:pPr>
                      <a:r>
                        <a:rPr lang="en-US" sz="1050" dirty="0">
                          <a:solidFill>
                            <a:srgbClr val="222222"/>
                          </a:solidFill>
                        </a:rPr>
                        <a:t>damaged </a:t>
                      </a:r>
                      <a:pPr algn="l" indent="0" marL="0">
                        <a:buNone/>
                      </a:pPr>
                      <a:r>
                        <a:rPr lang="en-US" sz="1050" dirty="0">
                          <a:solidFill>
                            <a:srgbClr val="222222"/>
                          </a:solidFill>
                        </a:rPr>
                        <a:t>- </a:t>
                      </a:r>
                      <a:pPr algn="l" indent="0" marL="0">
                        <a:buNone/>
                      </a:pPr>
                      <a:r>
                        <a:rPr lang="en-US" sz="1050" dirty="0">
                          <a:solidFill>
                            <a:srgbClr val="222222"/>
                          </a:solidFill>
                        </a:rPr>
                        <a:t>a </a:t>
                      </a:r>
                      <a:pPr algn="l" indent="0" marL="0">
                        <a:buNone/>
                      </a:pPr>
                      <a:r>
                        <a:rPr lang="en-US" sz="1050" dirty="0">
                          <a:solidFill>
                            <a:srgbClr val="222222"/>
                          </a:solidFill>
                        </a:rPr>
                        <a:t>small </a:t>
                      </a:r>
                      <a:pPr algn="l" indent="0" marL="0">
                        <a:buNone/>
                      </a:pPr>
                      <a:r>
                        <a:rPr lang="en-US" sz="1050" dirty="0">
                          <a:solidFill>
                            <a:srgbClr val="222222"/>
                          </a:solidFill>
                        </a:rPr>
                        <a:t>but </a:t>
                      </a:r>
                      <a:pPr algn="l" indent="0" marL="0">
                        <a:buNone/>
                      </a:pPr>
                      <a:r>
                        <a:rPr lang="en-US" sz="1050" dirty="0">
                          <a:solidFill>
                            <a:srgbClr val="222222"/>
                          </a:solidFill>
                        </a:rPr>
                        <a:t>shallow, </a:t>
                      </a:r>
                      <a:pPr algn="l" indent="0" marL="0">
                        <a:buNone/>
                      </a:pPr>
                      <a:r>
                        <a:rPr lang="en-US" sz="1050" dirty="0">
                          <a:solidFill>
                            <a:srgbClr val="222222"/>
                          </a:solidFill>
                        </a:rPr>
                        <a:t>urban </a:t>
                      </a:r>
                      <a:pPr algn="l" indent="0" marL="0">
                        <a:buNone/>
                      </a:pPr>
                      <a:r>
                        <a:rPr lang="en-US" sz="1050" dirty="0">
                          <a:solidFill>
                            <a:srgbClr val="222222"/>
                          </a:solidFill>
                        </a:rPr>
                        <a:t>event</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rPr>
                        <a:t>1994</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Páez </a:t>
                      </a:r>
                      <a:pPr algn="l" indent="0" marL="0">
                        <a:buNone/>
                      </a:pPr>
                      <a:r>
                        <a:rPr lang="en-US" sz="1150" dirty="0">
                          <a:solidFill>
                            <a:srgbClr val="222222"/>
                          </a:solidFill>
                        </a:rPr>
                        <a:t>(Cauca) </a:t>
                      </a:r>
                      <a:pPr algn="l" indent="0" marL="0">
                        <a:buNone/>
                      </a:pPr>
                      <a:r>
                        <a:rPr lang="en-US" sz="1150" dirty="0">
                          <a:solidFill>
                            <a:srgbClr val="222222"/>
                          </a:solidFill>
                        </a:rPr>
                        <a:t>earthquake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rPr>
                        <a:t>M6.8</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About </a:t>
                      </a:r>
                      <a:pPr algn="l" indent="0" marL="0">
                        <a:buNone/>
                      </a:pPr>
                      <a:r>
                        <a:rPr lang="en-US" sz="1050" dirty="0">
                          <a:solidFill>
                            <a:srgbClr val="222222"/>
                          </a:solidFill>
                        </a:rPr>
                        <a:t>1,100 </a:t>
                      </a:r>
                      <a:pPr algn="l" indent="0" marL="0">
                        <a:buNone/>
                      </a:pPr>
                      <a:r>
                        <a:rPr lang="en-US" sz="1050" dirty="0">
                          <a:solidFill>
                            <a:srgbClr val="222222"/>
                          </a:solidFill>
                        </a:rPr>
                        <a:t>deaths, </a:t>
                      </a:r>
                      <a:pPr algn="l" indent="0" marL="0">
                        <a:buNone/>
                      </a:pPr>
                      <a:r>
                        <a:rPr lang="en-US" sz="1050" dirty="0">
                          <a:solidFill>
                            <a:srgbClr val="222222"/>
                          </a:solidFill>
                        </a:rPr>
                        <a:t>most </a:t>
                      </a:r>
                      <a:pPr algn="l" indent="0" marL="0">
                        <a:buNone/>
                      </a:pPr>
                      <a:r>
                        <a:rPr lang="en-US" sz="1050" dirty="0">
                          <a:solidFill>
                            <a:srgbClr val="222222"/>
                          </a:solidFill>
                        </a:rPr>
                        <a:t>caused </a:t>
                      </a:r>
                      <a:pPr algn="l" indent="0" marL="0">
                        <a:buNone/>
                      </a:pPr>
                      <a:r>
                        <a:rPr lang="en-US" sz="1050" dirty="0">
                          <a:solidFill>
                            <a:srgbClr val="222222"/>
                          </a:solidFill>
                        </a:rPr>
                        <a:t>by </a:t>
                      </a:r>
                      <a:pPr algn="l" indent="0" marL="0">
                        <a:buNone/>
                      </a:pPr>
                      <a:r>
                        <a:rPr lang="en-US" sz="1050" dirty="0">
                          <a:solidFill>
                            <a:srgbClr val="222222"/>
                          </a:solidFill>
                        </a:rPr>
                        <a:t>earthquake-triggered </a:t>
                      </a:r>
                      <a:pPr algn="l" indent="0" marL="0">
                        <a:buNone/>
                      </a:pPr>
                      <a:r>
                        <a:rPr lang="en-US" sz="1050" dirty="0">
                          <a:solidFill>
                            <a:srgbClr val="222222"/>
                          </a:solidFill>
                        </a:rPr>
                        <a:t>landslides </a:t>
                      </a:r>
                      <a:pPr algn="l" indent="0" marL="0">
                        <a:buNone/>
                      </a:pPr>
                      <a:r>
                        <a:rPr lang="en-US" sz="1050" dirty="0">
                          <a:solidFill>
                            <a:srgbClr val="222222"/>
                          </a:solidFill>
                        </a:rPr>
                        <a:t>and </a:t>
                      </a:r>
                      <a:pPr algn="l" indent="0" marL="0">
                        <a:buNone/>
                      </a:pPr>
                      <a:r>
                        <a:rPr lang="en-US" sz="1050" dirty="0">
                          <a:solidFill>
                            <a:srgbClr val="222222"/>
                          </a:solidFill>
                        </a:rPr>
                        <a:t>debris </a:t>
                      </a:r>
                      <a:pPr algn="l" indent="0" marL="0">
                        <a:buNone/>
                      </a:pPr>
                      <a:r>
                        <a:rPr lang="en-US" sz="1050" dirty="0">
                          <a:solidFill>
                            <a:srgbClr val="222222"/>
                          </a:solidFill>
                        </a:rPr>
                        <a:t>flows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rPr>
                        <a:t>1995</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Chocó </a:t>
                      </a:r>
                      <a:pPr algn="l" indent="0" marL="0">
                        <a:buNone/>
                      </a:pPr>
                      <a:r>
                        <a:rPr lang="en-US" sz="1150" dirty="0">
                          <a:solidFill>
                            <a:srgbClr val="222222"/>
                          </a:solidFill>
                        </a:rPr>
                        <a:t>earthquake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rPr>
                        <a:t>M6.6</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Intermediate-depth </a:t>
                      </a:r>
                      <a:pPr algn="l" indent="0" marL="0">
                        <a:buNone/>
                      </a:pPr>
                      <a:r>
                        <a:rPr lang="en-US" sz="1050" dirty="0">
                          <a:solidFill>
                            <a:srgbClr val="222222"/>
                          </a:solidFill>
                        </a:rPr>
                        <a:t>event </a:t>
                      </a:r>
                      <a:pPr algn="l" indent="0" marL="0">
                        <a:buNone/>
                      </a:pPr>
                      <a:r>
                        <a:rPr lang="en-US" sz="1050" dirty="0">
                          <a:solidFill>
                            <a:srgbClr val="222222"/>
                          </a:solidFill>
                        </a:rPr>
                        <a:t>in </a:t>
                      </a:r>
                      <a:pPr algn="l" indent="0" marL="0">
                        <a:buNone/>
                      </a:pPr>
                      <a:r>
                        <a:rPr lang="en-US" sz="1050" dirty="0">
                          <a:solidFill>
                            <a:srgbClr val="222222"/>
                          </a:solidFill>
                        </a:rPr>
                        <a:t>the </a:t>
                      </a:r>
                      <a:pPr algn="l" indent="0" marL="0">
                        <a:buNone/>
                      </a:pPr>
                      <a:r>
                        <a:rPr lang="en-US" sz="1050" dirty="0">
                          <a:solidFill>
                            <a:srgbClr val="222222"/>
                          </a:solidFill>
                        </a:rPr>
                        <a:t>same </a:t>
                      </a:r>
                      <a:pPr algn="l" indent="0" marL="0">
                        <a:buNone/>
                      </a:pPr>
                      <a:r>
                        <a:rPr lang="en-US" sz="1050" dirty="0">
                          <a:solidFill>
                            <a:srgbClr val="222222"/>
                          </a:solidFill>
                        </a:rPr>
                        <a:t>department </a:t>
                      </a:r>
                      <a:pPr algn="l" indent="0" marL="0">
                        <a:buNone/>
                      </a:pPr>
                      <a:r>
                        <a:rPr lang="en-US" sz="1050" dirty="0">
                          <a:solidFill>
                            <a:srgbClr val="222222"/>
                          </a:solidFill>
                        </a:rPr>
                        <a:t>as </a:t>
                      </a:r>
                      <a:pPr algn="l" indent="0" marL="0">
                        <a:buNone/>
                      </a:pPr>
                      <a:r>
                        <a:rPr lang="en-US" sz="1050" dirty="0">
                          <a:solidFill>
                            <a:srgbClr val="222222"/>
                          </a:solidFill>
                        </a:rPr>
                        <a:t>the </a:t>
                      </a:r>
                      <a:pPr algn="l" indent="0" marL="0">
                        <a:buNone/>
                      </a:pPr>
                      <a:r>
                        <a:rPr lang="en-US" sz="1050" dirty="0">
                          <a:solidFill>
                            <a:srgbClr val="222222"/>
                          </a:solidFill>
                        </a:rPr>
                        <a:t>2026 </a:t>
                      </a:r>
                      <a:pPr algn="l" indent="0" marL="0">
                        <a:buNone/>
                      </a:pPr>
                      <a:r>
                        <a:rPr lang="en-US" sz="1050" dirty="0">
                          <a:solidFill>
                            <a:srgbClr val="222222"/>
                          </a:solidFill>
                        </a:rPr>
                        <a:t>earthquake</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rPr>
                        <a:t>1999</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Armenia </a:t>
                      </a:r>
                      <a:pPr algn="l" indent="0" marL="0">
                        <a:buNone/>
                      </a:pPr>
                      <a:r>
                        <a:rPr lang="en-US" sz="1150" dirty="0">
                          <a:solidFill>
                            <a:srgbClr val="222222"/>
                          </a:solidFill>
                        </a:rPr>
                        <a:t>(Quindío) </a:t>
                      </a:r>
                      <a:pPr algn="l" indent="0" marL="0">
                        <a:buNone/>
                      </a:pPr>
                      <a:r>
                        <a:rPr lang="en-US" sz="1150" dirty="0">
                          <a:solidFill>
                            <a:srgbClr val="222222"/>
                          </a:solidFill>
                        </a:rPr>
                        <a:t>earthquake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rPr>
                        <a:t>M6.1-6.2</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About </a:t>
                      </a:r>
                      <a:pPr algn="l" indent="0" marL="0">
                        <a:buNone/>
                      </a:pPr>
                      <a:r>
                        <a:rPr lang="en-US" sz="1050" dirty="0">
                          <a:solidFill>
                            <a:srgbClr val="222222"/>
                          </a:solidFill>
                        </a:rPr>
                        <a:t>1,185 </a:t>
                      </a:r>
                      <a:pPr algn="l" indent="0" marL="0">
                        <a:buNone/>
                      </a:pPr>
                      <a:r>
                        <a:rPr lang="en-US" sz="1050" dirty="0">
                          <a:solidFill>
                            <a:srgbClr val="222222"/>
                          </a:solidFill>
                        </a:rPr>
                        <a:t>deaths; </a:t>
                      </a:r>
                      <a:pPr algn="l" indent="0" marL="0">
                        <a:buNone/>
                      </a:pPr>
                      <a:r>
                        <a:rPr lang="en-US" sz="1050" dirty="0">
                          <a:solidFill>
                            <a:srgbClr val="222222"/>
                          </a:solidFill>
                        </a:rPr>
                        <a:t>Colombia's </a:t>
                      </a:r>
                      <a:pPr algn="l" indent="0" marL="0">
                        <a:buNone/>
                      </a:pPr>
                      <a:r>
                        <a:rPr lang="en-US" sz="1050" dirty="0">
                          <a:solidFill>
                            <a:srgbClr val="222222"/>
                          </a:solidFill>
                        </a:rPr>
                        <a:t>costliest </a:t>
                      </a:r>
                      <a:pPr algn="l" indent="0" marL="0">
                        <a:buNone/>
                      </a:pPr>
                      <a:r>
                        <a:rPr lang="en-US" sz="1050" dirty="0">
                          <a:solidFill>
                            <a:srgbClr val="222222"/>
                          </a:solidFill>
                        </a:rPr>
                        <a:t>earthquake </a:t>
                      </a:r>
                      <a:pPr algn="l" indent="0" marL="0">
                        <a:buNone/>
                      </a:pPr>
                      <a:r>
                        <a:rPr lang="en-US" sz="1050" dirty="0">
                          <a:solidFill>
                            <a:srgbClr val="222222"/>
                          </a:solidFill>
                        </a:rPr>
                        <a:t>disaster; </a:t>
                      </a:r>
                      <a:pPr algn="l" indent="0" marL="0">
                        <a:buNone/>
                      </a:pPr>
                      <a:r>
                        <a:rPr lang="en-US" sz="1050" dirty="0">
                          <a:solidFill>
                            <a:srgbClr val="222222"/>
                          </a:solidFill>
                        </a:rPr>
                        <a:t>drove </a:t>
                      </a:r>
                      <a:pPr algn="l" indent="0" marL="0">
                        <a:buNone/>
                      </a:pPr>
                      <a:r>
                        <a:rPr lang="en-US" sz="1050" dirty="0">
                          <a:solidFill>
                            <a:srgbClr val="222222"/>
                          </a:solidFill>
                        </a:rPr>
                        <a:t>the </a:t>
                      </a:r>
                      <a:pPr algn="l" indent="0" marL="0">
                        <a:buNone/>
                      </a:pPr>
                      <a:r>
                        <a:rPr lang="en-US" sz="1050" dirty="0">
                          <a:solidFill>
                            <a:srgbClr val="222222"/>
                          </a:solidFill>
                        </a:rPr>
                        <a:t>modern </a:t>
                      </a:r>
                      <a:pPr algn="l" indent="0" marL="0">
                        <a:buNone/>
                      </a:pPr>
                      <a:r>
                        <a:rPr lang="en-US" sz="1050" dirty="0">
                          <a:solidFill>
                            <a:srgbClr val="222222"/>
                          </a:solidFill>
                        </a:rPr>
                        <a:t>DRM </a:t>
                      </a:r>
                      <a:pPr algn="l" indent="0" marL="0">
                        <a:buNone/>
                      </a:pPr>
                      <a:r>
                        <a:rPr lang="en-US" sz="1050" dirty="0">
                          <a:solidFill>
                            <a:srgbClr val="222222"/>
                          </a:solidFill>
                        </a:rPr>
                        <a:t>reforms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rPr>
                        <a:t>2026</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Chocó </a:t>
                      </a:r>
                      <a:pPr algn="l" indent="0" marL="0">
                        <a:buNone/>
                      </a:pPr>
                      <a:r>
                        <a:rPr lang="en-US" sz="1150" dirty="0">
                          <a:solidFill>
                            <a:srgbClr val="222222"/>
                          </a:solidFill>
                        </a:rPr>
                        <a:t>earthquake </a:t>
                      </a:r>
                      <a:pPr algn="l" indent="0" marL="0">
                        <a:buNone/>
                      </a:pPr>
                      <a:r>
                        <a:rPr lang="en-US" sz="1150" dirty="0">
                          <a:solidFill>
                            <a:srgbClr val="222222"/>
                          </a:solidFill>
                        </a:rPr>
                        <a:t>(this </a:t>
                      </a:r>
                      <a:pPr algn="l" indent="0" marL="0">
                        <a:buNone/>
                      </a:pPr>
                      <a:r>
                        <a:rPr lang="en-US" sz="1150" dirty="0">
                          <a:solidFill>
                            <a:srgbClr val="222222"/>
                          </a:solidFill>
                        </a:rPr>
                        <a:t>event)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rPr>
                        <a:t>M7.4</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Largest </a:t>
                      </a:r>
                      <a:pPr algn="l" indent="0" marL="0">
                        <a:buNone/>
                      </a:pPr>
                      <a:r>
                        <a:rPr lang="en-US" sz="1050" dirty="0">
                          <a:solidFill>
                            <a:srgbClr val="222222"/>
                          </a:solidFill>
                        </a:rPr>
                        <a:t>magnitude </a:t>
                      </a:r>
                      <a:pPr algn="l" indent="0" marL="0">
                        <a:buNone/>
                      </a:pPr>
                      <a:r>
                        <a:rPr lang="en-US" sz="1050" dirty="0">
                          <a:solidFill>
                            <a:srgbClr val="222222"/>
                          </a:solidFill>
                        </a:rPr>
                        <a:t>recorded </a:t>
                      </a:r>
                      <a:pPr algn="l" indent="0" marL="0">
                        <a:buNone/>
                      </a:pPr>
                      <a:r>
                        <a:rPr lang="en-US" sz="1050" dirty="0">
                          <a:solidFill>
                            <a:srgbClr val="222222"/>
                          </a:solidFill>
                        </a:rPr>
                        <a:t>in </a:t>
                      </a:r>
                      <a:pPr algn="l" indent="0" marL="0">
                        <a:buNone/>
                      </a:pPr>
                      <a:r>
                        <a:rPr lang="en-US" sz="1050" dirty="0">
                          <a:solidFill>
                            <a:srgbClr val="222222"/>
                          </a:solidFill>
                        </a:rPr>
                        <a:t>Colombia </a:t>
                      </a:r>
                      <a:pPr algn="l" indent="0" marL="0">
                        <a:buNone/>
                      </a:pPr>
                      <a:r>
                        <a:rPr lang="en-US" sz="1050" dirty="0">
                          <a:solidFill>
                            <a:srgbClr val="222222"/>
                          </a:solidFill>
                        </a:rPr>
                        <a:t>in </a:t>
                      </a:r>
                      <a:pPr algn="l" indent="0" marL="0">
                        <a:buNone/>
                      </a:pPr>
                      <a:r>
                        <a:rPr lang="en-US" sz="1050" dirty="0">
                          <a:solidFill>
                            <a:srgbClr val="222222"/>
                          </a:solidFill>
                        </a:rPr>
                        <a:t>the </a:t>
                      </a:r>
                      <a:pPr algn="l" indent="0" marL="0">
                        <a:buNone/>
                      </a:pPr>
                      <a:r>
                        <a:rPr lang="en-US" sz="1050" dirty="0">
                          <a:solidFill>
                            <a:srgbClr val="222222"/>
                          </a:solidFill>
                        </a:rPr>
                        <a:t>past </a:t>
                      </a:r>
                      <a:pPr algn="l" indent="0" marL="0">
                        <a:buNone/>
                      </a:pPr>
                      <a:r>
                        <a:rPr lang="en-US" sz="1050" dirty="0">
                          <a:solidFill>
                            <a:srgbClr val="222222"/>
                          </a:solidFill>
                        </a:rPr>
                        <a:t>decade </a:t>
                      </a:r>
                      <a:pPr algn="l" indent="0" marL="0">
                        <a:buNone/>
                      </a:pPr>
                      <a:r>
                        <a:rPr lang="en-US" sz="1050" dirty="0">
                          <a:solidFill>
                            <a:srgbClr val="222222"/>
                          </a:solidFill>
                        </a:rPr>
                        <a:t>(SGC); </a:t>
                      </a:r>
                      <a:pPr algn="l" indent="0" marL="0">
                        <a:buNone/>
                      </a:pPr>
                      <a:r>
                        <a:rPr lang="en-US" sz="1050" dirty="0">
                          <a:solidFill>
                            <a:srgbClr val="222222"/>
                          </a:solidFill>
                        </a:rPr>
                        <a:t>intermediate </a:t>
                      </a:r>
                      <a:pPr algn="l" indent="0" marL="0">
                        <a:buNone/>
                      </a:pPr>
                      <a:r>
                        <a:rPr lang="en-US" sz="1050" dirty="0">
                          <a:solidFill>
                            <a:srgbClr val="222222"/>
                          </a:solidFill>
                        </a:rPr>
                        <a:t>depth, </a:t>
                      </a:r>
                      <a:pPr algn="l" indent="0" marL="0">
                        <a:buNone/>
                      </a:pPr>
                      <a:r>
                        <a:rPr lang="en-US" sz="1050" dirty="0">
                          <a:solidFill>
                            <a:srgbClr val="222222"/>
                          </a:solidFill>
                        </a:rPr>
                        <a:t>wide-area </a:t>
                      </a:r>
                      <a:pPr algn="l" indent="0" marL="0">
                        <a:buNone/>
                      </a:pPr>
                      <a:r>
                        <a:rPr lang="en-US" sz="1050" dirty="0">
                          <a:solidFill>
                            <a:srgbClr val="222222"/>
                          </a:solidFill>
                        </a:rPr>
                        <a:t>damage</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32 / 48</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95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A deep source with shallow-disaster consequences. At 110 km depth the earthquake produced no surface rupture and no tsunami, yet it damaged buildings in at least six departments. Damage is dispersed rather than concentrated, which complicates needs assessment, logistics and the targeting of search and rescue.</a:t>
            </a:r>
            <a:endParaRPr lang="en-US" sz="950" dirty="0"/>
          </a:p>
          <a:p>
            <a:pPr algn="l" marL="342900" indent="-342900">
              <a:buSzPct val="100000"/>
              <a:buChar char="•"/>
            </a:pPr>
            <a:r>
              <a:rPr lang="en-US" sz="95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950" dirty="0"/>
          </a:p>
          <a:p>
            <a:pPr algn="l" marL="342900" indent="-342900">
              <a:buSzPct val="100000"/>
              <a:buChar char="•"/>
            </a:pPr>
            <a:r>
              <a:rPr lang="en-US" sz="95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The toll multiplied as the assessment reached the damage. In 56 hours deaths went from 111 to 239, injured from 87 to 3,755, missing from none counted to 287, damaged homes from 1,612 to about 54,000, and the affected area from “more than 20 municipalities” to 403 across 14 departments. Nothing new happened to cause those jumps; the assessment reached places it had not reached, and much of Chocó is still accessible only by boat or aircraft. Two lessons for reading early figures: the first-day numbers describe the reach of the assessment, not the size of the disaster; and where two counts of the same thing exist, check what each is counting before comparing them.</a:t>
            </a:r>
            <a:endParaRPr lang="en-US" sz="950" dirty="0"/>
          </a:p>
          <a:p>
            <a:pPr algn="l" marL="342900" indent="-342900">
              <a:buSzPct val="100000"/>
              <a:buChar char="•"/>
            </a:pPr>
            <a:r>
              <a:rPr lang="en-US" sz="95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950" dirty="0"/>
          </a:p>
          <a:p>
            <a:pPr algn="l" marL="342900" indent="-342900">
              <a:buSzPct val="100000"/>
              <a:buChar char="•"/>
            </a:pPr>
            <a:r>
              <a:rPr lang="en-US" sz="95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950" dirty="0"/>
          </a:p>
          <a:p>
            <a:pPr algn="l" marL="342900" indent="-342900">
              <a:buSzPct val="100000"/>
              <a:buChar char="•"/>
            </a:pPr>
            <a:r>
              <a:rPr lang="en-US" sz="95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Aftershock risk to damaged buildings. The SGC located 147 events in 34 hours, 92% of them below M3.0 and only one above M4.0 - as modest as an intermediate-depth intraslab rupture predicts. That statistic is not the operational point: the M4.8 of 10 August was felt widely, and the M3.9 of 11 August emptied buildings again in several cities. Structures the mainshock left standing but damaged have lost capacity, so rapid habitability assessment before re-occupancy matters more than the aftershock numbers.</a:t>
            </a:r>
            <a:endParaRPr lang="en-US" sz="950" dirty="0"/>
          </a:p>
          <a:p>
            <a:pPr algn="l" marL="342900" indent="-342900">
              <a:buSzPct val="100000"/>
              <a:buChar char="•"/>
            </a:pPr>
            <a:r>
              <a:rPr lang="en-US" sz="950" b="1" dirty="0">
                <a:solidFill>
                  <a:srgbClr val="888888"/>
                </a:solidFill>
                <a:latin typeface="Meiryo" pitchFamily="34" charset="0"/>
                <a:ea typeface="Meiryo" pitchFamily="34" charset="-122"/>
                <a:cs typeface="Meiryo" pitchFamily="34" charset="-120"/>
              </a:rPr>
              <a:t>[TBC]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95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33 / 48</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municipal damage report</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Reading these against the other Cali figures — The city's own count of 69 deaths sits below the 85 the mayor gave on 11 August and the 97 in the President's breakdown the same day, and its 1,008 injured sits above the mayor's 885. The municipal report carries no cut-off time, so it cannot be placed in that sequence: it may be an earlier snapshot, or a narrower count of deaths confirmed by the city itself. Until the city states its cut-off, cite the national figures for the national picture and use these for what only the municipality reports - collapsed and structurally damaged buildings, evacuation orders, and the trapped-versus-rescued balance.</a:t>
            </a:r>
            <a:endParaRPr lang="en-US" sz="11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840480"/>
                <a:gridCol w="1828800"/>
              </a:tblGrid>
              <a:tr h="0">
                <a:tc>
                  <a:txBody>
                    <a:bodyPr/>
                    <a:lstStyle/>
                    <a:p>
                      <a:pPr algn="l" indent="0" marL="0">
                        <a:buNone/>
                      </a:pPr>
                      <a:r>
                        <a:rPr lang="en-US" sz="1300" b="1" dirty="0">
                          <a:solidFill>
                            <a:srgbClr val="FFFFFF"/>
                          </a:solidFill>
                        </a:rPr>
                        <a:t>Item</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Figure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Deaths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69</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Injured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1,008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People </a:t>
                      </a:r>
                      <a:pPr algn="l" indent="0" marL="0">
                        <a:buNone/>
                      </a:pPr>
                      <a:r>
                        <a:rPr lang="en-US" sz="1100" dirty="0">
                          <a:solidFill>
                            <a:srgbClr val="222222"/>
                          </a:solidFill>
                        </a:rPr>
                        <a:t>trapped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230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People </a:t>
                      </a:r>
                      <a:pPr algn="l" indent="0" marL="0">
                        <a:buNone/>
                      </a:pPr>
                      <a:r>
                        <a:rPr lang="en-US" sz="1100" dirty="0">
                          <a:solidFill>
                            <a:srgbClr val="222222"/>
                          </a:solidFill>
                        </a:rPr>
                        <a:t>rescued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88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Buildings </a:t>
                      </a:r>
                      <a:pPr algn="l" indent="0" marL="0">
                        <a:buNone/>
                      </a:pPr>
                      <a:r>
                        <a:rPr lang="en-US" sz="1100" dirty="0">
                          <a:solidFill>
                            <a:srgbClr val="222222"/>
                          </a:solidFill>
                        </a:rPr>
                        <a:t>collapsed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107</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Buildings </a:t>
                      </a:r>
                      <a:pPr algn="l" indent="0" marL="0">
                        <a:buNone/>
                      </a:pPr>
                      <a:r>
                        <a:rPr lang="en-US" sz="1100" dirty="0">
                          <a:solidFill>
                            <a:srgbClr val="222222"/>
                          </a:solidFill>
                        </a:rPr>
                        <a:t>with </a:t>
                      </a:r>
                      <a:pPr algn="l" indent="0" marL="0">
                        <a:buNone/>
                      </a:pPr>
                      <a:r>
                        <a:rPr lang="en-US" sz="1100" dirty="0">
                          <a:solidFill>
                            <a:srgbClr val="222222"/>
                          </a:solidFill>
                        </a:rPr>
                        <a:t>structural </a:t>
                      </a:r>
                      <a:pPr algn="l" indent="0" marL="0">
                        <a:buNone/>
                      </a:pPr>
                      <a:r>
                        <a:rPr lang="en-US" sz="1100" dirty="0">
                          <a:solidFill>
                            <a:srgbClr val="222222"/>
                          </a:solidFill>
                        </a:rPr>
                        <a:t>damage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643</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Buildings </a:t>
                      </a:r>
                      <a:pPr algn="l" indent="0" marL="0">
                        <a:buNone/>
                      </a:pPr>
                      <a:r>
                        <a:rPr lang="en-US" sz="1100" dirty="0">
                          <a:solidFill>
                            <a:srgbClr val="222222"/>
                          </a:solidFill>
                        </a:rPr>
                        <a:t>under </a:t>
                      </a:r>
                      <a:pPr algn="l" indent="0" marL="0">
                        <a:buNone/>
                      </a:pPr>
                      <a:r>
                        <a:rPr lang="en-US" sz="1100" dirty="0">
                          <a:solidFill>
                            <a:srgbClr val="222222"/>
                          </a:solidFill>
                        </a:rPr>
                        <a:t>evacuation </a:t>
                      </a:r>
                      <a:pPr algn="l" indent="0" marL="0">
                        <a:buNone/>
                      </a:pPr>
                      <a:r>
                        <a:rPr lang="en-US" sz="1100" dirty="0">
                          <a:solidFill>
                            <a:srgbClr val="222222"/>
                          </a:solidFill>
                        </a:rPr>
                        <a:t>order</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18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People </a:t>
                      </a:r>
                      <a:pPr algn="l" indent="0" marL="0">
                        <a:buNone/>
                      </a:pPr>
                      <a:r>
                        <a:rPr lang="en-US" sz="1100" dirty="0">
                          <a:solidFill>
                            <a:srgbClr val="222222"/>
                          </a:solidFill>
                        </a:rPr>
                        <a:t>trapped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230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People </a:t>
                      </a:r>
                      <a:pPr algn="l" indent="0" marL="0">
                        <a:buNone/>
                      </a:pPr>
                      <a:r>
                        <a:rPr lang="en-US" sz="1100" dirty="0">
                          <a:solidFill>
                            <a:srgbClr val="222222"/>
                          </a:solidFill>
                        </a:rPr>
                        <a:t>rescued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88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Deaths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69</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Injured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1,008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230 people trapped against 88 rescued is the number that drives the next 48 hours in Cali: it is the search-and-rescue caseload, and it is larger than the city's death toll.  (Officials of the Alcaldía de Santiago de Cali, received 12 August 2026)</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34 / 48</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Dagua-Calima fault — and its estimates dwarf what the city actually experienced on 10 August 2026.</a:t>
            </a:r>
            <a:endParaRPr lang="en-US" sz="11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8321040"/>
              </a:tblGrid>
              <a:tr h="0">
                <a:tc>
                  <a:txBody>
                    <a:bodyPr/>
                    <a:lstStyle/>
                    <a:p>
                      <a:pPr algn="l" indent="0" marL="0">
                        <a:buNone/>
                      </a:pPr>
                      <a:r>
                        <a:rPr lang="en-US" sz="1300" b="1" dirty="0">
                          <a:solidFill>
                            <a:srgbClr val="FFFFFF"/>
                          </a:solidFill>
                        </a:rPr>
                        <a:t>Item</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Value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Modelled </a:t>
                      </a:r>
                      <a:pPr algn="l" indent="0" marL="0">
                        <a:buNone/>
                      </a:pPr>
                      <a:r>
                        <a:rPr lang="en-US" sz="1100" dirty="0">
                          <a:solidFill>
                            <a:srgbClr val="222222"/>
                          </a:solidFill>
                        </a:rPr>
                        <a:t>scenario</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M6.5, </a:t>
                      </a:r>
                      <a:pPr algn="l" indent="0" marL="0">
                        <a:buNone/>
                      </a:pPr>
                      <a:r>
                        <a:rPr lang="en-US" sz="1100" dirty="0">
                          <a:solidFill>
                            <a:srgbClr val="222222"/>
                          </a:solidFill>
                        </a:rPr>
                        <a:t>10 </a:t>
                      </a:r>
                      <a:pPr algn="l" indent="0" marL="0">
                        <a:buNone/>
                      </a:pPr>
                      <a:r>
                        <a:rPr lang="en-US" sz="1100" dirty="0">
                          <a:solidFill>
                            <a:srgbClr val="222222"/>
                          </a:solidFill>
                        </a:rPr>
                        <a:t>km </a:t>
                      </a:r>
                      <a:pPr algn="l" indent="0" marL="0">
                        <a:buNone/>
                      </a:pPr>
                      <a:r>
                        <a:rPr lang="en-US" sz="1100" dirty="0">
                          <a:solidFill>
                            <a:srgbClr val="222222"/>
                          </a:solidFill>
                        </a:rPr>
                        <a:t>depth, </a:t>
                      </a:r>
                      <a:pPr algn="l" indent="0" marL="0">
                        <a:buNone/>
                      </a:pPr>
                      <a:r>
                        <a:rPr lang="en-US" sz="1100" dirty="0">
                          <a:solidFill>
                            <a:srgbClr val="222222"/>
                          </a:solidFill>
                        </a:rPr>
                        <a:t>Dagua-Calima </a:t>
                      </a:r>
                      <a:pPr algn="l" indent="0" marL="0">
                        <a:buNone/>
                      </a:pPr>
                      <a:r>
                        <a:rPr lang="en-US" sz="1100" dirty="0">
                          <a:solidFill>
                            <a:srgbClr val="222222"/>
                          </a:solidFill>
                        </a:rPr>
                        <a:t>fault, </a:t>
                      </a:r>
                      <a:pPr algn="l" indent="0" marL="0">
                        <a:buNone/>
                      </a:pPr>
                      <a:r>
                        <a:rPr lang="en-US" sz="1100" dirty="0">
                          <a:solidFill>
                            <a:srgbClr val="222222"/>
                          </a:solidFill>
                        </a:rPr>
                        <a:t>urban </a:t>
                      </a:r>
                      <a:pPr algn="l" indent="0" marL="0">
                        <a:buNone/>
                      </a:pPr>
                      <a:r>
                        <a:rPr lang="en-US" sz="1100" dirty="0">
                          <a:solidFill>
                            <a:srgbClr val="222222"/>
                          </a:solidFill>
                        </a:rPr>
                        <a:t>area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Population </a:t>
                      </a:r>
                      <a:pPr algn="l" indent="0" marL="0">
                        <a:buNone/>
                      </a:pPr>
                      <a:r>
                        <a:rPr lang="en-US" sz="1100" dirty="0">
                          <a:solidFill>
                            <a:srgbClr val="222222"/>
                          </a:solidFill>
                        </a:rPr>
                        <a:t>exposed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approx. </a:t>
                      </a:r>
                      <a:pPr algn="l" indent="0" marL="0">
                        <a:buNone/>
                      </a:pPr>
                      <a:r>
                        <a:rPr lang="en-US" sz="1100" dirty="0">
                          <a:solidFill>
                            <a:srgbClr val="222222"/>
                          </a:solidFill>
                        </a:rPr>
                        <a:t>2,300,000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Estimated </a:t>
                      </a:r>
                      <a:pPr algn="l" indent="0" marL="0">
                        <a:buNone/>
                      </a:pPr>
                      <a:r>
                        <a:rPr lang="en-US" sz="1100" dirty="0">
                          <a:solidFill>
                            <a:srgbClr val="222222"/>
                          </a:solidFill>
                        </a:rPr>
                        <a:t>deaths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approx. </a:t>
                      </a:r>
                      <a:pPr algn="l" indent="0" marL="0">
                        <a:buNone/>
                      </a:pPr>
                      <a:r>
                        <a:rPr lang="en-US" sz="1100" dirty="0">
                          <a:solidFill>
                            <a:srgbClr val="222222"/>
                          </a:solidFill>
                        </a:rPr>
                        <a:t>1,200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Seriously </a:t>
                      </a:r>
                      <a:pPr algn="l" indent="0" marL="0">
                        <a:buNone/>
                      </a:pPr>
                      <a:r>
                        <a:rPr lang="en-US" sz="1100" dirty="0">
                          <a:solidFill>
                            <a:srgbClr val="222222"/>
                          </a:solidFill>
                        </a:rPr>
                        <a:t>injured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approx. </a:t>
                      </a:r>
                      <a:pPr algn="l" indent="0" marL="0">
                        <a:buNone/>
                      </a:pPr>
                      <a:r>
                        <a:rPr lang="en-US" sz="1100" dirty="0">
                          <a:solidFill>
                            <a:srgbClr val="222222"/>
                          </a:solidFill>
                        </a:rPr>
                        <a:t>36,300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Displaced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approx. </a:t>
                      </a:r>
                      <a:pPr algn="l" indent="0" marL="0">
                        <a:buNone/>
                      </a:pPr>
                      <a:r>
                        <a:rPr lang="en-US" sz="1100" dirty="0">
                          <a:solidFill>
                            <a:srgbClr val="222222"/>
                          </a:solidFill>
                        </a:rPr>
                        <a:t>181,000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Buildings </a:t>
                      </a:r>
                      <a:pPr algn="l" indent="0" marL="0">
                        <a:buNone/>
                      </a:pPr>
                      <a:r>
                        <a:rPr lang="en-US" sz="1100" dirty="0">
                          <a:solidFill>
                            <a:srgbClr val="222222"/>
                          </a:solidFill>
                        </a:rPr>
                        <a:t>collapsed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approx. </a:t>
                      </a:r>
                      <a:pPr algn="l" indent="0" marL="0">
                        <a:buNone/>
                      </a:pPr>
                      <a:r>
                        <a:rPr lang="en-US" sz="1100" dirty="0">
                          <a:solidFill>
                            <a:srgbClr val="222222"/>
                          </a:solidFill>
                        </a:rPr>
                        <a:t>1,800 </a:t>
                      </a:r>
                      <a:pPr algn="l" indent="0" marL="0">
                        <a:buNone/>
                      </a:pPr>
                      <a:r>
                        <a:rPr lang="en-US" sz="1100" dirty="0">
                          <a:solidFill>
                            <a:srgbClr val="222222"/>
                          </a:solidFill>
                        </a:rPr>
                        <a:t>of </a:t>
                      </a:r>
                      <a:pPr algn="l" indent="0" marL="0">
                        <a:buNone/>
                      </a:pPr>
                      <a:r>
                        <a:rPr lang="en-US" sz="1100" dirty="0">
                          <a:solidFill>
                            <a:srgbClr val="222222"/>
                          </a:solidFill>
                        </a:rPr>
                        <a:t>348,000 </a:t>
                      </a:r>
                      <a:pPr algn="l" indent="0" marL="0">
                        <a:buNone/>
                      </a:pPr>
                      <a:r>
                        <a:rPr lang="en-US" sz="1100" dirty="0">
                          <a:solidFill>
                            <a:srgbClr val="222222"/>
                          </a:solidFill>
                        </a:rPr>
                        <a:t>(0.5%)</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Residual </a:t>
                      </a:r>
                      <a:pPr algn="l" indent="0" marL="0">
                        <a:buNone/>
                      </a:pPr>
                      <a:r>
                        <a:rPr lang="en-US" sz="1100" dirty="0">
                          <a:solidFill>
                            <a:srgbClr val="222222"/>
                          </a:solidFill>
                        </a:rPr>
                        <a:t>risk</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assessed </a:t>
                      </a:r>
                      <a:pPr algn="l" indent="0" marL="0">
                        <a:buNone/>
                      </a:pPr>
                      <a:r>
                        <a:rPr lang="en-US" sz="1100" dirty="0">
                          <a:solidFill>
                            <a:srgbClr val="222222"/>
                          </a:solidFill>
                        </a:rPr>
                        <a:t>at </a:t>
                      </a:r>
                      <a:pPr algn="l" indent="0" marL="0">
                        <a:buNone/>
                      </a:pPr>
                      <a:r>
                        <a:rPr lang="en-US" sz="1100" dirty="0">
                          <a:solidFill>
                            <a:srgbClr val="222222"/>
                          </a:solidFill>
                        </a:rPr>
                        <a:t>about </a:t>
                      </a:r>
                      <a:pPr algn="l" indent="0" marL="0">
                        <a:buNone/>
                      </a:pPr>
                      <a:r>
                        <a:rPr lang="en-US" sz="1100" dirty="0">
                          <a:solidFill>
                            <a:srgbClr val="222222"/>
                          </a:solidFill>
                        </a:rPr>
                        <a:t>40% </a:t>
                      </a:r>
                      <a:pPr algn="l" indent="0" marL="0">
                        <a:buNone/>
                      </a:pPr>
                      <a:r>
                        <a:rPr lang="en-US" sz="1100" dirty="0">
                          <a:solidFill>
                            <a:srgbClr val="222222"/>
                          </a:solidFill>
                        </a:rPr>
                        <a:t>after </a:t>
                      </a:r>
                      <a:pPr algn="l" indent="0" marL="0">
                        <a:buNone/>
                      </a:pPr>
                      <a:r>
                        <a:rPr lang="en-US" sz="1100" dirty="0">
                          <a:solidFill>
                            <a:srgbClr val="222222"/>
                          </a:solidFill>
                        </a:rPr>
                        <a:t>existing </a:t>
                      </a:r>
                      <a:pPr algn="l" indent="0" marL="0">
                        <a:buNone/>
                      </a:pPr>
                      <a:r>
                        <a:rPr lang="en-US" sz="1100" dirty="0">
                          <a:solidFill>
                            <a:srgbClr val="222222"/>
                          </a:solidFill>
                        </a:rPr>
                        <a:t>measures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35 / 48</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What the city had already prioritised</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The 2026 earthquake was not this scenario — The 10 August event was larger in magnitude (M7.4) but 110 km deep and 158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1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11430000"/>
              </a:tblGrid>
              <a:tr h="0">
                <a:tc>
                  <a:txBody>
                    <a:bodyPr/>
                    <a:lstStyle/>
                    <a:p>
                      <a:pPr algn="l" indent="0" marL="0">
                        <a:buNone/>
                      </a:pPr>
                      <a:r>
                        <a:rPr lang="en-US" sz="1300" b="1" dirty="0">
                          <a:solidFill>
                            <a:srgbClr val="FFFFFF"/>
                          </a:solidFill>
                        </a:rPr>
                        <a:t>Priority </a:t>
                      </a:r>
                      <a:pPr algn="l" indent="0" marL="0">
                        <a:buNone/>
                      </a:pPr>
                      <a:r>
                        <a:rPr lang="en-US" sz="1300" b="1" dirty="0">
                          <a:solidFill>
                            <a:srgbClr val="FFFFFF"/>
                          </a:solidFill>
                        </a:rPr>
                        <a:t>already </a:t>
                      </a:r>
                      <a:pPr algn="l" indent="0" marL="0">
                        <a:buNone/>
                      </a:pPr>
                      <a:r>
                        <a:rPr lang="en-US" sz="1300" b="1" dirty="0">
                          <a:solidFill>
                            <a:srgbClr val="FFFFFF"/>
                          </a:solidFill>
                        </a:rPr>
                        <a:t>identified</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Seismic </a:t>
                      </a:r>
                      <a:pPr algn="l" indent="0" marL="0">
                        <a:buNone/>
                      </a:pPr>
                      <a:r>
                        <a:rPr lang="en-US" sz="1100" dirty="0">
                          <a:solidFill>
                            <a:srgbClr val="222222"/>
                          </a:solidFill>
                        </a:rPr>
                        <a:t>vulnerability </a:t>
                      </a:r>
                      <a:pPr algn="l" indent="0" marL="0">
                        <a:buNone/>
                      </a:pPr>
                      <a:r>
                        <a:rPr lang="en-US" sz="1100" dirty="0">
                          <a:solidFill>
                            <a:srgbClr val="222222"/>
                          </a:solidFill>
                        </a:rPr>
                        <a:t>studies </a:t>
                      </a:r>
                      <a:pPr algn="l" indent="0" marL="0">
                        <a:buNone/>
                      </a:pPr>
                      <a:r>
                        <a:rPr lang="en-US" sz="1100" dirty="0">
                          <a:solidFill>
                            <a:srgbClr val="222222"/>
                          </a:solidFill>
                        </a:rPr>
                        <a:t>of </a:t>
                      </a:r>
                      <a:pPr algn="l" indent="0" marL="0">
                        <a:buNone/>
                      </a:pPr>
                      <a:r>
                        <a:rPr lang="en-US" sz="1100" dirty="0">
                          <a:solidFill>
                            <a:srgbClr val="222222"/>
                          </a:solidFill>
                        </a:rPr>
                        <a:t>indispensable </a:t>
                      </a:r>
                      <a:pPr algn="l" indent="0" marL="0">
                        <a:buNone/>
                      </a:pPr>
                      <a:r>
                        <a:rPr lang="en-US" sz="1100" dirty="0">
                          <a:solidFill>
                            <a:srgbClr val="222222"/>
                          </a:solidFill>
                        </a:rPr>
                        <a:t>buildings </a:t>
                      </a:r>
                      <a:pPr algn="l" indent="0" marL="0">
                        <a:buNone/>
                      </a:pPr>
                      <a:r>
                        <a:rPr lang="en-US" sz="1100" dirty="0">
                          <a:solidFill>
                            <a:srgbClr val="222222"/>
                          </a:solidFill>
                        </a:rPr>
                        <a:t>— </a:t>
                      </a:r>
                      <a:pPr algn="l" indent="0" marL="0">
                        <a:buNone/>
                      </a:pPr>
                      <a:r>
                        <a:rPr lang="en-US" sz="1100" dirty="0">
                          <a:solidFill>
                            <a:srgbClr val="222222"/>
                          </a:solidFill>
                        </a:rPr>
                        <a:t>hospitals, </a:t>
                      </a:r>
                      <a:pPr algn="l" indent="0" marL="0">
                        <a:buNone/>
                      </a:pPr>
                      <a:r>
                        <a:rPr lang="en-US" sz="1100" dirty="0">
                          <a:solidFill>
                            <a:srgbClr val="222222"/>
                          </a:solidFill>
                        </a:rPr>
                        <a:t>schools, </a:t>
                      </a:r>
                      <a:pPr algn="l" indent="0" marL="0">
                        <a:buNone/>
                      </a:pPr>
                      <a:r>
                        <a:rPr lang="en-US" sz="1100" dirty="0">
                          <a:solidFill>
                            <a:srgbClr val="222222"/>
                          </a:solidFill>
                        </a:rPr>
                        <a:t>fire </a:t>
                      </a:r>
                      <a:pPr algn="l" indent="0" marL="0">
                        <a:buNone/>
                      </a:pPr>
                      <a:r>
                        <a:rPr lang="en-US" sz="1100" dirty="0">
                          <a:solidFill>
                            <a:srgbClr val="222222"/>
                          </a:solidFill>
                        </a:rPr>
                        <a:t>stations </a:t>
                      </a:r>
                      <a:pPr algn="l" indent="0" marL="0">
                        <a:buNone/>
                      </a:pPr>
                      <a:r>
                        <a:rPr lang="en-US" sz="1100" dirty="0">
                          <a:solidFill>
                            <a:srgbClr val="222222"/>
                          </a:solidFill>
                        </a:rPr>
                        <a:t>— </a:t>
                      </a:r>
                      <a:pPr algn="l" indent="0" marL="0">
                        <a:buNone/>
                      </a:pPr>
                      <a:r>
                        <a:rPr lang="en-US" sz="1100" dirty="0">
                          <a:solidFill>
                            <a:srgbClr val="222222"/>
                          </a:solidFill>
                        </a:rPr>
                        <a:t>to </a:t>
                      </a:r>
                      <a:pPr algn="l" indent="0" marL="0">
                        <a:buNone/>
                      </a:pPr>
                      <a:r>
                        <a:rPr lang="en-US" sz="1100" dirty="0">
                          <a:solidFill>
                            <a:srgbClr val="222222"/>
                          </a:solidFill>
                        </a:rPr>
                        <a:t>the </a:t>
                      </a:r>
                      <a:pPr algn="l" indent="0" marL="0">
                        <a:buNone/>
                      </a:pPr>
                      <a:r>
                        <a:rPr lang="en-US" sz="1100" dirty="0">
                          <a:solidFill>
                            <a:srgbClr val="222222"/>
                          </a:solidFill>
                        </a:rPr>
                        <a:t>NSR-10 </a:t>
                      </a:r>
                      <a:pPr algn="l" indent="0" marL="0">
                        <a:buNone/>
                      </a:pPr>
                      <a:r>
                        <a:rPr lang="en-US" sz="1100" dirty="0">
                          <a:solidFill>
                            <a:srgbClr val="222222"/>
                          </a:solidFill>
                        </a:rPr>
                        <a:t>code </a:t>
                      </a:r>
                      <a:pPr algn="l" indent="0" marL="0">
                        <a:buNone/>
                      </a:pPr>
                      <a:r>
                        <a:rPr lang="en-US" sz="1100" dirty="0">
                          <a:solidFill>
                            <a:srgbClr val="222222"/>
                          </a:solidFill>
                        </a:rPr>
                        <a:t>(budgeted </a:t>
                      </a:r>
                      <a:pPr algn="l" indent="0" marL="0">
                        <a:buNone/>
                      </a:pPr>
                      <a:r>
                        <a:rPr lang="en-US" sz="1100" dirty="0">
                          <a:solidFill>
                            <a:srgbClr val="222222"/>
                          </a:solidFill>
                        </a:rPr>
                        <a:t>at </a:t>
                      </a:r>
                      <a:pPr algn="l" indent="0" marL="0">
                        <a:buNone/>
                      </a:pPr>
                      <a:r>
                        <a:rPr lang="en-US" sz="1100" dirty="0">
                          <a:solidFill>
                            <a:srgbClr val="222222"/>
                          </a:solidFill>
                        </a:rPr>
                        <a:t>about </a:t>
                      </a:r>
                      <a:pPr algn="l" indent="0" marL="0">
                        <a:buNone/>
                      </a:pPr>
                      <a:r>
                        <a:rPr lang="en-US" sz="1100" dirty="0">
                          <a:solidFill>
                            <a:srgbClr val="222222"/>
                          </a:solidFill>
                        </a:rPr>
                        <a:t>USD </a:t>
                      </a:r>
                      <a:pPr algn="l" indent="0" marL="0">
                        <a:buNone/>
                      </a:pPr>
                      <a:r>
                        <a:rPr lang="en-US" sz="1100" dirty="0">
                          <a:solidFill>
                            <a:srgbClr val="222222"/>
                          </a:solidFill>
                        </a:rPr>
                        <a:t>1.7 </a:t>
                      </a:r>
                      <a:pPr algn="l" indent="0" marL="0">
                        <a:buNone/>
                      </a:pPr>
                      <a:r>
                        <a:rPr lang="en-US" sz="1100" dirty="0">
                          <a:solidFill>
                            <a:srgbClr val="222222"/>
                          </a:solidFill>
                        </a:rPr>
                        <a:t>million, </a:t>
                      </a:r>
                      <a:pPr algn="l" indent="0" marL="0">
                        <a:buNone/>
                      </a:pPr>
                      <a:r>
                        <a:rPr lang="en-US" sz="1100" dirty="0">
                          <a:solidFill>
                            <a:srgbClr val="222222"/>
                          </a:solidFill>
                        </a:rPr>
                        <a:t>short </a:t>
                      </a:r>
                      <a:pPr algn="l" indent="0" marL="0">
                        <a:buNone/>
                      </a:pPr>
                      <a:r>
                        <a:rPr lang="en-US" sz="1100" dirty="0">
                          <a:solidFill>
                            <a:srgbClr val="222222"/>
                          </a:solidFill>
                        </a:rPr>
                        <a:t>term).</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Structural </a:t>
                      </a:r>
                      <a:pPr algn="l" indent="0" marL="0">
                        <a:buNone/>
                      </a:pPr>
                      <a:r>
                        <a:rPr lang="en-US" sz="1100" dirty="0">
                          <a:solidFill>
                            <a:srgbClr val="222222"/>
                          </a:solidFill>
                        </a:rPr>
                        <a:t>retrofitting </a:t>
                      </a:r>
                      <a:pPr algn="l" indent="0" marL="0">
                        <a:buNone/>
                      </a:pPr>
                      <a:r>
                        <a:rPr lang="en-US" sz="1100" dirty="0">
                          <a:solidFill>
                            <a:srgbClr val="222222"/>
                          </a:solidFill>
                        </a:rPr>
                        <a:t>of </a:t>
                      </a:r>
                      <a:pPr algn="l" indent="0" marL="0">
                        <a:buNone/>
                      </a:pPr>
                      <a:r>
                        <a:rPr lang="en-US" sz="1100" dirty="0">
                          <a:solidFill>
                            <a:srgbClr val="222222"/>
                          </a:solidFill>
                        </a:rPr>
                        <a:t>indispensable </a:t>
                      </a:r>
                      <a:pPr algn="l" indent="0" marL="0">
                        <a:buNone/>
                      </a:pPr>
                      <a:r>
                        <a:rPr lang="en-US" sz="1100" dirty="0">
                          <a:solidFill>
                            <a:srgbClr val="222222"/>
                          </a:solidFill>
                        </a:rPr>
                        <a:t>buildings </a:t>
                      </a:r>
                      <a:pPr algn="l" indent="0" marL="0">
                        <a:buNone/>
                      </a:pPr>
                      <a:r>
                        <a:rPr lang="en-US" sz="1100" dirty="0">
                          <a:solidFill>
                            <a:srgbClr val="222222"/>
                          </a:solidFill>
                        </a:rPr>
                        <a:t>and </a:t>
                      </a:r>
                      <a:pPr algn="l" indent="0" marL="0">
                        <a:buNone/>
                      </a:pPr>
                      <a:r>
                        <a:rPr lang="en-US" sz="1100" dirty="0">
                          <a:solidFill>
                            <a:srgbClr val="222222"/>
                          </a:solidFill>
                        </a:rPr>
                        <a:t>of </a:t>
                      </a:r>
                      <a:pPr algn="l" indent="0" marL="0">
                        <a:buNone/>
                      </a:pPr>
                      <a:r>
                        <a:rPr lang="en-US" sz="1100" dirty="0">
                          <a:solidFill>
                            <a:srgbClr val="222222"/>
                          </a:solidFill>
                        </a:rPr>
                        <a:t>basic-service </a:t>
                      </a:r>
                      <a:pPr algn="l" indent="0" marL="0">
                        <a:buNone/>
                      </a:pPr>
                      <a:r>
                        <a:rPr lang="en-US" sz="1100" dirty="0">
                          <a:solidFill>
                            <a:srgbClr val="222222"/>
                          </a:solidFill>
                        </a:rPr>
                        <a:t>infrastructure, </a:t>
                      </a:r>
                      <a:pPr algn="l" indent="0" marL="0">
                        <a:buNone/>
                      </a:pPr>
                      <a:r>
                        <a:rPr lang="en-US" sz="1100" dirty="0">
                          <a:solidFill>
                            <a:srgbClr val="222222"/>
                          </a:solidFill>
                        </a:rPr>
                        <a:t>to </a:t>
                      </a:r>
                      <a:pPr algn="l" indent="0" marL="0">
                        <a:buNone/>
                      </a:pPr>
                      <a:r>
                        <a:rPr lang="en-US" sz="1100" dirty="0">
                          <a:solidFill>
                            <a:srgbClr val="222222"/>
                          </a:solidFill>
                        </a:rPr>
                        <a:t>keep </a:t>
                      </a:r>
                      <a:pPr algn="l" indent="0" marL="0">
                        <a:buNone/>
                      </a:pPr>
                      <a:r>
                        <a:rPr lang="en-US" sz="1100" dirty="0">
                          <a:solidFill>
                            <a:srgbClr val="222222"/>
                          </a:solidFill>
                        </a:rPr>
                        <a:t>essential </a:t>
                      </a:r>
                      <a:pPr algn="l" indent="0" marL="0">
                        <a:buNone/>
                      </a:pPr>
                      <a:r>
                        <a:rPr lang="en-US" sz="1100" dirty="0">
                          <a:solidFill>
                            <a:srgbClr val="222222"/>
                          </a:solidFill>
                        </a:rPr>
                        <a:t>services </a:t>
                      </a:r>
                      <a:pPr algn="l" indent="0" marL="0">
                        <a:buNone/>
                      </a:pPr>
                      <a:r>
                        <a:rPr lang="en-US" sz="1100" dirty="0">
                          <a:solidFill>
                            <a:srgbClr val="222222"/>
                          </a:solidFill>
                        </a:rPr>
                        <a:t>running </a:t>
                      </a:r>
                      <a:pPr algn="l" indent="0" marL="0">
                        <a:buNone/>
                      </a:pPr>
                      <a:r>
                        <a:rPr lang="en-US" sz="1100" dirty="0">
                          <a:solidFill>
                            <a:srgbClr val="222222"/>
                          </a:solidFill>
                        </a:rPr>
                        <a:t>after </a:t>
                      </a:r>
                      <a:pPr algn="l" indent="0" marL="0">
                        <a:buNone/>
                      </a:pPr>
                      <a:r>
                        <a:rPr lang="en-US" sz="1100" dirty="0">
                          <a:solidFill>
                            <a:srgbClr val="222222"/>
                          </a:solidFill>
                        </a:rPr>
                        <a:t>an </a:t>
                      </a:r>
                      <a:pPr algn="l" indent="0" marL="0">
                        <a:buNone/>
                      </a:pPr>
                      <a:r>
                        <a:rPr lang="en-US" sz="1100" dirty="0">
                          <a:solidFill>
                            <a:srgbClr val="222222"/>
                          </a:solidFill>
                        </a:rPr>
                        <a:t>earthquake.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Seismic </a:t>
                      </a:r>
                      <a:pPr algn="l" indent="0" marL="0">
                        <a:buNone/>
                      </a:pPr>
                      <a:r>
                        <a:rPr lang="en-US" sz="1100" dirty="0">
                          <a:solidFill>
                            <a:srgbClr val="222222"/>
                          </a:solidFill>
                        </a:rPr>
                        <a:t>vulnerability </a:t>
                      </a:r>
                      <a:pPr algn="l" indent="0" marL="0">
                        <a:buNone/>
                      </a:pPr>
                      <a:r>
                        <a:rPr lang="en-US" sz="1100" dirty="0">
                          <a:solidFill>
                            <a:srgbClr val="222222"/>
                          </a:solidFill>
                        </a:rPr>
                        <a:t>assessment </a:t>
                      </a:r>
                      <a:pPr algn="l" indent="0" marL="0">
                        <a:buNone/>
                      </a:pPr>
                      <a:r>
                        <a:rPr lang="en-US" sz="1100" dirty="0">
                          <a:solidFill>
                            <a:srgbClr val="222222"/>
                          </a:solidFill>
                        </a:rPr>
                        <a:t>of </a:t>
                      </a:r>
                      <a:pPr algn="l" indent="0" marL="0">
                        <a:buNone/>
                      </a:pPr>
                      <a:r>
                        <a:rPr lang="en-US" sz="1100" dirty="0">
                          <a:solidFill>
                            <a:srgbClr val="222222"/>
                          </a:solidFill>
                        </a:rPr>
                        <a:t>the </a:t>
                      </a:r>
                      <a:pPr algn="l" indent="0" marL="0">
                        <a:buNone/>
                      </a:pPr>
                      <a:r>
                        <a:rPr lang="en-US" sz="1100" dirty="0">
                          <a:solidFill>
                            <a:srgbClr val="222222"/>
                          </a:solidFill>
                        </a:rPr>
                        <a:t>EMCALI </a:t>
                      </a:r>
                      <a:pPr algn="l" indent="0" marL="0">
                        <a:buNone/>
                      </a:pPr>
                      <a:r>
                        <a:rPr lang="en-US" sz="1100" dirty="0">
                          <a:solidFill>
                            <a:srgbClr val="222222"/>
                          </a:solidFill>
                        </a:rPr>
                        <a:t>water, </a:t>
                      </a:r>
                      <a:pPr algn="l" indent="0" marL="0">
                        <a:buNone/>
                      </a:pPr>
                      <a:r>
                        <a:rPr lang="en-US" sz="1100" dirty="0">
                          <a:solidFill>
                            <a:srgbClr val="222222"/>
                          </a:solidFill>
                        </a:rPr>
                        <a:t>sewerage </a:t>
                      </a:r>
                      <a:pPr algn="l" indent="0" marL="0">
                        <a:buNone/>
                      </a:pPr>
                      <a:r>
                        <a:rPr lang="en-US" sz="1100" dirty="0">
                          <a:solidFill>
                            <a:srgbClr val="222222"/>
                          </a:solidFill>
                        </a:rPr>
                        <a:t>and </a:t>
                      </a:r>
                      <a:pPr algn="l" indent="0" marL="0">
                        <a:buNone/>
                      </a:pPr>
                      <a:r>
                        <a:rPr lang="en-US" sz="1100" dirty="0">
                          <a:solidFill>
                            <a:srgbClr val="222222"/>
                          </a:solidFill>
                        </a:rPr>
                        <a:t>power </a:t>
                      </a:r>
                      <a:pPr algn="l" indent="0" marL="0">
                        <a:buNone/>
                      </a:pPr>
                      <a:r>
                        <a:rPr lang="en-US" sz="1100" dirty="0">
                          <a:solidFill>
                            <a:srgbClr val="222222"/>
                          </a:solidFill>
                        </a:rPr>
                        <a:t>networks </a:t>
                      </a:r>
                      <a:pPr algn="l" indent="0" marL="0">
                        <a:buNone/>
                      </a:pPr>
                      <a:r>
                        <a:rPr lang="en-US" sz="1100" dirty="0">
                          <a:solidFill>
                            <a:srgbClr val="222222"/>
                          </a:solidFill>
                        </a:rPr>
                        <a:t>and </a:t>
                      </a:r>
                      <a:pPr algn="l" indent="0" marL="0">
                        <a:buNone/>
                      </a:pPr>
                      <a:r>
                        <a:rPr lang="en-US" sz="1100" dirty="0">
                          <a:solidFill>
                            <a:srgbClr val="222222"/>
                          </a:solidFill>
                        </a:rPr>
                        <a:t>of </a:t>
                      </a:r>
                      <a:pPr algn="l" indent="0" marL="0">
                        <a:buNone/>
                      </a:pPr>
                      <a:r>
                        <a:rPr lang="en-US" sz="1100" dirty="0">
                          <a:solidFill>
                            <a:srgbClr val="222222"/>
                          </a:solidFill>
                        </a:rPr>
                        <a:t>the </a:t>
                      </a:r>
                      <a:pPr algn="l" indent="0" marL="0">
                        <a:buNone/>
                      </a:pPr>
                      <a:r>
                        <a:rPr lang="en-US" sz="1100" dirty="0">
                          <a:solidFill>
                            <a:srgbClr val="222222"/>
                          </a:solidFill>
                        </a:rPr>
                        <a:t>city </a:t>
                      </a:r>
                      <a:pPr algn="l" indent="0" marL="0">
                        <a:buNone/>
                      </a:pPr>
                      <a:r>
                        <a:rPr lang="en-US" sz="1100" dirty="0">
                          <a:solidFill>
                            <a:srgbClr val="222222"/>
                          </a:solidFill>
                        </a:rPr>
                        <a:t>gas </a:t>
                      </a:r>
                      <a:pPr algn="l" indent="0" marL="0">
                        <a:buNone/>
                      </a:pPr>
                      <a:r>
                        <a:rPr lang="en-US" sz="1100" dirty="0">
                          <a:solidFill>
                            <a:srgbClr val="222222"/>
                          </a:solidFill>
                        </a:rPr>
                        <a:t>network.</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Updating </a:t>
                      </a:r>
                      <a:pPr algn="l" indent="0" marL="0">
                        <a:buNone/>
                      </a:pPr>
                      <a:r>
                        <a:rPr lang="en-US" sz="1100" dirty="0">
                          <a:solidFill>
                            <a:srgbClr val="222222"/>
                          </a:solidFill>
                        </a:rPr>
                        <a:t>the </a:t>
                      </a:r>
                      <a:pPr algn="l" indent="0" marL="0">
                        <a:buNone/>
                      </a:pPr>
                      <a:r>
                        <a:rPr lang="en-US" sz="1100" dirty="0">
                          <a:solidFill>
                            <a:srgbClr val="222222"/>
                          </a:solidFill>
                        </a:rPr>
                        <a:t>local </a:t>
                      </a:r>
                      <a:pPr algn="l" indent="0" marL="0">
                        <a:buNone/>
                      </a:pPr>
                      <a:r>
                        <a:rPr lang="en-US" sz="1100" dirty="0">
                          <a:solidFill>
                            <a:srgbClr val="222222"/>
                          </a:solidFill>
                        </a:rPr>
                        <a:t>soil-response </a:t>
                      </a:r>
                      <a:pPr algn="l" indent="0" marL="0">
                        <a:buNone/>
                      </a:pPr>
                      <a:r>
                        <a:rPr lang="en-US" sz="1100" dirty="0">
                          <a:solidFill>
                            <a:srgbClr val="222222"/>
                          </a:solidFill>
                        </a:rPr>
                        <a:t>model </a:t>
                      </a:r>
                      <a:pPr algn="l" indent="0" marL="0">
                        <a:buNone/>
                      </a:pPr>
                      <a:r>
                        <a:rPr lang="en-US" sz="1100" dirty="0">
                          <a:solidFill>
                            <a:srgbClr val="222222"/>
                          </a:solidFill>
                        </a:rPr>
                        <a:t>and </a:t>
                      </a:r>
                      <a:pPr algn="l" indent="0" marL="0">
                        <a:buNone/>
                      </a:pPr>
                      <a:r>
                        <a:rPr lang="en-US" sz="1100" dirty="0">
                          <a:solidFill>
                            <a:srgbClr val="222222"/>
                          </a:solidFill>
                        </a:rPr>
                        <a:t>the </a:t>
                      </a:r>
                      <a:pPr algn="l" indent="0" marL="0">
                        <a:buNone/>
                      </a:pPr>
                      <a:r>
                        <a:rPr lang="en-US" sz="1100" dirty="0">
                          <a:solidFill>
                            <a:srgbClr val="222222"/>
                          </a:solidFill>
                        </a:rPr>
                        <a:t>seismic </a:t>
                      </a:r>
                      <a:pPr algn="l" indent="0" marL="0">
                        <a:buNone/>
                      </a:pPr>
                      <a:r>
                        <a:rPr lang="en-US" sz="1100" dirty="0">
                          <a:solidFill>
                            <a:srgbClr val="222222"/>
                          </a:solidFill>
                        </a:rPr>
                        <a:t>microzonation, </a:t>
                      </a:r>
                      <a:pPr algn="l" indent="0" marL="0">
                        <a:buNone/>
                      </a:pPr>
                      <a:r>
                        <a:rPr lang="en-US" sz="1100" dirty="0">
                          <a:solidFill>
                            <a:srgbClr val="222222"/>
                          </a:solidFill>
                        </a:rPr>
                        <a:t>in </a:t>
                      </a:r>
                      <a:pPr algn="l" indent="0" marL="0">
                        <a:buNone/>
                      </a:pPr>
                      <a:r>
                        <a:rPr lang="en-US" sz="1100" dirty="0">
                          <a:solidFill>
                            <a:srgbClr val="222222"/>
                          </a:solidFill>
                        </a:rPr>
                        <a:t>force </a:t>
                      </a:r>
                      <a:pPr algn="l" indent="0" marL="0">
                        <a:buNone/>
                      </a:pPr>
                      <a:r>
                        <a:rPr lang="en-US" sz="1100" dirty="0">
                          <a:solidFill>
                            <a:srgbClr val="222222"/>
                          </a:solidFill>
                        </a:rPr>
                        <a:t>since </a:t>
                      </a:r>
                      <a:pPr algn="l" indent="0" marL="0">
                        <a:buNone/>
                      </a:pPr>
                      <a:r>
                        <a:rPr lang="en-US" sz="1100" dirty="0">
                          <a:solidFill>
                            <a:srgbClr val="222222"/>
                          </a:solidFill>
                        </a:rPr>
                        <a:t>INGEOMINAS/DAGMA </a:t>
                      </a:r>
                      <a:pPr algn="l" indent="0" marL="0">
                        <a:buNone/>
                      </a:pPr>
                      <a:r>
                        <a:rPr lang="en-US" sz="1100" dirty="0">
                          <a:solidFill>
                            <a:srgbClr val="222222"/>
                          </a:solidFill>
                        </a:rPr>
                        <a:t>(2005) </a:t>
                      </a:r>
                      <a:pPr algn="l" indent="0" marL="0">
                        <a:buNone/>
                      </a:pPr>
                      <a:r>
                        <a:rPr lang="en-US" sz="1100" dirty="0">
                          <a:solidFill>
                            <a:srgbClr val="222222"/>
                          </a:solidFill>
                        </a:rPr>
                        <a:t>and </a:t>
                      </a:r>
                      <a:pPr algn="l" indent="0" marL="0">
                        <a:buNone/>
                      </a:pPr>
                      <a:r>
                        <a:rPr lang="en-US" sz="1100" dirty="0">
                          <a:solidFill>
                            <a:srgbClr val="222222"/>
                          </a:solidFill>
                        </a:rPr>
                        <a:t>adopted </a:t>
                      </a:r>
                      <a:pPr algn="l" indent="0" marL="0">
                        <a:buNone/>
                      </a:pPr>
                      <a:r>
                        <a:rPr lang="en-US" sz="1100" dirty="0">
                          <a:solidFill>
                            <a:srgbClr val="222222"/>
                          </a:solidFill>
                        </a:rPr>
                        <a:t>by </a:t>
                      </a:r>
                      <a:pPr algn="l" indent="0" marL="0">
                        <a:buNone/>
                      </a:pPr>
                      <a:r>
                        <a:rPr lang="en-US" sz="1100" dirty="0">
                          <a:solidFill>
                            <a:srgbClr val="222222"/>
                          </a:solidFill>
                        </a:rPr>
                        <a:t>Decree </a:t>
                      </a:r>
                      <a:pPr algn="l" indent="0" marL="0">
                        <a:buNone/>
                      </a:pPr>
                      <a:r>
                        <a:rPr lang="en-US" sz="1100" dirty="0">
                          <a:solidFill>
                            <a:srgbClr val="222222"/>
                          </a:solidFill>
                        </a:rPr>
                        <a:t>411.0.20.0158 </a:t>
                      </a:r>
                      <a:pPr algn="l" indent="0" marL="0">
                        <a:buNone/>
                      </a:pPr>
                      <a:r>
                        <a:rPr lang="en-US" sz="1100" dirty="0">
                          <a:solidFill>
                            <a:srgbClr val="222222"/>
                          </a:solidFill>
                        </a:rPr>
                        <a:t>of </a:t>
                      </a:r>
                      <a:pPr algn="l" indent="0" marL="0">
                        <a:buNone/>
                      </a:pPr>
                      <a:r>
                        <a:rPr lang="en-US" sz="1100" dirty="0">
                          <a:solidFill>
                            <a:srgbClr val="222222"/>
                          </a:solidFill>
                        </a:rPr>
                        <a:t>2014 </a:t>
                      </a:r>
                      <a:pPr algn="l" indent="0" marL="0">
                        <a:buNone/>
                      </a:pPr>
                      <a:r>
                        <a:rPr lang="en-US" sz="1100" dirty="0">
                          <a:solidFill>
                            <a:srgbClr val="222222"/>
                          </a:solidFill>
                        </a:rPr>
                        <a:t>for </a:t>
                      </a:r>
                      <a:pPr algn="l" indent="0" marL="0">
                        <a:buNone/>
                      </a:pPr>
                      <a:r>
                        <a:rPr lang="en-US" sz="1100" dirty="0">
                          <a:solidFill>
                            <a:srgbClr val="222222"/>
                          </a:solidFill>
                        </a:rPr>
                        <a:t>structural </a:t>
                      </a:r>
                      <a:pPr algn="l" indent="0" marL="0">
                        <a:buNone/>
                      </a:pPr>
                      <a:r>
                        <a:rPr lang="en-US" sz="1100" dirty="0">
                          <a:solidFill>
                            <a:srgbClr val="222222"/>
                          </a:solidFill>
                        </a:rPr>
                        <a:t>design.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Maintaining </a:t>
                      </a:r>
                      <a:pPr algn="l" indent="0" marL="0">
                        <a:buNone/>
                      </a:pPr>
                      <a:r>
                        <a:rPr lang="en-US" sz="1100" dirty="0">
                          <a:solidFill>
                            <a:srgbClr val="222222"/>
                          </a:solidFill>
                        </a:rPr>
                        <a:t>and </a:t>
                      </a:r>
                      <a:pPr algn="l" indent="0" marL="0">
                        <a:buNone/>
                      </a:pPr>
                      <a:r>
                        <a:rPr lang="en-US" sz="1100" dirty="0">
                          <a:solidFill>
                            <a:srgbClr val="222222"/>
                          </a:solidFill>
                        </a:rPr>
                        <a:t>extending </a:t>
                      </a:r>
                      <a:pPr algn="l" indent="0" marL="0">
                        <a:buNone/>
                      </a:pPr>
                      <a:r>
                        <a:rPr lang="en-US" sz="1100" dirty="0">
                          <a:solidFill>
                            <a:srgbClr val="222222"/>
                          </a:solidFill>
                        </a:rPr>
                        <a:t>the </a:t>
                      </a:r>
                      <a:pPr algn="l" indent="0" marL="0">
                        <a:buNone/>
                      </a:pPr>
                      <a:r>
                        <a:rPr lang="en-US" sz="1100" dirty="0">
                          <a:solidFill>
                            <a:srgbClr val="222222"/>
                          </a:solidFill>
                        </a:rPr>
                        <a:t>Cali </a:t>
                      </a:r>
                      <a:pPr algn="l" indent="0" marL="0">
                        <a:buNone/>
                      </a:pPr>
                      <a:r>
                        <a:rPr lang="en-US" sz="1100" dirty="0">
                          <a:solidFill>
                            <a:srgbClr val="222222"/>
                          </a:solidFill>
                        </a:rPr>
                        <a:t>accelerograph </a:t>
                      </a:r>
                      <a:pPr algn="l" indent="0" marL="0">
                        <a:buNone/>
                      </a:pPr>
                      <a:r>
                        <a:rPr lang="en-US" sz="1100" dirty="0">
                          <a:solidFill>
                            <a:srgbClr val="222222"/>
                          </a:solidFill>
                        </a:rPr>
                        <a:t>network </a:t>
                      </a:r>
                      <a:pPr algn="l" indent="0" marL="0">
                        <a:buNone/>
                      </a:pPr>
                      <a:r>
                        <a:rPr lang="en-US" sz="1100" dirty="0">
                          <a:solidFill>
                            <a:srgbClr val="222222"/>
                          </a:solidFill>
                        </a:rPr>
                        <a:t>(RAC) </a:t>
                      </a:r>
                      <a:pPr algn="l" indent="0" marL="0">
                        <a:buNone/>
                      </a:pPr>
                      <a:r>
                        <a:rPr lang="en-US" sz="1100" dirty="0">
                          <a:solidFill>
                            <a:srgbClr val="222222"/>
                          </a:solidFill>
                        </a:rPr>
                        <a:t>and </a:t>
                      </a:r>
                      <a:pPr algn="l" indent="0" marL="0">
                        <a:buNone/>
                      </a:pPr>
                      <a:r>
                        <a:rPr lang="en-US" sz="1100" dirty="0">
                          <a:solidFill>
                            <a:srgbClr val="222222"/>
                          </a:solidFill>
                        </a:rPr>
                        <a:t>its </a:t>
                      </a:r>
                      <a:pPr algn="l" indent="0" marL="0">
                        <a:buNone/>
                      </a:pPr>
                      <a:r>
                        <a:rPr lang="en-US" sz="1100" dirty="0">
                          <a:solidFill>
                            <a:srgbClr val="222222"/>
                          </a:solidFill>
                        </a:rPr>
                        <a:t>interoperability </a:t>
                      </a:r>
                      <a:pPr algn="l" indent="0" marL="0">
                        <a:buNone/>
                      </a:pPr>
                      <a:r>
                        <a:rPr lang="en-US" sz="1100" dirty="0">
                          <a:solidFill>
                            <a:srgbClr val="222222"/>
                          </a:solidFill>
                        </a:rPr>
                        <a:t>with </a:t>
                      </a:r>
                      <a:pPr algn="l" indent="0" marL="0">
                        <a:buNone/>
                      </a:pPr>
                      <a:r>
                        <a:rPr lang="en-US" sz="1100" dirty="0">
                          <a:solidFill>
                            <a:srgbClr val="222222"/>
                          </a:solidFill>
                        </a:rPr>
                        <a:t>the </a:t>
                      </a:r>
                      <a:pPr algn="l" indent="0" marL="0">
                        <a:buNone/>
                      </a:pPr>
                      <a:r>
                        <a:rPr lang="en-US" sz="1100" dirty="0">
                          <a:solidFill>
                            <a:srgbClr val="222222"/>
                          </a:solidFill>
                        </a:rPr>
                        <a:t>SGC </a:t>
                      </a:r>
                      <a:pPr algn="l" indent="0" marL="0">
                        <a:buNone/>
                      </a:pPr>
                      <a:r>
                        <a:rPr lang="en-US" sz="1100" dirty="0">
                          <a:solidFill>
                            <a:srgbClr val="222222"/>
                          </a:solidFill>
                        </a:rPr>
                        <a:t>national </a:t>
                      </a:r>
                      <a:pPr algn="l" indent="0" marL="0">
                        <a:buNone/>
                      </a:pPr>
                      <a:r>
                        <a:rPr lang="en-US" sz="1100" dirty="0">
                          <a:solidFill>
                            <a:srgbClr val="222222"/>
                          </a:solidFill>
                        </a:rPr>
                        <a:t>network.</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Insuring </a:t>
                      </a:r>
                      <a:pPr algn="l" indent="0" marL="0">
                        <a:buNone/>
                      </a:pPr>
                      <a:r>
                        <a:rPr lang="en-US" sz="1100" dirty="0">
                          <a:solidFill>
                            <a:srgbClr val="222222"/>
                          </a:solidFill>
                        </a:rPr>
                        <a:t>public </a:t>
                      </a:r>
                      <a:pPr algn="l" indent="0" marL="0">
                        <a:buNone/>
                      </a:pPr>
                      <a:r>
                        <a:rPr lang="en-US" sz="1100" dirty="0">
                          <a:solidFill>
                            <a:srgbClr val="222222"/>
                          </a:solidFill>
                        </a:rPr>
                        <a:t>infrastructure </a:t>
                      </a:r>
                      <a:pPr algn="l" indent="0" marL="0">
                        <a:buNone/>
                      </a:pPr>
                      <a:r>
                        <a:rPr lang="en-US" sz="1100" dirty="0">
                          <a:solidFill>
                            <a:srgbClr val="222222"/>
                          </a:solidFill>
                        </a:rPr>
                        <a:t>against </a:t>
                      </a:r>
                      <a:pPr algn="l" indent="0" marL="0">
                        <a:buNone/>
                      </a:pPr>
                      <a:r>
                        <a:rPr lang="en-US" sz="1100" dirty="0">
                          <a:solidFill>
                            <a:srgbClr val="222222"/>
                          </a:solidFill>
                        </a:rPr>
                        <a:t>seismic </a:t>
                      </a:r>
                      <a:pPr algn="l" indent="0" marL="0">
                        <a:buNone/>
                      </a:pPr>
                      <a:r>
                        <a:rPr lang="en-US" sz="1100" dirty="0">
                          <a:solidFill>
                            <a:srgbClr val="222222"/>
                          </a:solidFill>
                        </a:rPr>
                        <a:t>risk, </a:t>
                      </a:r>
                      <a:pPr algn="l" indent="0" marL="0">
                        <a:buNone/>
                      </a:pPr>
                      <a:r>
                        <a:rPr lang="en-US" sz="1100" dirty="0">
                          <a:solidFill>
                            <a:srgbClr val="222222"/>
                          </a:solidFill>
                        </a:rPr>
                        <a:t>and </a:t>
                      </a:r>
                      <a:pPr algn="l" indent="0" marL="0">
                        <a:buNone/>
                      </a:pPr>
                      <a:r>
                        <a:rPr lang="en-US" sz="1100" dirty="0">
                          <a:solidFill>
                            <a:srgbClr val="222222"/>
                          </a:solidFill>
                        </a:rPr>
                        <a:t>retrofitting </a:t>
                      </a:r>
                      <a:pPr algn="l" indent="0" marL="0">
                        <a:buNone/>
                      </a:pPr>
                      <a:r>
                        <a:rPr lang="en-US" sz="1100" dirty="0">
                          <a:solidFill>
                            <a:srgbClr val="222222"/>
                          </a:solidFill>
                        </a:rPr>
                        <a:t>low-income </a:t>
                      </a:r>
                      <a:pPr algn="l" indent="0" marL="0">
                        <a:buNone/>
                      </a:pPr>
                      <a:r>
                        <a:rPr lang="en-US" sz="1100" dirty="0">
                          <a:solidFill>
                            <a:srgbClr val="222222"/>
                          </a:solidFill>
                        </a:rPr>
                        <a:t>housing </a:t>
                      </a:r>
                      <a:pPr algn="l" indent="0" marL="0">
                        <a:buNone/>
                      </a:pPr>
                      <a:r>
                        <a:rPr lang="en-US" sz="1100" dirty="0">
                          <a:solidFill>
                            <a:srgbClr val="222222"/>
                          </a:solidFill>
                        </a:rPr>
                        <a:t>through </a:t>
                      </a:r>
                      <a:pPr algn="l" indent="0" marL="0">
                        <a:buNone/>
                      </a:pPr>
                      <a:r>
                        <a:rPr lang="en-US" sz="1100" dirty="0">
                          <a:solidFill>
                            <a:srgbClr val="222222"/>
                          </a:solidFill>
                        </a:rPr>
                        <a:t>subsidies </a:t>
                      </a:r>
                      <a:pPr algn="l" indent="0" marL="0">
                        <a:buNone/>
                      </a:pPr>
                      <a:r>
                        <a:rPr lang="en-US" sz="1100" dirty="0">
                          <a:solidFill>
                            <a:srgbClr val="222222"/>
                          </a:solidFill>
                        </a:rPr>
                        <a:t>and </a:t>
                      </a:r>
                      <a:pPr algn="l" indent="0" marL="0">
                        <a:buNone/>
                      </a:pPr>
                      <a:r>
                        <a:rPr lang="en-US" sz="1100" dirty="0">
                          <a:solidFill>
                            <a:srgbClr val="222222"/>
                          </a:solidFill>
                        </a:rPr>
                        <a:t>safe </a:t>
                      </a:r>
                      <a:pPr algn="l" indent="0" marL="0">
                        <a:buNone/>
                      </a:pPr>
                      <a:r>
                        <a:rPr lang="en-US" sz="1100" dirty="0">
                          <a:solidFill>
                            <a:srgbClr val="222222"/>
                          </a:solidFill>
                        </a:rPr>
                        <a:t>self-build </a:t>
                      </a:r>
                      <a:pPr algn="l" indent="0" marL="0">
                        <a:buNone/>
                      </a:pPr>
                      <a:r>
                        <a:rPr lang="en-US" sz="1100" dirty="0">
                          <a:solidFill>
                            <a:srgbClr val="222222"/>
                          </a:solidFill>
                        </a:rPr>
                        <a:t>programmes.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Financing </a:t>
                      </a:r>
                      <a:pPr algn="l" indent="0" marL="0">
                        <a:buNone/>
                      </a:pPr>
                      <a:r>
                        <a:rPr lang="en-US" sz="1100" dirty="0">
                          <a:solidFill>
                            <a:srgbClr val="222222"/>
                          </a:solidFill>
                        </a:rPr>
                        <a:t>model </a:t>
                      </a:r>
                      <a:pPr algn="l" indent="0" marL="0">
                        <a:buNone/>
                      </a:pPr>
                      <a:r>
                        <a:rPr lang="en-US" sz="1100" dirty="0">
                          <a:solidFill>
                            <a:srgbClr val="222222"/>
                          </a:solidFill>
                        </a:rPr>
                        <a:t>for </a:t>
                      </a:r>
                      <a:pPr algn="l" indent="0" marL="0">
                        <a:buNone/>
                      </a:pPr>
                      <a:r>
                        <a:rPr lang="en-US" sz="1100" dirty="0">
                          <a:solidFill>
                            <a:srgbClr val="222222"/>
                          </a:solidFill>
                        </a:rPr>
                        <a:t>the </a:t>
                      </a:r>
                      <a:pPr algn="l" indent="0" marL="0">
                        <a:buNone/>
                      </a:pPr>
                      <a:r>
                        <a:rPr lang="en-US" sz="1100" dirty="0">
                          <a:solidFill>
                            <a:srgbClr val="222222"/>
                          </a:solidFill>
                        </a:rPr>
                        <a:t>priority </a:t>
                      </a:r>
                      <a:pPr algn="l" indent="0" marL="0">
                        <a:buNone/>
                      </a:pPr>
                      <a:r>
                        <a:rPr lang="en-US" sz="1100" dirty="0">
                          <a:solidFill>
                            <a:srgbClr val="222222"/>
                          </a:solidFill>
                        </a:rPr>
                        <a:t>measures: </a:t>
                      </a:r>
                      <a:pPr algn="l" indent="0" marL="0">
                        <a:buNone/>
                      </a:pPr>
                      <a:r>
                        <a:rPr lang="en-US" sz="1100" dirty="0">
                          <a:solidFill>
                            <a:srgbClr val="222222"/>
                          </a:solidFill>
                        </a:rPr>
                        <a:t>local </a:t>
                      </a:r>
                      <a:pPr algn="l" indent="0" marL="0">
                        <a:buNone/>
                      </a:pPr>
                      <a:r>
                        <a:rPr lang="en-US" sz="1100" dirty="0">
                          <a:solidFill>
                            <a:srgbClr val="222222"/>
                          </a:solidFill>
                        </a:rPr>
                        <a:t>government </a:t>
                      </a:r>
                      <a:pPr algn="l" indent="0" marL="0">
                        <a:buNone/>
                      </a:pPr>
                      <a:r>
                        <a:rPr lang="en-US" sz="1100" dirty="0">
                          <a:solidFill>
                            <a:srgbClr val="222222"/>
                          </a:solidFill>
                        </a:rPr>
                        <a:t>30-50%, </a:t>
                      </a:r>
                      <a:pPr algn="l" indent="0" marL="0">
                        <a:buNone/>
                      </a:pPr>
                      <a:r>
                        <a:rPr lang="en-US" sz="1100" dirty="0">
                          <a:solidFill>
                            <a:srgbClr val="222222"/>
                          </a:solidFill>
                        </a:rPr>
                        <a:t>national </a:t>
                      </a:r>
                      <a:pPr algn="l" indent="0" marL="0">
                        <a:buNone/>
                      </a:pPr>
                      <a:r>
                        <a:rPr lang="en-US" sz="1100" dirty="0">
                          <a:solidFill>
                            <a:srgbClr val="222222"/>
                          </a:solidFill>
                        </a:rPr>
                        <a:t>disaster </a:t>
                      </a:r>
                      <a:pPr algn="l" indent="0" marL="0">
                        <a:buNone/>
                      </a:pPr>
                      <a:r>
                        <a:rPr lang="en-US" sz="1100" dirty="0">
                          <a:solidFill>
                            <a:srgbClr val="222222"/>
                          </a:solidFill>
                        </a:rPr>
                        <a:t>fund </a:t>
                      </a:r>
                      <a:pPr algn="l" indent="0" marL="0">
                        <a:buNone/>
                      </a:pPr>
                      <a:r>
                        <a:rPr lang="en-US" sz="1100" dirty="0">
                          <a:solidFill>
                            <a:srgbClr val="222222"/>
                          </a:solidFill>
                        </a:rPr>
                        <a:t>(FNGRD/UNGRD) </a:t>
                      </a:r>
                      <a:pPr algn="l" indent="0" marL="0">
                        <a:buNone/>
                      </a:pPr>
                      <a:r>
                        <a:rPr lang="en-US" sz="1100" dirty="0">
                          <a:solidFill>
                            <a:srgbClr val="222222"/>
                          </a:solidFill>
                        </a:rPr>
                        <a:t>30-50%, </a:t>
                      </a:r>
                      <a:pPr algn="l" indent="0" marL="0">
                        <a:buNone/>
                      </a:pPr>
                      <a:r>
                        <a:rPr lang="en-US" sz="1100" dirty="0">
                          <a:solidFill>
                            <a:srgbClr val="222222"/>
                          </a:solidFill>
                        </a:rPr>
                        <a:t>international </a:t>
                      </a:r>
                      <a:pPr algn="l" indent="0" marL="0">
                        <a:buNone/>
                      </a:pPr>
                      <a:r>
                        <a:rPr lang="en-US" sz="1100" dirty="0">
                          <a:solidFill>
                            <a:srgbClr val="222222"/>
                          </a:solidFill>
                        </a:rPr>
                        <a:t>partners </a:t>
                      </a:r>
                      <a:pPr algn="l" indent="0" marL="0">
                        <a:buNone/>
                      </a:pPr>
                      <a:r>
                        <a:rPr lang="en-US" sz="1100" dirty="0">
                          <a:solidFill>
                            <a:srgbClr val="222222"/>
                          </a:solidFill>
                        </a:rPr>
                        <a:t>including </a:t>
                      </a:r>
                      <a:pPr algn="l" indent="0" marL="0">
                        <a:buNone/>
                      </a:pPr>
                      <a:r>
                        <a:rPr lang="en-US" sz="1100" dirty="0">
                          <a:solidFill>
                            <a:srgbClr val="222222"/>
                          </a:solidFill>
                        </a:rPr>
                        <a:t>JICA, </a:t>
                      </a:r>
                      <a:pPr algn="l" indent="0" marL="0">
                        <a:buNone/>
                      </a:pPr>
                      <a:r>
                        <a:rPr lang="en-US" sz="1100" dirty="0">
                          <a:solidFill>
                            <a:srgbClr val="222222"/>
                          </a:solidFill>
                        </a:rPr>
                        <a:t>the </a:t>
                      </a:r>
                      <a:pPr algn="l" indent="0" marL="0">
                        <a:buNone/>
                      </a:pPr>
                      <a:r>
                        <a:rPr lang="en-US" sz="1100" dirty="0">
                          <a:solidFill>
                            <a:srgbClr val="222222"/>
                          </a:solidFill>
                        </a:rPr>
                        <a:t>GEM </a:t>
                      </a:r>
                      <a:pPr algn="l" indent="0" marL="0">
                        <a:buNone/>
                      </a:pPr>
                      <a:r>
                        <a:rPr lang="en-US" sz="1100" dirty="0">
                          <a:solidFill>
                            <a:srgbClr val="222222"/>
                          </a:solidFill>
                        </a:rPr>
                        <a:t>Foundation </a:t>
                      </a:r>
                      <a:pPr algn="l" indent="0" marL="0">
                        <a:buNone/>
                      </a:pPr>
                      <a:r>
                        <a:rPr lang="en-US" sz="1100" dirty="0">
                          <a:solidFill>
                            <a:srgbClr val="222222"/>
                          </a:solidFill>
                        </a:rPr>
                        <a:t>and </a:t>
                      </a:r>
                      <a:pPr algn="l" indent="0" marL="0">
                        <a:buNone/>
                      </a:pPr>
                      <a:r>
                        <a:rPr lang="en-US" sz="1100" dirty="0">
                          <a:solidFill>
                            <a:srgbClr val="222222"/>
                          </a:solidFill>
                        </a:rPr>
                        <a:t>the </a:t>
                      </a:r>
                      <a:pPr algn="l" indent="0" marL="0">
                        <a:buNone/>
                      </a:pPr>
                      <a:r>
                        <a:rPr lang="en-US" sz="1100" dirty="0">
                          <a:solidFill>
                            <a:srgbClr val="222222"/>
                          </a:solidFill>
                        </a:rPr>
                        <a:t>IDB </a:t>
                      </a:r>
                      <a:pPr algn="l" indent="0" marL="0">
                        <a:buNone/>
                      </a:pPr>
                      <a:r>
                        <a:rPr lang="en-US" sz="1100" dirty="0">
                          <a:solidFill>
                            <a:srgbClr val="222222"/>
                          </a:solidFill>
                        </a:rPr>
                        <a:t>about </a:t>
                      </a:r>
                      <a:pPr algn="l" indent="0" marL="0">
                        <a:buNone/>
                      </a:pPr>
                      <a:r>
                        <a:rPr lang="en-US" sz="1100" dirty="0">
                          <a:solidFill>
                            <a:srgbClr val="222222"/>
                          </a:solidFill>
                        </a:rPr>
                        <a:t>20%.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36 / 48</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GEM-TREQ City Profile: Cali</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1j1h9p/generator/images/EQ-2026-000146-COL/gem_treq_cali_manual.jpg">    </p:cNvPr>
          <p:cNvPicPr>
            <a:picLocks noChangeAspect="1"/>
          </p:cNvPicPr>
          <p:nvPr/>
        </p:nvPicPr>
        <p:blipFill>
          <a:blip r:embed="rId2"/>
          <a:stretch>
            <a:fillRect/>
          </a:stretch>
        </p:blipFill>
        <p:spPr>
          <a:xfrm>
            <a:off x="7223760" y="1280168"/>
            <a:ext cx="4572000" cy="3236960"/>
          </a:xfrm>
          <a:prstGeom prst="rect">
            <a:avLst/>
          </a:prstGeom>
        </p:spPr>
      </p:pic>
      <p:sp>
        <p:nvSpPr>
          <p:cNvPr id="5" name="Text 1"/>
          <p:cNvSpPr/>
          <p:nvPr/>
        </p:nvSpPr>
        <p:spPr>
          <a:xfrm>
            <a:off x="7223760" y="4718304"/>
            <a:ext cx="457200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GEM-TREQ city profile for Cali</a:t>
            </a:r>
            <a:endParaRPr lang="en-US" sz="900" dirty="0"/>
          </a:p>
        </p:txBody>
      </p:sp>
      <p:sp>
        <p:nvSpPr>
          <p:cNvPr id="6" name="Text 2"/>
          <p:cNvSpPr/>
          <p:nvPr/>
        </p:nvSpPr>
        <p:spPr>
          <a:xfrm>
            <a:off x="365760" y="1051560"/>
            <a:ext cx="658368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GEM-TREQ city profile for Cali: the M6.5 / 10 km Dagua-Calima scenario. 2.3 million people and 312,000 residential, 22,000 commercial, 5,300 industrial and 8,000 institutional buildings are exposed, with COP 220 trillion of exposed capital. The bars give, per comuna, the collapse index, fatalities, serious injuries, displaced people and economic losses; the histograms give the city totals with their modelled ranges.</a:t>
            </a:r>
            <a:endParaRPr lang="en-US" sz="11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37 / 48</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(1/11)</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Source policy: </a:t>
            </a:r>
            <a:pPr algn="l" indent="0" marL="0">
              <a:buNone/>
            </a:pPr>
            <a:r>
              <a:rPr lang="en-US" sz="1200" dirty="0">
                <a:solidFill>
                  <a:srgbClr val="444444"/>
                </a:solidFill>
                <a:latin typeface="Meiryo" pitchFamily="34" charset="0"/>
                <a:ea typeface="Meiryo" pitchFamily="34" charset="-122"/>
                <a:cs typeface="Meiryo"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12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 M 7.4 San José del Palmar, Colombia (event page)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Servicio Geológico Colombiano (SGC)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 event bulletin SGC2026pqqmro (this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 macroseismic intensity map (ShakeMap) for this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 National Unit for Disaster Risk Management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GDACS - Orange earthquake alert, Colombia, 10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International Charter 'Space and Major Disasters' - activations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Copernicus EMS — EMSR916 'Earthquake in Colombia' (activation)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PAHO/WHO -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PreventionWeb - Colombia PNGRD 2015-2030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 - Seismic regulations for Colombia (NSR-10)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38 / 48</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(2/11)</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 — live updates: death toll rises to 132</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Colombiano — 84 injured and 12 dead in Chocó (department government)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UN-SPIDER - UNGRD of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OECD - Risk governance scan of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 - Live updates: at least 111 dead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France 24 - Colombia declares national emergency as quake toll hits 111</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Al Jazeera - M7.4 earthquake hits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CBS News - Strong earthquake strikes western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NBC News - Deaths, injuries and collapsed buildings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One - First official assessment: widespread structural damage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One - Government declares national disaster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39 / 48</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(3/11)</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 SGC explains why the shaking lasted so long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NHK - President reports 111 dead, 87 injured (Japanese)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Nikkei - M7.4 earthquake in western Colombia (Japanese)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Jiji Press - M7.4 earthquake in Colombia (Japanese)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Save the Children - Children at risk after the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 - Mobilising medical aid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Americares - Colombia earthquake, August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GLIDEnumber — EQ-2026-000146-COL (event identifier)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ADRC - Asian Disaster Reduction Center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https://www.adrc.asia/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European Commission — EU support for Colombia, Copernicus activated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 Foundation — TREQ project (urban earthquake risk, Quito / Cali / Santiago de los Caballeros)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40 / 48</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(4/11)</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GEM-TREQ — Evaluación de riesgo sísmico para Santiago de Cali (technical report D2.6.2)</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Understanding seismic risk in Santiago de Cali for its application in risk management (peer-reviewed, 2025)</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SATIC — Cali's intelligent and community early warning system</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Alcaldía de Santiago de Cali — disaster risk management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 Plan Nacional de Gestión del Riesgo de Desastres (PNGRD)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Decreto 1478 de 2022 — update of the PNGRD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EMSC-CSEM SeismicPortal — bulletin and FDSN event service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 seismic catalogue viewer (reviewed catalogue ends Feb 2018)</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live updates, 11 August (Cali toll rises to 85)</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balance — 132 deaths, 570+ injured, by city</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Noticias Caracol — UNGRD balance: 182 deaths, 2,542 injured, 189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41 / 48</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(5/11)</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RPP — the President's 181 is 59 fewer than the regional data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99 aftershocks and their magnitudes (SGC)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 SGC total: 103 aftershocks to 15:00 on 11 Aug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MOFA Japan — Foreign Minister Motegi's message on the earthquake in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MOFA Japan on X — post of 11 August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list of countries that have offered assistance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 in Colombia — earthquake information and updates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 News — the UN offers support to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te busca” — citizen missing-persons platform</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 earthquake missing-persons tool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 relief and subsidies announced on the Coffee Region tour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42 / 48</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(6/11)</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Pulzo — UNGRD damage and casualty report across 14 departments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SAR teams arriving from Israel, Ecuador, El Salvador and the US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 188 deaths and 1,677 injured in capital cities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infolibre — at least 254 dead as the search continues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Colombiano — 265 dead, 3,494 injured, 496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UNGRD balance of 13 August: 273 dead, 3,824 injured, 377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40,753 families affected: UNGRD's new balance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M4.2 aftershock at San José del Palmar, 13 August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 Colombia to receive rescue teams from the US, Israel, Ecuador and El Salvador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UNGRD balance of 14 August: 287 dead, 3,975 injured, 378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43 / 48</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(7/11)</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 live: the toll rises to 288, more than 4,000 injured and 202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 international assistance grows: India, Norway, Sweden and Spain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Heraldo — Italy, India, Spain, Chile and the World Bank among those sending aid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Japanese Red Cross Society — Colombian Red Cross response to the M7.4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why Colombia did not need foreign rescuers: 23 national USAR teams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SGC: 184 aftershocks since 10 August (14 Aug)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 en Español — live coverage of rescue and recovery</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UNGRD balance of 15 August: 294 dead, 3,935 injured, 320 missing, 353 rescued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 294 dead and 81,506 homes damaged, official figures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Heraldo — Decree 1172: three days of national mourning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44 / 48</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(8/11)</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the governor of Chocó ends the department's search-and-rescue phase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UNGRD balance of 16 August: 289 dead, 4,187 injured, 143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https://www.eltiempo.com/colombia/otras-ciudades/balance-oficial-de-la-ungrd-este-16-de-agosto-tras-terremoto-de-7-4-en-colombia-289-fallecidos-4-187-heridos-y-143-desaparecidos-3578742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RTVC Noticias — 289 dead, 143 missing and more than 185,000 affected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https://www.rtvcnoticias.com/actualidad/terremoto-deja-289-fallecidos-143-desaparecidos-y-mas-de-185000-afectados-en-colombia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Radio Santa Fe — UNGRD reduces the death and missing figures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https://www.radiosantafe.com/2026/08/16/ungrd-reduce-a-289-cifra-de-fallecidos-y-a-143-la-de-personas-desaparecidas-por-el-terremoto/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 UNGRD balance of 16 August evening: 287 dead, 4,147 injured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https://www.semana.com/nacion/articulo/terremoto-en-colombia-reportan-287-muertos-y-4147-heridos-en-nuevo-balance-de-la-ungrd/202615/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La Tercera — Colombia lowers the death toll and raises the injured count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https://www.latercera.com/mundo/noticia/colombia-rebaja-a-casi-287-los-muertos-y-eleva-a-cerca-de-4150-los-heridos-por-el-terremoto/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Colombia Flash Update 010 (27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https://reliefweb.int/report/colombia/colombia-flash-update-010-update-impact-earthquake-colombia-august-27-2026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Colombia Flash Update 010, ES (27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https://reliefweb.int/report/colombia/colombia-flash-update-010-actualizacion-afectaciones-por-terremoto-en-colombia-27-de-agosto-de-2026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Colombia Flash Update 009 (24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https://reliefweb.int/report/colombia/colombia-flash-update-009-update-impact-earthquake-colombia-august-24-2026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Colombia Flash Update 009, ES (24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https://reliefweb.int/report/colombia/colombia-flash-update-009-actualizacion-afectaciones-por-terremoto-en-colombia-24-de-agosto-de-2026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45 / 48</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(9/11)</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Response - Situation Report #6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https://reliefweb.int/report/colombia/iom-colombia-earthquake-response-situation-report-6-28-august-2026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Response - Situation Report #6, ES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https://reliefweb.int/report/colombia/oim-respuesta-al-terremoto-en-colombia-reporte-de-situacion-6-28-agosto-2026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national balance, 06:30 cut, 31 Aug 2026 (official X)</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https://x.com/UNGRD/status/2094414373506736128</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national balance, 06:30 cut, 1 Sep 2026 (official X)</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https://x.com/UNGRD/status/2094764781831872512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 Earthquake: LTC Telecoms Situation Report #02 (25-31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https://reliefweb.int/report/colombia/colombia-earthquake-ltc-telecoms-situation-report-02-reporting-period-25-31-august-2026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 Emergency Relief 1 - Earthquake Colombia (1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https://reliefweb.int/report/colombia/amda-emergency-relief-1-earthquake-colombia-1-september-2026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ICRC assesses needs of communities affected by armed conflict following the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https://reliefweb.int/report/colombia/colombia-icrc-assesses-needs-communities-affected-armed-conflict-following-earthquake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7.4M Earthquake and EU response - DG ECHO Daily Map (26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https://reliefweb.int/map/colombia/colombia-74-m-earthquake-10-august-and-eu-response-dg-echo-daily-map-26082026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Pereira, Colombia: temporary shelters, earthquake of 10 Aug 2026 (19 Aug 2026 map)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https://reliefweb.int/map/colombia/pereira-colombia-alojamientos-temporales-terremoto-10-de-agosto-2026-19082026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Manizales, Colombia: affected neighbourhoods, earthquake of 10 Aug 2026 (20 Aug 2026 map)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https://reliefweb.int/map/colombia/manizales-colombia-barrios-afectados-terremoto-10-de-agosto-2026-20082026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46 / 48</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(10/11)</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Addendum to the Humanitarian Response Plan - Earthquake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https://reliefweb.int/report/colombia/colombia-addendum-humanitarian-response-plan-earthquake-august-2026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Addendum to the Humanitarian Response Plan - Earthquake, 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https://reliefweb.int/report/colombia/colombia-adenda-al-plan-de-respuesta-humanitaria-terremoto-agosto-2026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Humanitarian Needs and Response Plan, Feb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https://reliefweb.int/report/colombia/colombia-plan-de-respuesta-necesidades-humanitarias-febrero-2026-enes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Humanitarian Action for Children 2026 -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https://reliefweb.int/report/colombia/humanitarian-action-children-2026-colombia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Flash Update 011 (2 Sep 2026, Spanish)</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https://reliefweb.int/report/colombia/colombia-flash-update-011-actualizacion-afectaciones-por-terremoto-en-colombia-02-de-septiembre-de-2026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Flash Update 011 (2 Sep 2026, English)</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https://reliefweb.int/report/colombia/colombia-flash-update-011-update-impact-earthquake-colombia-september-2-2026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urgent needs persist three weeks after the earthquake (MSF)</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https://reliefweb.int/report/colombia/urgent-needs-persist-three-weeks-after-earthquake-colombia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DRC quarterly protection monitoring, Colombia (Apr-Jun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https://reliefweb.int/report/colombia/informe-de-monitoreo-de-proteccion-trimestral-de-drc-colombia-abril-junio-2026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Situation Report #7 (31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https://reliefweb.int/report/colombia/colombia-earthquake-situation-report-7-31-aug-2026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Situation Report #7 (Spanish, 31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https://reliefweb.int/report/colombia/respuesta-al-terremoto-en-colombia-reporte-de-situacion-7-31-agosto-2026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 Emergency Relief #2: Earthquake in Colombia (3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https://reliefweb.int/report/colombia/amda-emergency-relief-2-earthquake-colombia-3-september-2026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47 / 48</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(11/11)</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3iS - Manizales, Colombia: Barrios afectados (affected neighbourhoods) map, 10 August 2026 earthquake (03/09/2026)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https://reliefweb.int/map/colombia/manizales-colombia-barrios-afectados-terremoto-10-de-agosto-2026-03092026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48 / 48</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1F3864"/>
        </a:solidFill>
      </p:bgPr>
    </p:bg>
    <p:spTree>
      <p:nvGrpSpPr>
        <p:cNvPr id="1" name=""/>
        <p:cNvGrpSpPr/>
        <p:nvPr/>
      </p:nvGrpSpPr>
      <p:grpSpPr>
        <a:xfrm>
          <a:off x="0" y="0"/>
          <a:ext cx="0" cy="0"/>
          <a:chOff x="0" y="0"/>
          <a:chExt cx="0" cy="0"/>
        </a:xfrm>
      </p:grpSpPr>
      <p:sp>
        <p:nvSpPr>
          <p:cNvPr id="2" name="Shape 0"/>
          <p:cNvSpPr/>
          <p:nvPr/>
        </p:nvSpPr>
        <p:spPr>
          <a:xfrm>
            <a:off x="5614416" y="1865376"/>
            <a:ext cx="969264" cy="932688"/>
          </a:xfrm>
          <a:prstGeom prst="roundRect">
            <a:avLst>
              <a:gd name="adj" fmla="val 4902"/>
            </a:avLst>
          </a:prstGeom>
          <a:solidFill>
            <a:srgbClr val="FFFFFF"/>
          </a:solidFill>
          <a:ln w="12700">
            <a:solidFill>
              <a:srgbClr val="FFFFFF"/>
            </a:solidFill>
            <a:prstDash val="solid"/>
          </a:ln>
        </p:spPr>
      </p:sp>
      <p:pic>
        <p:nvPicPr>
          <p:cNvPr id="3" name="Image 0" descr="/tmp/build_event-1j1h9p/generator/images/adrc_logo.png">    </p:cNvPr>
          <p:cNvPicPr>
            <a:picLocks noChangeAspect="1"/>
          </p:cNvPicPr>
          <p:nvPr/>
        </p:nvPicPr>
        <p:blipFill>
          <a:blip r:embed="rId1"/>
          <a:stretch>
            <a:fillRect/>
          </a:stretch>
        </p:blipFill>
        <p:spPr>
          <a:xfrm>
            <a:off x="5687568" y="1920240"/>
            <a:ext cx="822960" cy="822960"/>
          </a:xfrm>
          <a:prstGeom prst="rect">
            <a:avLst/>
          </a:prstGeom>
        </p:spPr>
      </p:pic>
      <p:sp>
        <p:nvSpPr>
          <p:cNvPr id="4" name="Text 1"/>
          <p:cNvSpPr/>
          <p:nvPr/>
        </p:nvSpPr>
        <p:spPr>
          <a:xfrm>
            <a:off x="731520" y="2971800"/>
            <a:ext cx="106984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Asian Disaster Reduction Center (ADRC)</a:t>
            </a:r>
            <a:endParaRPr lang="en-US" sz="2000" dirty="0"/>
          </a:p>
        </p:txBody>
      </p:sp>
      <p:sp>
        <p:nvSpPr>
          <p:cNvPr id="5" name="Text 2"/>
          <p:cNvSpPr/>
          <p:nvPr/>
        </p:nvSpPr>
        <p:spPr>
          <a:xfrm>
            <a:off x="1463040" y="3611880"/>
            <a:ext cx="9235440" cy="1463040"/>
          </a:xfrm>
          <a:prstGeom prst="rect">
            <a:avLst/>
          </a:prstGeom>
          <a:noFill/>
          <a:ln/>
        </p:spPr>
        <p:txBody>
          <a:bodyPr wrap="square" lIns="0" tIns="0" rIns="0" bIns="0" rtlCol="0" anchor="t">
            <a:normAutofit/>
          </a:bodyPr>
          <a:lstStyle/>
          <a:p>
            <a:pPr algn="ctr" indent="0" marL="0">
              <a:buNone/>
            </a:pPr>
            <a:r>
              <a:rPr lang="en-US" sz="1200" dirty="0">
                <a:solidFill>
                  <a:srgbClr val="D8E0EC"/>
                </a:solidFill>
                <a:latin typeface="Meiryo" pitchFamily="34" charset="0"/>
                <a:ea typeface="Meiryo" pitchFamily="34" charset="-122"/>
                <a:cs typeface="Meiryo" pitchFamily="34" charset="-120"/>
              </a:rPr>
              <a:t>Bilingual (EN/JA) report for domestic and international dissemination. Public-agency sources take priority; gaps are filled with clearly-labelled media reports.</a:t>
            </a:r>
            <a:endParaRPr lang="en-US" sz="1200" dirty="0"/>
          </a:p>
        </p:txBody>
      </p:sp>
      <p:sp>
        <p:nvSpPr>
          <p:cNvPr id="6" name="Text 3"/>
          <p:cNvSpPr/>
          <p:nvPr/>
        </p:nvSpPr>
        <p:spPr>
          <a:xfrm>
            <a:off x="731520" y="5989320"/>
            <a:ext cx="10698480" cy="274320"/>
          </a:xfrm>
          <a:prstGeom prst="rect">
            <a:avLst/>
          </a:prstGeom>
          <a:noFill/>
          <a:ln/>
        </p:spPr>
        <p:txBody>
          <a:bodyPr wrap="square" lIns="0" tIns="0" rIns="0" bIns="0" rtlCol="0" anchor="ctr"/>
          <a:lstStyle/>
          <a:p>
            <a:pPr algn="ctr" indent="0" marL="0">
              <a:buNone/>
            </a:pPr>
            <a:r>
              <a:rPr lang="en-US" sz="1000" dirty="0">
                <a:solidFill>
                  <a:srgbClr val="9FB0C8"/>
                </a:solidFill>
                <a:latin typeface="Meiryo" pitchFamily="34" charset="0"/>
                <a:ea typeface="Meiryo" pitchFamily="34" charset="-122"/>
                <a:cs typeface="Meiryo" pitchFamily="34" charset="-120"/>
              </a:rPr>
              <a:t>2026-09-04 09:30 JST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2026-09-04T22:56:59Z</dcterms:created>
  <dcterms:modified xsi:type="dcterms:W3CDTF">2026-09-04T22:56:59Z</dcterms:modified>
</cp:coreProperties>
</file>